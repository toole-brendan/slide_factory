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BinaryWorksheet1.xlsb" ContentType="application/vnd.ms-excel.sheet.binary.macroEnabled.12"/>
  <Override PartName="/ppt/embeddings/Microsoft_Excel_BinaryWorksheet2.xlsb" ContentType="application/vnd.ms-excel.sheet.binary.macroEnabled.12"/>
  <Override PartName="/ppt/embeddings/Microsoft_Excel_BinaryWorksheet3.xlsb" ContentType="application/vnd.ms-excel.sheet.binary.macroEnabled.12"/>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BinaryWorksheet15.xlsb" ContentType="application/vnd.ms-excel.sheet.binary.macroEnabled.12"/>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BinaryWorksheet1.xlsb"/></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BinaryWorksheet2.xlsb"/></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BinaryWorksheet3.xlsb"/></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BinaryWorksheet15.xlsb"/></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794167134043748E-2"/>
          <c:y val="3.2721202003338896E-2"/>
          <c:w val="0.9414843896055337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A4D1-4D60-A912-E9AB7C77F9E6}"/>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A4D1-4D60-A912-E9AB7C77F9E6}"/>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A4D1-4D60-A912-E9AB7C77F9E6}"/>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A4D1-4D60-A912-E9AB7C77F9E6}"/>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A4D1-4D60-A912-E9AB7C77F9E6}"/>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A4D1-4D60-A912-E9AB7C77F9E6}"/>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A4D1-4D60-A912-E9AB7C77F9E6}"/>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A4D1-4D60-A912-E9AB7C77F9E6}"/>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A4D1-4D60-A912-E9AB7C77F9E6}"/>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A4D1-4D60-A912-E9AB7C77F9E6}"/>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A4D1-4D60-A912-E9AB7C77F9E6}"/>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A4D1-4D60-A912-E9AB7C77F9E6}"/>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A4D1-4D60-A912-E9AB7C77F9E6}"/>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A4D1-4D60-A912-E9AB7C77F9E6}"/>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A4D1-4D60-A912-E9AB7C77F9E6}"/>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A4D1-4D60-A912-E9AB7C77F9E6}"/>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A4D1-4D60-A912-E9AB7C77F9E6}"/>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A4D1-4D60-A912-E9AB7C77F9E6}"/>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A4D1-4D60-A912-E9AB7C77F9E6}"/>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A4D1-4D60-A912-E9AB7C77F9E6}"/>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A4D1-4D60-A912-E9AB7C77F9E6}"/>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A4D1-4D60-A912-E9AB7C77F9E6}"/>
              </c:ext>
            </c:extLst>
          </c:dPt>
          <c:dPt>
            <c:idx val="39"/>
            <c:invertIfNegative val="0"/>
            <c:bubble3D val="0"/>
            <c:extLst>
              <c:ext xmlns:c16="http://schemas.microsoft.com/office/drawing/2014/chart" uri="{C3380CC4-5D6E-409C-BE32-E72D297353CC}">
                <c16:uniqueId val="{00000016-A4D1-4D60-A912-E9AB7C77F9E6}"/>
              </c:ext>
            </c:extLst>
          </c:dPt>
          <c:dPt>
            <c:idx val="40"/>
            <c:invertIfNegative val="0"/>
            <c:bubble3D val="0"/>
            <c:extLst>
              <c:ext xmlns:c16="http://schemas.microsoft.com/office/drawing/2014/chart" uri="{C3380CC4-5D6E-409C-BE32-E72D297353CC}">
                <c16:uniqueId val="{00000017-A4D1-4D60-A912-E9AB7C77F9E6}"/>
              </c:ext>
            </c:extLst>
          </c:dPt>
          <c:dPt>
            <c:idx val="41"/>
            <c:invertIfNegative val="0"/>
            <c:bubble3D val="0"/>
            <c:extLst>
              <c:ext xmlns:c16="http://schemas.microsoft.com/office/drawing/2014/chart" uri="{C3380CC4-5D6E-409C-BE32-E72D297353CC}">
                <c16:uniqueId val="{00000018-A4D1-4D60-A912-E9AB7C77F9E6}"/>
              </c:ext>
            </c:extLst>
          </c:dPt>
          <c:dPt>
            <c:idx val="42"/>
            <c:invertIfNegative val="0"/>
            <c:bubble3D val="0"/>
            <c:extLst>
              <c:ext xmlns:c16="http://schemas.microsoft.com/office/drawing/2014/chart" uri="{C3380CC4-5D6E-409C-BE32-E72D297353CC}">
                <c16:uniqueId val="{00000019-A4D1-4D60-A912-E9AB7C77F9E6}"/>
              </c:ext>
            </c:extLst>
          </c:dPt>
          <c:dPt>
            <c:idx val="43"/>
            <c:invertIfNegative val="0"/>
            <c:bubble3D val="0"/>
            <c:extLst>
              <c:ext xmlns:c16="http://schemas.microsoft.com/office/drawing/2014/chart" uri="{C3380CC4-5D6E-409C-BE32-E72D297353CC}">
                <c16:uniqueId val="{0000001A-A4D1-4D60-A912-E9AB7C77F9E6}"/>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A4D1-4D60-A912-E9AB7C77F9E6}"/>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A4D1-4D60-A912-E9AB7C77F9E6}"/>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A4D1-4D60-A912-E9AB7C77F9E6}"/>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A4D1-4D60-A912-E9AB7C77F9E6}"/>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A4D1-4D60-A912-E9AB7C77F9E6}"/>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A4D1-4D60-A912-E9AB7C77F9E6}"/>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A4D1-4D60-A912-E9AB7C77F9E6}"/>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A4D1-4D60-A912-E9AB7C77F9E6}"/>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A4D1-4D60-A912-E9AB7C77F9E6}"/>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A4D1-4D60-A912-E9AB7C77F9E6}"/>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A4D1-4D60-A912-E9AB7C77F9E6}"/>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A4D1-4D60-A912-E9AB7C77F9E6}"/>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A4D1-4D60-A912-E9AB7C77F9E6}"/>
              </c:ext>
            </c:extLst>
          </c:dPt>
          <c:dPt>
            <c:idx val="65"/>
            <c:invertIfNegative val="0"/>
            <c:bubble3D val="0"/>
            <c:extLst>
              <c:ext xmlns:c16="http://schemas.microsoft.com/office/drawing/2014/chart" uri="{C3380CC4-5D6E-409C-BE32-E72D297353CC}">
                <c16:uniqueId val="{00000028-A4D1-4D60-A912-E9AB7C77F9E6}"/>
              </c:ext>
            </c:extLst>
          </c:dPt>
          <c:dPt>
            <c:idx val="66"/>
            <c:invertIfNegative val="0"/>
            <c:bubble3D val="0"/>
            <c:extLst>
              <c:ext xmlns:c16="http://schemas.microsoft.com/office/drawing/2014/chart" uri="{C3380CC4-5D6E-409C-BE32-E72D297353CC}">
                <c16:uniqueId val="{00000029-A4D1-4D60-A912-E9AB7C77F9E6}"/>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A4D1-4D60-A912-E9AB7C77F9E6}"/>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A4D1-4D60-A912-E9AB7C77F9E6}"/>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A4D1-4D60-A912-E9AB7C77F9E6}"/>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A4D1-4D60-A912-E9AB7C77F9E6}"/>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A4D1-4D60-A912-E9AB7C77F9E6}"/>
              </c:ext>
            </c:extLst>
          </c:dPt>
          <c:dPt>
            <c:idx val="71"/>
            <c:invertIfNegative val="0"/>
            <c:bubble3D val="0"/>
            <c:extLst>
              <c:ext xmlns:c16="http://schemas.microsoft.com/office/drawing/2014/chart" uri="{C3380CC4-5D6E-409C-BE32-E72D297353CC}">
                <c16:uniqueId val="{0000002F-A4D1-4D60-A912-E9AB7C77F9E6}"/>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A4D1-4D60-A912-E9AB7C77F9E6}"/>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A4D1-4D60-A912-E9AB7C77F9E6}"/>
            </c:ext>
          </c:extLst>
        </c:ser>
        <c:dLbls>
          <c:showLegendKey val="0"/>
          <c:showVal val="0"/>
          <c:showCatName val="0"/>
          <c:showSerName val="0"/>
          <c:showPercent val="0"/>
          <c:showBubbleSize val="0"/>
        </c:dLbls>
        <c:bubbleScale val="66"/>
        <c:showNegBubbles val="0"/>
        <c:axId val="509230752"/>
        <c:axId val="1"/>
      </c:bubbleChart>
      <c:valAx>
        <c:axId val="509230752"/>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509230752"/>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2.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8546866333887965E-2"/>
          <c:y val="5.3951367781155016E-2"/>
          <c:w val="0.92900721020521349"/>
          <c:h val="0.89209726443769"/>
        </c:manualLayout>
      </c:layout>
      <c:barChart>
        <c:barDir val="col"/>
        <c:grouping val="stacked"/>
        <c:varyColors val="0"/>
        <c:ser>
          <c:idx val="0"/>
          <c:order val="0"/>
          <c:spPr>
            <a:solidFill>
              <a:srgbClr val="364D6E"/>
            </a:solidFill>
            <a:ln>
              <a:noFill/>
            </a:ln>
          </c:spPr>
          <c:invertIfNegative val="0"/>
          <c:dLbls>
            <c:dLbl>
              <c:idx val="4"/>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3BFF-47D8-BA68-1DA35D3033A3}"/>
                </c:ext>
              </c:extLst>
            </c:dLbl>
            <c:dLbl>
              <c:idx val="5"/>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3BFF-47D8-BA68-1DA35D3033A3}"/>
                </c:ext>
              </c:extLst>
            </c:dLbl>
            <c:dLbl>
              <c:idx val="6"/>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3BFF-47D8-BA68-1DA35D3033A3}"/>
                </c:ext>
              </c:extLst>
            </c:dLbl>
            <c:dLbl>
              <c:idx val="8"/>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3BFF-47D8-BA68-1DA35D3033A3}"/>
                </c:ext>
              </c:extLst>
            </c:dLbl>
            <c:dLbl>
              <c:idx val="9"/>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3BFF-47D8-BA68-1DA35D3033A3}"/>
                </c:ext>
              </c:extLst>
            </c:dLbl>
            <c:dLbl>
              <c:idx val="10"/>
              <c:layout>
                <c:manualLayout>
                  <c:x val="0"/>
                  <c:y val="-6.0030395136778117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3BFF-47D8-BA68-1DA35D3033A3}"/>
                </c:ext>
              </c:extLst>
            </c:dLbl>
            <c:dLbl>
              <c:idx val="11"/>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3BFF-47D8-BA68-1DA35D3033A3}"/>
                </c:ext>
              </c:extLst>
            </c:dLbl>
            <c:dLbl>
              <c:idx val="12"/>
              <c:layout>
                <c:manualLayout>
                  <c:x val="0"/>
                  <c:y val="-0.1489361702127659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3BFF-47D8-BA68-1DA35D3033A3}"/>
                </c:ext>
              </c:extLst>
            </c:dLbl>
            <c:dLbl>
              <c:idx val="13"/>
              <c:layout>
                <c:manualLayout>
                  <c:x val="0"/>
                  <c:y val="-0.158054711246200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3BFF-47D8-BA68-1DA35D3033A3}"/>
                </c:ext>
              </c:extLst>
            </c:dLbl>
            <c:dLbl>
              <c:idx val="14"/>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3BFF-47D8-BA68-1DA35D3033A3}"/>
                </c:ext>
              </c:extLst>
            </c:dLbl>
            <c:dLbl>
              <c:idx val="15"/>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3BFF-47D8-BA68-1DA35D3033A3}"/>
                </c:ext>
              </c:extLst>
            </c:dLbl>
            <c:dLbl>
              <c:idx val="17"/>
              <c:layout>
                <c:manualLayout>
                  <c:x val="0"/>
                  <c:y val="-0.1759118541033434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3BFF-47D8-BA68-1DA35D3033A3}"/>
                </c:ext>
              </c:extLst>
            </c:dLbl>
            <c:dLbl>
              <c:idx val="18"/>
              <c:layout>
                <c:manualLayout>
                  <c:x val="0"/>
                  <c:y val="-9.574468085106382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3BFF-47D8-BA68-1DA35D3033A3}"/>
                </c:ext>
              </c:extLst>
            </c:dLbl>
            <c:dLbl>
              <c:idx val="19"/>
              <c:layout>
                <c:manualLayout>
                  <c:x val="0"/>
                  <c:y val="-0.1314589665653495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3BFF-47D8-BA68-1DA35D3033A3}"/>
                </c:ext>
              </c:extLst>
            </c:dLbl>
            <c:dLbl>
              <c:idx val="20"/>
              <c:layout>
                <c:manualLayout>
                  <c:x val="0"/>
                  <c:y val="-0.1048632218844984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3BFF-47D8-BA68-1DA35D3033A3}"/>
                </c:ext>
              </c:extLst>
            </c:dLbl>
            <c:dLbl>
              <c:idx val="21"/>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3BFF-47D8-BA68-1DA35D3033A3}"/>
                </c:ext>
              </c:extLst>
            </c:dLbl>
            <c:dLbl>
              <c:idx val="22"/>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3BFF-47D8-BA68-1DA35D3033A3}"/>
                </c:ext>
              </c:extLst>
            </c:dLbl>
            <c:dLbl>
              <c:idx val="23"/>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1-3BFF-47D8-BA68-1DA35D3033A3}"/>
                </c:ext>
              </c:extLst>
            </c:dLbl>
            <c:dLbl>
              <c:idx val="24"/>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2-3BFF-47D8-BA68-1DA35D3033A3}"/>
                </c:ext>
              </c:extLst>
            </c:dLbl>
            <c:dLbl>
              <c:idx val="25"/>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3-3BFF-47D8-BA68-1DA35D3033A3}"/>
                </c:ext>
              </c:extLst>
            </c:dLbl>
            <c:dLbl>
              <c:idx val="26"/>
              <c:layout>
                <c:manualLayout>
                  <c:x val="0"/>
                  <c:y val="-0.1401975683890577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4-3BFF-47D8-BA68-1DA35D3033A3}"/>
                </c:ext>
              </c:extLst>
            </c:dLbl>
            <c:dLbl>
              <c:idx val="27"/>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5-3BFF-47D8-BA68-1DA35D3033A3}"/>
                </c:ext>
              </c:extLst>
            </c:dLbl>
            <c:dLbl>
              <c:idx val="30"/>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6-3BFF-47D8-BA68-1DA35D3033A3}"/>
                </c:ext>
              </c:extLst>
            </c:dLbl>
            <c:dLbl>
              <c:idx val="31"/>
              <c:layout>
                <c:manualLayout>
                  <c:x val="0"/>
                  <c:y val="-7.788753799392096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7-3BFF-47D8-BA68-1DA35D3033A3}"/>
                </c:ext>
              </c:extLst>
            </c:dLbl>
            <c:dLbl>
              <c:idx val="32"/>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8-3BFF-47D8-BA68-1DA35D3033A3}"/>
                </c:ext>
              </c:extLst>
            </c:dLbl>
            <c:dLbl>
              <c:idx val="33"/>
              <c:layout>
                <c:manualLayout>
                  <c:x val="0"/>
                  <c:y val="-5.129179331306990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9-3BFF-47D8-BA68-1DA35D3033A3}"/>
                </c:ext>
              </c:extLst>
            </c:dLbl>
            <c:dLbl>
              <c:idx val="34"/>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A-3BFF-47D8-BA68-1DA35D3033A3}"/>
                </c:ext>
              </c:extLst>
            </c:dLbl>
            <c:dLbl>
              <c:idx val="35"/>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B-3BFF-47D8-BA68-1DA35D3033A3}"/>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Sheet1!$A$1:$AN$1</c:f>
              <c:numCache>
                <c:formatCode>General</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extLst>
            <c:ext uri="{C3380CC4-5D6E-409C-BE32-E72D297353CC}">
              <c16:uniqueId val="{0000001C-3BFF-47D8-BA68-1DA35D3033A3}"/>
            </c:ext>
          </c:extLst>
        </c:ser>
        <c:dLbls>
          <c:showLegendKey val="0"/>
          <c:showVal val="0"/>
          <c:showCatName val="0"/>
          <c:showSerName val="0"/>
          <c:showPercent val="0"/>
          <c:showBubbleSize val="0"/>
        </c:dLbls>
        <c:gapWidth val="80"/>
        <c:overlap val="100"/>
        <c:axId val="962740831"/>
        <c:axId val="1"/>
      </c:barChart>
      <c:lineChart>
        <c:grouping val="standard"/>
        <c:varyColors val="0"/>
        <c:ser>
          <c:idx val="1"/>
          <c:order val="1"/>
          <c:spPr>
            <a:ln w="28575" cmpd="sng" algn="ctr">
              <a:solidFill>
                <a:srgbClr val="FFC000"/>
              </a:solidFill>
              <a:prstDash val="solid"/>
            </a:ln>
          </c:spPr>
          <c:marker>
            <c:symbol val="none"/>
          </c:marker>
          <c:val>
            <c:numRef>
              <c:f>Sheet1!$A$2:$AN$2</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extLst>
            <c:ext uri="{C3380CC4-5D6E-409C-BE32-E72D297353CC}">
              <c16:uniqueId val="{0000001D-3BFF-47D8-BA68-1DA35D3033A3}"/>
            </c:ext>
          </c:extLst>
        </c:ser>
        <c:ser>
          <c:idx val="2"/>
          <c:order val="2"/>
          <c:spPr>
            <a:ln w="28575" cmpd="sng" algn="ctr">
              <a:solidFill>
                <a:srgbClr val="007770"/>
              </a:solidFill>
              <a:prstDash val="solid"/>
            </a:ln>
          </c:spPr>
          <c:marker>
            <c:symbol val="none"/>
          </c:marker>
          <c:val>
            <c:numRef>
              <c:f>Sheet1!$A$3:$AN$3</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extLst>
            <c:ext uri="{C3380CC4-5D6E-409C-BE32-E72D297353CC}">
              <c16:uniqueId val="{0000001E-3BFF-47D8-BA68-1DA35D3033A3}"/>
            </c:ext>
          </c:extLst>
        </c:ser>
        <c:dLbls>
          <c:showLegendKey val="0"/>
          <c:showVal val="0"/>
          <c:showCatName val="0"/>
          <c:showSerName val="0"/>
          <c:showPercent val="0"/>
          <c:showBubbleSize val="0"/>
        </c:dLbls>
        <c:marker val="1"/>
        <c:smooth val="0"/>
        <c:axId val="2"/>
        <c:axId val="3"/>
      </c:lineChart>
      <c:catAx>
        <c:axId val="962740831"/>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50"/>
          <c:min val="0"/>
        </c:scaling>
        <c:delete val="0"/>
        <c:axPos val="r"/>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962740831"/>
        <c:crosses val="max"/>
        <c:crossBetween val="between"/>
        <c:majorUnit val="5"/>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6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
        <c:crosses val="min"/>
        <c:crossBetween val="between"/>
        <c:majorUnit val="10"/>
      </c:valAx>
    </c:plotArea>
    <c:plotVisOnly val="0"/>
    <c:dispBlanksAs val="gap"/>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3.6134570123217497E-2"/>
          <c:y val="3.2721202003338896E-2"/>
          <c:w val="0.9566662051779039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7FAC-45FD-ABFA-3F40219FA207}"/>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7FAC-45FD-ABFA-3F40219FA207}"/>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7FAC-45FD-ABFA-3F40219FA207}"/>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7FAC-45FD-ABFA-3F40219FA207}"/>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7FAC-45FD-ABFA-3F40219FA207}"/>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7FAC-45FD-ABFA-3F40219FA207}"/>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7FAC-45FD-ABFA-3F40219FA207}"/>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7FAC-45FD-ABFA-3F40219FA207}"/>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7FAC-45FD-ABFA-3F40219FA207}"/>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7FAC-45FD-ABFA-3F40219FA207}"/>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7FAC-45FD-ABFA-3F40219FA207}"/>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7FAC-45FD-ABFA-3F40219FA207}"/>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7FAC-45FD-ABFA-3F40219FA207}"/>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7FAC-45FD-ABFA-3F40219FA207}"/>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7FAC-45FD-ABFA-3F40219FA207}"/>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7FAC-45FD-ABFA-3F40219FA207}"/>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7FAC-45FD-ABFA-3F40219FA207}"/>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7FAC-45FD-ABFA-3F40219FA207}"/>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7FAC-45FD-ABFA-3F40219FA207}"/>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7FAC-45FD-ABFA-3F40219FA207}"/>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7FAC-45FD-ABFA-3F40219FA207}"/>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7FAC-45FD-ABFA-3F40219FA207}"/>
              </c:ext>
            </c:extLst>
          </c:dPt>
          <c:dPt>
            <c:idx val="39"/>
            <c:invertIfNegative val="0"/>
            <c:bubble3D val="0"/>
            <c:extLst>
              <c:ext xmlns:c16="http://schemas.microsoft.com/office/drawing/2014/chart" uri="{C3380CC4-5D6E-409C-BE32-E72D297353CC}">
                <c16:uniqueId val="{00000016-7FAC-45FD-ABFA-3F40219FA207}"/>
              </c:ext>
            </c:extLst>
          </c:dPt>
          <c:dPt>
            <c:idx val="40"/>
            <c:invertIfNegative val="0"/>
            <c:bubble3D val="0"/>
            <c:extLst>
              <c:ext xmlns:c16="http://schemas.microsoft.com/office/drawing/2014/chart" uri="{C3380CC4-5D6E-409C-BE32-E72D297353CC}">
                <c16:uniqueId val="{00000017-7FAC-45FD-ABFA-3F40219FA207}"/>
              </c:ext>
            </c:extLst>
          </c:dPt>
          <c:dPt>
            <c:idx val="41"/>
            <c:invertIfNegative val="0"/>
            <c:bubble3D val="0"/>
            <c:extLst>
              <c:ext xmlns:c16="http://schemas.microsoft.com/office/drawing/2014/chart" uri="{C3380CC4-5D6E-409C-BE32-E72D297353CC}">
                <c16:uniqueId val="{00000018-7FAC-45FD-ABFA-3F40219FA207}"/>
              </c:ext>
            </c:extLst>
          </c:dPt>
          <c:dPt>
            <c:idx val="42"/>
            <c:invertIfNegative val="0"/>
            <c:bubble3D val="0"/>
            <c:extLst>
              <c:ext xmlns:c16="http://schemas.microsoft.com/office/drawing/2014/chart" uri="{C3380CC4-5D6E-409C-BE32-E72D297353CC}">
                <c16:uniqueId val="{00000019-7FAC-45FD-ABFA-3F40219FA207}"/>
              </c:ext>
            </c:extLst>
          </c:dPt>
          <c:dPt>
            <c:idx val="43"/>
            <c:invertIfNegative val="0"/>
            <c:bubble3D val="0"/>
            <c:extLst>
              <c:ext xmlns:c16="http://schemas.microsoft.com/office/drawing/2014/chart" uri="{C3380CC4-5D6E-409C-BE32-E72D297353CC}">
                <c16:uniqueId val="{0000001A-7FAC-45FD-ABFA-3F40219FA207}"/>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7FAC-45FD-ABFA-3F40219FA207}"/>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7FAC-45FD-ABFA-3F40219FA207}"/>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7FAC-45FD-ABFA-3F40219FA207}"/>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7FAC-45FD-ABFA-3F40219FA207}"/>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7FAC-45FD-ABFA-3F40219FA207}"/>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7FAC-45FD-ABFA-3F40219FA207}"/>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7FAC-45FD-ABFA-3F40219FA207}"/>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7FAC-45FD-ABFA-3F40219FA207}"/>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7FAC-45FD-ABFA-3F40219FA207}"/>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7FAC-45FD-ABFA-3F40219FA207}"/>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7FAC-45FD-ABFA-3F40219FA207}"/>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7FAC-45FD-ABFA-3F40219FA207}"/>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7FAC-45FD-ABFA-3F40219FA207}"/>
              </c:ext>
            </c:extLst>
          </c:dPt>
          <c:dPt>
            <c:idx val="65"/>
            <c:invertIfNegative val="0"/>
            <c:bubble3D val="0"/>
            <c:extLst>
              <c:ext xmlns:c16="http://schemas.microsoft.com/office/drawing/2014/chart" uri="{C3380CC4-5D6E-409C-BE32-E72D297353CC}">
                <c16:uniqueId val="{00000028-7FAC-45FD-ABFA-3F40219FA207}"/>
              </c:ext>
            </c:extLst>
          </c:dPt>
          <c:dPt>
            <c:idx val="66"/>
            <c:invertIfNegative val="0"/>
            <c:bubble3D val="0"/>
            <c:extLst>
              <c:ext xmlns:c16="http://schemas.microsoft.com/office/drawing/2014/chart" uri="{C3380CC4-5D6E-409C-BE32-E72D297353CC}">
                <c16:uniqueId val="{00000029-7FAC-45FD-ABFA-3F40219FA207}"/>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7FAC-45FD-ABFA-3F40219FA207}"/>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7FAC-45FD-ABFA-3F40219FA207}"/>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7FAC-45FD-ABFA-3F40219FA207}"/>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7FAC-45FD-ABFA-3F40219FA207}"/>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7FAC-45FD-ABFA-3F40219FA207}"/>
              </c:ext>
            </c:extLst>
          </c:dPt>
          <c:dPt>
            <c:idx val="71"/>
            <c:invertIfNegative val="0"/>
            <c:bubble3D val="0"/>
            <c:extLst>
              <c:ext xmlns:c16="http://schemas.microsoft.com/office/drawing/2014/chart" uri="{C3380CC4-5D6E-409C-BE32-E72D297353CC}">
                <c16:uniqueId val="{0000002F-7FAC-45FD-ABFA-3F40219FA207}"/>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7FAC-45FD-ABFA-3F40219FA207}"/>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7FAC-45FD-ABFA-3F40219FA207}"/>
            </c:ext>
          </c:extLst>
        </c:ser>
        <c:dLbls>
          <c:showLegendKey val="0"/>
          <c:showVal val="0"/>
          <c:showCatName val="0"/>
          <c:showSerName val="0"/>
          <c:showPercent val="0"/>
          <c:showBubbleSize val="0"/>
        </c:dLbls>
        <c:bubbleScale val="66"/>
        <c:showNegBubbles val="0"/>
        <c:axId val="1424741247"/>
        <c:axId val="1"/>
      </c:bubbleChart>
      <c:valAx>
        <c:axId val="1424741247"/>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424741247"/>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5.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6528662420382167E-2"/>
          <c:w val="0.92616183062042934"/>
          <c:h val="0.88694267515923564"/>
        </c:manualLayout>
      </c:layout>
      <c:barChart>
        <c:barDir val="col"/>
        <c:grouping val="stacked"/>
        <c:varyColors val="0"/>
        <c:ser>
          <c:idx val="0"/>
          <c:order val="0"/>
          <c:spPr>
            <a:solidFill>
              <a:srgbClr val="4C6C9C"/>
            </a:solidFill>
            <a:ln>
              <a:noFill/>
            </a:ln>
          </c:spPr>
          <c:invertIfNegative val="0"/>
          <c:dPt>
            <c:idx val="1"/>
            <c:invertIfNegative val="0"/>
            <c:bubble3D val="0"/>
            <c:spPr>
              <a:solidFill>
                <a:srgbClr val="9DB1CF"/>
              </a:solidFill>
              <a:ln>
                <a:noFill/>
              </a:ln>
            </c:spPr>
            <c:extLst>
              <c:ext uri="{C3380CC4-5D6E-409C-BE32-E72D297353CC}">
                <c16:uniqueId val="{00000000-BCE5-47A4-AC77-8BBBAAE908D6}"/>
              </c:ext>
            </c:extLst>
          </c:dPt>
          <c:dLbls>
            <c:dLbl>
              <c:idx val="1"/>
              <c:layout>
                <c:manualLayout>
                  <c:x val="0"/>
                  <c:y val="-5.5334394904458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BCE5-47A4-AC77-8BBBAAE908D6}"/>
                </c:ext>
              </c:extLst>
            </c:dLbl>
            <c:dLbl>
              <c:idx val="19"/>
              <c:layout>
                <c:manualLayout>
                  <c:x val="0"/>
                  <c:y val="-0.19307324840764331"/>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BCE5-47A4-AC77-8BBBAAE908D6}"/>
                </c:ext>
              </c:extLst>
            </c:dLbl>
            <c:dLbl>
              <c:idx val="20"/>
              <c:layout>
                <c:manualLayout>
                  <c:x val="0"/>
                  <c:y val="-0.1142515923566879"/>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BCE5-47A4-AC77-8BBBAAE908D6}"/>
                </c:ext>
              </c:extLst>
            </c:dLbl>
            <c:dLbl>
              <c:idx val="21"/>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BCE5-47A4-AC77-8BBBAAE908D6}"/>
                </c:ext>
              </c:extLst>
            </c:dLbl>
            <c:dLbl>
              <c:idx val="22"/>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BCE5-47A4-AC77-8BBBAAE908D6}"/>
                </c:ext>
              </c:extLst>
            </c:dLbl>
            <c:dLbl>
              <c:idx val="23"/>
              <c:layout>
                <c:manualLayout>
                  <c:x val="0"/>
                  <c:y val="-4.498407643312101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BCE5-47A4-AC77-8BBBAAE908D6}"/>
                </c:ext>
              </c:extLst>
            </c:dLbl>
            <c:dLbl>
              <c:idx val="24"/>
              <c:layout>
                <c:manualLayout>
                  <c:x val="0"/>
                  <c:y val="-3.542993630573248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BCE5-47A4-AC77-8BBBAAE908D6}"/>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extLst>
            <c:ext uri="{C3380CC4-5D6E-409C-BE32-E72D297353CC}">
              <c16:uniqueId val="{00000007-BCE5-47A4-AC77-8BBBAAE908D6}"/>
            </c:ext>
          </c:extLst>
        </c:ser>
        <c:ser>
          <c:idx val="1"/>
          <c:order val="1"/>
          <c:spPr>
            <a:solidFill>
              <a:srgbClr val="9DB1CF"/>
            </a:solidFill>
            <a:ln>
              <a:noFill/>
            </a:ln>
          </c:spPr>
          <c:invertIfNegative val="0"/>
          <c:val>
            <c:numRef>
              <c:f>Sheet1!$A$2:$Y$2</c:f>
              <c:numCache>
                <c:formatCode>General</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extLst>
            <c:ext uri="{C3380CC4-5D6E-409C-BE32-E72D297353CC}">
              <c16:uniqueId val="{00000008-BCE5-47A4-AC77-8BBBAAE908D6}"/>
            </c:ext>
          </c:extLst>
        </c:ser>
        <c:dLbls>
          <c:showLegendKey val="0"/>
          <c:showVal val="0"/>
          <c:showCatName val="0"/>
          <c:showSerName val="0"/>
          <c:showPercent val="0"/>
          <c:showBubbleSize val="0"/>
        </c:dLbls>
        <c:gapWidth val="130"/>
        <c:overlap val="100"/>
        <c:axId val="1663799920"/>
        <c:axId val="1"/>
      </c:barChart>
      <c:catAx>
        <c:axId val="166379992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35"/>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63799920"/>
        <c:crosses val="min"/>
        <c:crossBetween val="between"/>
        <c:majorUnit val="5"/>
      </c:valAx>
    </c:plotArea>
    <c:plotVisOnly val="0"/>
    <c:dispBlanksAs val="gap"/>
    <c:showDLblsOverMax val="1"/>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 Id="rId3"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6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Approach to find TCV | </a:t>
            </a:r>
            <a:r>
              <a:rPr lang="en" dirty="0">
                <a:solidFill>
                  <a:srgbClr val="000000"/>
                </a:solidFill>
              </a:rPr>
              <a:t>IAMD (OBBBA and SHIELD)</a:t>
            </a:r>
            <a:endParaRPr lang="en-US" dirty="0">
              <a:solidFill>
                <a:srgbClr val="000000"/>
              </a:solidFill>
            </a:endParaRP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Definitions | Sizing breaks the market down into five levels </a:t>
            </a:r>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Straight Connector 2230"/>
          <p:cNvCxnSpPr/>
          <p:nvPr/>
        </p:nvCxnSpPr>
        <p:spPr>
          <a:xfrm>
            <a:off x="858622" y="1848002"/>
            <a:ext cx="10819181" cy="0"/>
          </a:xfrm>
          <a:prstGeom prst="line">
            <a:avLst/>
          </a:prstGeom>
          <a:ln w="9525">
            <a:solidFill>
              <a:srgbClr val="162029"/>
            </a:solidFill>
            <a:prstDash val="dash"/>
            <a:tailEnd type="triangle" w="med" len="med"/>
          </a:ln>
        </p:spPr>
      </p:cxnSp>
      <p:cxnSp>
        <p:nvCxnSpPr>
          <p:cNvPr id="107" name="Straight Connector 2205"/>
          <p:cNvCxnSpPr/>
          <p:nvPr/>
        </p:nvCxnSpPr>
        <p:spPr>
          <a:xfrm>
            <a:off x="858622" y="2790749"/>
            <a:ext cx="10819181" cy="0"/>
          </a:xfrm>
          <a:prstGeom prst="line">
            <a:avLst/>
          </a:prstGeom>
          <a:ln w="9525">
            <a:solidFill>
              <a:srgbClr val="162029"/>
            </a:solidFill>
            <a:prstDash val="dash"/>
            <a:tailEnd type="triangle" w="med" len="med"/>
          </a:ln>
        </p:spPr>
      </p:cxnSp>
      <p:cxnSp>
        <p:nvCxnSpPr>
          <p:cNvPr id="108"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109"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110" name="Straight Connector 2485"/>
          <p:cNvCxnSpPr/>
          <p:nvPr/>
        </p:nvCxnSpPr>
        <p:spPr>
          <a:xfrm>
            <a:off x="7071055" y="3733495"/>
            <a:ext cx="4606747" cy="0"/>
          </a:xfrm>
          <a:prstGeom prst="line">
            <a:avLst/>
          </a:prstGeom>
          <a:ln w="9525">
            <a:solidFill>
              <a:srgbClr val="162029"/>
            </a:solidFill>
            <a:prstDash val="dash"/>
            <a:tailEnd type="triangle" w="med" len="med"/>
          </a:ln>
        </p:spPr>
      </p:cxnSp>
      <p:cxnSp>
        <p:nvCxnSpPr>
          <p:cNvPr id="111"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112"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113"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114" name="Straight Connector 2528"/>
          <p:cNvCxnSpPr/>
          <p:nvPr/>
        </p:nvCxnSpPr>
        <p:spPr>
          <a:xfrm>
            <a:off x="1940357" y="4759452"/>
            <a:ext cx="0" cy="2743"/>
          </a:xfrm>
          <a:prstGeom prst="line">
            <a:avLst/>
          </a:prstGeom>
          <a:ln w="6350">
            <a:solidFill>
              <a:srgbClr val="44505C"/>
            </a:solidFill>
            <a:prstDash val="dash"/>
            <a:tailEnd type="triangle" w="med" len="med"/>
          </a:ln>
        </p:spPr>
      </p:cxnSp>
      <p:cxnSp>
        <p:nvCxnSpPr>
          <p:cNvPr id="115" name="Straight Connector 2020"/>
          <p:cNvCxnSpPr/>
          <p:nvPr/>
        </p:nvCxnSpPr>
        <p:spPr>
          <a:xfrm>
            <a:off x="858622" y="5619902"/>
            <a:ext cx="10819181" cy="0"/>
          </a:xfrm>
          <a:prstGeom prst="line">
            <a:avLst/>
          </a:prstGeom>
          <a:ln w="9525">
            <a:solidFill>
              <a:srgbClr val="162029"/>
            </a:solidFill>
            <a:prstDash val="dash"/>
            <a:tailEnd type="triangle" w="med" len="med"/>
          </a:ln>
        </p:spPr>
      </p:cxnSp>
      <p:cxnSp>
        <p:nvCxnSpPr>
          <p:cNvPr id="116" name="EBIT margin dash marker"/>
          <p:cNvCxnSpPr/>
          <p:nvPr/>
        </p:nvCxnSpPr>
        <p:spPr>
          <a:xfrm>
            <a:off x="1164649" y="5583227"/>
            <a:ext cx="109728" cy="0"/>
          </a:xfrm>
          <a:prstGeom prst="line">
            <a:avLst/>
          </a:prstGeom>
          <a:ln w="9525">
            <a:solidFill>
              <a:srgbClr val="FFC000"/>
            </a:solidFill>
          </a:ln>
        </p:spPr>
      </p:cxnSp>
      <p:cxnSp>
        <p:nvCxnSpPr>
          <p:cNvPr id="117" name="EBIT margin dash marker"/>
          <p:cNvCxnSpPr/>
          <p:nvPr/>
        </p:nvCxnSpPr>
        <p:spPr>
          <a:xfrm>
            <a:off x="1885920" y="5607795"/>
            <a:ext cx="109728" cy="0"/>
          </a:xfrm>
          <a:prstGeom prst="line">
            <a:avLst/>
          </a:prstGeom>
          <a:ln w="9525">
            <a:solidFill>
              <a:srgbClr val="FFC000"/>
            </a:solidFill>
          </a:ln>
        </p:spPr>
      </p:cxnSp>
      <p:cxnSp>
        <p:nvCxnSpPr>
          <p:cNvPr id="118" name="EBIT margin dash marker"/>
          <p:cNvCxnSpPr/>
          <p:nvPr/>
        </p:nvCxnSpPr>
        <p:spPr>
          <a:xfrm>
            <a:off x="2607192" y="5606157"/>
            <a:ext cx="109728" cy="0"/>
          </a:xfrm>
          <a:prstGeom prst="line">
            <a:avLst/>
          </a:prstGeom>
          <a:ln w="9525">
            <a:solidFill>
              <a:srgbClr val="FFC000"/>
            </a:solidFill>
          </a:ln>
        </p:spPr>
      </p:cxnSp>
      <p:cxnSp>
        <p:nvCxnSpPr>
          <p:cNvPr id="119" name="EBIT margin dash marker"/>
          <p:cNvCxnSpPr/>
          <p:nvPr/>
        </p:nvCxnSpPr>
        <p:spPr>
          <a:xfrm>
            <a:off x="4049734" y="5662388"/>
            <a:ext cx="109728" cy="0"/>
          </a:xfrm>
          <a:prstGeom prst="line">
            <a:avLst/>
          </a:prstGeom>
          <a:ln w="9525">
            <a:solidFill>
              <a:srgbClr val="FFC000"/>
            </a:solidFill>
          </a:ln>
        </p:spPr>
      </p:cxnSp>
      <p:cxnSp>
        <p:nvCxnSpPr>
          <p:cNvPr id="120" name="EBIT margin dash marker"/>
          <p:cNvCxnSpPr/>
          <p:nvPr/>
        </p:nvCxnSpPr>
        <p:spPr>
          <a:xfrm>
            <a:off x="4771005" y="5547741"/>
            <a:ext cx="109728" cy="0"/>
          </a:xfrm>
          <a:prstGeom prst="line">
            <a:avLst/>
          </a:prstGeom>
          <a:ln w="9525">
            <a:solidFill>
              <a:srgbClr val="FFC000"/>
            </a:solidFill>
          </a:ln>
        </p:spPr>
      </p:cxnSp>
      <p:cxnSp>
        <p:nvCxnSpPr>
          <p:cNvPr id="121" name="EBIT margin dash marker"/>
          <p:cNvCxnSpPr/>
          <p:nvPr/>
        </p:nvCxnSpPr>
        <p:spPr>
          <a:xfrm>
            <a:off x="5492277" y="5519898"/>
            <a:ext cx="109728" cy="0"/>
          </a:xfrm>
          <a:prstGeom prst="line">
            <a:avLst/>
          </a:prstGeom>
          <a:ln w="9525">
            <a:solidFill>
              <a:srgbClr val="FFC000"/>
            </a:solidFill>
          </a:ln>
        </p:spPr>
      </p:cxnSp>
      <p:cxnSp>
        <p:nvCxnSpPr>
          <p:cNvPr id="122" name="EBIT margin dash marker"/>
          <p:cNvCxnSpPr/>
          <p:nvPr/>
        </p:nvCxnSpPr>
        <p:spPr>
          <a:xfrm>
            <a:off x="6213548" y="5563573"/>
            <a:ext cx="109728" cy="0"/>
          </a:xfrm>
          <a:prstGeom prst="line">
            <a:avLst/>
          </a:prstGeom>
          <a:ln w="9525">
            <a:solidFill>
              <a:srgbClr val="FFC000"/>
            </a:solidFill>
          </a:ln>
        </p:spPr>
      </p:cxnSp>
      <p:cxnSp>
        <p:nvCxnSpPr>
          <p:cNvPr id="123" name="EBIT margin dash marker"/>
          <p:cNvCxnSpPr/>
          <p:nvPr/>
        </p:nvCxnSpPr>
        <p:spPr>
          <a:xfrm>
            <a:off x="6934819" y="5559752"/>
            <a:ext cx="109728" cy="0"/>
          </a:xfrm>
          <a:prstGeom prst="line">
            <a:avLst/>
          </a:prstGeom>
          <a:ln w="9525">
            <a:solidFill>
              <a:srgbClr val="FFC000"/>
            </a:solidFill>
          </a:ln>
        </p:spPr>
      </p:cxnSp>
      <p:cxnSp>
        <p:nvCxnSpPr>
          <p:cNvPr id="124" name="EBIT margin dash marker"/>
          <p:cNvCxnSpPr/>
          <p:nvPr/>
        </p:nvCxnSpPr>
        <p:spPr>
          <a:xfrm>
            <a:off x="7656090" y="5383960"/>
            <a:ext cx="109728" cy="0"/>
          </a:xfrm>
          <a:prstGeom prst="line">
            <a:avLst/>
          </a:prstGeom>
          <a:ln w="9525">
            <a:solidFill>
              <a:srgbClr val="FFC000"/>
            </a:solidFill>
          </a:ln>
        </p:spPr>
      </p:cxnSp>
      <p:cxnSp>
        <p:nvCxnSpPr>
          <p:cNvPr id="125" name="EBIT margin dash marker"/>
          <p:cNvCxnSpPr/>
          <p:nvPr/>
        </p:nvCxnSpPr>
        <p:spPr>
          <a:xfrm>
            <a:off x="8377362" y="5548287"/>
            <a:ext cx="109728" cy="0"/>
          </a:xfrm>
          <a:prstGeom prst="line">
            <a:avLst/>
          </a:prstGeom>
          <a:ln w="9525">
            <a:solidFill>
              <a:srgbClr val="FFC000"/>
            </a:solidFill>
          </a:ln>
        </p:spPr>
      </p:cxnSp>
      <p:cxnSp>
        <p:nvCxnSpPr>
          <p:cNvPr id="126" name="EBIT margin dash marker"/>
          <p:cNvCxnSpPr/>
          <p:nvPr/>
        </p:nvCxnSpPr>
        <p:spPr>
          <a:xfrm>
            <a:off x="9098633" y="5388327"/>
            <a:ext cx="109728" cy="0"/>
          </a:xfrm>
          <a:prstGeom prst="line">
            <a:avLst/>
          </a:prstGeom>
          <a:ln w="9525">
            <a:solidFill>
              <a:srgbClr val="FFC000"/>
            </a:solidFill>
          </a:ln>
        </p:spPr>
      </p:cxnSp>
      <p:cxnSp>
        <p:nvCxnSpPr>
          <p:cNvPr id="127" name="EBIT margin dash marker"/>
          <p:cNvCxnSpPr/>
          <p:nvPr/>
        </p:nvCxnSpPr>
        <p:spPr>
          <a:xfrm>
            <a:off x="9819904" y="5446743"/>
            <a:ext cx="109728" cy="0"/>
          </a:xfrm>
          <a:prstGeom prst="line">
            <a:avLst/>
          </a:prstGeom>
          <a:ln w="9525">
            <a:solidFill>
              <a:srgbClr val="FFC000"/>
            </a:solidFill>
          </a:ln>
        </p:spPr>
      </p:cxnSp>
      <p:cxnSp>
        <p:nvCxnSpPr>
          <p:cNvPr id="128" name="EBIT margin dash marker"/>
          <p:cNvCxnSpPr/>
          <p:nvPr/>
        </p:nvCxnSpPr>
        <p:spPr>
          <a:xfrm>
            <a:off x="10541175" y="5440737"/>
            <a:ext cx="109728" cy="0"/>
          </a:xfrm>
          <a:prstGeom prst="line">
            <a:avLst/>
          </a:prstGeom>
          <a:ln w="9525">
            <a:solidFill>
              <a:srgbClr val="FFC000"/>
            </a:solidFill>
          </a:ln>
        </p:spPr>
      </p:cxnSp>
      <p:cxnSp>
        <p:nvCxnSpPr>
          <p:cNvPr id="129" name="EBIT margin dash marker"/>
          <p:cNvCxnSpPr/>
          <p:nvPr/>
        </p:nvCxnSpPr>
        <p:spPr>
          <a:xfrm>
            <a:off x="11262447" y="5385052"/>
            <a:ext cx="109728" cy="0"/>
          </a:xfrm>
          <a:prstGeom prst="line">
            <a:avLst/>
          </a:prstGeom>
          <a:ln w="9525">
            <a:solidFill>
              <a:srgbClr val="FFC000"/>
            </a:solidFill>
          </a:ln>
        </p:spPr>
      </p:cxnSp>
      <p:cxnSp>
        <p:nvCxnSpPr>
          <p:cNvPr id="130" name="EBIT margin dash marker"/>
          <p:cNvCxnSpPr/>
          <p:nvPr/>
        </p:nvCxnSpPr>
        <p:spPr>
          <a:xfrm>
            <a:off x="1164649" y="4633561"/>
            <a:ext cx="109728" cy="0"/>
          </a:xfrm>
          <a:prstGeom prst="line">
            <a:avLst/>
          </a:prstGeom>
          <a:ln w="9525">
            <a:solidFill>
              <a:srgbClr val="FFC000"/>
            </a:solidFill>
          </a:ln>
        </p:spPr>
      </p:cxnSp>
      <p:cxnSp>
        <p:nvCxnSpPr>
          <p:cNvPr id="131" name="EBIT margin dash marker"/>
          <p:cNvCxnSpPr/>
          <p:nvPr/>
        </p:nvCxnSpPr>
        <p:spPr>
          <a:xfrm>
            <a:off x="1885920" y="4889060"/>
            <a:ext cx="109728" cy="0"/>
          </a:xfrm>
          <a:prstGeom prst="line">
            <a:avLst/>
          </a:prstGeom>
          <a:ln w="9525">
            <a:solidFill>
              <a:srgbClr val="FFC000"/>
            </a:solidFill>
          </a:ln>
        </p:spPr>
      </p:cxnSp>
      <p:cxnSp>
        <p:nvCxnSpPr>
          <p:cNvPr id="132" name="EBIT margin dash marker"/>
          <p:cNvCxnSpPr/>
          <p:nvPr/>
        </p:nvCxnSpPr>
        <p:spPr>
          <a:xfrm>
            <a:off x="2607192" y="4653215"/>
            <a:ext cx="109728" cy="0"/>
          </a:xfrm>
          <a:prstGeom prst="line">
            <a:avLst/>
          </a:prstGeom>
          <a:ln w="9525">
            <a:solidFill>
              <a:srgbClr val="FFC000"/>
            </a:solidFill>
          </a:ln>
        </p:spPr>
      </p:cxnSp>
      <p:cxnSp>
        <p:nvCxnSpPr>
          <p:cNvPr id="133" name="EBIT margin dash marker"/>
          <p:cNvCxnSpPr/>
          <p:nvPr/>
        </p:nvCxnSpPr>
        <p:spPr>
          <a:xfrm>
            <a:off x="4049734" y="4692523"/>
            <a:ext cx="109728" cy="0"/>
          </a:xfrm>
          <a:prstGeom prst="line">
            <a:avLst/>
          </a:prstGeom>
          <a:ln w="9525">
            <a:solidFill>
              <a:srgbClr val="FFC000"/>
            </a:solidFill>
          </a:ln>
        </p:spPr>
      </p:cxnSp>
      <p:cxnSp>
        <p:nvCxnSpPr>
          <p:cNvPr id="134" name="EBIT margin dash marker"/>
          <p:cNvCxnSpPr/>
          <p:nvPr/>
        </p:nvCxnSpPr>
        <p:spPr>
          <a:xfrm>
            <a:off x="4771005" y="4477969"/>
            <a:ext cx="109728" cy="0"/>
          </a:xfrm>
          <a:prstGeom prst="line">
            <a:avLst/>
          </a:prstGeom>
          <a:ln w="9525">
            <a:solidFill>
              <a:srgbClr val="FFC000"/>
            </a:solidFill>
          </a:ln>
        </p:spPr>
      </p:cxnSp>
      <p:cxnSp>
        <p:nvCxnSpPr>
          <p:cNvPr id="135" name="EBIT margin dash marker"/>
          <p:cNvCxnSpPr/>
          <p:nvPr/>
        </p:nvCxnSpPr>
        <p:spPr>
          <a:xfrm>
            <a:off x="5492277" y="4380246"/>
            <a:ext cx="109728" cy="0"/>
          </a:xfrm>
          <a:prstGeom prst="line">
            <a:avLst/>
          </a:prstGeom>
          <a:ln w="9525">
            <a:solidFill>
              <a:srgbClr val="FFC000"/>
            </a:solidFill>
          </a:ln>
        </p:spPr>
      </p:cxnSp>
      <p:cxnSp>
        <p:nvCxnSpPr>
          <p:cNvPr id="136" name="EBIT margin dash marker"/>
          <p:cNvCxnSpPr/>
          <p:nvPr/>
        </p:nvCxnSpPr>
        <p:spPr>
          <a:xfrm>
            <a:off x="6213548" y="4445758"/>
            <a:ext cx="109728" cy="0"/>
          </a:xfrm>
          <a:prstGeom prst="line">
            <a:avLst/>
          </a:prstGeom>
          <a:ln w="9525">
            <a:solidFill>
              <a:srgbClr val="FFC000"/>
            </a:solidFill>
          </a:ln>
        </p:spPr>
      </p:cxnSp>
      <p:cxnSp>
        <p:nvCxnSpPr>
          <p:cNvPr id="137" name="EBIT margin dash marker"/>
          <p:cNvCxnSpPr/>
          <p:nvPr/>
        </p:nvCxnSpPr>
        <p:spPr>
          <a:xfrm>
            <a:off x="6934819" y="4473055"/>
            <a:ext cx="109728" cy="0"/>
          </a:xfrm>
          <a:prstGeom prst="line">
            <a:avLst/>
          </a:prstGeom>
          <a:ln w="9525">
            <a:solidFill>
              <a:srgbClr val="FFC000"/>
            </a:solidFill>
          </a:ln>
        </p:spPr>
      </p:cxnSp>
      <p:cxnSp>
        <p:nvCxnSpPr>
          <p:cNvPr id="138" name="EBIT margin dash marker"/>
          <p:cNvCxnSpPr/>
          <p:nvPr/>
        </p:nvCxnSpPr>
        <p:spPr>
          <a:xfrm>
            <a:off x="7656090" y="4392802"/>
            <a:ext cx="109728" cy="0"/>
          </a:xfrm>
          <a:prstGeom prst="line">
            <a:avLst/>
          </a:prstGeom>
          <a:ln w="9525">
            <a:solidFill>
              <a:srgbClr val="FFC000"/>
            </a:solidFill>
          </a:ln>
        </p:spPr>
      </p:cxnSp>
      <p:cxnSp>
        <p:nvCxnSpPr>
          <p:cNvPr id="139" name="EBIT margin dash marker"/>
          <p:cNvCxnSpPr/>
          <p:nvPr/>
        </p:nvCxnSpPr>
        <p:spPr>
          <a:xfrm>
            <a:off x="8377362" y="4372602"/>
            <a:ext cx="109728" cy="0"/>
          </a:xfrm>
          <a:prstGeom prst="line">
            <a:avLst/>
          </a:prstGeom>
          <a:ln w="9525">
            <a:solidFill>
              <a:srgbClr val="FFC000"/>
            </a:solidFill>
          </a:ln>
        </p:spPr>
      </p:cxnSp>
      <p:cxnSp>
        <p:nvCxnSpPr>
          <p:cNvPr id="140" name="EBIT margin dash marker"/>
          <p:cNvCxnSpPr/>
          <p:nvPr/>
        </p:nvCxnSpPr>
        <p:spPr>
          <a:xfrm>
            <a:off x="9098633" y="4414640"/>
            <a:ext cx="109728" cy="0"/>
          </a:xfrm>
          <a:prstGeom prst="line">
            <a:avLst/>
          </a:prstGeom>
          <a:ln w="9525">
            <a:solidFill>
              <a:srgbClr val="FFC000"/>
            </a:solidFill>
          </a:ln>
        </p:spPr>
      </p:cxnSp>
      <p:cxnSp>
        <p:nvCxnSpPr>
          <p:cNvPr id="141" name="EBIT margin dash marker"/>
          <p:cNvCxnSpPr/>
          <p:nvPr/>
        </p:nvCxnSpPr>
        <p:spPr>
          <a:xfrm>
            <a:off x="9819904" y="4516184"/>
            <a:ext cx="109728" cy="0"/>
          </a:xfrm>
          <a:prstGeom prst="line">
            <a:avLst/>
          </a:prstGeom>
          <a:ln w="9525">
            <a:solidFill>
              <a:srgbClr val="FFC000"/>
            </a:solidFill>
          </a:ln>
        </p:spPr>
      </p:cxnSp>
      <p:cxnSp>
        <p:nvCxnSpPr>
          <p:cNvPr id="142" name="EBIT margin dash marker"/>
          <p:cNvCxnSpPr/>
          <p:nvPr/>
        </p:nvCxnSpPr>
        <p:spPr>
          <a:xfrm>
            <a:off x="10541175" y="4454493"/>
            <a:ext cx="109728" cy="0"/>
          </a:xfrm>
          <a:prstGeom prst="line">
            <a:avLst/>
          </a:prstGeom>
          <a:ln w="9525">
            <a:solidFill>
              <a:srgbClr val="FFC000"/>
            </a:solidFill>
          </a:ln>
        </p:spPr>
      </p:cxnSp>
      <p:cxnSp>
        <p:nvCxnSpPr>
          <p:cNvPr id="143" name="EBIT margin dash marker"/>
          <p:cNvCxnSpPr/>
          <p:nvPr/>
        </p:nvCxnSpPr>
        <p:spPr>
          <a:xfrm>
            <a:off x="11262447" y="4415186"/>
            <a:ext cx="109728" cy="0"/>
          </a:xfrm>
          <a:prstGeom prst="line">
            <a:avLst/>
          </a:prstGeom>
          <a:ln w="9525">
            <a:solidFill>
              <a:srgbClr val="FFC000"/>
            </a:solidFill>
          </a:ln>
        </p:spPr>
      </p:cxnSp>
      <p:cxnSp>
        <p:nvCxnSpPr>
          <p:cNvPr id="144" name="EBIT margin dash marker"/>
          <p:cNvCxnSpPr/>
          <p:nvPr/>
        </p:nvCxnSpPr>
        <p:spPr>
          <a:xfrm>
            <a:off x="1164649" y="3712652"/>
            <a:ext cx="109728" cy="0"/>
          </a:xfrm>
          <a:prstGeom prst="line">
            <a:avLst/>
          </a:prstGeom>
          <a:ln w="9525">
            <a:solidFill>
              <a:srgbClr val="FFC000"/>
            </a:solidFill>
          </a:ln>
        </p:spPr>
      </p:cxnSp>
      <p:cxnSp>
        <p:nvCxnSpPr>
          <p:cNvPr id="145" name="EBIT margin dash marker"/>
          <p:cNvCxnSpPr/>
          <p:nvPr/>
        </p:nvCxnSpPr>
        <p:spPr>
          <a:xfrm>
            <a:off x="1885920" y="3914650"/>
            <a:ext cx="109728" cy="0"/>
          </a:xfrm>
          <a:prstGeom prst="line">
            <a:avLst/>
          </a:prstGeom>
          <a:ln w="9525">
            <a:solidFill>
              <a:srgbClr val="FFC000"/>
            </a:solidFill>
          </a:ln>
        </p:spPr>
      </p:cxnSp>
      <p:cxnSp>
        <p:nvCxnSpPr>
          <p:cNvPr id="146" name="EBIT margin dash marker"/>
          <p:cNvCxnSpPr/>
          <p:nvPr/>
        </p:nvCxnSpPr>
        <p:spPr>
          <a:xfrm>
            <a:off x="2607192" y="3733944"/>
            <a:ext cx="109728" cy="0"/>
          </a:xfrm>
          <a:prstGeom prst="line">
            <a:avLst/>
          </a:prstGeom>
          <a:ln w="9525">
            <a:solidFill>
              <a:srgbClr val="FFC000"/>
            </a:solidFill>
          </a:ln>
        </p:spPr>
      </p:cxnSp>
      <p:cxnSp>
        <p:nvCxnSpPr>
          <p:cNvPr id="147" name="EBIT margin dash marker"/>
          <p:cNvCxnSpPr/>
          <p:nvPr/>
        </p:nvCxnSpPr>
        <p:spPr>
          <a:xfrm>
            <a:off x="3328463" y="3731760"/>
            <a:ext cx="109728" cy="0"/>
          </a:xfrm>
          <a:prstGeom prst="line">
            <a:avLst/>
          </a:prstGeom>
          <a:ln w="9525">
            <a:solidFill>
              <a:srgbClr val="FFC000"/>
            </a:solidFill>
          </a:ln>
        </p:spPr>
      </p:cxnSp>
      <p:cxnSp>
        <p:nvCxnSpPr>
          <p:cNvPr id="148" name="EBIT margin dash marker"/>
          <p:cNvCxnSpPr/>
          <p:nvPr/>
        </p:nvCxnSpPr>
        <p:spPr>
          <a:xfrm>
            <a:off x="4049734" y="3723025"/>
            <a:ext cx="109728" cy="0"/>
          </a:xfrm>
          <a:prstGeom prst="line">
            <a:avLst/>
          </a:prstGeom>
          <a:ln w="9525">
            <a:solidFill>
              <a:srgbClr val="FFC000"/>
            </a:solidFill>
          </a:ln>
        </p:spPr>
      </p:cxnSp>
      <p:cxnSp>
        <p:nvCxnSpPr>
          <p:cNvPr id="149" name="EBIT margin dash marker"/>
          <p:cNvCxnSpPr/>
          <p:nvPr/>
        </p:nvCxnSpPr>
        <p:spPr>
          <a:xfrm>
            <a:off x="4771005" y="3536314"/>
            <a:ext cx="109728" cy="0"/>
          </a:xfrm>
          <a:prstGeom prst="line">
            <a:avLst/>
          </a:prstGeom>
          <a:ln w="9525">
            <a:solidFill>
              <a:srgbClr val="FFC000"/>
            </a:solidFill>
          </a:ln>
        </p:spPr>
      </p:cxnSp>
      <p:cxnSp>
        <p:nvCxnSpPr>
          <p:cNvPr id="150" name="EBIT margin dash marker"/>
          <p:cNvCxnSpPr/>
          <p:nvPr/>
        </p:nvCxnSpPr>
        <p:spPr>
          <a:xfrm>
            <a:off x="5492277" y="3466434"/>
            <a:ext cx="109728" cy="0"/>
          </a:xfrm>
          <a:prstGeom prst="line">
            <a:avLst/>
          </a:prstGeom>
          <a:ln w="9525">
            <a:solidFill>
              <a:srgbClr val="FFC000"/>
            </a:solidFill>
          </a:ln>
        </p:spPr>
      </p:cxnSp>
      <p:cxnSp>
        <p:nvCxnSpPr>
          <p:cNvPr id="151" name="EBIT margin dash marker"/>
          <p:cNvCxnSpPr/>
          <p:nvPr/>
        </p:nvCxnSpPr>
        <p:spPr>
          <a:xfrm>
            <a:off x="6213548" y="3456607"/>
            <a:ext cx="109728" cy="0"/>
          </a:xfrm>
          <a:prstGeom prst="line">
            <a:avLst/>
          </a:prstGeom>
          <a:ln w="9525">
            <a:solidFill>
              <a:srgbClr val="FFC000"/>
            </a:solidFill>
          </a:ln>
        </p:spPr>
      </p:cxnSp>
      <p:cxnSp>
        <p:nvCxnSpPr>
          <p:cNvPr id="152" name="EBIT margin dash marker"/>
          <p:cNvCxnSpPr/>
          <p:nvPr/>
        </p:nvCxnSpPr>
        <p:spPr>
          <a:xfrm>
            <a:off x="6934819" y="3486088"/>
            <a:ext cx="109728" cy="0"/>
          </a:xfrm>
          <a:prstGeom prst="line">
            <a:avLst/>
          </a:prstGeom>
          <a:ln w="9525">
            <a:solidFill>
              <a:srgbClr val="FFC000"/>
            </a:solidFill>
          </a:ln>
        </p:spPr>
      </p:cxnSp>
      <p:cxnSp>
        <p:nvCxnSpPr>
          <p:cNvPr id="153" name="EBIT margin dash marker"/>
          <p:cNvCxnSpPr/>
          <p:nvPr/>
        </p:nvCxnSpPr>
        <p:spPr>
          <a:xfrm>
            <a:off x="7656090" y="3374170"/>
            <a:ext cx="109728" cy="0"/>
          </a:xfrm>
          <a:prstGeom prst="line">
            <a:avLst/>
          </a:prstGeom>
          <a:ln w="9525">
            <a:solidFill>
              <a:srgbClr val="FFC000"/>
            </a:solidFill>
          </a:ln>
        </p:spPr>
      </p:cxnSp>
      <p:cxnSp>
        <p:nvCxnSpPr>
          <p:cNvPr id="154" name="EBIT margin dash marker"/>
          <p:cNvCxnSpPr/>
          <p:nvPr/>
        </p:nvCxnSpPr>
        <p:spPr>
          <a:xfrm>
            <a:off x="8377362" y="3408564"/>
            <a:ext cx="109728" cy="0"/>
          </a:xfrm>
          <a:prstGeom prst="line">
            <a:avLst/>
          </a:prstGeom>
          <a:ln w="9525">
            <a:solidFill>
              <a:srgbClr val="FFC000"/>
            </a:solidFill>
          </a:ln>
        </p:spPr>
      </p:cxnSp>
      <p:cxnSp>
        <p:nvCxnSpPr>
          <p:cNvPr id="155" name="EBIT margin dash marker"/>
          <p:cNvCxnSpPr/>
          <p:nvPr/>
        </p:nvCxnSpPr>
        <p:spPr>
          <a:xfrm>
            <a:off x="9098633" y="3656421"/>
            <a:ext cx="109728" cy="0"/>
          </a:xfrm>
          <a:prstGeom prst="line">
            <a:avLst/>
          </a:prstGeom>
          <a:ln w="9525">
            <a:solidFill>
              <a:srgbClr val="FFC000"/>
            </a:solidFill>
          </a:ln>
        </p:spPr>
      </p:cxnSp>
      <p:cxnSp>
        <p:nvCxnSpPr>
          <p:cNvPr id="156" name="EBIT margin dash marker"/>
          <p:cNvCxnSpPr/>
          <p:nvPr/>
        </p:nvCxnSpPr>
        <p:spPr>
          <a:xfrm>
            <a:off x="9819904" y="3629670"/>
            <a:ext cx="109728" cy="0"/>
          </a:xfrm>
          <a:prstGeom prst="line">
            <a:avLst/>
          </a:prstGeom>
          <a:ln w="9525">
            <a:solidFill>
              <a:srgbClr val="FFC000"/>
            </a:solidFill>
          </a:ln>
        </p:spPr>
      </p:cxnSp>
      <p:cxnSp>
        <p:nvCxnSpPr>
          <p:cNvPr id="157" name="EBIT margin dash marker"/>
          <p:cNvCxnSpPr/>
          <p:nvPr/>
        </p:nvCxnSpPr>
        <p:spPr>
          <a:xfrm>
            <a:off x="10541175" y="3541228"/>
            <a:ext cx="109728" cy="0"/>
          </a:xfrm>
          <a:prstGeom prst="line">
            <a:avLst/>
          </a:prstGeom>
          <a:ln w="9525">
            <a:solidFill>
              <a:srgbClr val="FFC000"/>
            </a:solidFill>
          </a:ln>
        </p:spPr>
      </p:cxnSp>
      <p:cxnSp>
        <p:nvCxnSpPr>
          <p:cNvPr id="158" name="EBIT margin dash marker"/>
          <p:cNvCxnSpPr/>
          <p:nvPr/>
        </p:nvCxnSpPr>
        <p:spPr>
          <a:xfrm>
            <a:off x="11262447" y="3455515"/>
            <a:ext cx="109728" cy="0"/>
          </a:xfrm>
          <a:prstGeom prst="line">
            <a:avLst/>
          </a:prstGeom>
          <a:ln w="9525">
            <a:solidFill>
              <a:srgbClr val="FFC000"/>
            </a:solidFill>
          </a:ln>
        </p:spPr>
      </p:cxnSp>
      <p:cxnSp>
        <p:nvCxnSpPr>
          <p:cNvPr id="159" name="EBIT margin dash marker"/>
          <p:cNvCxnSpPr/>
          <p:nvPr/>
        </p:nvCxnSpPr>
        <p:spPr>
          <a:xfrm>
            <a:off x="1164649" y="2780825"/>
            <a:ext cx="109728" cy="0"/>
          </a:xfrm>
          <a:prstGeom prst="line">
            <a:avLst/>
          </a:prstGeom>
          <a:ln w="9525">
            <a:solidFill>
              <a:srgbClr val="FFC000"/>
            </a:solidFill>
          </a:ln>
        </p:spPr>
      </p:cxnSp>
      <p:cxnSp>
        <p:nvCxnSpPr>
          <p:cNvPr id="160" name="EBIT margin dash marker"/>
          <p:cNvCxnSpPr/>
          <p:nvPr/>
        </p:nvCxnSpPr>
        <p:spPr>
          <a:xfrm>
            <a:off x="1885920" y="2775911"/>
            <a:ext cx="109728" cy="0"/>
          </a:xfrm>
          <a:prstGeom prst="line">
            <a:avLst/>
          </a:prstGeom>
          <a:ln w="9525">
            <a:solidFill>
              <a:srgbClr val="FFC000"/>
            </a:solidFill>
          </a:ln>
        </p:spPr>
      </p:cxnSp>
      <p:cxnSp>
        <p:nvCxnSpPr>
          <p:cNvPr id="161" name="EBIT margin dash marker"/>
          <p:cNvCxnSpPr/>
          <p:nvPr/>
        </p:nvCxnSpPr>
        <p:spPr>
          <a:xfrm>
            <a:off x="2607192" y="2773182"/>
            <a:ext cx="109728" cy="0"/>
          </a:xfrm>
          <a:prstGeom prst="line">
            <a:avLst/>
          </a:prstGeom>
          <a:ln w="9525">
            <a:solidFill>
              <a:srgbClr val="FFC000"/>
            </a:solidFill>
          </a:ln>
        </p:spPr>
      </p:cxnSp>
      <p:cxnSp>
        <p:nvCxnSpPr>
          <p:cNvPr id="162" name="EBIT margin dash marker"/>
          <p:cNvCxnSpPr/>
          <p:nvPr/>
        </p:nvCxnSpPr>
        <p:spPr>
          <a:xfrm>
            <a:off x="3328463" y="2783554"/>
            <a:ext cx="109728" cy="0"/>
          </a:xfrm>
          <a:prstGeom prst="line">
            <a:avLst/>
          </a:prstGeom>
          <a:ln w="9525">
            <a:solidFill>
              <a:srgbClr val="FFC000"/>
            </a:solidFill>
          </a:ln>
        </p:spPr>
      </p:cxnSp>
      <p:cxnSp>
        <p:nvCxnSpPr>
          <p:cNvPr id="163" name="EBIT margin dash marker"/>
          <p:cNvCxnSpPr/>
          <p:nvPr/>
        </p:nvCxnSpPr>
        <p:spPr>
          <a:xfrm>
            <a:off x="4049734" y="2773727"/>
            <a:ext cx="109728" cy="0"/>
          </a:xfrm>
          <a:prstGeom prst="line">
            <a:avLst/>
          </a:prstGeom>
          <a:ln w="9525">
            <a:solidFill>
              <a:srgbClr val="FFC000"/>
            </a:solidFill>
          </a:ln>
        </p:spPr>
      </p:cxnSp>
      <p:cxnSp>
        <p:nvCxnSpPr>
          <p:cNvPr id="164" name="EBIT margin dash marker"/>
          <p:cNvCxnSpPr/>
          <p:nvPr/>
        </p:nvCxnSpPr>
        <p:spPr>
          <a:xfrm>
            <a:off x="4771005" y="2725685"/>
            <a:ext cx="109728" cy="0"/>
          </a:xfrm>
          <a:prstGeom prst="line">
            <a:avLst/>
          </a:prstGeom>
          <a:ln w="9525">
            <a:solidFill>
              <a:srgbClr val="FFC000"/>
            </a:solidFill>
          </a:ln>
        </p:spPr>
      </p:cxnSp>
      <p:cxnSp>
        <p:nvCxnSpPr>
          <p:cNvPr id="165" name="EBIT margin dash marker"/>
          <p:cNvCxnSpPr/>
          <p:nvPr/>
        </p:nvCxnSpPr>
        <p:spPr>
          <a:xfrm>
            <a:off x="5492277" y="2835419"/>
            <a:ext cx="109728" cy="0"/>
          </a:xfrm>
          <a:prstGeom prst="line">
            <a:avLst/>
          </a:prstGeom>
          <a:ln w="9525">
            <a:solidFill>
              <a:srgbClr val="FFC000"/>
            </a:solidFill>
          </a:ln>
        </p:spPr>
      </p:cxnSp>
      <p:cxnSp>
        <p:nvCxnSpPr>
          <p:cNvPr id="166" name="EBIT margin dash marker"/>
          <p:cNvCxnSpPr/>
          <p:nvPr/>
        </p:nvCxnSpPr>
        <p:spPr>
          <a:xfrm>
            <a:off x="6213548" y="2713674"/>
            <a:ext cx="109728" cy="0"/>
          </a:xfrm>
          <a:prstGeom prst="line">
            <a:avLst/>
          </a:prstGeom>
          <a:ln w="9525">
            <a:solidFill>
              <a:srgbClr val="FFC000"/>
            </a:solidFill>
          </a:ln>
        </p:spPr>
      </p:cxnSp>
      <p:cxnSp>
        <p:nvCxnSpPr>
          <p:cNvPr id="167" name="EBIT margin dash marker"/>
          <p:cNvCxnSpPr/>
          <p:nvPr/>
        </p:nvCxnSpPr>
        <p:spPr>
          <a:xfrm>
            <a:off x="6934819" y="2754620"/>
            <a:ext cx="109728" cy="0"/>
          </a:xfrm>
          <a:prstGeom prst="line">
            <a:avLst/>
          </a:prstGeom>
          <a:ln w="9525">
            <a:solidFill>
              <a:srgbClr val="FFC000"/>
            </a:solidFill>
          </a:ln>
        </p:spPr>
      </p:cxnSp>
      <p:cxnSp>
        <p:nvCxnSpPr>
          <p:cNvPr id="168" name="EBIT margin dash marker"/>
          <p:cNvCxnSpPr/>
          <p:nvPr/>
        </p:nvCxnSpPr>
        <p:spPr>
          <a:xfrm>
            <a:off x="7656090" y="2465272"/>
            <a:ext cx="109728" cy="0"/>
          </a:xfrm>
          <a:prstGeom prst="line">
            <a:avLst/>
          </a:prstGeom>
          <a:ln w="9525">
            <a:solidFill>
              <a:srgbClr val="FFC000"/>
            </a:solidFill>
          </a:ln>
        </p:spPr>
      </p:cxnSp>
      <p:cxnSp>
        <p:nvCxnSpPr>
          <p:cNvPr id="169" name="EBIT margin dash marker"/>
          <p:cNvCxnSpPr/>
          <p:nvPr/>
        </p:nvCxnSpPr>
        <p:spPr>
          <a:xfrm>
            <a:off x="8377362" y="2621411"/>
            <a:ext cx="109728" cy="0"/>
          </a:xfrm>
          <a:prstGeom prst="line">
            <a:avLst/>
          </a:prstGeom>
          <a:ln w="9525">
            <a:solidFill>
              <a:srgbClr val="FFC000"/>
            </a:solidFill>
          </a:ln>
        </p:spPr>
      </p:cxnSp>
      <p:cxnSp>
        <p:nvCxnSpPr>
          <p:cNvPr id="170" name="EBIT margin dash marker"/>
          <p:cNvCxnSpPr/>
          <p:nvPr/>
        </p:nvCxnSpPr>
        <p:spPr>
          <a:xfrm>
            <a:off x="9098633" y="2674367"/>
            <a:ext cx="109728" cy="0"/>
          </a:xfrm>
          <a:prstGeom prst="line">
            <a:avLst/>
          </a:prstGeom>
          <a:ln w="9525">
            <a:solidFill>
              <a:srgbClr val="FFC000"/>
            </a:solidFill>
          </a:ln>
        </p:spPr>
      </p:cxnSp>
      <p:cxnSp>
        <p:nvCxnSpPr>
          <p:cNvPr id="171" name="EBIT margin dash marker"/>
          <p:cNvCxnSpPr/>
          <p:nvPr/>
        </p:nvCxnSpPr>
        <p:spPr>
          <a:xfrm>
            <a:off x="9819904" y="2651437"/>
            <a:ext cx="109728" cy="0"/>
          </a:xfrm>
          <a:prstGeom prst="line">
            <a:avLst/>
          </a:prstGeom>
          <a:ln w="9525">
            <a:solidFill>
              <a:srgbClr val="FFC000"/>
            </a:solidFill>
          </a:ln>
        </p:spPr>
      </p:cxnSp>
      <p:cxnSp>
        <p:nvCxnSpPr>
          <p:cNvPr id="172" name="EBIT margin dash marker"/>
          <p:cNvCxnSpPr/>
          <p:nvPr/>
        </p:nvCxnSpPr>
        <p:spPr>
          <a:xfrm>
            <a:off x="10541175" y="2620319"/>
            <a:ext cx="109728" cy="0"/>
          </a:xfrm>
          <a:prstGeom prst="line">
            <a:avLst/>
          </a:prstGeom>
          <a:ln w="9525">
            <a:solidFill>
              <a:srgbClr val="FFC000"/>
            </a:solidFill>
          </a:ln>
        </p:spPr>
      </p:cxnSp>
      <p:cxnSp>
        <p:nvCxnSpPr>
          <p:cNvPr id="173" name="EBIT margin dash marker"/>
          <p:cNvCxnSpPr/>
          <p:nvPr/>
        </p:nvCxnSpPr>
        <p:spPr>
          <a:xfrm>
            <a:off x="11262447" y="2513861"/>
            <a:ext cx="109728" cy="0"/>
          </a:xfrm>
          <a:prstGeom prst="line">
            <a:avLst/>
          </a:prstGeom>
          <a:ln w="9525">
            <a:solidFill>
              <a:srgbClr val="FFC000"/>
            </a:solidFill>
          </a:ln>
        </p:spPr>
      </p:cxnSp>
      <p:cxnSp>
        <p:nvCxnSpPr>
          <p:cNvPr id="174" name="EBIT margin dash marker"/>
          <p:cNvCxnSpPr/>
          <p:nvPr/>
        </p:nvCxnSpPr>
        <p:spPr>
          <a:xfrm>
            <a:off x="1164649" y="1819516"/>
            <a:ext cx="109728" cy="0"/>
          </a:xfrm>
          <a:prstGeom prst="line">
            <a:avLst/>
          </a:prstGeom>
          <a:ln w="9525">
            <a:solidFill>
              <a:srgbClr val="FFC000"/>
            </a:solidFill>
          </a:ln>
        </p:spPr>
      </p:cxnSp>
      <p:cxnSp>
        <p:nvCxnSpPr>
          <p:cNvPr id="175" name="EBIT margin dash marker"/>
          <p:cNvCxnSpPr/>
          <p:nvPr/>
        </p:nvCxnSpPr>
        <p:spPr>
          <a:xfrm>
            <a:off x="1885920" y="1835895"/>
            <a:ext cx="109728" cy="0"/>
          </a:xfrm>
          <a:prstGeom prst="line">
            <a:avLst/>
          </a:prstGeom>
          <a:ln w="9525">
            <a:solidFill>
              <a:srgbClr val="FFC000"/>
            </a:solidFill>
          </a:ln>
        </p:spPr>
      </p:cxnSp>
      <p:cxnSp>
        <p:nvCxnSpPr>
          <p:cNvPr id="176" name="EBIT margin dash marker"/>
          <p:cNvCxnSpPr/>
          <p:nvPr/>
        </p:nvCxnSpPr>
        <p:spPr>
          <a:xfrm>
            <a:off x="2607192" y="1836986"/>
            <a:ext cx="109728" cy="0"/>
          </a:xfrm>
          <a:prstGeom prst="line">
            <a:avLst/>
          </a:prstGeom>
          <a:ln w="9525">
            <a:solidFill>
              <a:srgbClr val="FFC000"/>
            </a:solidFill>
          </a:ln>
        </p:spPr>
      </p:cxnSp>
      <p:cxnSp>
        <p:nvCxnSpPr>
          <p:cNvPr id="177" name="EBIT margin dash marker"/>
          <p:cNvCxnSpPr/>
          <p:nvPr/>
        </p:nvCxnSpPr>
        <p:spPr>
          <a:xfrm>
            <a:off x="3328463" y="1817333"/>
            <a:ext cx="109728" cy="0"/>
          </a:xfrm>
          <a:prstGeom prst="line">
            <a:avLst/>
          </a:prstGeom>
          <a:ln w="9525">
            <a:solidFill>
              <a:srgbClr val="FFC000"/>
            </a:solidFill>
          </a:ln>
        </p:spPr>
      </p:cxnSp>
      <p:cxnSp>
        <p:nvCxnSpPr>
          <p:cNvPr id="178" name="EBIT margin dash marker"/>
          <p:cNvCxnSpPr/>
          <p:nvPr/>
        </p:nvCxnSpPr>
        <p:spPr>
          <a:xfrm>
            <a:off x="4049734" y="1835349"/>
            <a:ext cx="109728" cy="0"/>
          </a:xfrm>
          <a:prstGeom prst="line">
            <a:avLst/>
          </a:prstGeom>
          <a:ln w="9525">
            <a:solidFill>
              <a:srgbClr val="FFC000"/>
            </a:solidFill>
          </a:ln>
        </p:spPr>
      </p:cxnSp>
      <p:cxnSp>
        <p:nvCxnSpPr>
          <p:cNvPr id="179" name="EBIT margin dash marker"/>
          <p:cNvCxnSpPr/>
          <p:nvPr/>
        </p:nvCxnSpPr>
        <p:spPr>
          <a:xfrm>
            <a:off x="4771005" y="1750728"/>
            <a:ext cx="109728" cy="0"/>
          </a:xfrm>
          <a:prstGeom prst="line">
            <a:avLst/>
          </a:prstGeom>
          <a:ln w="9525">
            <a:solidFill>
              <a:srgbClr val="FFC000"/>
            </a:solidFill>
          </a:ln>
        </p:spPr>
      </p:cxnSp>
      <p:cxnSp>
        <p:nvCxnSpPr>
          <p:cNvPr id="180" name="EBIT margin dash marker"/>
          <p:cNvCxnSpPr/>
          <p:nvPr/>
        </p:nvCxnSpPr>
        <p:spPr>
          <a:xfrm>
            <a:off x="5492277" y="1618065"/>
            <a:ext cx="109728" cy="0"/>
          </a:xfrm>
          <a:prstGeom prst="line">
            <a:avLst/>
          </a:prstGeom>
          <a:ln w="9525">
            <a:solidFill>
              <a:srgbClr val="FFC000"/>
            </a:solidFill>
          </a:ln>
        </p:spPr>
      </p:cxnSp>
      <p:cxnSp>
        <p:nvCxnSpPr>
          <p:cNvPr id="181" name="EBIT margin dash marker"/>
          <p:cNvCxnSpPr/>
          <p:nvPr/>
        </p:nvCxnSpPr>
        <p:spPr>
          <a:xfrm>
            <a:off x="6213548" y="1774749"/>
            <a:ext cx="109728" cy="0"/>
          </a:xfrm>
          <a:prstGeom prst="line">
            <a:avLst/>
          </a:prstGeom>
          <a:ln w="9525">
            <a:solidFill>
              <a:srgbClr val="FFC000"/>
            </a:solidFill>
          </a:ln>
        </p:spPr>
      </p:cxnSp>
      <p:cxnSp>
        <p:nvCxnSpPr>
          <p:cNvPr id="182" name="EBIT margin dash marker"/>
          <p:cNvCxnSpPr/>
          <p:nvPr/>
        </p:nvCxnSpPr>
        <p:spPr>
          <a:xfrm>
            <a:off x="6934819" y="1778571"/>
            <a:ext cx="109728" cy="0"/>
          </a:xfrm>
          <a:prstGeom prst="line">
            <a:avLst/>
          </a:prstGeom>
          <a:ln w="9525">
            <a:solidFill>
              <a:srgbClr val="FFC000"/>
            </a:solidFill>
          </a:ln>
        </p:spPr>
      </p:cxnSp>
      <p:cxnSp>
        <p:nvCxnSpPr>
          <p:cNvPr id="183" name="EBIT margin dash marker"/>
          <p:cNvCxnSpPr/>
          <p:nvPr/>
        </p:nvCxnSpPr>
        <p:spPr>
          <a:xfrm>
            <a:off x="7656090" y="1556920"/>
            <a:ext cx="109728" cy="0"/>
          </a:xfrm>
          <a:prstGeom prst="line">
            <a:avLst/>
          </a:prstGeom>
          <a:ln w="9525">
            <a:solidFill>
              <a:srgbClr val="FFC000"/>
            </a:solidFill>
          </a:ln>
        </p:spPr>
      </p:cxnSp>
      <p:cxnSp>
        <p:nvCxnSpPr>
          <p:cNvPr id="184" name="EBIT margin dash marker"/>
          <p:cNvCxnSpPr/>
          <p:nvPr/>
        </p:nvCxnSpPr>
        <p:spPr>
          <a:xfrm>
            <a:off x="8377362" y="1726707"/>
            <a:ext cx="109728" cy="0"/>
          </a:xfrm>
          <a:prstGeom prst="line">
            <a:avLst/>
          </a:prstGeom>
          <a:ln w="9525">
            <a:solidFill>
              <a:srgbClr val="FFC000"/>
            </a:solidFill>
          </a:ln>
        </p:spPr>
      </p:cxnSp>
      <p:cxnSp>
        <p:nvCxnSpPr>
          <p:cNvPr id="185" name="EBIT margin dash marker"/>
          <p:cNvCxnSpPr/>
          <p:nvPr/>
        </p:nvCxnSpPr>
        <p:spPr>
          <a:xfrm>
            <a:off x="9098633" y="1698318"/>
            <a:ext cx="109728" cy="0"/>
          </a:xfrm>
          <a:prstGeom prst="line">
            <a:avLst/>
          </a:prstGeom>
          <a:ln w="9525">
            <a:solidFill>
              <a:srgbClr val="FFC000"/>
            </a:solidFill>
          </a:ln>
        </p:spPr>
      </p:cxnSp>
      <p:cxnSp>
        <p:nvCxnSpPr>
          <p:cNvPr id="186" name="EBIT margin dash marker"/>
          <p:cNvCxnSpPr/>
          <p:nvPr/>
        </p:nvCxnSpPr>
        <p:spPr>
          <a:xfrm>
            <a:off x="9819904" y="1685215"/>
            <a:ext cx="109728" cy="0"/>
          </a:xfrm>
          <a:prstGeom prst="line">
            <a:avLst/>
          </a:prstGeom>
          <a:ln w="9525">
            <a:solidFill>
              <a:srgbClr val="FFC000"/>
            </a:solidFill>
          </a:ln>
        </p:spPr>
      </p:cxnSp>
      <p:cxnSp>
        <p:nvCxnSpPr>
          <p:cNvPr id="187" name="EBIT margin dash marker"/>
          <p:cNvCxnSpPr/>
          <p:nvPr/>
        </p:nvCxnSpPr>
        <p:spPr>
          <a:xfrm>
            <a:off x="10541175" y="1641540"/>
            <a:ext cx="109728" cy="0"/>
          </a:xfrm>
          <a:prstGeom prst="line">
            <a:avLst/>
          </a:prstGeom>
          <a:ln w="9525">
            <a:solidFill>
              <a:srgbClr val="FFC000"/>
            </a:solidFill>
          </a:ln>
        </p:spPr>
      </p:cxnSp>
      <p:cxnSp>
        <p:nvCxnSpPr>
          <p:cNvPr id="188" name="EBIT margin dash marker"/>
          <p:cNvCxnSpPr/>
          <p:nvPr/>
        </p:nvCxnSpPr>
        <p:spPr>
          <a:xfrm>
            <a:off x="11262447" y="1553098"/>
            <a:ext cx="109728" cy="0"/>
          </a:xfrm>
          <a:prstGeom prst="line">
            <a:avLst/>
          </a:prstGeom>
          <a:ln w="9525">
            <a:solidFill>
              <a:srgbClr val="FFC000"/>
            </a:solidFill>
          </a:ln>
        </p:spPr>
      </p:cxnSp>
      <p:sp>
        <p:nvSpPr>
          <p:cNvPr id="189"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0"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1"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2"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3"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4"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5"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6"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7"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8"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9"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0"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1"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2"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3"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4"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5"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6"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7"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8"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9"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10"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11"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12"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13"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14"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215"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216"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217"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218"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219"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220"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221"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222"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223"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224"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225"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22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2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2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29"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30"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31"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32"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3"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34"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235"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236"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37"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8"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39"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40"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241"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42"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43"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44"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245"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46"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47"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48"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49"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50"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251"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252"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253"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4"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255"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256"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7"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8"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9"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60"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61"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262"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263"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264"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65"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66"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267"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268"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69"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70"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71"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72"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73"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4"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5"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76"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7"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78"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79"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80"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81"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82"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3"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84"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85"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6"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87"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88"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89"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0"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91"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2"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93"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4"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5"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96"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97"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98"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99"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300"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301"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302"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03"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04"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05"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06"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7"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308"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309"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0"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1"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2"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3"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14"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5"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6"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7"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8"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19"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20"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21"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322"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323"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4"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5"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6"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27"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8"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9"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330"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1"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32"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333"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34"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5"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336"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337"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338"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39"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0"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1"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42"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3"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4"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5"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6"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47"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48"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349"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350"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1"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352"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353"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4"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5"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6"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57"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8"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9"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360"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61"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62"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3"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364"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365"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66"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7"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68"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369"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0"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1"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2"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73"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4"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75"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76"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77"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78"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79"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80"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81"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82"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83"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84"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85"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86" name="Straight Arrow Connector 2596"/>
          <p:cNvCxnSpPr/>
          <p:nvPr/>
        </p:nvCxnSpPr>
        <p:spPr>
          <a:xfrm>
            <a:off x="4516222" y="1259129"/>
            <a:ext cx="0" cy="5120640"/>
          </a:xfrm>
          <a:prstGeom prst="line">
            <a:avLst/>
          </a:prstGeom>
          <a:ln w="12700">
            <a:solidFill>
              <a:srgbClr val="808080"/>
            </a:solidFill>
          </a:ln>
        </p:spPr>
      </p:cxnSp>
      <p:cxnSp>
        <p:nvCxnSpPr>
          <p:cNvPr id="387" name="Straight Arrow Connector 2598"/>
          <p:cNvCxnSpPr/>
          <p:nvPr/>
        </p:nvCxnSpPr>
        <p:spPr>
          <a:xfrm>
            <a:off x="7366406" y="1259129"/>
            <a:ext cx="0" cy="5120640"/>
          </a:xfrm>
          <a:prstGeom prst="line">
            <a:avLst/>
          </a:prstGeom>
          <a:ln w="12700">
            <a:solidFill>
              <a:srgbClr val="808080"/>
            </a:solidFill>
          </a:ln>
        </p:spPr>
      </p:cxnSp>
      <p:cxnSp>
        <p:nvCxnSpPr>
          <p:cNvPr id="388" name="Straight Arrow Connector 2602"/>
          <p:cNvCxnSpPr/>
          <p:nvPr/>
        </p:nvCxnSpPr>
        <p:spPr>
          <a:xfrm>
            <a:off x="9569196" y="1259129"/>
            <a:ext cx="0" cy="5120640"/>
          </a:xfrm>
          <a:prstGeom prst="line">
            <a:avLst/>
          </a:prstGeom>
          <a:ln w="12700">
            <a:solidFill>
              <a:srgbClr val="808080"/>
            </a:solidFill>
          </a:ln>
        </p:spPr>
      </p:cxn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72"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74"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29"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0"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1"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2"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3"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4"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5"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6"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7"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8"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39"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0"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1"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2"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3"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4"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5"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graphicFrame>
        <p:nvGraphicFramePr>
          <p:cNvPr id="146"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7"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48"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0"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1"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53"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54"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55"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56"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57"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58" name="TakeawayBanner"/>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59"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8" name="ScenarioChip"/>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(1/2).</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(2/2).</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Haken, check"/>
          <p:cNvSpPr/>
          <p:nvPr/>
        </p:nvSpPr>
        <p:spPr>
          <a:xfrm>
            <a:off x="7591349" y="3899002"/>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8" name="Haken, check"/>
          <p:cNvSpPr/>
          <p:nvPr/>
        </p:nvSpPr>
        <p:spPr>
          <a:xfrm>
            <a:off x="7591349" y="4490618"/>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9" name="Cross, kreuz"/>
          <p:cNvSpPr/>
          <p:nvPr/>
        </p:nvSpPr>
        <p:spPr>
          <a:xfrm>
            <a:off x="7591349" y="2164385"/>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Cross, kreuz"/>
          <p:cNvSpPr/>
          <p:nvPr/>
        </p:nvSpPr>
        <p:spPr>
          <a:xfrm>
            <a:off x="7591349" y="2738628"/>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1" name="Cross, kreuz"/>
          <p:cNvSpPr/>
          <p:nvPr/>
        </p:nvSpPr>
        <p:spPr>
          <a:xfrm>
            <a:off x="7591349" y="3325673"/>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27"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28"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9"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30"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31"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32"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67"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2026-06-27T18:14:33Z</dcterms:created>
  <dcterms:modified xsi:type="dcterms:W3CDTF">2026-06-27T18:14:33Z</dcterms:modified>
</cp:coreProperties>
</file>