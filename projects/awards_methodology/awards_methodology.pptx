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5"/>
  </p:handoutMasterIdLst>
  <p:sldIdLst>
    <p:sldId id="256" r:id="rId2"/>
    <p:sldId id="257" r:id="rId3"/>
    <p:sldId id="258" r:id="rId4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Contract Addressability | A recompete opportunity becomes actionable when demand recurs, access exists, and funding is executable.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468173" y="1332281"/>
            <a:ext cx="2702966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the requirement recur?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2512771" y="2329891"/>
            <a:ext cx="2702966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we compete?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4598518" y="3327502"/>
            <a:ext cx="2702966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there budget alignment?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6711696" y="4325112"/>
            <a:ext cx="2703881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the opportunity be shaped?</a:t>
            </a:r>
          </a:p>
        </p:txBody>
      </p:sp>
      <p:sp>
        <p:nvSpPr>
          <p:cNvPr id="104" name="Non Addressable Band"/>
          <p:cNvSpPr txBox="1"/>
          <p:nvPr/>
        </p:nvSpPr>
        <p:spPr>
          <a:xfrm>
            <a:off x="452628" y="5319979"/>
            <a:ext cx="7196328" cy="504749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Non-addressable</a:t>
            </a:r>
          </a:p>
        </p:txBody>
      </p:sp>
      <p:sp>
        <p:nvSpPr>
          <p:cNvPr id="105" name="Output Note"/>
          <p:cNvSpPr txBox="1"/>
          <p:nvPr/>
        </p:nvSpPr>
        <p:spPr>
          <a:xfrm>
            <a:off x="8065008" y="5655564"/>
            <a:ext cx="3465576" cy="1691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 recompete  •  vehicle on-ramp  •  prime / holder route</a:t>
            </a:r>
          </a:p>
        </p:txBody>
      </p:sp>
      <p:sp>
        <p:nvSpPr>
          <p:cNvPr id="106" name="Timing Handoff"/>
          <p:cNvSpPr txBox="1"/>
          <p:nvPr/>
        </p:nvSpPr>
        <p:spPr>
          <a:xfrm>
            <a:off x="8246059" y="6031382"/>
            <a:ext cx="3108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latin typeface="Arial"/>
                <a:ea typeface="Arial"/>
                <a:cs typeface="Arial"/>
              </a:rPr>
              <a:t>Determine recompete timing, outlook &amp; pathway</a:t>
            </a:r>
            <a:br/>
            <a:r>
              <a:rPr lang="en-US" sz="800" i="1" dirty="0">
                <a:latin typeface="Arial"/>
                <a:ea typeface="Arial"/>
                <a:cs typeface="Arial"/>
              </a:rPr>
              <a:t>see following page for timing estimation</a:t>
            </a:r>
          </a:p>
        </p:txBody>
      </p:sp>
      <p:cxnSp>
        <p:nvCxnSpPr>
          <p:cNvPr id="107" name="Addressable to Timing"/>
          <p:cNvCxnSpPr/>
          <p:nvPr/>
        </p:nvCxnSpPr>
        <p:spPr>
          <a:xfrm>
            <a:off x="9800539" y="5762549"/>
            <a:ext cx="0" cy="26883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8" name="Addressable Band"/>
          <p:cNvSpPr txBox="1"/>
          <p:nvPr/>
        </p:nvSpPr>
        <p:spPr>
          <a:xfrm>
            <a:off x="7865669" y="5319979"/>
            <a:ext cx="3869741" cy="504749"/>
          </a:xfrm>
          <a:prstGeom prst="rect">
            <a:avLst/>
          </a:prstGeom>
          <a:solidFill>
            <a:srgbClr val="223E59"/>
          </a:solidFill>
          <a:ln w="12700">
            <a:solidFill>
              <a:srgbClr val="223E59"/>
            </a:solidFill>
          </a:ln>
        </p:spPr>
        <p:txBody>
          <a:bodyPr wrap="square" anchor="ctr" lIns="45720" tIns="27432" rIns="45720" bIns="27432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Addressable</a:t>
            </a:r>
          </a:p>
        </p:txBody>
      </p:sp>
      <p:cxnSp>
        <p:nvCxnSpPr>
          <p:cNvPr id="109" name="Requirement Yes H"/>
          <p:cNvCxnSpPr/>
          <p:nvPr/>
        </p:nvCxnSpPr>
        <p:spPr>
          <a:xfrm>
            <a:off x="3171139" y="1588313"/>
            <a:ext cx="693115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0" name="Requirement Yes V"/>
          <p:cNvCxnSpPr/>
          <p:nvPr/>
        </p:nvCxnSpPr>
        <p:spPr>
          <a:xfrm>
            <a:off x="3864254" y="1588313"/>
            <a:ext cx="0" cy="74157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1" name="Verdict Chip"/>
          <p:cNvSpPr txBox="1"/>
          <p:nvPr/>
        </p:nvSpPr>
        <p:spPr>
          <a:xfrm>
            <a:off x="3541471" y="1957730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2" name="Requirement No"/>
          <p:cNvCxnSpPr/>
          <p:nvPr/>
        </p:nvCxnSpPr>
        <p:spPr>
          <a:xfrm>
            <a:off x="1819656" y="1844345"/>
            <a:ext cx="0" cy="347563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3" name="Verdict Chip"/>
          <p:cNvSpPr txBox="1"/>
          <p:nvPr/>
        </p:nvSpPr>
        <p:spPr>
          <a:xfrm>
            <a:off x="1499616" y="3129077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14" name="Competition No"/>
          <p:cNvCxnSpPr/>
          <p:nvPr/>
        </p:nvCxnSpPr>
        <p:spPr>
          <a:xfrm>
            <a:off x="3864254" y="2841955"/>
            <a:ext cx="0" cy="247802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5" name="Competition Yes H"/>
          <p:cNvCxnSpPr/>
          <p:nvPr/>
        </p:nvCxnSpPr>
        <p:spPr>
          <a:xfrm>
            <a:off x="5215738" y="2585923"/>
            <a:ext cx="734263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6" name="Competition Yes V"/>
          <p:cNvCxnSpPr/>
          <p:nvPr/>
        </p:nvCxnSpPr>
        <p:spPr>
          <a:xfrm>
            <a:off x="5950001" y="2585923"/>
            <a:ext cx="0" cy="74157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7" name="Verdict Chip"/>
          <p:cNvSpPr txBox="1"/>
          <p:nvPr/>
        </p:nvSpPr>
        <p:spPr>
          <a:xfrm>
            <a:off x="5638190" y="2933395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cxnSp>
        <p:nvCxnSpPr>
          <p:cNvPr id="118" name="Budget Yes H"/>
          <p:cNvCxnSpPr/>
          <p:nvPr/>
        </p:nvCxnSpPr>
        <p:spPr>
          <a:xfrm>
            <a:off x="7301484" y="3583534"/>
            <a:ext cx="2499055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9" name="Budget Yes V"/>
          <p:cNvCxnSpPr/>
          <p:nvPr/>
        </p:nvCxnSpPr>
        <p:spPr>
          <a:xfrm>
            <a:off x="9800539" y="3583534"/>
            <a:ext cx="0" cy="173644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0" name="Budget No V"/>
          <p:cNvCxnSpPr/>
          <p:nvPr/>
        </p:nvCxnSpPr>
        <p:spPr>
          <a:xfrm>
            <a:off x="5950001" y="3839566"/>
            <a:ext cx="0" cy="74157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1" name="Budget No H"/>
          <p:cNvCxnSpPr/>
          <p:nvPr/>
        </p:nvCxnSpPr>
        <p:spPr>
          <a:xfrm>
            <a:off x="5950001" y="4581144"/>
            <a:ext cx="761695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2" name="Label"/>
          <p:cNvSpPr txBox="1"/>
          <p:nvPr/>
        </p:nvSpPr>
        <p:spPr>
          <a:xfrm>
            <a:off x="3132734" y="3260750"/>
            <a:ext cx="1399032" cy="210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Holder-gated / Incumbent-led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1225296" y="2511857"/>
            <a:ext cx="11887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One-time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5363870" y="2692908"/>
            <a:ext cx="118872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Open competition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3203143" y="1670609"/>
            <a:ext cx="137160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FYDP / recurring obligations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7708392" y="3446374"/>
            <a:ext cx="8229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36576" tIns="18288" rIns="36576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Requested appropriations</a:t>
            </a:r>
          </a:p>
        </p:txBody>
      </p:sp>
      <p:cxnSp>
        <p:nvCxnSpPr>
          <p:cNvPr id="127" name="Shaping Likely"/>
          <p:cNvCxnSpPr/>
          <p:nvPr/>
        </p:nvCxnSpPr>
        <p:spPr>
          <a:xfrm>
            <a:off x="8780069" y="4837176"/>
            <a:ext cx="0" cy="482803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28" name="Verdict Chip"/>
          <p:cNvSpPr txBox="1"/>
          <p:nvPr/>
        </p:nvSpPr>
        <p:spPr>
          <a:xfrm>
            <a:off x="3544214" y="3706978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29" name="Verdict Chip"/>
          <p:cNvSpPr txBox="1"/>
          <p:nvPr/>
        </p:nvSpPr>
        <p:spPr>
          <a:xfrm>
            <a:off x="8759952" y="3469234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30" name="Verdict Chip"/>
          <p:cNvSpPr txBox="1"/>
          <p:nvPr/>
        </p:nvSpPr>
        <p:spPr>
          <a:xfrm>
            <a:off x="5629961" y="4113886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</a:t>
            </a:r>
          </a:p>
        </p:txBody>
      </p:sp>
      <p:cxnSp>
        <p:nvCxnSpPr>
          <p:cNvPr id="131" name="Shaping Not Likely"/>
          <p:cNvCxnSpPr/>
          <p:nvPr/>
        </p:nvCxnSpPr>
        <p:spPr>
          <a:xfrm>
            <a:off x="7248449" y="4837176"/>
            <a:ext cx="0" cy="482803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2" name="Verdict Chip"/>
          <p:cNvSpPr txBox="1"/>
          <p:nvPr/>
        </p:nvSpPr>
        <p:spPr>
          <a:xfrm>
            <a:off x="8460029" y="4983480"/>
            <a:ext cx="640080" cy="228600"/>
          </a:xfrm>
          <a:prstGeom prst="rect">
            <a:avLst/>
          </a:prstGeom>
          <a:solidFill>
            <a:srgbClr val="D1E8DD"/>
          </a:solidFill>
          <a:ln w="12700">
            <a:solidFill>
              <a:srgbClr val="1B8A57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Likely</a:t>
            </a:r>
          </a:p>
        </p:txBody>
      </p:sp>
      <p:sp>
        <p:nvSpPr>
          <p:cNvPr id="133" name="Verdict Chip"/>
          <p:cNvSpPr txBox="1"/>
          <p:nvPr/>
        </p:nvSpPr>
        <p:spPr>
          <a:xfrm>
            <a:off x="6921094" y="4983480"/>
            <a:ext cx="640080" cy="228600"/>
          </a:xfrm>
          <a:prstGeom prst="rect">
            <a:avLst/>
          </a:prstGeom>
          <a:solidFill>
            <a:srgbClr val="F2CCCC"/>
          </a:solidFill>
          <a:ln w="12700">
            <a:solidFill>
              <a:srgbClr val="C00000"/>
            </a:solidFill>
          </a:ln>
        </p:spPr>
        <p:txBody>
          <a:bodyPr wrap="square" anchor="ctr" lIns="27432" tIns="9144" rIns="27432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latin typeface="Arial"/>
                <a:ea typeface="Arial"/>
                <a:cs typeface="Arial"/>
              </a:rPr>
              <a:t>Not likely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| Award type anchors the baseline date, color of money caps how late it can fall, and a handful of variables and signals move it from there.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Upper Bound Card"/>
          <p:cNvSpPr txBox="1"/>
          <p:nvPr/>
        </p:nvSpPr>
        <p:spPr>
          <a:xfrm>
            <a:off x="452628" y="1532534"/>
            <a:ext cx="1945843" cy="129479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8288" tIns="36576" rIns="18288" bIns="36576"/>
          <a:lstStyle/>
          <a:p>
            <a:pPr algn="ctr">
              <a:lnSpc>
                <a:spcPct val="100000"/>
              </a:lnSpc>
              <a:spcAft>
                <a:spcPts val="160"/>
              </a:spcAft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Upper Bound</a:t>
            </a:r>
          </a:p>
          <a:p>
            <a:pPr algn="ctr">
              <a:lnSpc>
                <a:spcPct val="100000"/>
              </a:lnSpc>
              <a:spcAft>
                <a:spcPts val="160"/>
              </a:spcAft>
              <a:buNone/>
            </a:pPr>
            <a:endParaRPr lang="en-US"/>
          </a:p>
          <a:p>
            <a:pPr algn="ctr">
              <a:lnSpc>
                <a:spcPct val="100000"/>
              </a:lnSpc>
              <a:spcAft>
                <a:spcPts val="16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Color-of-money obligation period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Latest feasible award that can use a given FY’s money — not period of performance.</a:t>
            </a:r>
          </a:p>
        </p:txBody>
      </p:sp>
      <p:sp>
        <p:nvSpPr>
          <p:cNvPr id="101" name="Color of Money Bar"/>
          <p:cNvSpPr txBox="1"/>
          <p:nvPr/>
        </p:nvSpPr>
        <p:spPr>
          <a:xfrm>
            <a:off x="2591410" y="1532534"/>
            <a:ext cx="9144000" cy="347472"/>
          </a:xfrm>
          <a:prstGeom prst="rect">
            <a:avLst/>
          </a:prstGeom>
          <a:solidFill>
            <a:srgbClr val="007770"/>
          </a:solidFill>
          <a:ln w="6350">
            <a:solidFill>
              <a:srgbClr val="000000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5-year obligation availability</a:t>
            </a:r>
          </a:p>
        </p:txBody>
      </p:sp>
      <p:sp>
        <p:nvSpPr>
          <p:cNvPr id="102" name="Color of Money Bar"/>
          <p:cNvSpPr txBox="1"/>
          <p:nvPr/>
        </p:nvSpPr>
        <p:spPr>
          <a:xfrm>
            <a:off x="2591410" y="2006194"/>
            <a:ext cx="5486400" cy="347472"/>
          </a:xfrm>
          <a:prstGeom prst="rect">
            <a:avLst/>
          </a:prstGeom>
          <a:solidFill>
            <a:srgbClr val="447BB2"/>
          </a:solidFill>
          <a:ln w="6350">
            <a:solidFill>
              <a:srgbClr val="000000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Procurement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3-year obligation availability</a:t>
            </a:r>
          </a:p>
        </p:txBody>
      </p:sp>
      <p:sp>
        <p:nvSpPr>
          <p:cNvPr id="103" name="Color of Money Bar"/>
          <p:cNvSpPr txBox="1"/>
          <p:nvPr/>
        </p:nvSpPr>
        <p:spPr>
          <a:xfrm>
            <a:off x="2587752" y="2479853"/>
            <a:ext cx="3657600" cy="347472"/>
          </a:xfrm>
          <a:prstGeom prst="rect">
            <a:avLst/>
          </a:prstGeom>
          <a:solidFill>
            <a:srgbClr val="7030A0"/>
          </a:solidFill>
          <a:ln w="6350">
            <a:solidFill>
              <a:srgbClr val="000000"/>
            </a:solidFill>
          </a:ln>
        </p:spPr>
        <p:txBody>
          <a:bodyPr wrap="square" anchor="ctr" lIns="91440" tIns="27432" rIns="91440" bIns="27432"/>
          <a:lstStyle/>
          <a:p>
            <a:pPr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RDT&amp;E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|  2-year obligation availability</a:t>
            </a:r>
          </a:p>
        </p:txBody>
      </p:sp>
      <p:sp>
        <p:nvSpPr>
          <p:cNvPr id="104" name="Upper Bound Caption"/>
          <p:cNvSpPr txBox="1"/>
          <p:nvPr/>
        </p:nvSpPr>
        <p:spPr>
          <a:xfrm>
            <a:off x="2591410" y="2912364"/>
            <a:ext cx="5468112" cy="1371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800" i="1" dirty="0">
                <a:latin typeface="Arial"/>
                <a:ea typeface="Arial"/>
                <a:cs typeface="Arial"/>
              </a:rPr>
              <a:t>Bar length = how long that year’s money stays obligable; the cap moves only if a later appropriation funds the award.</a:t>
            </a:r>
          </a:p>
        </p:txBody>
      </p:sp>
      <p:sp>
        <p:nvSpPr>
          <p:cNvPr id="105" name="Funding Read Card"/>
          <p:cNvSpPr txBox="1"/>
          <p:nvPr/>
        </p:nvSpPr>
        <p:spPr>
          <a:xfrm>
            <a:off x="8270748" y="2067458"/>
            <a:ext cx="3464662" cy="792785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txBody>
          <a:bodyPr wrap="square" anchor="t" lIns="73152" tIns="36576" rIns="73152" bIns="36576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read</a:t>
            </a:r>
          </a:p>
          <a:p>
            <a:pPr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color of money funds it, and how much obligation life remains — that sets the latest feasible award.</a:t>
            </a:r>
          </a:p>
        </p:txBody>
      </p:sp>
      <p:sp>
        <p:nvSpPr>
          <p:cNvPr id="106" name="Color Money Chip"/>
          <p:cNvSpPr txBox="1"/>
          <p:nvPr/>
        </p:nvSpPr>
        <p:spPr>
          <a:xfrm>
            <a:off x="8435340" y="2640787"/>
            <a:ext cx="713232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O&amp;M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 yr</a:t>
            </a:r>
          </a:p>
        </p:txBody>
      </p:sp>
      <p:sp>
        <p:nvSpPr>
          <p:cNvPr id="107" name="Color Money Chip"/>
          <p:cNvSpPr txBox="1"/>
          <p:nvPr/>
        </p:nvSpPr>
        <p:spPr>
          <a:xfrm>
            <a:off x="9212580" y="2640787"/>
            <a:ext cx="713232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RDT&amp;E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2 yr</a:t>
            </a:r>
          </a:p>
        </p:txBody>
      </p:sp>
      <p:sp>
        <p:nvSpPr>
          <p:cNvPr id="108" name="Color Money Chip"/>
          <p:cNvSpPr txBox="1"/>
          <p:nvPr/>
        </p:nvSpPr>
        <p:spPr>
          <a:xfrm>
            <a:off x="9989820" y="2640787"/>
            <a:ext cx="713232" cy="182880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3 yr</a:t>
            </a:r>
          </a:p>
        </p:txBody>
      </p:sp>
      <p:sp>
        <p:nvSpPr>
          <p:cNvPr id="109" name="Color Money Chip"/>
          <p:cNvSpPr txBox="1"/>
          <p:nvPr/>
        </p:nvSpPr>
        <p:spPr>
          <a:xfrm>
            <a:off x="10767060" y="2640787"/>
            <a:ext cx="713232" cy="182880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</a:t>
            </a: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5 yr</a:t>
            </a:r>
          </a:p>
        </p:txBody>
      </p:sp>
      <p:sp>
        <p:nvSpPr>
          <p:cNvPr id="110" name="Likely Window Output"/>
          <p:cNvSpPr txBox="1"/>
          <p:nvPr/>
        </p:nvSpPr>
        <p:spPr>
          <a:xfrm>
            <a:off x="452628" y="3182112"/>
            <a:ext cx="756209" cy="2572207"/>
          </a:xfrm>
          <a:prstGeom prst="rect">
            <a:avLst/>
          </a:prstGeom>
          <a:solidFill>
            <a:srgbClr val="223E59"/>
          </a:solidFill>
          <a:ln w="12700">
            <a:solidFill>
              <a:srgbClr val="000000"/>
            </a:solidFill>
          </a:ln>
        </p:spPr>
        <p:txBody>
          <a:bodyPr wrap="square" anchor="ctr" lIns="27432" tIns="36576" rIns="27432" bIns="36576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u="sng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Likely Window</a:t>
            </a:r>
          </a:p>
        </p:txBody>
      </p:sp>
      <p:sp>
        <p:nvSpPr>
          <p:cNvPr id="111" name="Lane Spine"/>
          <p:cNvSpPr txBox="1"/>
          <p:nvPr/>
        </p:nvSpPr>
        <p:spPr>
          <a:xfrm>
            <a:off x="1297534" y="3182112"/>
            <a:ext cx="1100938" cy="1034186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7432" tIns="18288" rIns="27432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award type</a:t>
            </a:r>
          </a:p>
        </p:txBody>
      </p:sp>
      <p:sp>
        <p:nvSpPr>
          <p:cNvPr id="112" name="Flow Row"/>
          <p:cNvSpPr txBox="1"/>
          <p:nvPr/>
        </p:nvSpPr>
        <p:spPr>
          <a:xfrm>
            <a:off x="2591410" y="3182112"/>
            <a:ext cx="5468112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0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Standalone definitive contract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ultimate completion + options</a:t>
            </a:r>
          </a:p>
        </p:txBody>
      </p:sp>
      <p:sp>
        <p:nvSpPr>
          <p:cNvPr id="113" name="Flow Row"/>
          <p:cNvSpPr txBox="1"/>
          <p:nvPr/>
        </p:nvSpPr>
        <p:spPr>
          <a:xfrm>
            <a:off x="2591410" y="3536899"/>
            <a:ext cx="5468112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0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/ delivery order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order completion + order options</a:t>
            </a:r>
          </a:p>
        </p:txBody>
      </p:sp>
      <p:sp>
        <p:nvSpPr>
          <p:cNvPr id="114" name="Flow Row"/>
          <p:cNvSpPr txBox="1"/>
          <p:nvPr/>
        </p:nvSpPr>
        <p:spPr>
          <a:xfrm>
            <a:off x="2591410" y="3891686"/>
            <a:ext cx="5468112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0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IDIQ / MAC / GWAC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—  </a:t>
            </a:r>
            <a:r>
              <a:rPr lang="en-US" sz="80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last date to order + parent options</a:t>
            </a:r>
          </a:p>
        </p:txBody>
      </p:sp>
      <p:sp>
        <p:nvSpPr>
          <p:cNvPr id="115" name="Lane Spine"/>
          <p:cNvSpPr txBox="1"/>
          <p:nvPr/>
        </p:nvSpPr>
        <p:spPr>
          <a:xfrm>
            <a:off x="1297534" y="4306824"/>
            <a:ext cx="1100938" cy="67939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7432" tIns="18288" rIns="27432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Shifts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 / push</a:t>
            </a:r>
          </a:p>
        </p:txBody>
      </p:sp>
      <p:sp>
        <p:nvSpPr>
          <p:cNvPr id="116" name="Flow Row"/>
          <p:cNvSpPr txBox="1"/>
          <p:nvPr/>
        </p:nvSpPr>
        <p:spPr>
          <a:xfrm>
            <a:off x="2591410" y="4306824"/>
            <a:ext cx="5468112" cy="324612"/>
          </a:xfrm>
          <a:prstGeom prst="rect">
            <a:avLst/>
          </a:prstGeom>
          <a:solidFill>
            <a:srgbClr val="1B8A57">
              <a:alpha val="16000"/>
            </a:srgbClr>
          </a:solidFill>
          <a:ln w="9525">
            <a:solidFill>
              <a:srgbClr val="1B8A57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 earlier  ↑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type, value &amp; complexity, full-and-open, incumbency, scope changes</a:t>
            </a:r>
          </a:p>
        </p:txBody>
      </p:sp>
      <p:sp>
        <p:nvSpPr>
          <p:cNvPr id="117" name="Flow Row"/>
          <p:cNvSpPr txBox="1"/>
          <p:nvPr/>
        </p:nvSpPr>
        <p:spPr>
          <a:xfrm>
            <a:off x="2591410" y="4661611"/>
            <a:ext cx="5468112" cy="324612"/>
          </a:xfrm>
          <a:prstGeom prst="rect">
            <a:avLst/>
          </a:prstGeom>
          <a:solidFill>
            <a:srgbClr val="C00000">
              <a:alpha val="16000"/>
            </a:srgbClr>
          </a:solidFill>
          <a:ln w="9525">
            <a:solidFill>
              <a:srgbClr val="C00000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Push later  ↓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options exercised, bridge / sole-source, protest delay, date drift</a:t>
            </a:r>
          </a:p>
        </p:txBody>
      </p:sp>
      <p:sp>
        <p:nvSpPr>
          <p:cNvPr id="118" name="Lane Spine"/>
          <p:cNvSpPr txBox="1"/>
          <p:nvPr/>
        </p:nvSpPr>
        <p:spPr>
          <a:xfrm>
            <a:off x="1297534" y="5074920"/>
            <a:ext cx="1100938" cy="67939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7432" tIns="18288" rIns="27432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it forming?</a:t>
            </a:r>
          </a:p>
        </p:txBody>
      </p:sp>
      <p:sp>
        <p:nvSpPr>
          <p:cNvPr id="119" name="Flow Row"/>
          <p:cNvSpPr txBox="1"/>
          <p:nvPr/>
        </p:nvSpPr>
        <p:spPr>
          <a:xfrm>
            <a:off x="2591410" y="5074920"/>
            <a:ext cx="5468112" cy="324612"/>
          </a:xfrm>
          <a:prstGeom prst="rect">
            <a:avLst/>
          </a:prstGeom>
          <a:solidFill>
            <a:srgbClr val="1B8A57">
              <a:alpha val="16000"/>
            </a:srgbClr>
          </a:solidFill>
          <a:ln w="9525">
            <a:solidFill>
              <a:srgbClr val="1B8A57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Buy is forming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FYDP / obligations, forecast, sources-sought, draft RFP</a:t>
            </a:r>
          </a:p>
        </p:txBody>
      </p:sp>
      <p:sp>
        <p:nvSpPr>
          <p:cNvPr id="120" name="Flow Row"/>
          <p:cNvSpPr txBox="1"/>
          <p:nvPr/>
        </p:nvSpPr>
        <p:spPr>
          <a:xfrm>
            <a:off x="2591410" y="5429707"/>
            <a:ext cx="5468112" cy="324612"/>
          </a:xfrm>
          <a:prstGeom prst="rect">
            <a:avLst/>
          </a:prstGeom>
          <a:solidFill>
            <a:srgbClr val="447BB2">
              <a:alpha val="16000"/>
            </a:srgbClr>
          </a:solidFill>
          <a:ln w="9525">
            <a:solidFill>
              <a:srgbClr val="447BB2"/>
            </a:solidFill>
          </a:ln>
        </p:spPr>
        <p:txBody>
          <a:bodyPr wrap="square" anchor="ctr" lIns="60960" tIns="18288" rIns="60960" bIns="18288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intel</a:t>
            </a:r>
            <a:r>
              <a:rPr lang="en-US" sz="8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  | 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acquisition authority, operational sponsor, PM signal</a:t>
            </a:r>
          </a:p>
        </p:txBody>
      </p:sp>
      <p:sp>
        <p:nvSpPr>
          <p:cNvPr id="121" name="Date Misleads Card"/>
          <p:cNvSpPr txBox="1"/>
          <p:nvPr/>
        </p:nvSpPr>
        <p:spPr>
          <a:xfrm>
            <a:off x="8270748" y="3182112"/>
            <a:ext cx="3464662" cy="1783080"/>
          </a:xfrm>
          <a:prstGeom prst="rect">
            <a:avLst/>
          </a:prstGeom>
          <a:solidFill>
            <a:srgbClr val="CEDDEC"/>
          </a:solidFill>
          <a:ln w="12700">
            <a:solidFill>
              <a:srgbClr val="223E59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t" lIns="91440" tIns="73152" rIns="91440" bIns="54864"/>
          <a:lstStyle/>
          <a:p>
            <a:pPr>
              <a:lnSpc>
                <a:spcPct val="100000"/>
              </a:lnSpc>
              <a:spcAft>
                <a:spcPts val="6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 date misleads</a:t>
            </a:r>
          </a:p>
          <a:p>
            <a:pPr>
              <a:lnSpc>
                <a:spcPct val="100000"/>
              </a:lnSpc>
              <a:buNone/>
            </a:pPr>
            <a:endParaRPr lang="en-US"/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Options remain: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trigger an option, not a recompete</a:t>
            </a:r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LDO ≠ performance end: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ordering deadline, not a PoP</a:t>
            </a:r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 / child mismatch: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child orders can outlast the parent</a:t>
            </a:r>
          </a:p>
          <a:p>
            <a:pPr marL="142875" indent="-142875">
              <a:lnSpc>
                <a:spcPct val="10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Successor early: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rebuy can land before incumbent LDO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Retention path: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bridge or in-scope mod can defer it</a:t>
            </a:r>
          </a:p>
        </p:txBody>
      </p:sp>
      <p:cxnSp>
        <p:nvCxnSpPr>
          <p:cNvPr id="122" name="Lane Cue"/>
          <p:cNvCxnSpPr/>
          <p:nvPr/>
        </p:nvCxnSpPr>
        <p:spPr>
          <a:xfrm>
            <a:off x="2404872" y="3703320"/>
            <a:ext cx="182880" cy="0"/>
          </a:xfrm>
          <a:prstGeom prst="line">
            <a:avLst/>
          </a:prstGeom>
          <a:ln w="6350">
            <a:solidFill>
              <a:srgbClr val="162029"/>
            </a:solidFill>
            <a:tailEnd type="triangle" w="med" len="med"/>
          </a:ln>
        </p:spPr>
      </p:cxnSp>
      <p:cxnSp>
        <p:nvCxnSpPr>
          <p:cNvPr id="123" name="Lane Cue"/>
          <p:cNvCxnSpPr/>
          <p:nvPr/>
        </p:nvCxnSpPr>
        <p:spPr>
          <a:xfrm>
            <a:off x="2404872" y="4645152"/>
            <a:ext cx="182880" cy="0"/>
          </a:xfrm>
          <a:prstGeom prst="line">
            <a:avLst/>
          </a:prstGeom>
          <a:ln w="6350">
            <a:solidFill>
              <a:srgbClr val="162029"/>
            </a:solidFill>
            <a:tailEnd type="triangle" w="med" len="med"/>
          </a:ln>
        </p:spPr>
      </p:cxnSp>
      <p:cxnSp>
        <p:nvCxnSpPr>
          <p:cNvPr id="124" name="Lane Cue"/>
          <p:cNvCxnSpPr/>
          <p:nvPr/>
        </p:nvCxnSpPr>
        <p:spPr>
          <a:xfrm>
            <a:off x="2404872" y="5413248"/>
            <a:ext cx="182880" cy="0"/>
          </a:xfrm>
          <a:prstGeom prst="line">
            <a:avLst/>
          </a:prstGeom>
          <a:ln w="6350">
            <a:solidFill>
              <a:srgbClr val="162029"/>
            </a:solidFill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Defense Market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Recompete Timing and Outlook | Ordering window closed FY26, recompete now open, no successor visible.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32214" y="158582"/>
            <a:ext cx="1467986" cy="198438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00" name="Illustrative chip"/>
          <p:cNvSpPr txBox="1"/>
          <p:nvPr/>
        </p:nvSpPr>
        <p:spPr>
          <a:xfrm>
            <a:off x="8708746" y="111557"/>
            <a:ext cx="1467612" cy="289865"/>
          </a:xfrm>
          <a:prstGeom prst="rect">
            <a:avLst/>
          </a:prstGeom>
          <a:solidFill>
            <a:srgbClr val="A6A6A6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</a:t>
            </a:r>
          </a:p>
        </p:txBody>
      </p:sp>
      <p:sp>
        <p:nvSpPr>
          <p:cNvPr id="101" name="Program"/>
          <p:cNvSpPr txBox="1"/>
          <p:nvPr/>
        </p:nvSpPr>
        <p:spPr>
          <a:xfrm>
            <a:off x="452628" y="140817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AN/SLQ-25 Nixie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·   IDIQ N0025321D0002   ·   Ultra Electronics Ocean Systems</a:t>
            </a:r>
          </a:p>
        </p:txBody>
      </p:sp>
      <p:graphicFrame>
        <p:nvGraphicFramePr>
          <p:cNvPr id="102" name="FY Lane Grid"/>
          <p:cNvGraphicFramePr>
            <a:graphicFrameLocks noGrp="1"/>
          </p:cNvGraphicFramePr>
          <p:nvPr/>
        </p:nvGraphicFramePr>
        <p:xfrm>
          <a:off x="452628" y="1874520"/>
          <a:ext cx="11280038" cy="392277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60704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  <a:gridCol w="929030"/>
              </a:tblGrid>
              <a:tr h="256032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FY21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FY23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FY24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FY26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FY27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FY28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FY29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FY30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FY31</a:t>
                      </a:r>
                    </a:p>
                  </a:txBody>
                  <a:tcPr marL="45720" marR="45720" marT="45720" marB="45720" anchor="b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program needs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123444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192024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Contracting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Planned procurement"/>
          <p:cNvSpPr txBox="1"/>
          <p:nvPr/>
        </p:nvSpPr>
        <p:spPr>
          <a:xfrm>
            <a:off x="1513332" y="2258568"/>
            <a:ext cx="10219334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162029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Planned procurement (units)</a:t>
            </a: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illustrative, pending P-1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1513332" y="2852928"/>
            <a:ext cx="2787091" cy="274320"/>
          </a:xfrm>
          <a:prstGeom prst="rect">
            <a:avLst/>
          </a:prstGeom>
          <a:solidFill>
            <a:srgbClr val="3D5972"/>
          </a:solidFill>
          <a:ln w="6350">
            <a:solidFill>
              <a:srgbClr val="FFFFFF"/>
            </a:solidFill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OPN base · $XXM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7358177" y="2852928"/>
            <a:ext cx="2516429" cy="274320"/>
          </a:xfrm>
          <a:prstGeom prst="rect">
            <a:avLst/>
          </a:prstGeom>
          <a:solidFill>
            <a:srgbClr val="3D5972"/>
          </a:solidFill>
          <a:ln w="6350">
            <a:solidFill>
              <a:srgbClr val="FFFFFF"/>
            </a:solidFill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Follow-on OPN · $XXM (illus.)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1513332" y="3264408"/>
            <a:ext cx="4645152" cy="274320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 forward-fit · $XXM</a:t>
            </a:r>
          </a:p>
        </p:txBody>
      </p:sp>
      <p:cxnSp>
        <p:nvCxnSpPr>
          <p:cNvPr id="107" name="Obligation tie"/>
          <p:cNvCxnSpPr/>
          <p:nvPr/>
        </p:nvCxnSpPr>
        <p:spPr>
          <a:xfrm>
            <a:off x="9874606" y="3127248"/>
            <a:ext cx="0" cy="1243584"/>
          </a:xfrm>
          <a:prstGeom prst="line">
            <a:avLst/>
          </a:prstGeom>
          <a:ln w="6350">
            <a:solidFill>
              <a:srgbClr val="7F7F7F"/>
            </a:solidFill>
            <a:prstDash val="dash"/>
          </a:ln>
        </p:spPr>
      </p:cxnSp>
      <p:sp>
        <p:nvSpPr>
          <p:cNvPr id="108" name="Active Ordering Period"/>
          <p:cNvSpPr txBox="1"/>
          <p:nvPr/>
        </p:nvSpPr>
        <p:spPr>
          <a:xfrm>
            <a:off x="1707185" y="3986784"/>
            <a:ext cx="4647895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Ordering Period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 orders · $103.1M realized</a:t>
            </a:r>
          </a:p>
        </p:txBody>
      </p:sp>
      <p:sp>
        <p:nvSpPr>
          <p:cNvPr id="109" name="Likely Recompete Window"/>
          <p:cNvSpPr txBox="1"/>
          <p:nvPr/>
        </p:nvSpPr>
        <p:spPr>
          <a:xfrm>
            <a:off x="6354166" y="3986784"/>
            <a:ext cx="212872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Recompete Window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now · no successor in data</a:t>
            </a:r>
          </a:p>
        </p:txBody>
      </p:sp>
      <p:sp>
        <p:nvSpPr>
          <p:cNvPr id="110" name="Start marker"/>
          <p:cNvSpPr txBox="1"/>
          <p:nvPr/>
        </p:nvSpPr>
        <p:spPr>
          <a:xfrm>
            <a:off x="1634033" y="4389120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ast-order marker"/>
          <p:cNvSpPr txBox="1"/>
          <p:nvPr/>
        </p:nvSpPr>
        <p:spPr>
          <a:xfrm>
            <a:off x="6281014" y="4389120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Obligation marker"/>
          <p:cNvSpPr txBox="1"/>
          <p:nvPr/>
        </p:nvSpPr>
        <p:spPr>
          <a:xfrm>
            <a:off x="9792310" y="4370832"/>
            <a:ext cx="164592" cy="182880"/>
          </a:xfrm>
          <a:prstGeom prst="triangle">
            <a:avLst/>
          </a:prstGeom>
          <a:solidFill>
            <a:srgbClr val="7F7F7F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3" name="Start date"/>
          <p:cNvSpPr txBox="1"/>
          <p:nvPr/>
        </p:nvSpPr>
        <p:spPr>
          <a:xfrm>
            <a:off x="1517904" y="453542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2020-12-15</a:t>
            </a:r>
          </a:p>
        </p:txBody>
      </p:sp>
      <p:sp>
        <p:nvSpPr>
          <p:cNvPr id="114" name="Last-order date"/>
          <p:cNvSpPr txBox="1"/>
          <p:nvPr/>
        </p:nvSpPr>
        <p:spPr>
          <a:xfrm>
            <a:off x="5942686" y="45354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2025-12-16</a:t>
            </a:r>
          </a:p>
        </p:txBody>
      </p:sp>
      <p:sp>
        <p:nvSpPr>
          <p:cNvPr id="115" name="Start desc"/>
          <p:cNvSpPr txBox="1"/>
          <p:nvPr/>
        </p:nvSpPr>
        <p:spPr>
          <a:xfrm>
            <a:off x="1517904" y="47457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 period starts</a:t>
            </a:r>
          </a:p>
        </p:txBody>
      </p:sp>
      <p:sp>
        <p:nvSpPr>
          <p:cNvPr id="116" name="Last-order desc"/>
          <p:cNvSpPr txBox="1"/>
          <p:nvPr/>
        </p:nvSpPr>
        <p:spPr>
          <a:xfrm>
            <a:off x="5714086" y="474573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last date to order</a:t>
            </a:r>
          </a:p>
        </p:txBody>
      </p:sp>
      <p:sp>
        <p:nvSpPr>
          <p:cNvPr id="117" name="Obligation desc"/>
          <p:cNvSpPr txBox="1"/>
          <p:nvPr/>
        </p:nvSpPr>
        <p:spPr>
          <a:xfrm>
            <a:off x="8182966" y="4617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Obligation window complete</a:t>
            </a:r>
          </a:p>
        </p:txBody>
      </p:sp>
      <p:sp>
        <p:nvSpPr>
          <p:cNvPr id="118" name="Legend label"/>
          <p:cNvSpPr txBox="1"/>
          <p:nvPr/>
        </p:nvSpPr>
        <p:spPr>
          <a:xfrm>
            <a:off x="452628" y="596188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 of money:</a:t>
            </a:r>
          </a:p>
        </p:txBody>
      </p:sp>
      <p:sp>
        <p:nvSpPr>
          <p:cNvPr id="119" name="Legend swatch"/>
          <p:cNvSpPr txBox="1"/>
          <p:nvPr/>
        </p:nvSpPr>
        <p:spPr>
          <a:xfrm>
            <a:off x="1554480" y="5980176"/>
            <a:ext cx="164592" cy="164592"/>
          </a:xfrm>
          <a:prstGeom prst="rect">
            <a:avLst/>
          </a:prstGeom>
          <a:solidFill>
            <a:srgbClr val="6E91B1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0" name="Label"/>
          <p:cNvSpPr txBox="1"/>
          <p:nvPr/>
        </p:nvSpPr>
        <p:spPr>
          <a:xfrm>
            <a:off x="1755648" y="59618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RDT&amp;E,N · 2-yr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2761488" y="59618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OPN · 3-yr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3584448" y="596188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· 5-yr</a:t>
            </a:r>
          </a:p>
        </p:txBody>
      </p:sp>
      <p:sp>
        <p:nvSpPr>
          <p:cNvPr id="123" name="Legend swatch"/>
          <p:cNvSpPr txBox="1"/>
          <p:nvPr/>
        </p:nvSpPr>
        <p:spPr>
          <a:xfrm>
            <a:off x="2560320" y="5980176"/>
            <a:ext cx="164592" cy="164592"/>
          </a:xfrm>
          <a:prstGeom prst="rect">
            <a:avLst/>
          </a:prstGeom>
          <a:solidFill>
            <a:srgbClr val="3D5972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Legend swatch"/>
          <p:cNvSpPr txBox="1"/>
          <p:nvPr/>
        </p:nvSpPr>
        <p:spPr>
          <a:xfrm>
            <a:off x="3383280" y="5980176"/>
            <a:ext cx="164592" cy="164592"/>
          </a:xfrm>
          <a:prstGeom prst="rect">
            <a:avLst/>
          </a:prstGeom>
          <a:solidFill>
            <a:srgbClr val="263746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5" name="Legend note"/>
          <p:cNvSpPr txBox="1"/>
          <p:nvPr/>
        </p:nvSpPr>
        <p:spPr>
          <a:xfrm>
            <a:off x="4343400" y="596188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 length = obligation window</a:t>
            </a:r>
          </a:p>
        </p:txBody>
      </p:sp>
      <p:sp>
        <p:nvSpPr>
          <p:cNvPr id="126" name="Legend key"/>
          <p:cNvSpPr txBox="1"/>
          <p:nvPr/>
        </p:nvSpPr>
        <p:spPr>
          <a:xfrm>
            <a:off x="8778240" y="5961888"/>
            <a:ext cx="2962656" cy="2011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45720" rIns="0" bIns="45720"/>
          <a:lstStyle/>
          <a:p>
            <a:pPr algn="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Solid: contract data  ·  Dashed: inferred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awards_methodology</Application>
  <PresentationFormat>Widescreen</PresentationFormat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Awards Methodology</dc:title>
  <dc:creator>awards_methodology build_deck.py</dc:creator>
  <cp:lastModifiedBy>awards_methodology build_deck.py</cp:lastModifiedBy>
  <cp:revision>1</cp:revision>
  <dcterms:created xsi:type="dcterms:W3CDTF">2026-06-28T19:48:09Z</dcterms:created>
  <dcterms:modified xsi:type="dcterms:W3CDTF">2026-06-28T19:48:09Z</dcterms:modified>
</cp:coreProperties>
</file>