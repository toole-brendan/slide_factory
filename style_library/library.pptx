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Sheet1!$B$2:$B$4</c:f>
              <c:numCache>
                <c:formatCode>General</c:formatCode>
                <c:ptCount val="3"/>
                <c:pt idx="0">
                  <c:v>2021</c:v>
                </c:pt>
                <c:pt idx="1">
                  <c:v>2022</c:v>
                </c:pt>
                <c:pt idx="2">
                  <c:v>2022</c:v>
                </c:pt>
              </c:numCache>
            </c:numRef>
          </c:xVal>
          <c:yVal>
            <c:numRef>
              <c:f>Sheet1!$C$2:$C$4</c:f>
              <c:numCache>
                <c:formatCode>#,##0;"-"#,##0</c:formatCode>
                <c:ptCount val="3"/>
                <c:pt idx="0">
                  <c:v>-2.9787234042553195</c:v>
                </c:pt>
                <c:pt idx="1">
                  <c:v>-33.20027982387556</c:v>
                </c:pt>
                <c:pt idx="2">
                  <c:v>1.9083969465648851</c:v>
                </c:pt>
              </c:numCache>
            </c:numRef>
          </c:yVal>
          <c:bubbleSize>
            <c:numRef>
              <c:f>Sheet1!$D$2:$D$4</c:f>
              <c:numCache>
                <c:formatCode>General</c:formatCode>
                <c:ptCount val="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xVal>
            <c:numRef>
              <c:f>Sheet1!$F$2:$F$13</c:f>
              <c:numCache>
                <c:formatCode>General</c:formatCode>
                <c:ptCount val="12"/>
                <c:pt idx="0">
                  <c:v>2020</c:v>
                </c:pt>
                <c:pt idx="1">
                  <c:v>2021</c:v>
                </c:pt>
                <c:pt idx="2">
                  <c:v>2021</c:v>
                </c:pt>
                <c:pt idx="3">
                  <c:v>2022</c:v>
                </c:pt>
                <c:pt idx="4">
                  <c:v>2020</c:v>
                </c:pt>
                <c:pt idx="5">
                  <c:v>2021</c:v>
                </c:pt>
                <c:pt idx="6">
                  <c:v>2021</c:v>
                </c:pt>
                <c:pt idx="7">
                  <c:v>2022</c:v>
                </c:pt>
                <c:pt idx="8">
                  <c:v>2023</c:v>
                </c:pt>
                <c:pt idx="9">
                  <c:v>2023</c:v>
                </c:pt>
                <c:pt idx="10">
                  <c:v>2024</c:v>
                </c:pt>
                <c:pt idx="11">
                  <c:v>2024</c:v>
                </c:pt>
              </c:numCache>
            </c:numRef>
          </c:xVal>
          <c:yVal>
            <c:numRef>
              <c:f>Sheet1!$G$2:$G$13</c:f>
              <c:numCache>
                <c:formatCode>#,##0;"-"#,##0</c:formatCode>
                <c:ptCount val="12"/>
                <c:pt idx="0">
                  <c:v>-7.826086956521738</c:v>
                </c:pt>
                <c:pt idx="1">
                  <c:v>-38.99333333333333</c:v>
                </c:pt>
                <c:pt idx="2">
                  <c:v>4.1817392562581395</c:v>
                </c:pt>
                <c:pt idx="3">
                  <c:v>0.3434112180997913</c:v>
                </c:pt>
                <c:pt idx="4">
                  <c:v>10.954584404455868</c:v>
                </c:pt>
                <c:pt idx="5">
                  <c:v>54.245502842762605</c:v>
                </c:pt>
                <c:pt idx="6">
                  <c:v>37.24290927185272</c:v>
                </c:pt>
                <c:pt idx="7">
                  <c:v>45.33351996143019</c:v>
                </c:pt>
                <c:pt idx="8">
                  <c:v>-8.174809189880284</c:v>
                </c:pt>
                <c:pt idx="9">
                  <c:v>6.617537812379283</c:v>
                </c:pt>
                <c:pt idx="10">
                  <c:v>42.112632603175356</c:v>
                </c:pt>
                <c:pt idx="11">
                  <c:v>12.68588852038087</c:v>
                </c:pt>
              </c:numCache>
            </c:numRef>
          </c:yVal>
          <c:bubbleSize>
            <c:numRef>
              <c:f>Sheet1!$H$2:$H$13</c:f>
              <c:numCache>
                <c:formatCode>General</c:formatCode>
                <c:ptCount val="12"/>
                <c:pt idx="0">
                  <c:v>21176.49225216599</c:v>
                </c:pt>
                <c:pt idx="1">
                  <c:v>3785.9985360805663</c:v>
                </c:pt>
                <c:pt idx="2">
                  <c:v>7821.8697999999995</c:v>
                </c:pt>
                <c:pt idx="3">
                  <c:v>11784.824390166483</c:v>
                </c:pt>
                <c:pt idx="4">
                  <c:v>29175</c:v>
                </c:pt>
                <c:pt idx="5">
                  <c:v>10729</c:v>
                </c:pt>
                <c:pt idx="6">
                  <c:v>48232</c:v>
                </c:pt>
                <c:pt idx="7">
                  <c:v>64299</c:v>
                </c:pt>
                <c:pt idx="8">
                  <c:v>5162.2</c:v>
                </c:pt>
                <c:pt idx="9">
                  <c:v>33653</c:v>
                </c:pt>
                <c:pt idx="10">
                  <c:v>8427.4</c:v>
                </c:pt>
                <c:pt idx="11">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364D6E"/>
              </a:solidFill>
              <a:ln w="3175" cmpd="sng" algn="ctr">
                <a:solidFill>
                  <a:schemeClr val="tx1"/>
                </a:solidFill>
                <a:prstDash val="solid"/>
              </a:ln>
            </c:spPr>
          </c:dPt>
          <c:dPt>
            <c:idx val="5"/>
            <c:invertIfNegative val="0"/>
            <c:bubble3D val="0"/>
            <c:spPr>
              <a:solidFill>
                <a:srgbClr val="364D6E"/>
              </a:solidFill>
              <a:ln w="3175" cmpd="sng" algn="ctr">
                <a:solidFill>
                  <a:schemeClr val="tx1"/>
                </a:solidFill>
                <a:prstDash val="solid"/>
              </a:ln>
            </c:spPr>
          </c:dPt>
          <c:dPt>
            <c:idx val="6"/>
            <c:invertIfNegative val="0"/>
            <c:bubble3D val="0"/>
            <c:spPr>
              <a:solidFill>
                <a:srgbClr val="364D6E"/>
              </a:solidFill>
              <a:ln w="3175" cmpd="sng" algn="ctr">
                <a:solidFill>
                  <a:schemeClr val="tx1"/>
                </a:solidFill>
                <a:prstDash val="solid"/>
              </a:ln>
            </c:spPr>
          </c:dPt>
          <c:dPt>
            <c:idx val="7"/>
            <c:invertIfNegative val="0"/>
            <c:bubble3D val="0"/>
            <c:spPr>
              <a:solidFill>
                <a:srgbClr val="364D6E"/>
              </a:solidFill>
              <a:ln w="3175" cmpd="sng" algn="ctr">
                <a:solidFill>
                  <a:schemeClr val="tx1"/>
                </a:solidFill>
                <a:prstDash val="solid"/>
              </a:ln>
            </c:spPr>
          </c:dPt>
          <c:dPt>
            <c:idx val="8"/>
            <c:invertIfNegative val="0"/>
            <c:bubble3D val="0"/>
            <c:spPr>
              <a:solidFill>
                <a:srgbClr val="364D6E"/>
              </a:solidFill>
              <a:ln w="3175" cmpd="sng" algn="ctr">
                <a:solidFill>
                  <a:schemeClr val="tx1"/>
                </a:solidFill>
                <a:prstDash val="solid"/>
              </a:ln>
            </c:spPr>
          </c:dPt>
          <c:dPt>
            <c:idx val="9"/>
            <c:invertIfNegative val="0"/>
            <c:bubble3D val="0"/>
            <c:spPr>
              <a:solidFill>
                <a:srgbClr val="364D6E"/>
              </a:solidFill>
              <a:ln w="3175" cmpd="sng" algn="ctr">
                <a:solidFill>
                  <a:schemeClr val="tx1"/>
                </a:solidFill>
                <a:prstDash val="solid"/>
              </a:ln>
            </c:spPr>
          </c:dPt>
          <c:dPt>
            <c:idx val="10"/>
            <c:invertIfNegative val="0"/>
            <c:bubble3D val="0"/>
            <c:spPr>
              <a:solidFill>
                <a:srgbClr val="364D6E"/>
              </a:solidFill>
              <a:ln w="3175" cmpd="sng" algn="ctr">
                <a:solidFill>
                  <a:schemeClr val="tx1"/>
                </a:solidFill>
                <a:prstDash val="solid"/>
              </a:ln>
            </c:spPr>
          </c:dPt>
          <c:xVal>
            <c:numRef>
              <c:f>Sheet1!$J$2:$J$21</c:f>
              <c:numCache>
                <c:formatCode>General</c:formatCode>
                <c:ptCount val="20"/>
                <c:pt idx="0">
                  <c:v>2021</c:v>
                </c:pt>
                <c:pt idx="1">
                  <c:v>2022</c:v>
                </c:pt>
                <c:pt idx="2">
                  <c:v>2023</c:v>
                </c:pt>
                <c:pt idx="3">
                  <c:v>2024</c:v>
                </c:pt>
                <c:pt idx="4">
                  <c:v>2020</c:v>
                </c:pt>
                <c:pt idx="5">
                  <c:v>2020</c:v>
                </c:pt>
                <c:pt idx="6">
                  <c:v>2021</c:v>
                </c:pt>
                <c:pt idx="7">
                  <c:v>2022</c:v>
                </c:pt>
                <c:pt idx="8">
                  <c:v>2022</c:v>
                </c:pt>
                <c:pt idx="9">
                  <c:v>2023</c:v>
                </c:pt>
                <c:pt idx="10">
                  <c:v>2024</c:v>
                </c:pt>
                <c:pt idx="11">
                  <c:v>2021</c:v>
                </c:pt>
                <c:pt idx="12">
                  <c:v>2021</c:v>
                </c:pt>
                <c:pt idx="13">
                  <c:v>2022</c:v>
                </c:pt>
                <c:pt idx="14">
                  <c:v>2022</c:v>
                </c:pt>
                <c:pt idx="15">
                  <c:v>2022</c:v>
                </c:pt>
                <c:pt idx="16">
                  <c:v>2023</c:v>
                </c:pt>
                <c:pt idx="17">
                  <c:v>2023</c:v>
                </c:pt>
                <c:pt idx="18">
                  <c:v>2023</c:v>
                </c:pt>
                <c:pt idx="19">
                  <c:v>2024</c:v>
                </c:pt>
              </c:numCache>
            </c:numRef>
          </c:xVal>
          <c:yVal>
            <c:numRef>
              <c:f>Sheet1!$K$2:$K$21</c:f>
              <c:numCache>
                <c:formatCode>#,##0;"-"#,##0</c:formatCode>
                <c:ptCount val="20"/>
                <c:pt idx="0">
                  <c:v>7.840197254431562</c:v>
                </c:pt>
                <c:pt idx="1">
                  <c:v>-0.13365410318096765</c:v>
                </c:pt>
                <c:pt idx="2">
                  <c:v>3.0864197530864197</c:v>
                </c:pt>
                <c:pt idx="3">
                  <c:v>2.3054755043227666</c:v>
                </c:pt>
                <c:pt idx="4">
                  <c:v>18.261523046092183</c:v>
                </c:pt>
                <c:pt idx="5">
                  <c:v>10.297043287370515</c:v>
                </c:pt>
                <c:pt idx="6">
                  <c:v>42.15738351798452</c:v>
                </c:pt>
                <c:pt idx="7">
                  <c:v>36.14512215764826</c:v>
                </c:pt>
                <c:pt idx="8">
                  <c:v>50.73212274388066</c:v>
                </c:pt>
                <c:pt idx="9">
                  <c:v>14.143675169182718</c:v>
                </c:pt>
                <c:pt idx="10">
                  <c:v>13.392813131562084</c:v>
                </c:pt>
                <c:pt idx="11">
                  <c:v>51.92159420289856</c:v>
                </c:pt>
                <c:pt idx="12">
                  <c:v>55.61092637836599</c:v>
                </c:pt>
                <c:pt idx="13">
                  <c:v>65.80422960725076</c:v>
                </c:pt>
                <c:pt idx="14">
                  <c:v>59.455101588262075</c:v>
                </c:pt>
                <c:pt idx="15">
                  <c:v>14.103882746207253</c:v>
                </c:pt>
                <c:pt idx="16">
                  <c:v>59.61611909650924</c:v>
                </c:pt>
                <c:pt idx="17">
                  <c:v>30.965074903765107</c:v>
                </c:pt>
                <c:pt idx="18">
                  <c:v>21.258235671389425</c:v>
                </c:pt>
                <c:pt idx="19">
                  <c:v>22.182558229929164</c:v>
                </c:pt>
              </c:numCache>
            </c:numRef>
          </c:yVal>
          <c:bubbleSize>
            <c:numRef>
              <c:f>Sheet1!$L$2:$L$21</c:f>
              <c:numCache>
                <c:formatCode>General</c:formatCode>
                <c:ptCount val="20"/>
                <c:pt idx="0">
                  <c:v>1089.4355999999998</c:v>
                </c:pt>
                <c:pt idx="1">
                  <c:v>8004.243600000001</c:v>
                </c:pt>
                <c:pt idx="2">
                  <c:v>25097.40737584917</c:v>
                </c:pt>
                <c:pt idx="3">
                  <c:v>23479.89660725644</c:v>
                </c:pt>
                <c:pt idx="4">
                  <c:v>3992</c:v>
                </c:pt>
                <c:pt idx="5">
                  <c:v>14577</c:v>
                </c:pt>
                <c:pt idx="6">
                  <c:v>26356</c:v>
                </c:pt>
                <c:pt idx="7">
                  <c:v>3544.6</c:v>
                </c:pt>
                <c:pt idx="8">
                  <c:v>36401</c:v>
                </c:pt>
                <c:pt idx="9">
                  <c:v>19210</c:v>
                </c:pt>
                <c:pt idx="10">
                  <c:v>20287</c:v>
                </c:pt>
                <c:pt idx="11">
                  <c:v>690</c:v>
                </c:pt>
                <c:pt idx="12">
                  <c:v>793.639</c:v>
                </c:pt>
                <c:pt idx="13">
                  <c:v>993</c:v>
                </c:pt>
                <c:pt idx="14">
                  <c:v>1113.859</c:v>
                </c:pt>
                <c:pt idx="15">
                  <c:v>1555.6</c:v>
                </c:pt>
                <c:pt idx="16">
                  <c:v>974</c:v>
                </c:pt>
                <c:pt idx="17">
                  <c:v>1511.406</c:v>
                </c:pt>
                <c:pt idx="18">
                  <c:v>1715.1</c:v>
                </c:pt>
                <c:pt idx="19">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9"/>
            <c:invertIfNegative val="0"/>
            <c:bubble3D val="0"/>
            <c:spPr>
              <a:solidFill>
                <a:srgbClr val="27AE60"/>
              </a:solidFill>
              <a:ln w="3175" cmpd="sng" algn="ctr">
                <a:solidFill>
                  <a:schemeClr val="tx1"/>
                </a:solidFill>
                <a:prstDash val="solid"/>
              </a:ln>
            </c:spPr>
          </c:dPt>
          <c:dPt>
            <c:idx val="10"/>
            <c:invertIfNegative val="0"/>
            <c:bubble3D val="0"/>
            <c:spPr>
              <a:solidFill>
                <a:srgbClr val="6F8DB9"/>
              </a:solidFill>
              <a:ln w="3175" cmpd="sng" algn="ctr">
                <a:solidFill>
                  <a:schemeClr val="tx1"/>
                </a:solidFill>
                <a:prstDash val="solid"/>
              </a:ln>
            </c:spPr>
          </c:dPt>
          <c:dPt>
            <c:idx val="11"/>
            <c:invertIfNegative val="0"/>
            <c:bubble3D val="0"/>
            <c:spPr>
              <a:solidFill>
                <a:srgbClr val="6F8DB9"/>
              </a:solidFill>
              <a:ln w="3175" cmpd="sng" algn="ctr">
                <a:solidFill>
                  <a:schemeClr val="tx1"/>
                </a:solidFill>
                <a:prstDash val="solid"/>
              </a:ln>
            </c:spPr>
          </c:dPt>
          <c:dPt>
            <c:idx val="12"/>
            <c:invertIfNegative val="0"/>
            <c:bubble3D val="0"/>
            <c:spPr>
              <a:solidFill>
                <a:srgbClr val="6F8DB9"/>
              </a:solidFill>
              <a:ln w="3175" cmpd="sng" algn="ctr">
                <a:solidFill>
                  <a:schemeClr val="tx1"/>
                </a:solidFill>
                <a:prstDash val="solid"/>
              </a:ln>
            </c:spPr>
          </c:dPt>
          <c:dPt>
            <c:idx val="13"/>
            <c:invertIfNegative val="0"/>
            <c:bubble3D val="0"/>
            <c:spPr>
              <a:solidFill>
                <a:srgbClr val="6F8DB9"/>
              </a:solidFill>
              <a:ln w="3175" cmpd="sng" algn="ctr">
                <a:solidFill>
                  <a:schemeClr val="tx1"/>
                </a:solidFill>
                <a:prstDash val="solid"/>
              </a:ln>
            </c:spPr>
          </c:dPt>
          <c:dPt>
            <c:idx val="14"/>
            <c:invertIfNegative val="0"/>
            <c:bubble3D val="0"/>
            <c:spPr>
              <a:solidFill>
                <a:srgbClr val="6F8DB9"/>
              </a:solidFill>
              <a:ln w="3175" cmpd="sng" algn="ctr">
                <a:solidFill>
                  <a:schemeClr val="tx1"/>
                </a:solidFill>
                <a:prstDash val="solid"/>
              </a:ln>
            </c:spPr>
          </c:dPt>
          <c:xVal>
            <c:numRef>
              <c:f>Sheet1!$N$2:$N$16</c:f>
              <c:numCache>
                <c:formatCode>General</c:formatCode>
                <c:ptCount val="15"/>
                <c:pt idx="0">
                  <c:v>2020</c:v>
                </c:pt>
                <c:pt idx="1">
                  <c:v>2022</c:v>
                </c:pt>
                <c:pt idx="2">
                  <c:v>2023</c:v>
                </c:pt>
                <c:pt idx="3">
                  <c:v>2024</c:v>
                </c:pt>
                <c:pt idx="4">
                  <c:v>2020</c:v>
                </c:pt>
                <c:pt idx="5">
                  <c:v>2021</c:v>
                </c:pt>
                <c:pt idx="6">
                  <c:v>2022</c:v>
                </c:pt>
                <c:pt idx="7">
                  <c:v>2023</c:v>
                </c:pt>
                <c:pt idx="8">
                  <c:v>2024</c:v>
                </c:pt>
                <c:pt idx="9">
                  <c:v>2020</c:v>
                </c:pt>
                <c:pt idx="10">
                  <c:v>2020</c:v>
                </c:pt>
                <c:pt idx="11">
                  <c:v>2021</c:v>
                </c:pt>
                <c:pt idx="12">
                  <c:v>2022</c:v>
                </c:pt>
                <c:pt idx="13">
                  <c:v>2023</c:v>
                </c:pt>
                <c:pt idx="14">
                  <c:v>2024</c:v>
                </c:pt>
              </c:numCache>
            </c:numRef>
          </c:xVal>
          <c:yVal>
            <c:numRef>
              <c:f>Sheet1!$O$2:$O$16</c:f>
              <c:numCache>
                <c:formatCode>#,##0;"-"#,##0</c:formatCode>
                <c:ptCount val="15"/>
                <c:pt idx="0">
                  <c:v>2.517434937914611</c:v>
                </c:pt>
                <c:pt idx="1">
                  <c:v>3.845388188453882</c:v>
                </c:pt>
                <c:pt idx="2">
                  <c:v>1.324192336589031</c:v>
                </c:pt>
                <c:pt idx="3">
                  <c:v>5.615161719790116</c:v>
                </c:pt>
                <c:pt idx="4">
                  <c:v>13.204595717136847</c:v>
                </c:pt>
                <c:pt idx="5">
                  <c:v>36.315755873340144</c:v>
                </c:pt>
                <c:pt idx="6">
                  <c:v>48.91892752515603</c:v>
                </c:pt>
                <c:pt idx="7">
                  <c:v>11.90149374243036</c:v>
                </c:pt>
                <c:pt idx="8">
                  <c:v>17.827526070398974</c:v>
                </c:pt>
                <c:pt idx="9">
                  <c:v>13.105694094747339</c:v>
                </c:pt>
                <c:pt idx="10">
                  <c:v>31.652219595482006</c:v>
                </c:pt>
                <c:pt idx="11">
                  <c:v>29.325000000000003</c:v>
                </c:pt>
                <c:pt idx="12">
                  <c:v>19.03454587051018</c:v>
                </c:pt>
                <c:pt idx="13">
                  <c:v>25.494276795005206</c:v>
                </c:pt>
                <c:pt idx="14">
                  <c:v>29.764837625979844</c:v>
                </c:pt>
              </c:numCache>
            </c:numRef>
          </c:yVal>
          <c:bubbleSize>
            <c:numRef>
              <c:f>Sheet1!$P$2:$P$16</c:f>
              <c:numCache>
                <c:formatCode>General</c:formatCode>
                <c:ptCount val="15"/>
                <c:pt idx="0">
                  <c:v>7190.017000000001</c:v>
                </c:pt>
                <c:pt idx="1">
                  <c:v>1025.5135</c:v>
                </c:pt>
                <c:pt idx="2">
                  <c:v>16496.1230702495</c:v>
                </c:pt>
                <c:pt idx="3">
                  <c:v>17280.39191804366</c:v>
                </c:pt>
                <c:pt idx="4">
                  <c:v>1853.9</c:v>
                </c:pt>
                <c:pt idx="5">
                  <c:v>3132.8</c:v>
                </c:pt>
                <c:pt idx="6">
                  <c:v>12561.6</c:v>
                </c:pt>
                <c:pt idx="7">
                  <c:v>2477</c:v>
                </c:pt>
                <c:pt idx="8">
                  <c:v>2809.7</c:v>
                </c:pt>
                <c:pt idx="9">
                  <c:v>460.319</c:v>
                </c:pt>
                <c:pt idx="10">
                  <c:v>3807</c:v>
                </c:pt>
                <c:pt idx="11">
                  <c:v>4000</c:v>
                </c:pt>
                <c:pt idx="12">
                  <c:v>4371</c:v>
                </c:pt>
                <c:pt idx="13">
                  <c:v>3844</c:v>
                </c:pt>
                <c:pt idx="14">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27AE60"/>
              </a:solidFill>
              <a:ln w="3175" cmpd="sng" algn="ctr">
                <a:solidFill>
                  <a:schemeClr val="tx1"/>
                </a:solidFill>
                <a:prstDash val="solid"/>
              </a:ln>
            </c:spPr>
          </c:dPt>
          <c:xVal>
            <c:numRef>
              <c:f>Sheet1!$R$2:$R$15</c:f>
              <c:numCache>
                <c:formatCode>General</c:formatCode>
                <c:ptCount val="14"/>
                <c:pt idx="0">
                  <c:v>2020</c:v>
                </c:pt>
                <c:pt idx="1">
                  <c:v>2023</c:v>
                </c:pt>
                <c:pt idx="2">
                  <c:v>2024</c:v>
                </c:pt>
                <c:pt idx="3">
                  <c:v>2024</c:v>
                </c:pt>
                <c:pt idx="4">
                  <c:v>2020</c:v>
                </c:pt>
                <c:pt idx="5">
                  <c:v>2020</c:v>
                </c:pt>
                <c:pt idx="6">
                  <c:v>2021</c:v>
                </c:pt>
                <c:pt idx="7">
                  <c:v>2021</c:v>
                </c:pt>
                <c:pt idx="8">
                  <c:v>2022</c:v>
                </c:pt>
                <c:pt idx="9">
                  <c:v>2022</c:v>
                </c:pt>
                <c:pt idx="10">
                  <c:v>2023</c:v>
                </c:pt>
                <c:pt idx="11">
                  <c:v>2023</c:v>
                </c:pt>
                <c:pt idx="12">
                  <c:v>2024</c:v>
                </c:pt>
                <c:pt idx="13">
                  <c:v>2024</c:v>
                </c:pt>
              </c:numCache>
            </c:numRef>
          </c:xVal>
          <c:yVal>
            <c:numRef>
              <c:f>Sheet1!$S$2:$S$15</c:f>
              <c:numCache>
                <c:formatCode>#,##0;"-"#,##0</c:formatCode>
                <c:ptCount val="14"/>
                <c:pt idx="0">
                  <c:v>2.1914285714285713</c:v>
                </c:pt>
                <c:pt idx="1">
                  <c:v>3.2152659783034894</c:v>
                </c:pt>
                <c:pt idx="2">
                  <c:v>1.9931102362204725</c:v>
                </c:pt>
                <c:pt idx="3">
                  <c:v>27.35885788449059</c:v>
                </c:pt>
                <c:pt idx="4">
                  <c:v>32.75701021875992</c:v>
                </c:pt>
                <c:pt idx="5">
                  <c:v>42.955828628362674</c:v>
                </c:pt>
                <c:pt idx="6">
                  <c:v>40.61280117184256</c:v>
                </c:pt>
                <c:pt idx="7">
                  <c:v>47.833780160857906</c:v>
                </c:pt>
                <c:pt idx="8">
                  <c:v>35.1868290838553</c:v>
                </c:pt>
                <c:pt idx="9">
                  <c:v>50.92657155595185</c:v>
                </c:pt>
                <c:pt idx="10">
                  <c:v>31.215682587438888</c:v>
                </c:pt>
                <c:pt idx="11">
                  <c:v>50.728753109918834</c:v>
                </c:pt>
                <c:pt idx="12">
                  <c:v>37.84991786980203</c:v>
                </c:pt>
                <c:pt idx="13">
                  <c:v>53.95908194270246</c:v>
                </c:pt>
              </c:numCache>
            </c:numRef>
          </c:yVal>
          <c:bubbleSize>
            <c:numRef>
              <c:f>Sheet1!$T$2:$T$15</c:f>
              <c:numCache>
                <c:formatCode>General</c:formatCode>
                <c:ptCount val="14"/>
                <c:pt idx="0">
                  <c:v>6445.019381093996</c:v>
                </c:pt>
                <c:pt idx="1">
                  <c:v>8463.5362</c:v>
                </c:pt>
                <c:pt idx="2">
                  <c:v>8413.2928</c:v>
                </c:pt>
                <c:pt idx="3">
                  <c:v>2311.5</c:v>
                </c:pt>
                <c:pt idx="4">
                  <c:v>1380.7877834240462</c:v>
                </c:pt>
                <c:pt idx="5">
                  <c:v>1505.5</c:v>
                </c:pt>
                <c:pt idx="6">
                  <c:v>1698.04861787784</c:v>
                </c:pt>
                <c:pt idx="7">
                  <c:v>1865</c:v>
                </c:pt>
                <c:pt idx="8">
                  <c:v>1559.4693328206115</c:v>
                </c:pt>
                <c:pt idx="9">
                  <c:v>2243</c:v>
                </c:pt>
                <c:pt idx="10">
                  <c:v>1361.686873471687</c:v>
                </c:pt>
                <c:pt idx="11">
                  <c:v>2388.326</c:v>
                </c:pt>
                <c:pt idx="12">
                  <c:v>1489.1151821002356</c:v>
                </c:pt>
                <c:pt idx="1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3"/>
            <c:invertIfNegative val="0"/>
            <c:bubble3D val="0"/>
            <c:spPr>
              <a:solidFill>
                <a:srgbClr val="27AE60"/>
              </a:solidFill>
              <a:ln w="3175" cmpd="sng" algn="ctr">
                <a:solidFill>
                  <a:schemeClr val="tx1"/>
                </a:solidFill>
                <a:prstDash val="solid"/>
              </a:ln>
            </c:spPr>
          </c:dPt>
          <c:dPt>
            <c:idx val="4"/>
            <c:invertIfNegative val="0"/>
            <c:bubble3D val="0"/>
            <c:spPr>
              <a:solidFill>
                <a:srgbClr val="27AE60"/>
              </a:solidFill>
              <a:ln w="3175" cmpd="sng" algn="ctr">
                <a:solidFill>
                  <a:schemeClr val="tx1"/>
                </a:solidFill>
                <a:prstDash val="solid"/>
              </a:ln>
            </c:spPr>
          </c:dPt>
          <c:dPt>
            <c:idx val="5"/>
            <c:invertIfNegative val="0"/>
            <c:bubble3D val="0"/>
            <c:spPr>
              <a:solidFill>
                <a:srgbClr val="27AE60"/>
              </a:solidFill>
              <a:ln w="3175" cmpd="sng" algn="ctr">
                <a:solidFill>
                  <a:schemeClr val="tx1"/>
                </a:solidFill>
                <a:prstDash val="solid"/>
              </a:ln>
            </c:spPr>
          </c:dPt>
          <c:xVal>
            <c:numRef>
              <c:f>Sheet1!$V$2:$V$7</c:f>
              <c:numCache>
                <c:formatCode>General</c:formatCode>
                <c:ptCount val="6"/>
                <c:pt idx="0">
                  <c:v>2020</c:v>
                </c:pt>
                <c:pt idx="1">
                  <c:v>2023</c:v>
                </c:pt>
                <c:pt idx="2">
                  <c:v>2024</c:v>
                </c:pt>
                <c:pt idx="3">
                  <c:v>2020</c:v>
                </c:pt>
                <c:pt idx="4">
                  <c:v>2021</c:v>
                </c:pt>
                <c:pt idx="5">
                  <c:v>2024</c:v>
                </c:pt>
              </c:numCache>
            </c:numRef>
          </c:xVal>
          <c:yVal>
            <c:numRef>
              <c:f>Sheet1!$W$2:$W$7</c:f>
              <c:numCache>
                <c:formatCode>#,##0;"-"#,##0</c:formatCode>
                <c:ptCount val="6"/>
                <c:pt idx="0">
                  <c:v>6.697282816685799</c:v>
                </c:pt>
                <c:pt idx="1">
                  <c:v>2.6524303821389523</c:v>
                </c:pt>
                <c:pt idx="2">
                  <c:v>2.206755753526355</c:v>
                </c:pt>
                <c:pt idx="3">
                  <c:v>42.43581410464738</c:v>
                </c:pt>
                <c:pt idx="4">
                  <c:v>47.85417941916616</c:v>
                </c:pt>
                <c:pt idx="5">
                  <c:v>53.34161735700197</c:v>
                </c:pt>
              </c:numCache>
            </c:numRef>
          </c:yVal>
          <c:bubbleSize>
            <c:numRef>
              <c:f>Sheet1!$X$2:$X$7</c:f>
              <c:numCache>
                <c:formatCode>General</c:formatCode>
                <c:ptCount val="6"/>
                <c:pt idx="0">
                  <c:v>1410.0531899999999</c:v>
                </c:pt>
                <c:pt idx="1">
                  <c:v>5738.553180941462</c:v>
                </c:pt>
                <c:pt idx="2">
                  <c:v>7291.6243757866105</c:v>
                </c:pt>
                <c:pt idx="3">
                  <c:v>1230.8</c:v>
                </c:pt>
                <c:pt idx="4">
                  <c:v>1470.3</c:v>
                </c:pt>
                <c:pt idx="5">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2"/>
            <c:invertIfNegative val="0"/>
            <c:bubble3D val="0"/>
            <c:spPr>
              <a:solidFill>
                <a:srgbClr val="27AE60"/>
              </a:solidFill>
              <a:ln w="3175" cmpd="sng" algn="ctr">
                <a:solidFill>
                  <a:schemeClr val="tx1"/>
                </a:solidFill>
                <a:prstDash val="solid"/>
              </a:ln>
            </c:spPr>
          </c:dPt>
          <c:xVal>
            <c:numRef>
              <c:f>Sheet1!$Z$2:$Z$4</c:f>
              <c:numCache>
                <c:formatCode>General</c:formatCode>
                <c:ptCount val="3"/>
                <c:pt idx="0">
                  <c:v>2023</c:v>
                </c:pt>
                <c:pt idx="1">
                  <c:v>2024</c:v>
                </c:pt>
                <c:pt idx="2">
                  <c:v>2020</c:v>
                </c:pt>
              </c:numCache>
            </c:numRef>
          </c:xVal>
          <c:yVal>
            <c:numRef>
              <c:f>Sheet1!$AA$2:$AA$4</c:f>
              <c:numCache>
                <c:formatCode>#,##0;"-"#,##0</c:formatCode>
                <c:ptCount val="3"/>
                <c:pt idx="0">
                  <c:v>1.7566688353936235</c:v>
                </c:pt>
                <c:pt idx="1">
                  <c:v>5.16068282607375</c:v>
                </c:pt>
                <c:pt idx="2">
                  <c:v>43.17748917748918</c:v>
                </c:pt>
              </c:numCache>
            </c:numRef>
          </c:yVal>
          <c:bubbleSize>
            <c:numRef>
              <c:f>Sheet1!$AB$2:$AB$4</c:f>
              <c:numCache>
                <c:formatCode>General</c:formatCode>
                <c:ptCount val="3"/>
                <c:pt idx="0">
                  <c:v>1049.4636</c:v>
                </c:pt>
                <c:pt idx="1">
                  <c:v>1018.11285</c:v>
                </c:pt>
                <c:pt idx="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2026-06-27T23:13:38Z</dcterms:created>
  <dcterms:modified xsi:type="dcterms:W3CDTF">2026-06-27T23:13:38Z</dcterms:modified>
</cp:coreProperties>
</file>