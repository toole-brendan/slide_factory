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ax"/>
        <c:crossBetween val="between"/>
        <c:majorUnit val="5"/>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785022595222725"/>
          <c:y val="0.02179379715004191"/>
          <c:w val="0.9664299548095545"/>
          <c:h val="0.9564124056999161"/>
        </c:manualLayout>
      </c:layout>
      <c:barChart>
        <c:barDir val="bar"/>
        <c:grouping val="stack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130"/>
        <c:overlap val="100"/>
        <c:axId val="111111111"/>
        <c:axId val="222222222"/>
      </c:barChart>
      <c:catAx>
        <c:axId val="111111111"/>
        <c:scaling>
          <c:orientation val="maxMin"/>
        </c:scaling>
        <c:delete val="0"/>
        <c:axPos val="l"/>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8160703075957313"/>
          <c:y val="0.02173004596740493"/>
          <c:w val="0.9836785938480854"/>
          <c:h val="0.9565399080651902"/>
        </c:manualLayout>
      </c:layout>
      <c:barChart>
        <c:barDir val="col"/>
        <c:grouping val="stacked"/>
        <c:varyColors val="0"/>
        <c:ser>
          <c:idx val="0"/>
          <c:order val="0"/>
          <c:tx>
            <c:strRef>
              <c:f>Sheet1!$B$1</c:f>
              <c:strCache>
                <c:ptCount val="1"/>
                <c:pt idx="0">
                  <c:v>Source row 1 — commercial orderbook / offshore retirements bridge</c:v>
                </c:pt>
              </c:strCache>
            </c:strRef>
          </c:tx>
          <c:spPr>
            <a:solidFill>
              <a:srgbClr val="FFC000"/>
            </a:solidFill>
            <a:ln>
              <a:noFill/>
            </a:ln>
          </c:spPr>
          <c:invertIfNegative val="0"/>
          <c:dPt>
            <c:idx val="0"/>
            <c:invertIfNegative val="0"/>
            <c:bubble3D val="0"/>
            <c:spPr>
              <a:solidFill>
                <a:srgbClr val="007770"/>
              </a:solidFill>
              <a:ln>
                <a:noFill/>
              </a:ln>
            </c:spPr>
          </c:dPt>
          <c:dPt>
            <c:idx val="1"/>
            <c:invertIfNegative val="0"/>
            <c:bubble3D val="0"/>
            <c:spPr>
              <a:solidFill>
                <a:srgbClr val="007770"/>
              </a:solidFill>
              <a:ln>
                <a:noFill/>
              </a:ln>
            </c:spPr>
          </c:dPt>
          <c:dPt>
            <c:idx val="2"/>
            <c:invertIfNegative val="0"/>
            <c:bubble3D val="0"/>
            <c:spPr>
              <a:solidFill>
                <a:srgbClr val="007770"/>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Source row 2 — offshore orderbook / commercial retirements bridge</c:v>
                </c:pt>
              </c:strCache>
            </c:strRef>
          </c:tx>
          <c:spPr>
            <a:solidFill>
              <a:srgbClr val="007770"/>
            </a:solidFill>
            <a:ln>
              <a:noFill/>
            </a:ln>
          </c:spPr>
          <c:invertIfNegative val="0"/>
          <c:dPt>
            <c:idx val="0"/>
            <c:invertIfNegative val="0"/>
            <c:bubble3D val="0"/>
            <c:spPr>
              <a:solidFill>
                <a:srgbClr val="FFC000"/>
              </a:solidFill>
              <a:ln>
                <a:noFill/>
              </a:ln>
            </c:spPr>
          </c:dPt>
          <c:dPt>
            <c:idx val="1"/>
            <c:invertIfNegative val="0"/>
            <c:bubble3D val="0"/>
            <c:spPr>
              <a:solidFill>
                <a:srgbClr val="FFC000"/>
              </a:solidFill>
              <a:ln>
                <a:noFill/>
              </a:ln>
            </c:spPr>
          </c:dPt>
          <c:dPt>
            <c:idx val="2"/>
            <c:invertIfNegative val="0"/>
            <c:bubble3D val="0"/>
            <c:spPr>
              <a:solidFill>
                <a:srgbClr val="FFC000"/>
              </a:solidFill>
              <a:ln>
                <a:noFill/>
              </a:ln>
            </c:spPr>
          </c:dPt>
          <c:dPt>
            <c:idx val="3"/>
            <c:invertIfNegative val="0"/>
            <c:bubble3D val="0"/>
            <c:spPr>
              <a:solidFill>
                <a:srgbClr val="FFC000"/>
              </a:solidFill>
              <a:ln>
                <a:noFill/>
              </a:ln>
            </c:spPr>
          </c:dPt>
          <c:dPt>
            <c:idx val="4"/>
            <c:invertIfNegative val="0"/>
            <c:bubble3D val="0"/>
            <c:spPr>
              <a:solidFill>
                <a:srgbClr val="FFC00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Source row 3 — commercial orderbook / retirements bridge</c:v>
                </c:pt>
              </c:strCache>
            </c:strRef>
          </c:tx>
          <c:spPr>
            <a:solidFill>
              <a:srgbClr val="00777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numFmt formatCode="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lineChart>
        <c:grouping val="standard"/>
        <c:varyColors val="0"/>
        <c:ser>
          <c:idx val="1"/>
          <c:order val="1"/>
          <c:tx>
            <c:strRef>
              <c:f>Sheet1!$C$1</c:f>
              <c:strCache>
                <c:ptCount val="1"/>
                <c:pt idx="0">
                  <c:v>2020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lineChart>
        <c:grouping val="standard"/>
        <c:varyColors val="0"/>
        <c:ser>
          <c:idx val="1"/>
          <c:order val="1"/>
          <c:tx>
            <c:strRef>
              <c:f>Sheet1!$C$1</c:f>
              <c:strCache>
                <c:ptCount val="1"/>
                <c:pt idx="0">
                  <c:v>2021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lineChart>
        <c:grouping val="standard"/>
        <c:varyColors val="0"/>
        <c:ser>
          <c:idx val="1"/>
          <c:order val="1"/>
          <c:tx>
            <c:strRef>
              <c:f>Sheet1!$C$1</c:f>
              <c:strCache>
                <c:ptCount val="1"/>
                <c:pt idx="0">
                  <c:v>2022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lineChart>
        <c:grouping val="standard"/>
        <c:varyColors val="0"/>
        <c:ser>
          <c:idx val="1"/>
          <c:order val="1"/>
          <c:tx>
            <c:strRef>
              <c:f>Sheet1!$C$1</c:f>
              <c:strCache>
                <c:ptCount val="1"/>
                <c:pt idx="0">
                  <c:v>2023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lineChart>
        <c:grouping val="standard"/>
        <c:varyColors val="0"/>
        <c:ser>
          <c:idx val="1"/>
          <c:order val="1"/>
          <c:tx>
            <c:strRef>
              <c:f>Sheet1!$C$1</c:f>
              <c:strCache>
                <c:ptCount val="1"/>
                <c:pt idx="0">
                  <c:v>2024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www.eia.gov/dnav/pet/hist/LeafHandler.ashx?n=PET&amp;s=RWTC&amp;f=A" TargetMode="External"/><Relationship Id="rId4" Type="http://schemas.openxmlformats.org/officeDocument/2006/relationships/hyperlink" Target="https://www.eia.gov/dnav/pet/hist/LeafHandler.ashx?n=PET&amp;s=RBRTE&amp;f=A" TargetMode="External"/><Relationship Id="rId5" Type="http://schemas.openxmlformats.org/officeDocument/2006/relationships/hyperlink" Target="https://fred.stlouisfed.org/series/PCEP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 Id="rId4" Type="http://schemas.openxmlformats.org/officeDocument/2006/relationships/hyperlink" Target="https://www.law.cornell.edu/uscode/text/46/810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 Id="rId3" Type="http://schemas.openxmlformats.org/officeDocument/2006/relationships/hyperlink" Target="https://www.congress.gov/bill/119th-congress/senate-bill/1541/text#toc-id9f432e34eabc4c5ea3d818bfdc7a838f" TargetMode="External"/><Relationship Id="rId4" Type="http://schemas.openxmlformats.org/officeDocument/2006/relationships/hyperlink" Target="https://www.eia.gov/outlooks/aeo/data/browser/#/?id=76-AEO2025&amp;cases=ref2025&amp;sourcekey=0" TargetMode="External"/><Relationship Id="rId5" Type="http://schemas.openxmlformats.org/officeDocument/2006/relationships/hyperlink" Target="../https/www.eia.gov/outlooks/aeo/data/browser#/?id=11-AEO2025&amp;cases=ref2025&amp;sourcekey=0" TargetMode="External"/><Relationship Id="rId6" Type="http://schemas.openxmlformats.org/officeDocument/2006/relationships/hyperlink" Target="https://www.eia.gov/todayinenergy/detail.php?id=67064" TargetMode="External"/><Relationship Id="rId7" Type="http://schemas.openxmlformats.org/officeDocument/2006/relationships/hyperlink" Target="https://www.gao.gov/assets/gao-22-105160.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 Id="rId3" Type="http://schemas.openxmlformats.org/officeDocument/2006/relationships/hyperlink" Target="https://www.pashahawaiitariffs.com/tariffs/rates#0200-00-0500/false/" TargetMode="External"/><Relationship Id="rId4" Type="http://schemas.openxmlformats.org/officeDocument/2006/relationships/hyperlink" Target="https://www.alohafreight.com/hawaii-fsc-decrease-09-14-25" TargetMode="External"/><Relationship Id="rId5" Type="http://schemas.openxmlformats.org/officeDocument/2006/relationships/hyperlink" Target="https://hidot.hawaii.gov/harbors/files/2025/04/Cargo-Wharfage-Tariff-Rates-Effective-July-1-2025-June-30-2026.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 Id="rId5" Type="http://schemas.openxmlformats.org/officeDocument/2006/relationships/hyperlink" Target="https://www.congress.gov/crs-product/RL32109" TargetMode="External"/><Relationship Id="rId6" Type="http://schemas.openxmlformats.org/officeDocument/2006/relationships/hyperlink" Target="https://www.congress.gov/bill/119th-congress/house-bill/1/text" TargetMode="External"/><Relationship Id="rId7" Type="http://schemas.openxmlformats.org/officeDocument/2006/relationships/hyperlink" Target="https://www.lockheedmartin.com/content/dam/lockheed-martin/rms/documents/naval-launchers-and-munitions/Mk70_Product_Card.pdf" TargetMode="External"/><Relationship Id="rId8" Type="http://schemas.openxmlformats.org/officeDocument/2006/relationships/hyperlink" Target="https://www.lockheedmartin.com/content/dam/lockheed-martin/rms/documents/naval-launchers-and-munitions/Mk_41_Product_Card_Update_24_08549.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ln>
        </p:spPr>
      </p:cxnSp>
      <p:cxnSp>
        <p:nvCxnSpPr>
          <p:cNvPr id="118" name="LegendLineRule"/>
          <p:cNvCxnSpPr/>
          <p:nvPr/>
        </p:nvCxnSpPr>
        <p:spPr>
          <a:xfrm>
            <a:off x="1000354" y="2460650"/>
            <a:ext cx="150876" cy="0"/>
          </a:xfrm>
          <a:prstGeom prst="line">
            <a:avLst/>
          </a:prstGeom>
          <a:ln w="28575">
            <a:solidFill>
              <a:srgbClr val="007770"/>
            </a:solidFill>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hlinkClick r:id="rId3"/>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FRED (PCE)</a:t>
            </a:r>
          </a:p>
        </p:txBody>
      </p:sp>
      <p:sp>
        <p:nvSpPr>
          <p:cNvPr id="123"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000" b="1" u="sng"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t"/>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Total</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MissionToPlatformArrow"/>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MissionToPlatformArrow"/>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MissionToPlatformArrow"/>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MissionToPlatformArrow"/>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MissionToEffectorsArrow"/>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NavyLogo"/>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PriceTrackFlowArrow"/>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PriceTrackFlowArrow"/>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PriceTrackFlowArrow"/>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MixWeightingMethodCallout"/>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PriceTrackFlowArrow"/>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MixWeightingNote"/>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VolumeTrackFlowArrow"/>
          <p:cNvCxnSpPr/>
          <p:nvPr/>
        </p:nvCxnSpPr>
        <p:spPr>
          <a:xfrm>
            <a:off x="1641348" y="2041855"/>
            <a:ext cx="0" cy="304495"/>
          </a:xfrm>
          <a:prstGeom prst="line">
            <a:avLst/>
          </a:prstGeom>
          <a:ln w="12700">
            <a:solidFill>
              <a:srgbClr val="000000"/>
            </a:solidFill>
            <a:tailEnd type="triangle" w="med" len="med"/>
          </a:ln>
        </p:spPr>
      </p:cxnSp>
      <p:sp>
        <p:nvSpPr>
          <p:cNvPr id="150" name="UtilizationMethodCallout"/>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VolumeTrackFlowArrow"/>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FundingRouteArrow"/>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FundingRouteArrow"/>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FundingRouteArrow"/>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FundingRouteArrow"/>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OwnerOperatorRouteArrow"/>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OwnerOperatorRouteArrow"/>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BuildRouteArrow"/>
          <p:cNvCxnSpPr/>
          <p:nvPr/>
        </p:nvCxnSpPr>
        <p:spPr>
          <a:xfrm>
            <a:off x="2433218" y="1845259"/>
            <a:ext cx="1201522" cy="779069"/>
          </a:xfrm>
          <a:prstGeom prst="bentConnector2">
            <a:avLst/>
          </a:prstGeom>
          <a:ln w="12700">
            <a:solidFill>
              <a:srgbClr val="000000"/>
            </a:solidFill>
            <a:tailEnd type="triangle" w="med" len="med"/>
          </a:ln>
        </p:spPr>
      </p:cxnSp>
      <p:cxnSp>
        <p:nvCxnSpPr>
          <p:cNvPr id="126" name="SubsidyRouteArrow"/>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SubsidyRouteArrow"/>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cxnSp>
        <p:nvCxnSpPr>
          <p:cNvPr id="132" name="StrategicCommercialFleetArrow"/>
          <p:cNvCxnSpPr/>
          <p:nvPr/>
        </p:nvCxnSpPr>
        <p:spPr>
          <a:xfrm flipV="1">
            <a:off x="4760366" y="2509114"/>
            <a:ext cx="3237890" cy="261518"/>
          </a:xfrm>
          <a:prstGeom prst="bentConnector3">
            <a:avLst/>
          </a:prstGeom>
          <a:ln w="12700">
            <a:solidFill>
              <a:srgbClr val="000000"/>
            </a:solidFill>
            <a:tailEnd type="triangle" w="med" len="med"/>
          </a:ln>
        </p:spPr>
      </p:cxnSp>
      <p:sp>
        <p:nvSpPr>
          <p:cNvPr id="133"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cxnSp>
        <p:nvCxnSpPr>
          <p:cNvPr id="134" name="GovernmentPurchaseArrow"/>
          <p:cNvCxnSpPr/>
          <p:nvPr/>
        </p:nvCxnSpPr>
        <p:spPr>
          <a:xfrm flipV="1">
            <a:off x="1747418" y="2393899"/>
            <a:ext cx="0" cy="230429"/>
          </a:xfrm>
          <a:prstGeom prst="line">
            <a:avLst/>
          </a:prstGeom>
          <a:ln w="12700">
            <a:solidFill>
              <a:srgbClr val="000000"/>
            </a:solidFill>
            <a:tailEnd type="triangle" w="med" len="med"/>
          </a:ln>
        </p:spPr>
      </p:cxnSp>
      <p:sp>
        <p:nvSpPr>
          <p:cNvPr id="135"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6"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cxnSp>
        <p:nvCxnSpPr>
          <p:cNvPr id="137" name="PenaltyRouteArrow"/>
          <p:cNvCxnSpPr/>
          <p:nvPr/>
        </p:nvCxnSpPr>
        <p:spPr>
          <a:xfrm flipV="1">
            <a:off x="5253228" y="5565953"/>
            <a:ext cx="0" cy="516636"/>
          </a:xfrm>
          <a:prstGeom prst="line">
            <a:avLst/>
          </a:prstGeom>
          <a:ln w="12700">
            <a:solidFill>
              <a:srgbClr val="000000"/>
            </a:solidFill>
            <a:tailEnd type="triangle" w="med" len="med"/>
          </a:ln>
        </p:spPr>
      </p:cxnSp>
      <p:sp>
        <p:nvSpPr>
          <p:cNvPr id="138"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9" name="PenaltyRouteArrow"/>
          <p:cNvCxnSpPr/>
          <p:nvPr/>
        </p:nvCxnSpPr>
        <p:spPr>
          <a:xfrm flipH="1" flipV="1">
            <a:off x="8952890" y="5565953"/>
            <a:ext cx="0" cy="516636"/>
          </a:xfrm>
          <a:prstGeom prst="line">
            <a:avLst/>
          </a:prstGeom>
          <a:ln w="12700">
            <a:solidFill>
              <a:srgbClr val="000000"/>
            </a:solidFill>
            <a:tailEnd type="triangle" w="med" len="med"/>
          </a:ln>
        </p:spPr>
      </p:cxnSp>
      <p:sp>
        <p:nvSpPr>
          <p:cNvPr id="140"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41"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2" name="CargoFeeRouteArrow"/>
          <p:cNvCxnSpPr/>
          <p:nvPr/>
        </p:nvCxnSpPr>
        <p:spPr>
          <a:xfrm flipV="1">
            <a:off x="9908438" y="5565953"/>
            <a:ext cx="914400" cy="640080"/>
          </a:xfrm>
          <a:prstGeom prst="bentConnector2">
            <a:avLst/>
          </a:prstGeom>
          <a:ln w="12700">
            <a:solidFill>
              <a:srgbClr val="000000"/>
            </a:solidFill>
            <a:tailEnd type="triangle" w="med" len="med"/>
          </a:ln>
        </p:spPr>
      </p:cxnSp>
      <p:sp>
        <p:nvSpPr>
          <p:cNvPr id="143"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44" name="CargoFeeRouteArrow"/>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hlinkClick r:id="rId4"/>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AllocationRouteArrow"/>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AllocationRouteArrow"/>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ApproachHeaderRule"/>
          <p:cNvCxnSpPr/>
          <p:nvPr/>
        </p:nvCxnSpPr>
        <p:spPr>
          <a:xfrm flipH="1">
            <a:off x="478231" y="1704442"/>
            <a:ext cx="2093062" cy="1829"/>
          </a:xfrm>
          <a:prstGeom prst="line">
            <a:avLst/>
          </a:prstGeom>
          <a:ln w="12700">
            <a:solidFill>
              <a:srgbClr val="162029"/>
            </a:solidFill>
          </a:ln>
        </p:spPr>
      </p:cxnSp>
      <p:cxnSp>
        <p:nvCxnSpPr>
          <p:cNvPr id="148" name="AllocationRouteArrow"/>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AllocationRouteArrow"/>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AllocationRouteArrow"/>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MissionToPlatformArrow"/>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MissionToPlatformArrow"/>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MissionToPlatformArrow"/>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MissionToPlatformArrow"/>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NavyLogo"/>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lgDash"/>
          </a:ln>
        </p:spPr>
      </p:cxnSp>
      <p:cxnSp>
        <p:nvCxnSpPr>
          <p:cNvPr id="105" name="DashedExerciseArrow"/>
          <p:cNvCxnSpPr/>
          <p:nvPr/>
        </p:nvCxnSpPr>
        <p:spPr>
          <a:xfrm>
            <a:off x="2706624" y="3419856"/>
            <a:ext cx="563270" cy="0"/>
          </a:xfrm>
          <a:prstGeom prst="line">
            <a:avLst/>
          </a:prstGeom>
          <a:ln w="3175">
            <a:solidFill>
              <a:srgbClr val="162029"/>
            </a:solidFill>
            <a:prstDash val="lgDash"/>
          </a:ln>
        </p:spPr>
      </p:cxnSp>
      <p:cxnSp>
        <p:nvCxnSpPr>
          <p:cNvPr id="106" name="DashedExerciseArrow"/>
          <p:cNvCxnSpPr/>
          <p:nvPr/>
        </p:nvCxnSpPr>
        <p:spPr>
          <a:xfrm>
            <a:off x="3974897" y="3419856"/>
            <a:ext cx="563270" cy="0"/>
          </a:xfrm>
          <a:prstGeom prst="line">
            <a:avLst/>
          </a:prstGeom>
          <a:ln w="3175">
            <a:solidFill>
              <a:srgbClr val="162029"/>
            </a:solidFill>
            <a:prstDash val="lgDash"/>
          </a:ln>
        </p:spPr>
      </p:cxnSp>
      <p:cxnSp>
        <p:nvCxnSpPr>
          <p:cNvPr id="107" name="DashedExerciseArrow"/>
          <p:cNvCxnSpPr/>
          <p:nvPr/>
        </p:nvCxnSpPr>
        <p:spPr>
          <a:xfrm>
            <a:off x="5243170" y="3769157"/>
            <a:ext cx="563270" cy="0"/>
          </a:xfrm>
          <a:prstGeom prst="line">
            <a:avLst/>
          </a:prstGeom>
          <a:ln w="3175">
            <a:solidFill>
              <a:srgbClr val="162029"/>
            </a:solidFill>
            <a:prstDash val="lgDash"/>
          </a:ln>
        </p:spPr>
      </p:cxnSp>
      <p:cxnSp>
        <p:nvCxnSpPr>
          <p:cNvPr id="108" name="DashedExerciseArrow"/>
          <p:cNvCxnSpPr/>
          <p:nvPr/>
        </p:nvCxnSpPr>
        <p:spPr>
          <a:xfrm>
            <a:off x="6512357" y="4013302"/>
            <a:ext cx="562356" cy="0"/>
          </a:xfrm>
          <a:prstGeom prst="line">
            <a:avLst/>
          </a:prstGeom>
          <a:ln w="3175">
            <a:solidFill>
              <a:srgbClr val="162029"/>
            </a:solidFill>
            <a:prstDash val="lgDash"/>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NavyLogo"/>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0000"/>
                          </a:solidFill>
                          <a:latin typeface="Arial"/>
                          <a:ea typeface="Arial"/>
                          <a:cs typeface="Arial"/>
                        </a:rPr>
                        <a:t>Table Stakes</a:t>
                      </a:r>
                    </a:p>
                  </a:txBody>
                  <a:tcPr marL="45720" marR="45720" marT="45720" marB="45720" anchor="t">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7770"/>
                          </a:solidFill>
                          <a:latin typeface="Arial"/>
                          <a:ea typeface="Arial"/>
                          <a:cs typeface="Arial"/>
                        </a:rPr>
                        <a:t>Addressable</a:t>
                      </a:r>
                    </a:p>
                    <a:p>
                      <a:pPr algn="l" marL="0" indent="0">
                        <a:lnSpc>
                          <a:spcPct val="100000"/>
                        </a:lnSpc>
                      </a:pPr>
                      <a:r>
                        <a:rPr lang="en-US" sz="1200" b="1" dirty="0">
                          <a:solidFill>
                            <a:srgbClr val="007770"/>
                          </a:solidFill>
                          <a:latin typeface="Arial"/>
                          <a:ea typeface="Arial"/>
                          <a:cs typeface="Arial"/>
                        </a:rPr>
                        <a:t>Commercial</a:t>
                      </a:r>
                    </a:p>
                  </a:txBody>
                  <a:tcPr marL="45720" marR="45720" marT="45720" marB="45720" anchor="t">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t"/>
                    <a:lstStyle/>
                    <a:p>
                      <a:pPr algn="l" marL="0" indent="0">
                        <a:lnSpc>
                          <a:spcPct val="100000"/>
                        </a:lnSpc>
                      </a:pPr>
                      <a:r>
                        <a:rPr lang="en-US" sz="1200" b="1" dirty="0">
                          <a:solidFill>
                            <a:srgbClr val="FFC000"/>
                          </a:solidFill>
                          <a:latin typeface="Arial"/>
                          <a:ea typeface="Arial"/>
                          <a:cs typeface="Arial"/>
                        </a:rPr>
                        <a:t>Addressable Offshore</a:t>
                      </a:r>
                    </a:p>
                  </a:txBody>
                  <a:tcPr marL="45720" marR="45720" marT="45720" marB="45720" anchor="t">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t"/>
                    <a:lstStyle/>
                    <a:p>
                      <a:pPr algn="l" marL="0" indent="0">
                        <a:lnSpc>
                          <a:spcPct val="100000"/>
                        </a:lnSpc>
                      </a:pPr>
                      <a:r>
                        <a:rPr lang="en-US" sz="1200" b="1" dirty="0">
                          <a:solidFill>
                            <a:srgbClr val="969696"/>
                          </a:solidFill>
                          <a:latin typeface="Arial"/>
                          <a:ea typeface="Arial"/>
                          <a:cs typeface="Arial"/>
                        </a:rPr>
                        <a:t>Non-Addressable</a:t>
                      </a:r>
                    </a:p>
                  </a:txBody>
                  <a:tcPr marL="45720" marR="45720" marT="45720" marB="45720" anchor="t">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t"/>
                    <a:lstStyle/>
                    <a:p>
                      <a:pPr algn="l">
                        <a:lnSpc>
                          <a:spcPct val="100000"/>
                        </a:lnSpc>
                      </a:pPr>
                      <a:r>
                        <a:rPr lang="en-US" sz="1200" b="1" dirty="0">
                          <a:solidFill>
                            <a:srgbClr val="000000"/>
                          </a:solidFill>
                          <a:latin typeface="Arial"/>
                          <a:ea typeface="Arial"/>
                          <a:cs typeface="Arial"/>
                        </a:rPr>
                        <a:t>Criteria</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t"/>
                    <a:lstStyle/>
                    <a:p>
                      <a:pPr algn="l">
                        <a:lnSpc>
                          <a:spcPct val="100000"/>
                        </a:lnSpc>
                      </a:pPr>
                      <a:r>
                        <a:rPr lang="en-US" sz="1200" b="1" dirty="0">
                          <a:solidFill>
                            <a:srgbClr val="000000"/>
                          </a:solidFill>
                          <a:latin typeface="Arial"/>
                          <a:ea typeface="Arial"/>
                          <a:cs typeface="Arial"/>
                        </a:rPr>
                        <a:t>Inclusion / Exclusion Rationale</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alpha val="10196"/>
            </a:srgbClr>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alpha val="10196"/>
            </a:srgbClr>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t"/>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t"/>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t">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t"/>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t"/>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that </a:t>
                      </a:r>
                      <a:r>
                        <a:rPr lang="en-US" sz="1400" u="sng" dirty="0">
                          <a:solidFill>
                            <a:srgbClr val="000000"/>
                          </a:solidFill>
                          <a:latin typeface="Arial"/>
                          <a:ea typeface="Arial"/>
                          <a:cs typeface="Arial"/>
                        </a:rPr>
                        <a:t>could</a:t>
                      </a:r>
                      <a:r>
                        <a:rPr lang="en-US" sz="1400" dirty="0">
                          <a:solidFill>
                            <a:srgbClr val="000000"/>
                          </a:solidFill>
                          <a:latin typeface="Arial"/>
                          <a:ea typeface="Arial"/>
                          <a:cs typeface="Arial"/>
                        </a:rPr>
                        <a:t>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t"/>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a:t>
                      </a:r>
                      <a:r>
                        <a:rPr lang="en-US" sz="1400" u="sng" dirty="0">
                          <a:solidFill>
                            <a:srgbClr val="000000"/>
                          </a:solidFill>
                          <a:latin typeface="Arial"/>
                          <a:ea typeface="Arial"/>
                          <a:cs typeface="Arial"/>
                        </a:rPr>
                        <a:t>performed</a:t>
                      </a:r>
                      <a:r>
                        <a:rPr lang="en-US" sz="1400" dirty="0">
                          <a:solidFill>
                            <a:srgbClr val="000000"/>
                          </a:solidFill>
                          <a:latin typeface="Arial"/>
                          <a:ea typeface="Arial"/>
                          <a:cs typeface="Arial"/>
                        </a:rPr>
                        <a:t>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a:t>
                      </a:r>
                      <a:r>
                        <a:rPr lang="en-US" sz="1400" u="sng" dirty="0">
                          <a:solidFill>
                            <a:srgbClr val="000000"/>
                          </a:solidFill>
                          <a:latin typeface="Arial"/>
                          <a:ea typeface="Arial"/>
                          <a:cs typeface="Arial"/>
                        </a:rPr>
                        <a:t>Saronic</a:t>
                      </a:r>
                      <a:r>
                        <a:rPr lang="en-US" sz="1400" dirty="0">
                          <a:solidFill>
                            <a:srgbClr val="000000"/>
                          </a:solidFill>
                          <a:latin typeface="Arial"/>
                          <a:ea typeface="Arial"/>
                          <a:cs typeface="Arial"/>
                        </a:rPr>
                        <a:t> unmanned platforms (i.e., market share)</a:t>
                      </a:r>
                    </a:p>
                    <a:p>
                      <a:pPr algn="l">
                        <a:lnSpc>
                          <a:spcPct val="100000"/>
                        </a:lnSpc>
                      </a:pPr>
                      <a:endParaRPr lang="en-US" sz="1400"/>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t">
                    <a:lnL>
                      <a:noFill/>
                    </a:lnL>
                    <a:lnR>
                      <a:noFill/>
                    </a:lnR>
                    <a:lnT w="6350" cap="flat" cmpd="sng" algn="ctr">
                      <a:solidFill>
                        <a:srgbClr val="162029"/>
                      </a:solidFill>
                      <a:prstDash val="solid"/>
                    </a:lnT>
                    <a:lnB>
                      <a:noFill/>
                    </a:lnB>
                    <a:noFill/>
                  </a:tcPr>
                </a:tc>
                <a:tc>
                  <a:txBody>
                    <a:bodyPr anchor="t"/>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t">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t"/>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t"/>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IndustrialPolicyGlossary"/>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MarketTermsGlossary"/>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AnalysisTermsGlossary"/>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dingsNarrativeTable"/>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SourceNote"/>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ancialOutlookTable"/>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ContingenciesCallout"/>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MarketConditionsMatrix"/>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t"/>
                    <a:lstStyle/>
                    <a:p>
                      <a:pPr algn="r">
                        <a:lnSpc>
                          <a:spcPct val="100000"/>
                        </a:lnSpc>
                      </a:pPr>
                      <a:r>
                        <a:rPr lang="en-US" sz="1000" i="1" dirty="0">
                          <a:solidFill>
                            <a:srgbClr val="000000"/>
                          </a:solidFill>
                          <a:latin typeface="Arial"/>
                          <a:ea typeface="Arial"/>
                          <a:cs typeface="Arial"/>
                        </a:rPr>
                        <a:t>Market:</a:t>
                      </a:r>
                    </a:p>
                  </a:txBody>
                  <a:tcPr marL="45720" marR="45720" marT="45720" marB="45720" anchor="t">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t"/>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vert="vert270">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t"/>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t">
                    <a:lnL>
                      <a:noFill/>
                    </a:lnL>
                    <a:lnR>
                      <a:noFill/>
                    </a:lnR>
                    <a:lnT w="6350" cap="flat" cmpd="sng" algn="ctr">
                      <a:solidFill>
                        <a:srgbClr val="808080"/>
                      </a:solidFill>
                      <a:prstDash val="solid"/>
                    </a:lnT>
                    <a:lnB>
                      <a:noFill/>
                    </a:lnB>
                    <a:noFill/>
                  </a:tcPr>
                </a:tc>
                <a:tc rowSpan="3">
                  <a:txBody>
                    <a:bodyPr anchor="t"/>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t">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vert="vert270">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AddressabilityNote"/>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FurtherAnalysisCallout"/>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PanelBaseline_2024"/>
          <p:cNvCxnSpPr/>
          <p:nvPr/>
        </p:nvCxnSpPr>
        <p:spPr>
          <a:xfrm>
            <a:off x="858622" y="1848002"/>
            <a:ext cx="10819181" cy="0"/>
          </a:xfrm>
          <a:prstGeom prst="line">
            <a:avLst/>
          </a:prstGeom>
          <a:ln w="9525">
            <a:solidFill>
              <a:srgbClr val="162029"/>
            </a:solidFill>
            <a:prstDash val="lgDash"/>
          </a:ln>
        </p:spPr>
      </p:cxnSp>
      <p:cxnSp>
        <p:nvCxnSpPr>
          <p:cNvPr id="107" name="PanelBaseline_2023"/>
          <p:cNvCxnSpPr/>
          <p:nvPr/>
        </p:nvCxnSpPr>
        <p:spPr>
          <a:xfrm>
            <a:off x="858622" y="2790749"/>
            <a:ext cx="10819181" cy="0"/>
          </a:xfrm>
          <a:prstGeom prst="line">
            <a:avLst/>
          </a:prstGeom>
          <a:ln w="9525">
            <a:solidFill>
              <a:srgbClr val="162029"/>
            </a:solidFill>
            <a:prstDash val="lgDash"/>
          </a:ln>
        </p:spPr>
      </p:cxnSp>
      <p:cxnSp>
        <p:nvCxnSpPr>
          <p:cNvPr id="108" name="PanelBaseline_2022_Left"/>
          <p:cNvCxnSpPr/>
          <p:nvPr/>
        </p:nvCxnSpPr>
        <p:spPr>
          <a:xfrm>
            <a:off x="858622" y="3733495"/>
            <a:ext cx="936346" cy="0"/>
          </a:xfrm>
          <a:prstGeom prst="line">
            <a:avLst/>
          </a:prstGeom>
          <a:ln w="9525">
            <a:solidFill>
              <a:srgbClr val="162029"/>
            </a:solidFill>
            <a:prstDash val="lgDash"/>
          </a:ln>
        </p:spPr>
      </p:cxnSp>
      <p:cxnSp>
        <p:nvCxnSpPr>
          <p:cNvPr id="109" name="PanelBaseline_2022_Mid"/>
          <p:cNvCxnSpPr/>
          <p:nvPr/>
        </p:nvCxnSpPr>
        <p:spPr>
          <a:xfrm>
            <a:off x="2084832" y="3733495"/>
            <a:ext cx="4821631" cy="0"/>
          </a:xfrm>
          <a:prstGeom prst="line">
            <a:avLst/>
          </a:prstGeom>
          <a:ln w="9525">
            <a:solidFill>
              <a:srgbClr val="162029"/>
            </a:solidFill>
            <a:prstDash val="lgDash"/>
          </a:ln>
        </p:spPr>
      </p:cxnSp>
      <p:cxnSp>
        <p:nvCxnSpPr>
          <p:cNvPr id="110" name="PanelBaseline_2022_Right"/>
          <p:cNvCxnSpPr/>
          <p:nvPr/>
        </p:nvCxnSpPr>
        <p:spPr>
          <a:xfrm>
            <a:off x="7071055" y="3733495"/>
            <a:ext cx="4606747" cy="0"/>
          </a:xfrm>
          <a:prstGeom prst="line">
            <a:avLst/>
          </a:prstGeom>
          <a:ln w="9525">
            <a:solidFill>
              <a:srgbClr val="162029"/>
            </a:solidFill>
            <a:prstDash val="lgDash"/>
          </a:ln>
        </p:spPr>
      </p:cxnSp>
      <p:cxnSp>
        <p:nvCxnSpPr>
          <p:cNvPr id="111" name="PanelBaseline_2021_Left"/>
          <p:cNvCxnSpPr/>
          <p:nvPr/>
        </p:nvCxnSpPr>
        <p:spPr>
          <a:xfrm>
            <a:off x="858622" y="4677156"/>
            <a:ext cx="936346" cy="0"/>
          </a:xfrm>
          <a:prstGeom prst="line">
            <a:avLst/>
          </a:prstGeom>
          <a:ln w="9525">
            <a:solidFill>
              <a:srgbClr val="162029"/>
            </a:solidFill>
            <a:prstDash val="lgDash"/>
          </a:ln>
        </p:spPr>
      </p:cxnSp>
      <p:cxnSp>
        <p:nvCxnSpPr>
          <p:cNvPr id="112" name="PanelBaseline_2021_Mid"/>
          <p:cNvCxnSpPr/>
          <p:nvPr/>
        </p:nvCxnSpPr>
        <p:spPr>
          <a:xfrm>
            <a:off x="2084832" y="4677156"/>
            <a:ext cx="4821631" cy="0"/>
          </a:xfrm>
          <a:prstGeom prst="line">
            <a:avLst/>
          </a:prstGeom>
          <a:ln w="9525">
            <a:solidFill>
              <a:srgbClr val="162029"/>
            </a:solidFill>
            <a:prstDash val="lgDash"/>
          </a:ln>
        </p:spPr>
      </p:cxnSp>
      <p:cxnSp>
        <p:nvCxnSpPr>
          <p:cNvPr id="113" name="PanelBaseline_2021_Right"/>
          <p:cNvCxnSpPr/>
          <p:nvPr/>
        </p:nvCxnSpPr>
        <p:spPr>
          <a:xfrm>
            <a:off x="7071055" y="4677156"/>
            <a:ext cx="4606747" cy="0"/>
          </a:xfrm>
          <a:prstGeom prst="line">
            <a:avLst/>
          </a:prstGeom>
          <a:ln w="9525">
            <a:solidFill>
              <a:srgbClr val="162029"/>
            </a:solidFill>
            <a:prstDash val="lgDash"/>
          </a:ln>
        </p:spPr>
      </p:cxnSp>
      <p:cxnSp>
        <p:nvCxnSpPr>
          <p:cNvPr id="114" name="PanelDivider_2021"/>
          <p:cNvCxnSpPr/>
          <p:nvPr/>
        </p:nvCxnSpPr>
        <p:spPr>
          <a:xfrm>
            <a:off x="1940357" y="4759452"/>
            <a:ext cx="0" cy="2743"/>
          </a:xfrm>
          <a:prstGeom prst="line">
            <a:avLst/>
          </a:prstGeom>
          <a:ln w="6350">
            <a:solidFill>
              <a:srgbClr val="44505C"/>
            </a:solidFill>
          </a:ln>
        </p:spPr>
      </p:cxnSp>
      <p:cxnSp>
        <p:nvCxnSpPr>
          <p:cNvPr id="115" name="PanelBaseline_2020"/>
          <p:cNvCxnSpPr/>
          <p:nvPr/>
        </p:nvCxnSpPr>
        <p:spPr>
          <a:xfrm>
            <a:off x="858622" y="5619902"/>
            <a:ext cx="10819181" cy="0"/>
          </a:xfrm>
          <a:prstGeom prst="line">
            <a:avLst/>
          </a:prstGeom>
          <a:ln w="9525">
            <a:solidFill>
              <a:srgbClr val="162029"/>
            </a:solidFill>
            <a:prstDash val="lgDash"/>
          </a:ln>
        </p:spPr>
      </p:cxnSp>
      <p:sp>
        <p:nvSpPr>
          <p:cNvPr id="116" name="RevenueAxisTick"/>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RevenueAxisTick"/>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RevenueAxisTick"/>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RevenueAxisTick"/>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RevenueAxisTick"/>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RevenueAxisTick"/>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2" name="RevenueAxisTick"/>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3" name="RevenueAxisTick"/>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4" name="RevenueAxisTick"/>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5" name="RevenueAxisTick"/>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6" name="RevenueAxisTick"/>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7" name="RevenueAxisTick"/>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8" name="RevenueAxisTick"/>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9" name="RevenueAxisTick"/>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0" name="RevenueAxisTick"/>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1" name="RevenueAxisTick"/>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2" name="RevenueAxisTick"/>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3" name="RevenueAxisTick"/>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4" name="RevenueAxisTick"/>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5" name="RevenueAxisTick"/>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6" name="RevenueAxisTick"/>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7" name="RevenueAxisTick"/>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8" name="RevenueAxisTick"/>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9" name="RevenueAxisTick"/>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40" name="RevenueAxisTick"/>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41" name="CompanyTick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42" name="CompanyTick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43" name="CompanyTick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44" name="CompanyTick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45" name="CompanyTick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46" name="CompanyTick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47" name="CompanyTick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48" name="CompanyTick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49" name="CompanyTick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50" name="CompanyTick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51" name="CompanyTick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52" name="CompanyTick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53" name="CompanyTick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154" name="CompanyTick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155" name="CompanyTick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156" name="MarginPoint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57" name="MarginPoint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MarginPoint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9" name="MarginPoint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0" name="MarginPoint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61" name="MarginPoint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62" name="MarginPoint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63" name="MarginPoint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64" name="MarginPoint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5" name="MarginPoint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6" name="MarginPoint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67" name="MarginPoint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68" name="MarginPoint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69" name="MarginPoint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70" name="MarginPoint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71" name="MarginPoint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72" name="MarginPoint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73" name="MarginPoint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74" name="MarginPoint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5" name="MarginPoint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76" name="MarginPoint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77" name="MarginPoint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78" name="MarginPoint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79" name="MarginPoint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80" name="MarginPoint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1" name="MarginPoint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82" name="MarginPoint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83" name="MarginPoint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4" name="MarginPoint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5" name="MarginPoint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6" name="MarginPoint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7" name="MarginPoint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88" name="MarginPoint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89" name="MarginPoint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90" name="MarginPoint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91" name="MarginPoint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2" name="MarginPoint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3" name="MarginPoint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94" name="MarginPoint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95" name="MarginPoint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6" name="MarginPoint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97" name="MarginPoint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98" name="MarginPoint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9" name="MarginPoint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MarginPoint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1" name="MarginPoint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2" name="MarginPoint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03" name="MarginPoint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4" name="MarginPoint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05" name="MarginPoint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06" name="MarginPoint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07" name="MarginPoint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08" name="MarginPoint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09" name="MarginPoint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0" name="MarginPoint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11" name="MarginPoint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12" name="MarginPoint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3" name="MarginPoint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14" name="MarginPoint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15" name="MarginPoint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6" name="MarginPoint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7" name="MarginPoint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18" name="MarginPoint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9" name="MarginPoint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20" name="MarginPoint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1" name="MarginPoint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2" name="MarginPoint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23" name="MarginPoint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24" name="MarginPoint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25" name="MarginPoint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26" name="MarginPoint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27" name="MarginPoint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28" name="MarginPoint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29" name="RevenueChip"/>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30" name="RevenueChip"/>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31" name="RevenueChip"/>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32" name="RevenueChip"/>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3" name="RevenueChip"/>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4" name="RevenueChip"/>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35" name="RevenueChip"/>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36" name="RevenueChip"/>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7" name="RevenueChip"/>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8" name="RevenueChip"/>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9" name="RevenueChip"/>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0" name="RevenueChip"/>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1" name="RevenueChip"/>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2" name="RevenueChip"/>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3" name="RevenueChip"/>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4" name="RevenueChip"/>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5" name="RevenueChip"/>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6" name="RevenueChip"/>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47" name="RevenueChip"/>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48" name="RevenueChip"/>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49" name="RevenueChip"/>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50" name="RevenueChip"/>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RevenueChip"/>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2" name="RevenueChip"/>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3" name="RevenueChip"/>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4" name="RevenueChip"/>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RevenueChip"/>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6" name="RevenueChip"/>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57" name="RevenueChip"/>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8" name="RevenueChip"/>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RevenueChip"/>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60" name="RevenueChip"/>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61" name="RevenueChip"/>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2" name="RevenueChip"/>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63" name="RevenueChip"/>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64" name="RevenueChip"/>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65" name="RevenueChip"/>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6" name="RevenueChip"/>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7" name="RevenueChip"/>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8" name="RevenueChip"/>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9" name="RevenueChip"/>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RevenueChip"/>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1" name="RevenueChip"/>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RevenueChip"/>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3" name="RevenueChip"/>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74" name="RevenueChip"/>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5" name="RevenueChip"/>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76" name="RevenueChip"/>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77" name="RevenueChip"/>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8" name="RevenueChip"/>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79" name="RevenueChip"/>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80" name="RevenueChip"/>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RevenueChip"/>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RevenueChip"/>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RevenueChip"/>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RevenueChip"/>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RevenueChip"/>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6" name="RevenueChip"/>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87" name="RevenueChip"/>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8" name="RevenueChip"/>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89" name="RevenueChip"/>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0" name="RevenueChip"/>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91" name="RevenueChip"/>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92" name="RevenueChip"/>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93" name="RevenueChip"/>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4" name="RevenueChip"/>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95" name="RevenueChip"/>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96" name="RevenueChip"/>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97" name="RevenueChip"/>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8" name="RevenueChip"/>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9" name="RevenueChip"/>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0" name="RevenueChip"/>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01" name="RevenueChip"/>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02" name="SegmentHeader"/>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03" name="SegmentHeader"/>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04" name="SegmentHeader"/>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05" name="CarrierSegmentHeader"/>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06" name="Year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07" name="Year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08"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09"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10"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11" name="EbitMarginAxisTitle"/>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12" name="RevenueAxisTitle"/>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13" name="SegmentDivider_Shipbuilders"/>
          <p:cNvCxnSpPr/>
          <p:nvPr/>
        </p:nvCxnSpPr>
        <p:spPr>
          <a:xfrm>
            <a:off x="4516222" y="1259129"/>
            <a:ext cx="0" cy="5120640"/>
          </a:xfrm>
          <a:prstGeom prst="line">
            <a:avLst/>
          </a:prstGeom>
          <a:ln w="12700">
            <a:solidFill>
              <a:srgbClr val="808080"/>
            </a:solidFill>
          </a:ln>
        </p:spPr>
      </p:cxnSp>
      <p:cxnSp>
        <p:nvCxnSpPr>
          <p:cNvPr id="314" name="SegmentDivider_OwnerOperator"/>
          <p:cNvCxnSpPr/>
          <p:nvPr/>
        </p:nvCxnSpPr>
        <p:spPr>
          <a:xfrm>
            <a:off x="7366406" y="1259129"/>
            <a:ext cx="0" cy="5120640"/>
          </a:xfrm>
          <a:prstGeom prst="line">
            <a:avLst/>
          </a:prstGeom>
          <a:ln w="12700">
            <a:solidFill>
              <a:srgbClr val="808080"/>
            </a:solidFill>
          </a:ln>
        </p:spPr>
      </p:cxnSp>
      <p:cxnSp>
        <p:nvCxnSpPr>
          <p:cNvPr id="315" name="SegmentDivider_CharterCompanies"/>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4955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1" name="YearTickLabel"/>
          <p:cNvSpPr txBox="1"/>
          <p:nvPr/>
        </p:nvSpPr>
        <p:spPr>
          <a:xfrm>
            <a:off x="57451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2" name="YearTickLabel"/>
          <p:cNvSpPr txBox="1"/>
          <p:nvPr/>
        </p:nvSpPr>
        <p:spPr>
          <a:xfrm>
            <a:off x="59948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3" name="YearTickLabel"/>
          <p:cNvSpPr txBox="1"/>
          <p:nvPr/>
        </p:nvSpPr>
        <p:spPr>
          <a:xfrm>
            <a:off x="62435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4" name="YearTickLabel"/>
          <p:cNvSpPr txBox="1"/>
          <p:nvPr/>
        </p:nvSpPr>
        <p:spPr>
          <a:xfrm>
            <a:off x="64931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5" name="YearTickLabel"/>
          <p:cNvSpPr txBox="1"/>
          <p:nvPr/>
        </p:nvSpPr>
        <p:spPr>
          <a:xfrm>
            <a:off x="674187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6" name="YearTickLabel"/>
          <p:cNvSpPr txBox="1"/>
          <p:nvPr/>
        </p:nvSpPr>
        <p:spPr>
          <a:xfrm>
            <a:off x="52468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7" name="ChartTitle"/>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BarTotal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BarTotal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BarTotal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BarTotal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BarTotal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BarTotal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BarTotal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BarTotal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BarTotal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OrderbookValueLabel"/>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OrderbookValueLabel"/>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tirementsLegendFrame"/>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egend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egend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egend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egend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egend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egend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egend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egend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BarTotalCallout"/>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tirementsLegendCaption"/>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baseline="30000" dirty="0">
                <a:solidFill>
                  <a:srgbClr val="000000"/>
                </a:solidFill>
                <a:latin typeface="Arial"/>
                <a:ea typeface="Arial"/>
                <a:cs typeface="Arial"/>
              </a:rPr>
              <a:t>1</a:t>
            </a:r>
          </a:p>
        </p:txBody>
      </p:sp>
      <p:sp>
        <p:nvSpPr>
          <p:cNvPr id="172" name="OrderbookLegendFrame"/>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OrderbookLegendCaption"/>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baseline="30000" dirty="0">
                <a:solidFill>
                  <a:srgbClr val="000000"/>
                </a:solidFill>
                <a:latin typeface="Arial"/>
                <a:ea typeface="Arial"/>
                <a:cs typeface="Arial"/>
              </a:rPr>
              <a:t>2</a:t>
            </a:r>
          </a:p>
        </p:txBody>
      </p:sp>
      <p:sp>
        <p:nvSpPr>
          <p:cNvPr id="174"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SourceNote"/>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HanwhaPurchaseCallout"/>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
        <p:nvSpPr>
          <p:cNvPr id="100"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PhaseCapacityRuleAnchor"/>
          <p:cNvCxnSpPr/>
          <p:nvPr/>
        </p:nvCxnSpPr>
        <p:spPr>
          <a:xfrm>
            <a:off x="833018" y="2803550"/>
            <a:ext cx="9829800" cy="0"/>
          </a:xfrm>
          <a:prstGeom prst="line">
            <a:avLst/>
          </a:prstGeom>
          <a:ln w="9525">
            <a:noFill/>
            <a:prstDash val="lgDash"/>
          </a:ln>
        </p:spPr>
      </p:cxnSp>
      <p:cxnSp>
        <p:nvCxnSpPr>
          <p:cNvPr id="109" name="PhaseCapacityRuleAnchor"/>
          <p:cNvCxnSpPr/>
          <p:nvPr/>
        </p:nvCxnSpPr>
        <p:spPr>
          <a:xfrm>
            <a:off x="833018" y="2003450"/>
            <a:ext cx="9829800" cy="0"/>
          </a:xfrm>
          <a:prstGeom prst="line">
            <a:avLst/>
          </a:prstGeom>
          <a:ln w="9525">
            <a:noFill/>
            <a:prstDash val="lgDash"/>
          </a:ln>
        </p:spPr>
      </p:cxnSp>
      <p:cxnSp>
        <p:nvCxnSpPr>
          <p:cNvPr id="110" name="PhaseCapacityRuleAnchor"/>
          <p:cNvCxnSpPr/>
          <p:nvPr/>
        </p:nvCxnSpPr>
        <p:spPr>
          <a:xfrm>
            <a:off x="833018" y="2506370"/>
            <a:ext cx="9829800" cy="0"/>
          </a:xfrm>
          <a:prstGeom prst="line">
            <a:avLst/>
          </a:prstGeom>
          <a:ln w="9525">
            <a:noFill/>
            <a:prstDash val="lgDash"/>
          </a:ln>
        </p:spPr>
      </p:cxnSp>
      <p:cxnSp>
        <p:nvCxnSpPr>
          <p:cNvPr id="111" name="PhaseCapacityRuleAnchor"/>
          <p:cNvCxnSpPr/>
          <p:nvPr/>
        </p:nvCxnSpPr>
        <p:spPr>
          <a:xfrm>
            <a:off x="833018" y="3396082"/>
            <a:ext cx="9829800" cy="0"/>
          </a:xfrm>
          <a:prstGeom prst="line">
            <a:avLst/>
          </a:prstGeom>
          <a:ln w="9525">
            <a:noFill/>
            <a:prstDash val="lgDash"/>
          </a:ln>
        </p:spPr>
      </p:cxnSp>
      <p:cxnSp>
        <p:nvCxnSpPr>
          <p:cNvPr id="112" name="PhaseCapacityRuleAnchor"/>
          <p:cNvCxnSpPr/>
          <p:nvPr/>
        </p:nvCxnSpPr>
        <p:spPr>
          <a:xfrm>
            <a:off x="833018" y="3989527"/>
            <a:ext cx="9829800" cy="0"/>
          </a:xfrm>
          <a:prstGeom prst="line">
            <a:avLst/>
          </a:prstGeom>
          <a:ln w="9525">
            <a:noFill/>
            <a:prstDash val="lgDash"/>
          </a:ln>
        </p:spPr>
      </p:cxnSp>
      <p:cxnSp>
        <p:nvCxnSpPr>
          <p:cNvPr id="113" name="PhaseCapacityRuleAnchor"/>
          <p:cNvCxnSpPr/>
          <p:nvPr/>
        </p:nvCxnSpPr>
        <p:spPr>
          <a:xfrm>
            <a:off x="833018" y="4270248"/>
            <a:ext cx="9829800" cy="0"/>
          </a:xfrm>
          <a:prstGeom prst="line">
            <a:avLst/>
          </a:prstGeom>
          <a:ln w="9525">
            <a:noFill/>
            <a:prstDash val="lgDash"/>
          </a:ln>
        </p:spPr>
      </p:cxnSp>
      <p:sp>
        <p:nvSpPr>
          <p:cNvPr id="114"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9"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ChartAxisTitle"/>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Referenc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Referenc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Referenc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Referenc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Referenc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cxnSp>
        <p:nvCxnSpPr>
          <p:cNvPr id="146" name="PhaseCapacityRule"/>
          <p:cNvCxnSpPr/>
          <p:nvPr/>
        </p:nvCxnSpPr>
        <p:spPr>
          <a:xfrm>
            <a:off x="834847" y="2495398"/>
            <a:ext cx="9966960" cy="7315"/>
          </a:xfrm>
          <a:prstGeom prst="line">
            <a:avLst/>
          </a:prstGeom>
          <a:ln w="9525">
            <a:solidFill>
              <a:srgbClr val="000000"/>
            </a:solidFill>
            <a:prstDash val="dash"/>
          </a:ln>
        </p:spPr>
      </p:cxnSp>
      <p:cxnSp>
        <p:nvCxnSpPr>
          <p:cNvPr id="147" name="PhaseCapacityRule"/>
          <p:cNvCxnSpPr/>
          <p:nvPr/>
        </p:nvCxnSpPr>
        <p:spPr>
          <a:xfrm>
            <a:off x="834847" y="1996135"/>
            <a:ext cx="9966960" cy="7315"/>
          </a:xfrm>
          <a:prstGeom prst="line">
            <a:avLst/>
          </a:prstGeom>
          <a:ln w="9525">
            <a:solidFill>
              <a:srgbClr val="000000"/>
            </a:solidFill>
            <a:prstDash val="dash"/>
          </a:ln>
        </p:spPr>
      </p:cxnSp>
      <p:sp>
        <p:nvSpPr>
          <p:cNvPr id="148"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2"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4" name="Legend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55" name="Legend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56" name="Legend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57" name="Legend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8" name="Legend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9" name="PhaseCapacityRule"/>
          <p:cNvCxnSpPr/>
          <p:nvPr/>
        </p:nvCxnSpPr>
        <p:spPr>
          <a:xfrm>
            <a:off x="834847" y="2790749"/>
            <a:ext cx="9966960" cy="7315"/>
          </a:xfrm>
          <a:prstGeom prst="line">
            <a:avLst/>
          </a:prstGeom>
          <a:ln w="9525">
            <a:solidFill>
              <a:srgbClr val="000000"/>
            </a:solidFill>
            <a:prstDash val="dash"/>
          </a:ln>
        </p:spPr>
      </p:cxnSp>
      <p:cxnSp>
        <p:nvCxnSpPr>
          <p:cNvPr id="160" name="PhaseCapacityRule"/>
          <p:cNvCxnSpPr/>
          <p:nvPr/>
        </p:nvCxnSpPr>
        <p:spPr>
          <a:xfrm>
            <a:off x="834847" y="3394253"/>
            <a:ext cx="9966960" cy="7315"/>
          </a:xfrm>
          <a:prstGeom prst="line">
            <a:avLst/>
          </a:prstGeom>
          <a:ln w="9525">
            <a:solidFill>
              <a:srgbClr val="000000"/>
            </a:solidFill>
            <a:prstDash val="dash"/>
          </a:ln>
        </p:spPr>
      </p:cxnSp>
      <p:cxnSp>
        <p:nvCxnSpPr>
          <p:cNvPr id="161" name="PhaseCapacityRule"/>
          <p:cNvCxnSpPr/>
          <p:nvPr/>
        </p:nvCxnSpPr>
        <p:spPr>
          <a:xfrm>
            <a:off x="834847" y="3976726"/>
            <a:ext cx="9966960" cy="7315"/>
          </a:xfrm>
          <a:prstGeom prst="line">
            <a:avLst/>
          </a:prstGeom>
          <a:ln w="9525">
            <a:solidFill>
              <a:srgbClr val="000000"/>
            </a:solidFill>
            <a:prstDash val="dash"/>
          </a:ln>
        </p:spPr>
      </p:cxnSp>
      <p:cxnSp>
        <p:nvCxnSpPr>
          <p:cNvPr id="162"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3"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4"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5"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6" name="PhaseCapacityRule"/>
          <p:cNvCxnSpPr/>
          <p:nvPr/>
        </p:nvCxnSpPr>
        <p:spPr>
          <a:xfrm>
            <a:off x="833018" y="4257446"/>
            <a:ext cx="9966960" cy="7315"/>
          </a:xfrm>
          <a:prstGeom prst="line">
            <a:avLst/>
          </a:prstGeom>
          <a:ln w="9525">
            <a:solidFill>
              <a:srgbClr val="000000"/>
            </a:solidFill>
            <a:prstDash val="dash"/>
          </a:ln>
        </p:spPr>
      </p:cxnSp>
      <p:sp>
        <p:nvSpPr>
          <p:cNvPr id="167"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ContingencyCallout"/>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Hotspot MAP">
            <a:hlinkClick r:id="rId3"/>
          </p:cNvPr>
          <p:cNvSpPr txBox="1"/>
          <p:nvPr/>
        </p:nvSpPr>
        <p:spPr>
          <a:xfrm>
            <a:off x="8229600" y="6044184"/>
            <a:ext cx="237744" cy="96012"/>
          </a:xfrm>
          <a:prstGeom prst="rect">
            <a:avLst/>
          </a:prstGeom>
          <a:noFill/>
          <a:ln>
            <a:noFill/>
          </a:ln>
        </p:spPr>
        <p:txBody>
          <a:bodyPr/>
          <a:lstStyle/>
          <a:p>
            <a:endParaRPr lang="en-US"/>
          </a:p>
        </p:txBody>
      </p:sp>
      <p:sp>
        <p:nvSpPr>
          <p:cNvPr id="178" name="SourceHotspot SHIPS Act">
            <a:hlinkClick r:id="rId4"/>
          </p:cNvPr>
          <p:cNvSpPr txBox="1"/>
          <p:nvPr/>
        </p:nvSpPr>
        <p:spPr>
          <a:xfrm>
            <a:off x="8458200" y="6044184"/>
            <a:ext cx="484632" cy="96012"/>
          </a:xfrm>
          <a:prstGeom prst="rect">
            <a:avLst/>
          </a:prstGeom>
          <a:noFill/>
          <a:ln>
            <a:noFill/>
          </a:ln>
        </p:spPr>
        <p:txBody>
          <a:bodyPr/>
          <a:lstStyle/>
          <a:p>
            <a:endParaRPr lang="en-US"/>
          </a:p>
        </p:txBody>
      </p:sp>
      <p:sp>
        <p:nvSpPr>
          <p:cNvPr id="179" name="SourceHotspot Building Ships in America">
            <a:hlinkClick r:id="rId5"/>
          </p:cNvPr>
          <p:cNvSpPr txBox="1"/>
          <p:nvPr/>
        </p:nvSpPr>
        <p:spPr>
          <a:xfrm>
            <a:off x="8933688" y="6044184"/>
            <a:ext cx="1078992" cy="96012"/>
          </a:xfrm>
          <a:prstGeom prst="rect">
            <a:avLst/>
          </a:prstGeom>
          <a:noFill/>
          <a:ln>
            <a:noFill/>
          </a:ln>
        </p:spPr>
        <p:txBody>
          <a:bodyPr/>
          <a:lstStyle/>
          <a:p>
            <a:endParaRPr lang="en-US"/>
          </a:p>
        </p:txBody>
      </p:sp>
      <p:sp>
        <p:nvSpPr>
          <p:cNvPr id="180" name="SourceHotspot MSP">
            <a:hlinkClick r:id="rId6"/>
          </p:cNvPr>
          <p:cNvSpPr txBox="1"/>
          <p:nvPr/>
        </p:nvSpPr>
        <p:spPr>
          <a:xfrm>
            <a:off x="9994392" y="6044184"/>
            <a:ext cx="713232" cy="96012"/>
          </a:xfrm>
          <a:prstGeom prst="rect">
            <a:avLst/>
          </a:prstGeom>
          <a:noFill/>
          <a:ln>
            <a:noFill/>
          </a:ln>
        </p:spPr>
        <p:txBody>
          <a:bodyPr/>
          <a:lstStyle/>
          <a:p>
            <a:endParaRPr lang="en-US"/>
          </a:p>
        </p:txBody>
      </p:sp>
      <p:sp>
        <p:nvSpPr>
          <p:cNvPr id="181" name="SourceHotspot TSP">
            <a:hlinkClick r:id="rId7"/>
          </p:cNvPr>
          <p:cNvSpPr txBox="1"/>
          <p:nvPr/>
        </p:nvSpPr>
        <p:spPr>
          <a:xfrm>
            <a:off x="457200" y="6158484"/>
            <a:ext cx="1024128" cy="96012"/>
          </a:xfrm>
          <a:prstGeom prst="rect">
            <a:avLst/>
          </a:prstGeom>
          <a:noFill/>
          <a:ln>
            <a:noFill/>
          </a:ln>
        </p:spPr>
        <p:txBody>
          <a:bodyPr/>
          <a:lstStyle/>
          <a:p>
            <a:endParaRPr lang="en-US"/>
          </a:p>
        </p:txBody>
      </p:sp>
      <p:sp>
        <p:nvSpPr>
          <p:cNvPr id="182" name="SourceHotspot MARAD MSP TSP">
            <a:hlinkClick r:id="rId8"/>
          </p:cNvPr>
          <p:cNvSpPr txBox="1"/>
          <p:nvPr/>
        </p:nvSpPr>
        <p:spPr>
          <a:xfrm>
            <a:off x="1472184" y="6158484"/>
            <a:ext cx="1316736" cy="96012"/>
          </a:xfrm>
          <a:prstGeom prst="rect">
            <a:avLst/>
          </a:prstGeom>
          <a:noFill/>
          <a:ln>
            <a:noFill/>
          </a:ln>
        </p:spPr>
        <p:txBody>
          <a:bodyPr/>
          <a:lstStyle/>
          <a:p>
            <a:endParaRPr lang="en-US"/>
          </a:p>
        </p:txBody>
      </p:sp>
      <p:sp>
        <p:nvSpPr>
          <p:cNvPr id="183" name="SourceHotspot MARAD characteristics">
            <a:hlinkClick r:id="rId9"/>
          </p:cNvPr>
          <p:cNvSpPr txBox="1"/>
          <p:nvPr/>
        </p:nvSpPr>
        <p:spPr>
          <a:xfrm>
            <a:off x="2779776" y="6158484"/>
            <a:ext cx="1252728" cy="96012"/>
          </a:xfrm>
          <a:prstGeom prst="rect">
            <a:avLst/>
          </a:prstGeom>
          <a:noFill/>
          <a:ln>
            <a:noFill/>
          </a:ln>
        </p:spPr>
        <p:txBody>
          <a:bodyPr/>
          <a:lstStyle/>
          <a:p>
            <a:endParaRPr lang="en-US"/>
          </a:p>
        </p:txBody>
      </p:sp>
      <p:sp>
        <p:nvSpPr>
          <p:cNvPr id="184" name="SourceHotspot MARAD opex">
            <a:hlinkClick r:id="rId10"/>
          </p:cNvPr>
          <p:cNvSpPr txBox="1"/>
          <p:nvPr/>
        </p:nvSpPr>
        <p:spPr>
          <a:xfrm>
            <a:off x="4023360" y="6158484"/>
            <a:ext cx="1691640" cy="96012"/>
          </a:xfrm>
          <a:prstGeom prst="rect">
            <a:avLst/>
          </a:prstGeom>
          <a:noFill/>
          <a:ln>
            <a:noFill/>
          </a:ln>
        </p:spPr>
        <p:txBody>
          <a:bodyPr/>
          <a:lstStyle/>
          <a:p>
            <a:endParaRPr lang="en-US"/>
          </a:p>
        </p:txBody>
      </p:sp>
      <p:sp>
        <p:nvSpPr>
          <p:cNvPr id="185" name="SourceHotspot GAO Maritime">
            <a:hlinkClick r:id="rId11"/>
          </p:cNvPr>
          <p:cNvSpPr txBox="1"/>
          <p:nvPr/>
        </p:nvSpPr>
        <p:spPr>
          <a:xfrm>
            <a:off x="5705856" y="6158484"/>
            <a:ext cx="1591056" cy="96012"/>
          </a:xfrm>
          <a:prstGeom prst="rect">
            <a:avLst/>
          </a:prstGeom>
          <a:noFill/>
          <a:ln>
            <a:noFill/>
          </a:ln>
        </p:spPr>
        <p:txBody>
          <a:bodyPr/>
          <a:lstStyle/>
          <a:p>
            <a:endParaRPr lang="en-US"/>
          </a:p>
        </p:txBody>
      </p:sp>
      <p:sp>
        <p:nvSpPr>
          <p:cNvPr id="186" name="SourceHotspot FRED">
            <a:hlinkClick r:id="rId12"/>
          </p:cNvPr>
          <p:cNvSpPr txBox="1"/>
          <p:nvPr/>
        </p:nvSpPr>
        <p:spPr>
          <a:xfrm>
            <a:off x="7287768" y="6158484"/>
            <a:ext cx="1097280" cy="96012"/>
          </a:xfrm>
          <a:prstGeom prst="rect">
            <a:avLst/>
          </a:prstGeom>
          <a:noFill/>
          <a:ln>
            <a:noFill/>
          </a:ln>
        </p:spPr>
        <p:txBody>
          <a:bodyPr/>
          <a:lstStyle/>
          <a:p>
            <a:endParaRPr lang="en-US"/>
          </a:p>
        </p:txBody>
      </p:sp>
      <p:sp>
        <p:nvSpPr>
          <p:cNvPr id="187" name="SourceHotspot EIA AEO">
            <a:hlinkClick r:id="rId13"/>
          </p:cNvPr>
          <p:cNvSpPr txBox="1"/>
          <p:nvPr/>
        </p:nvSpPr>
        <p:spPr>
          <a:xfrm>
            <a:off x="8385048" y="6158484"/>
            <a:ext cx="1581912" cy="96012"/>
          </a:xfrm>
          <a:prstGeom prst="rect">
            <a:avLst/>
          </a:prstGeom>
          <a:noFill/>
          <a:ln>
            <a:noFill/>
          </a:ln>
        </p:spPr>
        <p:txBody>
          <a:bodyPr/>
          <a:lstStyle/>
          <a:p>
            <a:endParaRPr lang="en-US"/>
          </a:p>
        </p:txBody>
      </p:sp>
      <p:sp>
        <p:nvSpPr>
          <p:cNvPr id="188" name="SourceHotspot BP conversions">
            <a:hlinkClick r:id="rId14"/>
          </p:cNvPr>
          <p:cNvSpPr txBox="1"/>
          <p:nvPr/>
        </p:nvSpPr>
        <p:spPr>
          <a:xfrm>
            <a:off x="9948672" y="6158484"/>
            <a:ext cx="621792" cy="96012"/>
          </a:xfrm>
          <a:prstGeom prst="rect">
            <a:avLst/>
          </a:prstGeom>
          <a:noFill/>
          <a:ln>
            <a:noFill/>
          </a:ln>
        </p:spPr>
        <p:txBody>
          <a:bodyPr/>
          <a:lstStyle/>
          <a:p>
            <a:endParaRPr lang="en-US"/>
          </a:p>
        </p:txBody>
      </p:sp>
      <p:sp>
        <p:nvSpPr>
          <p:cNvPr id="189" name="SourceHotspot USTR 301">
            <a:hlinkClick r:id="rId15"/>
          </p:cNvPr>
          <p:cNvSpPr txBox="1"/>
          <p:nvPr/>
        </p:nvSpPr>
        <p:spPr>
          <a:xfrm>
            <a:off x="10561320" y="6158484"/>
            <a:ext cx="1005840" cy="96012"/>
          </a:xfrm>
          <a:prstGeom prst="rect">
            <a:avLst/>
          </a:prstGeom>
          <a:noFill/>
          <a:ln>
            <a:noFill/>
          </a:ln>
        </p:spPr>
        <p:txBody>
          <a:bodyPr/>
          <a:lstStyle/>
          <a:p>
            <a:endParaRPr lang="en-US"/>
          </a:p>
        </p:txBody>
      </p:sp>
      <p:sp>
        <p:nvSpPr>
          <p:cNvPr id="190" name="SourceHotspot USTR modifications">
            <a:hlinkClick r:id="rId16"/>
          </p:cNvPr>
          <p:cNvSpPr txBox="1"/>
          <p:nvPr/>
        </p:nvSpPr>
        <p:spPr>
          <a:xfrm>
            <a:off x="457200" y="6272784"/>
            <a:ext cx="1618488" cy="96012"/>
          </a:xfrm>
          <a:prstGeom prst="rect">
            <a:avLst/>
          </a:prstGeom>
          <a:noFill/>
          <a:ln>
            <a:noFill/>
          </a:ln>
        </p:spPr>
        <p:txBody>
          <a:bodyPr/>
          <a:lstStyle/>
          <a:p>
            <a:endParaRPr lang="en-US"/>
          </a:p>
        </p:txBody>
      </p:sp>
      <p:sp>
        <p:nvSpPr>
          <p:cNvPr id="191" name="SourceHotspot GAO volume">
            <a:hlinkClick r:id="rId17"/>
          </p:cNvPr>
          <p:cNvSpPr txBox="1"/>
          <p:nvPr/>
        </p:nvSpPr>
        <p:spPr>
          <a:xfrm>
            <a:off x="2066544" y="6272784"/>
            <a:ext cx="1051560" cy="96012"/>
          </a:xfrm>
          <a:prstGeom prst="rect">
            <a:avLst/>
          </a:prstGeom>
          <a:noFill/>
          <a:ln>
            <a:noFill/>
          </a:ln>
        </p:spPr>
        <p:txBody>
          <a:bodyPr/>
          <a:lstStyle/>
          <a:p>
            <a:endParaRPr lang="en-US"/>
          </a:p>
        </p:txBody>
      </p:sp>
      <p:sp>
        <p:nvSpPr>
          <p:cNvPr id="192" name="SourceHotspot IMF">
            <a:hlinkClick r:id="rId18"/>
          </p:cNvPr>
          <p:cNvSpPr txBox="1"/>
          <p:nvPr/>
        </p:nvSpPr>
        <p:spPr>
          <a:xfrm>
            <a:off x="3108960" y="6272784"/>
            <a:ext cx="960120" cy="96012"/>
          </a:xfrm>
          <a:prstGeom prst="rect">
            <a:avLst/>
          </a:prstGeom>
          <a:no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PhaseCapacityRuleAnchor"/>
          <p:cNvCxnSpPr/>
          <p:nvPr/>
        </p:nvCxnSpPr>
        <p:spPr>
          <a:xfrm>
            <a:off x="833018" y="2803550"/>
            <a:ext cx="9829800" cy="0"/>
          </a:xfrm>
          <a:prstGeom prst="line">
            <a:avLst/>
          </a:prstGeom>
          <a:ln w="9525">
            <a:noFill/>
            <a:prstDash val="lgDash"/>
          </a:ln>
        </p:spPr>
      </p:cxnSp>
      <p:cxnSp>
        <p:nvCxnSpPr>
          <p:cNvPr id="108" name="PhaseCapacityRuleAnchor"/>
          <p:cNvCxnSpPr/>
          <p:nvPr/>
        </p:nvCxnSpPr>
        <p:spPr>
          <a:xfrm>
            <a:off x="833018" y="2003450"/>
            <a:ext cx="9829800" cy="0"/>
          </a:xfrm>
          <a:prstGeom prst="line">
            <a:avLst/>
          </a:prstGeom>
          <a:ln w="9525">
            <a:noFill/>
            <a:prstDash val="lgDash"/>
          </a:ln>
        </p:spPr>
      </p:cxnSp>
      <p:cxnSp>
        <p:nvCxnSpPr>
          <p:cNvPr id="109" name="PhaseCapacityRuleAnchor"/>
          <p:cNvCxnSpPr/>
          <p:nvPr/>
        </p:nvCxnSpPr>
        <p:spPr>
          <a:xfrm>
            <a:off x="833018" y="2506370"/>
            <a:ext cx="9829800" cy="0"/>
          </a:xfrm>
          <a:prstGeom prst="line">
            <a:avLst/>
          </a:prstGeom>
          <a:ln w="9525">
            <a:noFill/>
            <a:prstDash val="lgDash"/>
          </a:ln>
        </p:spPr>
      </p:cxnSp>
      <p:cxnSp>
        <p:nvCxnSpPr>
          <p:cNvPr id="110" name="PhaseCapacityRuleAnchor"/>
          <p:cNvCxnSpPr/>
          <p:nvPr/>
        </p:nvCxnSpPr>
        <p:spPr>
          <a:xfrm>
            <a:off x="833018" y="3396082"/>
            <a:ext cx="9829800" cy="0"/>
          </a:xfrm>
          <a:prstGeom prst="line">
            <a:avLst/>
          </a:prstGeom>
          <a:ln w="9525">
            <a:noFill/>
            <a:prstDash val="lgDash"/>
          </a:ln>
        </p:spPr>
      </p:cxnSp>
      <p:cxnSp>
        <p:nvCxnSpPr>
          <p:cNvPr id="111" name="PhaseCapacityRuleAnchor"/>
          <p:cNvCxnSpPr/>
          <p:nvPr/>
        </p:nvCxnSpPr>
        <p:spPr>
          <a:xfrm>
            <a:off x="833018" y="3989527"/>
            <a:ext cx="9829800" cy="0"/>
          </a:xfrm>
          <a:prstGeom prst="line">
            <a:avLst/>
          </a:prstGeom>
          <a:ln w="9525">
            <a:noFill/>
            <a:prstDash val="lgDash"/>
          </a:ln>
        </p:spPr>
      </p:cxnSp>
      <p:cxnSp>
        <p:nvCxnSpPr>
          <p:cNvPr id="112" name="PhaseCapacityRuleAnchor"/>
          <p:cNvCxnSpPr/>
          <p:nvPr/>
        </p:nvCxnSpPr>
        <p:spPr>
          <a:xfrm>
            <a:off x="833018" y="4270248"/>
            <a:ext cx="9829800" cy="0"/>
          </a:xfrm>
          <a:prstGeom prst="line">
            <a:avLst/>
          </a:prstGeom>
          <a:ln w="9525">
            <a:noFill/>
            <a:prstDash val="lgDash"/>
          </a:ln>
        </p:spPr>
      </p:cxnSp>
      <p:sp>
        <p:nvSpPr>
          <p:cNvPr id="113"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8"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ChartAxisTitle"/>
          <p:cNvSpPr txBox="1"/>
          <p:nvPr/>
        </p:nvSpPr>
        <p:spPr>
          <a:xfrm>
            <a:off x="495605" y="1376172"/>
            <a:ext cx="3974897" cy="152705"/>
          </a:xfrm>
          <a:prstGeom prst="rect">
            <a:avLst/>
          </a:prstGeom>
          <a:noFill/>
          <a:ln>
            <a:noFill/>
          </a:ln>
        </p:spPr>
        <p:txBody>
          <a:bodyPr wrap="none" anchor="b" lIns="0" tIns="0" rIns="0" bIns="0" vert="horz"/>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ReferenceLabel"/>
          <p:cNvSpPr txBox="1"/>
          <p:nvPr/>
        </p:nvSpPr>
        <p:spPr>
          <a:xfrm>
            <a:off x="10893247" y="243047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ReferenceLabel"/>
          <p:cNvSpPr txBox="1"/>
          <p:nvPr/>
        </p:nvSpPr>
        <p:spPr>
          <a:xfrm>
            <a:off x="10893247" y="272765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ReferenceLabel"/>
          <p:cNvSpPr txBox="1"/>
          <p:nvPr/>
        </p:nvSpPr>
        <p:spPr>
          <a:xfrm>
            <a:off x="10893247" y="331927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3 (65/yr.)</a:t>
            </a:r>
          </a:p>
        </p:txBody>
      </p:sp>
      <p:sp>
        <p:nvSpPr>
          <p:cNvPr id="143" name="ReferenceLabel"/>
          <p:cNvSpPr txBox="1"/>
          <p:nvPr/>
        </p:nvSpPr>
        <p:spPr>
          <a:xfrm>
            <a:off x="10893247" y="391363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2 (25/yr.)</a:t>
            </a:r>
          </a:p>
        </p:txBody>
      </p:sp>
      <p:sp>
        <p:nvSpPr>
          <p:cNvPr id="144" name="ReferenceLabel"/>
          <p:cNvSpPr txBox="1"/>
          <p:nvPr/>
        </p:nvSpPr>
        <p:spPr>
          <a:xfrm>
            <a:off x="10893247" y="4194353"/>
            <a:ext cx="103144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1 (6/yr.)</a:t>
            </a:r>
          </a:p>
        </p:txBody>
      </p:sp>
      <p:cxnSp>
        <p:nvCxnSpPr>
          <p:cNvPr id="145" name="PhaseCapacityRule"/>
          <p:cNvCxnSpPr/>
          <p:nvPr/>
        </p:nvCxnSpPr>
        <p:spPr>
          <a:xfrm>
            <a:off x="834847" y="2495398"/>
            <a:ext cx="9966960" cy="7315"/>
          </a:xfrm>
          <a:prstGeom prst="line">
            <a:avLst/>
          </a:prstGeom>
          <a:ln w="9525">
            <a:solidFill>
              <a:srgbClr val="000000"/>
            </a:solidFill>
            <a:prstDash val="dash"/>
          </a:ln>
        </p:spPr>
      </p:cxnSp>
      <p:cxnSp>
        <p:nvCxnSpPr>
          <p:cNvPr id="146" name="PhaseCapacityRule"/>
          <p:cNvCxnSpPr/>
          <p:nvPr/>
        </p:nvCxnSpPr>
        <p:spPr>
          <a:xfrm>
            <a:off x="834847" y="1996135"/>
            <a:ext cx="9966960" cy="7315"/>
          </a:xfrm>
          <a:prstGeom prst="line">
            <a:avLst/>
          </a:prstGeom>
          <a:ln w="9525">
            <a:solidFill>
              <a:srgbClr val="000000"/>
            </a:solidFill>
            <a:prstDash val="dash"/>
          </a:ln>
        </p:spPr>
      </p:cxnSp>
      <p:sp>
        <p:nvSpPr>
          <p:cNvPr id="147"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2"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3"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4"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55"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56"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7"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8"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9" name="LegendLabel"/>
          <p:cNvSpPr txBox="1"/>
          <p:nvPr/>
        </p:nvSpPr>
        <p:spPr>
          <a:xfrm>
            <a:off x="1227125" y="1757477"/>
            <a:ext cx="111739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Excess US capacity</a:t>
            </a:r>
          </a:p>
        </p:txBody>
      </p:sp>
      <p:sp>
        <p:nvSpPr>
          <p:cNvPr id="160" name="LegendLabel"/>
          <p:cNvSpPr txBox="1"/>
          <p:nvPr/>
        </p:nvSpPr>
        <p:spPr>
          <a:xfrm>
            <a:off x="1227125" y="1960474"/>
            <a:ext cx="227502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61" name="LegendLabel"/>
          <p:cNvSpPr txBox="1"/>
          <p:nvPr/>
        </p:nvSpPr>
        <p:spPr>
          <a:xfrm>
            <a:off x="1227125" y="2163470"/>
            <a:ext cx="1500530"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62" name="LegendLabel"/>
          <p:cNvSpPr txBox="1"/>
          <p:nvPr/>
        </p:nvSpPr>
        <p:spPr>
          <a:xfrm>
            <a:off x="1227125" y="2367382"/>
            <a:ext cx="1412748"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63" name="LegendLabel"/>
          <p:cNvSpPr txBox="1"/>
          <p:nvPr/>
        </p:nvSpPr>
        <p:spPr>
          <a:xfrm>
            <a:off x="1227125" y="2570378"/>
            <a:ext cx="59710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Orderbook</a:t>
            </a:r>
          </a:p>
        </p:txBody>
      </p:sp>
      <p:sp>
        <p:nvSpPr>
          <p:cNvPr id="164" name="ScenarioChip"/>
          <p:cNvSpPr txBox="1"/>
          <p:nvPr/>
        </p:nvSpPr>
        <p:spPr>
          <a:xfrm>
            <a:off x="7378294" y="158191"/>
            <a:ext cx="2722169" cy="199339"/>
          </a:xfrm>
          <a:prstGeom prst="rect">
            <a:avLst/>
          </a:prstGeom>
          <a:solidFill>
            <a:srgbClr val="0E1924"/>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(3) SHIPS Act “Plus” Scenario</a:t>
            </a:r>
          </a:p>
        </p:txBody>
      </p:sp>
      <p:cxnSp>
        <p:nvCxnSpPr>
          <p:cNvPr id="165" name="PhaseCapacityRule"/>
          <p:cNvCxnSpPr/>
          <p:nvPr/>
        </p:nvCxnSpPr>
        <p:spPr>
          <a:xfrm>
            <a:off x="834847" y="2790749"/>
            <a:ext cx="9966960" cy="7315"/>
          </a:xfrm>
          <a:prstGeom prst="line">
            <a:avLst/>
          </a:prstGeom>
          <a:ln w="9525">
            <a:solidFill>
              <a:srgbClr val="000000"/>
            </a:solidFill>
            <a:prstDash val="dash"/>
          </a:ln>
        </p:spPr>
      </p:cxnSp>
      <p:cxnSp>
        <p:nvCxnSpPr>
          <p:cNvPr id="166" name="PhaseCapacityRule"/>
          <p:cNvCxnSpPr/>
          <p:nvPr/>
        </p:nvCxnSpPr>
        <p:spPr>
          <a:xfrm>
            <a:off x="834847" y="3394253"/>
            <a:ext cx="9966960" cy="7315"/>
          </a:xfrm>
          <a:prstGeom prst="line">
            <a:avLst/>
          </a:prstGeom>
          <a:ln w="9525">
            <a:solidFill>
              <a:srgbClr val="000000"/>
            </a:solidFill>
            <a:prstDash val="dash"/>
          </a:ln>
        </p:spPr>
      </p:cxnSp>
      <p:cxnSp>
        <p:nvCxnSpPr>
          <p:cNvPr id="167" name="PhaseCapacityRule"/>
          <p:cNvCxnSpPr/>
          <p:nvPr/>
        </p:nvCxnSpPr>
        <p:spPr>
          <a:xfrm>
            <a:off x="833018" y="3977640"/>
            <a:ext cx="9966960" cy="7315"/>
          </a:xfrm>
          <a:prstGeom prst="line">
            <a:avLst/>
          </a:prstGeom>
          <a:ln w="9525">
            <a:solidFill>
              <a:srgbClr val="000000"/>
            </a:solidFill>
            <a:prstDash val="dash"/>
          </a:ln>
        </p:spPr>
      </p:cxnSp>
      <p:cxnSp>
        <p:nvCxnSpPr>
          <p:cNvPr id="168"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9"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70"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1"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2" name="PhaseCapacityRule"/>
          <p:cNvCxnSpPr/>
          <p:nvPr/>
        </p:nvCxnSpPr>
        <p:spPr>
          <a:xfrm>
            <a:off x="833018" y="4254703"/>
            <a:ext cx="9966960" cy="7315"/>
          </a:xfrm>
          <a:prstGeom prst="line">
            <a:avLst/>
          </a:prstGeom>
          <a:ln w="9525">
            <a:solidFill>
              <a:srgbClr val="000000"/>
            </a:solidFill>
            <a:prstDash val="dash"/>
          </a:ln>
        </p:spPr>
      </p:cxnSp>
      <p:sp>
        <p:nvSpPr>
          <p:cNvPr id="173" name="ContingencyCallout"/>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pPr>
              <a:lnSpc>
                <a:spcPct val="100000"/>
              </a:lnSpc>
              <a:buNone/>
            </a:pPr>
            <a:r>
              <a:rPr lang="en-US" sz="800" u="none"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Link:MAP">
            <a:hlinkClick r:id="rId3"/>
          </p:cNvPr>
          <p:cNvSpPr txBox="1"/>
          <p:nvPr/>
        </p:nvSpPr>
        <p:spPr>
          <a:xfrm>
            <a:off x="7872984" y="5925312"/>
            <a:ext cx="228600" cy="109728"/>
          </a:xfrm>
          <a:prstGeom prst="rect">
            <a:avLst/>
          </a:prstGeom>
          <a:solidFill>
            <a:srgbClr val="FFFFFF">
              <a:alpha val="0"/>
            </a:srgbClr>
          </a:solidFill>
          <a:ln>
            <a:noFill/>
          </a:ln>
        </p:spPr>
        <p:txBody>
          <a:bodyPr wrap="none" anchor="ctr" lIns="0" tIns="0" rIns="0" bIns="0"/>
          <a:lstStyle/>
          <a:p>
            <a:endParaRPr lang="en-US" sz="100"/>
          </a:p>
        </p:txBody>
      </p:sp>
      <p:sp>
        <p:nvSpPr>
          <p:cNvPr id="178" name="SourceLink:SHIPS Act">
            <a:hlinkClick r:id="rId4"/>
          </p:cNvPr>
          <p:cNvSpPr txBox="1"/>
          <p:nvPr/>
        </p:nvSpPr>
        <p:spPr>
          <a:xfrm>
            <a:off x="8110728" y="5925312"/>
            <a:ext cx="502920" cy="109728"/>
          </a:xfrm>
          <a:prstGeom prst="rect">
            <a:avLst/>
          </a:prstGeom>
          <a:solidFill>
            <a:srgbClr val="FFFFFF">
              <a:alpha val="0"/>
            </a:srgbClr>
          </a:solidFill>
          <a:ln>
            <a:noFill/>
          </a:ln>
        </p:spPr>
        <p:txBody>
          <a:bodyPr wrap="none" anchor="ctr" lIns="0" tIns="0" rIns="0" bIns="0"/>
          <a:lstStyle/>
          <a:p>
            <a:endParaRPr lang="en-US" sz="100"/>
          </a:p>
        </p:txBody>
      </p:sp>
      <p:sp>
        <p:nvSpPr>
          <p:cNvPr id="179" name="SourceLink:Building Ships in America">
            <a:hlinkClick r:id="rId5"/>
          </p:cNvPr>
          <p:cNvSpPr txBox="1"/>
          <p:nvPr/>
        </p:nvSpPr>
        <p:spPr>
          <a:xfrm>
            <a:off x="8622792" y="5925312"/>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0" name="SourceLink:46 USC 53106 (MSP subsidy)">
            <a:hlinkClick r:id="rId6"/>
          </p:cNvPr>
          <p:cNvSpPr txBox="1"/>
          <p:nvPr/>
        </p:nvSpPr>
        <p:spPr>
          <a:xfrm>
            <a:off x="9692640"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1" name="SourceLink:46 USC 53406 (TSP subsidy)">
            <a:hlinkClick r:id="rId7"/>
          </p:cNvPr>
          <p:cNvSpPr txBox="1"/>
          <p:nvPr/>
        </p:nvSpPr>
        <p:spPr>
          <a:xfrm>
            <a:off x="10552176"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2" name="SourceLink:MARAD (MSP / TSP participation)">
            <a:hlinkClick r:id="rId8"/>
          </p:cNvPr>
          <p:cNvSpPr txBox="1"/>
          <p:nvPr/>
        </p:nvSpPr>
        <p:spPr>
          <a:xfrm>
            <a:off x="457200" y="6053328"/>
            <a:ext cx="1143000" cy="109728"/>
          </a:xfrm>
          <a:prstGeom prst="rect">
            <a:avLst/>
          </a:prstGeom>
          <a:solidFill>
            <a:srgbClr val="FFFFFF">
              <a:alpha val="0"/>
            </a:srgbClr>
          </a:solidFill>
          <a:ln>
            <a:noFill/>
          </a:ln>
        </p:spPr>
        <p:txBody>
          <a:bodyPr wrap="none" anchor="ctr" lIns="0" tIns="0" rIns="0" bIns="0"/>
          <a:lstStyle/>
          <a:p>
            <a:endParaRPr lang="en-US" sz="100"/>
          </a:p>
        </p:txBody>
      </p:sp>
      <p:sp>
        <p:nvSpPr>
          <p:cNvPr id="183" name="SourceLink:MARAD (vessel characteristics)">
            <a:hlinkClick r:id="rId9"/>
          </p:cNvPr>
          <p:cNvSpPr txBox="1"/>
          <p:nvPr/>
        </p:nvSpPr>
        <p:spPr>
          <a:xfrm>
            <a:off x="1618488" y="6053328"/>
            <a:ext cx="1417320" cy="109728"/>
          </a:xfrm>
          <a:prstGeom prst="rect">
            <a:avLst/>
          </a:prstGeom>
          <a:solidFill>
            <a:srgbClr val="FFFFFF">
              <a:alpha val="0"/>
            </a:srgbClr>
          </a:solidFill>
          <a:ln>
            <a:noFill/>
          </a:ln>
        </p:spPr>
        <p:txBody>
          <a:bodyPr wrap="none" anchor="ctr" lIns="0" tIns="0" rIns="0" bIns="0"/>
          <a:lstStyle/>
          <a:p>
            <a:endParaRPr lang="en-US" sz="100"/>
          </a:p>
        </p:txBody>
      </p:sp>
      <p:sp>
        <p:nvSpPr>
          <p:cNvPr id="184" name="SourceLink:MARAD (US vs. foreign-flag operating costs)">
            <a:hlinkClick r:id="rId10"/>
          </p:cNvPr>
          <p:cNvSpPr txBox="1"/>
          <p:nvPr/>
        </p:nvSpPr>
        <p:spPr>
          <a:xfrm>
            <a:off x="3054096" y="6053328"/>
            <a:ext cx="1600200" cy="109728"/>
          </a:xfrm>
          <a:prstGeom prst="rect">
            <a:avLst/>
          </a:prstGeom>
          <a:solidFill>
            <a:srgbClr val="FFFFFF">
              <a:alpha val="0"/>
            </a:srgbClr>
          </a:solidFill>
          <a:ln>
            <a:noFill/>
          </a:ln>
        </p:spPr>
        <p:txBody>
          <a:bodyPr wrap="none" anchor="ctr" lIns="0" tIns="0" rIns="0" bIns="0"/>
          <a:lstStyle/>
          <a:p>
            <a:endParaRPr lang="en-US" sz="100"/>
          </a:p>
        </p:txBody>
      </p:sp>
      <p:sp>
        <p:nvSpPr>
          <p:cNvPr id="185" name="SourceLink:GAO report on Maritime Security">
            <a:hlinkClick r:id="rId11"/>
          </p:cNvPr>
          <p:cNvSpPr txBox="1"/>
          <p:nvPr/>
        </p:nvSpPr>
        <p:spPr>
          <a:xfrm>
            <a:off x="467258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6" name="SourceLink:FRED (PPI, BE Inflation)">
            <a:hlinkClick r:id="rId12"/>
          </p:cNvPr>
          <p:cNvSpPr txBox="1"/>
          <p:nvPr/>
        </p:nvSpPr>
        <p:spPr>
          <a:xfrm>
            <a:off x="6016752"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7" name="SourceLink:EIA AEO (Crude &amp; LNG exports)">
            <a:hlinkClick r:id="rId13"/>
          </p:cNvPr>
          <p:cNvSpPr txBox="1"/>
          <p:nvPr/>
        </p:nvSpPr>
        <p:spPr>
          <a:xfrm>
            <a:off x="7086600"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8" name="SourceLink:BP (conversions)">
            <a:hlinkClick r:id="rId14"/>
          </p:cNvPr>
          <p:cNvSpPr txBox="1"/>
          <p:nvPr/>
        </p:nvSpPr>
        <p:spPr>
          <a:xfrm>
            <a:off x="8430768" y="6053328"/>
            <a:ext cx="731520" cy="109728"/>
          </a:xfrm>
          <a:prstGeom prst="rect">
            <a:avLst/>
          </a:prstGeom>
          <a:solidFill>
            <a:srgbClr val="FFFFFF">
              <a:alpha val="0"/>
            </a:srgbClr>
          </a:solidFill>
          <a:ln>
            <a:noFill/>
          </a:ln>
        </p:spPr>
        <p:txBody>
          <a:bodyPr wrap="none" anchor="ctr" lIns="0" tIns="0" rIns="0" bIns="0"/>
          <a:lstStyle/>
          <a:p>
            <a:endParaRPr lang="en-US" sz="100"/>
          </a:p>
        </p:txBody>
      </p:sp>
      <p:sp>
        <p:nvSpPr>
          <p:cNvPr id="189" name="SourceLink:USTR (Section 301 Actions)">
            <a:hlinkClick r:id="rId15"/>
          </p:cNvPr>
          <p:cNvSpPr txBox="1"/>
          <p:nvPr/>
        </p:nvSpPr>
        <p:spPr>
          <a:xfrm>
            <a:off x="9180576"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90" name="SourceLink:USTR (Section 301 Action modifications)">
            <a:hlinkClick r:id="rId16"/>
          </p:cNvPr>
          <p:cNvSpPr txBox="1"/>
          <p:nvPr/>
        </p:nvSpPr>
        <p:spPr>
          <a:xfrm>
            <a:off x="1025042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91" name="SourceLink:GAO (USG/USDA volume)">
            <a:hlinkClick r:id="rId17"/>
          </p:cNvPr>
          <p:cNvSpPr txBox="1"/>
          <p:nvPr/>
        </p:nvSpPr>
        <p:spPr>
          <a:xfrm>
            <a:off x="457200" y="6181344"/>
            <a:ext cx="1097280" cy="109728"/>
          </a:xfrm>
          <a:prstGeom prst="rect">
            <a:avLst/>
          </a:prstGeom>
          <a:solidFill>
            <a:srgbClr val="FFFFFF">
              <a:alpha val="0"/>
            </a:srgbClr>
          </a:solidFill>
          <a:ln>
            <a:noFill/>
          </a:ln>
        </p:spPr>
        <p:txBody>
          <a:bodyPr wrap="none" anchor="ctr" lIns="0" tIns="0" rIns="0" bIns="0"/>
          <a:lstStyle/>
          <a:p>
            <a:endParaRPr lang="en-US" sz="100"/>
          </a:p>
        </p:txBody>
      </p:sp>
      <p:sp>
        <p:nvSpPr>
          <p:cNvPr id="192" name="SourceLink:IMF (Import forecast)">
            <a:hlinkClick r:id="rId18"/>
          </p:cNvPr>
          <p:cNvSpPr txBox="1"/>
          <p:nvPr/>
        </p:nvSpPr>
        <p:spPr>
          <a:xfrm>
            <a:off x="1572768" y="6181344"/>
            <a:ext cx="960120" cy="109728"/>
          </a:xfrm>
          <a:prstGeom prst="rect">
            <a:avLst/>
          </a:prstGeom>
          <a:solidFill>
            <a:srgbClr val="FFFFFF">
              <a:alpha val="0"/>
            </a:srgbClr>
          </a:solidFill>
          <a:ln>
            <a:noFill/>
          </a:ln>
        </p:spPr>
        <p:txBody>
          <a:bodyPr wrap="none" anchor="ctr" lIns="0" tIns="0" rIns="0" bIns="0"/>
          <a:lstStyle/>
          <a:p>
            <a:endParaRPr lang="en-US" sz="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hlinkClick r:id="rId3"/>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6"/>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7"/>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egmentLabelLeader"/>
          <p:cNvCxnSpPr/>
          <p:nvPr/>
        </p:nvCxnSpPr>
        <p:spPr>
          <a:xfrm flipH="1" flipV="1">
            <a:off x="2376526" y="2079346"/>
            <a:ext cx="92354" cy="63094"/>
          </a:xfrm>
          <a:prstGeom prst="line">
            <a:avLst/>
          </a:prstGeom>
          <a:ln w="6350">
            <a:solidFill>
              <a:srgbClr val="44505C"/>
            </a:solidFill>
          </a:ln>
        </p:spPr>
      </p:cxnSp>
      <p:cxnSp>
        <p:nvCxnSpPr>
          <p:cNvPr id="104" name="SegmentLabelLeader"/>
          <p:cNvCxnSpPr/>
          <p:nvPr/>
        </p:nvCxnSpPr>
        <p:spPr>
          <a:xfrm flipH="1">
            <a:off x="2376526" y="1990649"/>
            <a:ext cx="92354" cy="63094"/>
          </a:xfrm>
          <a:prstGeom prst="line">
            <a:avLst/>
          </a:prstGeom>
          <a:ln w="6350">
            <a:solidFill>
              <a:srgbClr val="44505C"/>
            </a:solidFill>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cxnSp>
        <p:nvCxnSpPr>
          <p:cNvPr id="129" name="SegmentLabelLeader"/>
          <p:cNvCxnSpPr/>
          <p:nvPr/>
        </p:nvCxnSpPr>
        <p:spPr>
          <a:xfrm flipV="1">
            <a:off x="4533595" y="2000707"/>
            <a:ext cx="681228" cy="1762049"/>
          </a:xfrm>
          <a:prstGeom prst="line">
            <a:avLst/>
          </a:prstGeom>
          <a:ln w="6350">
            <a:solidFill>
              <a:srgbClr val="808080"/>
            </a:solidFill>
            <a:prstDash val="dash"/>
          </a:ln>
        </p:spPr>
      </p:cxnSp>
      <p:cxnSp>
        <p:nvCxnSpPr>
          <p:cNvPr id="130" name="SegmentLabelLeader"/>
          <p:cNvCxnSpPr/>
          <p:nvPr/>
        </p:nvCxnSpPr>
        <p:spPr>
          <a:xfrm flipV="1">
            <a:off x="4533595" y="2609698"/>
            <a:ext cx="681228" cy="1404518"/>
          </a:xfrm>
          <a:prstGeom prst="line">
            <a:avLst/>
          </a:prstGeom>
          <a:ln w="6350">
            <a:solidFill>
              <a:srgbClr val="808080"/>
            </a:solidFill>
            <a:prstDash val="dash"/>
          </a:ln>
        </p:spPr>
      </p:cxnSp>
      <p:cxnSp>
        <p:nvCxnSpPr>
          <p:cNvPr id="131" name="SegmentLabelLeader"/>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IncomeStatementMethodologyTable"/>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MethodologyBanner"/>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OperatingExpenseAssumptionsTable"/>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UnitEconomicsCostMatrix"/>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t"/>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t">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t"/>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t">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t"/>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t">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CostOfSalesNormalizationCallout"/>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VariableCostNormalizationFrame"/>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NormalizedVariableCostLeader"/>
          <p:cNvCxnSpPr/>
          <p:nvPr/>
        </p:nvCxnSpPr>
        <p:spPr>
          <a:xfrm>
            <a:off x="8485632" y="3634740"/>
            <a:ext cx="205740" cy="113386"/>
          </a:xfrm>
          <a:prstGeom prst="bentConnector3">
            <a:avLst/>
          </a:prstGeom>
          <a:ln w="12700">
            <a:solidFill>
              <a:srgbClr val="000000"/>
            </a:solidFill>
            <a:tailEnd type="triangle" w="med" len="med"/>
          </a:ln>
        </p:spPr>
      </p:cxnSp>
      <p:sp>
        <p:nvSpPr>
          <p:cNvPr id="104" name="NormalizedVariableCostLabel"/>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NormalizedOpexPanel"/>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OpexNormalizationNarrative"/>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u="sng"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u="sng"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u="sng"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OpexNormalizationLeader"/>
          <p:cNvCxnSpPr/>
          <p:nvPr/>
        </p:nvCxnSpPr>
        <p:spPr>
          <a:xfrm flipV="1">
            <a:off x="5214823" y="5106924"/>
            <a:ext cx="3499409" cy="70409"/>
          </a:xfrm>
          <a:prstGeom prst="bentConnector3">
            <a:avLst/>
          </a:prstGeom>
          <a:ln w="12700">
            <a:solidFill>
              <a:srgbClr val="000000"/>
            </a:solidFill>
            <a:tailEnd type="triangle" w="med" len="med"/>
          </a:ln>
        </p:spPr>
      </p:cxnSp>
      <p:sp>
        <p:nvSpPr>
          <p:cNvPr id="108" name="PriceComponentsLegendLabel"/>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ShoresideVariableCostLegendLabel"/>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VesselVariableCostLegendLabel"/>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OpexLegendLabel"/>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BarValu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BarValu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BarValu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BarValu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BarValu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BarValu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BarValu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otalFreightChargeLabel"/>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RouteLabel"/>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VesselOperationsBracket"/>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egend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egend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egend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egend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egend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egend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LegendLabel"/>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ChargeComponentTable"/>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VesselOperationsGroupCaption"/>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ShoresideChargesBracket"/>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4" name="AnalysisStatusNote"/>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hlinkClick r:id="rId3"/>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Hawaii Department of Transportation</a:t>
            </a:r>
          </a:p>
        </p:txBody>
      </p:sp>
      <p:sp>
        <p:nvSpPr>
          <p:cNvPr id="136" name="ChargeComponentHighlight"/>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7" name="VesselOperationsCallout"/>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8" name="ChargeLeader_TerminalCharges"/>
          <p:cNvCxnSpPr/>
          <p:nvPr/>
        </p:nvCxnSpPr>
        <p:spPr>
          <a:xfrm>
            <a:off x="3648456" y="3705149"/>
            <a:ext cx="1976933" cy="636422"/>
          </a:xfrm>
          <a:prstGeom prst="line">
            <a:avLst/>
          </a:prstGeom>
          <a:ln w="12700">
            <a:solidFill>
              <a:srgbClr val="808080"/>
            </a:solidFill>
            <a:prstDash val="dash"/>
          </a:ln>
        </p:spPr>
      </p:cxnSp>
      <p:cxnSp>
        <p:nvCxnSpPr>
          <p:cNvPr id="139" name="ChargeLeader_WharfageHNL"/>
          <p:cNvCxnSpPr/>
          <p:nvPr/>
        </p:nvCxnSpPr>
        <p:spPr>
          <a:xfrm>
            <a:off x="3648456" y="3375050"/>
            <a:ext cx="1985162" cy="389534"/>
          </a:xfrm>
          <a:prstGeom prst="line">
            <a:avLst/>
          </a:prstGeom>
          <a:ln w="12700">
            <a:solidFill>
              <a:srgbClr val="808080"/>
            </a:solidFill>
            <a:prstDash val="dash"/>
          </a:ln>
        </p:spPr>
      </p:cxnSp>
      <p:cxnSp>
        <p:nvCxnSpPr>
          <p:cNvPr id="140" name="ChargeLeader_WharfageLB"/>
          <p:cNvCxnSpPr/>
          <p:nvPr/>
        </p:nvCxnSpPr>
        <p:spPr>
          <a:xfrm>
            <a:off x="3648456" y="2495398"/>
            <a:ext cx="1976933" cy="643738"/>
          </a:xfrm>
          <a:prstGeom prst="line">
            <a:avLst/>
          </a:prstGeom>
          <a:ln w="12700">
            <a:solidFill>
              <a:srgbClr val="808080"/>
            </a:solidFill>
            <a:prstDash val="dash"/>
          </a:ln>
        </p:spPr>
      </p:cxnSp>
      <p:cxnSp>
        <p:nvCxnSpPr>
          <p:cNvPr id="141" name="ChargeLeader_TerminalHNL"/>
          <p:cNvCxnSpPr/>
          <p:nvPr/>
        </p:nvCxnSpPr>
        <p:spPr>
          <a:xfrm>
            <a:off x="3648456" y="2311603"/>
            <a:ext cx="1985162" cy="281635"/>
          </a:xfrm>
          <a:prstGeom prst="line">
            <a:avLst/>
          </a:prstGeom>
          <a:ln w="12700">
            <a:solidFill>
              <a:srgbClr val="808080"/>
            </a:solidFill>
            <a:prstDash val="dash"/>
          </a:ln>
        </p:spPr>
      </p:cxnSp>
      <p:cxnSp>
        <p:nvCxnSpPr>
          <p:cNvPr id="142" name="ChargeLeader_OtherFees"/>
          <p:cNvCxnSpPr/>
          <p:nvPr/>
        </p:nvCxnSpPr>
        <p:spPr>
          <a:xfrm flipV="1">
            <a:off x="3648456" y="2011680"/>
            <a:ext cx="1952244" cy="274320"/>
          </a:xfrm>
          <a:prstGeom prst="line">
            <a:avLst/>
          </a:prstGeom>
          <a:ln w="12700">
            <a:solidFill>
              <a:srgbClr val="808080"/>
            </a:solidFill>
            <a:prstDash val="dash"/>
          </a:ln>
        </p:spPr>
      </p:cxnSp>
      <p:sp>
        <p:nvSpPr>
          <p:cNvPr id="143" name="ShoresideChargesGroupCaption"/>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44" name="SpotRateCallout"/>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CoordinationArchetypeTable"/>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KeyInputsReferenceTable"/>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0149840"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NavyLogo"/>
          <p:cNvPicPr>
            <a:picLocks noChangeAspect="1"/>
          </p:cNvPicPr>
          <p:nvPr/>
        </p:nvPicPr>
        <p:blipFill>
          <a:blip r:embed="rId3"/>
          <a:stretch>
            <a:fillRect/>
          </a:stretch>
        </p:blipFill>
        <p:spPr>
          <a:xfrm>
            <a:off x="10452506" y="43891"/>
            <a:ext cx="843077" cy="843077"/>
          </a:xfrm>
          <a:prstGeom prst="rect">
            <a:avLst/>
          </a:prstGeom>
        </p:spPr>
      </p:pic>
      <p:pic>
        <p:nvPicPr>
          <p:cNvPr id="101" name="MissileDefenseAgencyLogo"/>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baseline="30000" dirty="0">
                <a:solidFill>
                  <a:srgbClr val="000000"/>
                </a:solidFill>
                <a:latin typeface="Arial"/>
                <a:ea typeface="Arial"/>
                <a:cs typeface="Arial"/>
              </a:rPr>
              <a:t>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baseline="30000" dirty="0">
                <a:solidFill>
                  <a:srgbClr val="000000"/>
                </a:solidFill>
                <a:latin typeface="Arial"/>
                <a:ea typeface="Arial"/>
                <a:cs typeface="Arial"/>
              </a:rPr>
              <a:t>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baseline="30000"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baseline="30000"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u="sng" dirty="0">
                          <a:solidFill>
                            <a:srgbClr val="000000"/>
                          </a:solidFill>
                          <a:latin typeface="Arial"/>
                          <a:ea typeface="Arial"/>
                          <a:cs typeface="Arial"/>
                        </a:rPr>
                        <a:t>10x+ </a:t>
                      </a:r>
                      <a:r>
                        <a:rPr lang="en-US" sz="1200" i="1" u="sng" dirty="0">
                          <a:solidFill>
                            <a:srgbClr val="000000"/>
                          </a:solidFill>
                          <a:latin typeface="Arial"/>
                          <a:ea typeface="Arial"/>
                          <a:cs typeface="Arial"/>
                        </a:rPr>
                        <a:t>Arleigh Burke</a:t>
                      </a:r>
                      <a:r>
                        <a:rPr lang="en-US" sz="1200" u="sng"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a:t>
            </a:r>
            <a:r>
              <a:rPr lang="en-US" sz="800" kern="1200" dirty="0">
                <a:solidFill>
                  <a:srgbClr val="162029"/>
                </a:solidFill>
                <a:latin typeface="Arial"/>
                <a:ea typeface="Arial"/>
                <a:cs typeface="Arial"/>
              </a:rPr>
              <a:t> | </a:t>
            </a:r>
            <a:r>
              <a:rPr lang="en-US" sz="800" kern="1200" dirty="0">
                <a:solidFill>
                  <a:srgbClr val="162029"/>
                </a:solidFill>
                <a:latin typeface="Arial"/>
                <a:ea typeface="Arial"/>
                <a:cs typeface="Arial"/>
              </a:rPr>
              <a:t>Source: </a:t>
            </a:r>
            <a:r>
              <a:rPr lang="en-US" sz="800" kern="1200" dirty="0">
                <a:solidFill>
                  <a:srgbClr val="162029"/>
                </a:solidFill>
                <a:latin typeface="Arial"/>
                <a:ea typeface="Arial"/>
                <a:cs typeface="Arial"/>
                <a:hlinkClick r:id="rId5"/>
              </a:rPr>
              <a:t>Congressional Research Service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6"/>
              </a:rPr>
              <a:t>OBBBA text</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rPr>
              <a:t>FY26 Budget Estimate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7"/>
              </a:rPr>
              <a:t>Lockheed Martin MK 70 Product Card</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8"/>
              </a:rPr>
              <a:t>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18"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19"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0"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21"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22"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3"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24" name="NavyLogo"/>
          <p:cNvPicPr>
            <a:picLocks noChangeAspect="1"/>
          </p:cNvPicPr>
          <p:nvPr/>
        </p:nvPicPr>
        <p:blipFill>
          <a:blip r:embed="rId3"/>
          <a:stretch>
            <a:fillRect/>
          </a:stretch>
        </p:blipFill>
        <p:spPr>
          <a:xfrm>
            <a:off x="10452506" y="43891"/>
            <a:ext cx="843077" cy="843077"/>
          </a:xfrm>
          <a:prstGeom prst="rect">
            <a:avLst/>
          </a:prstGeom>
        </p:spPr>
      </p:pic>
      <p:pic>
        <p:nvPicPr>
          <p:cNvPr id="125"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6"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27"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8"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9" name="FranklinCapacityLegendMark"/>
          <p:cNvCxnSpPr/>
          <p:nvPr/>
        </p:nvCxnSpPr>
        <p:spPr>
          <a:xfrm>
            <a:off x="9691726" y="1722730"/>
            <a:ext cx="160020" cy="0"/>
          </a:xfrm>
          <a:prstGeom prst="line">
            <a:avLst/>
          </a:prstGeom>
          <a:ln w="19050">
            <a:solidFill>
              <a:srgbClr val="000000"/>
            </a:solidFill>
          </a:ln>
        </p:spPr>
      </p:cxnSp>
      <p:sp>
        <p:nvSpPr>
          <p:cNvPr id="130"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1"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2"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3"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4"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5"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6"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37"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8"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9"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0"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1"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2"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3"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4"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5"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6"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57"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8"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9966960"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8"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9" name="SourceChartValueLabel"/>
          <p:cNvSpPr txBox="1"/>
          <p:nvPr/>
        </p:nvSpPr>
        <p:spPr>
          <a:xfrm>
            <a:off x="7798918" y="427482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21</a:t>
            </a:r>
          </a:p>
        </p:txBody>
      </p:sp>
      <p:sp>
        <p:nvSpPr>
          <p:cNvPr id="120"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1" name="SourceChartValueLabel"/>
          <p:cNvSpPr txBox="1"/>
          <p:nvPr/>
        </p:nvSpPr>
        <p:spPr>
          <a:xfrm>
            <a:off x="8898026" y="453268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8</a:t>
            </a:r>
          </a:p>
        </p:txBody>
      </p:sp>
      <p:sp>
        <p:nvSpPr>
          <p:cNvPr id="122" name="SourceChartValueLabel"/>
          <p:cNvSpPr txBox="1"/>
          <p:nvPr/>
        </p:nvSpPr>
        <p:spPr>
          <a:xfrm>
            <a:off x="8898026" y="383865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27</a:t>
            </a:r>
          </a:p>
        </p:txBody>
      </p:sp>
      <p:sp>
        <p:nvSpPr>
          <p:cNvPr id="123"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4"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5"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6"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27" name="NavyLogo"/>
          <p:cNvPicPr>
            <a:picLocks noChangeAspect="1"/>
          </p:cNvPicPr>
          <p:nvPr/>
        </p:nvPicPr>
        <p:blipFill>
          <a:blip r:embed="rId3"/>
          <a:stretch>
            <a:fillRect/>
          </a:stretch>
        </p:blipFill>
        <p:spPr>
          <a:xfrm>
            <a:off x="10452506" y="43891"/>
            <a:ext cx="843077" cy="843077"/>
          </a:xfrm>
          <a:prstGeom prst="rect">
            <a:avLst/>
          </a:prstGeom>
        </p:spPr>
      </p:pic>
      <p:pic>
        <p:nvPicPr>
          <p:cNvPr id="128"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9"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0"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1"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2" name="FranklinCapacityLegendMark"/>
          <p:cNvCxnSpPr/>
          <p:nvPr/>
        </p:nvCxnSpPr>
        <p:spPr>
          <a:xfrm>
            <a:off x="9691726" y="1722730"/>
            <a:ext cx="160020" cy="0"/>
          </a:xfrm>
          <a:prstGeom prst="line">
            <a:avLst/>
          </a:prstGeom>
          <a:ln w="19050">
            <a:solidFill>
              <a:srgbClr val="000000"/>
            </a:solidFill>
          </a:ln>
        </p:spPr>
      </p:cxnSp>
      <p:sp>
        <p:nvSpPr>
          <p:cNvPr id="133"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4"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5"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6"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7"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8"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9"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0"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1"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2"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3"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54"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5"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6"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7"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8"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9"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0"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2026-06-28T19:22:49Z</dcterms:created>
  <dcterms:modified xsi:type="dcterms:W3CDTF">2026-06-28T19:22:49Z</dcterms:modified>
</cp:coreProperties>
</file>