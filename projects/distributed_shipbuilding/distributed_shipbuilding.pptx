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svg" ContentType="image/svg+xml"/>
  <Default Extension="emf" ContentType="image/x-emf"/>
  <Default Extension="bin" ContentType="application/vnd.openxmlformats-officedocument.oleObjec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embeddings/Microsoft_Excel_Worksheet1.xlsx" ContentType="application/vnd.openxmlformats-officedocument.spreadsheetml.sheet"/>
  <Override PartName="/ppt/embeddings/Microsoft_Excel_Worksheet2.xlsx" ContentType="application/vnd.openxmlformats-officedocument.spreadsheetml.sheet"/>
  <Override PartName="/ppt/embeddings/Microsoft_Excel_Worksheet3.xlsx" ContentType="application/vnd.openxmlformats-officedocument.spreadsheetml.sheet"/>
  <Override PartName="/ppt/embeddings/Microsoft_Excel_Worksheet4.xlsx" ContentType="application/vnd.openxmlformats-officedocument.spreadsheetml.sheet"/>
  <Override PartName="/ppt/embeddings/Microsoft_Excel_Worksheet5.xlsx" ContentType="application/vnd.openxmlformats-officedocument.spreadsheetml.sheet"/>
  <Override PartName="/ppt/embeddings/Microsoft_Excel_Worksheet6.xlsx" ContentType="application/vnd.openxmlformats-officedocument.spreadsheetml.sheet"/>
  <Override PartName="/ppt/theme/theme1.xml" ContentType="application/vnd.openxmlformats-officedocument.theme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"/>
          <c:y val="0.0"/>
          <c:w val="1.0"/>
          <c:h val="1.0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High-confidence single SWBS</c:v>
                </c:pt>
              </c:strCache>
            </c:strRef>
          </c:tx>
          <c:spPr>
            <a:solidFill>
              <a:srgbClr val="1D4D68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High-coverage mixed</c:v>
                </c:pt>
              </c:strCache>
            </c:strRef>
          </c:tx>
          <c:spPr>
            <a:solidFill>
              <a:srgbClr val="4C6C9C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Partial SWBS evidence</c:v>
                </c:pt>
              </c:strCache>
            </c:strRef>
          </c:tx>
          <c:spPr>
            <a:solidFill>
              <a:srgbClr val="9DB1CF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/ no SWBS evidence</c:v>
                </c:pt>
              </c:strCache>
            </c:strRef>
          </c:tx>
          <c:spPr>
            <a:solidFill>
              <a:srgbClr val="BFBFBF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74.4</c:v>
                </c:pt>
              </c:numCache>
            </c:numRef>
          </c:val>
        </c:ser>
        <c:gapWidth val="2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99.9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25"/>
      </c:valAx>
    </c:plotArea>
    <c:plotVisOnly val="1"/>
    <c:dispBlanksAs val="gap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"/>
          <c:y val="0.0"/>
          <c:w val="1.0"/>
          <c:h val="1.0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High-confidence single SWBS</c:v>
                </c:pt>
              </c:strCache>
            </c:strRef>
          </c:tx>
          <c:spPr>
            <a:solidFill>
              <a:srgbClr val="1D4D68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High-coverage mixed</c:v>
                </c:pt>
              </c:strCache>
            </c:strRef>
          </c:tx>
          <c:spPr>
            <a:solidFill>
              <a:srgbClr val="4C6C9C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Partial SWBS evidence</c:v>
                </c:pt>
              </c:strCache>
            </c:strRef>
          </c:tx>
          <c:spPr>
            <a:solidFill>
              <a:srgbClr val="9DB1CF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/ no SWBS evidence</c:v>
                </c:pt>
              </c:strCache>
            </c:strRef>
          </c:tx>
          <c:spPr>
            <a:solidFill>
              <a:srgbClr val="BFBFBF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14.6</c:v>
                </c:pt>
              </c:numCache>
            </c:numRef>
          </c:val>
        </c:ser>
        <c:gapWidth val="2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00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25"/>
      </c:valAx>
    </c:plotArea>
    <c:plotVisOnly val="1"/>
    <c:dispBlanksAs val="gap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2"/>
          <c:y val="0.03"/>
          <c:w val="0.74"/>
          <c:h val="0.9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 Propulsion Plant</c:v>
                </c:pt>
              </c:strCache>
            </c:strRef>
          </c:tx>
          <c:spPr>
            <a:solidFill>
              <a:srgbClr val="1D4D68"/>
            </a:solid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Recent exact-hull subset</c:v>
                </c:pt>
              </c:strCache>
            </c:strRef>
          </c:cat>
          <c:val>
            <c:numRef>
              <c:f>Sheet1!$B$2:$B$2</c:f>
              <c:numCache>
                <c:formatCode>0.0"%"</c:formatCode>
                <c:ptCount val="1"/>
                <c:pt idx="0">
                  <c:v>50.0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500 Auxiliary Systems</c:v>
                </c:pt>
              </c:strCache>
            </c:strRef>
          </c:tx>
          <c:spPr>
            <a:solidFill>
              <a:srgbClr val="4C6C9C"/>
            </a:solid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Recent exact-hull subset</c:v>
                </c:pt>
              </c:strCache>
            </c:strRef>
          </c:cat>
          <c:val>
            <c:numRef>
              <c:f>Sheet1!$C$2:$C$2</c:f>
              <c:numCache>
                <c:formatCode>0.0"%"</c:formatCode>
                <c:ptCount val="1"/>
                <c:pt idx="0">
                  <c:v>26.2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300 Electric Plant</c:v>
                </c:pt>
              </c:strCache>
            </c:strRef>
          </c:tx>
          <c:spPr>
            <a:solidFill>
              <a:srgbClr val="6E91B1"/>
            </a:solid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Recent exact-hull subset</c:v>
                </c:pt>
              </c:strCache>
            </c:strRef>
          </c:cat>
          <c:val>
            <c:numRef>
              <c:f>Sheet1!$D$2:$D$2</c:f>
              <c:numCache>
                <c:formatCode>0.0"%"</c:formatCode>
                <c:ptCount val="1"/>
                <c:pt idx="0">
                  <c:v>20.4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mapped</c:v>
                </c:pt>
              </c:strCache>
            </c:strRef>
          </c:tx>
          <c:spPr>
            <a:solidFill>
              <a:srgbClr val="BFBFBF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Recent exact-hull subset</c:v>
                </c:pt>
              </c:strCache>
            </c:strRef>
          </c:cat>
          <c:val>
            <c:numRef>
              <c:f>Sheet1!$E$2:$E$2</c:f>
              <c:numCache>
                <c:formatCode>0.0"%"</c:formatCode>
                <c:ptCount val="1"/>
                <c:pt idx="0">
                  <c:v>1.9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U00 / No SWBS evidence</c:v>
                </c:pt>
              </c:strCache>
            </c:strRef>
          </c:tx>
          <c:spPr>
            <a:pattFill prst="ltUpDiag">
              <a:fgClr>
                <a:srgbClr val="808080"/>
              </a:fgClr>
              <a:bgClr>
                <a:srgbClr val="FFFFFF"/>
              </a:bgClr>
            </a:patt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Recent exact-hull subset</c:v>
                </c:pt>
              </c:strCache>
            </c:strRef>
          </c:cat>
          <c:val>
            <c:numRef>
              <c:f>Sheet1!$F$2:$F$2</c:f>
              <c:numCache>
                <c:formatCode>0.0"%"</c:formatCode>
                <c:ptCount val="1"/>
                <c:pt idx="0">
                  <c:v>1.5</c:v>
                </c:pt>
              </c:numCache>
            </c:numRef>
          </c:val>
        </c:ser>
        <c:gapWidth val="6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00"/>
          <c:min val="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9525" cap="flat">
            <a:solidFill>
              <a:srgbClr val="808080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25"/>
      </c:valAx>
    </c:plotArea>
    <c:plotVisOnly val="1"/>
    <c:dispBlanksAs val="gap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12"/>
          <c:y val="0.04"/>
          <c:w val="0.976"/>
          <c:h val="0.92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500 Auxiliary Systems</c:v>
                </c:pt>
              </c:strCache>
            </c:strRef>
          </c:tx>
          <c:spPr>
            <a:solidFill>
              <a:srgbClr val="364D6E"/>
            </a:solid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HII-Ingalls DDG</c:v>
                </c:pt>
              </c:strCache>
            </c:strRef>
          </c:cat>
          <c:val>
            <c:numRef>
              <c:f>Sheet1!$B$2:$B$2</c:f>
              <c:numCache>
                <c:formatCode>0.0"%"</c:formatCode>
                <c:ptCount val="1"/>
                <c:pt idx="0">
                  <c:v>27.9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200 Propulsion Plant</c:v>
                </c:pt>
              </c:strCache>
            </c:strRef>
          </c:tx>
          <c:spPr>
            <a:solidFill>
              <a:srgbClr val="007770"/>
            </a:solid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HII-Ingalls DDG</c:v>
                </c:pt>
              </c:strCache>
            </c:strRef>
          </c:cat>
          <c:val>
            <c:numRef>
              <c:f>Sheet1!$C$2:$C$2</c:f>
              <c:numCache>
                <c:formatCode>0.0"%"</c:formatCode>
                <c:ptCount val="1"/>
                <c:pt idx="0">
                  <c:v>27.6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300 Electric Plant</c:v>
                </c:pt>
              </c:strCache>
            </c:strRef>
          </c:tx>
          <c:spPr>
            <a:solidFill>
              <a:srgbClr val="4C6C9C"/>
            </a:solid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HII-Ingalls DDG</c:v>
                </c:pt>
              </c:strCache>
            </c:strRef>
          </c:cat>
          <c:val>
            <c:numRef>
              <c:f>Sheet1!$D$2:$D$2</c:f>
              <c:numCache>
                <c:formatCode>0.0"%"</c:formatCode>
                <c:ptCount val="1"/>
                <c:pt idx="0">
                  <c:v>22.6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mapped groups</c:v>
                </c:pt>
              </c:strCache>
            </c:strRef>
          </c:tx>
          <c:spPr>
            <a:solidFill>
              <a:srgbClr val="C0C0C0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HII-Ingalls DDG</c:v>
                </c:pt>
              </c:strCache>
            </c:strRef>
          </c:cat>
          <c:val>
            <c:numRef>
              <c:f>Sheet1!$E$2:$E$2</c:f>
              <c:numCache>
                <c:formatCode>0.0"%"</c:formatCode>
                <c:ptCount val="1"/>
                <c:pt idx="0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U00 — No SWBS evidence</c:v>
                </c:pt>
              </c:strCache>
            </c:strRef>
          </c:tx>
          <c:spPr>
            <a:pattFill prst="ltDnDiag">
              <a:fgClr>
                <a:srgbClr val="808080"/>
              </a:fgClr>
              <a:bgClr>
                <a:srgbClr val="FFFFFF"/>
              </a:bgClr>
            </a:patt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HII-Ingalls DDG</c:v>
                </c:pt>
              </c:strCache>
            </c:strRef>
          </c:cat>
          <c:val>
            <c:numRef>
              <c:f>Sheet1!$F$2:$F$2</c:f>
              <c:numCache>
                <c:formatCode>0.0"%"</c:formatCode>
                <c:ptCount val="1"/>
                <c:pt idx="0">
                  <c:v>17.3</c:v>
                </c:pt>
              </c:numCache>
            </c:numRef>
          </c:val>
        </c:ser>
        <c:gapWidth val="4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99.9"/>
          <c:min val="0"/>
        </c:scaling>
        <c:delete val="0"/>
        <c:axPos val="b"/>
        <c:numFmt formatCode="0.0&quot;%&quot;" sourceLinked="0"/>
        <c:majorTickMark val="none"/>
        <c:minorTickMark val="none"/>
        <c:tickLblPos val="none"/>
        <c:spPr>
          <a:ln>
            <a:noFill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25"/>
      </c:valAx>
    </c:plotArea>
    <c:plotVisOnly val="1"/>
    <c:dispBlanksAs val="gap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6"/>
          <c:h val="0.9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hull / single-ship contract</c:v>
                </c:pt>
              </c:strCache>
            </c:strRef>
          </c:tx>
          <c:spPr>
            <a:solidFill>
              <a:srgbClr val="4C6C9C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DDG subaward coverage</c:v>
                </c:pt>
              </c:strCache>
            </c:strRef>
          </c:cat>
          <c:val>
            <c:numRef>
              <c:f>Sheet1!$B$2:$B$2</c:f>
              <c:numCache>
                <c:formatCode>#,##0</c:formatCode>
                <c:ptCount val="1"/>
                <c:pt idx="0">
                  <c:v>69.0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Exact hull / direct in-family hull text</c:v>
                </c:pt>
              </c:strCache>
            </c:strRef>
          </c:tx>
          <c:spPr>
            <a:solidFill>
              <a:srgbClr val="364D6E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DDG subaward coverage</c:v>
                </c:pt>
              </c:strCache>
            </c:strRef>
          </c:cat>
          <c:val>
            <c:numRef>
              <c:f>Sheet1!$C$2:$C$2</c:f>
              <c:numCache>
                <c:formatCode>#,##0</c:formatCode>
                <c:ptCount val="1"/>
                <c:pt idx="0">
                  <c:v>1200.6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Family-level / requirement-text signal only</c:v>
                </c:pt>
              </c:strCache>
            </c:strRef>
          </c:tx>
          <c:spPr>
            <a:solidFill>
              <a:srgbClr val="969696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DDG subaward coverage</c:v>
                </c:pt>
              </c:strCache>
            </c:strRef>
          </c:cat>
          <c:val>
            <c:numRef>
              <c:f>Sheet1!$D$2:$D$2</c:f>
              <c:numCache>
                <c:formatCode>#,##0</c:formatCode>
                <c:ptCount val="1"/>
                <c:pt idx="0">
                  <c:v>1787.9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Family-level / contract family only</c:v>
                </c:pt>
              </c:strCache>
            </c:strRef>
          </c:tx>
          <c:spPr>
            <a:solidFill>
              <a:srgbClr val="C0C0C0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DDG subaward coverage</c:v>
                </c:pt>
              </c:strCache>
            </c:strRef>
          </c:cat>
          <c:val>
            <c:numRef>
              <c:f>Sheet1!$E$2:$E$2</c:f>
              <c:numCache>
                <c:formatCode>#,##0</c:formatCode>
                <c:ptCount val="1"/>
                <c:pt idx="0">
                  <c:v>965.2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Review queue / conflict / multi-hull</c:v>
                </c:pt>
              </c:strCache>
            </c:strRef>
          </c:tx>
          <c:spPr>
            <a:solidFill>
              <a:srgbClr val="B9A7AE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DDG subaward coverage</c:v>
                </c:pt>
              </c:strCache>
            </c:strRef>
          </c:cat>
          <c:val>
            <c:numRef>
              <c:f>Sheet1!$F$2:$F$2</c:f>
              <c:numCache>
                <c:formatCode>#,##0</c:formatCode>
                <c:ptCount val="1"/>
                <c:pt idx="0">
                  <c:v>5.4</c:v>
                </c:pt>
              </c:numCache>
            </c:numRef>
          </c:val>
        </c:ser>
        <c:gapWidth val="6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4100"/>
          <c:min val="0"/>
        </c:scaling>
        <c:delete val="0"/>
        <c:axPos val="l"/>
        <c:numFmt formatCode="#,##0" sourceLinked="0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1000"/>
      </c:valAx>
    </c:plotArea>
    <c:plotVisOnly val="1"/>
    <c:dispBlanksAs val="gap"/>
  </c:chart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65"/>
          <c:y val="0.07"/>
          <c:w val="0.915"/>
          <c:h val="0.7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Exact-hull assigned $M</c:v>
                </c:pt>
              </c:strCache>
            </c:strRef>
          </c:tx>
          <c:spPr>
            <a:solidFill>
              <a:srgbClr val="364D6E"/>
            </a:solidFill>
            <a:ln w="6350">
              <a:solidFill>
                <a:srgbClr val="FFFFFF"/>
              </a:solidFill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364D6E"/>
              </a:solidFill>
              <a:ln w="6350">
                <a:solidFill>
                  <a:srgbClr val="FFFFFF"/>
                </a:solidFill>
              </a:ln>
            </c:spPr>
          </c:dPt>
          <c:dPt>
            <c:idx val="1"/>
            <c:invertIfNegative val="0"/>
            <c:bubble3D val="0"/>
            <c:spPr>
              <a:solidFill>
                <a:srgbClr val="364D6E"/>
              </a:solidFill>
              <a:ln w="6350">
                <a:solidFill>
                  <a:srgbClr val="FFFFFF"/>
                </a:solidFill>
              </a:ln>
            </c:spPr>
          </c:dPt>
          <c:dPt>
            <c:idx val="2"/>
            <c:invertIfNegative val="0"/>
            <c:bubble3D val="0"/>
            <c:spPr>
              <a:solidFill>
                <a:srgbClr val="364D6E"/>
              </a:solidFill>
              <a:ln w="6350">
                <a:solidFill>
                  <a:srgbClr val="FFFFFF"/>
                </a:solidFill>
              </a:ln>
            </c:spPr>
          </c:dPt>
          <c:dPt>
            <c:idx val="3"/>
            <c:invertIfNegative val="0"/>
            <c:bubble3D val="0"/>
            <c:spPr>
              <a:solidFill>
                <a:srgbClr val="364D6E"/>
              </a:solidFill>
              <a:ln w="6350">
                <a:solidFill>
                  <a:srgbClr val="FFFFFF"/>
                </a:solidFill>
              </a:ln>
            </c:spPr>
          </c:dPt>
          <c:dPt>
            <c:idx val="4"/>
            <c:invertIfNegative val="0"/>
            <c:bubble3D val="0"/>
            <c:spPr>
              <a:solidFill>
                <a:srgbClr val="9DB1CF"/>
              </a:solidFill>
              <a:ln w="6350">
                <a:solidFill>
                  <a:srgbClr val="FFFFFF"/>
                </a:solidFill>
              </a:ln>
            </c:spPr>
          </c:dPt>
          <c:dPt>
            <c:idx val="5"/>
            <c:invertIfNegative val="0"/>
            <c:bubble3D val="0"/>
            <c:spPr>
              <a:solidFill>
                <a:srgbClr val="4C6C9C"/>
              </a:solidFill>
              <a:ln w="6350">
                <a:solidFill>
                  <a:srgbClr val="FFFFFF"/>
                </a:solidFill>
              </a:ln>
            </c:spPr>
          </c:dPt>
          <c:dPt>
            <c:idx val="6"/>
            <c:invertIfNegative val="0"/>
            <c:bubble3D val="0"/>
            <c:spPr>
              <a:solidFill>
                <a:srgbClr val="364D6E"/>
              </a:solidFill>
              <a:ln w="6350">
                <a:solidFill>
                  <a:srgbClr val="FFFFFF"/>
                </a:solidFill>
              </a:ln>
            </c:spPr>
          </c:dPt>
          <c:dPt>
            <c:idx val="7"/>
            <c:invertIfNegative val="0"/>
            <c:bubble3D val="0"/>
            <c:spPr>
              <a:solidFill>
                <a:srgbClr val="364D6E"/>
              </a:solidFill>
              <a:ln w="6350">
                <a:solidFill>
                  <a:srgbClr val="FFFFFF"/>
                </a:solidFill>
              </a:ln>
            </c:spPr>
          </c:dPt>
          <c:dPt>
            <c:idx val="8"/>
            <c:invertIfNegative val="0"/>
            <c:bubble3D val="0"/>
            <c:spPr>
              <a:solidFill>
                <a:srgbClr val="364D6E"/>
              </a:solidFill>
              <a:ln w="6350">
                <a:solidFill>
                  <a:srgbClr val="FFFFFF"/>
                </a:solidFill>
              </a:ln>
            </c:spPr>
          </c:dPt>
          <c:dPt>
            <c:idx val="9"/>
            <c:invertIfNegative val="0"/>
            <c:bubble3D val="0"/>
            <c:spPr>
              <a:solidFill>
                <a:srgbClr val="808080"/>
              </a:solidFill>
              <a:ln w="6350">
                <a:solidFill>
                  <a:srgbClr val="FFFFFF"/>
                </a:solidFill>
              </a:ln>
            </c:spPr>
          </c:dPt>
          <c:dPt>
            <c:idx val="10"/>
            <c:invertIfNegative val="0"/>
            <c:bubble3D val="0"/>
            <c:spPr>
              <a:solidFill>
                <a:srgbClr val="808080"/>
              </a:solidFill>
              <a:ln w="6350">
                <a:solidFill>
                  <a:srgbClr val="FFFFFF"/>
                </a:solidFill>
              </a:ln>
            </c:spPr>
          </c:dPt>
          <c:dPt>
            <c:idx val="11"/>
            <c:invertIfNegative val="0"/>
            <c:bubble3D val="0"/>
            <c:spPr>
              <a:solidFill>
                <a:srgbClr val="4C6C9C"/>
              </a:solidFill>
              <a:ln w="6350">
                <a:solidFill>
                  <a:srgbClr val="FFFFFF"/>
                </a:solidFill>
              </a:ln>
            </c:spPr>
          </c:dPt>
          <c:dLbls>
            <c:txPr>
              <a:bodyPr rot="0" spcFirstLastPara="1" vertOverflow="ellipsis" wrap="square" anchor="ctr" anchorCtr="1"/>
              <a:lstStyle/>
              <a:p>
                <a:pPr>
                  <a:defRPr sz="8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Sheet1!$A$2:$A$13</c:f>
              <c:strCache>
                <c:ptCount val="12"/>
                <c:pt idx="0">
                  <c:v>DDG 145</c:v>
                </c:pt>
                <c:pt idx="1">
                  <c:v>DDG 146</c:v>
                </c:pt>
                <c:pt idx="2">
                  <c:v>DDG 143</c:v>
                </c:pt>
                <c:pt idx="3">
                  <c:v>DDG 149</c:v>
                </c:pt>
                <c:pt idx="4">
                  <c:v>DDG 117</c:v>
                </c:pt>
                <c:pt idx="5">
                  <c:v>DDG 137</c:v>
                </c:pt>
                <c:pt idx="6">
                  <c:v>DDG 141</c:v>
                </c:pt>
                <c:pt idx="7">
                  <c:v>DDG 142</c:v>
                </c:pt>
                <c:pt idx="8">
                  <c:v>DDG 147</c:v>
                </c:pt>
                <c:pt idx="9">
                  <c:v>DDG 114</c:v>
                </c:pt>
                <c:pt idx="10">
                  <c:v>DDG 113</c:v>
                </c:pt>
                <c:pt idx="11">
                  <c:v>DDG 139</c:v>
                </c:pt>
              </c:strCache>
            </c:strRef>
          </c:cat>
          <c:val>
            <c:numRef>
              <c:f>Sheet1!$B$2:$B$13</c:f>
              <c:numCache>
                <c:formatCode>#,##0.0</c:formatCode>
                <c:ptCount val="12"/>
                <c:pt idx="0">
                  <c:v>244.3</c:v>
                </c:pt>
                <c:pt idx="1">
                  <c:v>195.3</c:v>
                </c:pt>
                <c:pt idx="2">
                  <c:v>144.8</c:v>
                </c:pt>
                <c:pt idx="3">
                  <c:v>129.4</c:v>
                </c:pt>
                <c:pt idx="4">
                  <c:v>72.7</c:v>
                </c:pt>
                <c:pt idx="5">
                  <c:v>64.8</c:v>
                </c:pt>
                <c:pt idx="6">
                  <c:v>63.0</c:v>
                </c:pt>
                <c:pt idx="7">
                  <c:v>49.1</c:v>
                </c:pt>
                <c:pt idx="8">
                  <c:v>44.8</c:v>
                </c:pt>
                <c:pt idx="9">
                  <c:v>36.1</c:v>
                </c:pt>
                <c:pt idx="10">
                  <c:v>32.9</c:v>
                </c:pt>
                <c:pt idx="11">
                  <c:v>32.2</c:v>
                </c:pt>
              </c:numCache>
            </c:numRef>
          </c:val>
        </c:ser>
        <c:gapWidth val="55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260"/>
          <c:min val="0"/>
        </c:scaling>
        <c:delete val="0"/>
        <c:axPos val="l"/>
        <c:numFmt formatCode="#,##0" sourceLinked="0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50"/>
      </c:valAx>
    </c:plotArea>
    <c:plotVisOnly val="1"/>
    <c:dispBlanksAs val="gap"/>
  </c:chart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5/15/2026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Subaward Mapping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Vendor SWBS Fingerprint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DDG-51 Supplier Fingerprint | Most vendors have limited SWBS evidence, but most dollars map cleanly to one SWBS group.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graphicFrame>
        <p:nvGraphicFramePr>
          <p:cNvPr id="100" name="VendorFingerprintTable"/>
          <p:cNvGraphicFramePr>
            <a:graphicFrameLocks noGrp="1"/>
          </p:cNvGraphicFramePr>
          <p:nvPr/>
        </p:nvGraphicFramePr>
        <p:xfrm>
          <a:off x="452628" y="2788920"/>
          <a:ext cx="11283696" cy="2633472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468880"/>
                <a:gridCol w="1051560"/>
                <a:gridCol w="1234440"/>
                <a:gridCol w="1874520"/>
                <a:gridCol w="1143000"/>
                <a:gridCol w="2414016"/>
                <a:gridCol w="1097280"/>
              </a:tblGrid>
              <a:tr h="219456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Vendor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DDG HII $M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SWBS coverage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Primary SWBS group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Primary SWBS 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Top SWBS subsystem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Evidence class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Rolls-Royce Marine North America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541.5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98%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300 Electric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310 Electric power generation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High-confidence</a:t>
                      </a:r>
                    </a:p>
                  </a:txBody>
                  <a:tcPr marL="18000" marR="1800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General Electric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348.6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200 Propulsion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234 Propulsion gas turbines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High-confidence</a:t>
                      </a:r>
                    </a:p>
                  </a:txBody>
                  <a:tcPr marL="18000" marR="1800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York International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243.5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88%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500 Auxiliary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88%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516 Refrigeration system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High-confidence</a:t>
                      </a:r>
                    </a:p>
                  </a:txBody>
                  <a:tcPr marL="18000" marR="1800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SOCAIL, LDA¹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204.5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200 Propulsion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234 Propulsion gas turbines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High-confidence</a:t>
                      </a:r>
                    </a:p>
                  </a:txBody>
                  <a:tcPr marL="18000" marR="1800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Timken Gears &amp; Services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174.5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200 Propulsion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241 Propulsion reduction gears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High-confidence</a:t>
                      </a:r>
                    </a:p>
                  </a:txBody>
                  <a:tcPr marL="18000" marR="1800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Johnson Controls Navy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160.2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99%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500 Auxiliary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99%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516 Refrigeration system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High-confidence</a:t>
                      </a:r>
                    </a:p>
                  </a:txBody>
                  <a:tcPr marL="18000" marR="1800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Northrop Grumman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146.3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93%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500 Auxiliary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561 Steering and diving control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High-confidence</a:t>
                      </a:r>
                    </a:p>
                  </a:txBody>
                  <a:tcPr marL="18000" marR="1800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L-3 Communications Westwood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118.6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95%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300 Electric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95%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324 Switchgear and panels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High-confidence</a:t>
                      </a:r>
                    </a:p>
                  </a:txBody>
                  <a:tcPr marL="18000" marR="1800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DRS Naval Power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115.6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97%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300 Electric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97%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324 Switchgear and panels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High-confidence</a:t>
                      </a:r>
                    </a:p>
                  </a:txBody>
                  <a:tcPr marL="18000" marR="1800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Ellwood National Forge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98.6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200 Propulsion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243 Propulsion shafting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High-confidence</a:t>
                      </a:r>
                    </a:p>
                  </a:txBody>
                  <a:tcPr marL="18000" marR="1800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Engineered Coil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83.4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95%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500 Auxiliary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95%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555 Fire extinguishing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High-confidence</a:t>
                      </a:r>
                    </a:p>
                  </a:txBody>
                  <a:tcPr marL="18000" marR="1800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Espey Mfg. &amp; Electronics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56.1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84%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300 Electric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84%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314 Power conversion equipment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High-confidence</a:t>
                      </a:r>
                    </a:p>
                  </a:txBody>
                  <a:tcPr marL="18000" marR="1800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D4D68"/>
                    </a:solidFill>
                  </a:tcPr>
                </a:tc>
              </a:tr>
            </a:tbl>
          </a:graphicData>
        </a:graphic>
      </p:graphicFrame>
      <p:sp>
        <p:nvSpPr>
          <p:cNvPr id="101" name="IncumbencyCallout"/>
          <p:cNvSpPr txBox="1"/>
          <p:nvPr/>
        </p:nvSpPr>
        <p:spPr>
          <a:xfrm>
            <a:off x="452628" y="5504688"/>
            <a:ext cx="11283696" cy="365760"/>
          </a:xfrm>
          <a:prstGeom prst="rect">
            <a:avLst/>
          </a:prstGeom>
          <a:solidFill>
            <a:srgbClr val="CEDDEC"/>
          </a:solidFill>
          <a:ln w="9525">
            <a:solidFill>
              <a:srgbClr val="162029"/>
            </a:solidFill>
          </a:ln>
        </p:spPr>
        <p:txBody>
          <a:bodyPr wrap="square" anchor="ctr" lIns="91440" tIns="27432" rIns="91440" bIns="27432"/>
          <a:lstStyle/>
          <a:p>
            <a:pPr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Recent block is incumbent-heavy: 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FY23–27 MYP block (separate, recent universe): of 83 active vendors, 80 continued from the prior block and only 1 was first-observed; ~$996.7M of $1.18B flowed to continued (incumbent) suppliers.</a:t>
            </a:r>
          </a:p>
        </p:txBody>
      </p:sp>
      <p:graphicFrame>
        <p:nvGraphicFramePr>
          <p:cNvPr id="102" name="VendorShareBar"/>
          <p:cNvGraphicFramePr/>
          <p:nvPr/>
        </p:nvGraphicFramePr>
        <p:xfrm>
          <a:off x="2194560" y="1481328"/>
          <a:ext cx="6583680" cy="3291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3" name="DollarShareBar"/>
          <p:cNvGraphicFramePr/>
          <p:nvPr/>
        </p:nvGraphicFramePr>
        <p:xfrm>
          <a:off x="2194560" y="2139696"/>
          <a:ext cx="6583680" cy="3291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4" name="VendorBarLabel"/>
          <p:cNvSpPr txBox="1"/>
          <p:nvPr/>
        </p:nvSpPr>
        <p:spPr>
          <a:xfrm>
            <a:off x="457200" y="1490472"/>
            <a:ext cx="1627632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vendor count</a:t>
            </a:r>
            <a:r>
              <a:rPr lang="en-US" sz="1000"/>
              <a:t>  </a:t>
            </a:r>
            <a:r>
              <a:rPr lang="en-US" sz="10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(n = 375)</a:t>
            </a:r>
          </a:p>
        </p:txBody>
      </p:sp>
      <p:sp>
        <p:nvSpPr>
          <p:cNvPr id="105" name="DollarBarLabel"/>
          <p:cNvSpPr txBox="1"/>
          <p:nvPr/>
        </p:nvSpPr>
        <p:spPr>
          <a:xfrm>
            <a:off x="457200" y="2148840"/>
            <a:ext cx="1627632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DDG HII $</a:t>
            </a:r>
            <a:r>
              <a:rPr lang="en-US" sz="1000"/>
              <a:t>  </a:t>
            </a:r>
            <a:r>
              <a:rPr lang="en-US" sz="10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($3.96B)</a:t>
            </a:r>
          </a:p>
        </p:txBody>
      </p:sp>
      <p:sp>
        <p:nvSpPr>
          <p:cNvPr id="106" name="hcValue"/>
          <p:cNvSpPr txBox="1"/>
          <p:nvPr/>
        </p:nvSpPr>
        <p:spPr>
          <a:xfrm>
            <a:off x="2435723" y="1481328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20.5%</a:t>
            </a:r>
          </a:p>
        </p:txBody>
      </p:sp>
      <p:sp>
        <p:nvSpPr>
          <p:cNvPr id="107" name="lownoValue"/>
          <p:cNvSpPr txBox="1"/>
          <p:nvPr/>
        </p:nvSpPr>
        <p:spPr>
          <a:xfrm>
            <a:off x="5892319" y="1481328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74.4%</a:t>
            </a:r>
          </a:p>
        </p:txBody>
      </p:sp>
      <p:sp>
        <p:nvSpPr>
          <p:cNvPr id="108" name="hcValue"/>
          <p:cNvSpPr txBox="1"/>
          <p:nvPr/>
        </p:nvSpPr>
        <p:spPr>
          <a:xfrm>
            <a:off x="4357482" y="2139696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78.9%</a:t>
            </a:r>
          </a:p>
        </p:txBody>
      </p:sp>
      <p:sp>
        <p:nvSpPr>
          <p:cNvPr id="109" name="lownoValue"/>
          <p:cNvSpPr txBox="1"/>
          <p:nvPr/>
        </p:nvSpPr>
        <p:spPr>
          <a:xfrm>
            <a:off x="7863291" y="2139696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14.6%</a:t>
            </a:r>
          </a:p>
        </p:txBody>
      </p:sp>
      <p:cxnSp>
        <p:nvCxnSpPr>
          <p:cNvPr id="110" name="mixedLeader"/>
          <p:cNvCxnSpPr/>
          <p:nvPr/>
        </p:nvCxnSpPr>
        <p:spPr>
          <a:xfrm>
            <a:off x="3588402" y="1353312"/>
            <a:ext cx="0" cy="128016"/>
          </a:xfrm>
          <a:prstGeom prst="line">
            <a:avLst/>
          </a:prstGeom>
          <a:ln w="6350">
            <a:solidFill>
              <a:srgbClr val="44505C"/>
            </a:solidFill>
          </a:ln>
        </p:spPr>
      </p:cxnSp>
      <p:sp>
        <p:nvSpPr>
          <p:cNvPr id="111" name="mixedTag"/>
          <p:cNvSpPr txBox="1"/>
          <p:nvPr/>
        </p:nvSpPr>
        <p:spPr>
          <a:xfrm>
            <a:off x="3396378" y="1200607"/>
            <a:ext cx="384048" cy="152705"/>
          </a:xfrm>
          <a:prstGeom prst="rect">
            <a:avLst/>
          </a:prstGeom>
          <a:solidFill>
            <a:srgbClr val="4C6C9C"/>
          </a:solidFill>
          <a:ln>
            <a:noFill/>
          </a:ln>
        </p:spPr>
        <p:txBody>
          <a:bodyPr wrap="none" anchor="ctr" lIns="17463" tIns="0" rIns="17463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1.3%</a:t>
            </a:r>
          </a:p>
        </p:txBody>
      </p:sp>
      <p:cxnSp>
        <p:nvCxnSpPr>
          <p:cNvPr id="112" name="partialLeader"/>
          <p:cNvCxnSpPr/>
          <p:nvPr/>
        </p:nvCxnSpPr>
        <p:spPr>
          <a:xfrm>
            <a:off x="3753159" y="1810512"/>
            <a:ext cx="0" cy="128016"/>
          </a:xfrm>
          <a:prstGeom prst="line">
            <a:avLst/>
          </a:prstGeom>
          <a:ln w="6350">
            <a:solidFill>
              <a:srgbClr val="44505C"/>
            </a:solidFill>
          </a:ln>
        </p:spPr>
      </p:cxnSp>
      <p:sp>
        <p:nvSpPr>
          <p:cNvPr id="113" name="partialTag"/>
          <p:cNvSpPr txBox="1"/>
          <p:nvPr/>
        </p:nvSpPr>
        <p:spPr>
          <a:xfrm>
            <a:off x="3561135" y="1938528"/>
            <a:ext cx="384048" cy="152705"/>
          </a:xfrm>
          <a:prstGeom prst="rect">
            <a:avLst/>
          </a:prstGeom>
          <a:solidFill>
            <a:srgbClr val="9DB1CF"/>
          </a:solidFill>
          <a:ln>
            <a:noFill/>
          </a:ln>
        </p:spPr>
        <p:txBody>
          <a:bodyPr wrap="none" anchor="ctr" lIns="17463" tIns="0" rIns="17463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3.7%</a:t>
            </a:r>
          </a:p>
        </p:txBody>
      </p:sp>
      <p:cxnSp>
        <p:nvCxnSpPr>
          <p:cNvPr id="114" name="mixedLeader"/>
          <p:cNvCxnSpPr/>
          <p:nvPr/>
        </p:nvCxnSpPr>
        <p:spPr>
          <a:xfrm>
            <a:off x="7481255" y="2011680"/>
            <a:ext cx="0" cy="128016"/>
          </a:xfrm>
          <a:prstGeom prst="line">
            <a:avLst/>
          </a:prstGeom>
          <a:ln w="6350">
            <a:solidFill>
              <a:srgbClr val="44505C"/>
            </a:solidFill>
          </a:ln>
        </p:spPr>
      </p:cxnSp>
      <p:sp>
        <p:nvSpPr>
          <p:cNvPr id="115" name="mixedTag"/>
          <p:cNvSpPr txBox="1"/>
          <p:nvPr/>
        </p:nvSpPr>
        <p:spPr>
          <a:xfrm>
            <a:off x="7289231" y="1858975"/>
            <a:ext cx="384048" cy="152705"/>
          </a:xfrm>
          <a:prstGeom prst="rect">
            <a:avLst/>
          </a:prstGeom>
          <a:solidFill>
            <a:srgbClr val="4C6C9C"/>
          </a:solidFill>
          <a:ln>
            <a:noFill/>
          </a:ln>
        </p:spPr>
        <p:txBody>
          <a:bodyPr wrap="none" anchor="ctr" lIns="17463" tIns="0" rIns="17463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2.8%</a:t>
            </a:r>
          </a:p>
        </p:txBody>
      </p:sp>
      <p:cxnSp>
        <p:nvCxnSpPr>
          <p:cNvPr id="116" name="partialLeader"/>
          <p:cNvCxnSpPr/>
          <p:nvPr/>
        </p:nvCxnSpPr>
        <p:spPr>
          <a:xfrm>
            <a:off x="7695225" y="2468880"/>
            <a:ext cx="0" cy="128016"/>
          </a:xfrm>
          <a:prstGeom prst="line">
            <a:avLst/>
          </a:prstGeom>
          <a:ln w="6350">
            <a:solidFill>
              <a:srgbClr val="44505C"/>
            </a:solidFill>
          </a:ln>
        </p:spPr>
      </p:cxnSp>
      <p:sp>
        <p:nvSpPr>
          <p:cNvPr id="117" name="partialTag"/>
          <p:cNvSpPr txBox="1"/>
          <p:nvPr/>
        </p:nvSpPr>
        <p:spPr>
          <a:xfrm>
            <a:off x="7503201" y="2596896"/>
            <a:ext cx="384048" cy="152705"/>
          </a:xfrm>
          <a:prstGeom prst="rect">
            <a:avLst/>
          </a:prstGeom>
          <a:solidFill>
            <a:srgbClr val="9DB1CF"/>
          </a:solidFill>
          <a:ln>
            <a:noFill/>
          </a:ln>
        </p:spPr>
        <p:txBody>
          <a:bodyPr wrap="none" anchor="ctr" lIns="17463" tIns="0" rIns="17463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3.7%</a:t>
            </a:r>
          </a:p>
        </p:txBody>
      </p:sp>
      <p:sp>
        <p:nvSpPr>
          <p:cNvPr id="118" name="LegendSwatch"/>
          <p:cNvSpPr txBox="1"/>
          <p:nvPr/>
        </p:nvSpPr>
        <p:spPr>
          <a:xfrm>
            <a:off x="9098280" y="1495044"/>
            <a:ext cx="155448" cy="118872"/>
          </a:xfrm>
          <a:prstGeom prst="rect">
            <a:avLst/>
          </a:prstGeom>
          <a:solidFill>
            <a:srgbClr val="1D4D68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9" name="LegendLabel"/>
          <p:cNvSpPr txBox="1"/>
          <p:nvPr/>
        </p:nvSpPr>
        <p:spPr>
          <a:xfrm>
            <a:off x="9336024" y="1417320"/>
            <a:ext cx="2368296" cy="27432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High-confidence single SWBS</a:t>
            </a:r>
            <a:r>
              <a:rPr lang="en-US" sz="900"/>
              <a:t>  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20.5% ct</a:t>
            </a:r>
            <a:r>
              <a:rPr lang="en-US" sz="900" dirty="0">
                <a:solidFill>
                  <a:srgbClr val="808080"/>
                </a:solidFill>
              </a:rPr>
              <a:t> ·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78.9% $</a:t>
            </a:r>
          </a:p>
        </p:txBody>
      </p:sp>
      <p:sp>
        <p:nvSpPr>
          <p:cNvPr id="120" name="LegendSwatch"/>
          <p:cNvSpPr txBox="1"/>
          <p:nvPr/>
        </p:nvSpPr>
        <p:spPr>
          <a:xfrm>
            <a:off x="9098280" y="1769364"/>
            <a:ext cx="155448" cy="118872"/>
          </a:xfrm>
          <a:prstGeom prst="rect">
            <a:avLst/>
          </a:prstGeom>
          <a:solidFill>
            <a:srgbClr val="4C6C9C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1" name="LegendLabel"/>
          <p:cNvSpPr txBox="1"/>
          <p:nvPr/>
        </p:nvSpPr>
        <p:spPr>
          <a:xfrm>
            <a:off x="9336024" y="1691640"/>
            <a:ext cx="2368296" cy="27432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High-coverage mixed</a:t>
            </a:r>
            <a:r>
              <a:rPr lang="en-US" sz="900"/>
              <a:t>  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1.3% ct</a:t>
            </a:r>
            <a:r>
              <a:rPr lang="en-US" sz="900" dirty="0">
                <a:solidFill>
                  <a:srgbClr val="808080"/>
                </a:solidFill>
              </a:rPr>
              <a:t> ·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2.8% $</a:t>
            </a:r>
          </a:p>
        </p:txBody>
      </p:sp>
      <p:sp>
        <p:nvSpPr>
          <p:cNvPr id="122" name="LegendSwatch"/>
          <p:cNvSpPr txBox="1"/>
          <p:nvPr/>
        </p:nvSpPr>
        <p:spPr>
          <a:xfrm>
            <a:off x="9098280" y="2043684"/>
            <a:ext cx="155448" cy="118872"/>
          </a:xfrm>
          <a:prstGeom prst="rect">
            <a:avLst/>
          </a:prstGeom>
          <a:solidFill>
            <a:srgbClr val="9DB1CF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3" name="LegendLabel"/>
          <p:cNvSpPr txBox="1"/>
          <p:nvPr/>
        </p:nvSpPr>
        <p:spPr>
          <a:xfrm>
            <a:off x="9336024" y="1965960"/>
            <a:ext cx="2368296" cy="27432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 SWBS evidence</a:t>
            </a:r>
            <a:r>
              <a:rPr lang="en-US" sz="900"/>
              <a:t>  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3.7% ct</a:t>
            </a:r>
            <a:r>
              <a:rPr lang="en-US" sz="900" dirty="0">
                <a:solidFill>
                  <a:srgbClr val="808080"/>
                </a:solidFill>
              </a:rPr>
              <a:t> ·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3.7% $</a:t>
            </a:r>
          </a:p>
        </p:txBody>
      </p:sp>
      <p:sp>
        <p:nvSpPr>
          <p:cNvPr id="124" name="LegendSwatch"/>
          <p:cNvSpPr txBox="1"/>
          <p:nvPr/>
        </p:nvSpPr>
        <p:spPr>
          <a:xfrm>
            <a:off x="9098280" y="2318004"/>
            <a:ext cx="155448" cy="118872"/>
          </a:xfrm>
          <a:prstGeom prst="rect">
            <a:avLst/>
          </a:prstGeom>
          <a:solidFill>
            <a:srgbClr val="BFBFBF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5" name="LegendLabel"/>
          <p:cNvSpPr txBox="1"/>
          <p:nvPr/>
        </p:nvSpPr>
        <p:spPr>
          <a:xfrm>
            <a:off x="9336024" y="2240280"/>
            <a:ext cx="2368296" cy="27432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/ no SWBS evidence</a:t>
            </a:r>
            <a:r>
              <a:rPr lang="en-US" sz="900"/>
              <a:t>  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74.4% ct</a:t>
            </a:r>
            <a:r>
              <a:rPr lang="en-US" sz="900" dirty="0">
                <a:solidFill>
                  <a:srgbClr val="808080"/>
                </a:solidFill>
              </a:rPr>
              <a:t> ·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14.6% $</a:t>
            </a:r>
          </a:p>
        </p:txBody>
      </p:sp>
      <p:sp>
        <p:nvSpPr>
          <p:cNvPr id="9999" name="Source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Note: ¹ SOCAIL, LDA reads as an unresolved supplier archetype, but DDG SWBS resolves it to 234 propulsion gas turbines. Evidence class: High-confidence = ≥80% SWBS coverage and ≥70% of $ in one primary SWBS group; Mixed = ≥80% coverage, &lt;70% concentration; Partial = 50–79% coverage; Low/no = &lt;50%. Vendor-count shares are of the 375-vendor HII DDG base. | Source: DDG Subaward Transactions (Builder = HII-Ingalls); constant FY2026 $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Mapping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DDG-51 Subawards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DDG-51 Hull Attribution | SWBS is strong at the HII program/vendor level, while exact hull attribution is a narrower confidence-scored subset.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LeftZoneHeader"/>
          <p:cNvSpPr txBox="1"/>
          <p:nvPr/>
        </p:nvSpPr>
        <p:spPr>
          <a:xfrm>
            <a:off x="452628" y="1444752"/>
            <a:ext cx="5536692" cy="256032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All DDG-51 subaward $ — hull-attribution confidence</a:t>
            </a:r>
          </a:p>
        </p:txBody>
      </p:sp>
      <p:sp>
        <p:nvSpPr>
          <p:cNvPr id="101" name="RightZoneHeader"/>
          <p:cNvSpPr txBox="1"/>
          <p:nvPr/>
        </p:nvSpPr>
        <p:spPr>
          <a:xfrm>
            <a:off x="6355080" y="1444752"/>
            <a:ext cx="5376672" cy="256032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Recent exact-hull subset — SWBS mix</a:t>
            </a:r>
          </a:p>
        </p:txBody>
      </p:sp>
      <p:cxnSp>
        <p:nvCxnSpPr>
          <p:cNvPr id="102" name="LeftHeaderRule"/>
          <p:cNvCxnSpPr/>
          <p:nvPr/>
        </p:nvCxnSpPr>
        <p:spPr>
          <a:xfrm>
            <a:off x="452628" y="1755648"/>
            <a:ext cx="5536692" cy="0"/>
          </a:xfrm>
          <a:prstGeom prst="line">
            <a:avLst/>
          </a:prstGeom>
          <a:ln w="9525">
            <a:solidFill>
              <a:srgbClr val="808080"/>
            </a:solidFill>
          </a:ln>
        </p:spPr>
      </p:cxnSp>
      <p:cxnSp>
        <p:nvCxnSpPr>
          <p:cNvPr id="103" name="RightHeaderRule"/>
          <p:cNvCxnSpPr/>
          <p:nvPr/>
        </p:nvCxnSpPr>
        <p:spPr>
          <a:xfrm>
            <a:off x="6355080" y="1755648"/>
            <a:ext cx="5376672" cy="0"/>
          </a:xfrm>
          <a:prstGeom prst="line">
            <a:avLst/>
          </a:prstGeom>
          <a:ln w="9525">
            <a:solidFill>
              <a:srgbClr val="808080"/>
            </a:solidFill>
          </a:ln>
        </p:spPr>
      </p:cxnSp>
      <p:cxnSp>
        <p:nvCxnSpPr>
          <p:cNvPr id="104" name="ZoneDivider"/>
          <p:cNvCxnSpPr/>
          <p:nvPr/>
        </p:nvCxnSpPr>
        <p:spPr>
          <a:xfrm>
            <a:off x="6153912" y="1444752"/>
            <a:ext cx="0" cy="4133088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graphicFrame>
        <p:nvGraphicFramePr>
          <p:cNvPr id="105" name="HullConfidenceTable"/>
          <p:cNvGraphicFramePr>
            <a:graphicFrameLocks noGrp="1"/>
          </p:cNvGraphicFramePr>
          <p:nvPr/>
        </p:nvGraphicFramePr>
        <p:xfrm>
          <a:off x="452628" y="1810512"/>
          <a:ext cx="5536692" cy="2340864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868680"/>
                <a:gridCol w="3611880"/>
                <a:gridCol w="1056132"/>
              </a:tblGrid>
              <a:tr h="310896"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Confidence</a:t>
                      </a:r>
                    </a:p>
                  </a:txBody>
                  <a:tcPr marL="45720" marR="45720" marT="45720" marB="4572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45720" marR="45720" marT="45720" marB="4572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Share of DDG $</a:t>
                      </a:r>
                    </a:p>
                  </a:txBody>
                  <a:tcPr marL="45720" marR="45720" marT="45720" marB="4572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02336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3D597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Official exact / single-ship PIID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1.7%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3D597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Direct subaward text names one in-family hull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29.8%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402336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Prime requirement text only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44.4%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402336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PIID family only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24.0%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X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Conflict / review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0.1%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6" name="ExactHullBandOutline"/>
          <p:cNvSpPr txBox="1"/>
          <p:nvPr/>
        </p:nvSpPr>
        <p:spPr>
          <a:xfrm>
            <a:off x="452628" y="2121408"/>
            <a:ext cx="5536692" cy="859536"/>
          </a:xfrm>
          <a:prstGeom prst="rect">
            <a:avLst/>
          </a:prstGeom>
          <a:noFill/>
          <a:ln w="19050">
            <a:solidFill>
              <a:srgbClr val="007770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7" name="ExactHull315Callout"/>
          <p:cNvSpPr txBox="1"/>
          <p:nvPr/>
        </p:nvSpPr>
        <p:spPr>
          <a:xfrm>
            <a:off x="452628" y="4297680"/>
            <a:ext cx="5536692" cy="502920"/>
          </a:xfrm>
          <a:prstGeom prst="rect">
            <a:avLst/>
          </a:prstGeom>
          <a:solidFill>
            <a:srgbClr val="CEDDEC"/>
          </a:solidFill>
          <a:ln w="12700">
            <a:solidFill>
              <a:srgbClr val="00777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A/B exact-hull attribution = 31.5% of DDG $</a:t>
            </a:r>
          </a:p>
        </p:txBody>
      </p:sp>
      <p:sp>
        <p:nvSpPr>
          <p:cNvPr id="108" name="DenominatorCaveat"/>
          <p:cNvSpPr txBox="1"/>
          <p:nvPr/>
        </p:nvSpPr>
        <p:spPr>
          <a:xfrm>
            <a:off x="452628" y="4937760"/>
            <a:ext cx="5536692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31.5% (A/B) is share of all observed DDG-51 $ (~$4.03B); the $870.9M recent subset is a curated FY23–27 MYP slice within the A/B band.</a:t>
            </a:r>
          </a:p>
        </p:txBody>
      </p:sp>
      <p:sp>
        <p:nvSpPr>
          <p:cNvPr id="109" name="ZoomCaption"/>
          <p:cNvSpPr txBox="1"/>
          <p:nvPr/>
        </p:nvSpPr>
        <p:spPr>
          <a:xfrm>
            <a:off x="6355080" y="1792224"/>
            <a:ext cx="5376672" cy="237744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007770"/>
                </a:solidFill>
                <a:latin typeface="Arial"/>
                <a:ea typeface="Arial"/>
                <a:cs typeface="Arial"/>
              </a:rPr>
              <a:t>Zoom into the A/B exact-hull band: recent FY23–27 MYP slice (DDG 141–149)</a:t>
            </a:r>
          </a:p>
        </p:txBody>
      </p:sp>
      <p:sp>
        <p:nvSpPr>
          <p:cNvPr id="110" name="KpiCardAssignedSpend"/>
          <p:cNvSpPr txBox="1"/>
          <p:nvPr/>
        </p:nvSpPr>
        <p:spPr>
          <a:xfrm>
            <a:off x="6355080" y="2103120"/>
            <a:ext cx="260604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$870.9M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Recent exact-hull assigned spend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FY23–27 MYP · DDG 141–149</a:t>
            </a:r>
          </a:p>
        </p:txBody>
      </p:sp>
      <p:sp>
        <p:nvSpPr>
          <p:cNvPr id="111" name="KpiCardCoverage"/>
          <p:cNvSpPr txBox="1"/>
          <p:nvPr/>
        </p:nvSpPr>
        <p:spPr>
          <a:xfrm>
            <a:off x="9125712" y="2103120"/>
            <a:ext cx="260604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007770"/>
                </a:solidFill>
                <a:latin typeface="Arial"/>
                <a:ea typeface="Arial"/>
                <a:cs typeface="Arial"/>
              </a:rPr>
              <a:t>98.5%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SWBS coverage of that subset</a:t>
            </a:r>
          </a:p>
          <a:p>
            <a:pPr algn="ctr">
              <a:lnSpc>
                <a:spcPct val="100000"/>
              </a:lnSpc>
              <a:buNone/>
            </a:pPr>
            <a:endParaRPr lang="en-US" sz="900"/>
          </a:p>
        </p:txBody>
      </p:sp>
      <p:graphicFrame>
        <p:nvGraphicFramePr>
          <p:cNvPr id="112" name="RecentExactHullSwbsMix"/>
          <p:cNvGraphicFramePr/>
          <p:nvPr/>
        </p:nvGraphicFramePr>
        <p:xfrm>
          <a:off x="7223760" y="3246120"/>
          <a:ext cx="182880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3" name="ChartTitle"/>
          <p:cNvSpPr txBox="1"/>
          <p:nvPr/>
        </p:nvSpPr>
        <p:spPr>
          <a:xfrm>
            <a:off x="7223760" y="3035808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Exact-hull subset by SWBS group </a:t>
            </a:r>
            <a:r>
              <a:rPr lang="en-US" sz="10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(% of $870.9M; incl. U00)</a:t>
            </a:r>
          </a:p>
        </p:txBody>
      </p:sp>
      <p:sp>
        <p:nvSpPr>
          <p:cNvPr id="114" name="LegendSwatchU00"/>
          <p:cNvSpPr txBox="1"/>
          <p:nvPr/>
        </p:nvSpPr>
        <p:spPr>
          <a:xfrm>
            <a:off x="9281160" y="4479188"/>
            <a:ext cx="155448" cy="118872"/>
          </a:xfrm>
          <a:prstGeom prst="rect">
            <a:avLst/>
          </a:prstGeom>
          <a:pattFill prst="ltUpDiag">
            <a:fgClr>
              <a:srgbClr val="808080"/>
            </a:fgClr>
            <a:bgClr>
              <a:srgbClr val="FFFFFF"/>
            </a:bgClr>
          </a:patt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5" name="LegendLabel"/>
          <p:cNvSpPr txBox="1"/>
          <p:nvPr/>
        </p:nvSpPr>
        <p:spPr>
          <a:xfrm>
            <a:off x="9555480" y="4447184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U00 / No SWBS evidence</a:t>
            </a:r>
          </a:p>
        </p:txBody>
      </p:sp>
      <p:sp>
        <p:nvSpPr>
          <p:cNvPr id="116" name="LegendSwatch"/>
          <p:cNvSpPr txBox="1"/>
          <p:nvPr/>
        </p:nvSpPr>
        <p:spPr>
          <a:xfrm>
            <a:off x="9281160" y="4703216"/>
            <a:ext cx="155448" cy="118872"/>
          </a:xfrm>
          <a:prstGeom prst="rect">
            <a:avLst/>
          </a:prstGeom>
          <a:solidFill>
            <a:srgbClr val="BFBFBF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7" name="LegendLabel"/>
          <p:cNvSpPr txBox="1"/>
          <p:nvPr/>
        </p:nvSpPr>
        <p:spPr>
          <a:xfrm>
            <a:off x="9555480" y="4671212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mapped</a:t>
            </a:r>
          </a:p>
        </p:txBody>
      </p:sp>
      <p:sp>
        <p:nvSpPr>
          <p:cNvPr id="118" name="LegendSwatch"/>
          <p:cNvSpPr txBox="1"/>
          <p:nvPr/>
        </p:nvSpPr>
        <p:spPr>
          <a:xfrm>
            <a:off x="9281160" y="4927244"/>
            <a:ext cx="155448" cy="118872"/>
          </a:xfrm>
          <a:prstGeom prst="rect">
            <a:avLst/>
          </a:prstGeom>
          <a:solidFill>
            <a:srgbClr val="6E91B1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9" name="LegendLabel"/>
          <p:cNvSpPr txBox="1"/>
          <p:nvPr/>
        </p:nvSpPr>
        <p:spPr>
          <a:xfrm>
            <a:off x="9555480" y="489524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300 Electric Plant</a:t>
            </a:r>
          </a:p>
        </p:txBody>
      </p:sp>
      <p:sp>
        <p:nvSpPr>
          <p:cNvPr id="120" name="LegendSwatch"/>
          <p:cNvSpPr txBox="1"/>
          <p:nvPr/>
        </p:nvSpPr>
        <p:spPr>
          <a:xfrm>
            <a:off x="9281160" y="5151272"/>
            <a:ext cx="155448" cy="118872"/>
          </a:xfrm>
          <a:prstGeom prst="rect">
            <a:avLst/>
          </a:prstGeom>
          <a:solidFill>
            <a:srgbClr val="4C6C9C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1" name="LegendLabel"/>
          <p:cNvSpPr txBox="1"/>
          <p:nvPr/>
        </p:nvSpPr>
        <p:spPr>
          <a:xfrm>
            <a:off x="9555480" y="5119268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500 Auxiliary Systems</a:t>
            </a:r>
          </a:p>
        </p:txBody>
      </p:sp>
      <p:sp>
        <p:nvSpPr>
          <p:cNvPr id="122" name="LegendSwatch"/>
          <p:cNvSpPr txBox="1"/>
          <p:nvPr/>
        </p:nvSpPr>
        <p:spPr>
          <a:xfrm>
            <a:off x="9281160" y="5375300"/>
            <a:ext cx="155448" cy="118872"/>
          </a:xfrm>
          <a:prstGeom prst="rect">
            <a:avLst/>
          </a:prstGeom>
          <a:solidFill>
            <a:srgbClr val="1D4D68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3" name="LegendLabel"/>
          <p:cNvSpPr txBox="1"/>
          <p:nvPr/>
        </p:nvSpPr>
        <p:spPr>
          <a:xfrm>
            <a:off x="9555480" y="5343296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200 Propulsion Plant</a:t>
            </a:r>
          </a:p>
        </p:txBody>
      </p:sp>
      <p:cxnSp>
        <p:nvCxnSpPr>
          <p:cNvPr id="124" name="ZoomArrow"/>
          <p:cNvCxnSpPr/>
          <p:nvPr/>
        </p:nvCxnSpPr>
        <p:spPr>
          <a:xfrm>
            <a:off x="6016752" y="2551176"/>
            <a:ext cx="310896" cy="0"/>
          </a:xfrm>
          <a:prstGeom prst="line">
            <a:avLst/>
          </a:prstGeom>
          <a:ln w="12700">
            <a:solidFill>
              <a:srgbClr val="007770"/>
            </a:solidFill>
            <a:prstDash val="dash"/>
            <a:tailEnd type="triangle" w="med" len="med"/>
          </a:ln>
        </p:spPr>
      </p:cxnSp>
      <p:sp>
        <p:nvSpPr>
          <p:cNvPr id="9999" name="Source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Note: $ in constant FY2026 dollars; shares may not sum to 100% due to rounding | Source: USAspending subaward data; HII-Ingalls reported subawards; [project workbook]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Distributed Shipbuilding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Approach | The market is sized two ways: a budget-down TAM of addressable outsourced work and a transaction-up SAM of the observed supplier network.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FoundationLine"/>
          <p:cNvSpPr txBox="1"/>
          <p:nvPr/>
        </p:nvSpPr>
        <p:spPr>
          <a:xfrm>
            <a:off x="452628" y="1335024"/>
            <a:ext cx="11283696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Both pipelines cover outsourced new-construction on DDG-51, Virginia, and Columbia, stated in constant FY2026 dollars.</a:t>
            </a:r>
          </a:p>
        </p:txBody>
      </p:sp>
      <p:sp>
        <p:nvSpPr>
          <p:cNvPr id="101" name="StageHeader"/>
          <p:cNvSpPr txBox="1"/>
          <p:nvPr/>
        </p:nvSpPr>
        <p:spPr>
          <a:xfrm>
            <a:off x="452628" y="1938528"/>
            <a:ext cx="539496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TAM</a:t>
            </a:r>
            <a:r>
              <a:rPr lang="en-US" sz="13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: addressable outsourced scope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(budget-down)</a:t>
            </a:r>
          </a:p>
        </p:txBody>
      </p:sp>
      <p:cxnSp>
        <p:nvCxnSpPr>
          <p:cNvPr id="102" name="HeaderRule"/>
          <p:cNvCxnSpPr/>
          <p:nvPr/>
        </p:nvCxnSpPr>
        <p:spPr>
          <a:xfrm>
            <a:off x="452628" y="2377440"/>
            <a:ext cx="5394960" cy="0"/>
          </a:xfrm>
          <a:prstGeom prst="line">
            <a:avLst/>
          </a:prstGeom>
          <a:ln w="12700">
            <a:solidFill>
              <a:srgbClr val="162029"/>
            </a:solidFill>
          </a:ln>
        </p:spPr>
      </p:cxnSp>
      <p:sp>
        <p:nvSpPr>
          <p:cNvPr id="103" name="StageHeader"/>
          <p:cNvSpPr txBox="1"/>
          <p:nvPr/>
        </p:nvSpPr>
        <p:spPr>
          <a:xfrm>
            <a:off x="6341364" y="1938528"/>
            <a:ext cx="539496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SAM</a:t>
            </a:r>
            <a:r>
              <a:rPr lang="en-US" sz="13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: observed supplier network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(transaction-up)</a:t>
            </a:r>
          </a:p>
        </p:txBody>
      </p:sp>
      <p:cxnSp>
        <p:nvCxnSpPr>
          <p:cNvPr id="104" name="HeaderRule"/>
          <p:cNvCxnSpPr/>
          <p:nvPr/>
        </p:nvCxnSpPr>
        <p:spPr>
          <a:xfrm>
            <a:off x="6341364" y="2377440"/>
            <a:ext cx="5394960" cy="0"/>
          </a:xfrm>
          <a:prstGeom prst="line">
            <a:avLst/>
          </a:prstGeom>
          <a:ln w="12700">
            <a:solidFill>
              <a:srgbClr val="162029"/>
            </a:solidFill>
          </a:ln>
        </p:spPr>
      </p:cxnSp>
      <p:sp>
        <p:nvSpPr>
          <p:cNvPr id="105" name="Operator"/>
          <p:cNvSpPr txBox="1"/>
          <p:nvPr/>
        </p:nvSpPr>
        <p:spPr>
          <a:xfrm>
            <a:off x="3003804" y="3056382"/>
            <a:ext cx="292608" cy="292608"/>
          </a:xfrm>
          <a:prstGeom prst="mathMultiply">
            <a:avLst/>
          </a:prstGeom>
          <a:solidFill>
            <a:srgbClr val="162029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6" name="Operator"/>
          <p:cNvSpPr txBox="1"/>
          <p:nvPr/>
        </p:nvSpPr>
        <p:spPr>
          <a:xfrm>
            <a:off x="3003804" y="3929634"/>
            <a:ext cx="292608" cy="292608"/>
          </a:xfrm>
          <a:prstGeom prst="mathEqual">
            <a:avLst/>
          </a:prstGeom>
          <a:solidFill>
            <a:srgbClr val="162029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7" name="PipelineBox"/>
          <p:cNvSpPr txBox="1"/>
          <p:nvPr/>
        </p:nvSpPr>
        <p:spPr>
          <a:xfrm>
            <a:off x="452628" y="2505456"/>
            <a:ext cx="5394960" cy="502920"/>
          </a:xfrm>
          <a:prstGeom prst="rect">
            <a:avLst/>
          </a:prstGeom>
          <a:solidFill>
            <a:srgbClr val="E2E9EF"/>
          </a:solidFill>
          <a:ln w="1270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SCN Basic Construction base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program and fiscal year (excludes GFE)</a:t>
            </a:r>
          </a:p>
        </p:txBody>
      </p:sp>
      <p:sp>
        <p:nvSpPr>
          <p:cNvPr id="108" name="PipelineBox"/>
          <p:cNvSpPr txBox="1"/>
          <p:nvPr/>
        </p:nvSpPr>
        <p:spPr>
          <a:xfrm>
            <a:off x="452628" y="3378708"/>
            <a:ext cx="5394960" cy="502920"/>
          </a:xfrm>
          <a:prstGeom prst="rect">
            <a:avLst/>
          </a:prstGeom>
          <a:solidFill>
            <a:srgbClr val="B6C8D8"/>
          </a:solidFill>
          <a:ln w="1270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Outsourced share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% of Basic Construction performed outside the prime and co-prime yards</a:t>
            </a:r>
          </a:p>
        </p:txBody>
      </p:sp>
      <p:sp>
        <p:nvSpPr>
          <p:cNvPr id="109" name="PipelineBox"/>
          <p:cNvSpPr txBox="1"/>
          <p:nvPr/>
        </p:nvSpPr>
        <p:spPr>
          <a:xfrm>
            <a:off x="452628" y="4251960"/>
            <a:ext cx="5394960" cy="502920"/>
          </a:xfrm>
          <a:prstGeom prst="rect">
            <a:avLst/>
          </a:prstGeom>
          <a:solidFill>
            <a:srgbClr val="3D5972"/>
          </a:solidFill>
          <a:ln w="1905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Addressable outsourced market (TAM)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 by program and fiscal year</a:t>
            </a:r>
          </a:p>
        </p:txBody>
      </p:sp>
      <p:sp>
        <p:nvSpPr>
          <p:cNvPr id="110" name="CoeffCaption"/>
          <p:cNvSpPr txBox="1"/>
          <p:nvPr/>
        </p:nvSpPr>
        <p:spPr>
          <a:xfrm>
            <a:off x="452628" y="4919472"/>
            <a:ext cx="5394960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Applied outsourced share of Basic Construction, by program</a:t>
            </a:r>
          </a:p>
        </p:txBody>
      </p:sp>
      <p:sp>
        <p:nvSpPr>
          <p:cNvPr id="111" name="CoeffChip"/>
          <p:cNvSpPr txBox="1"/>
          <p:nvPr/>
        </p:nvSpPr>
        <p:spPr>
          <a:xfrm>
            <a:off x="452628" y="5102352"/>
            <a:ext cx="1700784" cy="310896"/>
          </a:xfrm>
          <a:prstGeom prst="rect">
            <a:avLst/>
          </a:prstGeom>
          <a:solidFill>
            <a:srgbClr val="B6C8D8"/>
          </a:solidFill>
          <a:ln w="12700">
            <a:solidFill>
              <a:srgbClr val="162029"/>
            </a:solidFill>
          </a:ln>
        </p:spPr>
        <p:txBody>
          <a:bodyPr wrap="square" anchor="ctr" lIns="18288" tIns="9144" rIns="18288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Virginia ~34%</a:t>
            </a:r>
          </a:p>
        </p:txBody>
      </p:sp>
      <p:sp>
        <p:nvSpPr>
          <p:cNvPr id="112" name="CoeffChip"/>
          <p:cNvSpPr txBox="1"/>
          <p:nvPr/>
        </p:nvSpPr>
        <p:spPr>
          <a:xfrm>
            <a:off x="2299716" y="5102352"/>
            <a:ext cx="1700784" cy="310896"/>
          </a:xfrm>
          <a:prstGeom prst="rect">
            <a:avLst/>
          </a:prstGeom>
          <a:solidFill>
            <a:srgbClr val="B6C8D8"/>
          </a:solidFill>
          <a:ln w="12700">
            <a:solidFill>
              <a:srgbClr val="162029"/>
            </a:solidFill>
          </a:ln>
        </p:spPr>
        <p:txBody>
          <a:bodyPr wrap="square" anchor="ctr" lIns="18288" tIns="9144" rIns="18288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Columbia ~22%</a:t>
            </a:r>
          </a:p>
        </p:txBody>
      </p:sp>
      <p:sp>
        <p:nvSpPr>
          <p:cNvPr id="113" name="CoeffChip"/>
          <p:cNvSpPr txBox="1"/>
          <p:nvPr/>
        </p:nvSpPr>
        <p:spPr>
          <a:xfrm>
            <a:off x="4146804" y="5102352"/>
            <a:ext cx="1700784" cy="310896"/>
          </a:xfrm>
          <a:prstGeom prst="rect">
            <a:avLst/>
          </a:prstGeom>
          <a:solidFill>
            <a:srgbClr val="B6C8D8"/>
          </a:solidFill>
          <a:ln w="12700">
            <a:solidFill>
              <a:srgbClr val="162029"/>
            </a:solidFill>
          </a:ln>
        </p:spPr>
        <p:txBody>
          <a:bodyPr wrap="square" anchor="ctr" lIns="18288" tIns="9144" rIns="18288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DDG-51 ~25%</a:t>
            </a:r>
          </a:p>
        </p:txBody>
      </p:sp>
      <p:cxnSp>
        <p:nvCxnSpPr>
          <p:cNvPr id="114" name="FlowArrow"/>
          <p:cNvCxnSpPr/>
          <p:nvPr/>
        </p:nvCxnSpPr>
        <p:spPr>
          <a:xfrm>
            <a:off x="9038844" y="2980944"/>
            <a:ext cx="0" cy="335585"/>
          </a:xfrm>
          <a:prstGeom prst="line">
            <a:avLst/>
          </a:prstGeom>
          <a:ln w="15875">
            <a:solidFill>
              <a:srgbClr val="162029"/>
            </a:solidFill>
            <a:tailEnd type="triangle" w="med" len="med"/>
          </a:ln>
        </p:spPr>
      </p:cxnSp>
      <p:cxnSp>
        <p:nvCxnSpPr>
          <p:cNvPr id="115" name="FlowArrow"/>
          <p:cNvCxnSpPr/>
          <p:nvPr/>
        </p:nvCxnSpPr>
        <p:spPr>
          <a:xfrm>
            <a:off x="9038844" y="3792017"/>
            <a:ext cx="0" cy="335585"/>
          </a:xfrm>
          <a:prstGeom prst="line">
            <a:avLst/>
          </a:prstGeom>
          <a:ln w="15875">
            <a:solidFill>
              <a:srgbClr val="162029"/>
            </a:solidFill>
            <a:tailEnd type="triangle" w="med" len="med"/>
          </a:ln>
        </p:spPr>
      </p:cxnSp>
      <p:cxnSp>
        <p:nvCxnSpPr>
          <p:cNvPr id="116" name="FlowArrow"/>
          <p:cNvCxnSpPr/>
          <p:nvPr/>
        </p:nvCxnSpPr>
        <p:spPr>
          <a:xfrm>
            <a:off x="9038844" y="4603090"/>
            <a:ext cx="0" cy="335585"/>
          </a:xfrm>
          <a:prstGeom prst="line">
            <a:avLst/>
          </a:prstGeom>
          <a:ln w="15875">
            <a:solidFill>
              <a:srgbClr val="162029"/>
            </a:solidFill>
            <a:tailEnd type="triangle" w="med" len="med"/>
          </a:ln>
        </p:spPr>
      </p:cxnSp>
      <p:sp>
        <p:nvSpPr>
          <p:cNvPr id="117" name="PipelineBox"/>
          <p:cNvSpPr txBox="1"/>
          <p:nvPr/>
        </p:nvSpPr>
        <p:spPr>
          <a:xfrm>
            <a:off x="6341364" y="2505456"/>
            <a:ext cx="5394960" cy="475488"/>
          </a:xfrm>
          <a:prstGeom prst="rect">
            <a:avLst/>
          </a:prstGeom>
          <a:solidFill>
            <a:srgbClr val="E2E9EF"/>
          </a:solidFill>
          <a:ln w="1270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subawards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under in-scope hull-builder prime contracts</a:t>
            </a:r>
          </a:p>
        </p:txBody>
      </p:sp>
      <p:sp>
        <p:nvSpPr>
          <p:cNvPr id="118" name="PipelineBox"/>
          <p:cNvSpPr txBox="1"/>
          <p:nvPr/>
        </p:nvSpPr>
        <p:spPr>
          <a:xfrm>
            <a:off x="6341364" y="3316529"/>
            <a:ext cx="5394960" cy="475488"/>
          </a:xfrm>
          <a:prstGeom prst="rect">
            <a:avLst/>
          </a:prstGeom>
          <a:solidFill>
            <a:srgbClr val="B6C8D8"/>
          </a:solidFill>
          <a:ln w="1270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up to supplier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row per UEI × Program</a:t>
            </a:r>
          </a:p>
        </p:txBody>
      </p:sp>
      <p:sp>
        <p:nvSpPr>
          <p:cNvPr id="119" name="PipelineBox"/>
          <p:cNvSpPr txBox="1"/>
          <p:nvPr/>
        </p:nvSpPr>
        <p:spPr>
          <a:xfrm>
            <a:off x="6341364" y="4127602"/>
            <a:ext cx="5394960" cy="475488"/>
          </a:xfrm>
          <a:prstGeom prst="rect">
            <a:avLst/>
          </a:prstGeom>
          <a:solidFill>
            <a:srgbClr val="6E91B1"/>
          </a:solidFill>
          <a:ln w="1270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 each supplier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into archetypes</a:t>
            </a:r>
          </a:p>
        </p:txBody>
      </p:sp>
      <p:sp>
        <p:nvSpPr>
          <p:cNvPr id="120" name="PipelineBox"/>
          <p:cNvSpPr txBox="1"/>
          <p:nvPr/>
        </p:nvSpPr>
        <p:spPr>
          <a:xfrm>
            <a:off x="6341364" y="4938674"/>
            <a:ext cx="5394960" cy="475488"/>
          </a:xfrm>
          <a:prstGeom prst="rect">
            <a:avLst/>
          </a:prstGeom>
          <a:solidFill>
            <a:srgbClr val="3D5972"/>
          </a:solidFill>
          <a:ln w="1905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Observed supplier map (SAM)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spend, concentration &amp; continuity → where to play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Subaward Mapping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SWBS Dollar Mix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DDG-51 SWBS Dollar Mix | 82.7% of observed HII-Ingalls dollars map to SWBS; 94.9% of mapped concentrate in Auxiliary, Propulsion, and Electric Plant.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graphicFrame>
        <p:nvGraphicFramePr>
          <p:cNvPr id="100" name="SwbsMixChart"/>
          <p:cNvGraphicFramePr/>
          <p:nvPr/>
        </p:nvGraphicFramePr>
        <p:xfrm>
          <a:off x="411480" y="2788920"/>
          <a:ext cx="6766560" cy="822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1" name="ChartTitle"/>
          <p:cNvSpPr txBox="1"/>
          <p:nvPr/>
        </p:nvSpPr>
        <p:spPr>
          <a:xfrm>
            <a:off x="452628" y="2596896"/>
            <a:ext cx="6675120" cy="182880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HII-Ingalls DDG-51 observed subawards by SWBS group </a:t>
            </a:r>
            <a:r>
              <a:rPr lang="en-US" sz="10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(% of the $3.96B HII base; segment % of total incl. U00)</a:t>
            </a:r>
          </a:p>
        </p:txBody>
      </p:sp>
      <p:sp>
        <p:nvSpPr>
          <p:cNvPr id="102" name="KpiCard"/>
          <p:cNvSpPr txBox="1"/>
          <p:nvPr/>
        </p:nvSpPr>
        <p:spPr>
          <a:xfrm>
            <a:off x="452628" y="1517904"/>
            <a:ext cx="260604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63500" tIns="36576" rIns="63500" bIns="36576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$4.03B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Observed DDG-51 subawards across all primes (constant FY2026$)</a:t>
            </a:r>
          </a:p>
        </p:txBody>
      </p:sp>
      <p:sp>
        <p:nvSpPr>
          <p:cNvPr id="103" name="KpiCard"/>
          <p:cNvSpPr txBox="1"/>
          <p:nvPr/>
        </p:nvSpPr>
        <p:spPr>
          <a:xfrm>
            <a:off x="3291840" y="1517904"/>
            <a:ext cx="260604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63500" tIns="36576" rIns="63500" bIns="36576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$3.96B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HII-Ingalls base — 98.2% of all observed DDG dollars</a:t>
            </a:r>
          </a:p>
        </p:txBody>
      </p:sp>
      <p:sp>
        <p:nvSpPr>
          <p:cNvPr id="104" name="KpiCard"/>
          <p:cNvSpPr txBox="1"/>
          <p:nvPr/>
        </p:nvSpPr>
        <p:spPr>
          <a:xfrm>
            <a:off x="6131052" y="1517904"/>
            <a:ext cx="260604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63500" tIns="36576" rIns="63500" bIns="36576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82.7%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HII-Ingalls dollars map to a SWBS ship-system group</a:t>
            </a:r>
          </a:p>
        </p:txBody>
      </p:sp>
      <p:sp>
        <p:nvSpPr>
          <p:cNvPr id="105" name="KpiCard"/>
          <p:cNvSpPr txBox="1"/>
          <p:nvPr/>
        </p:nvSpPr>
        <p:spPr>
          <a:xfrm>
            <a:off x="8970264" y="1517904"/>
            <a:ext cx="260604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63500" tIns="36576" rIns="63500" bIns="36576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94.9%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mapped dollars sit in Auxiliary · Propulsion · Electric Plant</a:t>
            </a:r>
          </a:p>
        </p:txBody>
      </p:sp>
      <p:cxnSp>
        <p:nvCxnSpPr>
          <p:cNvPr id="106" name="MappedBracketRule"/>
          <p:cNvCxnSpPr/>
          <p:nvPr/>
        </p:nvCxnSpPr>
        <p:spPr>
          <a:xfrm>
            <a:off x="492679" y="3675888"/>
            <a:ext cx="5461998" cy="0"/>
          </a:xfrm>
          <a:prstGeom prst="line">
            <a:avLst/>
          </a:prstGeom>
          <a:ln w="9525">
            <a:solidFill>
              <a:srgbClr val="808080"/>
            </a:solidFill>
          </a:ln>
        </p:spPr>
      </p:cxnSp>
      <p:cxnSp>
        <p:nvCxnSpPr>
          <p:cNvPr id="107" name="MappedTickL"/>
          <p:cNvCxnSpPr/>
          <p:nvPr/>
        </p:nvCxnSpPr>
        <p:spPr>
          <a:xfrm flipV="1">
            <a:off x="492679" y="3628339"/>
            <a:ext cx="0" cy="47549"/>
          </a:xfrm>
          <a:prstGeom prst="line">
            <a:avLst/>
          </a:prstGeom>
          <a:ln w="9525">
            <a:solidFill>
              <a:srgbClr val="808080"/>
            </a:solidFill>
          </a:ln>
        </p:spPr>
      </p:cxnSp>
      <p:cxnSp>
        <p:nvCxnSpPr>
          <p:cNvPr id="108" name="MappedTickR"/>
          <p:cNvCxnSpPr/>
          <p:nvPr/>
        </p:nvCxnSpPr>
        <p:spPr>
          <a:xfrm flipV="1">
            <a:off x="5954676" y="3628339"/>
            <a:ext cx="0" cy="47549"/>
          </a:xfrm>
          <a:prstGeom prst="line">
            <a:avLst/>
          </a:prstGeom>
          <a:ln w="9525">
            <a:solidFill>
              <a:srgbClr val="808080"/>
            </a:solidFill>
          </a:ln>
        </p:spPr>
      </p:cxnSp>
      <p:sp>
        <p:nvSpPr>
          <p:cNvPr id="109" name="MappedBracketCaption"/>
          <p:cNvSpPr txBox="1"/>
          <p:nvPr/>
        </p:nvSpPr>
        <p:spPr>
          <a:xfrm>
            <a:off x="492679" y="3739896"/>
            <a:ext cx="5461998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18288" rIns="18288" bIns="0"/>
          <a:lstStyle/>
          <a:p>
            <a:pPr algn="ctr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SWBS-mapped: 82.7% of HII DDG ($3.27B) — </a:t>
            </a:r>
            <a:r>
              <a:rPr lang="en-US" sz="9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94.9% of mapped sits in Auxiliary · Propulsion · Electric Plant</a:t>
            </a:r>
          </a:p>
        </p:txBody>
      </p:sp>
      <p:cxnSp>
        <p:nvCxnSpPr>
          <p:cNvPr id="110" name="U00BracketRule"/>
          <p:cNvCxnSpPr/>
          <p:nvPr/>
        </p:nvCxnSpPr>
        <p:spPr>
          <a:xfrm>
            <a:off x="5954676" y="3675888"/>
            <a:ext cx="1142165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111" name="U00TickR"/>
          <p:cNvCxnSpPr/>
          <p:nvPr/>
        </p:nvCxnSpPr>
        <p:spPr>
          <a:xfrm flipV="1">
            <a:off x="7096841" y="3628339"/>
            <a:ext cx="0" cy="47549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12" name="U00BracketCaption"/>
          <p:cNvSpPr txBox="1"/>
          <p:nvPr/>
        </p:nvSpPr>
        <p:spPr>
          <a:xfrm>
            <a:off x="5954676" y="3739896"/>
            <a:ext cx="1142165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9144" tIns="18288" rIns="9144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U00: 17.3%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no SWBS evidence</a:t>
            </a:r>
          </a:p>
        </p:txBody>
      </p:sp>
      <p:graphicFrame>
        <p:nvGraphicFramePr>
          <p:cNvPr id="113" name="SwbsReferenceTable"/>
          <p:cNvGraphicFramePr>
            <a:graphicFrameLocks noGrp="1"/>
          </p:cNvGraphicFramePr>
          <p:nvPr/>
        </p:nvGraphicFramePr>
        <p:xfrm>
          <a:off x="452628" y="4261104"/>
          <a:ext cx="6675120" cy="1335024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92608"/>
                <a:gridCol w="3108960"/>
                <a:gridCol w="1627632"/>
                <a:gridCol w="1645920"/>
              </a:tblGrid>
              <a:tr h="25603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SWBS group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Observed $M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% of HII DDG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364D6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500 Auxiliary Systems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$1,105.6M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27.9%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00777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200 Propulsion Plant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$1,093.6M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27.6%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C6C9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300 Electric Plant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$895.8M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22.6%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Other mapped groups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$177.9M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4.5%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i="1" dirty="0">
                          <a:solidFill>
                            <a:srgbClr val="808080"/>
                          </a:solidFill>
                          <a:latin typeface="Arial"/>
                          <a:ea typeface="Arial"/>
                          <a:cs typeface="Arial"/>
                        </a:rPr>
                        <a:t>U00 — No SWBS evidence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$684.4M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17.3%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4" name="RailHeader"/>
          <p:cNvGraphicFramePr>
            <a:graphicFrameLocks noGrp="1"/>
          </p:cNvGraphicFramePr>
          <p:nvPr/>
        </p:nvGraphicFramePr>
        <p:xfrm>
          <a:off x="7360920" y="2560320"/>
          <a:ext cx="4370832" cy="27432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4370832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the mapped dollars are buying</a:t>
                      </a:r>
                    </a:p>
                  </a:txBody>
                  <a:tcPr marL="9144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5" name="CommentaryRail"/>
          <p:cNvSpPr txBox="1"/>
          <p:nvPr/>
        </p:nvSpPr>
        <p:spPr>
          <a:xfrm>
            <a:off x="7360920" y="2907792"/>
            <a:ext cx="4370832" cy="265176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pPr marL="0" indent="0">
              <a:lnSpc>
                <a:spcPct val="104000"/>
              </a:lnSpc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500 Auxiliary Systems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—  </a:t>
            </a: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cooling, control &amp; survivability</a:t>
            </a:r>
          </a:p>
          <a:p>
            <a:pPr marL="171450" indent="-171450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Cooling, air-conditioning and ventilation alone run to ~$484M (~15% of mapped dollars), and steering and ship-control add ~$141M — mission-enabling equipment, not a low-tech tail.</a:t>
            </a:r>
          </a:p>
          <a:p>
            <a:pPr marL="0" indent="0">
              <a:lnSpc>
                <a:spcPct val="104000"/>
              </a:lnSpc>
              <a:spcBef>
                <a:spcPts val="700"/>
              </a:spcBef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200 Propulsion Plant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—  </a:t>
            </a: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full drivetrain</a:t>
            </a:r>
          </a:p>
          <a:p>
            <a:pPr marL="171450" indent="-171450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dollars resolve into a full mechanical chain — gas turbines (~$552M), then reduction gears, shafting and propulsors (~$451M) — not a single prime-mover line item.</a:t>
            </a:r>
          </a:p>
          <a:p>
            <a:pPr marL="0" indent="0">
              <a:lnSpc>
                <a:spcPct val="104000"/>
              </a:lnSpc>
              <a:spcBef>
                <a:spcPts val="700"/>
              </a:spcBef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300 Electric Plant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—  </a:t>
            </a: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Flight III power architecture</a:t>
            </a:r>
          </a:p>
          <a:p>
            <a:pPr marL="171450" indent="-171450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Spend splits into shipset-like generation (~$468M) and a broader distribution/conversion supply chain (~$409M) — the power-and-cooling architecture that Flight III radar loads require.</a:t>
            </a:r>
          </a:p>
          <a:p>
            <a:pPr marL="0" indent="0">
              <a:lnSpc>
                <a:spcPct val="104000"/>
              </a:lnSpc>
              <a:spcBef>
                <a:spcPts val="900"/>
              </a:spcBef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 this way, each dominant SWBS group is a distinct shipbuilding demand cluster — a more actionable lens than an entity-level supplier archetype.</a:t>
            </a:r>
          </a:p>
        </p:txBody>
      </p:sp>
      <p:sp>
        <p:nvSpPr>
          <p:cNvPr id="9999" name="Source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Note: HII-Ingalls observed DDG-51 subawards, constant FY2026$; SWBS coverage = non-U00 dollars / total HII DDG dollars | Source: Project subaward workbook; USAspending.gov subaward records; SWBS ship-system crosswalk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Subaward Attribution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Results Readout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Subaward-to-Hull Linkage Results | $1.27B pins to exact hulls, led by recent HII FY23-27 ships, with the remaining $2.75B held at contract-family level.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CoverageTitle"/>
          <p:cNvSpPr txBox="1"/>
          <p:nvPr/>
        </p:nvSpPr>
        <p:spPr>
          <a:xfrm>
            <a:off x="457200" y="1563624"/>
            <a:ext cx="6309360" cy="182880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subaward dollar coverage by attribution tier, FY2026$M</a:t>
            </a:r>
          </a:p>
        </p:txBody>
      </p:sp>
      <p:graphicFrame>
        <p:nvGraphicFramePr>
          <p:cNvPr id="101" name="CoverageColumn"/>
          <p:cNvGraphicFramePr/>
          <p:nvPr/>
        </p:nvGraphicFramePr>
        <p:xfrm>
          <a:off x="502920" y="1810512"/>
          <a:ext cx="132588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102" name="ExactBrace"/>
          <p:cNvCxnSpPr/>
          <p:nvPr/>
        </p:nvCxnSpPr>
        <p:spPr>
          <a:xfrm>
            <a:off x="1865376" y="2736499"/>
            <a:ext cx="0" cy="390749"/>
          </a:xfrm>
          <a:prstGeom prst="line">
            <a:avLst/>
          </a:prstGeom>
          <a:ln w="9525">
            <a:solidFill>
              <a:srgbClr val="808080"/>
            </a:solidFill>
          </a:ln>
        </p:spPr>
      </p:cxnSp>
      <p:cxnSp>
        <p:nvCxnSpPr>
          <p:cNvPr id="103" name="FamilyBrace"/>
          <p:cNvCxnSpPr/>
          <p:nvPr/>
        </p:nvCxnSpPr>
        <p:spPr>
          <a:xfrm>
            <a:off x="1865376" y="1889167"/>
            <a:ext cx="0" cy="847332"/>
          </a:xfrm>
          <a:prstGeom prst="line">
            <a:avLst/>
          </a:prstGeom>
          <a:ln w="9525">
            <a:solidFill>
              <a:srgbClr val="808080"/>
            </a:solidFill>
          </a:ln>
        </p:spPr>
      </p:cxnSp>
      <p:sp>
        <p:nvSpPr>
          <p:cNvPr id="104" name="ExactGroupLabel"/>
          <p:cNvSpPr txBox="1"/>
          <p:nvPr/>
        </p:nvSpPr>
        <p:spPr>
          <a:xfrm>
            <a:off x="1956816" y="2767281"/>
            <a:ext cx="1417320" cy="32918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hull</a:t>
            </a:r>
            <a:br/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$1.27B / 31.5%</a:t>
            </a:r>
          </a:p>
        </p:txBody>
      </p:sp>
      <p:sp>
        <p:nvSpPr>
          <p:cNvPr id="105" name="FamilyGroupLabel"/>
          <p:cNvSpPr txBox="1"/>
          <p:nvPr/>
        </p:nvSpPr>
        <p:spPr>
          <a:xfrm>
            <a:off x="1956816" y="2148241"/>
            <a:ext cx="1417320" cy="32918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Family-level</a:t>
            </a:r>
            <a:br/>
            <a:r>
              <a:rPr lang="en-US" sz="1000" b="1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$2.75B / 68.3%</a:t>
            </a:r>
          </a:p>
        </p:txBody>
      </p:sp>
      <p:sp>
        <p:nvSpPr>
          <p:cNvPr id="106" name="ReviewGroupLabel"/>
          <p:cNvSpPr txBox="1"/>
          <p:nvPr/>
        </p:nvSpPr>
        <p:spPr>
          <a:xfrm>
            <a:off x="1956816" y="1869217"/>
            <a:ext cx="1783080" cy="14630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 queue  $5M / 0.1%</a:t>
            </a:r>
          </a:p>
        </p:txBody>
      </p:sp>
      <p:sp>
        <p:nvSpPr>
          <p:cNvPr id="107" name="ReviewCallout"/>
          <p:cNvSpPr txBox="1"/>
          <p:nvPr/>
        </p:nvSpPr>
        <p:spPr>
          <a:xfrm>
            <a:off x="4114800" y="1796065"/>
            <a:ext cx="1783080" cy="274320"/>
          </a:xfrm>
          <a:prstGeom prst="wedgeRectCallout">
            <a:avLst>
              <a:gd name="adj1" fmla="val -118000"/>
              <a:gd name="adj2" fmla="val 30000"/>
            </a:avLst>
          </a:prstGeom>
          <a:solidFill>
            <a:srgbClr val="FFFFFF"/>
          </a:solidFill>
          <a:ln w="12700">
            <a:solidFill>
              <a:srgbClr val="808080"/>
            </a:solidFill>
          </a:ln>
        </p:spPr>
        <p:txBody>
          <a:bodyPr wrap="square" anchor="ctr" lIns="91440" tIns="45720" rIns="91440" bIns="4572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63 rows / $5.4M held for review</a:t>
            </a:r>
          </a:p>
        </p:txBody>
      </p:sp>
      <p:sp>
        <p:nvSpPr>
          <p:cNvPr id="108" name="RankedTitle"/>
          <p:cNvSpPr txBox="1"/>
          <p:nvPr/>
        </p:nvSpPr>
        <p:spPr>
          <a:xfrm>
            <a:off x="457200" y="3273552"/>
            <a:ext cx="4206240" cy="182880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Exact-hull assigned subaward dollars by hull, FY2026$M</a:t>
            </a:r>
          </a:p>
        </p:txBody>
      </p:sp>
      <p:sp>
        <p:nvSpPr>
          <p:cNvPr id="109" name="RankedSubtitle"/>
          <p:cNvSpPr txBox="1"/>
          <p:nvPr/>
        </p:nvSpPr>
        <p:spPr>
          <a:xfrm>
            <a:off x="457200" y="3456432"/>
            <a:ext cx="4754880" cy="164592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Exact-hull rows only; family-level spend is not forced onto hulls</a:t>
            </a:r>
          </a:p>
        </p:txBody>
      </p:sp>
      <p:graphicFrame>
        <p:nvGraphicFramePr>
          <p:cNvPr id="110" name="RankedHullColumns"/>
          <p:cNvGraphicFramePr/>
          <p:nvPr/>
        </p:nvGraphicFramePr>
        <p:xfrm>
          <a:off x="502920" y="3657600"/>
          <a:ext cx="6126480" cy="1481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1" name="BlockKeyChip"/>
          <p:cNvSpPr txBox="1"/>
          <p:nvPr/>
        </p:nvSpPr>
        <p:spPr>
          <a:xfrm>
            <a:off x="5779008" y="3685032"/>
            <a:ext cx="109728" cy="109728"/>
          </a:xfrm>
          <a:prstGeom prst="rect">
            <a:avLst/>
          </a:prstGeom>
          <a:solidFill>
            <a:srgbClr val="364D6E"/>
          </a:solidFill>
          <a:ln>
            <a:noFill/>
          </a:ln>
        </p:spPr>
        <p:txBody>
          <a:bodyPr wrap="square" anchor="t" lIns="91440" tIns="45720" rIns="91440" bIns="45720"/>
          <a:lstStyle/>
          <a:p>
            <a:pPr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2" name="BlockKeyLabel"/>
          <p:cNvSpPr txBox="1"/>
          <p:nvPr/>
        </p:nvSpPr>
        <p:spPr>
          <a:xfrm>
            <a:off x="5916168" y="3671316"/>
            <a:ext cx="841248" cy="14630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FY23-27 HII</a:t>
            </a:r>
          </a:p>
        </p:txBody>
      </p:sp>
      <p:sp>
        <p:nvSpPr>
          <p:cNvPr id="113" name="BlockKeyChip"/>
          <p:cNvSpPr txBox="1"/>
          <p:nvPr/>
        </p:nvSpPr>
        <p:spPr>
          <a:xfrm>
            <a:off x="5779008" y="3845052"/>
            <a:ext cx="109728" cy="109728"/>
          </a:xfrm>
          <a:prstGeom prst="rect">
            <a:avLst/>
          </a:prstGeom>
          <a:solidFill>
            <a:srgbClr val="4C6C9C"/>
          </a:solidFill>
          <a:ln>
            <a:noFill/>
          </a:ln>
        </p:spPr>
        <p:txBody>
          <a:bodyPr wrap="square" anchor="t" lIns="91440" tIns="45720" rIns="91440" bIns="45720"/>
          <a:lstStyle/>
          <a:p>
            <a:pPr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4" name="BlockKeyLabel"/>
          <p:cNvSpPr txBox="1"/>
          <p:nvPr/>
        </p:nvSpPr>
        <p:spPr>
          <a:xfrm>
            <a:off x="5916168" y="3831336"/>
            <a:ext cx="841248" cy="14630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FY18-22 HII</a:t>
            </a:r>
          </a:p>
        </p:txBody>
      </p:sp>
      <p:sp>
        <p:nvSpPr>
          <p:cNvPr id="115" name="BlockKeyChip"/>
          <p:cNvSpPr txBox="1"/>
          <p:nvPr/>
        </p:nvSpPr>
        <p:spPr>
          <a:xfrm>
            <a:off x="5779008" y="4005072"/>
            <a:ext cx="109728" cy="109728"/>
          </a:xfrm>
          <a:prstGeom prst="rect">
            <a:avLst/>
          </a:prstGeom>
          <a:solidFill>
            <a:srgbClr val="9DB1CF"/>
          </a:solidFill>
          <a:ln>
            <a:noFill/>
          </a:ln>
        </p:spPr>
        <p:txBody>
          <a:bodyPr wrap="square" anchor="t" lIns="91440" tIns="45720" rIns="91440" bIns="45720"/>
          <a:lstStyle/>
          <a:p>
            <a:pPr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6" name="BlockKeyLabel"/>
          <p:cNvSpPr txBox="1"/>
          <p:nvPr/>
        </p:nvSpPr>
        <p:spPr>
          <a:xfrm>
            <a:off x="5916168" y="3991356"/>
            <a:ext cx="841248" cy="14630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FY13-17 HII</a:t>
            </a:r>
          </a:p>
        </p:txBody>
      </p:sp>
      <p:sp>
        <p:nvSpPr>
          <p:cNvPr id="117" name="BlockKeyChip"/>
          <p:cNvSpPr txBox="1"/>
          <p:nvPr/>
        </p:nvSpPr>
        <p:spPr>
          <a:xfrm>
            <a:off x="5779008" y="4165092"/>
            <a:ext cx="109728" cy="10972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wrap="square" anchor="t" lIns="91440" tIns="45720" rIns="91440" bIns="45720"/>
          <a:lstStyle/>
          <a:p>
            <a:pPr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8" name="BlockKeyLabel"/>
          <p:cNvSpPr txBox="1"/>
          <p:nvPr/>
        </p:nvSpPr>
        <p:spPr>
          <a:xfrm>
            <a:off x="5916168" y="4151376"/>
            <a:ext cx="841248" cy="14630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FY11 single-ship</a:t>
            </a:r>
          </a:p>
        </p:txBody>
      </p:sp>
      <p:sp>
        <p:nvSpPr>
          <p:cNvPr id="119" name="Top4Callout"/>
          <p:cNvSpPr txBox="1"/>
          <p:nvPr/>
        </p:nvSpPr>
        <p:spPr>
          <a:xfrm>
            <a:off x="2395728" y="3712464"/>
            <a:ext cx="1993392" cy="475488"/>
          </a:xfrm>
          <a:prstGeom prst="wedgeRectCallout">
            <a:avLst>
              <a:gd name="adj1" fmla="val -52000"/>
              <a:gd name="adj2" fmla="val 26000"/>
            </a:avLst>
          </a:prstGeom>
          <a:solidFill>
            <a:srgbClr val="FFFFFF"/>
          </a:solidFill>
          <a:ln w="12700">
            <a:solidFill>
              <a:srgbClr val="808080"/>
            </a:solidFill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145 / 146 / 143 / 149</a:t>
            </a:r>
            <a:br/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~$714M, over half of</a:t>
            </a:r>
            <a:br/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exact-hull dollars</a:t>
            </a:r>
          </a:p>
        </p:txBody>
      </p:sp>
      <p:sp>
        <p:nvSpPr>
          <p:cNvPr id="120" name="ZeroExactFootnote"/>
          <p:cNvSpPr txBox="1"/>
          <p:nvPr/>
        </p:nvSpPr>
        <p:spPr>
          <a:xfrm>
            <a:off x="457200" y="5175504"/>
            <a:ext cx="6309360" cy="164592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Eleven mapped hulls carry no exact-hull dollars under the attribution rule.</a:t>
            </a:r>
          </a:p>
        </p:txBody>
      </p:sp>
      <p:graphicFrame>
        <p:nvGraphicFramePr>
          <p:cNvPr id="121" name="ResultsUseTable"/>
          <p:cNvGraphicFramePr>
            <a:graphicFrameLocks noGrp="1"/>
          </p:cNvGraphicFramePr>
          <p:nvPr/>
        </p:nvGraphicFramePr>
        <p:xfrm>
          <a:off x="7114032" y="1545336"/>
          <a:ext cx="4572000" cy="329184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143000"/>
                <a:gridCol w="1481328"/>
                <a:gridCol w="1947672"/>
              </a:tblGrid>
              <a:tr h="274320">
                <a:tc gridSpan="3"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How the results should be used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5603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Result surface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Population / readout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Interpretation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</a:tr>
              <a:tr h="47548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Coverage view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$4.03B · 6,020 records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Full mapped DDG subaward universe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7548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Exact-hull view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$1.27B · 2,380 records · 24 hulls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Hull-level dollars where evidence supports assignment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7548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Family-level view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$2.75B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Real spend retained at contract-family level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7548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Vendor × Hull exposure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1,193 rows · 281 vendors · 24 hulls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exposure by assigned hull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7548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Hull × SWBS view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1,296 rows · HII-Ingalls only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Functional-system view; BIW too thin for comparable SWBS coverage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7548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Review queue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63 rows · $5.4M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Excluded from hull totals pending review</a:t>
                      </a:r>
                    </a:p>
                  </a:txBody>
                  <a:tcPr marL="36576" marR="36576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2" name="CaveatBand"/>
          <p:cNvSpPr txBox="1"/>
          <p:nvPr/>
        </p:nvSpPr>
        <p:spPr>
          <a:xfrm>
            <a:off x="457200" y="5486400"/>
            <a:ext cx="11301984" cy="329184"/>
          </a:xfrm>
          <a:prstGeom prst="rect">
            <a:avLst/>
          </a:prstGeom>
          <a:solidFill>
            <a:srgbClr val="CEDDEC"/>
          </a:solidFill>
          <a:ln>
            <a:noFill/>
          </a:ln>
        </p:spPr>
        <p:txBody>
          <a:bodyPr wrap="square" anchor="ctr" lIns="91440" tIns="27432" rIns="91440" bIns="27432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Readout is coverage, not forced allocation: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rows enter hull totals; family-level rows remain at contract family; conflicts stay out of roll-ups.</a:t>
            </a:r>
          </a:p>
        </p:txBody>
      </p:sp>
      <p:sp>
        <p:nvSpPr>
          <p:cNvPr id="9999" name="Source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Source: DDG-51 subaward-to-hull attribution workbook (USAspending subaward records; HII-Ingalls and BIW contract families)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Methodology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DDG Hull Linkage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 Hull Linkage Methodology | Exact hulls are assigned only when contract family and order evidence align.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ContractFamilyLanePanel"/>
          <p:cNvSpPr txBox="1"/>
          <p:nvPr/>
        </p:nvSpPr>
        <p:spPr>
          <a:xfrm>
            <a:off x="2743200" y="1531620"/>
            <a:ext cx="6053328" cy="115214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1" name="HullEvidenceLanePanel"/>
          <p:cNvSpPr txBox="1"/>
          <p:nvPr/>
        </p:nvSpPr>
        <p:spPr>
          <a:xfrm>
            <a:off x="2743200" y="2775204"/>
            <a:ext cx="6053328" cy="1709928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2" name="EvidenceSectionHeader"/>
          <p:cNvSpPr txBox="1"/>
          <p:nvPr/>
        </p:nvSpPr>
        <p:spPr>
          <a:xfrm>
            <a:off x="2743200" y="1225296"/>
            <a:ext cx="6053328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Two independent evidence layers</a:t>
            </a:r>
          </a:p>
        </p:txBody>
      </p:sp>
      <p:sp>
        <p:nvSpPr>
          <p:cNvPr id="103" name="OutputSectionHeader"/>
          <p:cNvSpPr txBox="1"/>
          <p:nvPr/>
        </p:nvSpPr>
        <p:spPr>
          <a:xfrm>
            <a:off x="9372600" y="1225296"/>
            <a:ext cx="236281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Confidence outcome</a:t>
            </a:r>
          </a:p>
        </p:txBody>
      </p:sp>
      <p:sp>
        <p:nvSpPr>
          <p:cNvPr id="104" name="HierarchySectionHeader"/>
          <p:cNvSpPr txBox="1"/>
          <p:nvPr/>
        </p:nvSpPr>
        <p:spPr>
          <a:xfrm>
            <a:off x="2743200" y="4837176"/>
            <a:ext cx="899221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Construction hierarchy note</a:t>
            </a:r>
          </a:p>
        </p:txBody>
      </p:sp>
      <p:sp>
        <p:nvSpPr>
          <p:cNvPr id="105" name="LayerAHeader"/>
          <p:cNvSpPr txBox="1"/>
          <p:nvPr/>
        </p:nvSpPr>
        <p:spPr>
          <a:xfrm>
            <a:off x="2880360" y="1664208"/>
            <a:ext cx="841248" cy="265176"/>
          </a:xfrm>
          <a:prstGeom prst="rect">
            <a:avLst/>
          </a:prstGeom>
          <a:solidFill>
            <a:srgbClr val="3D5972"/>
          </a:solidFill>
          <a:ln w="3175">
            <a:solidFill>
              <a:srgbClr val="3D5972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Layer A</a:t>
            </a:r>
          </a:p>
        </p:txBody>
      </p:sp>
      <p:sp>
        <p:nvSpPr>
          <p:cNvPr id="106" name="LayerATitle"/>
          <p:cNvSpPr txBox="1"/>
          <p:nvPr/>
        </p:nvSpPr>
        <p:spPr>
          <a:xfrm>
            <a:off x="3767328" y="1664208"/>
            <a:ext cx="1325880" cy="265176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Contract family</a:t>
            </a:r>
          </a:p>
        </p:txBody>
      </p:sp>
      <p:sp>
        <p:nvSpPr>
          <p:cNvPr id="107" name="LayerBHeader"/>
          <p:cNvSpPr txBox="1"/>
          <p:nvPr/>
        </p:nvSpPr>
        <p:spPr>
          <a:xfrm>
            <a:off x="2880360" y="2907792"/>
            <a:ext cx="841248" cy="265176"/>
          </a:xfrm>
          <a:prstGeom prst="rect">
            <a:avLst/>
          </a:prstGeom>
          <a:solidFill>
            <a:srgbClr val="3D5972"/>
          </a:solidFill>
          <a:ln w="3175">
            <a:solidFill>
              <a:srgbClr val="3D5972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Layer B</a:t>
            </a:r>
          </a:p>
        </p:txBody>
      </p:sp>
      <p:sp>
        <p:nvSpPr>
          <p:cNvPr id="108" name="LayerBTitle"/>
          <p:cNvSpPr txBox="1"/>
          <p:nvPr/>
        </p:nvSpPr>
        <p:spPr>
          <a:xfrm>
            <a:off x="3767328" y="2907792"/>
            <a:ext cx="1325880" cy="265176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Hull evidence</a:t>
            </a:r>
          </a:p>
        </p:txBody>
      </p:sp>
      <p:sp>
        <p:nvSpPr>
          <p:cNvPr id="109" name="ApproachRailHeader"/>
          <p:cNvSpPr txBox="1"/>
          <p:nvPr/>
        </p:nvSpPr>
        <p:spPr>
          <a:xfrm>
            <a:off x="477317" y="1225296"/>
            <a:ext cx="2057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Methodology steps</a:t>
            </a:r>
          </a:p>
        </p:txBody>
      </p:sp>
      <p:cxnSp>
        <p:nvCxnSpPr>
          <p:cNvPr id="110" name="ApproachRailHeaderRule"/>
          <p:cNvCxnSpPr/>
          <p:nvPr/>
        </p:nvCxnSpPr>
        <p:spPr>
          <a:xfrm>
            <a:off x="477317" y="1468526"/>
            <a:ext cx="2057400" cy="0"/>
          </a:xfrm>
          <a:prstGeom prst="line">
            <a:avLst/>
          </a:prstGeom>
          <a:ln w="12700">
            <a:solidFill>
              <a:srgbClr val="162029"/>
            </a:solidFill>
          </a:ln>
        </p:spPr>
      </p:cxnSp>
      <p:cxnSp>
        <p:nvCxnSpPr>
          <p:cNvPr id="111" name="ApproachRailSpine"/>
          <p:cNvCxnSpPr/>
          <p:nvPr/>
        </p:nvCxnSpPr>
        <p:spPr>
          <a:xfrm>
            <a:off x="535838" y="1667866"/>
            <a:ext cx="0" cy="2862072"/>
          </a:xfrm>
          <a:prstGeom prst="line">
            <a:avLst/>
          </a:prstGeom>
          <a:ln w="6350">
            <a:solidFill>
              <a:srgbClr val="808080"/>
            </a:solidFill>
            <a:tailEnd type="triangle" w="med" len="med"/>
          </a:ln>
        </p:spPr>
      </p:cxnSp>
      <p:cxnSp>
        <p:nvCxnSpPr>
          <p:cNvPr id="112" name="PrimePIIDToFamily"/>
          <p:cNvCxnSpPr/>
          <p:nvPr/>
        </p:nvCxnSpPr>
        <p:spPr>
          <a:xfrm>
            <a:off x="4407408" y="2244852"/>
            <a:ext cx="365760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113" name="OrderMentionToSignal"/>
          <p:cNvCxnSpPr/>
          <p:nvPr/>
        </p:nvCxnSpPr>
        <p:spPr>
          <a:xfrm>
            <a:off x="4407408" y="3511296"/>
            <a:ext cx="365760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114" name="RequirementTextToSignal"/>
          <p:cNvCxnSpPr/>
          <p:nvPr/>
        </p:nvCxnSpPr>
        <p:spPr>
          <a:xfrm>
            <a:off x="4407408" y="4119372"/>
            <a:ext cx="365760" cy="0"/>
          </a:xfrm>
          <a:prstGeom prst="line">
            <a:avLst/>
          </a:prstGeom>
          <a:ln w="6350">
            <a:solidFill>
              <a:srgbClr val="808080"/>
            </a:solidFill>
            <a:prstDash val="dash"/>
            <a:tailEnd type="triangle" w="med" len="med"/>
          </a:ln>
        </p:spPr>
      </p:cxnSp>
      <p:cxnSp>
        <p:nvCxnSpPr>
          <p:cNvPr id="115" name="FamilyStub"/>
          <p:cNvCxnSpPr/>
          <p:nvPr/>
        </p:nvCxnSpPr>
        <p:spPr>
          <a:xfrm>
            <a:off x="6080760" y="2244852"/>
            <a:ext cx="274320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116" name="StrongSignalStub"/>
          <p:cNvCxnSpPr/>
          <p:nvPr/>
        </p:nvCxnSpPr>
        <p:spPr>
          <a:xfrm>
            <a:off x="6080760" y="3511296"/>
            <a:ext cx="274320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117" name="FamilySignalStub"/>
          <p:cNvCxnSpPr/>
          <p:nvPr/>
        </p:nvCxnSpPr>
        <p:spPr>
          <a:xfrm>
            <a:off x="6080760" y="4119372"/>
            <a:ext cx="274320" cy="0"/>
          </a:xfrm>
          <a:prstGeom prst="line">
            <a:avLst/>
          </a:prstGeom>
          <a:ln w="6350">
            <a:solidFill>
              <a:srgbClr val="808080"/>
            </a:solidFill>
            <a:prstDash val="dash"/>
          </a:ln>
        </p:spPr>
      </p:cxnSp>
      <p:cxnSp>
        <p:nvCxnSpPr>
          <p:cNvPr id="118" name="EvidenceCollectorBus"/>
          <p:cNvCxnSpPr/>
          <p:nvPr/>
        </p:nvCxnSpPr>
        <p:spPr>
          <a:xfrm>
            <a:off x="6355080" y="2244852"/>
            <a:ext cx="0" cy="187452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119" name="CollectorToGate"/>
          <p:cNvCxnSpPr/>
          <p:nvPr/>
        </p:nvCxnSpPr>
        <p:spPr>
          <a:xfrm>
            <a:off x="6355080" y="3095244"/>
            <a:ext cx="320040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120" name="GateToOutcomeTrunk"/>
          <p:cNvCxnSpPr/>
          <p:nvPr/>
        </p:nvCxnSpPr>
        <p:spPr>
          <a:xfrm>
            <a:off x="8476488" y="3095244"/>
            <a:ext cx="694944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121" name="OutcomeTrunk"/>
          <p:cNvCxnSpPr/>
          <p:nvPr/>
        </p:nvCxnSpPr>
        <p:spPr>
          <a:xfrm>
            <a:off x="9171432" y="1956816"/>
            <a:ext cx="0" cy="2176272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122" name="OutcomeBranchAB"/>
          <p:cNvCxnSpPr/>
          <p:nvPr/>
        </p:nvCxnSpPr>
        <p:spPr>
          <a:xfrm>
            <a:off x="9171432" y="1956816"/>
            <a:ext cx="201168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123" name="OutcomeBranchCD"/>
          <p:cNvCxnSpPr/>
          <p:nvPr/>
        </p:nvCxnSpPr>
        <p:spPr>
          <a:xfrm>
            <a:off x="9171432" y="3049524"/>
            <a:ext cx="201168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124" name="OutcomeBranchX"/>
          <p:cNvCxnSpPr/>
          <p:nvPr/>
        </p:nvCxnSpPr>
        <p:spPr>
          <a:xfrm>
            <a:off x="9171432" y="4133088"/>
            <a:ext cx="201168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125" name="MethodCard"/>
          <p:cNvSpPr txBox="1"/>
          <p:nvPr/>
        </p:nvSpPr>
        <p:spPr>
          <a:xfrm>
            <a:off x="640080" y="1531620"/>
            <a:ext cx="1874520" cy="493776"/>
          </a:xfrm>
          <a:prstGeom prst="rect">
            <a:avLst/>
          </a:prstGeom>
          <a:solidFill>
            <a:srgbClr val="FFFFFF"/>
          </a:solidFill>
          <a:ln w="3175">
            <a:solidFill>
              <a:srgbClr val="BFBFBF"/>
            </a:solidFill>
          </a:ln>
        </p:spPr>
        <p:txBody>
          <a:bodyPr wrap="square" anchor="ctr" lIns="60960" tIns="22860" rIns="45720" bIns="2286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Define DDG subaward universe</a:t>
            </a:r>
          </a:p>
        </p:txBody>
      </p:sp>
      <p:sp>
        <p:nvSpPr>
          <p:cNvPr id="126" name="MethodCard"/>
          <p:cNvSpPr txBox="1"/>
          <p:nvPr/>
        </p:nvSpPr>
        <p:spPr>
          <a:xfrm>
            <a:off x="640080" y="2162556"/>
            <a:ext cx="1874520" cy="493776"/>
          </a:xfrm>
          <a:prstGeom prst="rect">
            <a:avLst/>
          </a:prstGeom>
          <a:solidFill>
            <a:srgbClr val="FFFFFF"/>
          </a:solidFill>
          <a:ln w="3175">
            <a:solidFill>
              <a:srgbClr val="BFBFBF"/>
            </a:solidFill>
          </a:ln>
        </p:spPr>
        <p:txBody>
          <a:bodyPr wrap="square" anchor="ctr" lIns="60960" tIns="22860" rIns="45720" bIns="2286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Map prime contract to candidate hull family</a:t>
            </a:r>
          </a:p>
        </p:txBody>
      </p:sp>
      <p:sp>
        <p:nvSpPr>
          <p:cNvPr id="127" name="MethodCard"/>
          <p:cNvSpPr txBox="1"/>
          <p:nvPr/>
        </p:nvSpPr>
        <p:spPr>
          <a:xfrm>
            <a:off x="640080" y="2793492"/>
            <a:ext cx="1874520" cy="493776"/>
          </a:xfrm>
          <a:prstGeom prst="rect">
            <a:avLst/>
          </a:prstGeom>
          <a:solidFill>
            <a:srgbClr val="FFFFFF"/>
          </a:solidFill>
          <a:ln w="3175">
            <a:solidFill>
              <a:srgbClr val="BFBFBF"/>
            </a:solidFill>
          </a:ln>
        </p:spPr>
        <p:txBody>
          <a:bodyPr wrap="square" anchor="ctr" lIns="60960" tIns="22860" rIns="45720" bIns="2286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 order-level hull mentions</a:t>
            </a:r>
          </a:p>
        </p:txBody>
      </p:sp>
      <p:sp>
        <p:nvSpPr>
          <p:cNvPr id="128" name="MethodCard"/>
          <p:cNvSpPr txBox="1"/>
          <p:nvPr/>
        </p:nvSpPr>
        <p:spPr>
          <a:xfrm>
            <a:off x="640080" y="3424428"/>
            <a:ext cx="1874520" cy="493776"/>
          </a:xfrm>
          <a:prstGeom prst="rect">
            <a:avLst/>
          </a:prstGeom>
          <a:solidFill>
            <a:srgbClr val="FFFFFF"/>
          </a:solidFill>
          <a:ln w="3175">
            <a:solidFill>
              <a:srgbClr val="BFBFBF"/>
            </a:solidFill>
          </a:ln>
        </p:spPr>
        <p:txBody>
          <a:bodyPr wrap="square" anchor="ctr" lIns="60960" tIns="22860" rIns="45720" bIns="2286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Compare hull evidence to contract family</a:t>
            </a:r>
          </a:p>
        </p:txBody>
      </p:sp>
      <p:sp>
        <p:nvSpPr>
          <p:cNvPr id="129" name="MethodCard"/>
          <p:cNvSpPr txBox="1"/>
          <p:nvPr/>
        </p:nvSpPr>
        <p:spPr>
          <a:xfrm>
            <a:off x="640080" y="4055364"/>
            <a:ext cx="1874520" cy="493776"/>
          </a:xfrm>
          <a:prstGeom prst="rect">
            <a:avLst/>
          </a:prstGeom>
          <a:solidFill>
            <a:srgbClr val="FFFFFF"/>
          </a:solidFill>
          <a:ln w="3175">
            <a:solidFill>
              <a:srgbClr val="BFBFBF"/>
            </a:solidFill>
          </a:ln>
        </p:spPr>
        <p:txBody>
          <a:bodyPr wrap="square" anchor="ctr" lIns="60960" tIns="22860" rIns="45720" bIns="2286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Assign confidence tier and roll up exact matches</a:t>
            </a:r>
          </a:p>
        </p:txBody>
      </p:sp>
      <p:sp>
        <p:nvSpPr>
          <p:cNvPr id="130" name="EvidenceNode"/>
          <p:cNvSpPr txBox="1"/>
          <p:nvPr/>
        </p:nvSpPr>
        <p:spPr>
          <a:xfrm>
            <a:off x="3017520" y="2052828"/>
            <a:ext cx="138988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162029"/>
            </a:solidFill>
          </a:ln>
        </p:spPr>
        <p:txBody>
          <a:bodyPr wrap="square" anchor="ctr" lIns="22860" tIns="11430" rIns="22860" bIns="11430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Prime PIID</a:t>
            </a:r>
          </a:p>
        </p:txBody>
      </p:sp>
      <p:sp>
        <p:nvSpPr>
          <p:cNvPr id="131" name="EvidenceNode"/>
          <p:cNvSpPr txBox="1"/>
          <p:nvPr/>
        </p:nvSpPr>
        <p:spPr>
          <a:xfrm>
            <a:off x="4773168" y="2052828"/>
            <a:ext cx="1307592" cy="384048"/>
          </a:xfrm>
          <a:prstGeom prst="rect">
            <a:avLst/>
          </a:prstGeom>
          <a:solidFill>
            <a:srgbClr val="E2E9EF"/>
          </a:solidFill>
          <a:ln w="6350">
            <a:solidFill>
              <a:srgbClr val="162029"/>
            </a:solidFill>
          </a:ln>
        </p:spPr>
        <p:txBody>
          <a:bodyPr wrap="square" anchor="ctr" lIns="22860" tIns="11430" rIns="22860" bIns="11430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Candidate hull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family</a:t>
            </a:r>
          </a:p>
        </p:txBody>
      </p:sp>
      <p:sp>
        <p:nvSpPr>
          <p:cNvPr id="132" name="EvidenceNode"/>
          <p:cNvSpPr txBox="1"/>
          <p:nvPr/>
        </p:nvSpPr>
        <p:spPr>
          <a:xfrm>
            <a:off x="3017520" y="2459736"/>
            <a:ext cx="1389888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22860" tIns="11430" rIns="22860" bIns="11430"/>
          <a:lstStyle/>
          <a:p>
            <a:pPr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Single-ship contract</a:t>
            </a:r>
          </a:p>
        </p:txBody>
      </p:sp>
      <p:sp>
        <p:nvSpPr>
          <p:cNvPr id="133" name="EvidenceNode"/>
          <p:cNvSpPr txBox="1"/>
          <p:nvPr/>
        </p:nvSpPr>
        <p:spPr>
          <a:xfrm>
            <a:off x="4773168" y="2459736"/>
            <a:ext cx="1307592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22860" tIns="11430" rIns="22860" bIns="11430"/>
          <a:lstStyle/>
          <a:p>
            <a:pPr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MYP hull family</a:t>
            </a:r>
          </a:p>
        </p:txBody>
      </p:sp>
      <p:sp>
        <p:nvSpPr>
          <p:cNvPr id="134" name="EvidenceNode"/>
          <p:cNvSpPr txBox="1"/>
          <p:nvPr/>
        </p:nvSpPr>
        <p:spPr>
          <a:xfrm>
            <a:off x="3017520" y="3319272"/>
            <a:ext cx="138988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162029"/>
            </a:solidFill>
          </a:ln>
        </p:spPr>
        <p:txBody>
          <a:bodyPr wrap="square" anchor="ctr" lIns="22860" tIns="11430" rIns="22860" bIns="11430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Order-level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hull mention</a:t>
            </a:r>
          </a:p>
        </p:txBody>
      </p:sp>
      <p:sp>
        <p:nvSpPr>
          <p:cNvPr id="135" name="EvidenceNode"/>
          <p:cNvSpPr txBox="1"/>
          <p:nvPr/>
        </p:nvSpPr>
        <p:spPr>
          <a:xfrm>
            <a:off x="4773168" y="3319272"/>
            <a:ext cx="1307592" cy="384048"/>
          </a:xfrm>
          <a:prstGeom prst="rect">
            <a:avLst/>
          </a:prstGeom>
          <a:solidFill>
            <a:srgbClr val="B6C8D8"/>
          </a:solidFill>
          <a:ln w="6350">
            <a:solidFill>
              <a:srgbClr val="162029"/>
            </a:solidFill>
          </a:ln>
        </p:spPr>
        <p:txBody>
          <a:bodyPr wrap="square" anchor="ctr" lIns="22860" tIns="11430" rIns="22860" bIns="11430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Strongest direct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signal</a:t>
            </a:r>
          </a:p>
        </p:txBody>
      </p:sp>
      <p:sp>
        <p:nvSpPr>
          <p:cNvPr id="136" name="EvidenceNode"/>
          <p:cNvSpPr txBox="1"/>
          <p:nvPr/>
        </p:nvSpPr>
        <p:spPr>
          <a:xfrm>
            <a:off x="3017520" y="3927348"/>
            <a:ext cx="1389888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808080"/>
            </a:solidFill>
            <a:prstDash val="dash"/>
          </a:ln>
        </p:spPr>
        <p:txBody>
          <a:bodyPr wrap="square" anchor="ctr" lIns="22860" tIns="11430" rIns="22860" bIns="11430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Requirement-text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mention</a:t>
            </a:r>
          </a:p>
        </p:txBody>
      </p:sp>
      <p:sp>
        <p:nvSpPr>
          <p:cNvPr id="137" name="EvidenceNode"/>
          <p:cNvSpPr txBox="1"/>
          <p:nvPr/>
        </p:nvSpPr>
        <p:spPr>
          <a:xfrm>
            <a:off x="4773168" y="3927348"/>
            <a:ext cx="1307592" cy="384048"/>
          </a:xfrm>
          <a:prstGeom prst="rect">
            <a:avLst/>
          </a:prstGeom>
          <a:solidFill>
            <a:srgbClr val="E2E9EF"/>
          </a:solidFill>
          <a:ln w="3175">
            <a:solidFill>
              <a:srgbClr val="808080"/>
            </a:solidFill>
            <a:prstDash val="dash"/>
          </a:ln>
        </p:spPr>
        <p:txBody>
          <a:bodyPr wrap="square" anchor="ctr" lIns="22860" tIns="11430" rIns="22860" bIns="11430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Family-level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signal</a:t>
            </a:r>
          </a:p>
        </p:txBody>
      </p:sp>
      <p:sp>
        <p:nvSpPr>
          <p:cNvPr id="138" name="EvidenceNode"/>
          <p:cNvSpPr txBox="1"/>
          <p:nvPr/>
        </p:nvSpPr>
        <p:spPr>
          <a:xfrm>
            <a:off x="6675120" y="2523744"/>
            <a:ext cx="1801368" cy="1143000"/>
          </a:xfrm>
          <a:prstGeom prst="rect">
            <a:avLst/>
          </a:prstGeom>
          <a:solidFill>
            <a:srgbClr val="263746"/>
          </a:solidFill>
          <a:ln w="12700">
            <a:solidFill>
              <a:srgbClr val="162029"/>
            </a:solidFill>
          </a:ln>
        </p:spPr>
        <p:txBody>
          <a:bodyPr wrap="square" anchor="ctr" lIns="22860" tIns="11430" rIns="22860" bIns="11430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Confidence Gate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Family + text align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 forced assignment</a:t>
            </a:r>
          </a:p>
        </p:txBody>
      </p:sp>
      <p:sp>
        <p:nvSpPr>
          <p:cNvPr id="139" name="OutcomeCard"/>
          <p:cNvSpPr txBox="1"/>
          <p:nvPr/>
        </p:nvSpPr>
        <p:spPr>
          <a:xfrm>
            <a:off x="9372600" y="1581912"/>
            <a:ext cx="2362810" cy="749808"/>
          </a:xfrm>
          <a:prstGeom prst="rect">
            <a:avLst/>
          </a:prstGeom>
          <a:solidFill>
            <a:srgbClr val="263746"/>
          </a:solidFill>
          <a:ln w="12700">
            <a:solidFill>
              <a:srgbClr val="162029"/>
            </a:solidFill>
          </a:ln>
        </p:spPr>
        <p:txBody>
          <a:bodyPr wrap="square" anchor="ctr" lIns="22860" tIns="22860" rIns="22860" bIns="22860"/>
          <a:lstStyle/>
          <a:p>
            <a:pPr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A/B — </a:t>
            </a: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Exact hull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Assigned to hull</a:t>
            </a:r>
          </a:p>
        </p:txBody>
      </p:sp>
      <p:sp>
        <p:nvSpPr>
          <p:cNvPr id="140" name="OutcomeCard"/>
          <p:cNvSpPr txBox="1"/>
          <p:nvPr/>
        </p:nvSpPr>
        <p:spPr>
          <a:xfrm>
            <a:off x="9372600" y="2674620"/>
            <a:ext cx="2362810" cy="749808"/>
          </a:xfrm>
          <a:prstGeom prst="rect">
            <a:avLst/>
          </a:prstGeom>
          <a:solidFill>
            <a:srgbClr val="E2E9EF"/>
          </a:solidFill>
          <a:ln w="6350">
            <a:solidFill>
              <a:srgbClr val="6E91B1"/>
            </a:solidFill>
          </a:ln>
        </p:spPr>
        <p:txBody>
          <a:bodyPr wrap="square" anchor="ctr" lIns="22860" tIns="22860" rIns="22860" bIns="22860"/>
          <a:lstStyle/>
          <a:p>
            <a:pPr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D5972"/>
                </a:solidFill>
                <a:latin typeface="Arial"/>
                <a:ea typeface="Arial"/>
                <a:cs typeface="Arial"/>
              </a:rPr>
              <a:t>C/D — </a:t>
            </a: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Family-level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Retained at contract family</a:t>
            </a:r>
          </a:p>
        </p:txBody>
      </p:sp>
      <p:sp>
        <p:nvSpPr>
          <p:cNvPr id="141" name="OutcomeCard"/>
          <p:cNvSpPr txBox="1"/>
          <p:nvPr/>
        </p:nvSpPr>
        <p:spPr>
          <a:xfrm>
            <a:off x="9372600" y="3758184"/>
            <a:ext cx="2362810" cy="749808"/>
          </a:xfrm>
          <a:prstGeom prst="rect">
            <a:avLst/>
          </a:prstGeom>
          <a:solidFill>
            <a:srgbClr val="FCE4E4"/>
          </a:solidFill>
          <a:ln w="19050">
            <a:solidFill>
              <a:srgbClr val="C00000"/>
            </a:solidFill>
            <a:prstDash val="dash"/>
          </a:ln>
        </p:spPr>
        <p:txBody>
          <a:bodyPr wrap="square" anchor="ctr" lIns="22860" tIns="22860" rIns="22860" bIns="22860"/>
          <a:lstStyle/>
          <a:p>
            <a:pPr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C00000"/>
                </a:solidFill>
                <a:latin typeface="Arial"/>
                <a:ea typeface="Arial"/>
                <a:cs typeface="Arial"/>
              </a:rPr>
              <a:t>X — </a:t>
            </a: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Exception queue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Held out of roll-up</a:t>
            </a:r>
          </a:p>
        </p:txBody>
      </p:sp>
      <p:graphicFrame>
        <p:nvGraphicFramePr>
          <p:cNvPr id="142" name="ConstructionHierarchyMiniTable"/>
          <p:cNvGraphicFramePr>
            <a:graphicFrameLocks noGrp="1"/>
          </p:cNvGraphicFramePr>
          <p:nvPr/>
        </p:nvGraphicFramePr>
        <p:xfrm>
          <a:off x="2743200" y="5074920"/>
          <a:ext cx="8992210" cy="667512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4496105"/>
                <a:gridCol w="4496105"/>
              </a:tblGrid>
              <a:tr h="288036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Supported by subaward evidence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16202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supported by subaward evidence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</a:tr>
              <a:tr h="379476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Hull · SWBS · Vendor · Timing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Physical module · Grand block · Structural unit</a:t>
                      </a: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FFFF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Subaward Analysis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Methodology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 Hull Linkage Methodology | Exact hulls are assigned only when contract family and order evidence align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ApproachStepsHeader"/>
          <p:cNvSpPr txBox="1"/>
          <p:nvPr/>
        </p:nvSpPr>
        <p:spPr>
          <a:xfrm>
            <a:off x="452628" y="1417320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Approach steps</a:t>
            </a:r>
          </a:p>
        </p:txBody>
      </p:sp>
      <p:cxnSp>
        <p:nvCxnSpPr>
          <p:cNvPr id="101" name="ApproachUnderline"/>
          <p:cNvCxnSpPr/>
          <p:nvPr/>
        </p:nvCxnSpPr>
        <p:spPr>
          <a:xfrm flipH="1">
            <a:off x="452628" y="1719072"/>
            <a:ext cx="1920240" cy="1829"/>
          </a:xfrm>
          <a:prstGeom prst="line">
            <a:avLst/>
          </a:prstGeom>
          <a:ln w="12700">
            <a:solidFill>
              <a:srgbClr val="162029"/>
            </a:solidFill>
          </a:ln>
        </p:spPr>
      </p:cxnSp>
      <p:sp>
        <p:nvSpPr>
          <p:cNvPr id="102" name="ApproachStep"/>
          <p:cNvSpPr txBox="1"/>
          <p:nvPr/>
        </p:nvSpPr>
        <p:spPr>
          <a:xfrm>
            <a:off x="452628" y="1792224"/>
            <a:ext cx="1920240" cy="640994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Define DDG subaward universe</a:t>
            </a:r>
          </a:p>
        </p:txBody>
      </p:sp>
      <p:sp>
        <p:nvSpPr>
          <p:cNvPr id="103" name="ApproachStep"/>
          <p:cNvSpPr txBox="1"/>
          <p:nvPr/>
        </p:nvSpPr>
        <p:spPr>
          <a:xfrm>
            <a:off x="452628" y="2490826"/>
            <a:ext cx="1920240" cy="640994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Map prime contract to candidate hull family</a:t>
            </a:r>
          </a:p>
        </p:txBody>
      </p:sp>
      <p:sp>
        <p:nvSpPr>
          <p:cNvPr id="104" name="ApproachStep"/>
          <p:cNvSpPr txBox="1"/>
          <p:nvPr/>
        </p:nvSpPr>
        <p:spPr>
          <a:xfrm>
            <a:off x="452628" y="3189427"/>
            <a:ext cx="1920240" cy="640994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Read order-level hull mentions</a:t>
            </a:r>
          </a:p>
        </p:txBody>
      </p:sp>
      <p:sp>
        <p:nvSpPr>
          <p:cNvPr id="105" name="ApproachStep"/>
          <p:cNvSpPr txBox="1"/>
          <p:nvPr/>
        </p:nvSpPr>
        <p:spPr>
          <a:xfrm>
            <a:off x="452628" y="3888029"/>
            <a:ext cx="1920240" cy="640994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 Compare hull evidence to contract family</a:t>
            </a:r>
          </a:p>
        </p:txBody>
      </p:sp>
      <p:sp>
        <p:nvSpPr>
          <p:cNvPr id="106" name="ApproachStep"/>
          <p:cNvSpPr txBox="1"/>
          <p:nvPr/>
        </p:nvSpPr>
        <p:spPr>
          <a:xfrm>
            <a:off x="452628" y="4586630"/>
            <a:ext cx="1920240" cy="640994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 Assign confidence tier and roll up exact matches</a:t>
            </a:r>
          </a:p>
        </p:txBody>
      </p:sp>
      <p:sp>
        <p:nvSpPr>
          <p:cNvPr id="107" name="EvidenceHeader"/>
          <p:cNvSpPr txBox="1"/>
          <p:nvPr/>
        </p:nvSpPr>
        <p:spPr>
          <a:xfrm>
            <a:off x="2697480" y="14173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evaluation</a:t>
            </a:r>
          </a:p>
        </p:txBody>
      </p:sp>
      <p:cxnSp>
        <p:nvCxnSpPr>
          <p:cNvPr id="108" name="EvidenceUnderline"/>
          <p:cNvCxnSpPr/>
          <p:nvPr/>
        </p:nvCxnSpPr>
        <p:spPr>
          <a:xfrm flipH="1">
            <a:off x="2697480" y="1719072"/>
            <a:ext cx="2743200" cy="1829"/>
          </a:xfrm>
          <a:prstGeom prst="line">
            <a:avLst/>
          </a:prstGeom>
          <a:ln w="12700">
            <a:solidFill>
              <a:srgbClr val="162029"/>
            </a:solidFill>
          </a:ln>
        </p:spPr>
      </p:cxnSp>
      <p:sp>
        <p:nvSpPr>
          <p:cNvPr id="109" name="LayerALabel"/>
          <p:cNvSpPr txBox="1"/>
          <p:nvPr/>
        </p:nvSpPr>
        <p:spPr>
          <a:xfrm>
            <a:off x="2697480" y="179222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Layer A — Contract family</a:t>
            </a:r>
          </a:p>
        </p:txBody>
      </p:sp>
      <p:sp>
        <p:nvSpPr>
          <p:cNvPr id="110" name="LayerBLabel"/>
          <p:cNvSpPr txBox="1"/>
          <p:nvPr/>
        </p:nvSpPr>
        <p:spPr>
          <a:xfrm>
            <a:off x="2697480" y="321868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Layer B — Hull evidence</a:t>
            </a:r>
          </a:p>
        </p:txBody>
      </p:sp>
      <p:sp>
        <p:nvSpPr>
          <p:cNvPr id="111" name="EvidenceNode"/>
          <p:cNvSpPr txBox="1"/>
          <p:nvPr/>
        </p:nvSpPr>
        <p:spPr>
          <a:xfrm>
            <a:off x="2697480" y="2103120"/>
            <a:ext cx="1691640" cy="384048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Prime PIID</a:t>
            </a:r>
          </a:p>
        </p:txBody>
      </p:sp>
      <p:sp>
        <p:nvSpPr>
          <p:cNvPr id="112" name="EvidenceNode"/>
          <p:cNvSpPr txBox="1"/>
          <p:nvPr/>
        </p:nvSpPr>
        <p:spPr>
          <a:xfrm>
            <a:off x="4800600" y="2103120"/>
            <a:ext cx="1783080" cy="384048"/>
          </a:xfrm>
          <a:prstGeom prst="rect">
            <a:avLst/>
          </a:prstGeom>
          <a:solidFill>
            <a:srgbClr val="B6C8D8"/>
          </a:solidFill>
          <a:ln w="3175">
            <a:solidFill>
              <a:srgbClr val="3D5972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Candidate hull family</a:t>
            </a:r>
          </a:p>
        </p:txBody>
      </p:sp>
      <p:sp>
        <p:nvSpPr>
          <p:cNvPr id="113" name="EvidenceNode"/>
          <p:cNvSpPr txBox="1"/>
          <p:nvPr/>
        </p:nvSpPr>
        <p:spPr>
          <a:xfrm>
            <a:off x="4800600" y="2578608"/>
            <a:ext cx="868680" cy="310896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Single-ship contract</a:t>
            </a:r>
          </a:p>
        </p:txBody>
      </p:sp>
      <p:sp>
        <p:nvSpPr>
          <p:cNvPr id="114" name="EvidenceNode"/>
          <p:cNvSpPr txBox="1"/>
          <p:nvPr/>
        </p:nvSpPr>
        <p:spPr>
          <a:xfrm>
            <a:off x="5715000" y="2578608"/>
            <a:ext cx="868680" cy="310896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MYP hull family</a:t>
            </a:r>
          </a:p>
        </p:txBody>
      </p:sp>
      <p:sp>
        <p:nvSpPr>
          <p:cNvPr id="115" name="EvidenceNode"/>
          <p:cNvSpPr txBox="1"/>
          <p:nvPr/>
        </p:nvSpPr>
        <p:spPr>
          <a:xfrm>
            <a:off x="2697480" y="3694176"/>
            <a:ext cx="1691640" cy="475488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Subaward order text</a:t>
            </a:r>
          </a:p>
        </p:txBody>
      </p:sp>
      <p:sp>
        <p:nvSpPr>
          <p:cNvPr id="116" name="EvidenceNode"/>
          <p:cNvSpPr txBox="1"/>
          <p:nvPr/>
        </p:nvSpPr>
        <p:spPr>
          <a:xfrm>
            <a:off x="4800600" y="3419856"/>
            <a:ext cx="1783080" cy="475488"/>
          </a:xfrm>
          <a:prstGeom prst="rect">
            <a:avLst/>
          </a:prstGeom>
          <a:solidFill>
            <a:srgbClr val="B6C8D8"/>
          </a:solidFill>
          <a:ln w="3175">
            <a:solidFill>
              <a:srgbClr val="3D5972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Order-level hull mention</a:t>
            </a:r>
            <a:br/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Strongest direct signal</a:t>
            </a:r>
          </a:p>
        </p:txBody>
      </p:sp>
      <p:sp>
        <p:nvSpPr>
          <p:cNvPr id="117" name="EvidenceNode"/>
          <p:cNvSpPr txBox="1"/>
          <p:nvPr/>
        </p:nvSpPr>
        <p:spPr>
          <a:xfrm>
            <a:off x="4800600" y="3968496"/>
            <a:ext cx="1783080" cy="475488"/>
          </a:xfrm>
          <a:prstGeom prst="rect">
            <a:avLst/>
          </a:prstGeom>
          <a:solidFill>
            <a:srgbClr val="E2E9EF"/>
          </a:solidFill>
          <a:ln w="3175">
            <a:solidFill>
              <a:srgbClr val="3D5972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Requirement-text mention</a:t>
            </a:r>
            <a:br/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Family-level signal</a:t>
            </a:r>
          </a:p>
        </p:txBody>
      </p:sp>
      <p:cxnSp>
        <p:nvCxnSpPr>
          <p:cNvPr id="118" name="LaneAArrow"/>
          <p:cNvCxnSpPr/>
          <p:nvPr/>
        </p:nvCxnSpPr>
        <p:spPr>
          <a:xfrm>
            <a:off x="4389120" y="2295144"/>
            <a:ext cx="41148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19" name="LaneBToOrderLevel"/>
          <p:cNvCxnSpPr/>
          <p:nvPr/>
        </p:nvCxnSpPr>
        <p:spPr>
          <a:xfrm flipV="1">
            <a:off x="4389120" y="3657600"/>
            <a:ext cx="411480" cy="27432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0" name="LaneBToRequirement"/>
          <p:cNvCxnSpPr/>
          <p:nvPr/>
        </p:nvCxnSpPr>
        <p:spPr>
          <a:xfrm>
            <a:off x="4389120" y="3931920"/>
            <a:ext cx="411480" cy="27432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1" name="FamilyToGate"/>
          <p:cNvCxnSpPr/>
          <p:nvPr/>
        </p:nvCxnSpPr>
        <p:spPr>
          <a:xfrm>
            <a:off x="6583680" y="2295144"/>
            <a:ext cx="685800" cy="539496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2" name="OrderLevelToGate"/>
          <p:cNvCxnSpPr/>
          <p:nvPr/>
        </p:nvCxnSpPr>
        <p:spPr>
          <a:xfrm flipV="1">
            <a:off x="6583680" y="3337560"/>
            <a:ext cx="685800" cy="32004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3" name="RequirementToGate"/>
          <p:cNvCxnSpPr/>
          <p:nvPr/>
        </p:nvCxnSpPr>
        <p:spPr>
          <a:xfrm flipV="1">
            <a:off x="6583680" y="3886200"/>
            <a:ext cx="685800" cy="32004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24" name="ConfidenceGate"/>
          <p:cNvSpPr txBox="1"/>
          <p:nvPr/>
        </p:nvSpPr>
        <p:spPr>
          <a:xfrm>
            <a:off x="7269480" y="2331720"/>
            <a:ext cx="1783080" cy="2240280"/>
          </a:xfrm>
          <a:prstGeom prst="rect">
            <a:avLst/>
          </a:prstGeom>
          <a:solidFill>
            <a:srgbClr val="3D5972"/>
          </a:solidFill>
          <a:ln w="12700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Confidence</a:t>
            </a:r>
            <a:br/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Gate</a:t>
            </a:r>
            <a:br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Two independent</a:t>
            </a:r>
            <a:br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layers</a:t>
            </a:r>
          </a:p>
        </p:txBody>
      </p:sp>
      <p:sp>
        <p:nvSpPr>
          <p:cNvPr id="125" name="GateRuleNote"/>
          <p:cNvSpPr txBox="1"/>
          <p:nvPr/>
        </p:nvSpPr>
        <p:spPr>
          <a:xfrm>
            <a:off x="7155180" y="4636008"/>
            <a:ext cx="2011680" cy="384048"/>
          </a:xfrm>
          <a:prstGeom prst="rect">
            <a:avLst/>
          </a:prstGeom>
          <a:noFill/>
          <a:ln w="3175">
            <a:solidFill>
              <a:srgbClr val="162029"/>
            </a:solidFill>
            <a:prstDash val="dash"/>
          </a:ln>
        </p:spPr>
        <p:txBody>
          <a:bodyPr wrap="square" anchor="t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No forced assignment when layers disagree</a:t>
            </a:r>
          </a:p>
        </p:txBody>
      </p:sp>
      <p:cxnSp>
        <p:nvCxnSpPr>
          <p:cNvPr id="126" name="GateToAssigned"/>
          <p:cNvCxnSpPr/>
          <p:nvPr/>
        </p:nvCxnSpPr>
        <p:spPr>
          <a:xfrm>
            <a:off x="9052560" y="2670048"/>
            <a:ext cx="41148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7" name="GateToFamily"/>
          <p:cNvCxnSpPr/>
          <p:nvPr/>
        </p:nvCxnSpPr>
        <p:spPr>
          <a:xfrm>
            <a:off x="9052560" y="3529584"/>
            <a:ext cx="41148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8" name="GateToException"/>
          <p:cNvCxnSpPr/>
          <p:nvPr/>
        </p:nvCxnSpPr>
        <p:spPr>
          <a:xfrm>
            <a:off x="9052560" y="4389120"/>
            <a:ext cx="411480" cy="0"/>
          </a:xfrm>
          <a:prstGeom prst="line">
            <a:avLst/>
          </a:prstGeom>
          <a:ln w="12700">
            <a:solidFill>
              <a:srgbClr val="C00000"/>
            </a:solidFill>
            <a:tailEnd type="triangle" w="med" len="med"/>
          </a:ln>
        </p:spPr>
      </p:cxnSp>
      <p:sp>
        <p:nvSpPr>
          <p:cNvPr id="129" name="OutcomeCard"/>
          <p:cNvSpPr txBox="1"/>
          <p:nvPr/>
        </p:nvSpPr>
        <p:spPr>
          <a:xfrm>
            <a:off x="9464040" y="2331720"/>
            <a:ext cx="2194560" cy="676656"/>
          </a:xfrm>
          <a:prstGeom prst="rect">
            <a:avLst/>
          </a:prstGeom>
          <a:solidFill>
            <a:srgbClr val="162029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/ B — Exact hull</a:t>
            </a:r>
            <a:br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Assigned to hull</a:t>
            </a:r>
          </a:p>
        </p:txBody>
      </p:sp>
      <p:sp>
        <p:nvSpPr>
          <p:cNvPr id="130" name="OutcomeCard"/>
          <p:cNvSpPr txBox="1"/>
          <p:nvPr/>
        </p:nvSpPr>
        <p:spPr>
          <a:xfrm>
            <a:off x="9464040" y="3191256"/>
            <a:ext cx="2194560" cy="676656"/>
          </a:xfrm>
          <a:prstGeom prst="rect">
            <a:avLst/>
          </a:prstGeom>
          <a:solidFill>
            <a:srgbClr val="E2E9EF"/>
          </a:solidFill>
          <a:ln w="3175">
            <a:solidFill>
              <a:srgbClr val="3D5972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 / D — Family-level</a:t>
            </a:r>
            <a:br/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Retained at contract family</a:t>
            </a:r>
          </a:p>
        </p:txBody>
      </p:sp>
      <p:sp>
        <p:nvSpPr>
          <p:cNvPr id="131" name="OutcomeCard"/>
          <p:cNvSpPr txBox="1"/>
          <p:nvPr/>
        </p:nvSpPr>
        <p:spPr>
          <a:xfrm>
            <a:off x="9464040" y="4050792"/>
            <a:ext cx="2194560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Arial"/>
                <a:ea typeface="Arial"/>
                <a:cs typeface="Arial"/>
              </a:rPr>
              <a:t>X — Exception queue</a:t>
            </a:r>
            <a:br/>
            <a:r>
              <a:rPr lang="en-US" sz="900" dirty="0">
                <a:solidFill>
                  <a:srgbClr val="C00000"/>
                </a:solidFill>
                <a:latin typeface="Arial"/>
                <a:ea typeface="Arial"/>
                <a:cs typeface="Arial"/>
              </a:rPr>
              <a:t>Held out of roll-up</a:t>
            </a:r>
          </a:p>
        </p:txBody>
      </p:sp>
      <p:sp>
        <p:nvSpPr>
          <p:cNvPr id="132" name="ConstructionCaption"/>
          <p:cNvSpPr txBox="1"/>
          <p:nvPr/>
        </p:nvSpPr>
        <p:spPr>
          <a:xfrm>
            <a:off x="2697480" y="4901184"/>
            <a:ext cx="4160520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Construction hierarchy — attribution boundary</a:t>
            </a:r>
          </a:p>
        </p:txBody>
      </p:sp>
      <p:graphicFrame>
        <p:nvGraphicFramePr>
          <p:cNvPr id="133" name="ConstructionBoundaryTable"/>
          <p:cNvGraphicFramePr>
            <a:graphicFrameLocks noGrp="1"/>
          </p:cNvGraphicFramePr>
          <p:nvPr/>
        </p:nvGraphicFramePr>
        <p:xfrm>
          <a:off x="2697480" y="5175504"/>
          <a:ext cx="6446520" cy="676656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834640"/>
                <a:gridCol w="3611880"/>
              </a:tblGrid>
              <a:tr h="310896"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Supported by subaward evidence</a:t>
                      </a:r>
                    </a:p>
                  </a:txBody>
                  <a:tcPr marL="45720" marR="45720" marT="45720" marB="45720" anchor="b">
                    <a:lnL>
                      <a:noFill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supported by subaward evidence</a:t>
                      </a:r>
                    </a:p>
                  </a:txBody>
                  <a:tcPr marL="45720" marR="45720" marT="45720" marB="4572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Hull · SWBS · Vendor · Timing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808080"/>
                          </a:solidFill>
                          <a:latin typeface="Arial"/>
                          <a:ea typeface="Arial"/>
                          <a:cs typeface="Arial"/>
                        </a:rPr>
                        <a:t>Physical module · Grand block · Structural unit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4" name="OutcomeFootnote"/>
          <p:cNvSpPr txBox="1"/>
          <p:nvPr/>
        </p:nvSpPr>
        <p:spPr>
          <a:xfrm>
            <a:off x="452628" y="6089904"/>
            <a:ext cx="11283696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Note: A and B populate an assigned hull; C and D are inferred at the contract family; X is multi-hull or conflicting and is held out of the roll-up.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799b1f-9a79-4131-92f4-d7e1a1e8fbf9}" enabled="0" method="" siteId="{97799b1f-9a79-4131-92f4-d7e1a1e8fbf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distributed_shipbuilding</Application>
  <PresentationFormat>Widescreen</PresentationFormat>
  <Slides>7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Distributed Shipbuilding</dc:title>
  <dc:creator>distributed_shipbuilding build_deck.py</dc:creator>
  <cp:lastModifiedBy>distributed_shipbuilding build_deck.py</cp:lastModifiedBy>
  <cp:revision>1</cp:revision>
  <dcterms:created xsi:type="dcterms:W3CDTF">2026-06-30T02:53:47Z</dcterms:created>
  <dcterms:modified xsi:type="dcterms:W3CDTF">2026-06-30T02:53:47Z</dcterms:modified>
</cp:coreProperties>
</file>