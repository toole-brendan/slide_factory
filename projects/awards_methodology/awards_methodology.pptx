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svg" ContentType="image/svg+xml"/>
  <Default Extension="emf" ContentType="image/x-emf"/>
  <Default Extension="bin" ContentType="application/vnd.openxmlformats-officedocument.oleObjec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5"/>
  </p:handoutMasterIdLst>
  <p:sldIdLst>
    <p:sldId id="256" r:id="rId2"/>
    <p:sldId id="257" r:id="rId3"/>
    <p:sldId id="258" r:id="rId4"/>
  </p:sldIdLst>
  <p:sldSz cx="12192000" cy="6858000"/>
  <p:notesSz cx="6934200" cy="9220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972"/>
    <a:srgbClr val="6E91B1"/>
    <a:srgbClr val="B6C8D8"/>
    <a:srgbClr val="E2E9EF"/>
    <a:srgbClr val="F2F2F2"/>
    <a:srgbClr val="447BB2"/>
    <a:srgbClr val="D1D1D1"/>
    <a:srgbClr val="BFBFBF"/>
    <a:srgbClr val="1D4D68"/>
    <a:srgbClr val="798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3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27776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r">
              <a:defRPr sz="1200"/>
            </a:lvl1pPr>
          </a:lstStyle>
          <a:p>
            <a:fld id="{8ACBDEED-51C7-9D44-8B0E-E5493C8A1496}" type="datetimeFigureOut">
              <a:rPr lang="en-US">
                <a:latin typeface="Arial" panose="020B0604020202020204" pitchFamily="34" charset="0"/>
              </a:rPr>
              <a:t>5/15/2026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27776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r">
              <a:defRPr sz="1200"/>
            </a:lvl1pPr>
          </a:lstStyle>
          <a:p>
            <a:fld id="{89B20CC8-1D49-1F4A-B7DF-0C6E98397D09}" type="slidenum">
              <a:rPr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2294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3080" y="5640670"/>
            <a:ext cx="7776391" cy="473423"/>
          </a:xfrm>
        </p:spPr>
        <p:txBody>
          <a:bodyPr anchor="t"/>
          <a:lstStyle>
            <a:lvl1pPr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US"/>
              <a:t>Date (16 PT)</a:t>
            </a:r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3429000"/>
            <a:ext cx="0" cy="136506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0" y="3260838"/>
            <a:ext cx="7776399" cy="21621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Title (36 PT)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453080" y="743907"/>
            <a:ext cx="11230920" cy="1637662"/>
            <a:chOff x="588922" y="596464"/>
            <a:chExt cx="10697007" cy="1559809"/>
          </a:xfrm>
        </p:grpSpPr>
        <p:pic>
          <p:nvPicPr>
            <p:cNvPr id="5" name="Graphic 4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8922" y="596464"/>
              <a:ext cx="7799041" cy="1559809"/>
            </a:xfrm>
            <a:prstGeom prst="rect">
              <a:avLst/>
            </a:prstGeom>
          </p:spPr>
        </p:pic>
        <p:pic>
          <p:nvPicPr>
            <p:cNvPr id="6" name="Graphic 5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80882" y="913377"/>
              <a:ext cx="2305047" cy="9143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7121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7" name="Text Placeholder 26"/>
          <p:cNvSpPr>
            <a:spLocks noGrp="1"/>
          </p:cNvSpPr>
          <p:nvPr>
            <p:ph type="body" sz="quarter" idx="11" hasCustomPrompt="1"/>
          </p:nvPr>
        </p:nvSpPr>
        <p:spPr>
          <a:xfrm>
            <a:off x="453082" y="2383743"/>
            <a:ext cx="9153537" cy="2105200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Section Divider Title (36 PT)</a:t>
            </a:r>
          </a:p>
        </p:txBody>
      </p:sp>
      <p:sp>
        <p:nvSpPr>
          <p:cNvPr id="8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2" y="4715093"/>
            <a:ext cx="9153537" cy="499503"/>
          </a:xfr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Subsections / Headline Paragraph (16 PT)</a:t>
            </a:r>
          </a:p>
        </p:txBody>
      </p: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  <p:sp>
        <p:nvSpPr>
          <p:cNvPr id="2" name="TextBox 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accent4"/>
                </a:solidFill>
              </a:rPr>
              <a:pPr algn="ctr"/>
              <a:t>‹#›</a:t>
            </a:fld>
            <a:endParaRPr lang="en-US" sz="80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049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% Bloc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0"/>
            <a:ext cx="6096000" cy="640079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5838" y="566400"/>
            <a:ext cx="5181827" cy="566928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5460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6552217" y="1424682"/>
            <a:ext cx="5182583" cy="4712658"/>
          </a:xfrm>
        </p:spPr>
        <p:txBody>
          <a:bodyPr/>
          <a:lstStyle/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6" hasCustomPrompt="1"/>
          </p:nvPr>
        </p:nvSpPr>
        <p:spPr>
          <a:xfrm>
            <a:off x="455460" y="1424682"/>
            <a:ext cx="5181827" cy="4712657"/>
          </a:xfrm>
        </p:spPr>
        <p:txBody>
          <a:bodyPr/>
          <a:lstStyle>
            <a:lvl1pPr>
              <a:buClr>
                <a:schemeClr val="bg2"/>
              </a:buClr>
              <a:defRPr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>
                <a:solidFill>
                  <a:schemeClr val="bg2"/>
                </a:solidFill>
              </a:defRPr>
            </a:lvl3pPr>
            <a:lvl4pPr>
              <a:buClr>
                <a:schemeClr val="bg2"/>
              </a:buClr>
              <a:defRPr>
                <a:solidFill>
                  <a:schemeClr val="bg2"/>
                </a:solidFill>
              </a:defRPr>
            </a:lvl4pPr>
            <a:lvl5pPr>
              <a:buClr>
                <a:schemeClr val="bg2"/>
              </a:buCl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9696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2701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3079" y="566400"/>
            <a:ext cx="11282099" cy="5669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</p:spTree>
    <p:extLst>
      <p:ext uri="{BB962C8B-B14F-4D97-AF65-F5344CB8AC3E}">
        <p14:creationId xmlns:p14="http://schemas.microsoft.com/office/powerpoint/2010/main" val="3665298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12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Gloss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5435E64-C67E-B7D2-F1D2-3FF5E4CADA9A}"/>
              </a:ext>
            </a:extLst>
          </p:cNvPr>
          <p:cNvGraphicFramePr>
            <a:graphicFrameLocks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2900928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04" imgH="405" progId="TCLayout.ActiveDocument.1">
                  <p:embed/>
                </p:oleObj>
              </mc:Choice>
              <mc:Fallback>
                <p:oleObj name="think-cell Slide" r:id="rId9" imgW="404" imgH="405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2702" y="566399"/>
            <a:ext cx="11282100" cy="566919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(20 PT)</a:t>
            </a:r>
            <a:br>
              <a:rPr lang="en-US"/>
            </a:br>
            <a:br>
              <a:rPr lang="en-US"/>
            </a:br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5"/>
          <p:cNvSpPr>
            <a:spLocks noGrp="1"/>
          </p:cNvSpPr>
          <p:nvPr>
            <p:ph type="body" idx="1"/>
          </p:nvPr>
        </p:nvSpPr>
        <p:spPr>
          <a:xfrm>
            <a:off x="452701" y="1424682"/>
            <a:ext cx="11282099" cy="47126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tx2"/>
                </a:solidFill>
              </a:rPr>
              <a:pPr algn="ctr"/>
              <a:t>‹#›</a:t>
            </a:fld>
            <a:endParaRPr lang="en-US" sz="800">
              <a:solidFill>
                <a:schemeClr val="tx2"/>
              </a:solidFill>
            </a:endParaRPr>
          </a:p>
        </p:txBody>
      </p:sp>
      <p:cxnSp>
        <p:nvCxnSpPr>
          <p:cNvPr id="20" name="Straight Connector 19"/>
          <p:cNvCxnSpPr>
            <a:cxnSpLocks/>
          </p:cNvCxnSpPr>
          <p:nvPr userDrawn="1"/>
        </p:nvCxnSpPr>
        <p:spPr>
          <a:xfrm>
            <a:off x="457193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cxnSpLocks/>
          </p:cNvCxnSpPr>
          <p:nvPr userDrawn="1"/>
        </p:nvCxnSpPr>
        <p:spPr>
          <a:xfrm>
            <a:off x="11724461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97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54" r:id="rId2"/>
    <p:sldLayoutId id="2147483658" r:id="rId3"/>
    <p:sldLayoutId id="2147483661" r:id="rId4"/>
    <p:sldLayoutId id="2147483691" r:id="rId5"/>
    <p:sldLayoutId id="2147483696" r:id="rId6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650" indent="-120650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•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1pPr>
      <a:lvl2pPr marL="233363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-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350838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3pPr>
      <a:lvl4pPr marL="463550" indent="-111125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573088" indent="-109538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Defense Market Strategy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Market Access Framework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Contract Addressability | A recompete opportunity becomes actionable when demand recurs, access exists, and funding is executable.</a:t>
            </a:r>
          </a:p>
        </p:txBody>
      </p:sp>
      <p:sp>
        <p:nvSpPr>
          <p:cNvPr id="100" name="Label"/>
          <p:cNvSpPr txBox="1"/>
          <p:nvPr/>
        </p:nvSpPr>
        <p:spPr>
          <a:xfrm>
            <a:off x="468173" y="1332281"/>
            <a:ext cx="2702966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spcAft>
                <a:spcPts val="80"/>
              </a:spcAft>
              <a:buNone/>
            </a:pPr>
            <a:r>
              <a:rPr lang="en-US" sz="12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Does the requirement recur?</a:t>
            </a:r>
          </a:p>
        </p:txBody>
      </p:sp>
      <p:sp>
        <p:nvSpPr>
          <p:cNvPr id="101" name="Label"/>
          <p:cNvSpPr txBox="1"/>
          <p:nvPr/>
        </p:nvSpPr>
        <p:spPr>
          <a:xfrm>
            <a:off x="2512771" y="2329891"/>
            <a:ext cx="2702966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spcAft>
                <a:spcPts val="80"/>
              </a:spcAft>
              <a:buNone/>
            </a:pPr>
            <a:r>
              <a:rPr lang="en-US" sz="12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we compete?</a:t>
            </a:r>
          </a:p>
        </p:txBody>
      </p:sp>
      <p:sp>
        <p:nvSpPr>
          <p:cNvPr id="102" name="Label"/>
          <p:cNvSpPr txBox="1"/>
          <p:nvPr/>
        </p:nvSpPr>
        <p:spPr>
          <a:xfrm>
            <a:off x="4598518" y="3327502"/>
            <a:ext cx="2702966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spcAft>
                <a:spcPts val="80"/>
              </a:spcAft>
              <a:buNone/>
            </a:pPr>
            <a:r>
              <a:rPr lang="en-US" sz="12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Is there budget alignment?</a:t>
            </a:r>
          </a:p>
        </p:txBody>
      </p:sp>
      <p:sp>
        <p:nvSpPr>
          <p:cNvPr id="103" name="Label"/>
          <p:cNvSpPr txBox="1"/>
          <p:nvPr/>
        </p:nvSpPr>
        <p:spPr>
          <a:xfrm>
            <a:off x="6711696" y="4325112"/>
            <a:ext cx="2703881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spcAft>
                <a:spcPts val="80"/>
              </a:spcAft>
              <a:buNone/>
            </a:pPr>
            <a:r>
              <a:rPr lang="en-US" sz="1200" b="1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the opportunity be shaped?</a:t>
            </a:r>
          </a:p>
        </p:txBody>
      </p:sp>
      <p:sp>
        <p:nvSpPr>
          <p:cNvPr id="104" name="Non Addressable Band"/>
          <p:cNvSpPr txBox="1"/>
          <p:nvPr/>
        </p:nvSpPr>
        <p:spPr>
          <a:xfrm>
            <a:off x="452628" y="5319979"/>
            <a:ext cx="7196328" cy="504749"/>
          </a:xfrm>
          <a:prstGeom prst="rect">
            <a:avLst/>
          </a:prstGeom>
          <a:solidFill>
            <a:srgbClr val="F2F2F2"/>
          </a:solidFill>
          <a:ln w="12700">
            <a:solidFill>
              <a:srgbClr val="808080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Non-addressable</a:t>
            </a:r>
          </a:p>
        </p:txBody>
      </p:sp>
      <p:sp>
        <p:nvSpPr>
          <p:cNvPr id="105" name="Output Note"/>
          <p:cNvSpPr txBox="1"/>
          <p:nvPr/>
        </p:nvSpPr>
        <p:spPr>
          <a:xfrm>
            <a:off x="8065008" y="5655564"/>
            <a:ext cx="3465576" cy="169164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Direct recompete  •  vehicle on-ramp  •  prime / holder route</a:t>
            </a:r>
          </a:p>
        </p:txBody>
      </p:sp>
      <p:sp>
        <p:nvSpPr>
          <p:cNvPr id="106" name="Timing Handoff"/>
          <p:cNvSpPr txBox="1"/>
          <p:nvPr/>
        </p:nvSpPr>
        <p:spPr>
          <a:xfrm>
            <a:off x="8246059" y="6031382"/>
            <a:ext cx="31089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latin typeface="Arial"/>
                <a:ea typeface="Arial"/>
                <a:cs typeface="Arial"/>
              </a:rPr>
              <a:t>Determine recompete timing, outlook &amp; pathway</a:t>
            </a:r>
            <a:br/>
            <a:r>
              <a:rPr lang="en-US" sz="800" i="1" dirty="0">
                <a:latin typeface="Arial"/>
                <a:ea typeface="Arial"/>
                <a:cs typeface="Arial"/>
              </a:rPr>
              <a:t>see following page for timing estimation</a:t>
            </a:r>
          </a:p>
        </p:txBody>
      </p:sp>
      <p:cxnSp>
        <p:nvCxnSpPr>
          <p:cNvPr id="107" name="Addressable to Timing"/>
          <p:cNvCxnSpPr/>
          <p:nvPr/>
        </p:nvCxnSpPr>
        <p:spPr>
          <a:xfrm>
            <a:off x="9800539" y="5762549"/>
            <a:ext cx="0" cy="268834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108" name="Addressable Band"/>
          <p:cNvSpPr txBox="1"/>
          <p:nvPr/>
        </p:nvSpPr>
        <p:spPr>
          <a:xfrm>
            <a:off x="7865669" y="5319979"/>
            <a:ext cx="3869741" cy="504749"/>
          </a:xfrm>
          <a:prstGeom prst="rect">
            <a:avLst/>
          </a:prstGeom>
          <a:solidFill>
            <a:srgbClr val="223E59"/>
          </a:solidFill>
          <a:ln w="12700">
            <a:solidFill>
              <a:srgbClr val="223E59"/>
            </a:solidFill>
          </a:ln>
        </p:spPr>
        <p:txBody>
          <a:bodyPr wrap="square" anchor="ctr" lIns="45720" tIns="27432" rIns="45720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Addressable</a:t>
            </a:r>
          </a:p>
        </p:txBody>
      </p:sp>
      <p:cxnSp>
        <p:nvCxnSpPr>
          <p:cNvPr id="109" name="Requirement Yes H"/>
          <p:cNvCxnSpPr/>
          <p:nvPr/>
        </p:nvCxnSpPr>
        <p:spPr>
          <a:xfrm>
            <a:off x="3171139" y="1588313"/>
            <a:ext cx="693115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10" name="Requirement Yes V"/>
          <p:cNvCxnSpPr/>
          <p:nvPr/>
        </p:nvCxnSpPr>
        <p:spPr>
          <a:xfrm>
            <a:off x="3864254" y="1588313"/>
            <a:ext cx="0" cy="741578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111" name="Verdict Chip"/>
          <p:cNvSpPr txBox="1"/>
          <p:nvPr/>
        </p:nvSpPr>
        <p:spPr>
          <a:xfrm>
            <a:off x="3541471" y="1957730"/>
            <a:ext cx="640080" cy="228600"/>
          </a:xfrm>
          <a:prstGeom prst="rect">
            <a:avLst/>
          </a:prstGeom>
          <a:solidFill>
            <a:srgbClr val="D1E8DD"/>
          </a:solidFill>
          <a:ln w="12700">
            <a:solidFill>
              <a:srgbClr val="1B8A57"/>
            </a:solidFill>
          </a:ln>
        </p:spPr>
        <p:txBody>
          <a:bodyPr wrap="square" anchor="ctr" lIns="27432" tIns="9144" rIns="27432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latin typeface="Arial"/>
                <a:ea typeface="Arial"/>
                <a:cs typeface="Arial"/>
              </a:rPr>
              <a:t>Yes</a:t>
            </a:r>
          </a:p>
        </p:txBody>
      </p:sp>
      <p:cxnSp>
        <p:nvCxnSpPr>
          <p:cNvPr id="112" name="Requirement No"/>
          <p:cNvCxnSpPr/>
          <p:nvPr/>
        </p:nvCxnSpPr>
        <p:spPr>
          <a:xfrm>
            <a:off x="1819656" y="1844345"/>
            <a:ext cx="0" cy="3475634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113" name="Verdict Chip"/>
          <p:cNvSpPr txBox="1"/>
          <p:nvPr/>
        </p:nvSpPr>
        <p:spPr>
          <a:xfrm>
            <a:off x="1499616" y="3129077"/>
            <a:ext cx="640080" cy="228600"/>
          </a:xfrm>
          <a:prstGeom prst="rect">
            <a:avLst/>
          </a:prstGeom>
          <a:solidFill>
            <a:srgbClr val="F2CCCC"/>
          </a:solidFill>
          <a:ln w="12700">
            <a:solidFill>
              <a:srgbClr val="C00000"/>
            </a:solidFill>
          </a:ln>
        </p:spPr>
        <p:txBody>
          <a:bodyPr wrap="square" anchor="ctr" lIns="27432" tIns="9144" rIns="27432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latin typeface="Arial"/>
                <a:ea typeface="Arial"/>
                <a:cs typeface="Arial"/>
              </a:rPr>
              <a:t>No</a:t>
            </a:r>
          </a:p>
        </p:txBody>
      </p:sp>
      <p:cxnSp>
        <p:nvCxnSpPr>
          <p:cNvPr id="114" name="Competition No"/>
          <p:cNvCxnSpPr/>
          <p:nvPr/>
        </p:nvCxnSpPr>
        <p:spPr>
          <a:xfrm>
            <a:off x="3864254" y="2841955"/>
            <a:ext cx="0" cy="2478024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15" name="Competition Yes H"/>
          <p:cNvCxnSpPr/>
          <p:nvPr/>
        </p:nvCxnSpPr>
        <p:spPr>
          <a:xfrm>
            <a:off x="5215738" y="2585923"/>
            <a:ext cx="734263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16" name="Competition Yes V"/>
          <p:cNvCxnSpPr/>
          <p:nvPr/>
        </p:nvCxnSpPr>
        <p:spPr>
          <a:xfrm>
            <a:off x="5950001" y="2585923"/>
            <a:ext cx="0" cy="741578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117" name="Verdict Chip"/>
          <p:cNvSpPr txBox="1"/>
          <p:nvPr/>
        </p:nvSpPr>
        <p:spPr>
          <a:xfrm>
            <a:off x="5638190" y="2933395"/>
            <a:ext cx="640080" cy="228600"/>
          </a:xfrm>
          <a:prstGeom prst="rect">
            <a:avLst/>
          </a:prstGeom>
          <a:solidFill>
            <a:srgbClr val="D1E8DD"/>
          </a:solidFill>
          <a:ln w="12700">
            <a:solidFill>
              <a:srgbClr val="1B8A57"/>
            </a:solidFill>
          </a:ln>
        </p:spPr>
        <p:txBody>
          <a:bodyPr wrap="square" anchor="ctr" lIns="27432" tIns="9144" rIns="27432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latin typeface="Arial"/>
                <a:ea typeface="Arial"/>
                <a:cs typeface="Arial"/>
              </a:rPr>
              <a:t>Yes</a:t>
            </a:r>
          </a:p>
        </p:txBody>
      </p:sp>
      <p:cxnSp>
        <p:nvCxnSpPr>
          <p:cNvPr id="118" name="Budget Yes H"/>
          <p:cNvCxnSpPr/>
          <p:nvPr/>
        </p:nvCxnSpPr>
        <p:spPr>
          <a:xfrm>
            <a:off x="7301484" y="3583534"/>
            <a:ext cx="2499055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19" name="Budget Yes V"/>
          <p:cNvCxnSpPr/>
          <p:nvPr/>
        </p:nvCxnSpPr>
        <p:spPr>
          <a:xfrm>
            <a:off x="9800539" y="3583534"/>
            <a:ext cx="0" cy="1736446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cxnSp>
        <p:nvCxnSpPr>
          <p:cNvPr id="120" name="Budget No V"/>
          <p:cNvCxnSpPr/>
          <p:nvPr/>
        </p:nvCxnSpPr>
        <p:spPr>
          <a:xfrm>
            <a:off x="5950001" y="3839566"/>
            <a:ext cx="0" cy="741578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121" name="Budget No H"/>
          <p:cNvCxnSpPr/>
          <p:nvPr/>
        </p:nvCxnSpPr>
        <p:spPr>
          <a:xfrm>
            <a:off x="5950001" y="4581144"/>
            <a:ext cx="761695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122" name="Label"/>
          <p:cNvSpPr txBox="1"/>
          <p:nvPr/>
        </p:nvSpPr>
        <p:spPr>
          <a:xfrm>
            <a:off x="3132734" y="3260750"/>
            <a:ext cx="1399032" cy="210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36576" tIns="18288" rIns="36576" bIns="18288"/>
          <a:lstStyle/>
          <a:p>
            <a:pPr algn="ctr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Holder-gated / Incumbent-led</a:t>
            </a:r>
          </a:p>
        </p:txBody>
      </p:sp>
      <p:sp>
        <p:nvSpPr>
          <p:cNvPr id="123" name="Label"/>
          <p:cNvSpPr txBox="1"/>
          <p:nvPr/>
        </p:nvSpPr>
        <p:spPr>
          <a:xfrm>
            <a:off x="1225296" y="2511857"/>
            <a:ext cx="118872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36576" tIns="18288" rIns="36576" bIns="18288"/>
          <a:lstStyle/>
          <a:p>
            <a:pPr algn="ctr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One-time</a:t>
            </a:r>
          </a:p>
        </p:txBody>
      </p:sp>
      <p:sp>
        <p:nvSpPr>
          <p:cNvPr id="124" name="Label"/>
          <p:cNvSpPr txBox="1"/>
          <p:nvPr/>
        </p:nvSpPr>
        <p:spPr>
          <a:xfrm>
            <a:off x="5363870" y="2692908"/>
            <a:ext cx="1188720" cy="155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36576" tIns="18288" rIns="36576" bIns="18288"/>
          <a:lstStyle/>
          <a:p>
            <a:pPr algn="ctr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Open competition</a:t>
            </a:r>
          </a:p>
        </p:txBody>
      </p:sp>
      <p:sp>
        <p:nvSpPr>
          <p:cNvPr id="125" name="Label"/>
          <p:cNvSpPr txBox="1"/>
          <p:nvPr/>
        </p:nvSpPr>
        <p:spPr>
          <a:xfrm>
            <a:off x="3203143" y="1670609"/>
            <a:ext cx="137160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36576" tIns="18288" rIns="36576" bIns="18288"/>
          <a:lstStyle/>
          <a:p>
            <a:pPr algn="ctr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FYDP / recurring obligations</a:t>
            </a:r>
          </a:p>
        </p:txBody>
      </p:sp>
      <p:sp>
        <p:nvSpPr>
          <p:cNvPr id="126" name="Label"/>
          <p:cNvSpPr txBox="1"/>
          <p:nvPr/>
        </p:nvSpPr>
        <p:spPr>
          <a:xfrm>
            <a:off x="7708392" y="3446374"/>
            <a:ext cx="82296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36576" tIns="18288" rIns="36576" bIns="18288"/>
          <a:lstStyle/>
          <a:p>
            <a:pPr algn="ctr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Requested appropriations</a:t>
            </a:r>
          </a:p>
        </p:txBody>
      </p:sp>
      <p:cxnSp>
        <p:nvCxnSpPr>
          <p:cNvPr id="127" name="Shaping Likely"/>
          <p:cNvCxnSpPr/>
          <p:nvPr/>
        </p:nvCxnSpPr>
        <p:spPr>
          <a:xfrm>
            <a:off x="8780069" y="4837176"/>
            <a:ext cx="0" cy="482803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128" name="Verdict Chip"/>
          <p:cNvSpPr txBox="1"/>
          <p:nvPr/>
        </p:nvSpPr>
        <p:spPr>
          <a:xfrm>
            <a:off x="3544214" y="3706978"/>
            <a:ext cx="640080" cy="228600"/>
          </a:xfrm>
          <a:prstGeom prst="rect">
            <a:avLst/>
          </a:prstGeom>
          <a:solidFill>
            <a:srgbClr val="F2CCCC"/>
          </a:solidFill>
          <a:ln w="12700">
            <a:solidFill>
              <a:srgbClr val="C00000"/>
            </a:solidFill>
          </a:ln>
        </p:spPr>
        <p:txBody>
          <a:bodyPr wrap="square" anchor="ctr" lIns="27432" tIns="9144" rIns="27432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latin typeface="Arial"/>
                <a:ea typeface="Arial"/>
                <a:cs typeface="Arial"/>
              </a:rPr>
              <a:t>No</a:t>
            </a:r>
          </a:p>
        </p:txBody>
      </p:sp>
      <p:sp>
        <p:nvSpPr>
          <p:cNvPr id="129" name="Verdict Chip"/>
          <p:cNvSpPr txBox="1"/>
          <p:nvPr/>
        </p:nvSpPr>
        <p:spPr>
          <a:xfrm>
            <a:off x="8759952" y="3469234"/>
            <a:ext cx="640080" cy="228600"/>
          </a:xfrm>
          <a:prstGeom prst="rect">
            <a:avLst/>
          </a:prstGeom>
          <a:solidFill>
            <a:srgbClr val="D1E8DD"/>
          </a:solidFill>
          <a:ln w="12700">
            <a:solidFill>
              <a:srgbClr val="1B8A57"/>
            </a:solidFill>
          </a:ln>
        </p:spPr>
        <p:txBody>
          <a:bodyPr wrap="square" anchor="ctr" lIns="27432" tIns="9144" rIns="27432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latin typeface="Arial"/>
                <a:ea typeface="Arial"/>
                <a:cs typeface="Arial"/>
              </a:rPr>
              <a:t>Yes</a:t>
            </a:r>
          </a:p>
        </p:txBody>
      </p:sp>
      <p:sp>
        <p:nvSpPr>
          <p:cNvPr id="130" name="Verdict Chip"/>
          <p:cNvSpPr txBox="1"/>
          <p:nvPr/>
        </p:nvSpPr>
        <p:spPr>
          <a:xfrm>
            <a:off x="5629961" y="4113886"/>
            <a:ext cx="640080" cy="228600"/>
          </a:xfrm>
          <a:prstGeom prst="rect">
            <a:avLst/>
          </a:prstGeom>
          <a:solidFill>
            <a:srgbClr val="F2CCCC"/>
          </a:solidFill>
          <a:ln w="12700">
            <a:solidFill>
              <a:srgbClr val="C00000"/>
            </a:solidFill>
          </a:ln>
        </p:spPr>
        <p:txBody>
          <a:bodyPr wrap="square" anchor="ctr" lIns="27432" tIns="9144" rIns="27432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latin typeface="Arial"/>
                <a:ea typeface="Arial"/>
                <a:cs typeface="Arial"/>
              </a:rPr>
              <a:t>No</a:t>
            </a:r>
          </a:p>
        </p:txBody>
      </p:sp>
      <p:cxnSp>
        <p:nvCxnSpPr>
          <p:cNvPr id="131" name="Shaping Not Likely"/>
          <p:cNvCxnSpPr/>
          <p:nvPr/>
        </p:nvCxnSpPr>
        <p:spPr>
          <a:xfrm>
            <a:off x="7248449" y="4837176"/>
            <a:ext cx="0" cy="482803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132" name="Verdict Chip"/>
          <p:cNvSpPr txBox="1"/>
          <p:nvPr/>
        </p:nvSpPr>
        <p:spPr>
          <a:xfrm>
            <a:off x="8460029" y="4983480"/>
            <a:ext cx="640080" cy="228600"/>
          </a:xfrm>
          <a:prstGeom prst="rect">
            <a:avLst/>
          </a:prstGeom>
          <a:solidFill>
            <a:srgbClr val="D1E8DD"/>
          </a:solidFill>
          <a:ln w="12700">
            <a:solidFill>
              <a:srgbClr val="1B8A57"/>
            </a:solidFill>
          </a:ln>
        </p:spPr>
        <p:txBody>
          <a:bodyPr wrap="square" anchor="ctr" lIns="27432" tIns="9144" rIns="27432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latin typeface="Arial"/>
                <a:ea typeface="Arial"/>
                <a:cs typeface="Arial"/>
              </a:rPr>
              <a:t>Likely</a:t>
            </a:r>
          </a:p>
        </p:txBody>
      </p:sp>
      <p:sp>
        <p:nvSpPr>
          <p:cNvPr id="133" name="Verdict Chip"/>
          <p:cNvSpPr txBox="1"/>
          <p:nvPr/>
        </p:nvSpPr>
        <p:spPr>
          <a:xfrm>
            <a:off x="6921094" y="4983480"/>
            <a:ext cx="640080" cy="228600"/>
          </a:xfrm>
          <a:prstGeom prst="rect">
            <a:avLst/>
          </a:prstGeom>
          <a:solidFill>
            <a:srgbClr val="F2CCCC"/>
          </a:solidFill>
          <a:ln w="12700">
            <a:solidFill>
              <a:srgbClr val="C00000"/>
            </a:solidFill>
          </a:ln>
        </p:spPr>
        <p:txBody>
          <a:bodyPr wrap="square" anchor="ctr" lIns="27432" tIns="9144" rIns="27432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latin typeface="Arial"/>
                <a:ea typeface="Arial"/>
                <a:cs typeface="Arial"/>
              </a:rPr>
              <a:t>Not likely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Defense Market Strategy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Market Access Framework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Recompete Timing | Award type anchors the baseline date, color of money caps how late it can fall, and a handful of variables and signals move it from there.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100" name="Upper Bound Card"/>
          <p:cNvSpPr txBox="1"/>
          <p:nvPr/>
        </p:nvSpPr>
        <p:spPr>
          <a:xfrm>
            <a:off x="452628" y="1532534"/>
            <a:ext cx="1945843" cy="129479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18288" tIns="36576" rIns="18288" bIns="36576"/>
          <a:lstStyle/>
          <a:p>
            <a:pPr algn="ctr">
              <a:lnSpc>
                <a:spcPct val="100000"/>
              </a:lnSpc>
              <a:spcAft>
                <a:spcPts val="160"/>
              </a:spcAft>
              <a:buNone/>
            </a:pPr>
            <a:r>
              <a:rPr lang="en-US" sz="1200" b="1" i="1" u="sng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Upper Bound</a:t>
            </a:r>
          </a:p>
          <a:p>
            <a:pPr algn="ctr">
              <a:lnSpc>
                <a:spcPct val="100000"/>
              </a:lnSpc>
              <a:spcAft>
                <a:spcPts val="160"/>
              </a:spcAft>
              <a:buNone/>
            </a:pPr>
            <a:endParaRPr lang="en-US"/>
          </a:p>
          <a:p>
            <a:pPr algn="ctr">
              <a:lnSpc>
                <a:spcPct val="100000"/>
              </a:lnSpc>
              <a:spcAft>
                <a:spcPts val="160"/>
              </a:spcAft>
              <a:buNone/>
            </a:pPr>
            <a:r>
              <a:rPr lang="en-US" sz="1000" b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Color-of-money obligation period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Latest feasible award that can use a given FY’s money — not period of performance.</a:t>
            </a:r>
          </a:p>
        </p:txBody>
      </p:sp>
      <p:sp>
        <p:nvSpPr>
          <p:cNvPr id="101" name="Color of Money Bar"/>
          <p:cNvSpPr txBox="1"/>
          <p:nvPr/>
        </p:nvSpPr>
        <p:spPr>
          <a:xfrm>
            <a:off x="2591410" y="1532534"/>
            <a:ext cx="9144000" cy="347472"/>
          </a:xfrm>
          <a:prstGeom prst="rect">
            <a:avLst/>
          </a:prstGeom>
          <a:solidFill>
            <a:srgbClr val="007770"/>
          </a:solidFill>
          <a:ln w="6350">
            <a:solidFill>
              <a:srgbClr val="000000"/>
            </a:solidFill>
          </a:ln>
        </p:spPr>
        <p:txBody>
          <a:bodyPr wrap="square" anchor="ctr" lIns="91440" tIns="27432" rIns="91440" bIns="27432"/>
          <a:lstStyle/>
          <a:p>
            <a:pPr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SCN</a:t>
            </a: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|  5-year obligation availability</a:t>
            </a:r>
          </a:p>
        </p:txBody>
      </p:sp>
      <p:sp>
        <p:nvSpPr>
          <p:cNvPr id="102" name="Color of Money Bar"/>
          <p:cNvSpPr txBox="1"/>
          <p:nvPr/>
        </p:nvSpPr>
        <p:spPr>
          <a:xfrm>
            <a:off x="2591410" y="2006194"/>
            <a:ext cx="5486400" cy="347472"/>
          </a:xfrm>
          <a:prstGeom prst="rect">
            <a:avLst/>
          </a:prstGeom>
          <a:solidFill>
            <a:srgbClr val="447BB2"/>
          </a:solidFill>
          <a:ln w="6350">
            <a:solidFill>
              <a:srgbClr val="000000"/>
            </a:solidFill>
          </a:ln>
        </p:spPr>
        <p:txBody>
          <a:bodyPr wrap="square" anchor="ctr" lIns="91440" tIns="27432" rIns="91440" bIns="27432"/>
          <a:lstStyle/>
          <a:p>
            <a:pPr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Procurement</a:t>
            </a: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|  3-year obligation availability</a:t>
            </a:r>
          </a:p>
        </p:txBody>
      </p:sp>
      <p:sp>
        <p:nvSpPr>
          <p:cNvPr id="103" name="Color of Money Bar"/>
          <p:cNvSpPr txBox="1"/>
          <p:nvPr/>
        </p:nvSpPr>
        <p:spPr>
          <a:xfrm>
            <a:off x="2587752" y="2479853"/>
            <a:ext cx="3657600" cy="347472"/>
          </a:xfrm>
          <a:prstGeom prst="rect">
            <a:avLst/>
          </a:prstGeom>
          <a:solidFill>
            <a:srgbClr val="7030A0"/>
          </a:solidFill>
          <a:ln w="6350">
            <a:solidFill>
              <a:srgbClr val="000000"/>
            </a:solidFill>
          </a:ln>
        </p:spPr>
        <p:txBody>
          <a:bodyPr wrap="square" anchor="ctr" lIns="91440" tIns="27432" rIns="91440" bIns="27432"/>
          <a:lstStyle/>
          <a:p>
            <a:pPr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RDT&amp;E</a:t>
            </a:r>
            <a:r>
              <a:rPr lang="en-US" sz="10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|  2-year obligation availability</a:t>
            </a:r>
          </a:p>
        </p:txBody>
      </p:sp>
      <p:sp>
        <p:nvSpPr>
          <p:cNvPr id="104" name="Upper Bound Caption"/>
          <p:cNvSpPr txBox="1"/>
          <p:nvPr/>
        </p:nvSpPr>
        <p:spPr>
          <a:xfrm>
            <a:off x="2591410" y="2912364"/>
            <a:ext cx="5468112" cy="13716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800" i="1" dirty="0">
                <a:latin typeface="Arial"/>
                <a:ea typeface="Arial"/>
                <a:cs typeface="Arial"/>
              </a:rPr>
              <a:t>Bar length = how long that year’s money stays obligable; the cap moves only if a later appropriation funds the award.</a:t>
            </a:r>
          </a:p>
        </p:txBody>
      </p:sp>
      <p:sp>
        <p:nvSpPr>
          <p:cNvPr id="105" name="Funding Read Card"/>
          <p:cNvSpPr txBox="1"/>
          <p:nvPr/>
        </p:nvSpPr>
        <p:spPr>
          <a:xfrm>
            <a:off x="8270748" y="2067458"/>
            <a:ext cx="3464662" cy="792785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</a:ln>
        </p:spPr>
        <p:txBody>
          <a:bodyPr wrap="square" anchor="t" lIns="73152" tIns="36576" rIns="73152" bIns="36576"/>
          <a:lstStyle/>
          <a:p>
            <a:pPr>
              <a:lnSpc>
                <a:spcPct val="100000"/>
              </a:lnSpc>
              <a:spcAft>
                <a:spcPts val="110"/>
              </a:spcAft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Funding read</a:t>
            </a:r>
          </a:p>
          <a:p>
            <a:pPr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color of money funds it, and how much obligation life remains — that sets the latest feasible award.</a:t>
            </a:r>
          </a:p>
        </p:txBody>
      </p:sp>
      <p:sp>
        <p:nvSpPr>
          <p:cNvPr id="106" name="Color Money Chip"/>
          <p:cNvSpPr txBox="1"/>
          <p:nvPr/>
        </p:nvSpPr>
        <p:spPr>
          <a:xfrm>
            <a:off x="8435340" y="2640787"/>
            <a:ext cx="713232" cy="18288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wrap="non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O&amp;M</a:t>
            </a:r>
            <a:r>
              <a:rPr lang="en-US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1 yr</a:t>
            </a:r>
          </a:p>
        </p:txBody>
      </p:sp>
      <p:sp>
        <p:nvSpPr>
          <p:cNvPr id="107" name="Color Money Chip"/>
          <p:cNvSpPr txBox="1"/>
          <p:nvPr/>
        </p:nvSpPr>
        <p:spPr>
          <a:xfrm>
            <a:off x="9212580" y="2640787"/>
            <a:ext cx="713232" cy="18288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wrap="non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RDT&amp;E</a:t>
            </a:r>
            <a:r>
              <a:rPr lang="en-US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2 yr</a:t>
            </a:r>
          </a:p>
        </p:txBody>
      </p:sp>
      <p:sp>
        <p:nvSpPr>
          <p:cNvPr id="108" name="Color Money Chip"/>
          <p:cNvSpPr txBox="1"/>
          <p:nvPr/>
        </p:nvSpPr>
        <p:spPr>
          <a:xfrm>
            <a:off x="9989820" y="2640787"/>
            <a:ext cx="713232" cy="182880"/>
          </a:xfrm>
          <a:prstGeom prst="rect">
            <a:avLst/>
          </a:prstGeom>
          <a:solidFill>
            <a:srgbClr val="447BB2"/>
          </a:solidFill>
          <a:ln>
            <a:noFill/>
          </a:ln>
        </p:spPr>
        <p:txBody>
          <a:bodyPr wrap="non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</a:t>
            </a:r>
            <a:r>
              <a:rPr lang="en-US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3 yr</a:t>
            </a:r>
          </a:p>
        </p:txBody>
      </p:sp>
      <p:sp>
        <p:nvSpPr>
          <p:cNvPr id="109" name="Color Money Chip"/>
          <p:cNvSpPr txBox="1"/>
          <p:nvPr/>
        </p:nvSpPr>
        <p:spPr>
          <a:xfrm>
            <a:off x="10767060" y="2640787"/>
            <a:ext cx="713232" cy="182880"/>
          </a:xfrm>
          <a:prstGeom prst="rect">
            <a:avLst/>
          </a:prstGeom>
          <a:solidFill>
            <a:srgbClr val="007770"/>
          </a:solidFill>
          <a:ln>
            <a:noFill/>
          </a:ln>
        </p:spPr>
        <p:txBody>
          <a:bodyPr wrap="non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SCN</a:t>
            </a:r>
            <a:r>
              <a:rPr lang="en-US" sz="8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5 yr</a:t>
            </a:r>
          </a:p>
        </p:txBody>
      </p:sp>
      <p:sp>
        <p:nvSpPr>
          <p:cNvPr id="110" name="Likely Window Output"/>
          <p:cNvSpPr txBox="1"/>
          <p:nvPr/>
        </p:nvSpPr>
        <p:spPr>
          <a:xfrm>
            <a:off x="452628" y="3182112"/>
            <a:ext cx="756209" cy="2572207"/>
          </a:xfrm>
          <a:prstGeom prst="rect">
            <a:avLst/>
          </a:prstGeom>
          <a:solidFill>
            <a:srgbClr val="223E59"/>
          </a:solidFill>
          <a:ln w="12700">
            <a:solidFill>
              <a:srgbClr val="000000"/>
            </a:solidFill>
          </a:ln>
        </p:spPr>
        <p:txBody>
          <a:bodyPr wrap="square" anchor="ctr" lIns="27432" tIns="36576" rIns="27432" bIns="36576"/>
          <a:lstStyle/>
          <a:p>
            <a:pPr algn="ctr">
              <a:lnSpc>
                <a:spcPct val="100000"/>
              </a:lnSpc>
              <a:buNone/>
            </a:pPr>
            <a:r>
              <a:rPr lang="en-US" sz="1200" b="1" i="1" u="sng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Likely Window</a:t>
            </a:r>
          </a:p>
        </p:txBody>
      </p:sp>
      <p:sp>
        <p:nvSpPr>
          <p:cNvPr id="111" name="Lane Spine"/>
          <p:cNvSpPr txBox="1"/>
          <p:nvPr/>
        </p:nvSpPr>
        <p:spPr>
          <a:xfrm>
            <a:off x="1297534" y="3182112"/>
            <a:ext cx="1100938" cy="1034186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ctr" lIns="27432" tIns="18288" rIns="27432" bIns="18288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Anchor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 award type</a:t>
            </a:r>
          </a:p>
        </p:txBody>
      </p:sp>
      <p:sp>
        <p:nvSpPr>
          <p:cNvPr id="112" name="Flow Row"/>
          <p:cNvSpPr txBox="1"/>
          <p:nvPr/>
        </p:nvSpPr>
        <p:spPr>
          <a:xfrm>
            <a:off x="2591410" y="3182112"/>
            <a:ext cx="5468112" cy="324612"/>
          </a:xfrm>
          <a:prstGeom prst="rect">
            <a:avLst/>
          </a:prstGeom>
          <a:solidFill>
            <a:srgbClr val="F2F2F2"/>
          </a:solidFill>
          <a:ln w="6350">
            <a:solidFill>
              <a:srgbClr val="000000"/>
            </a:solidFill>
          </a:ln>
        </p:spPr>
        <p:txBody>
          <a:bodyPr wrap="square" anchor="ctr" lIns="60960" tIns="18288" rIns="60960" bIns="18288"/>
          <a:lstStyle/>
          <a:p>
            <a:pPr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Standalone definitive contract</a:t>
            </a:r>
            <a:r>
              <a:rPr lang="en-US" sz="80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  —  </a:t>
            </a:r>
            <a:r>
              <a:rPr lang="en-US" sz="8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ultimate completion + options</a:t>
            </a:r>
          </a:p>
        </p:txBody>
      </p:sp>
      <p:sp>
        <p:nvSpPr>
          <p:cNvPr id="113" name="Flow Row"/>
          <p:cNvSpPr txBox="1"/>
          <p:nvPr/>
        </p:nvSpPr>
        <p:spPr>
          <a:xfrm>
            <a:off x="2591410" y="3536899"/>
            <a:ext cx="5468112" cy="324612"/>
          </a:xfrm>
          <a:prstGeom prst="rect">
            <a:avLst/>
          </a:prstGeom>
          <a:solidFill>
            <a:srgbClr val="F2F2F2"/>
          </a:solidFill>
          <a:ln w="6350">
            <a:solidFill>
              <a:srgbClr val="000000"/>
            </a:solidFill>
          </a:ln>
        </p:spPr>
        <p:txBody>
          <a:bodyPr wrap="square" anchor="ctr" lIns="60960" tIns="18288" rIns="60960" bIns="18288"/>
          <a:lstStyle/>
          <a:p>
            <a:pPr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Task / delivery order</a:t>
            </a:r>
            <a:r>
              <a:rPr lang="en-US" sz="80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  —  </a:t>
            </a:r>
            <a:r>
              <a:rPr lang="en-US" sz="8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order completion + order options</a:t>
            </a:r>
          </a:p>
        </p:txBody>
      </p:sp>
      <p:sp>
        <p:nvSpPr>
          <p:cNvPr id="114" name="Flow Row"/>
          <p:cNvSpPr txBox="1"/>
          <p:nvPr/>
        </p:nvSpPr>
        <p:spPr>
          <a:xfrm>
            <a:off x="2591410" y="3891686"/>
            <a:ext cx="5468112" cy="324612"/>
          </a:xfrm>
          <a:prstGeom prst="rect">
            <a:avLst/>
          </a:prstGeom>
          <a:solidFill>
            <a:srgbClr val="F2F2F2"/>
          </a:solidFill>
          <a:ln w="6350">
            <a:solidFill>
              <a:srgbClr val="000000"/>
            </a:solidFill>
          </a:ln>
        </p:spPr>
        <p:txBody>
          <a:bodyPr wrap="square" anchor="ctr" lIns="60960" tIns="18288" rIns="60960" bIns="18288"/>
          <a:lstStyle/>
          <a:p>
            <a:pPr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 IDIQ / MAC / GWAC</a:t>
            </a:r>
            <a:r>
              <a:rPr lang="en-US" sz="80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  —  </a:t>
            </a:r>
            <a:r>
              <a:rPr lang="en-US" sz="800" i="1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last date to order + parent options</a:t>
            </a:r>
          </a:p>
        </p:txBody>
      </p:sp>
      <p:sp>
        <p:nvSpPr>
          <p:cNvPr id="115" name="Lane Spine"/>
          <p:cNvSpPr txBox="1"/>
          <p:nvPr/>
        </p:nvSpPr>
        <p:spPr>
          <a:xfrm>
            <a:off x="1297534" y="4306824"/>
            <a:ext cx="1100938" cy="679399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ctr" lIns="27432" tIns="18288" rIns="27432" bIns="18288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Shifts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 / push</a:t>
            </a:r>
          </a:p>
        </p:txBody>
      </p:sp>
      <p:sp>
        <p:nvSpPr>
          <p:cNvPr id="116" name="Flow Row"/>
          <p:cNvSpPr txBox="1"/>
          <p:nvPr/>
        </p:nvSpPr>
        <p:spPr>
          <a:xfrm>
            <a:off x="2591410" y="4306824"/>
            <a:ext cx="5468112" cy="324612"/>
          </a:xfrm>
          <a:prstGeom prst="rect">
            <a:avLst/>
          </a:prstGeom>
          <a:solidFill>
            <a:srgbClr val="1B8A57">
              <a:alpha val="16000"/>
            </a:srgbClr>
          </a:solidFill>
          <a:ln w="9525">
            <a:solidFill>
              <a:srgbClr val="1B8A57"/>
            </a:solidFill>
          </a:ln>
        </p:spPr>
        <p:txBody>
          <a:bodyPr wrap="square" anchor="ctr" lIns="60960" tIns="18288" rIns="60960" bIns="18288"/>
          <a:lstStyle/>
          <a:p>
            <a:pPr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 earlier  ↑</a:t>
            </a:r>
            <a:r>
              <a:rPr lang="en-US" sz="80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  |  </a:t>
            </a: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award type, value &amp; complexity, full-and-open, incumbency, scope changes</a:t>
            </a:r>
          </a:p>
        </p:txBody>
      </p:sp>
      <p:sp>
        <p:nvSpPr>
          <p:cNvPr id="117" name="Flow Row"/>
          <p:cNvSpPr txBox="1"/>
          <p:nvPr/>
        </p:nvSpPr>
        <p:spPr>
          <a:xfrm>
            <a:off x="2591410" y="4661611"/>
            <a:ext cx="5468112" cy="324612"/>
          </a:xfrm>
          <a:prstGeom prst="rect">
            <a:avLst/>
          </a:prstGeom>
          <a:solidFill>
            <a:srgbClr val="C00000">
              <a:alpha val="16000"/>
            </a:srgbClr>
          </a:solidFill>
          <a:ln w="9525">
            <a:solidFill>
              <a:srgbClr val="C00000"/>
            </a:solidFill>
          </a:ln>
        </p:spPr>
        <p:txBody>
          <a:bodyPr wrap="square" anchor="ctr" lIns="60960" tIns="18288" rIns="60960" bIns="18288"/>
          <a:lstStyle/>
          <a:p>
            <a:pPr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Push later  ↓</a:t>
            </a:r>
            <a:r>
              <a:rPr lang="en-US" sz="80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  |  </a:t>
            </a: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options exercised, bridge / sole-source, protest delay, date drift</a:t>
            </a:r>
          </a:p>
        </p:txBody>
      </p:sp>
      <p:sp>
        <p:nvSpPr>
          <p:cNvPr id="118" name="Lane Spine"/>
          <p:cNvSpPr txBox="1"/>
          <p:nvPr/>
        </p:nvSpPr>
        <p:spPr>
          <a:xfrm>
            <a:off x="1297534" y="5074920"/>
            <a:ext cx="1100938" cy="679399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ctr" lIns="27432" tIns="18288" rIns="27432" bIns="18288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Signals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is it forming?</a:t>
            </a:r>
          </a:p>
        </p:txBody>
      </p:sp>
      <p:sp>
        <p:nvSpPr>
          <p:cNvPr id="119" name="Flow Row"/>
          <p:cNvSpPr txBox="1"/>
          <p:nvPr/>
        </p:nvSpPr>
        <p:spPr>
          <a:xfrm>
            <a:off x="2591410" y="5074920"/>
            <a:ext cx="5468112" cy="324612"/>
          </a:xfrm>
          <a:prstGeom prst="rect">
            <a:avLst/>
          </a:prstGeom>
          <a:solidFill>
            <a:srgbClr val="1B8A57">
              <a:alpha val="16000"/>
            </a:srgbClr>
          </a:solidFill>
          <a:ln w="9525">
            <a:solidFill>
              <a:srgbClr val="1B8A57"/>
            </a:solidFill>
          </a:ln>
        </p:spPr>
        <p:txBody>
          <a:bodyPr wrap="square" anchor="ctr" lIns="60960" tIns="18288" rIns="60960" bIns="18288"/>
          <a:lstStyle/>
          <a:p>
            <a:pPr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Buy is forming</a:t>
            </a:r>
            <a:r>
              <a:rPr lang="en-US" sz="80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  |  </a:t>
            </a: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FYDP / obligations, forecast, sources-sought, draft RFP</a:t>
            </a:r>
          </a:p>
        </p:txBody>
      </p:sp>
      <p:sp>
        <p:nvSpPr>
          <p:cNvPr id="120" name="Flow Row"/>
          <p:cNvSpPr txBox="1"/>
          <p:nvPr/>
        </p:nvSpPr>
        <p:spPr>
          <a:xfrm>
            <a:off x="2591410" y="5429707"/>
            <a:ext cx="5468112" cy="324612"/>
          </a:xfrm>
          <a:prstGeom prst="rect">
            <a:avLst/>
          </a:prstGeom>
          <a:solidFill>
            <a:srgbClr val="447BB2">
              <a:alpha val="16000"/>
            </a:srgbClr>
          </a:solidFill>
          <a:ln w="9525">
            <a:solidFill>
              <a:srgbClr val="447BB2"/>
            </a:solidFill>
          </a:ln>
        </p:spPr>
        <p:txBody>
          <a:bodyPr wrap="square" anchor="ctr" lIns="60960" tIns="18288" rIns="60960" bIns="18288"/>
          <a:lstStyle/>
          <a:p>
            <a:pPr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Customer intel</a:t>
            </a:r>
            <a:r>
              <a:rPr lang="en-US" sz="80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  |  </a:t>
            </a: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acquisition authority, operational sponsor, PM signal</a:t>
            </a:r>
          </a:p>
        </p:txBody>
      </p:sp>
      <p:sp>
        <p:nvSpPr>
          <p:cNvPr id="121" name="Date Misleads Card"/>
          <p:cNvSpPr txBox="1"/>
          <p:nvPr/>
        </p:nvSpPr>
        <p:spPr>
          <a:xfrm>
            <a:off x="8270748" y="3182112"/>
            <a:ext cx="3464662" cy="1783080"/>
          </a:xfrm>
          <a:prstGeom prst="rect">
            <a:avLst/>
          </a:prstGeom>
          <a:solidFill>
            <a:srgbClr val="CEDDEC"/>
          </a:solidFill>
          <a:ln w="12700">
            <a:solidFill>
              <a:srgbClr val="223E59"/>
            </a:solidFill>
            <a:prstDash val="dash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t" lIns="91440" tIns="73152" rIns="91440" bIns="54864"/>
          <a:lstStyle/>
          <a:p>
            <a:pPr>
              <a:lnSpc>
                <a:spcPct val="100000"/>
              </a:lnSpc>
              <a:spcAft>
                <a:spcPts val="6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the date misleads</a:t>
            </a:r>
          </a:p>
          <a:p>
            <a:pPr>
              <a:lnSpc>
                <a:spcPct val="100000"/>
              </a:lnSpc>
              <a:buNone/>
            </a:pPr>
            <a:endParaRPr lang="en-US"/>
          </a:p>
          <a:p>
            <a:pPr marL="142875" indent="-142875">
              <a:lnSpc>
                <a:spcPct val="100000"/>
              </a:lnSpc>
              <a:spcAft>
                <a:spcPts val="80"/>
              </a:spcAft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Options remain: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may trigger an option, not a recompete</a:t>
            </a:r>
          </a:p>
          <a:p>
            <a:pPr marL="142875" indent="-142875">
              <a:lnSpc>
                <a:spcPct val="100000"/>
              </a:lnSpc>
              <a:spcAft>
                <a:spcPts val="80"/>
              </a:spcAft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LDO ≠ performance end: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 ordering deadline, not a PoP</a:t>
            </a:r>
          </a:p>
          <a:p>
            <a:pPr marL="142875" indent="-142875">
              <a:lnSpc>
                <a:spcPct val="100000"/>
              </a:lnSpc>
              <a:spcAft>
                <a:spcPts val="80"/>
              </a:spcAft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 / child mismatch: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child orders can outlast the parent</a:t>
            </a:r>
          </a:p>
          <a:p>
            <a:pPr marL="142875" indent="-142875">
              <a:lnSpc>
                <a:spcPct val="100000"/>
              </a:lnSpc>
              <a:spcAft>
                <a:spcPts val="80"/>
              </a:spcAft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Successor early: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rebuy can land before incumbent LDO</a:t>
            </a:r>
          </a:p>
          <a:p>
            <a:pPr marL="142875" indent="-142875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Retention path: </a:t>
            </a: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bridge or in-scope mod can defer it</a:t>
            </a:r>
          </a:p>
        </p:txBody>
      </p:sp>
      <p:cxnSp>
        <p:nvCxnSpPr>
          <p:cNvPr id="122" name="Lane Cue"/>
          <p:cNvCxnSpPr/>
          <p:nvPr/>
        </p:nvCxnSpPr>
        <p:spPr>
          <a:xfrm>
            <a:off x="2404872" y="3703320"/>
            <a:ext cx="182880" cy="0"/>
          </a:xfrm>
          <a:prstGeom prst="line">
            <a:avLst/>
          </a:prstGeom>
          <a:ln w="6350">
            <a:solidFill>
              <a:srgbClr val="162029"/>
            </a:solidFill>
            <a:tailEnd type="triangle" w="med" len="med"/>
          </a:ln>
        </p:spPr>
      </p:cxnSp>
      <p:cxnSp>
        <p:nvCxnSpPr>
          <p:cNvPr id="123" name="Lane Cue"/>
          <p:cNvCxnSpPr/>
          <p:nvPr/>
        </p:nvCxnSpPr>
        <p:spPr>
          <a:xfrm>
            <a:off x="2404872" y="4645152"/>
            <a:ext cx="182880" cy="0"/>
          </a:xfrm>
          <a:prstGeom prst="line">
            <a:avLst/>
          </a:prstGeom>
          <a:ln w="6350">
            <a:solidFill>
              <a:srgbClr val="162029"/>
            </a:solidFill>
            <a:tailEnd type="triangle" w="med" len="med"/>
          </a:ln>
        </p:spPr>
      </p:cxnSp>
      <p:cxnSp>
        <p:nvCxnSpPr>
          <p:cNvPr id="124" name="Lane Cue"/>
          <p:cNvCxnSpPr/>
          <p:nvPr/>
        </p:nvCxnSpPr>
        <p:spPr>
          <a:xfrm>
            <a:off x="2404872" y="5413248"/>
            <a:ext cx="182880" cy="0"/>
          </a:xfrm>
          <a:prstGeom prst="line">
            <a:avLst/>
          </a:prstGeom>
          <a:ln w="6350">
            <a:solidFill>
              <a:srgbClr val="162029"/>
            </a:solidFill>
            <a:tailEnd type="triangl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Defense Market Strategy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Market Access Framework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Recompete Timing and Outlook | Ordering window closed FY26, recompete now open, no successor visible.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32214" y="158582"/>
            <a:ext cx="1467986" cy="198438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100" name="Illustrative chip"/>
          <p:cNvSpPr txBox="1"/>
          <p:nvPr/>
        </p:nvSpPr>
        <p:spPr>
          <a:xfrm>
            <a:off x="8708746" y="111557"/>
            <a:ext cx="1467612" cy="289865"/>
          </a:xfrm>
          <a:prstGeom prst="rect">
            <a:avLst/>
          </a:prstGeom>
          <a:solidFill>
            <a:srgbClr val="A6A6A6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Illustrative</a:t>
            </a:r>
          </a:p>
        </p:txBody>
      </p:sp>
      <p:sp>
        <p:nvSpPr>
          <p:cNvPr id="101" name="Program"/>
          <p:cNvSpPr txBox="1"/>
          <p:nvPr/>
        </p:nvSpPr>
        <p:spPr>
          <a:xfrm>
            <a:off x="452628" y="1408176"/>
            <a:ext cx="8503920" cy="274320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45720" rIns="0" bIns="45720"/>
          <a:lstStyle/>
          <a:p>
            <a:pPr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AN/SLQ-25 Nixie</a:t>
            </a:r>
            <a:r>
              <a:rPr lang="en-US" sz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·   IDIQ N0025321D0002   ·   Ultra Electronics Ocean Systems</a:t>
            </a:r>
          </a:p>
        </p:txBody>
      </p:sp>
      <p:graphicFrame>
        <p:nvGraphicFramePr>
          <p:cNvPr id="102" name="FY Lane Grid"/>
          <p:cNvGraphicFramePr>
            <a:graphicFrameLocks noGrp="1"/>
          </p:cNvGraphicFramePr>
          <p:nvPr/>
        </p:nvGraphicFramePr>
        <p:xfrm>
          <a:off x="452628" y="1874520"/>
          <a:ext cx="11280038" cy="3922776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060704"/>
                <a:gridCol w="929030"/>
                <a:gridCol w="929030"/>
                <a:gridCol w="929030"/>
                <a:gridCol w="929030"/>
                <a:gridCol w="929030"/>
                <a:gridCol w="929030"/>
                <a:gridCol w="929030"/>
                <a:gridCol w="929030"/>
                <a:gridCol w="929030"/>
                <a:gridCol w="929030"/>
                <a:gridCol w="929030"/>
              </a:tblGrid>
              <a:tr h="256032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b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FY21</a:t>
                      </a:r>
                    </a:p>
                  </a:txBody>
                  <a:tcPr marL="45720" marR="45720" marT="45720" marB="45720" anchor="b">
                    <a:lnL>
                      <a:noFill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b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FY22</a:t>
                      </a:r>
                    </a:p>
                  </a:txBody>
                  <a:tcPr marL="45720" marR="45720" marT="45720" marB="45720" anchor="b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b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FY23</a:t>
                      </a:r>
                    </a:p>
                  </a:txBody>
                  <a:tcPr marL="45720" marR="45720" marT="45720" marB="45720" anchor="b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b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FY24</a:t>
                      </a:r>
                    </a:p>
                  </a:txBody>
                  <a:tcPr marL="45720" marR="45720" marT="45720" marB="45720" anchor="b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b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FY25</a:t>
                      </a:r>
                    </a:p>
                  </a:txBody>
                  <a:tcPr marL="45720" marR="45720" marT="45720" marB="45720" anchor="b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b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FY26</a:t>
                      </a:r>
                    </a:p>
                  </a:txBody>
                  <a:tcPr marL="45720" marR="45720" marT="45720" marB="45720" anchor="b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b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FY27</a:t>
                      </a:r>
                    </a:p>
                  </a:txBody>
                  <a:tcPr marL="45720" marR="45720" marT="45720" marB="45720" anchor="b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b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FY28</a:t>
                      </a:r>
                    </a:p>
                  </a:txBody>
                  <a:tcPr marL="45720" marR="45720" marT="45720" marB="45720" anchor="b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b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FY29</a:t>
                      </a:r>
                    </a:p>
                  </a:txBody>
                  <a:tcPr marL="45720" marR="45720" marT="45720" marB="45720" anchor="b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b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FY30</a:t>
                      </a:r>
                    </a:p>
                  </a:txBody>
                  <a:tcPr marL="45720" marR="45720" marT="45720" marB="45720" anchor="b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b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FY31</a:t>
                      </a:r>
                    </a:p>
                  </a:txBody>
                  <a:tcPr marL="45720" marR="45720" marT="45720" marB="45720" anchor="b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12064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What program needs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>
                      <a:noFill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1234440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Funding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>
                      <a:noFill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808080"/>
                      </a:solidFill>
                      <a:prstDash val="solid"/>
                    </a:lnB>
                    <a:noFill/>
                  </a:tcPr>
                </a:tc>
              </a:tr>
              <a:tr h="1920240">
                <a:tc>
                  <a:txBody>
                    <a:bodyPr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Contracting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>
                      <a:noFill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 w="6350" cap="flat" cmpd="sng" algn="ctr">
                      <a:solidFill>
                        <a:srgbClr val="808080"/>
                      </a:solidFill>
                      <a:prstDash val="soli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endParaRPr lang="en-US" sz="100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80808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3" name="Planned procurement"/>
          <p:cNvSpPr txBox="1"/>
          <p:nvPr/>
        </p:nvSpPr>
        <p:spPr>
          <a:xfrm>
            <a:off x="1513332" y="2258568"/>
            <a:ext cx="10219334" cy="274320"/>
          </a:xfrm>
          <a:prstGeom prst="rect">
            <a:avLst/>
          </a:prstGeom>
          <a:solidFill>
            <a:srgbClr val="F2F2F2"/>
          </a:solidFill>
          <a:ln w="12700">
            <a:solidFill>
              <a:srgbClr val="162029"/>
            </a:solidFill>
            <a:prstDash val="dash"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Planned procurement (units)</a:t>
            </a: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illustrative, pending P-1</a:t>
            </a:r>
          </a:p>
        </p:txBody>
      </p:sp>
      <p:sp>
        <p:nvSpPr>
          <p:cNvPr id="104" name="Label"/>
          <p:cNvSpPr txBox="1"/>
          <p:nvPr/>
        </p:nvSpPr>
        <p:spPr>
          <a:xfrm>
            <a:off x="1513332" y="2852928"/>
            <a:ext cx="2787091" cy="274320"/>
          </a:xfrm>
          <a:prstGeom prst="rect">
            <a:avLst/>
          </a:prstGeom>
          <a:solidFill>
            <a:srgbClr val="3D5972"/>
          </a:solidFill>
          <a:ln w="6350">
            <a:solidFill>
              <a:srgbClr val="FFFFFF"/>
            </a:solidFill>
          </a:ln>
        </p:spPr>
        <p:txBody>
          <a:bodyPr wrap="square" anchor="ctr" lIns="45720" tIns="18000" rIns="4572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OPN base · $XXM</a:t>
            </a:r>
          </a:p>
        </p:txBody>
      </p:sp>
      <p:sp>
        <p:nvSpPr>
          <p:cNvPr id="105" name="Label"/>
          <p:cNvSpPr txBox="1"/>
          <p:nvPr/>
        </p:nvSpPr>
        <p:spPr>
          <a:xfrm>
            <a:off x="7358177" y="2852928"/>
            <a:ext cx="2516429" cy="274320"/>
          </a:xfrm>
          <a:prstGeom prst="rect">
            <a:avLst/>
          </a:prstGeom>
          <a:solidFill>
            <a:srgbClr val="3D5972"/>
          </a:solidFill>
          <a:ln w="6350">
            <a:solidFill>
              <a:srgbClr val="FFFFFF"/>
            </a:solidFill>
          </a:ln>
        </p:spPr>
        <p:txBody>
          <a:bodyPr wrap="square" anchor="ctr" lIns="45720" tIns="18000" rIns="4572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Follow-on OPN · $XXM (illus.)</a:t>
            </a:r>
          </a:p>
        </p:txBody>
      </p:sp>
      <p:sp>
        <p:nvSpPr>
          <p:cNvPr id="106" name="Label"/>
          <p:cNvSpPr txBox="1"/>
          <p:nvPr/>
        </p:nvSpPr>
        <p:spPr>
          <a:xfrm>
            <a:off x="1513332" y="3264408"/>
            <a:ext cx="4645152" cy="27432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45720" tIns="18000" rIns="4572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SCN forward-fit · $XXM</a:t>
            </a:r>
          </a:p>
        </p:txBody>
      </p:sp>
      <p:cxnSp>
        <p:nvCxnSpPr>
          <p:cNvPr id="107" name="Obligation tie"/>
          <p:cNvCxnSpPr/>
          <p:nvPr/>
        </p:nvCxnSpPr>
        <p:spPr>
          <a:xfrm>
            <a:off x="9874606" y="3127248"/>
            <a:ext cx="0" cy="1243584"/>
          </a:xfrm>
          <a:prstGeom prst="line">
            <a:avLst/>
          </a:prstGeom>
          <a:ln w="6350">
            <a:solidFill>
              <a:srgbClr val="7F7F7F"/>
            </a:solidFill>
            <a:prstDash val="dash"/>
          </a:ln>
        </p:spPr>
      </p:cxnSp>
      <p:sp>
        <p:nvSpPr>
          <p:cNvPr id="108" name="Active Ordering Period"/>
          <p:cNvSpPr txBox="1"/>
          <p:nvPr/>
        </p:nvSpPr>
        <p:spPr>
          <a:xfrm>
            <a:off x="1707185" y="3986784"/>
            <a:ext cx="4647895" cy="457200"/>
          </a:xfrm>
          <a:prstGeom prst="rect">
            <a:avLst/>
          </a:prstGeom>
          <a:solidFill>
            <a:srgbClr val="F2F2F2"/>
          </a:solidFill>
          <a:ln w="12700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Active Ordering Period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26 orders · $103.1M realized</a:t>
            </a:r>
          </a:p>
        </p:txBody>
      </p:sp>
      <p:sp>
        <p:nvSpPr>
          <p:cNvPr id="109" name="Likely Recompete Window"/>
          <p:cNvSpPr txBox="1"/>
          <p:nvPr/>
        </p:nvSpPr>
        <p:spPr>
          <a:xfrm>
            <a:off x="6354166" y="3986784"/>
            <a:ext cx="2128723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dash"/>
          </a:ln>
        </p:spPr>
        <p:txBody>
          <a:bodyPr wrap="square" anchor="ctr" lIns="91440" tIns="45720" rIns="9144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Likely Recompete Window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 now · no successor in data</a:t>
            </a:r>
          </a:p>
        </p:txBody>
      </p:sp>
      <p:sp>
        <p:nvSpPr>
          <p:cNvPr id="110" name="Start marker"/>
          <p:cNvSpPr txBox="1"/>
          <p:nvPr/>
        </p:nvSpPr>
        <p:spPr>
          <a:xfrm>
            <a:off x="1634033" y="4389120"/>
            <a:ext cx="146304" cy="146304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1" name="Last-order marker"/>
          <p:cNvSpPr txBox="1"/>
          <p:nvPr/>
        </p:nvSpPr>
        <p:spPr>
          <a:xfrm>
            <a:off x="6281014" y="4389120"/>
            <a:ext cx="146304" cy="146304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2" name="Obligation marker"/>
          <p:cNvSpPr txBox="1"/>
          <p:nvPr/>
        </p:nvSpPr>
        <p:spPr>
          <a:xfrm>
            <a:off x="9792310" y="4370832"/>
            <a:ext cx="164592" cy="182880"/>
          </a:xfrm>
          <a:prstGeom prst="triangle">
            <a:avLst/>
          </a:prstGeom>
          <a:solidFill>
            <a:srgbClr val="7F7F7F"/>
          </a:solidFill>
          <a:ln w="12700">
            <a:solidFill>
              <a:srgbClr val="162029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13" name="Start date"/>
          <p:cNvSpPr txBox="1"/>
          <p:nvPr/>
        </p:nvSpPr>
        <p:spPr>
          <a:xfrm>
            <a:off x="1517904" y="4535424"/>
            <a:ext cx="960120" cy="201168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45720" rIns="0" bIns="45720"/>
          <a:lstStyle/>
          <a:p>
            <a:pPr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2020-12-15</a:t>
            </a:r>
          </a:p>
        </p:txBody>
      </p:sp>
      <p:sp>
        <p:nvSpPr>
          <p:cNvPr id="114" name="Last-order date"/>
          <p:cNvSpPr txBox="1"/>
          <p:nvPr/>
        </p:nvSpPr>
        <p:spPr>
          <a:xfrm>
            <a:off x="5942686" y="45354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45720" rIns="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2025-12-16</a:t>
            </a:r>
          </a:p>
        </p:txBody>
      </p:sp>
      <p:sp>
        <p:nvSpPr>
          <p:cNvPr id="115" name="Start desc"/>
          <p:cNvSpPr txBox="1"/>
          <p:nvPr/>
        </p:nvSpPr>
        <p:spPr>
          <a:xfrm>
            <a:off x="1517904" y="4745736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45720" rIns="0" bIns="45720"/>
          <a:lstStyle/>
          <a:p>
            <a:pPr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Ordering period starts</a:t>
            </a:r>
          </a:p>
        </p:txBody>
      </p:sp>
      <p:sp>
        <p:nvSpPr>
          <p:cNvPr id="116" name="Last-order desc"/>
          <p:cNvSpPr txBox="1"/>
          <p:nvPr/>
        </p:nvSpPr>
        <p:spPr>
          <a:xfrm>
            <a:off x="5714086" y="4745736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45720" rIns="0" bIns="45720"/>
          <a:lstStyle/>
          <a:p>
            <a:pPr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Common last date to order</a:t>
            </a:r>
          </a:p>
        </p:txBody>
      </p:sp>
      <p:sp>
        <p:nvSpPr>
          <p:cNvPr id="117" name="Obligation desc"/>
          <p:cNvSpPr txBox="1"/>
          <p:nvPr/>
        </p:nvSpPr>
        <p:spPr>
          <a:xfrm>
            <a:off x="8182966" y="4617720"/>
            <a:ext cx="1828800" cy="201168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45720" rIns="0" bIns="45720"/>
          <a:lstStyle/>
          <a:p>
            <a:pPr algn="r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Obligation window complete</a:t>
            </a:r>
          </a:p>
        </p:txBody>
      </p:sp>
      <p:sp>
        <p:nvSpPr>
          <p:cNvPr id="118" name="Legend label"/>
          <p:cNvSpPr txBox="1"/>
          <p:nvPr/>
        </p:nvSpPr>
        <p:spPr>
          <a:xfrm>
            <a:off x="452628" y="596188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45720" rIns="0" bIns="45720"/>
          <a:lstStyle/>
          <a:p>
            <a:pPr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Color of money:</a:t>
            </a:r>
          </a:p>
        </p:txBody>
      </p:sp>
      <p:sp>
        <p:nvSpPr>
          <p:cNvPr id="119" name="Legend swatch"/>
          <p:cNvSpPr txBox="1"/>
          <p:nvPr/>
        </p:nvSpPr>
        <p:spPr>
          <a:xfrm>
            <a:off x="1554480" y="5980176"/>
            <a:ext cx="164592" cy="164592"/>
          </a:xfrm>
          <a:prstGeom prst="rect">
            <a:avLst/>
          </a:prstGeom>
          <a:solidFill>
            <a:srgbClr val="6E91B1"/>
          </a:solidFill>
          <a:ln w="6350">
            <a:solidFill>
              <a:srgbClr val="FFFFFF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0" name="Label"/>
          <p:cNvSpPr txBox="1"/>
          <p:nvPr/>
        </p:nvSpPr>
        <p:spPr>
          <a:xfrm>
            <a:off x="1755648" y="5961888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45720" rIns="0" bIns="45720"/>
          <a:lstStyle/>
          <a:p>
            <a:pPr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RDT&amp;E,N · 2-yr</a:t>
            </a:r>
          </a:p>
        </p:txBody>
      </p:sp>
      <p:sp>
        <p:nvSpPr>
          <p:cNvPr id="121" name="Label"/>
          <p:cNvSpPr txBox="1"/>
          <p:nvPr/>
        </p:nvSpPr>
        <p:spPr>
          <a:xfrm>
            <a:off x="2761488" y="5961888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45720" rIns="0" bIns="45720"/>
          <a:lstStyle/>
          <a:p>
            <a:pPr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OPN · 3-yr</a:t>
            </a:r>
          </a:p>
        </p:txBody>
      </p:sp>
      <p:sp>
        <p:nvSpPr>
          <p:cNvPr id="122" name="Label"/>
          <p:cNvSpPr txBox="1"/>
          <p:nvPr/>
        </p:nvSpPr>
        <p:spPr>
          <a:xfrm>
            <a:off x="3584448" y="5961888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45720" rIns="0" bIns="45720"/>
          <a:lstStyle/>
          <a:p>
            <a:pPr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SCN · 5-yr</a:t>
            </a:r>
          </a:p>
        </p:txBody>
      </p:sp>
      <p:sp>
        <p:nvSpPr>
          <p:cNvPr id="123" name="Legend swatch"/>
          <p:cNvSpPr txBox="1"/>
          <p:nvPr/>
        </p:nvSpPr>
        <p:spPr>
          <a:xfrm>
            <a:off x="2560320" y="5980176"/>
            <a:ext cx="164592" cy="164592"/>
          </a:xfrm>
          <a:prstGeom prst="rect">
            <a:avLst/>
          </a:prstGeom>
          <a:solidFill>
            <a:srgbClr val="3D5972"/>
          </a:solidFill>
          <a:ln w="6350">
            <a:solidFill>
              <a:srgbClr val="FFFFFF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4" name="Legend swatch"/>
          <p:cNvSpPr txBox="1"/>
          <p:nvPr/>
        </p:nvSpPr>
        <p:spPr>
          <a:xfrm>
            <a:off x="3383280" y="5980176"/>
            <a:ext cx="164592" cy="164592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91440" tIns="45720" rIns="91440" bIns="45720"/>
          <a:lstStyle/>
          <a:p>
            <a:pPr>
              <a:lnSpc>
                <a:spcPct val="100000"/>
              </a:lnSpc>
              <a:buNone/>
            </a:pPr>
            <a:endParaRPr lang="en-US"/>
          </a:p>
        </p:txBody>
      </p:sp>
      <p:sp>
        <p:nvSpPr>
          <p:cNvPr id="125" name="Legend note"/>
          <p:cNvSpPr txBox="1"/>
          <p:nvPr/>
        </p:nvSpPr>
        <p:spPr>
          <a:xfrm>
            <a:off x="4343400" y="5961888"/>
            <a:ext cx="2468880" cy="201168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45720" rIns="0" bIns="45720"/>
          <a:lstStyle/>
          <a:p>
            <a:pPr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bar length = obligation window</a:t>
            </a:r>
          </a:p>
        </p:txBody>
      </p:sp>
      <p:sp>
        <p:nvSpPr>
          <p:cNvPr id="126" name="Legend key"/>
          <p:cNvSpPr txBox="1"/>
          <p:nvPr/>
        </p:nvSpPr>
        <p:spPr>
          <a:xfrm>
            <a:off x="8778240" y="5961888"/>
            <a:ext cx="2962656" cy="201168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45720" rIns="0" bIns="45720"/>
          <a:lstStyle/>
          <a:p>
            <a:pPr algn="r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Solid: contract data  ·  Dashed: inferred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aronic Theme">
  <a:themeElements>
    <a:clrScheme name="Saronic">
      <a:dk1>
        <a:srgbClr val="162029"/>
      </a:dk1>
      <a:lt1>
        <a:srgbClr val="FFFFFF"/>
      </a:lt1>
      <a:dk2>
        <a:srgbClr val="44505C"/>
      </a:dk2>
      <a:lt2>
        <a:srgbClr val="F2F6FA"/>
      </a:lt2>
      <a:accent1>
        <a:srgbClr val="79838F"/>
      </a:accent1>
      <a:accent2>
        <a:srgbClr val="1D4D68"/>
      </a:accent2>
      <a:accent3>
        <a:srgbClr val="486D82"/>
      </a:accent3>
      <a:accent4>
        <a:srgbClr val="89A2B0"/>
      </a:accent4>
      <a:accent5>
        <a:srgbClr val="AFC2CC"/>
      </a:accent5>
      <a:accent6>
        <a:srgbClr val="D8E3EB"/>
      </a:accent6>
      <a:hlink>
        <a:srgbClr val="1D4D68"/>
      </a:hlink>
      <a:folHlink>
        <a:srgbClr val="89A2B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799b1f-9a79-4131-92f4-d7e1a1e8fbf9}" enabled="0" method="" siteId="{97799b1f-9a79-4131-92f4-d7e1a1e8fbf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awards_methodology</Application>
  <PresentationFormat>Widescreen</PresentationFormat>
  <Slides>3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Awards Methodology</dc:title>
  <dc:creator>awards_methodology build_deck.py</dc:creator>
  <cp:lastModifiedBy>awards_methodology build_deck.py</cp:lastModifiedBy>
  <cp:revision>1</cp:revision>
  <dcterms:created xsi:type="dcterms:W3CDTF">2026-06-28T23:56:09Z</dcterms:created>
  <dcterms:modified xsi:type="dcterms:W3CDTF">2026-06-28T23:56:09Z</dcterms:modified>
</cp:coreProperties>
</file>