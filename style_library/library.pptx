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MissionToPlatformArrow"/>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MissionToPlatformArrow"/>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MissionToPlatformArrow"/>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MissionToPlatformArrow"/>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MissionToEffectorsArrow"/>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NavyLogo"/>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PriceTrackFlowArrow"/>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PriceTrackFlowArrow"/>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PriceTrackFlowArrow"/>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MixWeightingMethodCallout"/>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PriceTrackFlowArrow"/>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MixWeightingNote"/>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VolumeTrackFlowArrow"/>
          <p:cNvCxnSpPr/>
          <p:nvPr/>
        </p:nvCxnSpPr>
        <p:spPr>
          <a:xfrm>
            <a:off x="1641348" y="2041855"/>
            <a:ext cx="0" cy="304495"/>
          </a:xfrm>
          <a:prstGeom prst="line">
            <a:avLst/>
          </a:prstGeom>
          <a:ln w="12700">
            <a:solidFill>
              <a:srgbClr val="000000"/>
            </a:solidFill>
            <a:tailEnd type="triangle" w="med" len="med"/>
          </a:ln>
        </p:spPr>
      </p:cxnSp>
      <p:sp>
        <p:nvSpPr>
          <p:cNvPr id="150" name="UtilizationMethodCallout"/>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VolumeTrackFlowArrow"/>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FundingRouteArrow"/>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FundingRouteArrow"/>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FundingRouteArrow"/>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FundingRouteArrow"/>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OwnerOperatorRouteArrow"/>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OwnerOperatorRouteArrow"/>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BuildRouteArrow"/>
          <p:cNvCxnSpPr/>
          <p:nvPr/>
        </p:nvCxnSpPr>
        <p:spPr>
          <a:xfrm>
            <a:off x="2433218" y="1845259"/>
            <a:ext cx="1201522" cy="779069"/>
          </a:xfrm>
          <a:prstGeom prst="bentConnector2">
            <a:avLst/>
          </a:prstGeom>
          <a:ln w="12700">
            <a:solidFill>
              <a:srgbClr val="000000"/>
            </a:solidFill>
            <a:tailEnd type="triangle" w="med" len="med"/>
          </a:ln>
        </p:spPr>
      </p:cxnSp>
      <p:cxnSp>
        <p:nvCxnSpPr>
          <p:cNvPr id="126" name="SubsidyRouteArrow"/>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SubsidyRouteArrow"/>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StrategicCommercialFleetArrow"/>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GovernmentPurchaseArrow"/>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PenaltyRouteArrow"/>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PenaltyRouteArrow"/>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argoFeeRouteArrow"/>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argoFeeRouteArrow"/>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AllocationRouteArrow"/>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AllocationRouteArrow"/>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ApproachHeaderRule"/>
          <p:cNvCxnSpPr/>
          <p:nvPr/>
        </p:nvCxnSpPr>
        <p:spPr>
          <a:xfrm flipH="1">
            <a:off x="478231" y="1704442"/>
            <a:ext cx="2093062" cy="1829"/>
          </a:xfrm>
          <a:prstGeom prst="line">
            <a:avLst/>
          </a:prstGeom>
          <a:ln w="12700">
            <a:solidFill>
              <a:srgbClr val="162029"/>
            </a:solidFill>
          </a:ln>
        </p:spPr>
      </p:cxnSp>
      <p:cxnSp>
        <p:nvCxnSpPr>
          <p:cNvPr id="148" name="AllocationRouteArrow"/>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AllocationRouteArrow"/>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AllocationRouteArrow"/>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MissionToPlatformArrow"/>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MissionToPlatformArrow"/>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MissionToPlatformArrow"/>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MissionToPlatformArrow"/>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lgDash"/>
          </a:ln>
        </p:spPr>
      </p:cxnSp>
      <p:cxnSp>
        <p:nvCxnSpPr>
          <p:cNvPr id="105" name="DashedExerciseArrow"/>
          <p:cNvCxnSpPr/>
          <p:nvPr/>
        </p:nvCxnSpPr>
        <p:spPr>
          <a:xfrm>
            <a:off x="3834994" y="3678631"/>
            <a:ext cx="844906" cy="0"/>
          </a:xfrm>
          <a:prstGeom prst="line">
            <a:avLst/>
          </a:prstGeom>
          <a:ln w="3175">
            <a:solidFill>
              <a:srgbClr val="162029"/>
            </a:solidFill>
            <a:prstDash val="lgDash"/>
          </a:ln>
        </p:spPr>
      </p:cxnSp>
      <p:cxnSp>
        <p:nvCxnSpPr>
          <p:cNvPr id="106" name="DashedExerciseArrow"/>
          <p:cNvCxnSpPr/>
          <p:nvPr/>
        </p:nvCxnSpPr>
        <p:spPr>
          <a:xfrm>
            <a:off x="5736946" y="3678631"/>
            <a:ext cx="844906" cy="0"/>
          </a:xfrm>
          <a:prstGeom prst="line">
            <a:avLst/>
          </a:prstGeom>
          <a:ln w="3175">
            <a:solidFill>
              <a:srgbClr val="162029"/>
            </a:solidFill>
            <a:prstDash val="lgDash"/>
          </a:ln>
        </p:spPr>
      </p:cxnSp>
      <p:cxnSp>
        <p:nvCxnSpPr>
          <p:cNvPr id="107" name="DashedExerciseArrow"/>
          <p:cNvCxnSpPr/>
          <p:nvPr/>
        </p:nvCxnSpPr>
        <p:spPr>
          <a:xfrm>
            <a:off x="7638898" y="3719779"/>
            <a:ext cx="844906" cy="0"/>
          </a:xfrm>
          <a:prstGeom prst="line">
            <a:avLst/>
          </a:prstGeom>
          <a:ln w="3175">
            <a:solidFill>
              <a:srgbClr val="162029"/>
            </a:solidFill>
            <a:prstDash val="lgDash"/>
          </a:ln>
        </p:spPr>
      </p:cxnSp>
      <p:cxnSp>
        <p:nvCxnSpPr>
          <p:cNvPr id="108" name="DashedExerciseArrow"/>
          <p:cNvCxnSpPr/>
          <p:nvPr/>
        </p:nvCxnSpPr>
        <p:spPr>
          <a:xfrm>
            <a:off x="9542678" y="4103827"/>
            <a:ext cx="844906" cy="0"/>
          </a:xfrm>
          <a:prstGeom prst="line">
            <a:avLst/>
          </a:prstGeom>
          <a:ln w="3175">
            <a:solidFill>
              <a:srgbClr val="162029"/>
            </a:solidFill>
            <a:prstDash val="lgDash"/>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NavyLogo"/>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NavyLogo"/>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IndustrialPolicyGlossary"/>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MarketTermsGlossary"/>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AnalysisTermsGlossary"/>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dingsNarrativeTable"/>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SourceNote"/>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ancialOutlookTable"/>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ContingenciesCallout"/>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MarketConditionsMatrix"/>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AddressabilityNote"/>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FurtherAnalysisCallout"/>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PanelBaseline_2024"/>
          <p:cNvCxnSpPr/>
          <p:nvPr/>
        </p:nvCxnSpPr>
        <p:spPr>
          <a:xfrm>
            <a:off x="858622" y="1848002"/>
            <a:ext cx="10819181" cy="0"/>
          </a:xfrm>
          <a:prstGeom prst="line">
            <a:avLst/>
          </a:prstGeom>
          <a:ln w="9525">
            <a:solidFill>
              <a:srgbClr val="162029"/>
            </a:solidFill>
            <a:prstDash val="lgDash"/>
          </a:ln>
        </p:spPr>
      </p:cxnSp>
      <p:cxnSp>
        <p:nvCxnSpPr>
          <p:cNvPr id="107" name="PanelBaseline_2023"/>
          <p:cNvCxnSpPr/>
          <p:nvPr/>
        </p:nvCxnSpPr>
        <p:spPr>
          <a:xfrm>
            <a:off x="858622" y="2790749"/>
            <a:ext cx="10819181" cy="0"/>
          </a:xfrm>
          <a:prstGeom prst="line">
            <a:avLst/>
          </a:prstGeom>
          <a:ln w="9525">
            <a:solidFill>
              <a:srgbClr val="162029"/>
            </a:solidFill>
            <a:prstDash val="lgDash"/>
          </a:ln>
        </p:spPr>
      </p:cxnSp>
      <p:cxnSp>
        <p:nvCxnSpPr>
          <p:cNvPr id="108" name="PanelBaseline_2022_Left"/>
          <p:cNvCxnSpPr/>
          <p:nvPr/>
        </p:nvCxnSpPr>
        <p:spPr>
          <a:xfrm>
            <a:off x="858622" y="3733495"/>
            <a:ext cx="936346" cy="0"/>
          </a:xfrm>
          <a:prstGeom prst="line">
            <a:avLst/>
          </a:prstGeom>
          <a:ln w="9525">
            <a:solidFill>
              <a:srgbClr val="162029"/>
            </a:solidFill>
            <a:prstDash val="lgDash"/>
          </a:ln>
        </p:spPr>
      </p:cxnSp>
      <p:cxnSp>
        <p:nvCxnSpPr>
          <p:cNvPr id="109" name="PanelBaseline_2022_Mid"/>
          <p:cNvCxnSpPr/>
          <p:nvPr/>
        </p:nvCxnSpPr>
        <p:spPr>
          <a:xfrm>
            <a:off x="2084832" y="3733495"/>
            <a:ext cx="4821631" cy="0"/>
          </a:xfrm>
          <a:prstGeom prst="line">
            <a:avLst/>
          </a:prstGeom>
          <a:ln w="9525">
            <a:solidFill>
              <a:srgbClr val="162029"/>
            </a:solidFill>
            <a:prstDash val="lgDash"/>
          </a:ln>
        </p:spPr>
      </p:cxnSp>
      <p:cxnSp>
        <p:nvCxnSpPr>
          <p:cNvPr id="110" name="PanelBaseline_2022_Right"/>
          <p:cNvCxnSpPr/>
          <p:nvPr/>
        </p:nvCxnSpPr>
        <p:spPr>
          <a:xfrm>
            <a:off x="7071055" y="3733495"/>
            <a:ext cx="4606747" cy="0"/>
          </a:xfrm>
          <a:prstGeom prst="line">
            <a:avLst/>
          </a:prstGeom>
          <a:ln w="9525">
            <a:solidFill>
              <a:srgbClr val="162029"/>
            </a:solidFill>
            <a:prstDash val="lgDash"/>
          </a:ln>
        </p:spPr>
      </p:cxnSp>
      <p:cxnSp>
        <p:nvCxnSpPr>
          <p:cNvPr id="111" name="PanelBaseline_2021_Left"/>
          <p:cNvCxnSpPr/>
          <p:nvPr/>
        </p:nvCxnSpPr>
        <p:spPr>
          <a:xfrm>
            <a:off x="858622" y="4677156"/>
            <a:ext cx="936346" cy="0"/>
          </a:xfrm>
          <a:prstGeom prst="line">
            <a:avLst/>
          </a:prstGeom>
          <a:ln w="9525">
            <a:solidFill>
              <a:srgbClr val="162029"/>
            </a:solidFill>
            <a:prstDash val="lgDash"/>
          </a:ln>
        </p:spPr>
      </p:cxnSp>
      <p:cxnSp>
        <p:nvCxnSpPr>
          <p:cNvPr id="112" name="PanelBaseline_2021_Mid"/>
          <p:cNvCxnSpPr/>
          <p:nvPr/>
        </p:nvCxnSpPr>
        <p:spPr>
          <a:xfrm>
            <a:off x="2084832" y="4677156"/>
            <a:ext cx="4821631" cy="0"/>
          </a:xfrm>
          <a:prstGeom prst="line">
            <a:avLst/>
          </a:prstGeom>
          <a:ln w="9525">
            <a:solidFill>
              <a:srgbClr val="162029"/>
            </a:solidFill>
            <a:prstDash val="lgDash"/>
          </a:ln>
        </p:spPr>
      </p:cxnSp>
      <p:cxnSp>
        <p:nvCxnSpPr>
          <p:cNvPr id="113" name="PanelBaseline_2021_Right"/>
          <p:cNvCxnSpPr/>
          <p:nvPr/>
        </p:nvCxnSpPr>
        <p:spPr>
          <a:xfrm>
            <a:off x="7071055" y="4677156"/>
            <a:ext cx="4606747" cy="0"/>
          </a:xfrm>
          <a:prstGeom prst="line">
            <a:avLst/>
          </a:prstGeom>
          <a:ln w="9525">
            <a:solidFill>
              <a:srgbClr val="162029"/>
            </a:solidFill>
            <a:prstDash val="lgDash"/>
          </a:ln>
        </p:spPr>
      </p:cxnSp>
      <p:cxnSp>
        <p:nvCxnSpPr>
          <p:cNvPr id="114" name="PanelDivider_2021"/>
          <p:cNvCxnSpPr/>
          <p:nvPr/>
        </p:nvCxnSpPr>
        <p:spPr>
          <a:xfrm>
            <a:off x="1940357" y="4759452"/>
            <a:ext cx="0" cy="2743"/>
          </a:xfrm>
          <a:prstGeom prst="line">
            <a:avLst/>
          </a:prstGeom>
          <a:ln w="6350">
            <a:solidFill>
              <a:srgbClr val="44505C"/>
            </a:solidFill>
          </a:ln>
        </p:spPr>
      </p:cxnSp>
      <p:cxnSp>
        <p:nvCxnSpPr>
          <p:cNvPr id="115" name="PanelBaseline_2020"/>
          <p:cNvCxnSpPr/>
          <p:nvPr/>
        </p:nvCxnSpPr>
        <p:spPr>
          <a:xfrm>
            <a:off x="858622" y="5619902"/>
            <a:ext cx="10819181" cy="0"/>
          </a:xfrm>
          <a:prstGeom prst="line">
            <a:avLst/>
          </a:prstGeom>
          <a:ln w="9525">
            <a:solidFill>
              <a:srgbClr val="162029"/>
            </a:solidFill>
            <a:prstDash val="lgDash"/>
          </a:ln>
        </p:spPr>
      </p:cxnSp>
      <p:sp>
        <p:nvSpPr>
          <p:cNvPr id="116" name="RevenueAxisTick"/>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RevenueAxisTick"/>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RevenueAxisTick"/>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RevenueAxisTick"/>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RevenueAxisTick"/>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RevenueAxisTick"/>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RevenueAxisTick"/>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RevenueAxisTick"/>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RevenueAxisTick"/>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RevenueAxisTick"/>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RevenueAxisTick"/>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RevenueAxisTick"/>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RevenueAxisTick"/>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RevenueAxisTick"/>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RevenueAxisTick"/>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RevenueAxisTick"/>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RevenueAxisTick"/>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RevenueAxisTick"/>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RevenueAxisTick"/>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RevenueAxisTick"/>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RevenueAxisTick"/>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RevenueAxisTick"/>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RevenueAxisTick"/>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RevenueAxisTick"/>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RevenueAxisTick"/>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CompanyTick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CompanyTick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CompanyTick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CompanyTick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CompanyTick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CompanyTick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CompanyTick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CompanyTick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CompanyTick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CompanyTick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CompanyTick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CompanyTick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CompanyTick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CompanyTick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CompanyTick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MarginPoint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MarginPoint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MarginPoint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MarginPoint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MarginPoint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MarginPoint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MarginPoint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MarginPoint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MarginPoint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MarginPoint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MarginPoint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MarginPoint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MarginPoint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MarginPoint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MarginPoint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MarginPoint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MarginPoint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MarginPoint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MarginPoint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MarginPoint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MarginPoint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MarginPoint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MarginPoint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MarginPoint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MarginPoint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MarginPoint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MarginPoint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MarginPoint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MarginPoint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MarginPoint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MarginPoint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MarginPoint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MarginPoint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MarginPoint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MarginPoint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MarginPoint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MarginPoint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MarginPoint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MarginPoint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MarginPoint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MarginPoint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MarginPoint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MarginPoint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MarginPoint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MarginPoint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MarginPoint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MarginPoint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MarginPoint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MarginPoint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MarginPoint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MarginPoint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MarginPoint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MarginPoint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MarginPoint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MarginPoint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MarginPoint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MarginPoint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MarginPoint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MarginPoint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MarginPoint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MarginPoint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MarginPoint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MarginPoint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MarginPoint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MarginPoint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MarginPoint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MarginPoint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MarginPoint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MarginPoint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MarginPoint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MarginPoint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MarginPoint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MarginPoint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RevenueChip"/>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RevenueChip"/>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RevenueChip"/>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RevenueChip"/>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RevenueChip"/>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RevenueChip"/>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RevenueChip"/>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RevenueChip"/>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RevenueChip"/>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RevenueChip"/>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RevenueChip"/>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RevenueChip"/>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RevenueChip"/>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RevenueChip"/>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RevenueChip"/>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RevenueChip"/>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RevenueChip"/>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RevenueChip"/>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RevenueChip"/>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RevenueChip"/>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RevenueChip"/>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RevenueChip"/>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RevenueChip"/>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RevenueChip"/>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RevenueChip"/>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RevenueChip"/>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RevenueChip"/>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RevenueChip"/>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RevenueChip"/>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RevenueChip"/>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RevenueChip"/>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RevenueChip"/>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RevenueChip"/>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RevenueChip"/>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RevenueChip"/>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RevenueChip"/>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RevenueChip"/>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RevenueChip"/>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RevenueChip"/>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RevenueChip"/>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RevenueChip"/>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RevenueChip"/>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RevenueChip"/>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RevenueChip"/>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RevenueChip"/>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RevenueChip"/>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RevenueChip"/>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RevenueChip"/>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RevenueChip"/>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RevenueChip"/>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RevenueChip"/>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RevenueChip"/>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RevenueChip"/>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RevenueChip"/>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RevenueChip"/>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RevenueChip"/>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RevenueChip"/>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RevenueChip"/>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RevenueChip"/>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RevenueChip"/>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RevenueChip"/>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RevenueChip"/>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RevenueChip"/>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RevenueChip"/>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RevenueChip"/>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RevenueChip"/>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RevenueChip"/>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RevenueChip"/>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RevenueChip"/>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RevenueChip"/>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RevenueChip"/>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RevenueChip"/>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RevenueChip"/>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SegmentHeader"/>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SegmentHeader"/>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SegmentHeader"/>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CarrierSegmentHeader"/>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Year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Year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EbitMarginAxisTitle"/>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RevenueAxisTitle"/>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egmentDivider_Shipbuilders"/>
          <p:cNvCxnSpPr/>
          <p:nvPr/>
        </p:nvCxnSpPr>
        <p:spPr>
          <a:xfrm>
            <a:off x="4516222" y="1259129"/>
            <a:ext cx="0" cy="5120640"/>
          </a:xfrm>
          <a:prstGeom prst="line">
            <a:avLst/>
          </a:prstGeom>
          <a:ln w="12700">
            <a:solidFill>
              <a:srgbClr val="808080"/>
            </a:solidFill>
          </a:ln>
        </p:spPr>
      </p:cxnSp>
      <p:cxnSp>
        <p:nvCxnSpPr>
          <p:cNvPr id="314" name="SegmentDivider_OwnerOperator"/>
          <p:cNvCxnSpPr/>
          <p:nvPr/>
        </p:nvCxnSpPr>
        <p:spPr>
          <a:xfrm>
            <a:off x="7366406" y="1259129"/>
            <a:ext cx="0" cy="5120640"/>
          </a:xfrm>
          <a:prstGeom prst="line">
            <a:avLst/>
          </a:prstGeom>
          <a:ln w="12700">
            <a:solidFill>
              <a:srgbClr val="808080"/>
            </a:solidFill>
          </a:ln>
        </p:spPr>
      </p:cxnSp>
      <p:cxnSp>
        <p:nvCxnSpPr>
          <p:cNvPr id="315" name="SegmentDivider_CharterCompanies"/>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Tick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Tick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Tick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Tick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Tick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Tick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ChartTitle"/>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BarTotal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BarTotal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BarTotal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BarTotal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BarTotal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BarTotal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BarTotal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BarTotal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BarTotal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OrderbookValueLabel"/>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OrderbookValueLabel"/>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tirementsLegendFrame"/>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egend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egend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egend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egend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egend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egend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egend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egend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BarTotalCallout"/>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tirementsLegendCaption"/>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OrderbookLegendFrame"/>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OrderbookLegendCaption"/>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SourceNote"/>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HanwhaPurchaseCallout"/>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PhaseCapacityRuleAnchor"/>
          <p:cNvCxnSpPr/>
          <p:nvPr/>
        </p:nvCxnSpPr>
        <p:spPr>
          <a:xfrm>
            <a:off x="833018" y="2803550"/>
            <a:ext cx="9829800" cy="0"/>
          </a:xfrm>
          <a:prstGeom prst="line">
            <a:avLst/>
          </a:prstGeom>
          <a:ln w="9525">
            <a:noFill/>
            <a:prstDash val="lgDash"/>
          </a:ln>
        </p:spPr>
      </p:cxnSp>
      <p:cxnSp>
        <p:nvCxnSpPr>
          <p:cNvPr id="109" name="PhaseCapacityRuleAnchor"/>
          <p:cNvCxnSpPr/>
          <p:nvPr/>
        </p:nvCxnSpPr>
        <p:spPr>
          <a:xfrm>
            <a:off x="833018" y="2003450"/>
            <a:ext cx="9829800" cy="0"/>
          </a:xfrm>
          <a:prstGeom prst="line">
            <a:avLst/>
          </a:prstGeom>
          <a:ln w="9525">
            <a:noFill/>
            <a:prstDash val="lgDash"/>
          </a:ln>
        </p:spPr>
      </p:cxnSp>
      <p:cxnSp>
        <p:nvCxnSpPr>
          <p:cNvPr id="110" name="PhaseCapacityRuleAnchor"/>
          <p:cNvCxnSpPr/>
          <p:nvPr/>
        </p:nvCxnSpPr>
        <p:spPr>
          <a:xfrm>
            <a:off x="833018" y="2506370"/>
            <a:ext cx="9829800" cy="0"/>
          </a:xfrm>
          <a:prstGeom prst="line">
            <a:avLst/>
          </a:prstGeom>
          <a:ln w="9525">
            <a:noFill/>
            <a:prstDash val="lgDash"/>
          </a:ln>
        </p:spPr>
      </p:cxnSp>
      <p:cxnSp>
        <p:nvCxnSpPr>
          <p:cNvPr id="111" name="PhaseCapacityRuleAnchor"/>
          <p:cNvCxnSpPr/>
          <p:nvPr/>
        </p:nvCxnSpPr>
        <p:spPr>
          <a:xfrm>
            <a:off x="833018" y="3396082"/>
            <a:ext cx="9829800" cy="0"/>
          </a:xfrm>
          <a:prstGeom prst="line">
            <a:avLst/>
          </a:prstGeom>
          <a:ln w="9525">
            <a:noFill/>
            <a:prstDash val="lgDash"/>
          </a:ln>
        </p:spPr>
      </p:cxnSp>
      <p:cxnSp>
        <p:nvCxnSpPr>
          <p:cNvPr id="112" name="PhaseCapacityRuleAnchor"/>
          <p:cNvCxnSpPr/>
          <p:nvPr/>
        </p:nvCxnSpPr>
        <p:spPr>
          <a:xfrm>
            <a:off x="833018" y="3989527"/>
            <a:ext cx="9829800" cy="0"/>
          </a:xfrm>
          <a:prstGeom prst="line">
            <a:avLst/>
          </a:prstGeom>
          <a:ln w="9525">
            <a:noFill/>
            <a:prstDash val="lgDash"/>
          </a:ln>
        </p:spPr>
      </p:cxnSp>
      <p:cxnSp>
        <p:nvCxnSpPr>
          <p:cNvPr id="113" name="PhaseCapacityRuleAnchor"/>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ChartAxisTitle"/>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Referenc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Referenc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Referenc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Referenc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Referenc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PhaseCapacityRule"/>
          <p:cNvCxnSpPr/>
          <p:nvPr/>
        </p:nvCxnSpPr>
        <p:spPr>
          <a:xfrm>
            <a:off x="834847" y="2495398"/>
            <a:ext cx="9966960" cy="7315"/>
          </a:xfrm>
          <a:prstGeom prst="line">
            <a:avLst/>
          </a:prstGeom>
          <a:ln w="9525">
            <a:solidFill>
              <a:srgbClr val="000000"/>
            </a:solidFill>
            <a:prstDash val="dash"/>
          </a:ln>
        </p:spPr>
      </p:cxnSp>
      <p:cxnSp>
        <p:nvCxnSpPr>
          <p:cNvPr id="147" name="PhaseCapacityRule"/>
          <p:cNvCxnSpPr/>
          <p:nvPr/>
        </p:nvCxnSpPr>
        <p:spPr>
          <a:xfrm>
            <a:off x="834847" y="1996135"/>
            <a:ext cx="9966960" cy="7315"/>
          </a:xfrm>
          <a:prstGeom prst="line">
            <a:avLst/>
          </a:prstGeom>
          <a:ln w="9525">
            <a:solidFill>
              <a:srgbClr val="000000"/>
            </a:solidFill>
            <a:prstDash val="dash"/>
          </a:ln>
        </p:spPr>
      </p:cxnSp>
      <p:sp>
        <p:nvSpPr>
          <p:cNvPr id="148"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egend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egend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egend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egend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egend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PhaseCapacityRule"/>
          <p:cNvCxnSpPr/>
          <p:nvPr/>
        </p:nvCxnSpPr>
        <p:spPr>
          <a:xfrm>
            <a:off x="834847" y="2790749"/>
            <a:ext cx="9966960" cy="7315"/>
          </a:xfrm>
          <a:prstGeom prst="line">
            <a:avLst/>
          </a:prstGeom>
          <a:ln w="9525">
            <a:solidFill>
              <a:srgbClr val="000000"/>
            </a:solidFill>
            <a:prstDash val="dash"/>
          </a:ln>
        </p:spPr>
      </p:cxnSp>
      <p:cxnSp>
        <p:nvCxnSpPr>
          <p:cNvPr id="160" name="PhaseCapacityRule"/>
          <p:cNvCxnSpPr/>
          <p:nvPr/>
        </p:nvCxnSpPr>
        <p:spPr>
          <a:xfrm>
            <a:off x="834847" y="3394253"/>
            <a:ext cx="9966960" cy="7315"/>
          </a:xfrm>
          <a:prstGeom prst="line">
            <a:avLst/>
          </a:prstGeom>
          <a:ln w="9525">
            <a:solidFill>
              <a:srgbClr val="000000"/>
            </a:solidFill>
            <a:prstDash val="dash"/>
          </a:ln>
        </p:spPr>
      </p:cxnSp>
      <p:cxnSp>
        <p:nvCxnSpPr>
          <p:cNvPr id="161" name="PhaseCapacityRule"/>
          <p:cNvCxnSpPr/>
          <p:nvPr/>
        </p:nvCxnSpPr>
        <p:spPr>
          <a:xfrm>
            <a:off x="834847" y="3976726"/>
            <a:ext cx="9966960" cy="7315"/>
          </a:xfrm>
          <a:prstGeom prst="line">
            <a:avLst/>
          </a:prstGeom>
          <a:ln w="9525">
            <a:solidFill>
              <a:srgbClr val="000000"/>
            </a:solidFill>
            <a:prstDash val="dash"/>
          </a:ln>
        </p:spPr>
      </p:cxnSp>
      <p:cxnSp>
        <p:nvCxnSpPr>
          <p:cNvPr id="162"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PhaseCapacityRule"/>
          <p:cNvCxnSpPr/>
          <p:nvPr/>
        </p:nvCxnSpPr>
        <p:spPr>
          <a:xfrm>
            <a:off x="833018" y="4257446"/>
            <a:ext cx="9966960" cy="7315"/>
          </a:xfrm>
          <a:prstGeom prst="line">
            <a:avLst/>
          </a:prstGeom>
          <a:ln w="9525">
            <a:solidFill>
              <a:srgbClr val="000000"/>
            </a:solidFill>
            <a:prstDash val="dash"/>
          </a:ln>
        </p:spPr>
      </p:cxnSp>
      <p:sp>
        <p:nvSpPr>
          <p:cNvPr id="167"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ContingencyCallout"/>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PhaseCapacityRuleAnchor"/>
          <p:cNvCxnSpPr/>
          <p:nvPr/>
        </p:nvCxnSpPr>
        <p:spPr>
          <a:xfrm>
            <a:off x="833018" y="2803550"/>
            <a:ext cx="9829800" cy="0"/>
          </a:xfrm>
          <a:prstGeom prst="line">
            <a:avLst/>
          </a:prstGeom>
          <a:ln w="9525">
            <a:noFill/>
            <a:prstDash val="lgDash"/>
          </a:ln>
        </p:spPr>
      </p:cxnSp>
      <p:cxnSp>
        <p:nvCxnSpPr>
          <p:cNvPr id="108" name="PhaseCapacityRuleAnchor"/>
          <p:cNvCxnSpPr/>
          <p:nvPr/>
        </p:nvCxnSpPr>
        <p:spPr>
          <a:xfrm>
            <a:off x="833018" y="2003450"/>
            <a:ext cx="9829800" cy="0"/>
          </a:xfrm>
          <a:prstGeom prst="line">
            <a:avLst/>
          </a:prstGeom>
          <a:ln w="9525">
            <a:noFill/>
            <a:prstDash val="lgDash"/>
          </a:ln>
        </p:spPr>
      </p:cxnSp>
      <p:cxnSp>
        <p:nvCxnSpPr>
          <p:cNvPr id="109" name="PhaseCapacityRuleAnchor"/>
          <p:cNvCxnSpPr/>
          <p:nvPr/>
        </p:nvCxnSpPr>
        <p:spPr>
          <a:xfrm>
            <a:off x="833018" y="2506370"/>
            <a:ext cx="9829800" cy="0"/>
          </a:xfrm>
          <a:prstGeom prst="line">
            <a:avLst/>
          </a:prstGeom>
          <a:ln w="9525">
            <a:noFill/>
            <a:prstDash val="lgDash"/>
          </a:ln>
        </p:spPr>
      </p:cxnSp>
      <p:cxnSp>
        <p:nvCxnSpPr>
          <p:cNvPr id="110" name="PhaseCapacityRuleAnchor"/>
          <p:cNvCxnSpPr/>
          <p:nvPr/>
        </p:nvCxnSpPr>
        <p:spPr>
          <a:xfrm>
            <a:off x="833018" y="3396082"/>
            <a:ext cx="9829800" cy="0"/>
          </a:xfrm>
          <a:prstGeom prst="line">
            <a:avLst/>
          </a:prstGeom>
          <a:ln w="9525">
            <a:noFill/>
            <a:prstDash val="lgDash"/>
          </a:ln>
        </p:spPr>
      </p:cxnSp>
      <p:cxnSp>
        <p:nvCxnSpPr>
          <p:cNvPr id="111" name="PhaseCapacityRuleAnchor"/>
          <p:cNvCxnSpPr/>
          <p:nvPr/>
        </p:nvCxnSpPr>
        <p:spPr>
          <a:xfrm>
            <a:off x="833018" y="3989527"/>
            <a:ext cx="9829800" cy="0"/>
          </a:xfrm>
          <a:prstGeom prst="line">
            <a:avLst/>
          </a:prstGeom>
          <a:ln w="9525">
            <a:noFill/>
            <a:prstDash val="lgDash"/>
          </a:ln>
        </p:spPr>
      </p:cxnSp>
      <p:cxnSp>
        <p:nvCxnSpPr>
          <p:cNvPr id="112" name="PhaseCapacityRuleAnchor"/>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ChartAxisTitle"/>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Referenc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Referenc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Referenc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Referenc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Referenc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PhaseCapacityRule"/>
          <p:cNvCxnSpPr/>
          <p:nvPr/>
        </p:nvCxnSpPr>
        <p:spPr>
          <a:xfrm>
            <a:off x="834847" y="2495398"/>
            <a:ext cx="9966960" cy="7315"/>
          </a:xfrm>
          <a:prstGeom prst="line">
            <a:avLst/>
          </a:prstGeom>
          <a:ln w="9525">
            <a:solidFill>
              <a:srgbClr val="000000"/>
            </a:solidFill>
            <a:prstDash val="dash"/>
          </a:ln>
        </p:spPr>
      </p:cxnSp>
      <p:cxnSp>
        <p:nvCxnSpPr>
          <p:cNvPr id="146" name="PhaseCapacityRule"/>
          <p:cNvCxnSpPr/>
          <p:nvPr/>
        </p:nvCxnSpPr>
        <p:spPr>
          <a:xfrm>
            <a:off x="834847" y="1996135"/>
            <a:ext cx="9966960" cy="7315"/>
          </a:xfrm>
          <a:prstGeom prst="line">
            <a:avLst/>
          </a:prstGeom>
          <a:ln w="9525">
            <a:solidFill>
              <a:srgbClr val="000000"/>
            </a:solidFill>
            <a:prstDash val="dash"/>
          </a:ln>
        </p:spPr>
      </p:cxnSp>
      <p:sp>
        <p:nvSpPr>
          <p:cNvPr id="147"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egend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egend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egend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egend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egend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ScenarioChip"/>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PhaseCapacityRule"/>
          <p:cNvCxnSpPr/>
          <p:nvPr/>
        </p:nvCxnSpPr>
        <p:spPr>
          <a:xfrm>
            <a:off x="834847" y="2790749"/>
            <a:ext cx="9966960" cy="7315"/>
          </a:xfrm>
          <a:prstGeom prst="line">
            <a:avLst/>
          </a:prstGeom>
          <a:ln w="9525">
            <a:solidFill>
              <a:srgbClr val="000000"/>
            </a:solidFill>
            <a:prstDash val="dash"/>
          </a:ln>
        </p:spPr>
      </p:cxnSp>
      <p:cxnSp>
        <p:nvCxnSpPr>
          <p:cNvPr id="166" name="PhaseCapacityRule"/>
          <p:cNvCxnSpPr/>
          <p:nvPr/>
        </p:nvCxnSpPr>
        <p:spPr>
          <a:xfrm>
            <a:off x="834847" y="3394253"/>
            <a:ext cx="9966960" cy="7315"/>
          </a:xfrm>
          <a:prstGeom prst="line">
            <a:avLst/>
          </a:prstGeom>
          <a:ln w="9525">
            <a:solidFill>
              <a:srgbClr val="000000"/>
            </a:solidFill>
            <a:prstDash val="dash"/>
          </a:ln>
        </p:spPr>
      </p:cxnSp>
      <p:cxnSp>
        <p:nvCxnSpPr>
          <p:cNvPr id="167" name="PhaseCapacityRule"/>
          <p:cNvCxnSpPr/>
          <p:nvPr/>
        </p:nvCxnSpPr>
        <p:spPr>
          <a:xfrm>
            <a:off x="833018" y="3977640"/>
            <a:ext cx="9966960" cy="7315"/>
          </a:xfrm>
          <a:prstGeom prst="line">
            <a:avLst/>
          </a:prstGeom>
          <a:ln w="9525">
            <a:solidFill>
              <a:srgbClr val="000000"/>
            </a:solidFill>
            <a:prstDash val="dash"/>
          </a:ln>
        </p:spPr>
      </p:cxnSp>
      <p:cxnSp>
        <p:nvCxnSpPr>
          <p:cNvPr id="168"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PhaseCapacityRule"/>
          <p:cNvCxnSpPr/>
          <p:nvPr/>
        </p:nvCxnSpPr>
        <p:spPr>
          <a:xfrm>
            <a:off x="833018" y="4254703"/>
            <a:ext cx="9966960" cy="7315"/>
          </a:xfrm>
          <a:prstGeom prst="line">
            <a:avLst/>
          </a:prstGeom>
          <a:ln w="9525">
            <a:solidFill>
              <a:srgbClr val="000000"/>
            </a:solidFill>
            <a:prstDash val="dash"/>
          </a:ln>
        </p:spPr>
      </p:cxnSp>
      <p:sp>
        <p:nvSpPr>
          <p:cNvPr id="173" name="ContingencyCallout"/>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egmentLabelLeader"/>
          <p:cNvCxnSpPr/>
          <p:nvPr/>
        </p:nvCxnSpPr>
        <p:spPr>
          <a:xfrm flipH="1" flipV="1">
            <a:off x="2376526" y="2079346"/>
            <a:ext cx="92354" cy="63094"/>
          </a:xfrm>
          <a:prstGeom prst="line">
            <a:avLst/>
          </a:prstGeom>
          <a:ln w="6350">
            <a:solidFill>
              <a:srgbClr val="44505C"/>
            </a:solidFill>
          </a:ln>
        </p:spPr>
      </p:cxnSp>
      <p:cxnSp>
        <p:nvCxnSpPr>
          <p:cNvPr id="104" name="SegmentLabelLeader"/>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29" name="SegmentLabelLeader"/>
          <p:cNvCxnSpPr/>
          <p:nvPr/>
        </p:nvCxnSpPr>
        <p:spPr>
          <a:xfrm flipV="1">
            <a:off x="4533595" y="2000707"/>
            <a:ext cx="681228" cy="1762049"/>
          </a:xfrm>
          <a:prstGeom prst="line">
            <a:avLst/>
          </a:prstGeom>
          <a:ln w="6350">
            <a:solidFill>
              <a:srgbClr val="808080"/>
            </a:solidFill>
            <a:prstDash val="dash"/>
          </a:ln>
        </p:spPr>
      </p:cxnSp>
      <p:cxnSp>
        <p:nvCxnSpPr>
          <p:cNvPr id="130" name="SegmentLabelLeader"/>
          <p:cNvCxnSpPr/>
          <p:nvPr/>
        </p:nvCxnSpPr>
        <p:spPr>
          <a:xfrm flipV="1">
            <a:off x="4533595" y="2609698"/>
            <a:ext cx="681228" cy="1404518"/>
          </a:xfrm>
          <a:prstGeom prst="line">
            <a:avLst/>
          </a:prstGeom>
          <a:ln w="6350">
            <a:solidFill>
              <a:srgbClr val="808080"/>
            </a:solidFill>
            <a:prstDash val="dash"/>
          </a:ln>
        </p:spPr>
      </p:cxnSp>
      <p:cxnSp>
        <p:nvCxnSpPr>
          <p:cNvPr id="131" name="SegmentLabelLeader"/>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IncomeStatementMethodologyTable"/>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MethodologyBanner"/>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OperatingExpenseAssumptionsTable"/>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UnitEconomicsCostMatrix"/>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CostOfSalesNormalizationCallout"/>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VariableCostNormalizationFrame"/>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NormalizedVariableCostLeader"/>
          <p:cNvCxnSpPr/>
          <p:nvPr/>
        </p:nvCxnSpPr>
        <p:spPr>
          <a:xfrm>
            <a:off x="8485632" y="3634740"/>
            <a:ext cx="205740" cy="113386"/>
          </a:xfrm>
          <a:prstGeom prst="bentConnector3">
            <a:avLst/>
          </a:prstGeom>
          <a:ln w="12700">
            <a:solidFill>
              <a:srgbClr val="000000"/>
            </a:solidFill>
            <a:tailEnd type="triangle" w="med" len="med"/>
          </a:ln>
        </p:spPr>
      </p:cxnSp>
      <p:sp>
        <p:nvSpPr>
          <p:cNvPr id="104" name="NormalizedVariableCostLabel"/>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NormalizedOpexPanel"/>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OpexNormalizationNarrative"/>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OpexNormalizationLeader"/>
          <p:cNvCxnSpPr/>
          <p:nvPr/>
        </p:nvCxnSpPr>
        <p:spPr>
          <a:xfrm flipV="1">
            <a:off x="5214823" y="5106924"/>
            <a:ext cx="3499409" cy="70409"/>
          </a:xfrm>
          <a:prstGeom prst="bentConnector3">
            <a:avLst/>
          </a:prstGeom>
          <a:ln w="12700">
            <a:solidFill>
              <a:srgbClr val="000000"/>
            </a:solidFill>
            <a:tailEnd type="triangle" w="med" len="med"/>
          </a:ln>
        </p:spPr>
      </p:cxnSp>
      <p:sp>
        <p:nvSpPr>
          <p:cNvPr id="108" name="PriceComponentsLegendLabel"/>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ShoresideVariableCostLegendLabel"/>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VesselVariableCostLegendLabel"/>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OpexLegendLabel"/>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BarValu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BarValu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BarValu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BarValu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BarValu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BarValu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BarValu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otalFreightChargeLabel"/>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RouteLabel"/>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VesselOperationsBracket"/>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egend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egend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egend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egend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egend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egend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LegendLabel"/>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ChargeComponentTable"/>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VesselOperationsGroupCaption"/>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ShoresideChargesBracket"/>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AnalysisStatusNote"/>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ChargeComponentHighlight"/>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VesselOperationsCallout"/>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ChargeLeader_TerminalCharges"/>
          <p:cNvCxnSpPr/>
          <p:nvPr/>
        </p:nvCxnSpPr>
        <p:spPr>
          <a:xfrm>
            <a:off x="3648456" y="3705149"/>
            <a:ext cx="1976933" cy="636422"/>
          </a:xfrm>
          <a:prstGeom prst="line">
            <a:avLst/>
          </a:prstGeom>
          <a:ln w="12700">
            <a:solidFill>
              <a:srgbClr val="808080"/>
            </a:solidFill>
            <a:prstDash val="dash"/>
          </a:ln>
        </p:spPr>
      </p:cxnSp>
      <p:cxnSp>
        <p:nvCxnSpPr>
          <p:cNvPr id="139" name="ChargeLeader_WharfageHNL"/>
          <p:cNvCxnSpPr/>
          <p:nvPr/>
        </p:nvCxnSpPr>
        <p:spPr>
          <a:xfrm>
            <a:off x="3648456" y="3375050"/>
            <a:ext cx="1985162" cy="389534"/>
          </a:xfrm>
          <a:prstGeom prst="line">
            <a:avLst/>
          </a:prstGeom>
          <a:ln w="12700">
            <a:solidFill>
              <a:srgbClr val="808080"/>
            </a:solidFill>
            <a:prstDash val="dash"/>
          </a:ln>
        </p:spPr>
      </p:cxnSp>
      <p:cxnSp>
        <p:nvCxnSpPr>
          <p:cNvPr id="140" name="ChargeLeader_WharfageLB"/>
          <p:cNvCxnSpPr/>
          <p:nvPr/>
        </p:nvCxnSpPr>
        <p:spPr>
          <a:xfrm>
            <a:off x="3648456" y="2495398"/>
            <a:ext cx="1976933" cy="643738"/>
          </a:xfrm>
          <a:prstGeom prst="line">
            <a:avLst/>
          </a:prstGeom>
          <a:ln w="12700">
            <a:solidFill>
              <a:srgbClr val="808080"/>
            </a:solidFill>
            <a:prstDash val="dash"/>
          </a:ln>
        </p:spPr>
      </p:cxnSp>
      <p:cxnSp>
        <p:nvCxnSpPr>
          <p:cNvPr id="141" name="ChargeLeader_TerminalHNL"/>
          <p:cNvCxnSpPr/>
          <p:nvPr/>
        </p:nvCxnSpPr>
        <p:spPr>
          <a:xfrm>
            <a:off x="3648456" y="2311603"/>
            <a:ext cx="1985162" cy="281635"/>
          </a:xfrm>
          <a:prstGeom prst="line">
            <a:avLst/>
          </a:prstGeom>
          <a:ln w="12700">
            <a:solidFill>
              <a:srgbClr val="808080"/>
            </a:solidFill>
            <a:prstDash val="dash"/>
          </a:ln>
        </p:spPr>
      </p:cxnSp>
      <p:cxnSp>
        <p:nvCxnSpPr>
          <p:cNvPr id="142" name="ChargeLeader_OtherFees"/>
          <p:cNvCxnSpPr/>
          <p:nvPr/>
        </p:nvCxnSpPr>
        <p:spPr>
          <a:xfrm flipV="1">
            <a:off x="3648456" y="2011680"/>
            <a:ext cx="1952244" cy="274320"/>
          </a:xfrm>
          <a:prstGeom prst="line">
            <a:avLst/>
          </a:prstGeom>
          <a:ln w="12700">
            <a:solidFill>
              <a:srgbClr val="808080"/>
            </a:solidFill>
            <a:prstDash val="dash"/>
          </a:ln>
        </p:spPr>
      </p:cxnSp>
      <p:sp>
        <p:nvSpPr>
          <p:cNvPr id="143" name="ShoresideChargesGroupCaption"/>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SpotRateCallout"/>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CoordinationArchetypeTable"/>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KeyInputsReferenceTable"/>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NavyLogo"/>
          <p:cNvPicPr>
            <a:picLocks noChangeAspect="1"/>
          </p:cNvPicPr>
          <p:nvPr/>
        </p:nvPicPr>
        <p:blipFill>
          <a:blip r:embed="rId3"/>
          <a:stretch>
            <a:fillRect/>
          </a:stretch>
        </p:blipFill>
        <p:spPr>
          <a:xfrm>
            <a:off x="10452506" y="43891"/>
            <a:ext cx="843077" cy="843077"/>
          </a:xfrm>
          <a:prstGeom prst="rect">
            <a:avLst/>
          </a:prstGeom>
        </p:spPr>
      </p:pic>
      <p:pic>
        <p:nvPicPr>
          <p:cNvPr id="101" name="MissileDefenseAgencyLogo"/>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NavyLogo"/>
          <p:cNvPicPr>
            <a:picLocks noChangeAspect="1"/>
          </p:cNvPicPr>
          <p:nvPr/>
        </p:nvPicPr>
        <p:blipFill>
          <a:blip r:embed="rId3"/>
          <a:stretch>
            <a:fillRect/>
          </a:stretch>
        </p:blipFill>
        <p:spPr>
          <a:xfrm>
            <a:off x="10452506" y="43891"/>
            <a:ext cx="843077" cy="843077"/>
          </a:xfrm>
          <a:prstGeom prst="rect">
            <a:avLst/>
          </a:prstGeom>
        </p:spPr>
      </p:pic>
      <p:pic>
        <p:nvPicPr>
          <p:cNvPr id="125"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6"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NavyLogo"/>
          <p:cNvPicPr>
            <a:picLocks noChangeAspect="1"/>
          </p:cNvPicPr>
          <p:nvPr/>
        </p:nvPicPr>
        <p:blipFill>
          <a:blip r:embed="rId3"/>
          <a:stretch>
            <a:fillRect/>
          </a:stretch>
        </p:blipFill>
        <p:spPr>
          <a:xfrm>
            <a:off x="10452506" y="43891"/>
            <a:ext cx="843077" cy="843077"/>
          </a:xfrm>
          <a:prstGeom prst="rect">
            <a:avLst/>
          </a:prstGeom>
        </p:spPr>
      </p:pic>
      <p:pic>
        <p:nvPicPr>
          <p:cNvPr id="128"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9"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2026-06-28T19:44:13Z</dcterms:created>
  <dcterms:modified xsi:type="dcterms:W3CDTF">2026-06-28T19:44:13Z</dcterms:modified>
</cp:coreProperties>
</file>