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Worksheet1.xlsx" ContentType="application/vnd.openxmlformats-officedocument.spreadsheetml.sheet"/>
  <Override PartName="/ppt/embeddings/Microsoft_Excel_Worksheet2.xlsx" ContentType="application/vnd.openxmlformats-officedocument.spreadsheetml.sheet"/>
  <Override PartName="/ppt/embeddings/Microsoft_Excel_Worksheet3.xlsx" ContentType="application/vnd.openxmlformats-officedocument.spreadsheetml.sheet"/>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Worksheet15.xlsx" ContentType="application/vnd.openxmlformats-officedocument.spreadsheetml.sheet"/>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4879416713404375"/>
          <c:y val="0.032721202003338896"/>
          <c:w val="0.9414843896055337"/>
          <c:h val="0.9275459098497496"/>
        </c:manualLayout>
      </c:layout>
      <c:bubbleChart>
        <c:varyColors val="0"/>
        <c:ser>
          <c:idx val="0"/>
          <c:order val="0"/>
          <c:tx>
            <c:strRef>
              <c:f>Sheet1!$A$1</c:f>
              <c:strCache>
                <c:ptCount val="1"/>
                <c:pt idx="0">
                  <c:v>Bucket 1: shipbuilder recovery/stress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Bucket 2: owner/operator default with shipbuilder points</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Bucket 3: charter default with shipbuilder and owner/operator points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Bucket 4: owner/operator default with charter points</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Bucket 5: standalone terminal-operator pattern</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Bucket 6: shipbuilder default with charter points</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Bucket 7: terminal/charter tail points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8546866333887965"/>
          <c:y val="0.053951367781155016"/>
          <c:w val="0.9290072102052135"/>
          <c:h val="0.89209726443769"/>
        </c:manualLayout>
      </c:layout>
      <c:barChart>
        <c:barDir val="col"/>
        <c:grouping val="stacked"/>
        <c:varyColors val="0"/>
        <c:ser>
          <c:idx val="0"/>
          <c:order val="0"/>
          <c:tx>
            <c:strRef>
              <c:f>Sheet1!$B$1</c:f>
              <c:strCache>
                <c:ptCount val="1"/>
                <c:pt idx="0">
                  <c:v>FSV/PSV Adds</c:v>
                </c:pt>
              </c:strCache>
            </c:strRef>
          </c:tx>
          <c:spPr>
            <a:solidFill>
              <a:srgbClr val="364D6E"/>
            </a:solidFill>
            <a:ln>
              <a:noFill/>
            </a:ln>
          </c:spPr>
          <c:invertIfNegative val="0"/>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Sheet1!$B$2:$B$41</c:f>
              <c:numCache>
                <c:formatCode>#,##0;"-"#,##0</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ser>
        <c:gapWidth val="80"/>
        <c:overlap val="100"/>
        <c:axId val="111111111"/>
        <c:axId val="222222222"/>
      </c:barChart>
      <c:lineChart>
        <c:grouping val="standard"/>
        <c:varyColors val="0"/>
        <c:ser>
          <c:idx val="1"/>
          <c:order val="1"/>
          <c:tx>
            <c:strRef>
              <c:f>Sheet1!$C$1</c:f>
              <c:strCache>
                <c:ptCount val="1"/>
                <c:pt idx="0">
                  <c:v>WTI Spot Price ($ / barrel)</c:v>
                </c:pt>
              </c:strCache>
            </c:strRef>
          </c:tx>
          <c:spPr>
            <a:ln w="28575" cap="rnd">
              <a:solidFill>
                <a:srgbClr val="FFC00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Sheet1!$C$2:$C$41</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66.0</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ser>
        <c:ser>
          <c:idx val="2"/>
          <c:order val="2"/>
          <c:tx>
            <c:strRef>
              <c:f>Sheet1!$D$1</c:f>
              <c:strCache>
                <c:ptCount val="1"/>
                <c:pt idx="0">
                  <c:v>Brent Spot Price ($ / barrel)</c:v>
                </c:pt>
              </c:strCache>
            </c:strRef>
          </c:tx>
          <c:spPr>
            <a:ln w="28575" cap="rnd">
              <a:solidFill>
                <a:srgbClr val="00777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Sheet1!$D$2:$D$41</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50"/>
          <c:min val="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catAx>
        <c:axId val="333333333"/>
        <c:scaling>
          <c:orientation val="minMax"/>
        </c:scaling>
        <c:delete val="0"/>
        <c:axPos val="b"/>
        <c:majorTickMark val="none"/>
        <c:minorTickMark val="none"/>
        <c:tickLblPos val="none"/>
        <c:crossAx val="444444444"/>
        <c:crosses val="min"/>
        <c:auto val="0"/>
        <c:lblAlgn val="ctr"/>
        <c:lblOffset val="100"/>
        <c:noMultiLvlLbl val="0"/>
      </c:catAx>
      <c:valAx>
        <c:axId val="444444444"/>
        <c:scaling>
          <c:orientation val="minMax"/>
          <c:max val="16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333333333"/>
        <c:crosses val="min"/>
        <c:crossBetween val="between"/>
        <c:majorUnit val="10"/>
      </c:valAx>
    </c:plotArea>
    <c:plotVisOnly val="1"/>
    <c:dispBlanksAs val="gap"/>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36134570123217497"/>
          <c:y val="0.032721202003338896"/>
          <c:w val="0.9566662051779039"/>
          <c:h val="0.9275459098497496"/>
        </c:manualLayout>
      </c:layout>
      <c:bubbleChart>
        <c:varyColors val="0"/>
        <c:ser>
          <c:idx val="0"/>
          <c:order val="0"/>
          <c:tx>
            <c:strRef>
              <c:f>Sheet1!$A$1</c:f>
              <c:strCache>
                <c:ptCount val="1"/>
                <c:pt idx="0">
                  <c:v>Source bucket 1 — shipbuilder residuals</c:v>
                </c:pt>
              </c:strCache>
            </c:strRef>
          </c:tx>
          <c:spPr>
            <a:solidFill>
              <a:srgbClr val="C30C3E"/>
            </a:solidFill>
            <a:ln w="3175" cmpd="sng" algn="ctr">
              <a:solidFill>
                <a:schemeClr val="tx1"/>
              </a:solidFill>
              <a:prstDash val="solid"/>
            </a:ln>
          </c:spPr>
          <c:invertIfNegative val="0"/>
          <c:xVal>
            <c:numRef>
              <c:f>Sheet1!$B$2:$B$4</c:f>
              <c:numCache>
                <c:formatCode>General</c:formatCode>
                <c:ptCount val="3"/>
                <c:pt idx="0">
                  <c:v>2021</c:v>
                </c:pt>
                <c:pt idx="1">
                  <c:v>2022</c:v>
                </c:pt>
                <c:pt idx="2">
                  <c:v>2022</c:v>
                </c:pt>
              </c:numCache>
            </c:numRef>
          </c:xVal>
          <c:yVal>
            <c:numRef>
              <c:f>Sheet1!$C$2:$C$4</c:f>
              <c:numCache>
                <c:formatCode>#,##0;"-"#,##0</c:formatCode>
                <c:ptCount val="3"/>
                <c:pt idx="0">
                  <c:v>-2.9787234042553195</c:v>
                </c:pt>
                <c:pt idx="1">
                  <c:v>-33.20027982387556</c:v>
                </c:pt>
                <c:pt idx="2">
                  <c:v>1.9083969465648851</c:v>
                </c:pt>
              </c:numCache>
            </c:numRef>
          </c:yVal>
          <c:bubbleSize>
            <c:numRef>
              <c:f>Sheet1!$D$2:$D$4</c:f>
              <c:numCache>
                <c:formatCode>General</c:formatCode>
                <c:ptCount val="3"/>
                <c:pt idx="0">
                  <c:v>19771.325688420737</c:v>
                </c:pt>
                <c:pt idx="1">
                  <c:v>3856.7506229268834</c:v>
                </c:pt>
                <c:pt idx="2">
                  <c:v>20790.68069640845</c:v>
                </c:pt>
              </c:numCache>
            </c:numRef>
          </c:bubbleSize>
          <c:bubble3D val="0"/>
        </c:ser>
        <c:ser>
          <c:idx val="1"/>
          <c:order val="1"/>
          <c:tx>
            <c:strRef>
              <c:f>Sheet1!$E$1</c:f>
              <c:strCache>
                <c:ptCount val="1"/>
                <c:pt idx="0">
                  <c:v>Source bucket 2 — mixed shipbuilder / owner-operator</c:v>
                </c:pt>
              </c:strCache>
            </c:strRef>
          </c:tx>
          <c:spPr>
            <a:solidFill>
              <a:srgbClr val="364D6E"/>
            </a:solidFill>
            <a:ln w="3175" cmpd="sng" algn="ctr">
              <a:solidFill>
                <a:schemeClr val="tx1"/>
              </a:solidFill>
              <a:prstDash val="solid"/>
            </a:ln>
          </c:spPr>
          <c:invertIfNegative val="0"/>
          <c:dPt>
            <c:idx val="0"/>
            <c:invertIfNegative val="0"/>
            <c:bubble3D val="0"/>
            <c:spPr>
              <a:solidFill>
                <a:srgbClr val="C30C3E"/>
              </a:solidFill>
              <a:ln w="3175" cmpd="sng" algn="ctr">
                <a:solidFill>
                  <a:schemeClr val="tx1"/>
                </a:solidFill>
                <a:prstDash val="solid"/>
              </a:ln>
            </c:spPr>
          </c:dPt>
          <c:dPt>
            <c:idx val="1"/>
            <c:invertIfNegative val="0"/>
            <c:bubble3D val="0"/>
            <c:spPr>
              <a:solidFill>
                <a:srgbClr val="C30C3E"/>
              </a:solidFill>
              <a:ln w="3175" cmpd="sng" algn="ctr">
                <a:solidFill>
                  <a:schemeClr val="tx1"/>
                </a:solidFill>
                <a:prstDash val="solid"/>
              </a:ln>
            </c:spPr>
          </c:dPt>
          <c:dPt>
            <c:idx val="2"/>
            <c:invertIfNegative val="0"/>
            <c:bubble3D val="0"/>
            <c:spPr>
              <a:solidFill>
                <a:srgbClr val="C30C3E"/>
              </a:solidFill>
              <a:ln w="3175" cmpd="sng" algn="ctr">
                <a:solidFill>
                  <a:schemeClr val="tx1"/>
                </a:solidFill>
                <a:prstDash val="solid"/>
              </a:ln>
            </c:spPr>
          </c:dPt>
          <c:dPt>
            <c:idx val="3"/>
            <c:invertIfNegative val="0"/>
            <c:bubble3D val="0"/>
            <c:spPr>
              <a:solidFill>
                <a:srgbClr val="C30C3E"/>
              </a:solidFill>
              <a:ln w="3175" cmpd="sng" algn="ctr">
                <a:solidFill>
                  <a:schemeClr val="tx1"/>
                </a:solidFill>
                <a:prstDash val="solid"/>
              </a:ln>
            </c:spPr>
          </c:dPt>
          <c:xVal>
            <c:numRef>
              <c:f>Sheet1!$F$2:$F$13</c:f>
              <c:numCache>
                <c:formatCode>General</c:formatCode>
                <c:ptCount val="12"/>
                <c:pt idx="0">
                  <c:v>2020</c:v>
                </c:pt>
                <c:pt idx="1">
                  <c:v>2021</c:v>
                </c:pt>
                <c:pt idx="2">
                  <c:v>2021</c:v>
                </c:pt>
                <c:pt idx="3">
                  <c:v>2022</c:v>
                </c:pt>
                <c:pt idx="4">
                  <c:v>2020</c:v>
                </c:pt>
                <c:pt idx="5">
                  <c:v>2021</c:v>
                </c:pt>
                <c:pt idx="6">
                  <c:v>2021</c:v>
                </c:pt>
                <c:pt idx="7">
                  <c:v>2022</c:v>
                </c:pt>
                <c:pt idx="8">
                  <c:v>2023</c:v>
                </c:pt>
                <c:pt idx="9">
                  <c:v>2023</c:v>
                </c:pt>
                <c:pt idx="10">
                  <c:v>2024</c:v>
                </c:pt>
                <c:pt idx="11">
                  <c:v>2024</c:v>
                </c:pt>
              </c:numCache>
            </c:numRef>
          </c:xVal>
          <c:yVal>
            <c:numRef>
              <c:f>Sheet1!$G$2:$G$13</c:f>
              <c:numCache>
                <c:formatCode>#,##0;"-"#,##0</c:formatCode>
                <c:ptCount val="12"/>
                <c:pt idx="0">
                  <c:v>-7.826086956521738</c:v>
                </c:pt>
                <c:pt idx="1">
                  <c:v>-38.99333333333333</c:v>
                </c:pt>
                <c:pt idx="2">
                  <c:v>4.1817392562581395</c:v>
                </c:pt>
                <c:pt idx="3">
                  <c:v>0.3434112180997913</c:v>
                </c:pt>
                <c:pt idx="4">
                  <c:v>10.954584404455868</c:v>
                </c:pt>
                <c:pt idx="5">
                  <c:v>54.245502842762605</c:v>
                </c:pt>
                <c:pt idx="6">
                  <c:v>37.24290927185272</c:v>
                </c:pt>
                <c:pt idx="7">
                  <c:v>45.33351996143019</c:v>
                </c:pt>
                <c:pt idx="8">
                  <c:v>-8.174809189880284</c:v>
                </c:pt>
                <c:pt idx="9">
                  <c:v>6.617537812379283</c:v>
                </c:pt>
                <c:pt idx="10">
                  <c:v>42.112632603175356</c:v>
                </c:pt>
                <c:pt idx="11">
                  <c:v>12.68588852038087</c:v>
                </c:pt>
              </c:numCache>
            </c:numRef>
          </c:yVal>
          <c:bubbleSize>
            <c:numRef>
              <c:f>Sheet1!$H$2:$H$13</c:f>
              <c:numCache>
                <c:formatCode>General</c:formatCode>
                <c:ptCount val="12"/>
                <c:pt idx="0">
                  <c:v>21176.49225216599</c:v>
                </c:pt>
                <c:pt idx="1">
                  <c:v>3785.9985360805663</c:v>
                </c:pt>
                <c:pt idx="2">
                  <c:v>7821.8697999999995</c:v>
                </c:pt>
                <c:pt idx="3">
                  <c:v>11784.824390166483</c:v>
                </c:pt>
                <c:pt idx="4">
                  <c:v>29175</c:v>
                </c:pt>
                <c:pt idx="5">
                  <c:v>10729</c:v>
                </c:pt>
                <c:pt idx="6">
                  <c:v>48232</c:v>
                </c:pt>
                <c:pt idx="7">
                  <c:v>64299</c:v>
                </c:pt>
                <c:pt idx="8">
                  <c:v>5162.2</c:v>
                </c:pt>
                <c:pt idx="9">
                  <c:v>33653</c:v>
                </c:pt>
                <c:pt idx="10">
                  <c:v>8427.4</c:v>
                </c:pt>
                <c:pt idx="11">
                  <c:v>37388</c:v>
                </c:pt>
              </c:numCache>
            </c:numRef>
          </c:bubbleSize>
          <c:bubble3D val="0"/>
        </c:ser>
        <c:ser>
          <c:idx val="2"/>
          <c:order val="2"/>
          <c:tx>
            <c:strRef>
              <c:f>Sheet1!$I$1</c:f>
              <c:strCache>
                <c:ptCount val="1"/>
                <c:pt idx="0">
                  <c:v>Source bucket 3 — mixed archetype operating margins</c:v>
                </c:pt>
              </c:strCache>
            </c:strRef>
          </c:tx>
          <c:spPr>
            <a:solidFill>
              <a:srgbClr val="27AE60"/>
            </a:solidFill>
            <a:ln w="3175" cmpd="sng" algn="ctr">
              <a:solidFill>
                <a:schemeClr val="tx1"/>
              </a:solidFill>
              <a:prstDash val="solid"/>
            </a:ln>
          </c:spPr>
          <c:invertIfNegative val="0"/>
          <c:dPt>
            <c:idx val="0"/>
            <c:invertIfNegative val="0"/>
            <c:bubble3D val="0"/>
            <c:spPr>
              <a:solidFill>
                <a:srgbClr val="C30C3E"/>
              </a:solidFill>
              <a:ln w="3175" cmpd="sng" algn="ctr">
                <a:solidFill>
                  <a:schemeClr val="tx1"/>
                </a:solidFill>
                <a:prstDash val="solid"/>
              </a:ln>
            </c:spPr>
          </c:dPt>
          <c:dPt>
            <c:idx val="1"/>
            <c:invertIfNegative val="0"/>
            <c:bubble3D val="0"/>
            <c:spPr>
              <a:solidFill>
                <a:srgbClr val="C30C3E"/>
              </a:solidFill>
              <a:ln w="3175" cmpd="sng" algn="ctr">
                <a:solidFill>
                  <a:schemeClr val="tx1"/>
                </a:solidFill>
                <a:prstDash val="solid"/>
              </a:ln>
            </c:spPr>
          </c:dPt>
          <c:dPt>
            <c:idx val="2"/>
            <c:invertIfNegative val="0"/>
            <c:bubble3D val="0"/>
            <c:spPr>
              <a:solidFill>
                <a:srgbClr val="C30C3E"/>
              </a:solidFill>
              <a:ln w="3175" cmpd="sng" algn="ctr">
                <a:solidFill>
                  <a:schemeClr val="tx1"/>
                </a:solidFill>
                <a:prstDash val="solid"/>
              </a:ln>
            </c:spPr>
          </c:dPt>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364D6E"/>
              </a:solidFill>
              <a:ln w="3175" cmpd="sng" algn="ctr">
                <a:solidFill>
                  <a:schemeClr val="tx1"/>
                </a:solidFill>
                <a:prstDash val="solid"/>
              </a:ln>
            </c:spPr>
          </c:dPt>
          <c:dPt>
            <c:idx val="5"/>
            <c:invertIfNegative val="0"/>
            <c:bubble3D val="0"/>
            <c:spPr>
              <a:solidFill>
                <a:srgbClr val="364D6E"/>
              </a:solidFill>
              <a:ln w="3175" cmpd="sng" algn="ctr">
                <a:solidFill>
                  <a:schemeClr val="tx1"/>
                </a:solidFill>
                <a:prstDash val="solid"/>
              </a:ln>
            </c:spPr>
          </c:dPt>
          <c:dPt>
            <c:idx val="6"/>
            <c:invertIfNegative val="0"/>
            <c:bubble3D val="0"/>
            <c:spPr>
              <a:solidFill>
                <a:srgbClr val="364D6E"/>
              </a:solidFill>
              <a:ln w="3175" cmpd="sng" algn="ctr">
                <a:solidFill>
                  <a:schemeClr val="tx1"/>
                </a:solidFill>
                <a:prstDash val="solid"/>
              </a:ln>
            </c:spPr>
          </c:dPt>
          <c:dPt>
            <c:idx val="7"/>
            <c:invertIfNegative val="0"/>
            <c:bubble3D val="0"/>
            <c:spPr>
              <a:solidFill>
                <a:srgbClr val="364D6E"/>
              </a:solidFill>
              <a:ln w="3175" cmpd="sng" algn="ctr">
                <a:solidFill>
                  <a:schemeClr val="tx1"/>
                </a:solidFill>
                <a:prstDash val="solid"/>
              </a:ln>
            </c:spPr>
          </c:dPt>
          <c:dPt>
            <c:idx val="8"/>
            <c:invertIfNegative val="0"/>
            <c:bubble3D val="0"/>
            <c:spPr>
              <a:solidFill>
                <a:srgbClr val="364D6E"/>
              </a:solidFill>
              <a:ln w="3175" cmpd="sng" algn="ctr">
                <a:solidFill>
                  <a:schemeClr val="tx1"/>
                </a:solidFill>
                <a:prstDash val="solid"/>
              </a:ln>
            </c:spPr>
          </c:dPt>
          <c:dPt>
            <c:idx val="9"/>
            <c:invertIfNegative val="0"/>
            <c:bubble3D val="0"/>
            <c:spPr>
              <a:solidFill>
                <a:srgbClr val="364D6E"/>
              </a:solidFill>
              <a:ln w="3175" cmpd="sng" algn="ctr">
                <a:solidFill>
                  <a:schemeClr val="tx1"/>
                </a:solidFill>
                <a:prstDash val="solid"/>
              </a:ln>
            </c:spPr>
          </c:dPt>
          <c:dPt>
            <c:idx val="10"/>
            <c:invertIfNegative val="0"/>
            <c:bubble3D val="0"/>
            <c:spPr>
              <a:solidFill>
                <a:srgbClr val="364D6E"/>
              </a:solidFill>
              <a:ln w="3175" cmpd="sng" algn="ctr">
                <a:solidFill>
                  <a:schemeClr val="tx1"/>
                </a:solidFill>
                <a:prstDash val="solid"/>
              </a:ln>
            </c:spPr>
          </c:dPt>
          <c:xVal>
            <c:numRef>
              <c:f>Sheet1!$J$2:$J$21</c:f>
              <c:numCache>
                <c:formatCode>General</c:formatCode>
                <c:ptCount val="20"/>
                <c:pt idx="0">
                  <c:v>2021</c:v>
                </c:pt>
                <c:pt idx="1">
                  <c:v>2022</c:v>
                </c:pt>
                <c:pt idx="2">
                  <c:v>2023</c:v>
                </c:pt>
                <c:pt idx="3">
                  <c:v>2024</c:v>
                </c:pt>
                <c:pt idx="4">
                  <c:v>2020</c:v>
                </c:pt>
                <c:pt idx="5">
                  <c:v>2020</c:v>
                </c:pt>
                <c:pt idx="6">
                  <c:v>2021</c:v>
                </c:pt>
                <c:pt idx="7">
                  <c:v>2022</c:v>
                </c:pt>
                <c:pt idx="8">
                  <c:v>2022</c:v>
                </c:pt>
                <c:pt idx="9">
                  <c:v>2023</c:v>
                </c:pt>
                <c:pt idx="10">
                  <c:v>2024</c:v>
                </c:pt>
                <c:pt idx="11">
                  <c:v>2021</c:v>
                </c:pt>
                <c:pt idx="12">
                  <c:v>2021</c:v>
                </c:pt>
                <c:pt idx="13">
                  <c:v>2022</c:v>
                </c:pt>
                <c:pt idx="14">
                  <c:v>2022</c:v>
                </c:pt>
                <c:pt idx="15">
                  <c:v>2022</c:v>
                </c:pt>
                <c:pt idx="16">
                  <c:v>2023</c:v>
                </c:pt>
                <c:pt idx="17">
                  <c:v>2023</c:v>
                </c:pt>
                <c:pt idx="18">
                  <c:v>2023</c:v>
                </c:pt>
                <c:pt idx="19">
                  <c:v>2024</c:v>
                </c:pt>
              </c:numCache>
            </c:numRef>
          </c:xVal>
          <c:yVal>
            <c:numRef>
              <c:f>Sheet1!$K$2:$K$21</c:f>
              <c:numCache>
                <c:formatCode>#,##0;"-"#,##0</c:formatCode>
                <c:ptCount val="20"/>
                <c:pt idx="0">
                  <c:v>7.840197254431562</c:v>
                </c:pt>
                <c:pt idx="1">
                  <c:v>-0.13365410318096765</c:v>
                </c:pt>
                <c:pt idx="2">
                  <c:v>3.0864197530864197</c:v>
                </c:pt>
                <c:pt idx="3">
                  <c:v>2.3054755043227666</c:v>
                </c:pt>
                <c:pt idx="4">
                  <c:v>18.261523046092183</c:v>
                </c:pt>
                <c:pt idx="5">
                  <c:v>10.297043287370515</c:v>
                </c:pt>
                <c:pt idx="6">
                  <c:v>42.15738351798452</c:v>
                </c:pt>
                <c:pt idx="7">
                  <c:v>36.14512215764826</c:v>
                </c:pt>
                <c:pt idx="8">
                  <c:v>50.73212274388066</c:v>
                </c:pt>
                <c:pt idx="9">
                  <c:v>14.143675169182718</c:v>
                </c:pt>
                <c:pt idx="10">
                  <c:v>13.392813131562084</c:v>
                </c:pt>
                <c:pt idx="11">
                  <c:v>51.92159420289856</c:v>
                </c:pt>
                <c:pt idx="12">
                  <c:v>55.61092637836599</c:v>
                </c:pt>
                <c:pt idx="13">
                  <c:v>65.80422960725076</c:v>
                </c:pt>
                <c:pt idx="14">
                  <c:v>59.455101588262075</c:v>
                </c:pt>
                <c:pt idx="15">
                  <c:v>14.103882746207253</c:v>
                </c:pt>
                <c:pt idx="16">
                  <c:v>59.61611909650924</c:v>
                </c:pt>
                <c:pt idx="17">
                  <c:v>30.965074903765107</c:v>
                </c:pt>
                <c:pt idx="18">
                  <c:v>21.258235671389425</c:v>
                </c:pt>
                <c:pt idx="19">
                  <c:v>22.182558229929164</c:v>
                </c:pt>
              </c:numCache>
            </c:numRef>
          </c:yVal>
          <c:bubbleSize>
            <c:numRef>
              <c:f>Sheet1!$L$2:$L$21</c:f>
              <c:numCache>
                <c:formatCode>General</c:formatCode>
                <c:ptCount val="20"/>
                <c:pt idx="0">
                  <c:v>1089.4355999999998</c:v>
                </c:pt>
                <c:pt idx="1">
                  <c:v>8004.243600000001</c:v>
                </c:pt>
                <c:pt idx="2">
                  <c:v>25097.40737584917</c:v>
                </c:pt>
                <c:pt idx="3">
                  <c:v>23479.89660725644</c:v>
                </c:pt>
                <c:pt idx="4">
                  <c:v>3992</c:v>
                </c:pt>
                <c:pt idx="5">
                  <c:v>14577</c:v>
                </c:pt>
                <c:pt idx="6">
                  <c:v>26356</c:v>
                </c:pt>
                <c:pt idx="7">
                  <c:v>3544.6</c:v>
                </c:pt>
                <c:pt idx="8">
                  <c:v>36401</c:v>
                </c:pt>
                <c:pt idx="9">
                  <c:v>19210</c:v>
                </c:pt>
                <c:pt idx="10">
                  <c:v>20287</c:v>
                </c:pt>
                <c:pt idx="11">
                  <c:v>690</c:v>
                </c:pt>
                <c:pt idx="12">
                  <c:v>793.639</c:v>
                </c:pt>
                <c:pt idx="13">
                  <c:v>993</c:v>
                </c:pt>
                <c:pt idx="14">
                  <c:v>1113.859</c:v>
                </c:pt>
                <c:pt idx="15">
                  <c:v>1555.6</c:v>
                </c:pt>
                <c:pt idx="16">
                  <c:v>974</c:v>
                </c:pt>
                <c:pt idx="17">
                  <c:v>1511.406</c:v>
                </c:pt>
                <c:pt idx="18">
                  <c:v>1715.1</c:v>
                </c:pt>
                <c:pt idx="19">
                  <c:v>2083.894</c:v>
                </c:pt>
              </c:numCache>
            </c:numRef>
          </c:bubbleSize>
          <c:bubble3D val="0"/>
        </c:ser>
        <c:ser>
          <c:idx val="3"/>
          <c:order val="3"/>
          <c:tx>
            <c:strRef>
              <c:f>Sheet1!$M$1</c:f>
              <c:strCache>
                <c:ptCount val="1"/>
                <c:pt idx="0">
                  <c:v>Source bucket 4 — owner-operator / integrated-terminal mix</c:v>
                </c:pt>
              </c:strCache>
            </c:strRef>
          </c:tx>
          <c:spPr>
            <a:solidFill>
              <a:srgbClr val="364D6E"/>
            </a:solidFill>
            <a:ln w="3175" cmpd="sng" algn="ctr">
              <a:solidFill>
                <a:schemeClr val="tx1"/>
              </a:solidFill>
              <a:prstDash val="solid"/>
            </a:ln>
          </c:spPr>
          <c:invertIfNegative val="0"/>
          <c:dPt>
            <c:idx val="0"/>
            <c:invertIfNegative val="0"/>
            <c:bubble3D val="0"/>
            <c:spPr>
              <a:solidFill>
                <a:srgbClr val="C30C3E"/>
              </a:solidFill>
              <a:ln w="3175" cmpd="sng" algn="ctr">
                <a:solidFill>
                  <a:schemeClr val="tx1"/>
                </a:solidFill>
                <a:prstDash val="solid"/>
              </a:ln>
            </c:spPr>
          </c:dPt>
          <c:dPt>
            <c:idx val="1"/>
            <c:invertIfNegative val="0"/>
            <c:bubble3D val="0"/>
            <c:spPr>
              <a:solidFill>
                <a:srgbClr val="C30C3E"/>
              </a:solidFill>
              <a:ln w="3175" cmpd="sng" algn="ctr">
                <a:solidFill>
                  <a:schemeClr val="tx1"/>
                </a:solidFill>
                <a:prstDash val="solid"/>
              </a:ln>
            </c:spPr>
          </c:dPt>
          <c:dPt>
            <c:idx val="2"/>
            <c:invertIfNegative val="0"/>
            <c:bubble3D val="0"/>
            <c:spPr>
              <a:solidFill>
                <a:srgbClr val="C30C3E"/>
              </a:solidFill>
              <a:ln w="3175" cmpd="sng" algn="ctr">
                <a:solidFill>
                  <a:schemeClr val="tx1"/>
                </a:solidFill>
                <a:prstDash val="solid"/>
              </a:ln>
            </c:spPr>
          </c:dPt>
          <c:dPt>
            <c:idx val="3"/>
            <c:invertIfNegative val="0"/>
            <c:bubble3D val="0"/>
            <c:spPr>
              <a:solidFill>
                <a:srgbClr val="C30C3E"/>
              </a:solidFill>
              <a:ln w="3175" cmpd="sng" algn="ctr">
                <a:solidFill>
                  <a:schemeClr val="tx1"/>
                </a:solidFill>
                <a:prstDash val="solid"/>
              </a:ln>
            </c:spPr>
          </c:dPt>
          <c:dPt>
            <c:idx val="9"/>
            <c:invertIfNegative val="0"/>
            <c:bubble3D val="0"/>
            <c:spPr>
              <a:solidFill>
                <a:srgbClr val="27AE60"/>
              </a:solidFill>
              <a:ln w="3175" cmpd="sng" algn="ctr">
                <a:solidFill>
                  <a:schemeClr val="tx1"/>
                </a:solidFill>
                <a:prstDash val="solid"/>
              </a:ln>
            </c:spPr>
          </c:dPt>
          <c:dPt>
            <c:idx val="10"/>
            <c:invertIfNegative val="0"/>
            <c:bubble3D val="0"/>
            <c:spPr>
              <a:solidFill>
                <a:srgbClr val="6F8DB9"/>
              </a:solidFill>
              <a:ln w="3175" cmpd="sng" algn="ctr">
                <a:solidFill>
                  <a:schemeClr val="tx1"/>
                </a:solidFill>
                <a:prstDash val="solid"/>
              </a:ln>
            </c:spPr>
          </c:dPt>
          <c:dPt>
            <c:idx val="11"/>
            <c:invertIfNegative val="0"/>
            <c:bubble3D val="0"/>
            <c:spPr>
              <a:solidFill>
                <a:srgbClr val="6F8DB9"/>
              </a:solidFill>
              <a:ln w="3175" cmpd="sng" algn="ctr">
                <a:solidFill>
                  <a:schemeClr val="tx1"/>
                </a:solidFill>
                <a:prstDash val="solid"/>
              </a:ln>
            </c:spPr>
          </c:dPt>
          <c:dPt>
            <c:idx val="12"/>
            <c:invertIfNegative val="0"/>
            <c:bubble3D val="0"/>
            <c:spPr>
              <a:solidFill>
                <a:srgbClr val="6F8DB9"/>
              </a:solidFill>
              <a:ln w="3175" cmpd="sng" algn="ctr">
                <a:solidFill>
                  <a:schemeClr val="tx1"/>
                </a:solidFill>
                <a:prstDash val="solid"/>
              </a:ln>
            </c:spPr>
          </c:dPt>
          <c:dPt>
            <c:idx val="13"/>
            <c:invertIfNegative val="0"/>
            <c:bubble3D val="0"/>
            <c:spPr>
              <a:solidFill>
                <a:srgbClr val="6F8DB9"/>
              </a:solidFill>
              <a:ln w="3175" cmpd="sng" algn="ctr">
                <a:solidFill>
                  <a:schemeClr val="tx1"/>
                </a:solidFill>
                <a:prstDash val="solid"/>
              </a:ln>
            </c:spPr>
          </c:dPt>
          <c:dPt>
            <c:idx val="14"/>
            <c:invertIfNegative val="0"/>
            <c:bubble3D val="0"/>
            <c:spPr>
              <a:solidFill>
                <a:srgbClr val="6F8DB9"/>
              </a:solidFill>
              <a:ln w="3175" cmpd="sng" algn="ctr">
                <a:solidFill>
                  <a:schemeClr val="tx1"/>
                </a:solidFill>
                <a:prstDash val="solid"/>
              </a:ln>
            </c:spPr>
          </c:dPt>
          <c:xVal>
            <c:numRef>
              <c:f>Sheet1!$N$2:$N$16</c:f>
              <c:numCache>
                <c:formatCode>General</c:formatCode>
                <c:ptCount val="15"/>
                <c:pt idx="0">
                  <c:v>2020</c:v>
                </c:pt>
                <c:pt idx="1">
                  <c:v>2022</c:v>
                </c:pt>
                <c:pt idx="2">
                  <c:v>2023</c:v>
                </c:pt>
                <c:pt idx="3">
                  <c:v>2024</c:v>
                </c:pt>
                <c:pt idx="4">
                  <c:v>2020</c:v>
                </c:pt>
                <c:pt idx="5">
                  <c:v>2021</c:v>
                </c:pt>
                <c:pt idx="6">
                  <c:v>2022</c:v>
                </c:pt>
                <c:pt idx="7">
                  <c:v>2023</c:v>
                </c:pt>
                <c:pt idx="8">
                  <c:v>2024</c:v>
                </c:pt>
                <c:pt idx="9">
                  <c:v>2020</c:v>
                </c:pt>
                <c:pt idx="10">
                  <c:v>2020</c:v>
                </c:pt>
                <c:pt idx="11">
                  <c:v>2021</c:v>
                </c:pt>
                <c:pt idx="12">
                  <c:v>2022</c:v>
                </c:pt>
                <c:pt idx="13">
                  <c:v>2023</c:v>
                </c:pt>
                <c:pt idx="14">
                  <c:v>2024</c:v>
                </c:pt>
              </c:numCache>
            </c:numRef>
          </c:xVal>
          <c:yVal>
            <c:numRef>
              <c:f>Sheet1!$O$2:$O$16</c:f>
              <c:numCache>
                <c:formatCode>#,##0;"-"#,##0</c:formatCode>
                <c:ptCount val="15"/>
                <c:pt idx="0">
                  <c:v>2.517434937914611</c:v>
                </c:pt>
                <c:pt idx="1">
                  <c:v>3.845388188453882</c:v>
                </c:pt>
                <c:pt idx="2">
                  <c:v>1.324192336589031</c:v>
                </c:pt>
                <c:pt idx="3">
                  <c:v>5.615161719790116</c:v>
                </c:pt>
                <c:pt idx="4">
                  <c:v>13.204595717136847</c:v>
                </c:pt>
                <c:pt idx="5">
                  <c:v>36.315755873340144</c:v>
                </c:pt>
                <c:pt idx="6">
                  <c:v>48.91892752515603</c:v>
                </c:pt>
                <c:pt idx="7">
                  <c:v>11.90149374243036</c:v>
                </c:pt>
                <c:pt idx="8">
                  <c:v>17.827526070398974</c:v>
                </c:pt>
                <c:pt idx="9">
                  <c:v>13.105694094747339</c:v>
                </c:pt>
                <c:pt idx="10">
                  <c:v>31.652219595482006</c:v>
                </c:pt>
                <c:pt idx="11">
                  <c:v>29.325000000000003</c:v>
                </c:pt>
                <c:pt idx="12">
                  <c:v>19.03454587051018</c:v>
                </c:pt>
                <c:pt idx="13">
                  <c:v>25.494276795005206</c:v>
                </c:pt>
                <c:pt idx="14">
                  <c:v>29.764837625979844</c:v>
                </c:pt>
              </c:numCache>
            </c:numRef>
          </c:yVal>
          <c:bubbleSize>
            <c:numRef>
              <c:f>Sheet1!$P$2:$P$16</c:f>
              <c:numCache>
                <c:formatCode>General</c:formatCode>
                <c:ptCount val="15"/>
                <c:pt idx="0">
                  <c:v>7190.017000000001</c:v>
                </c:pt>
                <c:pt idx="1">
                  <c:v>1025.5135</c:v>
                </c:pt>
                <c:pt idx="2">
                  <c:v>16496.1230702495</c:v>
                </c:pt>
                <c:pt idx="3">
                  <c:v>17280.39191804366</c:v>
                </c:pt>
                <c:pt idx="4">
                  <c:v>1853.9</c:v>
                </c:pt>
                <c:pt idx="5">
                  <c:v>3132.8</c:v>
                </c:pt>
                <c:pt idx="6">
                  <c:v>12561.6</c:v>
                </c:pt>
                <c:pt idx="7">
                  <c:v>2477</c:v>
                </c:pt>
                <c:pt idx="8">
                  <c:v>2809.7</c:v>
                </c:pt>
                <c:pt idx="9">
                  <c:v>460.319</c:v>
                </c:pt>
                <c:pt idx="10">
                  <c:v>3807</c:v>
                </c:pt>
                <c:pt idx="11">
                  <c:v>4000</c:v>
                </c:pt>
                <c:pt idx="12">
                  <c:v>4371</c:v>
                </c:pt>
                <c:pt idx="13">
                  <c:v>3844</c:v>
                </c:pt>
                <c:pt idx="14">
                  <c:v>4465</c:v>
                </c:pt>
              </c:numCache>
            </c:numRef>
          </c:bubbleSize>
          <c:bubble3D val="0"/>
        </c:ser>
        <c:ser>
          <c:idx val="4"/>
          <c:order val="4"/>
          <c:tx>
            <c:strRef>
              <c:f>Sheet1!$Q$1</c:f>
              <c:strCache>
                <c:ptCount val="1"/>
                <c:pt idx="0">
                  <c:v>Source bucket 5 — standalone-terminal pattern bucket</c:v>
                </c:pt>
              </c:strCache>
            </c:strRef>
          </c:tx>
          <c:spPr>
            <a:pattFill prst="pct50">
              <a:fgClr>
                <a:schemeClr val="tx1"/>
              </a:fgClr>
              <a:bgClr>
                <a:schemeClr val="bg1"/>
              </a:bgClr>
            </a:pattFill>
            <a:ln w="3175" cmpd="sng" algn="ctr">
              <a:solidFill>
                <a:schemeClr val="tx1"/>
              </a:solidFill>
              <a:prstDash val="solid"/>
            </a:ln>
          </c:spPr>
          <c:invertIfNegative val="0"/>
          <c:dPt>
            <c:idx val="0"/>
            <c:invertIfNegative val="0"/>
            <c:bubble3D val="0"/>
            <c:spPr>
              <a:solidFill>
                <a:srgbClr val="C30C3E"/>
              </a:solidFill>
              <a:ln w="3175" cmpd="sng" algn="ctr">
                <a:solidFill>
                  <a:schemeClr val="tx1"/>
                </a:solidFill>
                <a:prstDash val="solid"/>
              </a:ln>
            </c:spPr>
          </c:dPt>
          <c:dPt>
            <c:idx val="1"/>
            <c:invertIfNegative val="0"/>
            <c:bubble3D val="0"/>
            <c:spPr>
              <a:solidFill>
                <a:srgbClr val="C30C3E"/>
              </a:solidFill>
              <a:ln w="3175" cmpd="sng" algn="ctr">
                <a:solidFill>
                  <a:schemeClr val="tx1"/>
                </a:solidFill>
                <a:prstDash val="solid"/>
              </a:ln>
            </c:spPr>
          </c:dPt>
          <c:dPt>
            <c:idx val="2"/>
            <c:invertIfNegative val="0"/>
            <c:bubble3D val="0"/>
            <c:spPr>
              <a:solidFill>
                <a:srgbClr val="C30C3E"/>
              </a:solidFill>
              <a:ln w="3175" cmpd="sng" algn="ctr">
                <a:solidFill>
                  <a:schemeClr val="tx1"/>
                </a:solidFill>
                <a:prstDash val="solid"/>
              </a:ln>
            </c:spPr>
          </c:dPt>
          <c:dPt>
            <c:idx val="3"/>
            <c:invertIfNegative val="0"/>
            <c:bubble3D val="0"/>
            <c:spPr>
              <a:solidFill>
                <a:srgbClr val="27AE60"/>
              </a:solidFill>
              <a:ln w="3175" cmpd="sng" algn="ctr">
                <a:solidFill>
                  <a:schemeClr val="tx1"/>
                </a:solidFill>
                <a:prstDash val="solid"/>
              </a:ln>
            </c:spPr>
          </c:dPt>
          <c:xVal>
            <c:numRef>
              <c:f>Sheet1!$R$2:$R$15</c:f>
              <c:numCache>
                <c:formatCode>General</c:formatCode>
                <c:ptCount val="14"/>
                <c:pt idx="0">
                  <c:v>2020</c:v>
                </c:pt>
                <c:pt idx="1">
                  <c:v>2023</c:v>
                </c:pt>
                <c:pt idx="2">
                  <c:v>2024</c:v>
                </c:pt>
                <c:pt idx="3">
                  <c:v>2024</c:v>
                </c:pt>
                <c:pt idx="4">
                  <c:v>2020</c:v>
                </c:pt>
                <c:pt idx="5">
                  <c:v>2020</c:v>
                </c:pt>
                <c:pt idx="6">
                  <c:v>2021</c:v>
                </c:pt>
                <c:pt idx="7">
                  <c:v>2021</c:v>
                </c:pt>
                <c:pt idx="8">
                  <c:v>2022</c:v>
                </c:pt>
                <c:pt idx="9">
                  <c:v>2022</c:v>
                </c:pt>
                <c:pt idx="10">
                  <c:v>2023</c:v>
                </c:pt>
                <c:pt idx="11">
                  <c:v>2023</c:v>
                </c:pt>
                <c:pt idx="12">
                  <c:v>2024</c:v>
                </c:pt>
                <c:pt idx="13">
                  <c:v>2024</c:v>
                </c:pt>
              </c:numCache>
            </c:numRef>
          </c:xVal>
          <c:yVal>
            <c:numRef>
              <c:f>Sheet1!$S$2:$S$15</c:f>
              <c:numCache>
                <c:formatCode>#,##0;"-"#,##0</c:formatCode>
                <c:ptCount val="14"/>
                <c:pt idx="0">
                  <c:v>2.1914285714285713</c:v>
                </c:pt>
                <c:pt idx="1">
                  <c:v>3.2152659783034894</c:v>
                </c:pt>
                <c:pt idx="2">
                  <c:v>1.9931102362204725</c:v>
                </c:pt>
                <c:pt idx="3">
                  <c:v>27.35885788449059</c:v>
                </c:pt>
                <c:pt idx="4">
                  <c:v>32.75701021875992</c:v>
                </c:pt>
                <c:pt idx="5">
                  <c:v>42.955828628362674</c:v>
                </c:pt>
                <c:pt idx="6">
                  <c:v>40.61280117184256</c:v>
                </c:pt>
                <c:pt idx="7">
                  <c:v>47.833780160857906</c:v>
                </c:pt>
                <c:pt idx="8">
                  <c:v>35.1868290838553</c:v>
                </c:pt>
                <c:pt idx="9">
                  <c:v>50.92657155595185</c:v>
                </c:pt>
                <c:pt idx="10">
                  <c:v>31.215682587438888</c:v>
                </c:pt>
                <c:pt idx="11">
                  <c:v>50.728753109918834</c:v>
                </c:pt>
                <c:pt idx="12">
                  <c:v>37.84991786980203</c:v>
                </c:pt>
                <c:pt idx="13">
                  <c:v>53.95908194270246</c:v>
                </c:pt>
              </c:numCache>
            </c:numRef>
          </c:yVal>
          <c:bubbleSize>
            <c:numRef>
              <c:f>Sheet1!$T$2:$T$15</c:f>
              <c:numCache>
                <c:formatCode>General</c:formatCode>
                <c:ptCount val="14"/>
                <c:pt idx="0">
                  <c:v>6445.019381093996</c:v>
                </c:pt>
                <c:pt idx="1">
                  <c:v>8463.5362</c:v>
                </c:pt>
                <c:pt idx="2">
                  <c:v>8413.2928</c:v>
                </c:pt>
                <c:pt idx="3">
                  <c:v>2311.5</c:v>
                </c:pt>
                <c:pt idx="4">
                  <c:v>1380.7877834240462</c:v>
                </c:pt>
                <c:pt idx="5">
                  <c:v>1505.5</c:v>
                </c:pt>
                <c:pt idx="6">
                  <c:v>1698.04861787784</c:v>
                </c:pt>
                <c:pt idx="7">
                  <c:v>1865</c:v>
                </c:pt>
                <c:pt idx="8">
                  <c:v>1559.4693328206115</c:v>
                </c:pt>
                <c:pt idx="9">
                  <c:v>2243</c:v>
                </c:pt>
                <c:pt idx="10">
                  <c:v>1361.686873471687</c:v>
                </c:pt>
                <c:pt idx="11">
                  <c:v>2388.326</c:v>
                </c:pt>
                <c:pt idx="12">
                  <c:v>1489.1151821002356</c:v>
                </c:pt>
                <c:pt idx="13">
                  <c:v>2739.524</c:v>
                </c:pt>
              </c:numCache>
            </c:numRef>
          </c:bubbleSize>
          <c:bubble3D val="0"/>
        </c:ser>
        <c:ser>
          <c:idx val="5"/>
          <c:order val="5"/>
          <c:tx>
            <c:strRef>
              <c:f>Sheet1!$U$1</c:f>
              <c:strCache>
                <c:ptCount val="1"/>
                <c:pt idx="0">
                  <c:v>Source bucket 6 — shipbuilder / charter mix</c:v>
                </c:pt>
              </c:strCache>
            </c:strRef>
          </c:tx>
          <c:spPr>
            <a:solidFill>
              <a:srgbClr val="C30C3E"/>
            </a:solidFill>
            <a:ln w="3175" cmpd="sng" algn="ctr">
              <a:solidFill>
                <a:schemeClr val="tx1"/>
              </a:solidFill>
              <a:prstDash val="solid"/>
            </a:ln>
          </c:spPr>
          <c:invertIfNegative val="0"/>
          <c:dPt>
            <c:idx val="3"/>
            <c:invertIfNegative val="0"/>
            <c:bubble3D val="0"/>
            <c:spPr>
              <a:solidFill>
                <a:srgbClr val="27AE60"/>
              </a:solidFill>
              <a:ln w="3175" cmpd="sng" algn="ctr">
                <a:solidFill>
                  <a:schemeClr val="tx1"/>
                </a:solidFill>
                <a:prstDash val="solid"/>
              </a:ln>
            </c:spPr>
          </c:dPt>
          <c:dPt>
            <c:idx val="4"/>
            <c:invertIfNegative val="0"/>
            <c:bubble3D val="0"/>
            <c:spPr>
              <a:solidFill>
                <a:srgbClr val="27AE60"/>
              </a:solidFill>
              <a:ln w="3175" cmpd="sng" algn="ctr">
                <a:solidFill>
                  <a:schemeClr val="tx1"/>
                </a:solidFill>
                <a:prstDash val="solid"/>
              </a:ln>
            </c:spPr>
          </c:dPt>
          <c:dPt>
            <c:idx val="5"/>
            <c:invertIfNegative val="0"/>
            <c:bubble3D val="0"/>
            <c:spPr>
              <a:solidFill>
                <a:srgbClr val="27AE60"/>
              </a:solidFill>
              <a:ln w="3175" cmpd="sng" algn="ctr">
                <a:solidFill>
                  <a:schemeClr val="tx1"/>
                </a:solidFill>
                <a:prstDash val="solid"/>
              </a:ln>
            </c:spPr>
          </c:dPt>
          <c:xVal>
            <c:numRef>
              <c:f>Sheet1!$V$2:$V$7</c:f>
              <c:numCache>
                <c:formatCode>General</c:formatCode>
                <c:ptCount val="6"/>
                <c:pt idx="0">
                  <c:v>2020</c:v>
                </c:pt>
                <c:pt idx="1">
                  <c:v>2023</c:v>
                </c:pt>
                <c:pt idx="2">
                  <c:v>2024</c:v>
                </c:pt>
                <c:pt idx="3">
                  <c:v>2020</c:v>
                </c:pt>
                <c:pt idx="4">
                  <c:v>2021</c:v>
                </c:pt>
                <c:pt idx="5">
                  <c:v>2024</c:v>
                </c:pt>
              </c:numCache>
            </c:numRef>
          </c:xVal>
          <c:yVal>
            <c:numRef>
              <c:f>Sheet1!$W$2:$W$7</c:f>
              <c:numCache>
                <c:formatCode>#,##0;"-"#,##0</c:formatCode>
                <c:ptCount val="6"/>
                <c:pt idx="0">
                  <c:v>6.697282816685799</c:v>
                </c:pt>
                <c:pt idx="1">
                  <c:v>2.6524303821389523</c:v>
                </c:pt>
                <c:pt idx="2">
                  <c:v>2.206755753526355</c:v>
                </c:pt>
                <c:pt idx="3">
                  <c:v>42.43581410464738</c:v>
                </c:pt>
                <c:pt idx="4">
                  <c:v>47.85417941916616</c:v>
                </c:pt>
                <c:pt idx="5">
                  <c:v>53.34161735700197</c:v>
                </c:pt>
              </c:numCache>
            </c:numRef>
          </c:yVal>
          <c:bubbleSize>
            <c:numRef>
              <c:f>Sheet1!$X$2:$X$7</c:f>
              <c:numCache>
                <c:formatCode>General</c:formatCode>
                <c:ptCount val="6"/>
                <c:pt idx="0">
                  <c:v>1410.0531899999999</c:v>
                </c:pt>
                <c:pt idx="1">
                  <c:v>5738.553180941462</c:v>
                </c:pt>
                <c:pt idx="2">
                  <c:v>7291.6243757866105</c:v>
                </c:pt>
                <c:pt idx="3">
                  <c:v>1230.8</c:v>
                </c:pt>
                <c:pt idx="4">
                  <c:v>1470.3</c:v>
                </c:pt>
                <c:pt idx="5">
                  <c:v>1014</c:v>
                </c:pt>
              </c:numCache>
            </c:numRef>
          </c:bubbleSize>
          <c:bubble3D val="0"/>
        </c:ser>
        <c:ser>
          <c:idx val="6"/>
          <c:order val="6"/>
          <c:tx>
            <c:strRef>
              <c:f>Sheet1!$Y$1</c:f>
              <c:strCache>
                <c:ptCount val="1"/>
                <c:pt idx="0">
                  <c:v>Source bucket 7 — shipbuilder / charter residuals</c:v>
                </c:pt>
              </c:strCache>
            </c:strRef>
          </c:tx>
          <c:spPr>
            <a:solidFill>
              <a:srgbClr val="C30C3E"/>
            </a:solidFill>
            <a:ln w="3175" cmpd="sng" algn="ctr">
              <a:solidFill>
                <a:schemeClr val="tx1"/>
              </a:solidFill>
              <a:prstDash val="solid"/>
            </a:ln>
          </c:spPr>
          <c:invertIfNegative val="0"/>
          <c:dPt>
            <c:idx val="2"/>
            <c:invertIfNegative val="0"/>
            <c:bubble3D val="0"/>
            <c:spPr>
              <a:solidFill>
                <a:srgbClr val="27AE60"/>
              </a:solidFill>
              <a:ln w="3175" cmpd="sng" algn="ctr">
                <a:solidFill>
                  <a:schemeClr val="tx1"/>
                </a:solidFill>
                <a:prstDash val="solid"/>
              </a:ln>
            </c:spPr>
          </c:dPt>
          <c:xVal>
            <c:numRef>
              <c:f>Sheet1!$Z$2:$Z$4</c:f>
              <c:numCache>
                <c:formatCode>General</c:formatCode>
                <c:ptCount val="3"/>
                <c:pt idx="0">
                  <c:v>2023</c:v>
                </c:pt>
                <c:pt idx="1">
                  <c:v>2024</c:v>
                </c:pt>
                <c:pt idx="2">
                  <c:v>2020</c:v>
                </c:pt>
              </c:numCache>
            </c:numRef>
          </c:xVal>
          <c:yVal>
            <c:numRef>
              <c:f>Sheet1!$AA$2:$AA$4</c:f>
              <c:numCache>
                <c:formatCode>#,##0;"-"#,##0</c:formatCode>
                <c:ptCount val="3"/>
                <c:pt idx="0">
                  <c:v>1.7566688353936235</c:v>
                </c:pt>
                <c:pt idx="1">
                  <c:v>5.16068282607375</c:v>
                </c:pt>
                <c:pt idx="2">
                  <c:v>43.17748917748918</c:v>
                </c:pt>
              </c:numCache>
            </c:numRef>
          </c:yVal>
          <c:bubbleSize>
            <c:numRef>
              <c:f>Sheet1!$AB$2:$AB$4</c:f>
              <c:numCache>
                <c:formatCode>General</c:formatCode>
                <c:ptCount val="3"/>
                <c:pt idx="0">
                  <c:v>1049.4636</c:v>
                </c:pt>
                <c:pt idx="1">
                  <c:v>1018.11285</c:v>
                </c:pt>
                <c:pt idx="2">
                  <c:v>462</c:v>
                </c:pt>
              </c:numCache>
            </c:numRef>
          </c:bubbleSize>
          <c:bubble3D val="0"/>
        </c:ser>
        <c:bubbleScale val="66"/>
        <c:showNegBubbles val="0"/>
        <c:axId val="555555555"/>
        <c:axId val="666666666"/>
      </c:bubbleChart>
      <c:valAx>
        <c:axId val="555555555"/>
        <c:scaling>
          <c:orientation val="minMax"/>
          <c:max val="2025"/>
          <c:min val="2019"/>
        </c:scaling>
        <c:delete val="0"/>
        <c:axPos val="b"/>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652866242038217"/>
          <c:w val="0.9261618306204293"/>
          <c:h val="0.8869426751592356"/>
        </c:manualLayout>
      </c:layout>
      <c:barChart>
        <c:barDir val="col"/>
        <c:grouping val="stacked"/>
        <c:varyColors val="0"/>
        <c:ser>
          <c:idx val="0"/>
          <c:order val="0"/>
          <c:tx>
            <c:strRef>
              <c:f>Sheet1!$B$1</c:f>
              <c:strCache>
                <c:ptCount val="1"/>
                <c:pt idx="0">
                  <c:v>Source workbook row 1</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9DB1CF"/>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4C6C9C"/>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ser>
        <c:ser>
          <c:idx val="1"/>
          <c:order val="1"/>
          <c:tx>
            <c:strRef>
              <c:f>Sheet1!$C$1</c:f>
              <c:strCache>
                <c:ptCount val="1"/>
                <c:pt idx="0">
                  <c:v>Source workbook row 2</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35"/>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
          <c:y val="0.03"/>
          <c:w val="0.955"/>
          <c:h val="0.925"/>
        </c:manualLayout>
      </c:layout>
      <c:barChart>
        <c:barDir val="bar"/>
        <c:grouping val="cluster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95"/>
        <c:overlap val="0"/>
        <c:axId val="111111111"/>
        <c:axId val="222222222"/>
      </c:barChart>
      <c:catAx>
        <c:axId val="111111111"/>
        <c:scaling>
          <c:orientation val="maxMin"/>
        </c:scaling>
        <c:delete val="0"/>
        <c:axPos val="l"/>
        <c:numFmt formatCode="General" sourceLinked="1"/>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5"/>
          <c:y val="0.015"/>
          <c:w val="0.95"/>
          <c:h val="0.93"/>
        </c:manualLayout>
      </c:layout>
      <c:barChart>
        <c:barDir val="col"/>
        <c:grouping val="stacked"/>
        <c:varyColors val="0"/>
        <c:ser>
          <c:idx val="0"/>
          <c:order val="0"/>
          <c:tx>
            <c:strRef>
              <c:f>Sheet1!$B$1</c:f>
              <c:strCache>
                <c:ptCount val="1"/>
                <c:pt idx="0">
                  <c:v>Addressable Commercial Orderbook / Retirements</c:v>
                </c:pt>
              </c:strCache>
            </c:strRef>
          </c:tx>
          <c:spPr>
            <a:solidFill>
              <a:srgbClr val="00777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Addressable Offshore Retirements</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Addressable Offshore Orderbook</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88"/>
        <c:overlap val="100"/>
        <c:axId val="111111111"/>
        <c:axId val="222222222"/>
      </c:barChart>
      <c:catAx>
        <c:axId val="111111111"/>
        <c:scaling>
          <c:orientation val="minMax"/>
        </c:scaling>
        <c:delete val="0"/>
        <c:axPos val="b"/>
        <c:numFmt formatCode="General" sourceLinked="1"/>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majorGridlines>
          <c:spPr>
            <a:ln w="3175" cap="flat">
              <a:solidFill>
                <a:srgbClr val="D9D9D9"/>
              </a:solidFill>
              <a:prstDash val="solid"/>
            </a:ln>
          </c:spPr>
        </c:majorGridlines>
        <c:numFmt formatCode="0" sourceLinked="0"/>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8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 Id="rId3" Type="http://schemas.openxmlformats.org/officeDocument/2006/relationships/image" Target="../media/image6_3071a23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prstDash val="dash"/>
            <a:tailEnd type="triangle" w="med" len="med"/>
          </a:ln>
        </p:spPr>
      </p:cxnSp>
      <p:cxnSp>
        <p:nvCxnSpPr>
          <p:cNvPr id="118" name="LegendLineRule"/>
          <p:cNvCxnSpPr/>
          <p:nvPr/>
        </p:nvCxnSpPr>
        <p:spPr>
          <a:xfrm>
            <a:off x="1000354" y="2460650"/>
            <a:ext cx="150876" cy="0"/>
          </a:xfrm>
          <a:prstGeom prst="line">
            <a:avLst/>
          </a:prstGeom>
          <a:ln w="28575">
            <a:solidFill>
              <a:srgbClr val="007770"/>
            </a:solidFill>
            <a:prstDash val="dash"/>
            <a:tailEnd type="triangle" w="med" len="med"/>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FRED (PCE)</a:t>
            </a:r>
          </a:p>
        </p:txBody>
      </p:sp>
      <p:sp>
        <p:nvSpPr>
          <p:cNvPr id="123"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OrderbookEvidenceBand"/>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2468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1" name="YearTickLabel"/>
          <p:cNvSpPr txBox="1"/>
          <p:nvPr/>
        </p:nvSpPr>
        <p:spPr>
          <a:xfrm>
            <a:off x="54955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2" name="YearTickLabel"/>
          <p:cNvSpPr txBox="1"/>
          <p:nvPr/>
        </p:nvSpPr>
        <p:spPr>
          <a:xfrm>
            <a:off x="57451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3" name="YearTickLabel"/>
          <p:cNvSpPr txBox="1"/>
          <p:nvPr/>
        </p:nvSpPr>
        <p:spPr>
          <a:xfrm>
            <a:off x="59948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4" name="YearTickLabel"/>
          <p:cNvSpPr txBox="1"/>
          <p:nvPr/>
        </p:nvSpPr>
        <p:spPr>
          <a:xfrm>
            <a:off x="62435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5" name="YearTickLabel"/>
          <p:cNvSpPr txBox="1"/>
          <p:nvPr/>
        </p:nvSpPr>
        <p:spPr>
          <a:xfrm>
            <a:off x="64931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6" name="YearTickLabel"/>
          <p:cNvSpPr txBox="1"/>
          <p:nvPr/>
        </p:nvSpPr>
        <p:spPr>
          <a:xfrm>
            <a:off x="674187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7" name="NetHull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28" name="NetHullLabel"/>
          <p:cNvSpPr txBox="1"/>
          <p:nvPr/>
        </p:nvSpPr>
        <p:spPr>
          <a:xfrm>
            <a:off x="1010412" y="2979115"/>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a:t>
            </a:r>
          </a:p>
        </p:txBody>
      </p:sp>
      <p:sp>
        <p:nvSpPr>
          <p:cNvPr id="129" name="NetHull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30" name="NetHull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1" name="NetHull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2" name="NetHull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3" name="NetHull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4" name="NetHull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35" name="NetHull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6" name="NetHull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7" name="NetHull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a:t>
            </a:r>
          </a:p>
        </p:txBody>
      </p:sp>
      <p:sp>
        <p:nvSpPr>
          <p:cNvPr id="138" name="NetHull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9" name="NetHull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-13</a:t>
            </a:r>
          </a:p>
        </p:txBody>
      </p:sp>
      <p:sp>
        <p:nvSpPr>
          <p:cNvPr id="140" name="NetHull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1" name="NetHull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42" name="NetHull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-6</a:t>
            </a:r>
          </a:p>
        </p:txBody>
      </p:sp>
      <p:sp>
        <p:nvSpPr>
          <p:cNvPr id="143" name="NetHull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Hull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5" name="NetHull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-28</a:t>
            </a:r>
          </a:p>
        </p:txBody>
      </p:sp>
      <p:sp>
        <p:nvSpPr>
          <p:cNvPr id="146" name="NetHullLabel"/>
          <p:cNvSpPr txBox="1"/>
          <p:nvPr/>
        </p:nvSpPr>
        <p:spPr>
          <a:xfrm>
            <a:off x="5463540" y="407913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-17</a:t>
            </a:r>
          </a:p>
        </p:txBody>
      </p:sp>
      <p:sp>
        <p:nvSpPr>
          <p:cNvPr id="147" name="NetHullLabel"/>
          <p:cNvSpPr txBox="1"/>
          <p:nvPr/>
        </p:nvSpPr>
        <p:spPr>
          <a:xfrm>
            <a:off x="5747918" y="3450946"/>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a:t>
            </a:r>
          </a:p>
        </p:txBody>
      </p:sp>
      <p:sp>
        <p:nvSpPr>
          <p:cNvPr id="148" name="NetHullLabel"/>
          <p:cNvSpPr txBox="1"/>
          <p:nvPr/>
        </p:nvSpPr>
        <p:spPr>
          <a:xfrm>
            <a:off x="5997550"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49" name="NetHullLabel"/>
          <p:cNvSpPr txBox="1"/>
          <p:nvPr/>
        </p:nvSpPr>
        <p:spPr>
          <a:xfrm>
            <a:off x="6246266"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50" name="NetHullLabel"/>
          <p:cNvSpPr txBox="1"/>
          <p:nvPr/>
        </p:nvSpPr>
        <p:spPr>
          <a:xfrm>
            <a:off x="6495898" y="290047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51" name="NetHullLabel"/>
          <p:cNvSpPr txBox="1"/>
          <p:nvPr/>
        </p:nvSpPr>
        <p:spPr>
          <a:xfrm>
            <a:off x="6744614" y="2821838"/>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52" name="ChartTitle"/>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graphicFrame>
        <p:nvGraphicFramePr>
          <p:cNvPr id="153" name="RetirementReplacementsTable"/>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4" name="NetHullsCallout"/>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55" name="LegendSwatch"/>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Label"/>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8" name="LegendLabel"/>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9"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60" name="RetirementBacklogCallout"/>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61"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7770"/>
                </a:solidFill>
                <a:latin typeface="Arial"/>
                <a:ea typeface="Arial"/>
                <a:cs typeface="Arial"/>
              </a:rPr>
              <a:t>#</a:t>
            </a:r>
          </a:p>
        </p:txBody>
      </p:sp>
      <p:sp>
        <p:nvSpPr>
          <p:cNvPr id="162"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Supports serial production</a:t>
            </a:r>
          </a:p>
        </p:txBody>
      </p:sp>
      <p:sp>
        <p:nvSpPr>
          <p:cNvPr id="163"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0000"/>
                </a:solidFill>
                <a:latin typeface="Arial"/>
                <a:ea typeface="Arial"/>
                <a:cs typeface="Arial"/>
              </a:rPr>
              <a:t>#</a:t>
            </a:r>
          </a:p>
        </p:txBody>
      </p:sp>
      <p:sp>
        <p:nvSpPr>
          <p:cNvPr id="164"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Potentially supports serial production</a:t>
            </a:r>
          </a:p>
        </p:txBody>
      </p:sp>
      <p:sp>
        <p:nvSpPr>
          <p:cNvPr id="165" name="TakeawayBanner"/>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166"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180"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sp>
        <p:nvSpPr>
          <p:cNvPr id="132"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sp>
        <p:nvSpPr>
          <p:cNvPr id="133"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4"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5"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6"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7" name="Connector: Elbow 137"/>
          <p:cNvCxnSpPr/>
          <p:nvPr/>
        </p:nvCxnSpPr>
        <p:spPr>
          <a:xfrm flipV="1">
            <a:off x="4760366" y="2509114"/>
            <a:ext cx="3237890" cy="261518"/>
          </a:xfrm>
          <a:prstGeom prst="bentConnector3">
            <a:avLst/>
          </a:prstGeom>
          <a:ln w="12700">
            <a:solidFill>
              <a:srgbClr val="000000"/>
            </a:solidFill>
            <a:tailEnd type="triangle" w="med" len="med"/>
          </a:ln>
        </p:spPr>
      </p:cxnSp>
      <p:cxnSp>
        <p:nvCxnSpPr>
          <p:cNvPr id="138" name="Straight Arrow Connector 147"/>
          <p:cNvCxnSpPr/>
          <p:nvPr/>
        </p:nvCxnSpPr>
        <p:spPr>
          <a:xfrm flipV="1">
            <a:off x="1747418" y="2393899"/>
            <a:ext cx="0" cy="230429"/>
          </a:xfrm>
          <a:prstGeom prst="line">
            <a:avLst/>
          </a:prstGeom>
          <a:ln w="12700">
            <a:solidFill>
              <a:srgbClr val="000000"/>
            </a:solidFill>
            <a:tailEnd type="triangle" w="med" len="med"/>
          </a:ln>
        </p:spPr>
      </p:cxnSp>
      <p:cxnSp>
        <p:nvCxnSpPr>
          <p:cNvPr id="139" name="Straight Arrow Connector 189"/>
          <p:cNvCxnSpPr/>
          <p:nvPr/>
        </p:nvCxnSpPr>
        <p:spPr>
          <a:xfrm flipV="1">
            <a:off x="5253228" y="5565953"/>
            <a:ext cx="0" cy="516636"/>
          </a:xfrm>
          <a:prstGeom prst="line">
            <a:avLst/>
          </a:prstGeom>
          <a:ln w="12700">
            <a:solidFill>
              <a:srgbClr val="000000"/>
            </a:solidFill>
            <a:tailEnd type="triangle" w="med" len="med"/>
          </a:ln>
        </p:spPr>
      </p:cxnSp>
      <p:cxnSp>
        <p:nvCxnSpPr>
          <p:cNvPr id="140"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1"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sp>
        <p:nvSpPr>
          <p:cNvPr id="142"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3" name="Connector: Elbow 204"/>
          <p:cNvCxnSpPr/>
          <p:nvPr/>
        </p:nvCxnSpPr>
        <p:spPr>
          <a:xfrm flipV="1">
            <a:off x="9908438" y="5565953"/>
            <a:ext cx="914400" cy="640080"/>
          </a:xfrm>
          <a:prstGeom prst="bentConnector2">
            <a:avLst/>
          </a:prstGeom>
          <a:ln w="12700">
            <a:solidFill>
              <a:srgbClr val="000000"/>
            </a:solidFill>
            <a:tailEnd type="triangle" w="med" len="med"/>
          </a:ln>
        </p:spPr>
      </p:cxn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rPr>
              <a:t>46 USC 8103</a:t>
            </a:r>
            <a:r>
              <a:rPr lang="en-US" sz="800" i="1" dirty="0">
                <a:solidFill>
                  <a:srgbClr val="000000"/>
                </a:solidFill>
                <a:latin typeface="Arial"/>
                <a:ea typeface="Arial"/>
                <a:cs typeface="Arial"/>
              </a:rPr>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IAMD (OBBBA and SHIELD)</a:t>
            </a: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dash"/>
            <a:tailEnd type="triangle" w="med" len="med"/>
          </a:ln>
        </p:spPr>
      </p:cxnSp>
      <p:cxnSp>
        <p:nvCxnSpPr>
          <p:cNvPr id="105" name="DashedExerciseArrow"/>
          <p:cNvCxnSpPr/>
          <p:nvPr/>
        </p:nvCxnSpPr>
        <p:spPr>
          <a:xfrm>
            <a:off x="2706624" y="3419856"/>
            <a:ext cx="563270" cy="0"/>
          </a:xfrm>
          <a:prstGeom prst="line">
            <a:avLst/>
          </a:prstGeom>
          <a:ln w="3175">
            <a:solidFill>
              <a:srgbClr val="162029"/>
            </a:solidFill>
            <a:prstDash val="dash"/>
            <a:tailEnd type="triangle" w="med" len="med"/>
          </a:ln>
        </p:spPr>
      </p:cxnSp>
      <p:cxnSp>
        <p:nvCxnSpPr>
          <p:cNvPr id="106" name="DashedExerciseArrow"/>
          <p:cNvCxnSpPr/>
          <p:nvPr/>
        </p:nvCxnSpPr>
        <p:spPr>
          <a:xfrm>
            <a:off x="3974897" y="3419856"/>
            <a:ext cx="563270" cy="0"/>
          </a:xfrm>
          <a:prstGeom prst="line">
            <a:avLst/>
          </a:prstGeom>
          <a:ln w="3175">
            <a:solidFill>
              <a:srgbClr val="162029"/>
            </a:solidFill>
            <a:prstDash val="dash"/>
            <a:tailEnd type="triangle" w="med" len="med"/>
          </a:ln>
        </p:spPr>
      </p:cxnSp>
      <p:cxnSp>
        <p:nvCxnSpPr>
          <p:cNvPr id="107" name="DashedExerciseArrow"/>
          <p:cNvCxnSpPr/>
          <p:nvPr/>
        </p:nvCxnSpPr>
        <p:spPr>
          <a:xfrm>
            <a:off x="5243170" y="3769157"/>
            <a:ext cx="563270" cy="0"/>
          </a:xfrm>
          <a:prstGeom prst="line">
            <a:avLst/>
          </a:prstGeom>
          <a:ln w="3175">
            <a:solidFill>
              <a:srgbClr val="162029"/>
            </a:solidFill>
            <a:prstDash val="dash"/>
            <a:tailEnd type="triangle" w="med" len="med"/>
          </a:ln>
        </p:spPr>
      </p:cxnSp>
      <p:cxnSp>
        <p:nvCxnSpPr>
          <p:cNvPr id="108" name="DashedExerciseArrow"/>
          <p:cNvCxnSpPr/>
          <p:nvPr/>
        </p:nvCxnSpPr>
        <p:spPr>
          <a:xfrm>
            <a:off x="6512357" y="4013302"/>
            <a:ext cx="56235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0000"/>
                          </a:solidFill>
                          <a:latin typeface="Arial"/>
                          <a:ea typeface="Arial"/>
                          <a:cs typeface="Arial"/>
                        </a:rPr>
                        <a:t>Table Stakes</a:t>
                      </a:r>
                    </a:p>
                  </a:txBody>
                  <a:tcPr marL="45720" marR="45720" marT="45720" marB="45720" anchor="ctr">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7770"/>
                          </a:solidFill>
                          <a:latin typeface="Arial"/>
                          <a:ea typeface="Arial"/>
                          <a:cs typeface="Arial"/>
                        </a:rPr>
                        <a:t>Addressable</a:t>
                      </a:r>
                    </a:p>
                    <a:p>
                      <a:pPr algn="l" marL="0" indent="0">
                        <a:lnSpc>
                          <a:spcPct val="100000"/>
                        </a:lnSpc>
                      </a:pPr>
                      <a:r>
                        <a:rPr lang="en-US" sz="1200" dirty="0">
                          <a:solidFill>
                            <a:srgbClr val="007770"/>
                          </a:solidFill>
                          <a:latin typeface="Arial"/>
                          <a:ea typeface="Arial"/>
                          <a:cs typeface="Arial"/>
                        </a:rPr>
                        <a:t>Commercial</a:t>
                      </a:r>
                    </a:p>
                  </a:txBody>
                  <a:tcPr marL="45720" marR="45720" marT="45720" marB="45720" anchor="ctr">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ctr"/>
                    <a:lstStyle/>
                    <a:p>
                      <a:pPr algn="l" marL="0" indent="0">
                        <a:lnSpc>
                          <a:spcPct val="100000"/>
                        </a:lnSpc>
                      </a:pPr>
                      <a:r>
                        <a:rPr lang="en-US" sz="1200" dirty="0">
                          <a:solidFill>
                            <a:srgbClr val="FFC000"/>
                          </a:solidFill>
                          <a:latin typeface="Arial"/>
                          <a:ea typeface="Arial"/>
                          <a:cs typeface="Arial"/>
                        </a:rPr>
                        <a:t>Addressable Offshore</a:t>
                      </a:r>
                    </a:p>
                  </a:txBody>
                  <a:tcPr marL="45720" marR="45720" marT="45720" marB="45720" anchor="ctr">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ctr"/>
                    <a:lstStyle/>
                    <a:p>
                      <a:pPr algn="l" marL="0" indent="0">
                        <a:lnSpc>
                          <a:spcPct val="100000"/>
                        </a:lnSpc>
                      </a:pPr>
                      <a:r>
                        <a:rPr lang="en-US" sz="1200" dirty="0">
                          <a:solidFill>
                            <a:srgbClr val="969696"/>
                          </a:solidFill>
                          <a:latin typeface="Arial"/>
                          <a:ea typeface="Arial"/>
                          <a:cs typeface="Arial"/>
                        </a:rPr>
                        <a:t>Non-Addressable</a:t>
                      </a:r>
                    </a:p>
                  </a:txBody>
                  <a:tcPr marL="45720" marR="45720" marT="45720" marB="45720" anchor="ctr">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ctr"/>
                    <a:lstStyle/>
                    <a:p>
                      <a:pPr algn="l">
                        <a:lnSpc>
                          <a:spcPct val="100000"/>
                        </a:lnSpc>
                      </a:pPr>
                      <a:r>
                        <a:rPr lang="en-US" sz="1200" dirty="0">
                          <a:solidFill>
                            <a:srgbClr val="000000"/>
                          </a:solidFill>
                          <a:latin typeface="Arial"/>
                          <a:ea typeface="Arial"/>
                          <a:cs typeface="Arial"/>
                        </a:rPr>
                        <a:t>Criteria</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ctr"/>
                    <a:lstStyle/>
                    <a:p>
                      <a:pPr algn="l">
                        <a:lnSpc>
                          <a:spcPct val="100000"/>
                        </a:lnSpc>
                      </a:pPr>
                      <a:r>
                        <a:rPr lang="en-US" sz="1200" dirty="0">
                          <a:solidFill>
                            <a:srgbClr val="000000"/>
                          </a:solidFill>
                          <a:latin typeface="Arial"/>
                          <a:ea typeface="Arial"/>
                          <a:cs typeface="Arial"/>
                        </a:rPr>
                        <a:t>Inclusion / Exclusion Rationale</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ValueFlowPanel:cargo_moved_by_archetypes"/>
          <p:cNvSpPr txBox="1"/>
          <p:nvPr/>
        </p:nvSpPr>
        <p:spPr>
          <a:xfrm>
            <a:off x="4524451" y="3161081"/>
            <a:ext cx="7277710" cy="1691640"/>
          </a:xfrm>
          <a:prstGeom prst="rect">
            <a:avLst/>
          </a:prstGeom>
          <a:solidFill>
            <a:srgbClr val="F2F2F2"/>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ctr"/>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ctr"/>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ctr">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ctr"/>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Definitions | Sizing breaks the market down into five levels</a:t>
            </a:r>
          </a:p>
        </p:txBody>
      </p:sp>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ctr"/>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that could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ctr"/>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performed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Saronic unmanned platforms (i.e., market share)</a:t>
                      </a:r>
                    </a:p>
                    <a:p>
                      <a:pPr algn="l">
                        <a:lnSpc>
                          <a:spcPct val="100000"/>
                        </a:lnSpc>
                      </a:pPr>
                      <a:endParaRPr lang="en-US"/>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ctr">
                    <a:lnL>
                      <a:noFill/>
                    </a:lnL>
                    <a:lnR>
                      <a:noFill/>
                    </a:lnR>
                    <a:lnT w="6350" cap="flat" cmpd="sng" algn="ctr">
                      <a:solidFill>
                        <a:srgbClr val="162029"/>
                      </a:solidFill>
                      <a:prstDash val="solid"/>
                    </a:lnT>
                    <a:lnB>
                      <a:noFill/>
                    </a:lnB>
                    <a:noFill/>
                  </a:tcPr>
                </a:tc>
                <a:tc>
                  <a:txBody>
                    <a:bodyPr anchor="ctr"/>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ctr">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ctr"/>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ctr"/>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ContextTable"/>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ObjectivesTable"/>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PreliminaryBanner"/>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ctr"/>
                    <a:lstStyle/>
                    <a:p>
                      <a:pPr algn="r">
                        <a:lnSpc>
                          <a:spcPct val="100000"/>
                        </a:lnSpc>
                      </a:pPr>
                      <a:r>
                        <a:rPr lang="en-US" sz="1000" i="1" dirty="0">
                          <a:solidFill>
                            <a:srgbClr val="000000"/>
                          </a:solidFill>
                          <a:latin typeface="Arial"/>
                          <a:ea typeface="Arial"/>
                          <a:cs typeface="Arial"/>
                        </a:rPr>
                        <a:t>Market:</a:t>
                      </a:r>
                    </a:p>
                  </a:txBody>
                  <a:tcPr marL="45720" marR="45720" marT="45720" marB="45720" anchor="ctr">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ctr"/>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ctr">
                    <a:lnL>
                      <a:noFill/>
                    </a:lnL>
                    <a:lnR>
                      <a:noFill/>
                    </a:lnR>
                    <a:lnT w="6350" cap="flat" cmpd="sng" algn="ctr">
                      <a:solidFill>
                        <a:srgbClr val="808080"/>
                      </a:solidFill>
                      <a:prstDash val="solid"/>
                    </a:lnT>
                    <a:lnB>
                      <a:noFill/>
                    </a:lnB>
                    <a:noFill/>
                  </a:tcPr>
                </a:tc>
                <a:tc rowSpan="3">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ctr">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1964"/>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Straight Connector 2230"/>
          <p:cNvCxnSpPr/>
          <p:nvPr/>
        </p:nvCxnSpPr>
        <p:spPr>
          <a:xfrm>
            <a:off x="858622" y="1848002"/>
            <a:ext cx="10819181" cy="0"/>
          </a:xfrm>
          <a:prstGeom prst="line">
            <a:avLst/>
          </a:prstGeom>
          <a:ln w="9525">
            <a:solidFill>
              <a:srgbClr val="162029"/>
            </a:solidFill>
            <a:prstDash val="dash"/>
            <a:tailEnd type="triangle" w="med" len="med"/>
          </a:ln>
        </p:spPr>
      </p:cxnSp>
      <p:cxnSp>
        <p:nvCxnSpPr>
          <p:cNvPr id="107" name="Straight Connector 2205"/>
          <p:cNvCxnSpPr/>
          <p:nvPr/>
        </p:nvCxnSpPr>
        <p:spPr>
          <a:xfrm>
            <a:off x="858622" y="2790749"/>
            <a:ext cx="10819181" cy="0"/>
          </a:xfrm>
          <a:prstGeom prst="line">
            <a:avLst/>
          </a:prstGeom>
          <a:ln w="9525">
            <a:solidFill>
              <a:srgbClr val="162029"/>
            </a:solidFill>
            <a:prstDash val="dash"/>
            <a:tailEnd type="triangle" w="med" len="med"/>
          </a:ln>
        </p:spPr>
      </p:cxnSp>
      <p:cxnSp>
        <p:nvCxnSpPr>
          <p:cNvPr id="108" name="Straight Connector 2180"/>
          <p:cNvCxnSpPr/>
          <p:nvPr/>
        </p:nvCxnSpPr>
        <p:spPr>
          <a:xfrm>
            <a:off x="858622" y="3733495"/>
            <a:ext cx="936346" cy="0"/>
          </a:xfrm>
          <a:prstGeom prst="line">
            <a:avLst/>
          </a:prstGeom>
          <a:ln w="9525">
            <a:solidFill>
              <a:srgbClr val="162029"/>
            </a:solidFill>
            <a:prstDash val="dash"/>
            <a:tailEnd type="triangle" w="med" len="med"/>
          </a:ln>
        </p:spPr>
      </p:cxnSp>
      <p:cxnSp>
        <p:nvCxnSpPr>
          <p:cNvPr id="109" name="Straight Connector 2484"/>
          <p:cNvCxnSpPr/>
          <p:nvPr/>
        </p:nvCxnSpPr>
        <p:spPr>
          <a:xfrm>
            <a:off x="2084832" y="3733495"/>
            <a:ext cx="4821631" cy="0"/>
          </a:xfrm>
          <a:prstGeom prst="line">
            <a:avLst/>
          </a:prstGeom>
          <a:ln w="9525">
            <a:solidFill>
              <a:srgbClr val="162029"/>
            </a:solidFill>
            <a:prstDash val="dash"/>
            <a:tailEnd type="triangle" w="med" len="med"/>
          </a:ln>
        </p:spPr>
      </p:cxnSp>
      <p:cxnSp>
        <p:nvCxnSpPr>
          <p:cNvPr id="110" name="Straight Connector 2485"/>
          <p:cNvCxnSpPr/>
          <p:nvPr/>
        </p:nvCxnSpPr>
        <p:spPr>
          <a:xfrm>
            <a:off x="7071055" y="3733495"/>
            <a:ext cx="4606747" cy="0"/>
          </a:xfrm>
          <a:prstGeom prst="line">
            <a:avLst/>
          </a:prstGeom>
          <a:ln w="9525">
            <a:solidFill>
              <a:srgbClr val="162029"/>
            </a:solidFill>
            <a:prstDash val="dash"/>
            <a:tailEnd type="triangle" w="med" len="med"/>
          </a:ln>
        </p:spPr>
      </p:cxnSp>
      <p:cxnSp>
        <p:nvCxnSpPr>
          <p:cNvPr id="111" name="Straight Connector 384"/>
          <p:cNvCxnSpPr/>
          <p:nvPr/>
        </p:nvCxnSpPr>
        <p:spPr>
          <a:xfrm>
            <a:off x="858622" y="4677156"/>
            <a:ext cx="936346" cy="0"/>
          </a:xfrm>
          <a:prstGeom prst="line">
            <a:avLst/>
          </a:prstGeom>
          <a:ln w="9525">
            <a:solidFill>
              <a:srgbClr val="162029"/>
            </a:solidFill>
            <a:prstDash val="dash"/>
            <a:tailEnd type="triangle" w="med" len="med"/>
          </a:ln>
        </p:spPr>
      </p:cxnSp>
      <p:cxnSp>
        <p:nvCxnSpPr>
          <p:cNvPr id="112" name="Straight Connector 2529"/>
          <p:cNvCxnSpPr/>
          <p:nvPr/>
        </p:nvCxnSpPr>
        <p:spPr>
          <a:xfrm>
            <a:off x="2084832" y="4677156"/>
            <a:ext cx="4821631" cy="0"/>
          </a:xfrm>
          <a:prstGeom prst="line">
            <a:avLst/>
          </a:prstGeom>
          <a:ln w="9525">
            <a:solidFill>
              <a:srgbClr val="162029"/>
            </a:solidFill>
            <a:prstDash val="dash"/>
            <a:tailEnd type="triangle" w="med" len="med"/>
          </a:ln>
        </p:spPr>
      </p:cxnSp>
      <p:cxnSp>
        <p:nvCxnSpPr>
          <p:cNvPr id="113" name="Straight Connector 2530"/>
          <p:cNvCxnSpPr/>
          <p:nvPr/>
        </p:nvCxnSpPr>
        <p:spPr>
          <a:xfrm>
            <a:off x="7071055" y="4677156"/>
            <a:ext cx="4606747" cy="0"/>
          </a:xfrm>
          <a:prstGeom prst="line">
            <a:avLst/>
          </a:prstGeom>
          <a:ln w="9525">
            <a:solidFill>
              <a:srgbClr val="162029"/>
            </a:solidFill>
            <a:prstDash val="dash"/>
            <a:tailEnd type="triangle" w="med" len="med"/>
          </a:ln>
        </p:spPr>
      </p:cxnSp>
      <p:cxnSp>
        <p:nvCxnSpPr>
          <p:cNvPr id="114" name="Straight Connector 2528"/>
          <p:cNvCxnSpPr/>
          <p:nvPr/>
        </p:nvCxnSpPr>
        <p:spPr>
          <a:xfrm>
            <a:off x="1940357" y="4759452"/>
            <a:ext cx="0" cy="2743"/>
          </a:xfrm>
          <a:prstGeom prst="line">
            <a:avLst/>
          </a:prstGeom>
          <a:ln w="6350">
            <a:solidFill>
              <a:srgbClr val="44505C"/>
            </a:solidFill>
            <a:prstDash val="dash"/>
            <a:tailEnd type="triangle" w="med" len="med"/>
          </a:ln>
        </p:spPr>
      </p:cxnSp>
      <p:cxnSp>
        <p:nvCxnSpPr>
          <p:cNvPr id="115" name="Straight Connector 2020"/>
          <p:cNvCxnSpPr/>
          <p:nvPr/>
        </p:nvCxnSpPr>
        <p:spPr>
          <a:xfrm>
            <a:off x="858622" y="5619902"/>
            <a:ext cx="10819181" cy="0"/>
          </a:xfrm>
          <a:prstGeom prst="line">
            <a:avLst/>
          </a:prstGeom>
          <a:ln w="9525">
            <a:solidFill>
              <a:srgbClr val="162029"/>
            </a:solidFill>
            <a:prstDash val="dash"/>
            <a:tailEnd type="triangle" w="med" len="med"/>
          </a:ln>
        </p:spPr>
      </p:cxnSp>
      <p:cxnSp>
        <p:nvCxnSpPr>
          <p:cNvPr id="116" name="EBIT margin dash marker"/>
          <p:cNvCxnSpPr/>
          <p:nvPr/>
        </p:nvCxnSpPr>
        <p:spPr>
          <a:xfrm>
            <a:off x="1164649" y="5583227"/>
            <a:ext cx="109728" cy="0"/>
          </a:xfrm>
          <a:prstGeom prst="line">
            <a:avLst/>
          </a:prstGeom>
          <a:ln w="9525">
            <a:solidFill>
              <a:srgbClr val="FFC000"/>
            </a:solidFill>
          </a:ln>
        </p:spPr>
      </p:cxnSp>
      <p:cxnSp>
        <p:nvCxnSpPr>
          <p:cNvPr id="117" name="EBIT margin dash marker"/>
          <p:cNvCxnSpPr/>
          <p:nvPr/>
        </p:nvCxnSpPr>
        <p:spPr>
          <a:xfrm>
            <a:off x="1885920" y="5607795"/>
            <a:ext cx="109728" cy="0"/>
          </a:xfrm>
          <a:prstGeom prst="line">
            <a:avLst/>
          </a:prstGeom>
          <a:ln w="9525">
            <a:solidFill>
              <a:srgbClr val="FFC000"/>
            </a:solidFill>
          </a:ln>
        </p:spPr>
      </p:cxnSp>
      <p:cxnSp>
        <p:nvCxnSpPr>
          <p:cNvPr id="118" name="EBIT margin dash marker"/>
          <p:cNvCxnSpPr/>
          <p:nvPr/>
        </p:nvCxnSpPr>
        <p:spPr>
          <a:xfrm>
            <a:off x="2607192" y="5606157"/>
            <a:ext cx="109728" cy="0"/>
          </a:xfrm>
          <a:prstGeom prst="line">
            <a:avLst/>
          </a:prstGeom>
          <a:ln w="9525">
            <a:solidFill>
              <a:srgbClr val="FFC000"/>
            </a:solidFill>
          </a:ln>
        </p:spPr>
      </p:cxnSp>
      <p:cxnSp>
        <p:nvCxnSpPr>
          <p:cNvPr id="119" name="EBIT margin dash marker"/>
          <p:cNvCxnSpPr/>
          <p:nvPr/>
        </p:nvCxnSpPr>
        <p:spPr>
          <a:xfrm>
            <a:off x="4049734" y="5662388"/>
            <a:ext cx="109728" cy="0"/>
          </a:xfrm>
          <a:prstGeom prst="line">
            <a:avLst/>
          </a:prstGeom>
          <a:ln w="9525">
            <a:solidFill>
              <a:srgbClr val="FFC000"/>
            </a:solidFill>
          </a:ln>
        </p:spPr>
      </p:cxnSp>
      <p:cxnSp>
        <p:nvCxnSpPr>
          <p:cNvPr id="120" name="EBIT margin dash marker"/>
          <p:cNvCxnSpPr/>
          <p:nvPr/>
        </p:nvCxnSpPr>
        <p:spPr>
          <a:xfrm>
            <a:off x="4771005" y="5547741"/>
            <a:ext cx="109728" cy="0"/>
          </a:xfrm>
          <a:prstGeom prst="line">
            <a:avLst/>
          </a:prstGeom>
          <a:ln w="9525">
            <a:solidFill>
              <a:srgbClr val="FFC000"/>
            </a:solidFill>
          </a:ln>
        </p:spPr>
      </p:cxnSp>
      <p:cxnSp>
        <p:nvCxnSpPr>
          <p:cNvPr id="121" name="EBIT margin dash marker"/>
          <p:cNvCxnSpPr/>
          <p:nvPr/>
        </p:nvCxnSpPr>
        <p:spPr>
          <a:xfrm>
            <a:off x="5492277" y="5519898"/>
            <a:ext cx="109728" cy="0"/>
          </a:xfrm>
          <a:prstGeom prst="line">
            <a:avLst/>
          </a:prstGeom>
          <a:ln w="9525">
            <a:solidFill>
              <a:srgbClr val="FFC000"/>
            </a:solidFill>
          </a:ln>
        </p:spPr>
      </p:cxnSp>
      <p:cxnSp>
        <p:nvCxnSpPr>
          <p:cNvPr id="122" name="EBIT margin dash marker"/>
          <p:cNvCxnSpPr/>
          <p:nvPr/>
        </p:nvCxnSpPr>
        <p:spPr>
          <a:xfrm>
            <a:off x="6213548" y="5563573"/>
            <a:ext cx="109728" cy="0"/>
          </a:xfrm>
          <a:prstGeom prst="line">
            <a:avLst/>
          </a:prstGeom>
          <a:ln w="9525">
            <a:solidFill>
              <a:srgbClr val="FFC000"/>
            </a:solidFill>
          </a:ln>
        </p:spPr>
      </p:cxnSp>
      <p:cxnSp>
        <p:nvCxnSpPr>
          <p:cNvPr id="123" name="EBIT margin dash marker"/>
          <p:cNvCxnSpPr/>
          <p:nvPr/>
        </p:nvCxnSpPr>
        <p:spPr>
          <a:xfrm>
            <a:off x="6934819" y="5559752"/>
            <a:ext cx="109728" cy="0"/>
          </a:xfrm>
          <a:prstGeom prst="line">
            <a:avLst/>
          </a:prstGeom>
          <a:ln w="9525">
            <a:solidFill>
              <a:srgbClr val="FFC000"/>
            </a:solidFill>
          </a:ln>
        </p:spPr>
      </p:cxnSp>
      <p:cxnSp>
        <p:nvCxnSpPr>
          <p:cNvPr id="124" name="EBIT margin dash marker"/>
          <p:cNvCxnSpPr/>
          <p:nvPr/>
        </p:nvCxnSpPr>
        <p:spPr>
          <a:xfrm>
            <a:off x="7656090" y="5383960"/>
            <a:ext cx="109728" cy="0"/>
          </a:xfrm>
          <a:prstGeom prst="line">
            <a:avLst/>
          </a:prstGeom>
          <a:ln w="9525">
            <a:solidFill>
              <a:srgbClr val="FFC000"/>
            </a:solidFill>
          </a:ln>
        </p:spPr>
      </p:cxnSp>
      <p:cxnSp>
        <p:nvCxnSpPr>
          <p:cNvPr id="125" name="EBIT margin dash marker"/>
          <p:cNvCxnSpPr/>
          <p:nvPr/>
        </p:nvCxnSpPr>
        <p:spPr>
          <a:xfrm>
            <a:off x="8377362" y="5548287"/>
            <a:ext cx="109728" cy="0"/>
          </a:xfrm>
          <a:prstGeom prst="line">
            <a:avLst/>
          </a:prstGeom>
          <a:ln w="9525">
            <a:solidFill>
              <a:srgbClr val="FFC000"/>
            </a:solidFill>
          </a:ln>
        </p:spPr>
      </p:cxnSp>
      <p:cxnSp>
        <p:nvCxnSpPr>
          <p:cNvPr id="126" name="EBIT margin dash marker"/>
          <p:cNvCxnSpPr/>
          <p:nvPr/>
        </p:nvCxnSpPr>
        <p:spPr>
          <a:xfrm>
            <a:off x="9098633" y="5388327"/>
            <a:ext cx="109728" cy="0"/>
          </a:xfrm>
          <a:prstGeom prst="line">
            <a:avLst/>
          </a:prstGeom>
          <a:ln w="9525">
            <a:solidFill>
              <a:srgbClr val="FFC000"/>
            </a:solidFill>
          </a:ln>
        </p:spPr>
      </p:cxnSp>
      <p:cxnSp>
        <p:nvCxnSpPr>
          <p:cNvPr id="127" name="EBIT margin dash marker"/>
          <p:cNvCxnSpPr/>
          <p:nvPr/>
        </p:nvCxnSpPr>
        <p:spPr>
          <a:xfrm>
            <a:off x="9819904" y="5446743"/>
            <a:ext cx="109728" cy="0"/>
          </a:xfrm>
          <a:prstGeom prst="line">
            <a:avLst/>
          </a:prstGeom>
          <a:ln w="9525">
            <a:solidFill>
              <a:srgbClr val="FFC000"/>
            </a:solidFill>
          </a:ln>
        </p:spPr>
      </p:cxnSp>
      <p:cxnSp>
        <p:nvCxnSpPr>
          <p:cNvPr id="128" name="EBIT margin dash marker"/>
          <p:cNvCxnSpPr/>
          <p:nvPr/>
        </p:nvCxnSpPr>
        <p:spPr>
          <a:xfrm>
            <a:off x="10541175" y="5440737"/>
            <a:ext cx="109728" cy="0"/>
          </a:xfrm>
          <a:prstGeom prst="line">
            <a:avLst/>
          </a:prstGeom>
          <a:ln w="9525">
            <a:solidFill>
              <a:srgbClr val="FFC000"/>
            </a:solidFill>
          </a:ln>
        </p:spPr>
      </p:cxnSp>
      <p:cxnSp>
        <p:nvCxnSpPr>
          <p:cNvPr id="129" name="EBIT margin dash marker"/>
          <p:cNvCxnSpPr/>
          <p:nvPr/>
        </p:nvCxnSpPr>
        <p:spPr>
          <a:xfrm>
            <a:off x="11262447" y="5385052"/>
            <a:ext cx="109728" cy="0"/>
          </a:xfrm>
          <a:prstGeom prst="line">
            <a:avLst/>
          </a:prstGeom>
          <a:ln w="9525">
            <a:solidFill>
              <a:srgbClr val="FFC000"/>
            </a:solidFill>
          </a:ln>
        </p:spPr>
      </p:cxnSp>
      <p:cxnSp>
        <p:nvCxnSpPr>
          <p:cNvPr id="130" name="EBIT margin dash marker"/>
          <p:cNvCxnSpPr/>
          <p:nvPr/>
        </p:nvCxnSpPr>
        <p:spPr>
          <a:xfrm>
            <a:off x="1164649" y="4633561"/>
            <a:ext cx="109728" cy="0"/>
          </a:xfrm>
          <a:prstGeom prst="line">
            <a:avLst/>
          </a:prstGeom>
          <a:ln w="9525">
            <a:solidFill>
              <a:srgbClr val="FFC000"/>
            </a:solidFill>
          </a:ln>
        </p:spPr>
      </p:cxnSp>
      <p:cxnSp>
        <p:nvCxnSpPr>
          <p:cNvPr id="131" name="EBIT margin dash marker"/>
          <p:cNvCxnSpPr/>
          <p:nvPr/>
        </p:nvCxnSpPr>
        <p:spPr>
          <a:xfrm>
            <a:off x="1885920" y="4889060"/>
            <a:ext cx="109728" cy="0"/>
          </a:xfrm>
          <a:prstGeom prst="line">
            <a:avLst/>
          </a:prstGeom>
          <a:ln w="9525">
            <a:solidFill>
              <a:srgbClr val="FFC000"/>
            </a:solidFill>
          </a:ln>
        </p:spPr>
      </p:cxnSp>
      <p:cxnSp>
        <p:nvCxnSpPr>
          <p:cNvPr id="132" name="EBIT margin dash marker"/>
          <p:cNvCxnSpPr/>
          <p:nvPr/>
        </p:nvCxnSpPr>
        <p:spPr>
          <a:xfrm>
            <a:off x="2607192" y="4653215"/>
            <a:ext cx="109728" cy="0"/>
          </a:xfrm>
          <a:prstGeom prst="line">
            <a:avLst/>
          </a:prstGeom>
          <a:ln w="9525">
            <a:solidFill>
              <a:srgbClr val="FFC000"/>
            </a:solidFill>
          </a:ln>
        </p:spPr>
      </p:cxnSp>
      <p:cxnSp>
        <p:nvCxnSpPr>
          <p:cNvPr id="133" name="EBIT margin dash marker"/>
          <p:cNvCxnSpPr/>
          <p:nvPr/>
        </p:nvCxnSpPr>
        <p:spPr>
          <a:xfrm>
            <a:off x="4049734" y="4692523"/>
            <a:ext cx="109728" cy="0"/>
          </a:xfrm>
          <a:prstGeom prst="line">
            <a:avLst/>
          </a:prstGeom>
          <a:ln w="9525">
            <a:solidFill>
              <a:srgbClr val="FFC000"/>
            </a:solidFill>
          </a:ln>
        </p:spPr>
      </p:cxnSp>
      <p:cxnSp>
        <p:nvCxnSpPr>
          <p:cNvPr id="134" name="EBIT margin dash marker"/>
          <p:cNvCxnSpPr/>
          <p:nvPr/>
        </p:nvCxnSpPr>
        <p:spPr>
          <a:xfrm>
            <a:off x="4771005" y="4477969"/>
            <a:ext cx="109728" cy="0"/>
          </a:xfrm>
          <a:prstGeom prst="line">
            <a:avLst/>
          </a:prstGeom>
          <a:ln w="9525">
            <a:solidFill>
              <a:srgbClr val="FFC000"/>
            </a:solidFill>
          </a:ln>
        </p:spPr>
      </p:cxnSp>
      <p:cxnSp>
        <p:nvCxnSpPr>
          <p:cNvPr id="135" name="EBIT margin dash marker"/>
          <p:cNvCxnSpPr/>
          <p:nvPr/>
        </p:nvCxnSpPr>
        <p:spPr>
          <a:xfrm>
            <a:off x="5492277" y="4380246"/>
            <a:ext cx="109728" cy="0"/>
          </a:xfrm>
          <a:prstGeom prst="line">
            <a:avLst/>
          </a:prstGeom>
          <a:ln w="9525">
            <a:solidFill>
              <a:srgbClr val="FFC000"/>
            </a:solidFill>
          </a:ln>
        </p:spPr>
      </p:cxnSp>
      <p:cxnSp>
        <p:nvCxnSpPr>
          <p:cNvPr id="136" name="EBIT margin dash marker"/>
          <p:cNvCxnSpPr/>
          <p:nvPr/>
        </p:nvCxnSpPr>
        <p:spPr>
          <a:xfrm>
            <a:off x="6213548" y="4445758"/>
            <a:ext cx="109728" cy="0"/>
          </a:xfrm>
          <a:prstGeom prst="line">
            <a:avLst/>
          </a:prstGeom>
          <a:ln w="9525">
            <a:solidFill>
              <a:srgbClr val="FFC000"/>
            </a:solidFill>
          </a:ln>
        </p:spPr>
      </p:cxnSp>
      <p:cxnSp>
        <p:nvCxnSpPr>
          <p:cNvPr id="137" name="EBIT margin dash marker"/>
          <p:cNvCxnSpPr/>
          <p:nvPr/>
        </p:nvCxnSpPr>
        <p:spPr>
          <a:xfrm>
            <a:off x="6934819" y="4473055"/>
            <a:ext cx="109728" cy="0"/>
          </a:xfrm>
          <a:prstGeom prst="line">
            <a:avLst/>
          </a:prstGeom>
          <a:ln w="9525">
            <a:solidFill>
              <a:srgbClr val="FFC000"/>
            </a:solidFill>
          </a:ln>
        </p:spPr>
      </p:cxnSp>
      <p:cxnSp>
        <p:nvCxnSpPr>
          <p:cNvPr id="138" name="EBIT margin dash marker"/>
          <p:cNvCxnSpPr/>
          <p:nvPr/>
        </p:nvCxnSpPr>
        <p:spPr>
          <a:xfrm>
            <a:off x="7656090" y="4392802"/>
            <a:ext cx="109728" cy="0"/>
          </a:xfrm>
          <a:prstGeom prst="line">
            <a:avLst/>
          </a:prstGeom>
          <a:ln w="9525">
            <a:solidFill>
              <a:srgbClr val="FFC000"/>
            </a:solidFill>
          </a:ln>
        </p:spPr>
      </p:cxnSp>
      <p:cxnSp>
        <p:nvCxnSpPr>
          <p:cNvPr id="139" name="EBIT margin dash marker"/>
          <p:cNvCxnSpPr/>
          <p:nvPr/>
        </p:nvCxnSpPr>
        <p:spPr>
          <a:xfrm>
            <a:off x="8377362" y="4372602"/>
            <a:ext cx="109728" cy="0"/>
          </a:xfrm>
          <a:prstGeom prst="line">
            <a:avLst/>
          </a:prstGeom>
          <a:ln w="9525">
            <a:solidFill>
              <a:srgbClr val="FFC000"/>
            </a:solidFill>
          </a:ln>
        </p:spPr>
      </p:cxnSp>
      <p:cxnSp>
        <p:nvCxnSpPr>
          <p:cNvPr id="140" name="EBIT margin dash marker"/>
          <p:cNvCxnSpPr/>
          <p:nvPr/>
        </p:nvCxnSpPr>
        <p:spPr>
          <a:xfrm>
            <a:off x="9098633" y="4414640"/>
            <a:ext cx="109728" cy="0"/>
          </a:xfrm>
          <a:prstGeom prst="line">
            <a:avLst/>
          </a:prstGeom>
          <a:ln w="9525">
            <a:solidFill>
              <a:srgbClr val="FFC000"/>
            </a:solidFill>
          </a:ln>
        </p:spPr>
      </p:cxnSp>
      <p:cxnSp>
        <p:nvCxnSpPr>
          <p:cNvPr id="141" name="EBIT margin dash marker"/>
          <p:cNvCxnSpPr/>
          <p:nvPr/>
        </p:nvCxnSpPr>
        <p:spPr>
          <a:xfrm>
            <a:off x="9819904" y="4516184"/>
            <a:ext cx="109728" cy="0"/>
          </a:xfrm>
          <a:prstGeom prst="line">
            <a:avLst/>
          </a:prstGeom>
          <a:ln w="9525">
            <a:solidFill>
              <a:srgbClr val="FFC000"/>
            </a:solidFill>
          </a:ln>
        </p:spPr>
      </p:cxnSp>
      <p:cxnSp>
        <p:nvCxnSpPr>
          <p:cNvPr id="142" name="EBIT margin dash marker"/>
          <p:cNvCxnSpPr/>
          <p:nvPr/>
        </p:nvCxnSpPr>
        <p:spPr>
          <a:xfrm>
            <a:off x="10541175" y="4454493"/>
            <a:ext cx="109728" cy="0"/>
          </a:xfrm>
          <a:prstGeom prst="line">
            <a:avLst/>
          </a:prstGeom>
          <a:ln w="9525">
            <a:solidFill>
              <a:srgbClr val="FFC000"/>
            </a:solidFill>
          </a:ln>
        </p:spPr>
      </p:cxnSp>
      <p:cxnSp>
        <p:nvCxnSpPr>
          <p:cNvPr id="143" name="EBIT margin dash marker"/>
          <p:cNvCxnSpPr/>
          <p:nvPr/>
        </p:nvCxnSpPr>
        <p:spPr>
          <a:xfrm>
            <a:off x="11262447" y="4415186"/>
            <a:ext cx="109728" cy="0"/>
          </a:xfrm>
          <a:prstGeom prst="line">
            <a:avLst/>
          </a:prstGeom>
          <a:ln w="9525">
            <a:solidFill>
              <a:srgbClr val="FFC000"/>
            </a:solidFill>
          </a:ln>
        </p:spPr>
      </p:cxnSp>
      <p:cxnSp>
        <p:nvCxnSpPr>
          <p:cNvPr id="144" name="EBIT margin dash marker"/>
          <p:cNvCxnSpPr/>
          <p:nvPr/>
        </p:nvCxnSpPr>
        <p:spPr>
          <a:xfrm>
            <a:off x="1164649" y="3712652"/>
            <a:ext cx="109728" cy="0"/>
          </a:xfrm>
          <a:prstGeom prst="line">
            <a:avLst/>
          </a:prstGeom>
          <a:ln w="9525">
            <a:solidFill>
              <a:srgbClr val="FFC000"/>
            </a:solidFill>
          </a:ln>
        </p:spPr>
      </p:cxnSp>
      <p:cxnSp>
        <p:nvCxnSpPr>
          <p:cNvPr id="145" name="EBIT margin dash marker"/>
          <p:cNvCxnSpPr/>
          <p:nvPr/>
        </p:nvCxnSpPr>
        <p:spPr>
          <a:xfrm>
            <a:off x="1885920" y="3914650"/>
            <a:ext cx="109728" cy="0"/>
          </a:xfrm>
          <a:prstGeom prst="line">
            <a:avLst/>
          </a:prstGeom>
          <a:ln w="9525">
            <a:solidFill>
              <a:srgbClr val="FFC000"/>
            </a:solidFill>
          </a:ln>
        </p:spPr>
      </p:cxnSp>
      <p:cxnSp>
        <p:nvCxnSpPr>
          <p:cNvPr id="146" name="EBIT margin dash marker"/>
          <p:cNvCxnSpPr/>
          <p:nvPr/>
        </p:nvCxnSpPr>
        <p:spPr>
          <a:xfrm>
            <a:off x="2607192" y="3733944"/>
            <a:ext cx="109728" cy="0"/>
          </a:xfrm>
          <a:prstGeom prst="line">
            <a:avLst/>
          </a:prstGeom>
          <a:ln w="9525">
            <a:solidFill>
              <a:srgbClr val="FFC000"/>
            </a:solidFill>
          </a:ln>
        </p:spPr>
      </p:cxnSp>
      <p:cxnSp>
        <p:nvCxnSpPr>
          <p:cNvPr id="147" name="EBIT margin dash marker"/>
          <p:cNvCxnSpPr/>
          <p:nvPr/>
        </p:nvCxnSpPr>
        <p:spPr>
          <a:xfrm>
            <a:off x="3328463" y="3731760"/>
            <a:ext cx="109728" cy="0"/>
          </a:xfrm>
          <a:prstGeom prst="line">
            <a:avLst/>
          </a:prstGeom>
          <a:ln w="9525">
            <a:solidFill>
              <a:srgbClr val="FFC000"/>
            </a:solidFill>
          </a:ln>
        </p:spPr>
      </p:cxnSp>
      <p:cxnSp>
        <p:nvCxnSpPr>
          <p:cNvPr id="148" name="EBIT margin dash marker"/>
          <p:cNvCxnSpPr/>
          <p:nvPr/>
        </p:nvCxnSpPr>
        <p:spPr>
          <a:xfrm>
            <a:off x="4049734" y="3723025"/>
            <a:ext cx="109728" cy="0"/>
          </a:xfrm>
          <a:prstGeom prst="line">
            <a:avLst/>
          </a:prstGeom>
          <a:ln w="9525">
            <a:solidFill>
              <a:srgbClr val="FFC000"/>
            </a:solidFill>
          </a:ln>
        </p:spPr>
      </p:cxnSp>
      <p:cxnSp>
        <p:nvCxnSpPr>
          <p:cNvPr id="149" name="EBIT margin dash marker"/>
          <p:cNvCxnSpPr/>
          <p:nvPr/>
        </p:nvCxnSpPr>
        <p:spPr>
          <a:xfrm>
            <a:off x="4771005" y="3536314"/>
            <a:ext cx="109728" cy="0"/>
          </a:xfrm>
          <a:prstGeom prst="line">
            <a:avLst/>
          </a:prstGeom>
          <a:ln w="9525">
            <a:solidFill>
              <a:srgbClr val="FFC000"/>
            </a:solidFill>
          </a:ln>
        </p:spPr>
      </p:cxnSp>
      <p:cxnSp>
        <p:nvCxnSpPr>
          <p:cNvPr id="150" name="EBIT margin dash marker"/>
          <p:cNvCxnSpPr/>
          <p:nvPr/>
        </p:nvCxnSpPr>
        <p:spPr>
          <a:xfrm>
            <a:off x="5492277" y="3466434"/>
            <a:ext cx="109728" cy="0"/>
          </a:xfrm>
          <a:prstGeom prst="line">
            <a:avLst/>
          </a:prstGeom>
          <a:ln w="9525">
            <a:solidFill>
              <a:srgbClr val="FFC000"/>
            </a:solidFill>
          </a:ln>
        </p:spPr>
      </p:cxnSp>
      <p:cxnSp>
        <p:nvCxnSpPr>
          <p:cNvPr id="151" name="EBIT margin dash marker"/>
          <p:cNvCxnSpPr/>
          <p:nvPr/>
        </p:nvCxnSpPr>
        <p:spPr>
          <a:xfrm>
            <a:off x="6213548" y="3456607"/>
            <a:ext cx="109728" cy="0"/>
          </a:xfrm>
          <a:prstGeom prst="line">
            <a:avLst/>
          </a:prstGeom>
          <a:ln w="9525">
            <a:solidFill>
              <a:srgbClr val="FFC000"/>
            </a:solidFill>
          </a:ln>
        </p:spPr>
      </p:cxnSp>
      <p:cxnSp>
        <p:nvCxnSpPr>
          <p:cNvPr id="152" name="EBIT margin dash marker"/>
          <p:cNvCxnSpPr/>
          <p:nvPr/>
        </p:nvCxnSpPr>
        <p:spPr>
          <a:xfrm>
            <a:off x="6934819" y="3486088"/>
            <a:ext cx="109728" cy="0"/>
          </a:xfrm>
          <a:prstGeom prst="line">
            <a:avLst/>
          </a:prstGeom>
          <a:ln w="9525">
            <a:solidFill>
              <a:srgbClr val="FFC000"/>
            </a:solidFill>
          </a:ln>
        </p:spPr>
      </p:cxnSp>
      <p:cxnSp>
        <p:nvCxnSpPr>
          <p:cNvPr id="153" name="EBIT margin dash marker"/>
          <p:cNvCxnSpPr/>
          <p:nvPr/>
        </p:nvCxnSpPr>
        <p:spPr>
          <a:xfrm>
            <a:off x="7656090" y="3374170"/>
            <a:ext cx="109728" cy="0"/>
          </a:xfrm>
          <a:prstGeom prst="line">
            <a:avLst/>
          </a:prstGeom>
          <a:ln w="9525">
            <a:solidFill>
              <a:srgbClr val="FFC000"/>
            </a:solidFill>
          </a:ln>
        </p:spPr>
      </p:cxnSp>
      <p:cxnSp>
        <p:nvCxnSpPr>
          <p:cNvPr id="154" name="EBIT margin dash marker"/>
          <p:cNvCxnSpPr/>
          <p:nvPr/>
        </p:nvCxnSpPr>
        <p:spPr>
          <a:xfrm>
            <a:off x="8377362" y="3408564"/>
            <a:ext cx="109728" cy="0"/>
          </a:xfrm>
          <a:prstGeom prst="line">
            <a:avLst/>
          </a:prstGeom>
          <a:ln w="9525">
            <a:solidFill>
              <a:srgbClr val="FFC000"/>
            </a:solidFill>
          </a:ln>
        </p:spPr>
      </p:cxnSp>
      <p:cxnSp>
        <p:nvCxnSpPr>
          <p:cNvPr id="155" name="EBIT margin dash marker"/>
          <p:cNvCxnSpPr/>
          <p:nvPr/>
        </p:nvCxnSpPr>
        <p:spPr>
          <a:xfrm>
            <a:off x="9098633" y="3656421"/>
            <a:ext cx="109728" cy="0"/>
          </a:xfrm>
          <a:prstGeom prst="line">
            <a:avLst/>
          </a:prstGeom>
          <a:ln w="9525">
            <a:solidFill>
              <a:srgbClr val="FFC000"/>
            </a:solidFill>
          </a:ln>
        </p:spPr>
      </p:cxnSp>
      <p:cxnSp>
        <p:nvCxnSpPr>
          <p:cNvPr id="156" name="EBIT margin dash marker"/>
          <p:cNvCxnSpPr/>
          <p:nvPr/>
        </p:nvCxnSpPr>
        <p:spPr>
          <a:xfrm>
            <a:off x="9819904" y="3629670"/>
            <a:ext cx="109728" cy="0"/>
          </a:xfrm>
          <a:prstGeom prst="line">
            <a:avLst/>
          </a:prstGeom>
          <a:ln w="9525">
            <a:solidFill>
              <a:srgbClr val="FFC000"/>
            </a:solidFill>
          </a:ln>
        </p:spPr>
      </p:cxnSp>
      <p:cxnSp>
        <p:nvCxnSpPr>
          <p:cNvPr id="157" name="EBIT margin dash marker"/>
          <p:cNvCxnSpPr/>
          <p:nvPr/>
        </p:nvCxnSpPr>
        <p:spPr>
          <a:xfrm>
            <a:off x="10541175" y="3541228"/>
            <a:ext cx="109728" cy="0"/>
          </a:xfrm>
          <a:prstGeom prst="line">
            <a:avLst/>
          </a:prstGeom>
          <a:ln w="9525">
            <a:solidFill>
              <a:srgbClr val="FFC000"/>
            </a:solidFill>
          </a:ln>
        </p:spPr>
      </p:cxnSp>
      <p:cxnSp>
        <p:nvCxnSpPr>
          <p:cNvPr id="158" name="EBIT margin dash marker"/>
          <p:cNvCxnSpPr/>
          <p:nvPr/>
        </p:nvCxnSpPr>
        <p:spPr>
          <a:xfrm>
            <a:off x="11262447" y="3455515"/>
            <a:ext cx="109728" cy="0"/>
          </a:xfrm>
          <a:prstGeom prst="line">
            <a:avLst/>
          </a:prstGeom>
          <a:ln w="9525">
            <a:solidFill>
              <a:srgbClr val="FFC000"/>
            </a:solidFill>
          </a:ln>
        </p:spPr>
      </p:cxnSp>
      <p:cxnSp>
        <p:nvCxnSpPr>
          <p:cNvPr id="159" name="EBIT margin dash marker"/>
          <p:cNvCxnSpPr/>
          <p:nvPr/>
        </p:nvCxnSpPr>
        <p:spPr>
          <a:xfrm>
            <a:off x="1164649" y="2780825"/>
            <a:ext cx="109728" cy="0"/>
          </a:xfrm>
          <a:prstGeom prst="line">
            <a:avLst/>
          </a:prstGeom>
          <a:ln w="9525">
            <a:solidFill>
              <a:srgbClr val="FFC000"/>
            </a:solidFill>
          </a:ln>
        </p:spPr>
      </p:cxnSp>
      <p:cxnSp>
        <p:nvCxnSpPr>
          <p:cNvPr id="160" name="EBIT margin dash marker"/>
          <p:cNvCxnSpPr/>
          <p:nvPr/>
        </p:nvCxnSpPr>
        <p:spPr>
          <a:xfrm>
            <a:off x="1885920" y="2775911"/>
            <a:ext cx="109728" cy="0"/>
          </a:xfrm>
          <a:prstGeom prst="line">
            <a:avLst/>
          </a:prstGeom>
          <a:ln w="9525">
            <a:solidFill>
              <a:srgbClr val="FFC000"/>
            </a:solidFill>
          </a:ln>
        </p:spPr>
      </p:cxnSp>
      <p:cxnSp>
        <p:nvCxnSpPr>
          <p:cNvPr id="161" name="EBIT margin dash marker"/>
          <p:cNvCxnSpPr/>
          <p:nvPr/>
        </p:nvCxnSpPr>
        <p:spPr>
          <a:xfrm>
            <a:off x="2607192" y="2773182"/>
            <a:ext cx="109728" cy="0"/>
          </a:xfrm>
          <a:prstGeom prst="line">
            <a:avLst/>
          </a:prstGeom>
          <a:ln w="9525">
            <a:solidFill>
              <a:srgbClr val="FFC000"/>
            </a:solidFill>
          </a:ln>
        </p:spPr>
      </p:cxnSp>
      <p:cxnSp>
        <p:nvCxnSpPr>
          <p:cNvPr id="162" name="EBIT margin dash marker"/>
          <p:cNvCxnSpPr/>
          <p:nvPr/>
        </p:nvCxnSpPr>
        <p:spPr>
          <a:xfrm>
            <a:off x="3328463" y="2783554"/>
            <a:ext cx="109728" cy="0"/>
          </a:xfrm>
          <a:prstGeom prst="line">
            <a:avLst/>
          </a:prstGeom>
          <a:ln w="9525">
            <a:solidFill>
              <a:srgbClr val="FFC000"/>
            </a:solidFill>
          </a:ln>
        </p:spPr>
      </p:cxnSp>
      <p:cxnSp>
        <p:nvCxnSpPr>
          <p:cNvPr id="163" name="EBIT margin dash marker"/>
          <p:cNvCxnSpPr/>
          <p:nvPr/>
        </p:nvCxnSpPr>
        <p:spPr>
          <a:xfrm>
            <a:off x="4049734" y="2773727"/>
            <a:ext cx="109728" cy="0"/>
          </a:xfrm>
          <a:prstGeom prst="line">
            <a:avLst/>
          </a:prstGeom>
          <a:ln w="9525">
            <a:solidFill>
              <a:srgbClr val="FFC000"/>
            </a:solidFill>
          </a:ln>
        </p:spPr>
      </p:cxnSp>
      <p:cxnSp>
        <p:nvCxnSpPr>
          <p:cNvPr id="164" name="EBIT margin dash marker"/>
          <p:cNvCxnSpPr/>
          <p:nvPr/>
        </p:nvCxnSpPr>
        <p:spPr>
          <a:xfrm>
            <a:off x="4771005" y="2725685"/>
            <a:ext cx="109728" cy="0"/>
          </a:xfrm>
          <a:prstGeom prst="line">
            <a:avLst/>
          </a:prstGeom>
          <a:ln w="9525">
            <a:solidFill>
              <a:srgbClr val="FFC000"/>
            </a:solidFill>
          </a:ln>
        </p:spPr>
      </p:cxnSp>
      <p:cxnSp>
        <p:nvCxnSpPr>
          <p:cNvPr id="165" name="EBIT margin dash marker"/>
          <p:cNvCxnSpPr/>
          <p:nvPr/>
        </p:nvCxnSpPr>
        <p:spPr>
          <a:xfrm>
            <a:off x="5492277" y="2835419"/>
            <a:ext cx="109728" cy="0"/>
          </a:xfrm>
          <a:prstGeom prst="line">
            <a:avLst/>
          </a:prstGeom>
          <a:ln w="9525">
            <a:solidFill>
              <a:srgbClr val="FFC000"/>
            </a:solidFill>
          </a:ln>
        </p:spPr>
      </p:cxnSp>
      <p:cxnSp>
        <p:nvCxnSpPr>
          <p:cNvPr id="166" name="EBIT margin dash marker"/>
          <p:cNvCxnSpPr/>
          <p:nvPr/>
        </p:nvCxnSpPr>
        <p:spPr>
          <a:xfrm>
            <a:off x="6213548" y="2713674"/>
            <a:ext cx="109728" cy="0"/>
          </a:xfrm>
          <a:prstGeom prst="line">
            <a:avLst/>
          </a:prstGeom>
          <a:ln w="9525">
            <a:solidFill>
              <a:srgbClr val="FFC000"/>
            </a:solidFill>
          </a:ln>
        </p:spPr>
      </p:cxnSp>
      <p:cxnSp>
        <p:nvCxnSpPr>
          <p:cNvPr id="167" name="EBIT margin dash marker"/>
          <p:cNvCxnSpPr/>
          <p:nvPr/>
        </p:nvCxnSpPr>
        <p:spPr>
          <a:xfrm>
            <a:off x="6934819" y="2754620"/>
            <a:ext cx="109728" cy="0"/>
          </a:xfrm>
          <a:prstGeom prst="line">
            <a:avLst/>
          </a:prstGeom>
          <a:ln w="9525">
            <a:solidFill>
              <a:srgbClr val="FFC000"/>
            </a:solidFill>
          </a:ln>
        </p:spPr>
      </p:cxnSp>
      <p:cxnSp>
        <p:nvCxnSpPr>
          <p:cNvPr id="168" name="EBIT margin dash marker"/>
          <p:cNvCxnSpPr/>
          <p:nvPr/>
        </p:nvCxnSpPr>
        <p:spPr>
          <a:xfrm>
            <a:off x="7656090" y="2465272"/>
            <a:ext cx="109728" cy="0"/>
          </a:xfrm>
          <a:prstGeom prst="line">
            <a:avLst/>
          </a:prstGeom>
          <a:ln w="9525">
            <a:solidFill>
              <a:srgbClr val="FFC000"/>
            </a:solidFill>
          </a:ln>
        </p:spPr>
      </p:cxnSp>
      <p:cxnSp>
        <p:nvCxnSpPr>
          <p:cNvPr id="169" name="EBIT margin dash marker"/>
          <p:cNvCxnSpPr/>
          <p:nvPr/>
        </p:nvCxnSpPr>
        <p:spPr>
          <a:xfrm>
            <a:off x="8377362" y="2621411"/>
            <a:ext cx="109728" cy="0"/>
          </a:xfrm>
          <a:prstGeom prst="line">
            <a:avLst/>
          </a:prstGeom>
          <a:ln w="9525">
            <a:solidFill>
              <a:srgbClr val="FFC000"/>
            </a:solidFill>
          </a:ln>
        </p:spPr>
      </p:cxnSp>
      <p:cxnSp>
        <p:nvCxnSpPr>
          <p:cNvPr id="170" name="EBIT margin dash marker"/>
          <p:cNvCxnSpPr/>
          <p:nvPr/>
        </p:nvCxnSpPr>
        <p:spPr>
          <a:xfrm>
            <a:off x="9098633" y="2674367"/>
            <a:ext cx="109728" cy="0"/>
          </a:xfrm>
          <a:prstGeom prst="line">
            <a:avLst/>
          </a:prstGeom>
          <a:ln w="9525">
            <a:solidFill>
              <a:srgbClr val="FFC000"/>
            </a:solidFill>
          </a:ln>
        </p:spPr>
      </p:cxnSp>
      <p:cxnSp>
        <p:nvCxnSpPr>
          <p:cNvPr id="171" name="EBIT margin dash marker"/>
          <p:cNvCxnSpPr/>
          <p:nvPr/>
        </p:nvCxnSpPr>
        <p:spPr>
          <a:xfrm>
            <a:off x="9819904" y="2651437"/>
            <a:ext cx="109728" cy="0"/>
          </a:xfrm>
          <a:prstGeom prst="line">
            <a:avLst/>
          </a:prstGeom>
          <a:ln w="9525">
            <a:solidFill>
              <a:srgbClr val="FFC000"/>
            </a:solidFill>
          </a:ln>
        </p:spPr>
      </p:cxnSp>
      <p:cxnSp>
        <p:nvCxnSpPr>
          <p:cNvPr id="172" name="EBIT margin dash marker"/>
          <p:cNvCxnSpPr/>
          <p:nvPr/>
        </p:nvCxnSpPr>
        <p:spPr>
          <a:xfrm>
            <a:off x="10541175" y="2620319"/>
            <a:ext cx="109728" cy="0"/>
          </a:xfrm>
          <a:prstGeom prst="line">
            <a:avLst/>
          </a:prstGeom>
          <a:ln w="9525">
            <a:solidFill>
              <a:srgbClr val="FFC000"/>
            </a:solidFill>
          </a:ln>
        </p:spPr>
      </p:cxnSp>
      <p:cxnSp>
        <p:nvCxnSpPr>
          <p:cNvPr id="173" name="EBIT margin dash marker"/>
          <p:cNvCxnSpPr/>
          <p:nvPr/>
        </p:nvCxnSpPr>
        <p:spPr>
          <a:xfrm>
            <a:off x="11262447" y="2513861"/>
            <a:ext cx="109728" cy="0"/>
          </a:xfrm>
          <a:prstGeom prst="line">
            <a:avLst/>
          </a:prstGeom>
          <a:ln w="9525">
            <a:solidFill>
              <a:srgbClr val="FFC000"/>
            </a:solidFill>
          </a:ln>
        </p:spPr>
      </p:cxnSp>
      <p:cxnSp>
        <p:nvCxnSpPr>
          <p:cNvPr id="174" name="EBIT margin dash marker"/>
          <p:cNvCxnSpPr/>
          <p:nvPr/>
        </p:nvCxnSpPr>
        <p:spPr>
          <a:xfrm>
            <a:off x="1164649" y="1819516"/>
            <a:ext cx="109728" cy="0"/>
          </a:xfrm>
          <a:prstGeom prst="line">
            <a:avLst/>
          </a:prstGeom>
          <a:ln w="9525">
            <a:solidFill>
              <a:srgbClr val="FFC000"/>
            </a:solidFill>
          </a:ln>
        </p:spPr>
      </p:cxnSp>
      <p:cxnSp>
        <p:nvCxnSpPr>
          <p:cNvPr id="175" name="EBIT margin dash marker"/>
          <p:cNvCxnSpPr/>
          <p:nvPr/>
        </p:nvCxnSpPr>
        <p:spPr>
          <a:xfrm>
            <a:off x="1885920" y="1835895"/>
            <a:ext cx="109728" cy="0"/>
          </a:xfrm>
          <a:prstGeom prst="line">
            <a:avLst/>
          </a:prstGeom>
          <a:ln w="9525">
            <a:solidFill>
              <a:srgbClr val="FFC000"/>
            </a:solidFill>
          </a:ln>
        </p:spPr>
      </p:cxnSp>
      <p:cxnSp>
        <p:nvCxnSpPr>
          <p:cNvPr id="176" name="EBIT margin dash marker"/>
          <p:cNvCxnSpPr/>
          <p:nvPr/>
        </p:nvCxnSpPr>
        <p:spPr>
          <a:xfrm>
            <a:off x="2607192" y="1836986"/>
            <a:ext cx="109728" cy="0"/>
          </a:xfrm>
          <a:prstGeom prst="line">
            <a:avLst/>
          </a:prstGeom>
          <a:ln w="9525">
            <a:solidFill>
              <a:srgbClr val="FFC000"/>
            </a:solidFill>
          </a:ln>
        </p:spPr>
      </p:cxnSp>
      <p:cxnSp>
        <p:nvCxnSpPr>
          <p:cNvPr id="177" name="EBIT margin dash marker"/>
          <p:cNvCxnSpPr/>
          <p:nvPr/>
        </p:nvCxnSpPr>
        <p:spPr>
          <a:xfrm>
            <a:off x="3328463" y="1817333"/>
            <a:ext cx="109728" cy="0"/>
          </a:xfrm>
          <a:prstGeom prst="line">
            <a:avLst/>
          </a:prstGeom>
          <a:ln w="9525">
            <a:solidFill>
              <a:srgbClr val="FFC000"/>
            </a:solidFill>
          </a:ln>
        </p:spPr>
      </p:cxnSp>
      <p:cxnSp>
        <p:nvCxnSpPr>
          <p:cNvPr id="178" name="EBIT margin dash marker"/>
          <p:cNvCxnSpPr/>
          <p:nvPr/>
        </p:nvCxnSpPr>
        <p:spPr>
          <a:xfrm>
            <a:off x="4049734" y="1835349"/>
            <a:ext cx="109728" cy="0"/>
          </a:xfrm>
          <a:prstGeom prst="line">
            <a:avLst/>
          </a:prstGeom>
          <a:ln w="9525">
            <a:solidFill>
              <a:srgbClr val="FFC000"/>
            </a:solidFill>
          </a:ln>
        </p:spPr>
      </p:cxnSp>
      <p:cxnSp>
        <p:nvCxnSpPr>
          <p:cNvPr id="179" name="EBIT margin dash marker"/>
          <p:cNvCxnSpPr/>
          <p:nvPr/>
        </p:nvCxnSpPr>
        <p:spPr>
          <a:xfrm>
            <a:off x="4771005" y="1750728"/>
            <a:ext cx="109728" cy="0"/>
          </a:xfrm>
          <a:prstGeom prst="line">
            <a:avLst/>
          </a:prstGeom>
          <a:ln w="9525">
            <a:solidFill>
              <a:srgbClr val="FFC000"/>
            </a:solidFill>
          </a:ln>
        </p:spPr>
      </p:cxnSp>
      <p:cxnSp>
        <p:nvCxnSpPr>
          <p:cNvPr id="180" name="EBIT margin dash marker"/>
          <p:cNvCxnSpPr/>
          <p:nvPr/>
        </p:nvCxnSpPr>
        <p:spPr>
          <a:xfrm>
            <a:off x="5492277" y="1618065"/>
            <a:ext cx="109728" cy="0"/>
          </a:xfrm>
          <a:prstGeom prst="line">
            <a:avLst/>
          </a:prstGeom>
          <a:ln w="9525">
            <a:solidFill>
              <a:srgbClr val="FFC000"/>
            </a:solidFill>
          </a:ln>
        </p:spPr>
      </p:cxnSp>
      <p:cxnSp>
        <p:nvCxnSpPr>
          <p:cNvPr id="181" name="EBIT margin dash marker"/>
          <p:cNvCxnSpPr/>
          <p:nvPr/>
        </p:nvCxnSpPr>
        <p:spPr>
          <a:xfrm>
            <a:off x="6213548" y="1774749"/>
            <a:ext cx="109728" cy="0"/>
          </a:xfrm>
          <a:prstGeom prst="line">
            <a:avLst/>
          </a:prstGeom>
          <a:ln w="9525">
            <a:solidFill>
              <a:srgbClr val="FFC000"/>
            </a:solidFill>
          </a:ln>
        </p:spPr>
      </p:cxnSp>
      <p:cxnSp>
        <p:nvCxnSpPr>
          <p:cNvPr id="182" name="EBIT margin dash marker"/>
          <p:cNvCxnSpPr/>
          <p:nvPr/>
        </p:nvCxnSpPr>
        <p:spPr>
          <a:xfrm>
            <a:off x="6934819" y="1778571"/>
            <a:ext cx="109728" cy="0"/>
          </a:xfrm>
          <a:prstGeom prst="line">
            <a:avLst/>
          </a:prstGeom>
          <a:ln w="9525">
            <a:solidFill>
              <a:srgbClr val="FFC000"/>
            </a:solidFill>
          </a:ln>
        </p:spPr>
      </p:cxnSp>
      <p:cxnSp>
        <p:nvCxnSpPr>
          <p:cNvPr id="183" name="EBIT margin dash marker"/>
          <p:cNvCxnSpPr/>
          <p:nvPr/>
        </p:nvCxnSpPr>
        <p:spPr>
          <a:xfrm>
            <a:off x="7656090" y="1556920"/>
            <a:ext cx="109728" cy="0"/>
          </a:xfrm>
          <a:prstGeom prst="line">
            <a:avLst/>
          </a:prstGeom>
          <a:ln w="9525">
            <a:solidFill>
              <a:srgbClr val="FFC000"/>
            </a:solidFill>
          </a:ln>
        </p:spPr>
      </p:cxnSp>
      <p:cxnSp>
        <p:nvCxnSpPr>
          <p:cNvPr id="184" name="EBIT margin dash marker"/>
          <p:cNvCxnSpPr/>
          <p:nvPr/>
        </p:nvCxnSpPr>
        <p:spPr>
          <a:xfrm>
            <a:off x="8377362" y="1726707"/>
            <a:ext cx="109728" cy="0"/>
          </a:xfrm>
          <a:prstGeom prst="line">
            <a:avLst/>
          </a:prstGeom>
          <a:ln w="9525">
            <a:solidFill>
              <a:srgbClr val="FFC000"/>
            </a:solidFill>
          </a:ln>
        </p:spPr>
      </p:cxnSp>
      <p:cxnSp>
        <p:nvCxnSpPr>
          <p:cNvPr id="185" name="EBIT margin dash marker"/>
          <p:cNvCxnSpPr/>
          <p:nvPr/>
        </p:nvCxnSpPr>
        <p:spPr>
          <a:xfrm>
            <a:off x="9098633" y="1698318"/>
            <a:ext cx="109728" cy="0"/>
          </a:xfrm>
          <a:prstGeom prst="line">
            <a:avLst/>
          </a:prstGeom>
          <a:ln w="9525">
            <a:solidFill>
              <a:srgbClr val="FFC000"/>
            </a:solidFill>
          </a:ln>
        </p:spPr>
      </p:cxnSp>
      <p:cxnSp>
        <p:nvCxnSpPr>
          <p:cNvPr id="186" name="EBIT margin dash marker"/>
          <p:cNvCxnSpPr/>
          <p:nvPr/>
        </p:nvCxnSpPr>
        <p:spPr>
          <a:xfrm>
            <a:off x="9819904" y="1685215"/>
            <a:ext cx="109728" cy="0"/>
          </a:xfrm>
          <a:prstGeom prst="line">
            <a:avLst/>
          </a:prstGeom>
          <a:ln w="9525">
            <a:solidFill>
              <a:srgbClr val="FFC000"/>
            </a:solidFill>
          </a:ln>
        </p:spPr>
      </p:cxnSp>
      <p:cxnSp>
        <p:nvCxnSpPr>
          <p:cNvPr id="187" name="EBIT margin dash marker"/>
          <p:cNvCxnSpPr/>
          <p:nvPr/>
        </p:nvCxnSpPr>
        <p:spPr>
          <a:xfrm>
            <a:off x="10541175" y="1641540"/>
            <a:ext cx="109728" cy="0"/>
          </a:xfrm>
          <a:prstGeom prst="line">
            <a:avLst/>
          </a:prstGeom>
          <a:ln w="9525">
            <a:solidFill>
              <a:srgbClr val="FFC000"/>
            </a:solidFill>
          </a:ln>
        </p:spPr>
      </p:cxnSp>
      <p:cxnSp>
        <p:nvCxnSpPr>
          <p:cNvPr id="188" name="EBIT margin dash marker"/>
          <p:cNvCxnSpPr/>
          <p:nvPr/>
        </p:nvCxnSpPr>
        <p:spPr>
          <a:xfrm>
            <a:off x="11262447" y="1553098"/>
            <a:ext cx="109728" cy="0"/>
          </a:xfrm>
          <a:prstGeom prst="line">
            <a:avLst/>
          </a:prstGeom>
          <a:ln w="9525">
            <a:solidFill>
              <a:srgbClr val="FFC000"/>
            </a:solidFill>
          </a:ln>
        </p:spPr>
      </p:cxnSp>
      <p:sp>
        <p:nvSpPr>
          <p:cNvPr id="189" name="ValueLabel"/>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0" name="ValueLabel"/>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1" name="ValueLabel"/>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2" name="ValueLabel"/>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3" name="ValueLabel"/>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4" name="ValueLabel"/>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5" name="ValueLabel"/>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6" name="ValueLabel"/>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7" name="ValueLabel"/>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8" name="ValueLabel"/>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9" name="ValueLabel"/>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0" name="ValueLabel"/>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1" name="ValueLabel"/>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2" name="ValueLabel"/>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3" name="ValueLabel"/>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4" name="ValueLabel"/>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5" name="ValueLabel"/>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6" name="ValueLabel"/>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7" name="ValueLabel"/>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8" name="ValueLabel"/>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9" name="ValueLabel"/>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10" name="ValueLabel"/>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11" name="ValueLabel"/>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12" name="ValueLabel"/>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13" name="ValueLabel"/>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14" name="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215" name="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216" name="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217" name="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218" name="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219" name="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220" name="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221" name="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222" name="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223" name="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224" name="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225" name="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226" name="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227" name="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228" name="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229" name="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30" name="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31" name="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32" name="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3" name="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34" name="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235" name="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236" name="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37" name="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8" name="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39" name="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40" name="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241" name="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42" name="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43" name="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44" name="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245" name="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46" name="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47" name="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48" name="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49" name="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50" name="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251" name="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252" name="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253" name="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4" name="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255" name="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256" name="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7" name="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8" name="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9" name="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60" name="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61" name="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262" name="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263" name="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264" name="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65" name="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66" name="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267" name="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268" name="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69" name="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70" name="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71" name="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72" name="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73" name="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4" name="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5" name="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76" name="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7" name="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78" name="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79" name="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80" name="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81" name="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82" name="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3" name="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84" name="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85" name="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6" name="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87" name="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88" name="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89" name="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0" name="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91" name="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2" name="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93" name="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4" name="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5" name="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96" name="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97" name="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98" name="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99" name="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300" name="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301" name="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302" name="ValueLabel"/>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03" name="ValueLabel"/>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04" name="ValueLabel"/>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05" name="ValueLabel"/>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06" name="ValueLabel"/>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7" name="ValueLabel"/>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308" name="ValueLabel"/>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309" name="ValueLabel"/>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0" name="ValueLabel"/>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1" name="ValueLabel"/>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2" name="ValueLabel"/>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3" name="ValueLabel"/>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14" name="ValueLabel"/>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5" name="ValueLabel"/>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6" name="ValueLabel"/>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7" name="ValueLabel"/>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8" name="ValueLabel"/>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19" name="ValueLabel"/>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20" name="ValueLabel"/>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21" name="ValueLabel"/>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322" name="ValueLabel"/>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323" name="ValueLabel"/>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4" name="ValueLabel"/>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5" name="ValueLabel"/>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6" name="ValueLabel"/>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27" name="ValueLabel"/>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8" name="ValueLabel"/>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9" name="ValueLabel"/>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330" name="ValueLabel"/>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1" name="ValueLabel"/>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32" name="ValueLabel"/>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333" name="ValueLabel"/>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34" name="ValueLabel"/>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5" name="ValueLabel"/>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336" name="ValueLabel"/>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337" name="ValueLabel"/>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338" name="ValueLabel"/>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39" name="ValueLabel"/>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0" name="ValueLabel"/>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1" name="ValueLabel"/>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42" name="ValueLabel"/>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3" name="ValueLabel"/>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4" name="ValueLabel"/>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5" name="ValueLabel"/>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6" name="ValueLabel"/>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47" name="ValueLabel"/>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48" name="ValueLabel"/>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349" name="ValueLabel"/>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350" name="ValueLabel"/>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1" name="ValueLabel"/>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352" name="ValueLabel"/>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353" name="ValueLabel"/>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4" name="ValueLabel"/>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5" name="ValueLabel"/>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6" name="ValueLabel"/>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57" name="ValueLabel"/>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8" name="ValueLabel"/>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9" name="ValueLabel"/>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360" name="ValueLabel"/>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61" name="ValueLabel"/>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62" name="ValueLabel"/>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3" name="ValueLabel"/>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364" name="ValueLabel"/>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365" name="ValueLabel"/>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66" name="ValueLabel"/>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7" name="ValueLabel"/>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68" name="ValueLabel"/>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369" name="ValueLabel"/>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0" name="ValueLabel"/>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1" name="ValueLabel"/>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2" name="ValueLabel"/>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73" name="ValueLabel"/>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4" name="ValueLabel"/>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75" name="Label"/>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76" name="Label"/>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77" name="Label"/>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78" name="Rectangle 2147"/>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79" name="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80" name="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81"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82"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83"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84" name="Text Placeholder 25"/>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85" name="Text Placeholder 25"/>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86" name="Straight Arrow Connector 2596"/>
          <p:cNvCxnSpPr/>
          <p:nvPr/>
        </p:nvCxnSpPr>
        <p:spPr>
          <a:xfrm>
            <a:off x="4516222" y="1259129"/>
            <a:ext cx="0" cy="5120640"/>
          </a:xfrm>
          <a:prstGeom prst="line">
            <a:avLst/>
          </a:prstGeom>
          <a:ln w="12700">
            <a:solidFill>
              <a:srgbClr val="808080"/>
            </a:solidFill>
          </a:ln>
        </p:spPr>
      </p:cxnSp>
      <p:cxnSp>
        <p:nvCxnSpPr>
          <p:cNvPr id="387" name="Straight Arrow Connector 2598"/>
          <p:cNvCxnSpPr/>
          <p:nvPr/>
        </p:nvCxnSpPr>
        <p:spPr>
          <a:xfrm>
            <a:off x="7366406" y="1259129"/>
            <a:ext cx="0" cy="5120640"/>
          </a:xfrm>
          <a:prstGeom prst="line">
            <a:avLst/>
          </a:prstGeom>
          <a:ln w="12700">
            <a:solidFill>
              <a:srgbClr val="808080"/>
            </a:solidFill>
          </a:ln>
        </p:spPr>
      </p:cxnSp>
      <p:cxnSp>
        <p:nvCxnSpPr>
          <p:cNvPr id="388" name="Straight Arrow Connector 2602"/>
          <p:cNvCxnSpPr/>
          <p:nvPr/>
        </p:nvCxnSpPr>
        <p:spPr>
          <a:xfrm>
            <a:off x="9569196" y="1259129"/>
            <a:ext cx="0" cy="5120640"/>
          </a:xfrm>
          <a:prstGeom prst="line">
            <a:avLst/>
          </a:prstGeom>
          <a:ln w="12700">
            <a:solidFill>
              <a:srgbClr val="808080"/>
            </a:solidFill>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30"/>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4955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1" name="YearLabel"/>
          <p:cNvSpPr txBox="1"/>
          <p:nvPr/>
        </p:nvSpPr>
        <p:spPr>
          <a:xfrm>
            <a:off x="57451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2" name="YearLabel"/>
          <p:cNvSpPr txBox="1"/>
          <p:nvPr/>
        </p:nvSpPr>
        <p:spPr>
          <a:xfrm>
            <a:off x="59948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3" name="YearLabel"/>
          <p:cNvSpPr txBox="1"/>
          <p:nvPr/>
        </p:nvSpPr>
        <p:spPr>
          <a:xfrm>
            <a:off x="62435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4" name="YearLabel"/>
          <p:cNvSpPr txBox="1"/>
          <p:nvPr/>
        </p:nvSpPr>
        <p:spPr>
          <a:xfrm>
            <a:off x="64931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5" name="YearLabel"/>
          <p:cNvSpPr txBox="1"/>
          <p:nvPr/>
        </p:nvSpPr>
        <p:spPr>
          <a:xfrm>
            <a:off x="674187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6" name="YearLabel"/>
          <p:cNvSpPr txBox="1"/>
          <p:nvPr/>
        </p:nvSpPr>
        <p:spPr>
          <a:xfrm>
            <a:off x="52468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7" name="Text Placeholder 25"/>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Text Placeholder 25"/>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Text Placeholder 25"/>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ctangle 840"/>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Speech Bubble: Rectangle 645"/>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ctangle 839"/>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dirty="0">
                <a:solidFill>
                  <a:srgbClr val="000000"/>
                </a:solidFill>
                <a:latin typeface="Arial"/>
                <a:ea typeface="Arial"/>
                <a:cs typeface="Arial"/>
              </a:rPr>
              <a:t>1</a:t>
            </a:r>
          </a:p>
        </p:txBody>
      </p:sp>
      <p:sp>
        <p:nvSpPr>
          <p:cNvPr id="172" name="Rectangle 688"/>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Rectangle 689"/>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dirty="0">
                <a:solidFill>
                  <a:srgbClr val="000000"/>
                </a:solidFill>
                <a:latin typeface="Arial"/>
                <a:ea typeface="Arial"/>
                <a:cs typeface="Arial"/>
              </a:rPr>
              <a:t>2</a:t>
            </a:r>
          </a:p>
        </p:txBody>
      </p:sp>
      <p:sp>
        <p:nvSpPr>
          <p:cNvPr id="174" name="Rectangle 690"/>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Rectangle 694"/>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Rectangle 715"/>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TextBox 716"/>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Rectangle 717"/>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TextBox 718"/>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80" name="Speech Bubble: Rectangle 2"/>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Rectangle 4"/>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724"/>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Straight Connector 734"/>
          <p:cNvCxnSpPr/>
          <p:nvPr/>
        </p:nvCxnSpPr>
        <p:spPr>
          <a:xfrm>
            <a:off x="833018" y="2803550"/>
            <a:ext cx="9829800" cy="0"/>
          </a:xfrm>
          <a:prstGeom prst="line">
            <a:avLst/>
          </a:prstGeom>
          <a:ln w="9525">
            <a:solidFill>
              <a:srgbClr val="000000"/>
            </a:solidFill>
            <a:prstDash val="dash"/>
            <a:tailEnd type="triangle" w="med" len="med"/>
          </a:ln>
        </p:spPr>
      </p:cxnSp>
      <p:cxnSp>
        <p:nvCxnSpPr>
          <p:cNvPr id="109" name="Straight Connector 735"/>
          <p:cNvCxnSpPr/>
          <p:nvPr/>
        </p:nvCxnSpPr>
        <p:spPr>
          <a:xfrm>
            <a:off x="833018" y="2003450"/>
            <a:ext cx="9829800" cy="0"/>
          </a:xfrm>
          <a:prstGeom prst="line">
            <a:avLst/>
          </a:prstGeom>
          <a:ln w="9525">
            <a:solidFill>
              <a:srgbClr val="000000"/>
            </a:solidFill>
            <a:prstDash val="dash"/>
            <a:tailEnd type="triangle" w="med" len="med"/>
          </a:ln>
        </p:spPr>
      </p:cxnSp>
      <p:cxnSp>
        <p:nvCxnSpPr>
          <p:cNvPr id="110" name="Straight Connector 737"/>
          <p:cNvCxnSpPr/>
          <p:nvPr/>
        </p:nvCxnSpPr>
        <p:spPr>
          <a:xfrm>
            <a:off x="833018" y="2506370"/>
            <a:ext cx="9829800" cy="0"/>
          </a:xfrm>
          <a:prstGeom prst="line">
            <a:avLst/>
          </a:prstGeom>
          <a:ln w="9525">
            <a:solidFill>
              <a:srgbClr val="000000"/>
            </a:solidFill>
            <a:prstDash val="dash"/>
            <a:tailEnd type="triangle" w="med" len="med"/>
          </a:ln>
        </p:spPr>
      </p:cxnSp>
      <p:cxnSp>
        <p:nvCxnSpPr>
          <p:cNvPr id="111" name="Straight Connector 740"/>
          <p:cNvCxnSpPr/>
          <p:nvPr/>
        </p:nvCxnSpPr>
        <p:spPr>
          <a:xfrm>
            <a:off x="833018" y="3396082"/>
            <a:ext cx="9829800" cy="0"/>
          </a:xfrm>
          <a:prstGeom prst="line">
            <a:avLst/>
          </a:prstGeom>
          <a:ln w="9525">
            <a:solidFill>
              <a:srgbClr val="000000"/>
            </a:solidFill>
            <a:prstDash val="dash"/>
            <a:tailEnd type="triangle" w="med" len="med"/>
          </a:ln>
        </p:spPr>
      </p:cxnSp>
      <p:cxnSp>
        <p:nvCxnSpPr>
          <p:cNvPr id="112" name="Straight Connector 741"/>
          <p:cNvCxnSpPr/>
          <p:nvPr/>
        </p:nvCxnSpPr>
        <p:spPr>
          <a:xfrm>
            <a:off x="833018" y="3989527"/>
            <a:ext cx="9829800" cy="0"/>
          </a:xfrm>
          <a:prstGeom prst="line">
            <a:avLst/>
          </a:prstGeom>
          <a:ln w="9525">
            <a:solidFill>
              <a:srgbClr val="000000"/>
            </a:solidFill>
            <a:prstDash val="dash"/>
            <a:tailEnd type="triangle" w="med" len="med"/>
          </a:ln>
        </p:spPr>
      </p:cxnSp>
      <p:cxnSp>
        <p:nvCxnSpPr>
          <p:cNvPr id="113" name="Straight Connector 743"/>
          <p:cNvCxnSpPr/>
          <p:nvPr/>
        </p:nvCxnSpPr>
        <p:spPr>
          <a:xfrm>
            <a:off x="833018" y="4270248"/>
            <a:ext cx="9829800" cy="0"/>
          </a:xfrm>
          <a:prstGeom prst="line">
            <a:avLst/>
          </a:prstGeom>
          <a:ln w="9525">
            <a:solidFill>
              <a:srgbClr val="000000"/>
            </a:solidFill>
            <a:prstDash val="dash"/>
            <a:tailEnd type="triangle" w="med" len="med"/>
          </a:ln>
        </p:spPr>
      </p:cxnSp>
      <p:sp>
        <p:nvSpPr>
          <p:cNvPr id="114"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9"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6"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7"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8" name="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49"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0"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1" name="Straight Arrow Connector 777"/>
          <p:cNvCxnSpPr/>
          <p:nvPr/>
        </p:nvCxnSpPr>
        <p:spPr>
          <a:xfrm>
            <a:off x="834847" y="2495398"/>
            <a:ext cx="9966960" cy="7315"/>
          </a:xfrm>
          <a:prstGeom prst="line">
            <a:avLst/>
          </a:prstGeom>
          <a:ln w="9525">
            <a:solidFill>
              <a:srgbClr val="000000"/>
            </a:solidFill>
            <a:prstDash val="dash"/>
          </a:ln>
        </p:spPr>
      </p:cxnSp>
      <p:cxnSp>
        <p:nvCxnSpPr>
          <p:cNvPr id="152" name="Straight Arrow Connector 778"/>
          <p:cNvCxnSpPr/>
          <p:nvPr/>
        </p:nvCxnSpPr>
        <p:spPr>
          <a:xfrm>
            <a:off x="834847" y="1996135"/>
            <a:ext cx="9966960" cy="7315"/>
          </a:xfrm>
          <a:prstGeom prst="line">
            <a:avLst/>
          </a:prstGeom>
          <a:ln w="9525">
            <a:solidFill>
              <a:srgbClr val="000000"/>
            </a:solidFill>
            <a:prstDash val="dash"/>
          </a:ln>
        </p:spPr>
      </p:cxnSp>
      <p:sp>
        <p:nvSpPr>
          <p:cNvPr id="153"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8" name="Rectangle 787"/>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cxnSp>
        <p:nvCxnSpPr>
          <p:cNvPr id="159" name="Straight Arrow Connector 796"/>
          <p:cNvCxnSpPr/>
          <p:nvPr/>
        </p:nvCxnSpPr>
        <p:spPr>
          <a:xfrm>
            <a:off x="834847" y="2790749"/>
            <a:ext cx="9966960" cy="7315"/>
          </a:xfrm>
          <a:prstGeom prst="line">
            <a:avLst/>
          </a:prstGeom>
          <a:ln w="9525">
            <a:solidFill>
              <a:srgbClr val="000000"/>
            </a:solidFill>
            <a:prstDash val="dash"/>
          </a:ln>
        </p:spPr>
      </p:cxnSp>
      <p:cxnSp>
        <p:nvCxnSpPr>
          <p:cNvPr id="160" name="Straight Arrow Connector 797"/>
          <p:cNvCxnSpPr/>
          <p:nvPr/>
        </p:nvCxnSpPr>
        <p:spPr>
          <a:xfrm>
            <a:off x="834847" y="3394253"/>
            <a:ext cx="9966960" cy="7315"/>
          </a:xfrm>
          <a:prstGeom prst="line">
            <a:avLst/>
          </a:prstGeom>
          <a:ln w="9525">
            <a:solidFill>
              <a:srgbClr val="000000"/>
            </a:solidFill>
            <a:prstDash val="dash"/>
          </a:ln>
        </p:spPr>
      </p:cxnSp>
      <p:cxnSp>
        <p:nvCxnSpPr>
          <p:cNvPr id="161" name="Straight Arrow Connector 798"/>
          <p:cNvCxnSpPr/>
          <p:nvPr/>
        </p:nvCxnSpPr>
        <p:spPr>
          <a:xfrm>
            <a:off x="834847" y="3976726"/>
            <a:ext cx="9966960" cy="7315"/>
          </a:xfrm>
          <a:prstGeom prst="line">
            <a:avLst/>
          </a:prstGeom>
          <a:ln w="9525">
            <a:solidFill>
              <a:srgbClr val="000000"/>
            </a:solidFill>
            <a:prstDash val="dash"/>
          </a:ln>
        </p:spPr>
      </p:cxnSp>
      <p:sp>
        <p:nvSpPr>
          <p:cNvPr id="162"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3"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4"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5" name="Straight Arrow Connector 800"/>
          <p:cNvCxnSpPr/>
          <p:nvPr/>
        </p:nvCxnSpPr>
        <p:spPr>
          <a:xfrm>
            <a:off x="4015130" y="1985162"/>
            <a:ext cx="0" cy="677570"/>
          </a:xfrm>
          <a:prstGeom prst="line">
            <a:avLst/>
          </a:prstGeom>
          <a:ln w="28575">
            <a:solidFill>
              <a:srgbClr val="000000"/>
            </a:solidFill>
            <a:tailEnd type="triangle" w="med" len="med"/>
          </a:ln>
        </p:spPr>
      </p:cxnSp>
      <p:cxnSp>
        <p:nvCxnSpPr>
          <p:cNvPr id="166" name="Straight Arrow Connector 803"/>
          <p:cNvCxnSpPr/>
          <p:nvPr/>
        </p:nvCxnSpPr>
        <p:spPr>
          <a:xfrm>
            <a:off x="833018" y="4257446"/>
            <a:ext cx="9966960" cy="7315"/>
          </a:xfrm>
          <a:prstGeom prst="line">
            <a:avLst/>
          </a:prstGeom>
          <a:ln w="9525">
            <a:solidFill>
              <a:srgbClr val="000000"/>
            </a:solidFill>
            <a:prstDash val="dash"/>
          </a:ln>
        </p:spPr>
      </p:cxnSp>
      <p:sp>
        <p:nvSpPr>
          <p:cNvPr id="167" name="Rectangle 804"/>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Rectangle 6"/>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Speech Bubble: Rectangle 9"/>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Rectangle 70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851"/>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Straight Connector 451"/>
          <p:cNvCxnSpPr/>
          <p:nvPr/>
        </p:nvCxnSpPr>
        <p:spPr>
          <a:xfrm>
            <a:off x="833018" y="2803550"/>
            <a:ext cx="9829800" cy="0"/>
          </a:xfrm>
          <a:prstGeom prst="line">
            <a:avLst/>
          </a:prstGeom>
          <a:ln w="9525">
            <a:solidFill>
              <a:srgbClr val="000000"/>
            </a:solidFill>
            <a:prstDash val="dash"/>
            <a:tailEnd type="triangle" w="med" len="med"/>
          </a:ln>
        </p:spPr>
      </p:cxnSp>
      <p:cxnSp>
        <p:nvCxnSpPr>
          <p:cNvPr id="108" name="Straight Connector 33"/>
          <p:cNvCxnSpPr/>
          <p:nvPr/>
        </p:nvCxnSpPr>
        <p:spPr>
          <a:xfrm>
            <a:off x="833018" y="2003450"/>
            <a:ext cx="9829800" cy="0"/>
          </a:xfrm>
          <a:prstGeom prst="line">
            <a:avLst/>
          </a:prstGeom>
          <a:ln w="9525">
            <a:solidFill>
              <a:srgbClr val="000000"/>
            </a:solidFill>
            <a:prstDash val="dash"/>
            <a:tailEnd type="triangle" w="med" len="med"/>
          </a:ln>
        </p:spPr>
      </p:cxnSp>
      <p:cxnSp>
        <p:nvCxnSpPr>
          <p:cNvPr id="109" name="Straight Connector 50"/>
          <p:cNvCxnSpPr/>
          <p:nvPr/>
        </p:nvCxnSpPr>
        <p:spPr>
          <a:xfrm>
            <a:off x="833018" y="2506370"/>
            <a:ext cx="9829800" cy="0"/>
          </a:xfrm>
          <a:prstGeom prst="line">
            <a:avLst/>
          </a:prstGeom>
          <a:ln w="9525">
            <a:solidFill>
              <a:srgbClr val="000000"/>
            </a:solidFill>
            <a:prstDash val="dash"/>
            <a:tailEnd type="triangle" w="med" len="med"/>
          </a:ln>
        </p:spPr>
      </p:cxnSp>
      <p:cxnSp>
        <p:nvCxnSpPr>
          <p:cNvPr id="110" name="Straight Connector 462"/>
          <p:cNvCxnSpPr/>
          <p:nvPr/>
        </p:nvCxnSpPr>
        <p:spPr>
          <a:xfrm>
            <a:off x="833018" y="3396082"/>
            <a:ext cx="9829800" cy="0"/>
          </a:xfrm>
          <a:prstGeom prst="line">
            <a:avLst/>
          </a:prstGeom>
          <a:ln w="9525">
            <a:solidFill>
              <a:srgbClr val="000000"/>
            </a:solidFill>
            <a:prstDash val="dash"/>
            <a:tailEnd type="triangle" w="med" len="med"/>
          </a:ln>
        </p:spPr>
      </p:cxnSp>
      <p:cxnSp>
        <p:nvCxnSpPr>
          <p:cNvPr id="111" name="Straight Connector 473"/>
          <p:cNvCxnSpPr/>
          <p:nvPr/>
        </p:nvCxnSpPr>
        <p:spPr>
          <a:xfrm>
            <a:off x="833018" y="3989527"/>
            <a:ext cx="9829800" cy="0"/>
          </a:xfrm>
          <a:prstGeom prst="line">
            <a:avLst/>
          </a:prstGeom>
          <a:ln w="9525">
            <a:solidFill>
              <a:srgbClr val="000000"/>
            </a:solidFill>
            <a:prstDash val="dash"/>
            <a:tailEnd type="triangle" w="med" len="med"/>
          </a:ln>
        </p:spPr>
      </p:cxnSp>
      <p:cxnSp>
        <p:nvCxnSpPr>
          <p:cNvPr id="112" name="Straight Connector 486"/>
          <p:cNvCxnSpPr/>
          <p:nvPr/>
        </p:nvCxnSpPr>
        <p:spPr>
          <a:xfrm>
            <a:off x="833018" y="4270248"/>
            <a:ext cx="9829800" cy="0"/>
          </a:xfrm>
          <a:prstGeom prst="line">
            <a:avLst/>
          </a:prstGeom>
          <a:ln w="9525">
            <a:solidFill>
              <a:srgbClr val="000000"/>
            </a:solidFill>
            <a:prstDash val="dash"/>
            <a:tailEnd type="triangle" w="med" len="med"/>
          </a:ln>
        </p:spPr>
      </p:cxnSp>
      <p:sp>
        <p:nvSpPr>
          <p:cNvPr id="113"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8"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3"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4"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5"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6"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7" name="Label"/>
          <p:cNvSpPr txBox="1"/>
          <p:nvPr/>
        </p:nvSpPr>
        <p:spPr>
          <a:xfrm>
            <a:off x="1227125" y="2163470"/>
            <a:ext cx="150053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48"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49"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0" name="Straight Arrow Connector 556"/>
          <p:cNvCxnSpPr/>
          <p:nvPr/>
        </p:nvCxnSpPr>
        <p:spPr>
          <a:xfrm>
            <a:off x="834847" y="2495398"/>
            <a:ext cx="9966960" cy="7315"/>
          </a:xfrm>
          <a:prstGeom prst="line">
            <a:avLst/>
          </a:prstGeom>
          <a:ln w="9525">
            <a:solidFill>
              <a:srgbClr val="000000"/>
            </a:solidFill>
            <a:prstDash val="dash"/>
          </a:ln>
        </p:spPr>
      </p:cxnSp>
      <p:cxnSp>
        <p:nvCxnSpPr>
          <p:cNvPr id="151" name="Straight Arrow Connector 531"/>
          <p:cNvCxnSpPr/>
          <p:nvPr/>
        </p:nvCxnSpPr>
        <p:spPr>
          <a:xfrm>
            <a:off x="834847" y="1996135"/>
            <a:ext cx="9966960" cy="7315"/>
          </a:xfrm>
          <a:prstGeom prst="line">
            <a:avLst/>
          </a:prstGeom>
          <a:ln w="9525">
            <a:solidFill>
              <a:srgbClr val="000000"/>
            </a:solidFill>
            <a:prstDash val="dash"/>
          </a:ln>
        </p:spPr>
      </p:cxnSp>
      <p:sp>
        <p:nvSpPr>
          <p:cNvPr id="152"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7" name="Rectangle 394"/>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8"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9"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60"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61"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2"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3" name="Rectangle 413"/>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64" name="Rectangle 23"/>
          <p:cNvSpPr txBox="1"/>
          <p:nvPr/>
        </p:nvSpPr>
        <p:spPr>
          <a:xfrm>
            <a:off x="7378294" y="158191"/>
            <a:ext cx="2722169" cy="199339"/>
          </a:xfrm>
          <a:prstGeom prst="rect">
            <a:avLst/>
          </a:prstGeom>
          <a:solidFill>
            <a:srgbClr val="0E1924"/>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(3) SHIPS Act “Plus” Scenario</a:t>
            </a:r>
          </a:p>
        </p:txBody>
      </p:sp>
      <p:cxnSp>
        <p:nvCxnSpPr>
          <p:cNvPr id="165" name="Straight Arrow Connector 559"/>
          <p:cNvCxnSpPr/>
          <p:nvPr/>
        </p:nvCxnSpPr>
        <p:spPr>
          <a:xfrm>
            <a:off x="834847" y="2790749"/>
            <a:ext cx="9966960" cy="7315"/>
          </a:xfrm>
          <a:prstGeom prst="line">
            <a:avLst/>
          </a:prstGeom>
          <a:ln w="9525">
            <a:solidFill>
              <a:srgbClr val="000000"/>
            </a:solidFill>
            <a:prstDash val="dash"/>
          </a:ln>
        </p:spPr>
      </p:cxnSp>
      <p:cxnSp>
        <p:nvCxnSpPr>
          <p:cNvPr id="166" name="Straight Arrow Connector 562"/>
          <p:cNvCxnSpPr/>
          <p:nvPr/>
        </p:nvCxnSpPr>
        <p:spPr>
          <a:xfrm>
            <a:off x="834847" y="3394253"/>
            <a:ext cx="9966960" cy="7315"/>
          </a:xfrm>
          <a:prstGeom prst="line">
            <a:avLst/>
          </a:prstGeom>
          <a:ln w="9525">
            <a:solidFill>
              <a:srgbClr val="000000"/>
            </a:solidFill>
            <a:prstDash val="dash"/>
          </a:ln>
        </p:spPr>
      </p:cxnSp>
      <p:cxnSp>
        <p:nvCxnSpPr>
          <p:cNvPr id="167" name="Straight Arrow Connector 566"/>
          <p:cNvCxnSpPr/>
          <p:nvPr/>
        </p:nvCxnSpPr>
        <p:spPr>
          <a:xfrm>
            <a:off x="833018" y="3977640"/>
            <a:ext cx="9966960" cy="7315"/>
          </a:xfrm>
          <a:prstGeom prst="line">
            <a:avLst/>
          </a:prstGeom>
          <a:ln w="9525">
            <a:solidFill>
              <a:srgbClr val="000000"/>
            </a:solidFill>
            <a:prstDash val="dash"/>
          </a:ln>
        </p:spPr>
      </p:cxnSp>
      <p:sp>
        <p:nvSpPr>
          <p:cNvPr id="168"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9"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0"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1" name="Straight Arrow Connector 568"/>
          <p:cNvCxnSpPr/>
          <p:nvPr/>
        </p:nvCxnSpPr>
        <p:spPr>
          <a:xfrm>
            <a:off x="4015130" y="1985162"/>
            <a:ext cx="0" cy="677570"/>
          </a:xfrm>
          <a:prstGeom prst="line">
            <a:avLst/>
          </a:prstGeom>
          <a:ln w="28575">
            <a:solidFill>
              <a:srgbClr val="000000"/>
            </a:solidFill>
            <a:tailEnd type="triangle" w="med" len="med"/>
          </a:ln>
        </p:spPr>
      </p:cxnSp>
      <p:cxnSp>
        <p:nvCxnSpPr>
          <p:cNvPr id="172" name="Straight Arrow Connector 63"/>
          <p:cNvCxnSpPr/>
          <p:nvPr/>
        </p:nvCxnSpPr>
        <p:spPr>
          <a:xfrm>
            <a:off x="833018" y="4254703"/>
            <a:ext cx="9966960" cy="7315"/>
          </a:xfrm>
          <a:prstGeom prst="line">
            <a:avLst/>
          </a:prstGeom>
          <a:ln w="9525">
            <a:solidFill>
              <a:srgbClr val="000000"/>
            </a:solidFill>
            <a:prstDash val="dash"/>
          </a:ln>
        </p:spPr>
      </p:cxnSp>
      <p:sp>
        <p:nvSpPr>
          <p:cNvPr id="173" name="Speech Bubble: Rectangle 8"/>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Rectangle 7"/>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Rectangle 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12"/>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GAO Report on Government Preference Cargo</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prstDash val="dash"/>
            <a:tailEnd type="triangle" w="med" len="med"/>
          </a:ln>
        </p:spPr>
      </p:cxnSp>
      <p:cxnSp>
        <p:nvCxnSpPr>
          <p:cNvPr id="104" name="Straight Connector 75"/>
          <p:cNvCxnSpPr/>
          <p:nvPr/>
        </p:nvCxnSpPr>
        <p:spPr>
          <a:xfrm flipH="1">
            <a:off x="2376526" y="1990649"/>
            <a:ext cx="92354" cy="63094"/>
          </a:xfrm>
          <a:prstGeom prst="line">
            <a:avLst/>
          </a:prstGeom>
          <a:ln w="6350">
            <a:solidFill>
              <a:srgbClr val="44505C"/>
            </a:solidFill>
            <a:prstDash val="dash"/>
            <a:tailEnd type="triangle" w="med" len="med"/>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128" name="ScenarioChip"/>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(1/2).</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(2/2).</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Table 8"/>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ctr"/>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ctr"/>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ctr"/>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Rectangle 19"/>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Rectangle 20"/>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Connector: Elbow 22"/>
          <p:cNvCxnSpPr/>
          <p:nvPr/>
        </p:nvCxnSpPr>
        <p:spPr>
          <a:xfrm>
            <a:off x="8485632" y="3634740"/>
            <a:ext cx="205740" cy="113386"/>
          </a:xfrm>
          <a:prstGeom prst="bentConnector3">
            <a:avLst/>
          </a:prstGeom>
          <a:ln w="12700">
            <a:solidFill>
              <a:srgbClr val="000000"/>
            </a:solidFill>
            <a:tailEnd type="triangle" w="med" len="med"/>
          </a:ln>
        </p:spPr>
      </p:cxnSp>
      <p:sp>
        <p:nvSpPr>
          <p:cNvPr id="104" name="Rectangle 25"/>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Rectangle 32"/>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TextBox 41"/>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Connector: Elbow 42"/>
          <p:cNvCxnSpPr/>
          <p:nvPr/>
        </p:nvCxnSpPr>
        <p:spPr>
          <a:xfrm flipV="1">
            <a:off x="5214823" y="5106924"/>
            <a:ext cx="3499409" cy="70409"/>
          </a:xfrm>
          <a:prstGeom prst="bentConnector3">
            <a:avLst/>
          </a:prstGeom>
          <a:ln w="12700">
            <a:solidFill>
              <a:srgbClr val="000000"/>
            </a:solidFill>
            <a:tailEnd type="triangle" w="med" len="med"/>
          </a:ln>
        </p:spPr>
      </p:cxnSp>
      <p:sp>
        <p:nvSpPr>
          <p:cNvPr id="108" name="TextBox 46"/>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TextBox 48"/>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TextBox 51"/>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TextBox 53"/>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Text Placeholder 25"/>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ext Placeholder 25"/>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Text Placeholder 25"/>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Rectangle 304"/>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Text Placeholder 25"/>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graphicFrame>
        <p:nvGraphicFramePr>
          <p:cNvPr id="126" name="Table 238"/>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Cross, kreuz"/>
          <p:cNvSpPr/>
          <p:nvPr/>
        </p:nvSpPr>
        <p:spPr>
          <a:xfrm>
            <a:off x="7591349" y="2164385"/>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8" name="Cross, kreuz"/>
          <p:cNvSpPr/>
          <p:nvPr/>
        </p:nvSpPr>
        <p:spPr>
          <a:xfrm>
            <a:off x="7591349" y="2738628"/>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9" name="Cross, kreuz"/>
          <p:cNvSpPr/>
          <p:nvPr/>
        </p:nvSpPr>
        <p:spPr>
          <a:xfrm>
            <a:off x="7591349" y="3325673"/>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Haken, check"/>
          <p:cNvSpPr/>
          <p:nvPr/>
        </p:nvSpPr>
        <p:spPr>
          <a:xfrm>
            <a:off x="7591349" y="3899002"/>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1" name="Haken, check"/>
          <p:cNvSpPr/>
          <p:nvPr/>
        </p:nvSpPr>
        <p:spPr>
          <a:xfrm>
            <a:off x="7591349" y="4490618"/>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2" name="Label"/>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Label"/>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34" name="Label"/>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Rectangle 326"/>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136" name="Rectangle 407"/>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Hawaii Department of Transportation</a:t>
            </a:r>
          </a:p>
        </p:txBody>
      </p:sp>
      <p:sp>
        <p:nvSpPr>
          <p:cNvPr id="137" name="Rectangle 453"/>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8" name="Rectangle 465"/>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9" name="Straight Arrow Connector 597"/>
          <p:cNvCxnSpPr/>
          <p:nvPr/>
        </p:nvCxnSpPr>
        <p:spPr>
          <a:xfrm>
            <a:off x="3648456" y="3705149"/>
            <a:ext cx="1976933" cy="636422"/>
          </a:xfrm>
          <a:prstGeom prst="line">
            <a:avLst/>
          </a:prstGeom>
          <a:ln w="12700">
            <a:solidFill>
              <a:srgbClr val="808080"/>
            </a:solidFill>
            <a:prstDash val="dash"/>
          </a:ln>
        </p:spPr>
      </p:cxnSp>
      <p:cxnSp>
        <p:nvCxnSpPr>
          <p:cNvPr id="140" name="Straight Arrow Connector 637"/>
          <p:cNvCxnSpPr/>
          <p:nvPr/>
        </p:nvCxnSpPr>
        <p:spPr>
          <a:xfrm>
            <a:off x="3648456" y="3375050"/>
            <a:ext cx="1985162" cy="389534"/>
          </a:xfrm>
          <a:prstGeom prst="line">
            <a:avLst/>
          </a:prstGeom>
          <a:ln w="12700">
            <a:solidFill>
              <a:srgbClr val="808080"/>
            </a:solidFill>
            <a:prstDash val="dash"/>
          </a:ln>
        </p:spPr>
      </p:cxnSp>
      <p:cxnSp>
        <p:nvCxnSpPr>
          <p:cNvPr id="141" name="Straight Arrow Connector 640"/>
          <p:cNvCxnSpPr/>
          <p:nvPr/>
        </p:nvCxnSpPr>
        <p:spPr>
          <a:xfrm>
            <a:off x="3648456" y="2495398"/>
            <a:ext cx="1976933" cy="643738"/>
          </a:xfrm>
          <a:prstGeom prst="line">
            <a:avLst/>
          </a:prstGeom>
          <a:ln w="12700">
            <a:solidFill>
              <a:srgbClr val="808080"/>
            </a:solidFill>
            <a:prstDash val="dash"/>
          </a:ln>
        </p:spPr>
      </p:cxnSp>
      <p:cxnSp>
        <p:nvCxnSpPr>
          <p:cNvPr id="142" name="Straight Arrow Connector 646"/>
          <p:cNvCxnSpPr/>
          <p:nvPr/>
        </p:nvCxnSpPr>
        <p:spPr>
          <a:xfrm>
            <a:off x="3648456" y="2311603"/>
            <a:ext cx="1985162" cy="281635"/>
          </a:xfrm>
          <a:prstGeom prst="line">
            <a:avLst/>
          </a:prstGeom>
          <a:ln w="12700">
            <a:solidFill>
              <a:srgbClr val="808080"/>
            </a:solidFill>
            <a:prstDash val="dash"/>
          </a:ln>
        </p:spPr>
      </p:cxnSp>
      <p:cxnSp>
        <p:nvCxnSpPr>
          <p:cNvPr id="143" name="Straight Arrow Connector 471"/>
          <p:cNvCxnSpPr/>
          <p:nvPr/>
        </p:nvCxnSpPr>
        <p:spPr>
          <a:xfrm flipV="1">
            <a:off x="3648456" y="2011680"/>
            <a:ext cx="1952244" cy="274320"/>
          </a:xfrm>
          <a:prstGeom prst="line">
            <a:avLst/>
          </a:prstGeom>
          <a:ln w="12700">
            <a:solidFill>
              <a:srgbClr val="808080"/>
            </a:solidFill>
            <a:prstDash val="dash"/>
          </a:ln>
        </p:spPr>
      </p:cxnSp>
      <p:sp>
        <p:nvSpPr>
          <p:cNvPr id="144" name="Rectangle 36"/>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dirty="0">
                          <a:solidFill>
                            <a:srgbClr val="000000"/>
                          </a:solidFill>
                          <a:latin typeface="Arial"/>
                          <a:ea typeface="Arial"/>
                          <a:cs typeface="Arial"/>
                        </a:rPr>
                        <a:t>10x+ </a:t>
                      </a:r>
                      <a:r>
                        <a:rPr lang="en-US" sz="1200" i="1" dirty="0">
                          <a:solidFill>
                            <a:srgbClr val="000000"/>
                          </a:solidFill>
                          <a:latin typeface="Arial"/>
                          <a:ea typeface="Arial"/>
                          <a:cs typeface="Arial"/>
                        </a:rPr>
                        <a:t>Arleigh Burke</a:t>
                      </a:r>
                      <a:r>
                        <a:rPr lang="en-US" sz="1200"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 | Source: Congressional Research Service; OBBBA text; FY26 Budget Estimate; Lockheed Martin MK 70 Product Card; 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27"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28"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9"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30"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31"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32"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67"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7"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8"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9"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0"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1"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2"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2026-06-27T23:05:39Z</dcterms:created>
  <dcterms:modified xsi:type="dcterms:W3CDTF">2026-06-27T23:05:39Z</dcterms:modified>
</cp:coreProperties>
</file>