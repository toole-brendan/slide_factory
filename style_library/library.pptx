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BinaryWorksheet1.xlsb" ContentType="application/vnd.ms-excel.sheet.binary.macroEnabled.12"/>
  <Override PartName="/ppt/embeddings/Microsoft_Excel_BinaryWorksheet2.xlsb" ContentType="application/vnd.ms-excel.sheet.binary.macroEnabled.12"/>
  <Override PartName="/ppt/embeddings/Microsoft_Excel_BinaryWorksheet3.xlsb" ContentType="application/vnd.ms-excel.sheet.binary.macroEnabled.12"/>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BinaryWorksheet14.xlsb" ContentType="application/vnd.ms-excel.sheet.binary.macroEnabled.12"/>
  <Override PartName="/ppt/embeddings/Microsoft_Excel_BinaryWorksheet15.xlsb" ContentType="application/vnd.ms-excel.sheet.binary.macroEnabled.12"/>
  <Override PartName="/ppt/embeddings/Microsoft_Excel_BinaryWorksheet16.xlsb" ContentType="application/vnd.ms-excel.sheet.binary.macroEnabled.12"/>
  <Override PartName="/ppt/embeddings/Microsoft_Excel_Worksheet17.xlsx" ContentType="application/vnd.openxmlformats-officedocument.spreadsheetml.sheet"/>
  <Override PartName="/ppt/embeddings/Microsoft_Excel_Worksheet18.xlsx" ContentType="application/vnd.openxmlformats-officedocument.spreadsheetml.sheet"/>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Worksheet21.xlsx" ContentType="application/vnd.openxmlformats-officedocument.spreadsheetml.sheet"/>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BinaryWorksheet1.xlsb"/></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BinaryWorksheet2.xlsb"/></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BinaryWorksheet3.xlsb"/></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BinaryWorksheet14.xlsb"/></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BinaryWorksheet15.xlsb"/></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BinaryWorksheet16.xlsb"/></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4.8794167134043748E-2"/>
          <c:y val="3.2721202003338896E-2"/>
          <c:w val="0.9414843896055337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A4D1-4D60-A912-E9AB7C77F9E6}"/>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A4D1-4D60-A912-E9AB7C77F9E6}"/>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A4D1-4D60-A912-E9AB7C77F9E6}"/>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A4D1-4D60-A912-E9AB7C77F9E6}"/>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A4D1-4D60-A912-E9AB7C77F9E6}"/>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A4D1-4D60-A912-E9AB7C77F9E6}"/>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A4D1-4D60-A912-E9AB7C77F9E6}"/>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A4D1-4D60-A912-E9AB7C77F9E6}"/>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A4D1-4D60-A912-E9AB7C77F9E6}"/>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A4D1-4D60-A912-E9AB7C77F9E6}"/>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A4D1-4D60-A912-E9AB7C77F9E6}"/>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A4D1-4D60-A912-E9AB7C77F9E6}"/>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A4D1-4D60-A912-E9AB7C77F9E6}"/>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A4D1-4D60-A912-E9AB7C77F9E6}"/>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A4D1-4D60-A912-E9AB7C77F9E6}"/>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A4D1-4D60-A912-E9AB7C77F9E6}"/>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A4D1-4D60-A912-E9AB7C77F9E6}"/>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A4D1-4D60-A912-E9AB7C77F9E6}"/>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A4D1-4D60-A912-E9AB7C77F9E6}"/>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A4D1-4D60-A912-E9AB7C77F9E6}"/>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A4D1-4D60-A912-E9AB7C77F9E6}"/>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A4D1-4D60-A912-E9AB7C77F9E6}"/>
              </c:ext>
            </c:extLst>
          </c:dPt>
          <c:dPt>
            <c:idx val="39"/>
            <c:invertIfNegative val="0"/>
            <c:bubble3D val="0"/>
            <c:extLst>
              <c:ext xmlns:c16="http://schemas.microsoft.com/office/drawing/2014/chart" uri="{C3380CC4-5D6E-409C-BE32-E72D297353CC}">
                <c16:uniqueId val="{00000016-A4D1-4D60-A912-E9AB7C77F9E6}"/>
              </c:ext>
            </c:extLst>
          </c:dPt>
          <c:dPt>
            <c:idx val="40"/>
            <c:invertIfNegative val="0"/>
            <c:bubble3D val="0"/>
            <c:extLst>
              <c:ext xmlns:c16="http://schemas.microsoft.com/office/drawing/2014/chart" uri="{C3380CC4-5D6E-409C-BE32-E72D297353CC}">
                <c16:uniqueId val="{00000017-A4D1-4D60-A912-E9AB7C77F9E6}"/>
              </c:ext>
            </c:extLst>
          </c:dPt>
          <c:dPt>
            <c:idx val="41"/>
            <c:invertIfNegative val="0"/>
            <c:bubble3D val="0"/>
            <c:extLst>
              <c:ext xmlns:c16="http://schemas.microsoft.com/office/drawing/2014/chart" uri="{C3380CC4-5D6E-409C-BE32-E72D297353CC}">
                <c16:uniqueId val="{00000018-A4D1-4D60-A912-E9AB7C77F9E6}"/>
              </c:ext>
            </c:extLst>
          </c:dPt>
          <c:dPt>
            <c:idx val="42"/>
            <c:invertIfNegative val="0"/>
            <c:bubble3D val="0"/>
            <c:extLst>
              <c:ext xmlns:c16="http://schemas.microsoft.com/office/drawing/2014/chart" uri="{C3380CC4-5D6E-409C-BE32-E72D297353CC}">
                <c16:uniqueId val="{00000019-A4D1-4D60-A912-E9AB7C77F9E6}"/>
              </c:ext>
            </c:extLst>
          </c:dPt>
          <c:dPt>
            <c:idx val="43"/>
            <c:invertIfNegative val="0"/>
            <c:bubble3D val="0"/>
            <c:extLst>
              <c:ext xmlns:c16="http://schemas.microsoft.com/office/drawing/2014/chart" uri="{C3380CC4-5D6E-409C-BE32-E72D297353CC}">
                <c16:uniqueId val="{0000001A-A4D1-4D60-A912-E9AB7C77F9E6}"/>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A4D1-4D60-A912-E9AB7C77F9E6}"/>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A4D1-4D60-A912-E9AB7C77F9E6}"/>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A4D1-4D60-A912-E9AB7C77F9E6}"/>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A4D1-4D60-A912-E9AB7C77F9E6}"/>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A4D1-4D60-A912-E9AB7C77F9E6}"/>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A4D1-4D60-A912-E9AB7C77F9E6}"/>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A4D1-4D60-A912-E9AB7C77F9E6}"/>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A4D1-4D60-A912-E9AB7C77F9E6}"/>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A4D1-4D60-A912-E9AB7C77F9E6}"/>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A4D1-4D60-A912-E9AB7C77F9E6}"/>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A4D1-4D60-A912-E9AB7C77F9E6}"/>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A4D1-4D60-A912-E9AB7C77F9E6}"/>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A4D1-4D60-A912-E9AB7C77F9E6}"/>
              </c:ext>
            </c:extLst>
          </c:dPt>
          <c:dPt>
            <c:idx val="65"/>
            <c:invertIfNegative val="0"/>
            <c:bubble3D val="0"/>
            <c:extLst>
              <c:ext xmlns:c16="http://schemas.microsoft.com/office/drawing/2014/chart" uri="{C3380CC4-5D6E-409C-BE32-E72D297353CC}">
                <c16:uniqueId val="{00000028-A4D1-4D60-A912-E9AB7C77F9E6}"/>
              </c:ext>
            </c:extLst>
          </c:dPt>
          <c:dPt>
            <c:idx val="66"/>
            <c:invertIfNegative val="0"/>
            <c:bubble3D val="0"/>
            <c:extLst>
              <c:ext xmlns:c16="http://schemas.microsoft.com/office/drawing/2014/chart" uri="{C3380CC4-5D6E-409C-BE32-E72D297353CC}">
                <c16:uniqueId val="{00000029-A4D1-4D60-A912-E9AB7C77F9E6}"/>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A4D1-4D60-A912-E9AB7C77F9E6}"/>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A4D1-4D60-A912-E9AB7C77F9E6}"/>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A4D1-4D60-A912-E9AB7C77F9E6}"/>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A4D1-4D60-A912-E9AB7C77F9E6}"/>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A4D1-4D60-A912-E9AB7C77F9E6}"/>
              </c:ext>
            </c:extLst>
          </c:dPt>
          <c:dPt>
            <c:idx val="71"/>
            <c:invertIfNegative val="0"/>
            <c:bubble3D val="0"/>
            <c:extLst>
              <c:ext xmlns:c16="http://schemas.microsoft.com/office/drawing/2014/chart" uri="{C3380CC4-5D6E-409C-BE32-E72D297353CC}">
                <c16:uniqueId val="{0000002F-A4D1-4D60-A912-E9AB7C77F9E6}"/>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A4D1-4D60-A912-E9AB7C77F9E6}"/>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A4D1-4D60-A912-E9AB7C77F9E6}"/>
            </c:ext>
          </c:extLst>
        </c:ser>
        <c:dLbls>
          <c:showLegendKey val="0"/>
          <c:showVal val="0"/>
          <c:showCatName val="0"/>
          <c:showSerName val="0"/>
          <c:showPercent val="0"/>
          <c:showBubbleSize val="0"/>
        </c:dLbls>
        <c:bubbleScale val="66"/>
        <c:showNegBubbles val="0"/>
        <c:axId val="509230752"/>
        <c:axId val="1"/>
      </c:bubbleChart>
      <c:valAx>
        <c:axId val="509230752"/>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509230752"/>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2.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3.8546866333887965E-2"/>
          <c:y val="5.3951367781155016E-2"/>
          <c:w val="0.92900721020521349"/>
          <c:h val="0.89209726443769"/>
        </c:manualLayout>
      </c:layout>
      <c:barChart>
        <c:barDir val="col"/>
        <c:grouping val="stacked"/>
        <c:varyColors val="0"/>
        <c:ser>
          <c:idx val="0"/>
          <c:order val="0"/>
          <c:spPr>
            <a:solidFill>
              <a:srgbClr val="364D6E"/>
            </a:solidFill>
            <a:ln>
              <a:noFill/>
            </a:ln>
          </c:spPr>
          <c:invertIfNegative val="0"/>
          <c:dLbls>
            <c:dLbl>
              <c:idx val="4"/>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3BFF-47D8-BA68-1DA35D3033A3}"/>
                </c:ext>
              </c:extLst>
            </c:dLbl>
            <c:dLbl>
              <c:idx val="5"/>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3BFF-47D8-BA68-1DA35D3033A3}"/>
                </c:ext>
              </c:extLst>
            </c:dLbl>
            <c:dLbl>
              <c:idx val="6"/>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3BFF-47D8-BA68-1DA35D3033A3}"/>
                </c:ext>
              </c:extLst>
            </c:dLbl>
            <c:dLbl>
              <c:idx val="8"/>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3BFF-47D8-BA68-1DA35D3033A3}"/>
                </c:ext>
              </c:extLst>
            </c:dLbl>
            <c:dLbl>
              <c:idx val="9"/>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3BFF-47D8-BA68-1DA35D3033A3}"/>
                </c:ext>
              </c:extLst>
            </c:dLbl>
            <c:dLbl>
              <c:idx val="10"/>
              <c:layout>
                <c:manualLayout>
                  <c:x val="0"/>
                  <c:y val="-6.0030395136778117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3BFF-47D8-BA68-1DA35D3033A3}"/>
                </c:ext>
              </c:extLst>
            </c:dLbl>
            <c:dLbl>
              <c:idx val="11"/>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3BFF-47D8-BA68-1DA35D3033A3}"/>
                </c:ext>
              </c:extLst>
            </c:dLbl>
            <c:dLbl>
              <c:idx val="12"/>
              <c:layout>
                <c:manualLayout>
                  <c:x val="0"/>
                  <c:y val="-0.1489361702127659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3BFF-47D8-BA68-1DA35D3033A3}"/>
                </c:ext>
              </c:extLst>
            </c:dLbl>
            <c:dLbl>
              <c:idx val="13"/>
              <c:layout>
                <c:manualLayout>
                  <c:x val="0"/>
                  <c:y val="-0.158054711246200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3BFF-47D8-BA68-1DA35D3033A3}"/>
                </c:ext>
              </c:extLst>
            </c:dLbl>
            <c:dLbl>
              <c:idx val="14"/>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9-3BFF-47D8-BA68-1DA35D3033A3}"/>
                </c:ext>
              </c:extLst>
            </c:dLbl>
            <c:dLbl>
              <c:idx val="15"/>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3BFF-47D8-BA68-1DA35D3033A3}"/>
                </c:ext>
              </c:extLst>
            </c:dLbl>
            <c:dLbl>
              <c:idx val="17"/>
              <c:layout>
                <c:manualLayout>
                  <c:x val="0"/>
                  <c:y val="-0.1759118541033434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B-3BFF-47D8-BA68-1DA35D3033A3}"/>
                </c:ext>
              </c:extLst>
            </c:dLbl>
            <c:dLbl>
              <c:idx val="18"/>
              <c:layout>
                <c:manualLayout>
                  <c:x val="0"/>
                  <c:y val="-9.574468085106382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C-3BFF-47D8-BA68-1DA35D3033A3}"/>
                </c:ext>
              </c:extLst>
            </c:dLbl>
            <c:dLbl>
              <c:idx val="19"/>
              <c:layout>
                <c:manualLayout>
                  <c:x val="0"/>
                  <c:y val="-0.1314589665653495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D-3BFF-47D8-BA68-1DA35D3033A3}"/>
                </c:ext>
              </c:extLst>
            </c:dLbl>
            <c:dLbl>
              <c:idx val="20"/>
              <c:layout>
                <c:manualLayout>
                  <c:x val="0"/>
                  <c:y val="-0.1048632218844984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3BFF-47D8-BA68-1DA35D3033A3}"/>
                </c:ext>
              </c:extLst>
            </c:dLbl>
            <c:dLbl>
              <c:idx val="21"/>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F-3BFF-47D8-BA68-1DA35D3033A3}"/>
                </c:ext>
              </c:extLst>
            </c:dLbl>
            <c:dLbl>
              <c:idx val="22"/>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3BFF-47D8-BA68-1DA35D3033A3}"/>
                </c:ext>
              </c:extLst>
            </c:dLbl>
            <c:dLbl>
              <c:idx val="23"/>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1-3BFF-47D8-BA68-1DA35D3033A3}"/>
                </c:ext>
              </c:extLst>
            </c:dLbl>
            <c:dLbl>
              <c:idx val="24"/>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2-3BFF-47D8-BA68-1DA35D3033A3}"/>
                </c:ext>
              </c:extLst>
            </c:dLbl>
            <c:dLbl>
              <c:idx val="25"/>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3-3BFF-47D8-BA68-1DA35D3033A3}"/>
                </c:ext>
              </c:extLst>
            </c:dLbl>
            <c:dLbl>
              <c:idx val="26"/>
              <c:layout>
                <c:manualLayout>
                  <c:x val="0"/>
                  <c:y val="-0.1401975683890577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4-3BFF-47D8-BA68-1DA35D3033A3}"/>
                </c:ext>
              </c:extLst>
            </c:dLbl>
            <c:dLbl>
              <c:idx val="27"/>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5-3BFF-47D8-BA68-1DA35D3033A3}"/>
                </c:ext>
              </c:extLst>
            </c:dLbl>
            <c:dLbl>
              <c:idx val="30"/>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6-3BFF-47D8-BA68-1DA35D3033A3}"/>
                </c:ext>
              </c:extLst>
            </c:dLbl>
            <c:dLbl>
              <c:idx val="31"/>
              <c:layout>
                <c:manualLayout>
                  <c:x val="0"/>
                  <c:y val="-7.788753799392096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7-3BFF-47D8-BA68-1DA35D3033A3}"/>
                </c:ext>
              </c:extLst>
            </c:dLbl>
            <c:dLbl>
              <c:idx val="32"/>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8-3BFF-47D8-BA68-1DA35D3033A3}"/>
                </c:ext>
              </c:extLst>
            </c:dLbl>
            <c:dLbl>
              <c:idx val="33"/>
              <c:layout>
                <c:manualLayout>
                  <c:x val="0"/>
                  <c:y val="-5.129179331306990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9-3BFF-47D8-BA68-1DA35D3033A3}"/>
                </c:ext>
              </c:extLst>
            </c:dLbl>
            <c:dLbl>
              <c:idx val="34"/>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A-3BFF-47D8-BA68-1DA35D3033A3}"/>
                </c:ext>
              </c:extLst>
            </c:dLbl>
            <c:dLbl>
              <c:idx val="35"/>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B-3BFF-47D8-BA68-1DA35D3033A3}"/>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Sheet1!$A$1:$AN$1</c:f>
              <c:numCache>
                <c:formatCode>General</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extLst>
            <c:ext uri="{C3380CC4-5D6E-409C-BE32-E72D297353CC}">
              <c16:uniqueId val="{0000001C-3BFF-47D8-BA68-1DA35D3033A3}"/>
            </c:ext>
          </c:extLst>
        </c:ser>
        <c:dLbls>
          <c:showLegendKey val="0"/>
          <c:showVal val="0"/>
          <c:showCatName val="0"/>
          <c:showSerName val="0"/>
          <c:showPercent val="0"/>
          <c:showBubbleSize val="0"/>
        </c:dLbls>
        <c:gapWidth val="80"/>
        <c:overlap val="100"/>
        <c:axId val="962740831"/>
        <c:axId val="1"/>
      </c:barChart>
      <c:lineChart>
        <c:grouping val="standard"/>
        <c:varyColors val="0"/>
        <c:ser>
          <c:idx val="1"/>
          <c:order val="1"/>
          <c:spPr>
            <a:ln w="28575" cmpd="sng" algn="ctr">
              <a:solidFill>
                <a:srgbClr val="FFC000"/>
              </a:solidFill>
              <a:prstDash val="solid"/>
            </a:ln>
          </c:spPr>
          <c:marker>
            <c:symbol val="none"/>
          </c:marker>
          <c:val>
            <c:numRef>
              <c:f>Sheet1!$A$2:$AN$2</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extLst>
            <c:ext uri="{C3380CC4-5D6E-409C-BE32-E72D297353CC}">
              <c16:uniqueId val="{0000001D-3BFF-47D8-BA68-1DA35D3033A3}"/>
            </c:ext>
          </c:extLst>
        </c:ser>
        <c:ser>
          <c:idx val="2"/>
          <c:order val="2"/>
          <c:spPr>
            <a:ln w="28575" cmpd="sng" algn="ctr">
              <a:solidFill>
                <a:srgbClr val="007770"/>
              </a:solidFill>
              <a:prstDash val="solid"/>
            </a:ln>
          </c:spPr>
          <c:marker>
            <c:symbol val="none"/>
          </c:marker>
          <c:val>
            <c:numRef>
              <c:f>Sheet1!$A$3:$AN$3</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extLst>
            <c:ext uri="{C3380CC4-5D6E-409C-BE32-E72D297353CC}">
              <c16:uniqueId val="{0000001E-3BFF-47D8-BA68-1DA35D3033A3}"/>
            </c:ext>
          </c:extLst>
        </c:ser>
        <c:dLbls>
          <c:showLegendKey val="0"/>
          <c:showVal val="0"/>
          <c:showCatName val="0"/>
          <c:showSerName val="0"/>
          <c:showPercent val="0"/>
          <c:showBubbleSize val="0"/>
        </c:dLbls>
        <c:marker val="1"/>
        <c:smooth val="0"/>
        <c:axId val="2"/>
        <c:axId val="3"/>
      </c:lineChart>
      <c:catAx>
        <c:axId val="962740831"/>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50"/>
          <c:min val="0"/>
        </c:scaling>
        <c:delete val="0"/>
        <c:axPos val="r"/>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962740831"/>
        <c:crosses val="max"/>
        <c:crossBetween val="between"/>
        <c:majorUnit val="5"/>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6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2"/>
        <c:crosses val="min"/>
        <c:crossBetween val="between"/>
        <c:majorUnit val="10"/>
      </c:valAx>
    </c:plotArea>
    <c:plotVisOnly val="0"/>
    <c:dispBlanksAs val="gap"/>
    <c:showDLblsOverMax val="1"/>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3.6134570123217497E-2"/>
          <c:y val="3.2721202003338896E-2"/>
          <c:w val="0.9566662051779039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7FAC-45FD-ABFA-3F40219FA207}"/>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7FAC-45FD-ABFA-3F40219FA207}"/>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7FAC-45FD-ABFA-3F40219FA207}"/>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7FAC-45FD-ABFA-3F40219FA207}"/>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7FAC-45FD-ABFA-3F40219FA207}"/>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7FAC-45FD-ABFA-3F40219FA207}"/>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7FAC-45FD-ABFA-3F40219FA207}"/>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7FAC-45FD-ABFA-3F40219FA207}"/>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7FAC-45FD-ABFA-3F40219FA207}"/>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7FAC-45FD-ABFA-3F40219FA207}"/>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7FAC-45FD-ABFA-3F40219FA207}"/>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7FAC-45FD-ABFA-3F40219FA207}"/>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7FAC-45FD-ABFA-3F40219FA207}"/>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7FAC-45FD-ABFA-3F40219FA207}"/>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7FAC-45FD-ABFA-3F40219FA207}"/>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7FAC-45FD-ABFA-3F40219FA207}"/>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7FAC-45FD-ABFA-3F40219FA207}"/>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7FAC-45FD-ABFA-3F40219FA207}"/>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7FAC-45FD-ABFA-3F40219FA207}"/>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7FAC-45FD-ABFA-3F40219FA207}"/>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7FAC-45FD-ABFA-3F40219FA207}"/>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7FAC-45FD-ABFA-3F40219FA207}"/>
              </c:ext>
            </c:extLst>
          </c:dPt>
          <c:dPt>
            <c:idx val="39"/>
            <c:invertIfNegative val="0"/>
            <c:bubble3D val="0"/>
            <c:extLst>
              <c:ext xmlns:c16="http://schemas.microsoft.com/office/drawing/2014/chart" uri="{C3380CC4-5D6E-409C-BE32-E72D297353CC}">
                <c16:uniqueId val="{00000016-7FAC-45FD-ABFA-3F40219FA207}"/>
              </c:ext>
            </c:extLst>
          </c:dPt>
          <c:dPt>
            <c:idx val="40"/>
            <c:invertIfNegative val="0"/>
            <c:bubble3D val="0"/>
            <c:extLst>
              <c:ext xmlns:c16="http://schemas.microsoft.com/office/drawing/2014/chart" uri="{C3380CC4-5D6E-409C-BE32-E72D297353CC}">
                <c16:uniqueId val="{00000017-7FAC-45FD-ABFA-3F40219FA207}"/>
              </c:ext>
            </c:extLst>
          </c:dPt>
          <c:dPt>
            <c:idx val="41"/>
            <c:invertIfNegative val="0"/>
            <c:bubble3D val="0"/>
            <c:extLst>
              <c:ext xmlns:c16="http://schemas.microsoft.com/office/drawing/2014/chart" uri="{C3380CC4-5D6E-409C-BE32-E72D297353CC}">
                <c16:uniqueId val="{00000018-7FAC-45FD-ABFA-3F40219FA207}"/>
              </c:ext>
            </c:extLst>
          </c:dPt>
          <c:dPt>
            <c:idx val="42"/>
            <c:invertIfNegative val="0"/>
            <c:bubble3D val="0"/>
            <c:extLst>
              <c:ext xmlns:c16="http://schemas.microsoft.com/office/drawing/2014/chart" uri="{C3380CC4-5D6E-409C-BE32-E72D297353CC}">
                <c16:uniqueId val="{00000019-7FAC-45FD-ABFA-3F40219FA207}"/>
              </c:ext>
            </c:extLst>
          </c:dPt>
          <c:dPt>
            <c:idx val="43"/>
            <c:invertIfNegative val="0"/>
            <c:bubble3D val="0"/>
            <c:extLst>
              <c:ext xmlns:c16="http://schemas.microsoft.com/office/drawing/2014/chart" uri="{C3380CC4-5D6E-409C-BE32-E72D297353CC}">
                <c16:uniqueId val="{0000001A-7FAC-45FD-ABFA-3F40219FA207}"/>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7FAC-45FD-ABFA-3F40219FA207}"/>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7FAC-45FD-ABFA-3F40219FA207}"/>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7FAC-45FD-ABFA-3F40219FA207}"/>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7FAC-45FD-ABFA-3F40219FA207}"/>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7FAC-45FD-ABFA-3F40219FA207}"/>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7FAC-45FD-ABFA-3F40219FA207}"/>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7FAC-45FD-ABFA-3F40219FA207}"/>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7FAC-45FD-ABFA-3F40219FA207}"/>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7FAC-45FD-ABFA-3F40219FA207}"/>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7FAC-45FD-ABFA-3F40219FA207}"/>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7FAC-45FD-ABFA-3F40219FA207}"/>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7FAC-45FD-ABFA-3F40219FA207}"/>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7FAC-45FD-ABFA-3F40219FA207}"/>
              </c:ext>
            </c:extLst>
          </c:dPt>
          <c:dPt>
            <c:idx val="65"/>
            <c:invertIfNegative val="0"/>
            <c:bubble3D val="0"/>
            <c:extLst>
              <c:ext xmlns:c16="http://schemas.microsoft.com/office/drawing/2014/chart" uri="{C3380CC4-5D6E-409C-BE32-E72D297353CC}">
                <c16:uniqueId val="{00000028-7FAC-45FD-ABFA-3F40219FA207}"/>
              </c:ext>
            </c:extLst>
          </c:dPt>
          <c:dPt>
            <c:idx val="66"/>
            <c:invertIfNegative val="0"/>
            <c:bubble3D val="0"/>
            <c:extLst>
              <c:ext xmlns:c16="http://schemas.microsoft.com/office/drawing/2014/chart" uri="{C3380CC4-5D6E-409C-BE32-E72D297353CC}">
                <c16:uniqueId val="{00000029-7FAC-45FD-ABFA-3F40219FA207}"/>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7FAC-45FD-ABFA-3F40219FA207}"/>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7FAC-45FD-ABFA-3F40219FA207}"/>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7FAC-45FD-ABFA-3F40219FA207}"/>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7FAC-45FD-ABFA-3F40219FA207}"/>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7FAC-45FD-ABFA-3F40219FA207}"/>
              </c:ext>
            </c:extLst>
          </c:dPt>
          <c:dPt>
            <c:idx val="71"/>
            <c:invertIfNegative val="0"/>
            <c:bubble3D val="0"/>
            <c:extLst>
              <c:ext xmlns:c16="http://schemas.microsoft.com/office/drawing/2014/chart" uri="{C3380CC4-5D6E-409C-BE32-E72D297353CC}">
                <c16:uniqueId val="{0000002F-7FAC-45FD-ABFA-3F40219FA207}"/>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7FAC-45FD-ABFA-3F40219FA207}"/>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7FAC-45FD-ABFA-3F40219FA207}"/>
            </c:ext>
          </c:extLst>
        </c:ser>
        <c:dLbls>
          <c:showLegendKey val="0"/>
          <c:showVal val="0"/>
          <c:showCatName val="0"/>
          <c:showSerName val="0"/>
          <c:showPercent val="0"/>
          <c:showBubbleSize val="0"/>
        </c:dLbls>
        <c:bubbleScale val="66"/>
        <c:showNegBubbles val="0"/>
        <c:axId val="1424741247"/>
        <c:axId val="1"/>
      </c:bubbleChart>
      <c:valAx>
        <c:axId val="1424741247"/>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424741247"/>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
          <c:y val="0.03"/>
          <c:w val="0.955"/>
          <c:h val="0.925"/>
        </c:manualLayout>
      </c:layout>
      <c:barChart>
        <c:barDir val="bar"/>
        <c:grouping val="cluster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95"/>
        <c:overlap val="0"/>
        <c:axId val="111111111"/>
        <c:axId val="222222222"/>
      </c:barChart>
      <c:catAx>
        <c:axId val="111111111"/>
        <c:scaling>
          <c:orientation val="maxMin"/>
        </c:scaling>
        <c:delete val="0"/>
        <c:axPos val="l"/>
        <c:numFmt formatCode="General" sourceLinked="1"/>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5"/>
          <c:y val="0.015"/>
          <c:w val="0.95"/>
          <c:h val="0.93"/>
        </c:manualLayout>
      </c:layout>
      <c:barChart>
        <c:barDir val="col"/>
        <c:grouping val="stacked"/>
        <c:varyColors val="0"/>
        <c:ser>
          <c:idx val="0"/>
          <c:order val="0"/>
          <c:tx>
            <c:strRef>
              <c:f>Sheet1!$B$1</c:f>
              <c:strCache>
                <c:ptCount val="1"/>
                <c:pt idx="0">
                  <c:v>Addressable Commercial Orderbook / Retirements</c:v>
                </c:pt>
              </c:strCache>
            </c:strRef>
          </c:tx>
          <c:spPr>
            <a:solidFill>
              <a:srgbClr val="00777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Addressable Offshore Retirements</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Addressable Offshore Orderbook</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88"/>
        <c:overlap val="100"/>
        <c:axId val="111111111"/>
        <c:axId val="222222222"/>
      </c:barChart>
      <c:catAx>
        <c:axId val="111111111"/>
        <c:scaling>
          <c:orientation val="minMax"/>
        </c:scaling>
        <c:delete val="0"/>
        <c:axPos val="b"/>
        <c:numFmt formatCode="General" sourceLinked="1"/>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majorGridlines>
          <c:spPr>
            <a:ln w="3175" cap="flat">
              <a:solidFill>
                <a:srgbClr val="D9D9D9"/>
              </a:solidFill>
              <a:prstDash val="solid"/>
            </a:ln>
          </c:spPr>
        </c:majorGridlines>
        <c:numFmt formatCode="0" sourceLinked="0"/>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4.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6.1571125265392782E-2"/>
          <c:y val="5.9191329720716966E-2"/>
          <c:w val="0.92616183062042934"/>
          <c:h val="0.88161734055856611"/>
        </c:manualLayout>
      </c:layout>
      <c:barChart>
        <c:barDir val="col"/>
        <c:grouping val="stacked"/>
        <c:varyColors val="0"/>
        <c:ser>
          <c:idx val="0"/>
          <c:order val="0"/>
          <c:spPr>
            <a:solidFill>
              <a:srgbClr val="364D6E"/>
            </a:solidFill>
            <a:ln>
              <a:noFill/>
            </a:ln>
          </c:spPr>
          <c:invertIfNegative val="0"/>
          <c:dPt>
            <c:idx val="0"/>
            <c:invertIfNegative val="0"/>
            <c:bubble3D val="0"/>
            <c:spPr>
              <a:solidFill>
                <a:srgbClr val="C0C0C0"/>
              </a:solidFill>
              <a:ln>
                <a:noFill/>
              </a:ln>
            </c:spPr>
            <c:extLst>
              <c:ext uri="{C3380CC4-5D6E-409C-BE32-E72D297353CC}">
                <c16:uniqueId val="{00000000-8069-43FD-A691-2750ED4C430E}"/>
              </c:ext>
            </c:extLst>
          </c:dPt>
          <c:dPt>
            <c:idx val="1"/>
            <c:invertIfNegative val="0"/>
            <c:bubble3D val="0"/>
            <c:spPr>
              <a:solidFill>
                <a:srgbClr val="C0C0C0"/>
              </a:solidFill>
              <a:ln>
                <a:noFill/>
              </a:ln>
            </c:spPr>
            <c:extLst>
              <c:ext uri="{C3380CC4-5D6E-409C-BE32-E72D297353CC}">
                <c16:uniqueId val="{00000001-8069-43FD-A691-2750ED4C430E}"/>
              </c:ext>
            </c:extLst>
          </c:dPt>
          <c:dPt>
            <c:idx val="2"/>
            <c:invertIfNegative val="0"/>
            <c:bubble3D val="0"/>
            <c:spPr>
              <a:solidFill>
                <a:srgbClr val="000000"/>
              </a:solidFill>
              <a:ln>
                <a:noFill/>
              </a:ln>
            </c:spPr>
            <c:extLst>
              <c:ext uri="{C3380CC4-5D6E-409C-BE32-E72D297353CC}">
                <c16:uniqueId val="{00000002-8069-43FD-A691-2750ED4C430E}"/>
              </c:ext>
            </c:extLst>
          </c:dPt>
          <c:dPt>
            <c:idx val="3"/>
            <c:invertIfNegative val="0"/>
            <c:bubble3D val="0"/>
            <c:spPr>
              <a:solidFill>
                <a:srgbClr val="000000"/>
              </a:solidFill>
              <a:ln>
                <a:noFill/>
              </a:ln>
            </c:spPr>
            <c:extLst>
              <c:ext uri="{C3380CC4-5D6E-409C-BE32-E72D297353CC}">
                <c16:uniqueId val="{00000003-8069-43FD-A691-2750ED4C430E}"/>
              </c:ext>
            </c:extLst>
          </c:dPt>
          <c:dPt>
            <c:idx val="4"/>
            <c:invertIfNegative val="0"/>
            <c:bubble3D val="0"/>
            <c:spPr>
              <a:solidFill>
                <a:srgbClr val="000000"/>
              </a:solidFill>
              <a:ln>
                <a:noFill/>
              </a:ln>
            </c:spPr>
            <c:extLst>
              <c:ext uri="{C3380CC4-5D6E-409C-BE32-E72D297353CC}">
                <c16:uniqueId val="{00000004-8069-43FD-A691-2750ED4C430E}"/>
              </c:ext>
            </c:extLst>
          </c:dPt>
          <c:dPt>
            <c:idx val="5"/>
            <c:invertIfNegative val="0"/>
            <c:bubble3D val="0"/>
            <c:spPr>
              <a:solidFill>
                <a:srgbClr val="9DB1CF"/>
              </a:solidFill>
              <a:ln>
                <a:noFill/>
              </a:ln>
            </c:spPr>
            <c:extLst>
              <c:ext uri="{C3380CC4-5D6E-409C-BE32-E72D297353CC}">
                <c16:uniqueId val="{00000005-8069-43FD-A691-2750ED4C430E}"/>
              </c:ext>
            </c:extLst>
          </c:dPt>
          <c:dLbls>
            <c:dLbl>
              <c:idx val="2"/>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8069-43FD-A691-2750ED4C430E}"/>
                </c:ext>
              </c:extLst>
            </c:dLbl>
            <c:dLbl>
              <c:idx val="5"/>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8069-43FD-A691-2750ED4C430E}"/>
                </c:ext>
              </c:extLst>
            </c:dLbl>
            <c:dLbl>
              <c:idx val="7"/>
              <c:layout>
                <c:manualLayout>
                  <c:x val="0"/>
                  <c:y val="-9.295539808253439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8069-43FD-A691-2750ED4C430E}"/>
                </c:ext>
              </c:extLst>
            </c:dLbl>
            <c:dLbl>
              <c:idx val="8"/>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8069-43FD-A691-2750ED4C430E}"/>
                </c:ext>
              </c:extLst>
            </c:dLbl>
            <c:dLbl>
              <c:idx val="10"/>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8069-43FD-A691-2750ED4C430E}"/>
                </c:ext>
              </c:extLst>
            </c:dLbl>
            <c:dLbl>
              <c:idx val="11"/>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9-8069-43FD-A691-2750ED4C430E}"/>
                </c:ext>
              </c:extLst>
            </c:dLbl>
            <c:dLbl>
              <c:idx val="13"/>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8069-43FD-A691-2750ED4C430E}"/>
                </c:ext>
              </c:extLst>
            </c:dLbl>
            <c:dLbl>
              <c:idx val="15"/>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B-8069-43FD-A691-2750ED4C430E}"/>
                </c:ext>
              </c:extLst>
            </c:dLbl>
            <c:dLbl>
              <c:idx val="16"/>
              <c:layout>
                <c:manualLayout>
                  <c:x val="0"/>
                  <c:y val="-9.295539808253439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C-8069-43FD-A691-2750ED4C430E}"/>
                </c:ext>
              </c:extLst>
            </c:dLbl>
            <c:dLbl>
              <c:idx val="21"/>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D-8069-43FD-A691-2750ED4C430E}"/>
                </c:ext>
              </c:extLst>
            </c:dLbl>
            <c:dLbl>
              <c:idx val="22"/>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8069-43FD-A691-2750ED4C430E}"/>
                </c:ext>
              </c:extLst>
            </c:dLbl>
            <c:dLbl>
              <c:idx val="23"/>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F-8069-43FD-A691-2750ED4C430E}"/>
                </c:ext>
              </c:extLst>
            </c:dLbl>
            <c:dLbl>
              <c:idx val="24"/>
              <c:layout>
                <c:manualLayout>
                  <c:x val="0"/>
                  <c:y val="-0.11504793664026677"/>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8069-43FD-A691-2750ED4C430E}"/>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Sheet1!$A$1:$Y$1</c:f>
              <c:numCache>
                <c:formatCode>General</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extLst>
            <c:ext uri="{C3380CC4-5D6E-409C-BE32-E72D297353CC}">
              <c16:uniqueId val="{00000011-8069-43FD-A691-2750ED4C430E}"/>
            </c:ext>
          </c:extLst>
        </c:ser>
        <c:ser>
          <c:idx val="1"/>
          <c:order val="1"/>
          <c:spPr>
            <a:solidFill>
              <a:srgbClr val="9DB1CF"/>
            </a:solidFill>
            <a:ln>
              <a:noFill/>
            </a:ln>
          </c:spPr>
          <c:invertIfNegative val="0"/>
          <c:dPt>
            <c:idx val="0"/>
            <c:invertIfNegative val="0"/>
            <c:bubble3D val="0"/>
            <c:spPr>
              <a:solidFill>
                <a:srgbClr val="364D6E"/>
              </a:solidFill>
              <a:ln>
                <a:noFill/>
              </a:ln>
            </c:spPr>
            <c:extLst>
              <c:ext uri="{C3380CC4-5D6E-409C-BE32-E72D297353CC}">
                <c16:uniqueId val="{00000012-8069-43FD-A691-2750ED4C430E}"/>
              </c:ext>
            </c:extLst>
          </c:dPt>
          <c:dPt>
            <c:idx val="3"/>
            <c:invertIfNegative val="0"/>
            <c:bubble3D val="0"/>
            <c:spPr>
              <a:solidFill>
                <a:srgbClr val="364D6E"/>
              </a:solidFill>
              <a:ln>
                <a:noFill/>
              </a:ln>
            </c:spPr>
            <c:extLst>
              <c:ext uri="{C3380CC4-5D6E-409C-BE32-E72D297353CC}">
                <c16:uniqueId val="{00000013-8069-43FD-A691-2750ED4C430E}"/>
              </c:ext>
            </c:extLst>
          </c:dPt>
          <c:dPt>
            <c:idx val="12"/>
            <c:invertIfNegative val="0"/>
            <c:bubble3D val="0"/>
            <c:spPr>
              <a:solidFill>
                <a:srgbClr val="6F8DB9"/>
              </a:solidFill>
              <a:ln>
                <a:noFill/>
              </a:ln>
            </c:spPr>
            <c:extLst>
              <c:ext uri="{C3380CC4-5D6E-409C-BE32-E72D297353CC}">
                <c16:uniqueId val="{00000014-8069-43FD-A691-2750ED4C430E}"/>
              </c:ext>
            </c:extLst>
          </c:dPt>
          <c:dPt>
            <c:idx val="14"/>
            <c:invertIfNegative val="0"/>
            <c:bubble3D val="0"/>
            <c:spPr>
              <a:solidFill>
                <a:srgbClr val="4C6C9C"/>
              </a:solidFill>
              <a:ln>
                <a:noFill/>
              </a:ln>
            </c:spPr>
            <c:extLst>
              <c:ext uri="{C3380CC4-5D6E-409C-BE32-E72D297353CC}">
                <c16:uniqueId val="{00000015-8069-43FD-A691-2750ED4C430E}"/>
              </c:ext>
            </c:extLst>
          </c:dPt>
          <c:dPt>
            <c:idx val="17"/>
            <c:invertIfNegative val="0"/>
            <c:bubble3D val="0"/>
            <c:spPr>
              <a:solidFill>
                <a:srgbClr val="4C6C9C"/>
              </a:solidFill>
              <a:ln>
                <a:noFill/>
              </a:ln>
            </c:spPr>
            <c:extLst>
              <c:ext uri="{C3380CC4-5D6E-409C-BE32-E72D297353CC}">
                <c16:uniqueId val="{00000016-8069-43FD-A691-2750ED4C430E}"/>
              </c:ext>
            </c:extLst>
          </c:dPt>
          <c:dPt>
            <c:idx val="19"/>
            <c:invertIfNegative val="0"/>
            <c:bubble3D val="0"/>
            <c:spPr>
              <a:solidFill>
                <a:srgbClr val="4C6C9C"/>
              </a:solidFill>
              <a:ln>
                <a:noFill/>
              </a:ln>
            </c:spPr>
            <c:extLst>
              <c:ext uri="{C3380CC4-5D6E-409C-BE32-E72D297353CC}">
                <c16:uniqueId val="{00000017-8069-43FD-A691-2750ED4C430E}"/>
              </c:ext>
            </c:extLst>
          </c:dPt>
          <c:val>
            <c:numRef>
              <c:f>Sheet1!$A$2:$Y$2</c:f>
              <c:numCache>
                <c:formatCode>General</c:formatCode>
                <c:ptCount val="25"/>
                <c:pt idx="0">
                  <c:v>-1</c:v>
                </c:pt>
                <c:pt idx="1">
                  <c:v>-3</c:v>
                </c:pt>
                <c:pt idx="3">
                  <c:v>-1</c:v>
                </c:pt>
                <c:pt idx="4">
                  <c:v>-1</c:v>
                </c:pt>
                <c:pt idx="6">
                  <c:v>-1</c:v>
                </c:pt>
                <c:pt idx="12">
                  <c:v>-1</c:v>
                </c:pt>
                <c:pt idx="14">
                  <c:v>-1</c:v>
                </c:pt>
                <c:pt idx="17">
                  <c:v>-2</c:v>
                </c:pt>
                <c:pt idx="18">
                  <c:v>-1</c:v>
                </c:pt>
                <c:pt idx="19">
                  <c:v>-1</c:v>
                </c:pt>
                <c:pt idx="20">
                  <c:v>-1</c:v>
                </c:pt>
              </c:numCache>
            </c:numRef>
          </c:val>
          <c:extLst>
            <c:ext uri="{C3380CC4-5D6E-409C-BE32-E72D297353CC}">
              <c16:uniqueId val="{00000018-8069-43FD-A691-2750ED4C430E}"/>
            </c:ext>
          </c:extLst>
        </c:ser>
        <c:ser>
          <c:idx val="2"/>
          <c:order val="2"/>
          <c:spPr>
            <a:solidFill>
              <a:srgbClr val="9DB1CF"/>
            </a:solidFill>
            <a:ln>
              <a:noFill/>
            </a:ln>
          </c:spPr>
          <c:invertIfNegative val="0"/>
          <c:dPt>
            <c:idx val="0"/>
            <c:invertIfNegative val="0"/>
            <c:bubble3D val="0"/>
            <c:spPr>
              <a:solidFill>
                <a:srgbClr val="6F8DB9"/>
              </a:solidFill>
              <a:ln>
                <a:noFill/>
              </a:ln>
            </c:spPr>
            <c:extLst>
              <c:ext uri="{C3380CC4-5D6E-409C-BE32-E72D297353CC}">
                <c16:uniqueId val="{00000019-8069-43FD-A691-2750ED4C430E}"/>
              </c:ext>
            </c:extLst>
          </c:dPt>
          <c:val>
            <c:numRef>
              <c:f>Sheet1!$A$3:$Y$3</c:f>
              <c:numCache>
                <c:formatCode>General</c:formatCode>
                <c:ptCount val="25"/>
                <c:pt idx="0">
                  <c:v>-5</c:v>
                </c:pt>
                <c:pt idx="17">
                  <c:v>-1</c:v>
                </c:pt>
                <c:pt idx="19">
                  <c:v>-1</c:v>
                </c:pt>
              </c:numCache>
            </c:numRef>
          </c:val>
          <c:extLst>
            <c:ext uri="{C3380CC4-5D6E-409C-BE32-E72D297353CC}">
              <c16:uniqueId val="{0000001A-8069-43FD-A691-2750ED4C430E}"/>
            </c:ext>
          </c:extLst>
        </c:ser>
        <c:ser>
          <c:idx val="3"/>
          <c:order val="3"/>
          <c:spPr>
            <a:solidFill>
              <a:srgbClr val="9DB1CF"/>
            </a:solidFill>
            <a:ln>
              <a:noFill/>
            </a:ln>
          </c:spPr>
          <c:invertIfNegative val="0"/>
          <c:val>
            <c:numRef>
              <c:f>Sheet1!$A$4:$Y$4</c:f>
              <c:numCache>
                <c:formatCode>General</c:formatCode>
                <c:ptCount val="25"/>
                <c:pt idx="0">
                  <c:v>-4</c:v>
                </c:pt>
              </c:numCache>
            </c:numRef>
          </c:val>
          <c:extLst>
            <c:ext uri="{C3380CC4-5D6E-409C-BE32-E72D297353CC}">
              <c16:uniqueId val="{0000001B-8069-43FD-A691-2750ED4C430E}"/>
            </c:ext>
          </c:extLst>
        </c:ser>
        <c:dLbls>
          <c:showLegendKey val="0"/>
          <c:showVal val="0"/>
          <c:showCatName val="0"/>
          <c:showSerName val="0"/>
          <c:showPercent val="0"/>
          <c:showBubbleSize val="0"/>
        </c:dLbls>
        <c:gapWidth val="130"/>
        <c:overlap val="100"/>
        <c:axId val="230019328"/>
        <c:axId val="1"/>
      </c:barChart>
      <c:catAx>
        <c:axId val="230019328"/>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10"/>
          <c:min val="-1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230019328"/>
        <c:crosses val="min"/>
        <c:crossBetween val="between"/>
        <c:majorUnit val="5"/>
      </c:valAx>
    </c:plotArea>
    <c:plotVisOnly val="0"/>
    <c:dispBlanksAs val="gap"/>
    <c:showDLblsOverMax val="1"/>
  </c:chart>
  <c:externalData r:id="rId1">
    <c:autoUpdate val="0"/>
  </c:externalData>
</c:chartSpace>
</file>

<file path=ppt/charts/chart15.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6.1571125265392782E-2"/>
          <c:y val="5.6528662420382167E-2"/>
          <c:w val="0.92616183062042934"/>
          <c:h val="0.88694267515923564"/>
        </c:manualLayout>
      </c:layout>
      <c:barChart>
        <c:barDir val="col"/>
        <c:grouping val="stacked"/>
        <c:varyColors val="0"/>
        <c:ser>
          <c:idx val="0"/>
          <c:order val="0"/>
          <c:spPr>
            <a:solidFill>
              <a:srgbClr val="4C6C9C"/>
            </a:solidFill>
            <a:ln>
              <a:noFill/>
            </a:ln>
          </c:spPr>
          <c:invertIfNegative val="0"/>
          <c:dPt>
            <c:idx val="1"/>
            <c:invertIfNegative val="0"/>
            <c:bubble3D val="0"/>
            <c:spPr>
              <a:solidFill>
                <a:srgbClr val="9DB1CF"/>
              </a:solidFill>
              <a:ln>
                <a:noFill/>
              </a:ln>
            </c:spPr>
            <c:extLst>
              <c:ext uri="{C3380CC4-5D6E-409C-BE32-E72D297353CC}">
                <c16:uniqueId val="{00000000-BCE5-47A4-AC77-8BBBAAE908D6}"/>
              </c:ext>
            </c:extLst>
          </c:dPt>
          <c:dLbls>
            <c:dLbl>
              <c:idx val="1"/>
              <c:layout>
                <c:manualLayout>
                  <c:x val="0"/>
                  <c:y val="-5.5334394904458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BCE5-47A4-AC77-8BBBAAE908D6}"/>
                </c:ext>
              </c:extLst>
            </c:dLbl>
            <c:dLbl>
              <c:idx val="19"/>
              <c:layout>
                <c:manualLayout>
                  <c:x val="0"/>
                  <c:y val="-0.19307324840764331"/>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BCE5-47A4-AC77-8BBBAAE908D6}"/>
                </c:ext>
              </c:extLst>
            </c:dLbl>
            <c:dLbl>
              <c:idx val="20"/>
              <c:layout>
                <c:manualLayout>
                  <c:x val="0"/>
                  <c:y val="-0.1142515923566879"/>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BCE5-47A4-AC77-8BBBAAE908D6}"/>
                </c:ext>
              </c:extLst>
            </c:dLbl>
            <c:dLbl>
              <c:idx val="21"/>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BCE5-47A4-AC77-8BBBAAE908D6}"/>
                </c:ext>
              </c:extLst>
            </c:dLbl>
            <c:dLbl>
              <c:idx val="22"/>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BCE5-47A4-AC77-8BBBAAE908D6}"/>
                </c:ext>
              </c:extLst>
            </c:dLbl>
            <c:dLbl>
              <c:idx val="23"/>
              <c:layout>
                <c:manualLayout>
                  <c:x val="0"/>
                  <c:y val="-4.498407643312101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BCE5-47A4-AC77-8BBBAAE908D6}"/>
                </c:ext>
              </c:extLst>
            </c:dLbl>
            <c:dLbl>
              <c:idx val="24"/>
              <c:layout>
                <c:manualLayout>
                  <c:x val="0"/>
                  <c:y val="-3.542993630573248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BCE5-47A4-AC77-8BBBAAE908D6}"/>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Sheet1!$A$1:$Y$1</c:f>
              <c:numCache>
                <c:formatCode>General</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extLst>
            <c:ext uri="{C3380CC4-5D6E-409C-BE32-E72D297353CC}">
              <c16:uniqueId val="{00000007-BCE5-47A4-AC77-8BBBAAE908D6}"/>
            </c:ext>
          </c:extLst>
        </c:ser>
        <c:ser>
          <c:idx val="1"/>
          <c:order val="1"/>
          <c:spPr>
            <a:solidFill>
              <a:srgbClr val="9DB1CF"/>
            </a:solidFill>
            <a:ln>
              <a:noFill/>
            </a:ln>
          </c:spPr>
          <c:invertIfNegative val="0"/>
          <c:val>
            <c:numRef>
              <c:f>Sheet1!$A$2:$Y$2</c:f>
              <c:numCache>
                <c:formatCode>General</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extLst>
            <c:ext uri="{C3380CC4-5D6E-409C-BE32-E72D297353CC}">
              <c16:uniqueId val="{00000008-BCE5-47A4-AC77-8BBBAAE908D6}"/>
            </c:ext>
          </c:extLst>
        </c:ser>
        <c:dLbls>
          <c:showLegendKey val="0"/>
          <c:showVal val="0"/>
          <c:showCatName val="0"/>
          <c:showSerName val="0"/>
          <c:showPercent val="0"/>
          <c:showBubbleSize val="0"/>
        </c:dLbls>
        <c:gapWidth val="130"/>
        <c:overlap val="100"/>
        <c:axId val="1663799920"/>
        <c:axId val="1"/>
      </c:barChart>
      <c:catAx>
        <c:axId val="1663799920"/>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10"/>
          <c:min val="-35"/>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663799920"/>
        <c:crosses val="min"/>
        <c:crossBetween val="between"/>
        <c:majorUnit val="5"/>
      </c:valAx>
    </c:plotArea>
    <c:plotVisOnly val="0"/>
    <c:dispBlanksAs val="gap"/>
    <c:showDLblsOverMax val="1"/>
  </c:chart>
  <c:externalData r:id="rId1">
    <c:autoUpdate val="0"/>
  </c:externalData>
</c:chartSpace>
</file>

<file path=ppt/charts/chart16.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4.2624961668199936E-2"/>
          <c:y val="4.3555555555555556E-2"/>
          <c:w val="0.94940202391904327"/>
          <c:h val="0.91288888888888886"/>
        </c:manualLayout>
      </c:layout>
      <c:areaChart>
        <c:grouping val="stacked"/>
        <c:varyColors val="0"/>
        <c:ser>
          <c:idx val="0"/>
          <c:order val="0"/>
          <c:spPr>
            <a:solidFill>
              <a:srgbClr val="808080"/>
            </a:solidFill>
            <a:ln>
              <a:noFill/>
            </a:ln>
          </c:spPr>
          <c:val>
            <c:numRef>
              <c:f>Sheet1!$A$1:$Y$1</c:f>
              <c:numCache>
                <c:formatCode>General</c:formatCode>
                <c:ptCount val="25"/>
                <c:pt idx="0">
                  <c:v>1</c:v>
                </c:pt>
                <c:pt idx="1">
                  <c:v>2</c:v>
                </c:pt>
                <c:pt idx="2">
                  <c:v>2</c:v>
                </c:pt>
                <c:pt idx="3">
                  <c:v>5</c:v>
                </c:pt>
                <c:pt idx="4">
                  <c:v>5</c:v>
                </c:pt>
              </c:numCache>
            </c:numRef>
          </c:val>
          <c:extLst>
            <c:ext uri="{C3380CC4-5D6E-409C-BE32-E72D297353CC}">
              <c16:uniqueId val="{00000000-A781-4C39-903F-30B949D27D40}"/>
            </c:ext>
          </c:extLst>
        </c:ser>
        <c:ser>
          <c:idx val="1"/>
          <c:order val="1"/>
          <c:spPr>
            <a:solidFill>
              <a:srgbClr val="C0C0C0"/>
            </a:solidFill>
            <a:ln>
              <a:noFill/>
            </a:ln>
          </c:spPr>
          <c:val>
            <c:numRef>
              <c:f>Sheet1!$A$2:$Y$2</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extLst>
            <c:ext uri="{C3380CC4-5D6E-409C-BE32-E72D297353CC}">
              <c16:uniqueId val="{00000001-A781-4C39-903F-30B949D27D40}"/>
            </c:ext>
          </c:extLst>
        </c:ser>
        <c:ser>
          <c:idx val="2"/>
          <c:order val="2"/>
          <c:spPr>
            <a:solidFill>
              <a:srgbClr val="364D6E"/>
            </a:solidFill>
            <a:ln>
              <a:noFill/>
            </a:ln>
          </c:spPr>
          <c:val>
            <c:numRef>
              <c:f>Sheet1!$A$3:$Y$3</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extLst>
            <c:ext uri="{C3380CC4-5D6E-409C-BE32-E72D297353CC}">
              <c16:uniqueId val="{00000002-A781-4C39-903F-30B949D27D40}"/>
            </c:ext>
          </c:extLst>
        </c:ser>
        <c:ser>
          <c:idx val="3"/>
          <c:order val="3"/>
          <c:spPr>
            <a:solidFill>
              <a:srgbClr val="4C6C9C"/>
            </a:solidFill>
            <a:ln>
              <a:noFill/>
            </a:ln>
          </c:spPr>
          <c:val>
            <c:numRef>
              <c:f>Sheet1!$A$4:$Y$4</c:f>
              <c:numCache>
                <c:formatCode>General</c:formatCode>
                <c:ptCount val="25"/>
              </c:numCache>
            </c:numRef>
          </c:val>
          <c:extLst>
            <c:ext uri="{C3380CC4-5D6E-409C-BE32-E72D297353CC}">
              <c16:uniqueId val="{00000003-A781-4C39-903F-30B949D27D40}"/>
            </c:ext>
          </c:extLst>
        </c:ser>
        <c:ser>
          <c:idx val="4"/>
          <c:order val="4"/>
          <c:spPr>
            <a:solidFill>
              <a:srgbClr val="6F8DB9"/>
            </a:solidFill>
            <a:ln>
              <a:noFill/>
            </a:ln>
          </c:spPr>
          <c:val>
            <c:numRef>
              <c:f>Sheet1!$A$5:$Y$5</c:f>
              <c:numCache>
                <c:formatCode>General</c:formatCode>
                <c:ptCount val="25"/>
              </c:numCache>
            </c:numRef>
          </c:val>
          <c:extLst>
            <c:ext uri="{C3380CC4-5D6E-409C-BE32-E72D297353CC}">
              <c16:uniqueId val="{00000004-A781-4C39-903F-30B949D27D40}"/>
            </c:ext>
          </c:extLst>
        </c:ser>
        <c:ser>
          <c:idx val="5"/>
          <c:order val="5"/>
          <c:spPr>
            <a:solidFill>
              <a:srgbClr val="9DB1CF"/>
            </a:solidFill>
            <a:ln>
              <a:noFill/>
            </a:ln>
          </c:spPr>
          <c:val>
            <c:numRef>
              <c:f>Sheet1!$A$6:$Y$6</c:f>
              <c:numCache>
                <c:formatCode>General</c:formatCode>
                <c:ptCount val="25"/>
              </c:numCache>
            </c:numRef>
          </c:val>
          <c:extLst>
            <c:ext uri="{C3380CC4-5D6E-409C-BE32-E72D297353CC}">
              <c16:uniqueId val="{00000005-A781-4C39-903F-30B949D27D40}"/>
            </c:ext>
          </c:extLst>
        </c:ser>
        <c:ser>
          <c:idx val="6"/>
          <c:order val="6"/>
          <c:spPr>
            <a:pattFill prst="ltUpDiag">
              <a:fgClr>
                <a:schemeClr val="tx1"/>
              </a:fgClr>
              <a:bgClr>
                <a:schemeClr val="bg1"/>
              </a:bgClr>
            </a:pattFill>
            <a:ln>
              <a:noFill/>
            </a:ln>
          </c:spPr>
          <c:val>
            <c:numRef>
              <c:f>Sheet1!$A$7:$Y$7</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extLst>
            <c:ext uri="{C3380CC4-5D6E-409C-BE32-E72D297353CC}">
              <c16:uniqueId val="{00000006-A781-4C39-903F-30B949D27D40}"/>
            </c:ext>
          </c:extLst>
        </c:ser>
        <c:ser>
          <c:idx val="7"/>
          <c:order val="7"/>
          <c:spPr>
            <a:solidFill>
              <a:srgbClr val="C30C3E"/>
            </a:solidFill>
            <a:ln>
              <a:noFill/>
            </a:ln>
          </c:spPr>
          <c:val>
            <c:numRef>
              <c:f>Sheet1!$A$8:$Y$8</c:f>
              <c:numCache>
                <c:formatCode>General</c:formatCode>
                <c:ptCount val="25"/>
                <c:pt idx="16">
                  <c:v>96</c:v>
                </c:pt>
                <c:pt idx="17">
                  <c:v>156</c:v>
                </c:pt>
                <c:pt idx="18">
                  <c:v>156</c:v>
                </c:pt>
                <c:pt idx="19">
                  <c:v>156</c:v>
                </c:pt>
                <c:pt idx="20">
                  <c:v>163</c:v>
                </c:pt>
                <c:pt idx="21">
                  <c:v>163</c:v>
                </c:pt>
                <c:pt idx="22">
                  <c:v>164</c:v>
                </c:pt>
                <c:pt idx="23">
                  <c:v>162</c:v>
                </c:pt>
                <c:pt idx="24">
                  <c:v>155</c:v>
                </c:pt>
              </c:numCache>
            </c:numRef>
          </c:val>
          <c:extLst>
            <c:ext uri="{C3380CC4-5D6E-409C-BE32-E72D297353CC}">
              <c16:uniqueId val="{00000007-A781-4C39-903F-30B949D27D40}"/>
            </c:ext>
          </c:extLst>
        </c:ser>
        <c:dLbls>
          <c:showLegendKey val="0"/>
          <c:showVal val="0"/>
          <c:showCatName val="0"/>
          <c:showSerName val="0"/>
          <c:showPercent val="0"/>
          <c:showBubbleSize val="0"/>
        </c:dLbls>
        <c:axId val="164156592"/>
        <c:axId val="1"/>
      </c:areaChart>
      <c:catAx>
        <c:axId val="16415659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64156592"/>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Plus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9">
                  <c:v>48</c:v>
                </c:pt>
                <c:pt idx="10">
                  <c:v>122</c:v>
                </c:pt>
                <c:pt idx="11">
                  <c:v>130</c:v>
                </c:pt>
                <c:pt idx="12">
                  <c:v>134</c:v>
                </c:pt>
                <c:pt idx="13">
                  <c:v>153</c:v>
                </c:pt>
                <c:pt idx="14">
                  <c:v>154</c:v>
                </c:pt>
                <c:pt idx="15">
                  <c:v>151</c:v>
                </c:pt>
                <c:pt idx="16">
                  <c:v>56</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942053541172484"/>
          <c:y val="0.05274888558692422"/>
          <c:w val="0.8881735005083022"/>
          <c:h val="0.8945022288261516"/>
        </c:manualLayout>
      </c:layout>
      <c:barChart>
        <c:barDir val="col"/>
        <c:grouping val="stacked"/>
        <c:varyColors val="0"/>
        <c:ser>
          <c:idx val="0"/>
          <c:order val="0"/>
          <c:tx>
            <c:strRef>
              <c:f>Sheet1!$B$1</c:f>
              <c:strCache>
                <c:ptCount val="1"/>
                <c:pt idx="0">
                  <c:v>Container</c:v>
                </c:pt>
              </c:strCache>
            </c:strRef>
          </c:tx>
          <c:spPr>
            <a:solidFill>
              <a:srgbClr val="00777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Sheet1!$B$2:$B$3</c:f>
              <c:numCache>
                <c:formatCode>#,##0;"-"#,##0</c:formatCode>
                <c:ptCount val="2"/>
                <c:pt idx="0">
                  <c:v>124</c:v>
                </c:pt>
                <c:pt idx="1">
                  <c:v>46</c:v>
                </c:pt>
              </c:numCache>
            </c:numRef>
          </c:val>
        </c:ser>
        <c:ser>
          <c:idx val="1"/>
          <c:order val="1"/>
          <c:tx>
            <c:strRef>
              <c:f>Sheet1!$C$1</c:f>
              <c:strCache>
                <c:ptCount val="1"/>
                <c:pt idx="0">
                  <c:v>LNG</c:v>
                </c:pt>
              </c:strCache>
            </c:strRef>
          </c:tx>
          <c:spPr>
            <a:solidFill>
              <a:srgbClr val="C0C0C0"/>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Sheet1!$C$2:$C$3</c:f>
              <c:numCache>
                <c:formatCode>#,##0;"-"#,##0</c:formatCode>
                <c:ptCount val="2"/>
                <c:pt idx="0">
                  <c:v>46</c:v>
                </c:pt>
                <c:pt idx="1">
                  <c:v>41</c:v>
                </c:pt>
              </c:numCache>
            </c:numRef>
          </c:val>
        </c:ser>
        <c:ser>
          <c:idx val="2"/>
          <c:order val="2"/>
          <c:tx>
            <c:strRef>
              <c:f>Sheet1!$D$1</c:f>
              <c:strCache>
                <c:ptCount val="1"/>
                <c:pt idx="0">
                  <c:v>Crude Tanker</c:v>
                </c:pt>
              </c:strCache>
            </c:strRef>
          </c:tx>
          <c:spPr>
            <a:solidFill>
              <a:srgbClr val="1D4D68"/>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Sheet1!$D$2:$D$3</c:f>
              <c:numCache>
                <c:formatCode>#,##0;"-"#,##0</c:formatCode>
                <c:ptCount val="2"/>
                <c:pt idx="0">
                  <c:v>18</c:v>
                </c:pt>
                <c:pt idx="1">
                  <c:v>15</c:v>
                </c:pt>
              </c:numCache>
            </c:numRef>
          </c:val>
        </c:ser>
        <c:ser>
          <c:idx val="3"/>
          <c:order val="3"/>
          <c:tx>
            <c:strRef>
              <c:f>Sheet1!$E$1</c:f>
              <c:strCache>
                <c:ptCount val="1"/>
                <c:pt idx="0">
                  <c:v>Ro-Ro / Product Tanker bridge</c:v>
                </c:pt>
              </c:strCache>
            </c:strRef>
          </c:tx>
          <c:spPr>
            <a:solidFill>
              <a:srgbClr val="969696"/>
            </a:solidFill>
            <a:ln>
              <a:noFill/>
            </a:ln>
          </c:spPr>
          <c:invertIfNegative val="0"/>
          <c:dPt>
            <c:idx val="0"/>
            <c:invertIfNegative val="0"/>
            <c:bubble3D val="0"/>
            <c:spPr>
              <a:solidFill>
                <a:srgbClr val="969696"/>
              </a:solidFill>
              <a:ln>
                <a:noFill/>
              </a:ln>
            </c:spPr>
          </c:dPt>
          <c:dPt>
            <c:idx val="1"/>
            <c:invertIfNegative val="0"/>
            <c:bubble3D val="0"/>
            <c:spPr>
              <a:solidFill>
                <a:srgbClr val="4C6C9C"/>
              </a:solidFill>
              <a:ln>
                <a:noFill/>
              </a:ln>
            </c:spPr>
          </c:dPt>
          <c:dLbls>
            <c:dLbl>
              <c:idx val="1"/>
              <c:delete val="1"/>
            </c:dLbl>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Sheet1!$E$2:$E$3</c:f>
              <c:numCache>
                <c:formatCode>#,##0;"-"#,##0</c:formatCode>
                <c:ptCount val="2"/>
                <c:pt idx="0">
                  <c:v>9</c:v>
                </c:pt>
                <c:pt idx="1">
                  <c:v>1</c:v>
                </c:pt>
              </c:numCache>
            </c:numRef>
          </c:val>
        </c:ser>
        <c:ser>
          <c:idx val="4"/>
          <c:order val="4"/>
          <c:tx>
            <c:strRef>
              <c:f>Sheet1!$F$1</c:f>
              <c:strCache>
                <c:ptCount val="1"/>
                <c:pt idx="0">
                  <c:v>Product Tanker / Bulk bridge</c:v>
                </c:pt>
              </c:strCache>
            </c:strRef>
          </c:tx>
          <c:spPr>
            <a:solidFill>
              <a:srgbClr val="000000"/>
            </a:solidFill>
            <a:ln>
              <a:noFill/>
            </a:ln>
          </c:spPr>
          <c:invertIfNegative val="0"/>
          <c:dPt>
            <c:idx val="0"/>
            <c:invertIfNegative val="0"/>
            <c:bubble3D val="0"/>
            <c:spPr>
              <a:solidFill>
                <a:srgbClr val="4C6C9C"/>
              </a:solidFill>
              <a:ln>
                <a:noFill/>
              </a:ln>
            </c:spPr>
          </c:dPt>
          <c:dPt>
            <c:idx val="1"/>
            <c:invertIfNegative val="0"/>
            <c:bubble3D val="0"/>
            <c:spPr>
              <a:solidFill>
                <a:srgbClr val="000000"/>
              </a:solidFill>
              <a:ln>
                <a:noFill/>
              </a:ln>
            </c:spPr>
          </c:dPt>
          <c:cat>
            <c:strRef>
              <c:f>Sheet1!$A$2:$A$3</c:f>
              <c:strCache>
                <c:ptCount val="2"/>
                <c:pt idx="0">
                  <c:v>Strategic Commercial Fleet (supported by MSTF)</c:v>
                </c:pt>
                <c:pt idx="1">
                  <c:v>Legally Mandated Demand</c:v>
                </c:pt>
              </c:strCache>
            </c:strRef>
          </c:cat>
          <c:val>
            <c:numRef>
              <c:f>Sheet1!$F$2:$F$3</c:f>
              <c:numCache>
                <c:formatCode>#,##0;"-"#,##0</c:formatCode>
                <c:ptCount val="2"/>
                <c:pt idx="0">
                  <c:v>1</c:v>
                </c:pt>
                <c:pt idx="1">
                  <c:v>1</c:v>
                </c:pt>
              </c:numCache>
            </c:numRef>
          </c:val>
        </c:ser>
        <c:ser>
          <c:idx val="5"/>
          <c:order val="5"/>
          <c:tx>
            <c:strRef>
              <c:f>Sheet1!$G$1</c:f>
              <c:strCache>
                <c:ptCount val="1"/>
                <c:pt idx="0">
                  <c:v>Bulk</c:v>
                </c:pt>
              </c:strCache>
            </c:strRef>
          </c:tx>
          <c:spPr>
            <a:solidFill>
              <a:srgbClr val="00000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Sheet1!$G$2:$G$3</c:f>
              <c:numCache>
                <c:formatCode>#,##0;"-"#,##0</c:formatCode>
                <c:ptCount val="2"/>
                <c:pt idx="0">
                  <c:v>1</c:v>
                </c:pt>
              </c:numCache>
            </c:numRef>
          </c:val>
        </c:ser>
        <c:ser>
          <c:idx val="6"/>
          <c:order val="6"/>
          <c:tx>
            <c:strRef>
              <c:f>Sheet1!$H$1</c:f>
              <c:strCache>
                <c:ptCount val="1"/>
                <c:pt idx="0">
                  <c:v>Other</c:v>
                </c:pt>
              </c:strCache>
            </c:strRef>
          </c:tx>
          <c:spPr>
            <a:pattFill prst="ltDnDiag">
              <a:fgClr>
                <a:srgbClr val="000000"/>
              </a:fgClr>
              <a:bgClr>
                <a:srgbClr val="FFFFFF"/>
              </a:bgClr>
            </a:patt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Sheet1!$H$2:$H$3</c:f>
              <c:numCache>
                <c:formatCode>#,##0;"-"#,##0</c:formatCode>
                <c:ptCount val="2"/>
                <c:pt idx="0">
                  <c:v>2</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2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6F8DB9"/>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17</c:v>
                </c:pt>
                <c:pt idx="5">
                  <c:v>19</c:v>
                </c:pt>
                <c:pt idx="6">
                  <c:v>20</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9DB1CF"/>
              </a:solidFill>
              <a:ln>
                <a:noFill/>
              </a:ln>
            </c:spPr>
          </c:dPt>
          <c:dPt>
            <c:idx val="5"/>
            <c:invertIfNegative val="0"/>
            <c:bubble3D val="0"/>
            <c:spPr>
              <a:solidFill>
                <a:srgbClr val="6F8DB9"/>
              </a:solidFill>
              <a:ln>
                <a:noFill/>
              </a:ln>
            </c:spPr>
          </c:dPt>
          <c:dPt>
            <c:idx val="6"/>
            <c:invertIfNegative val="0"/>
            <c:bubble3D val="0"/>
            <c:spPr>
              <a:solidFill>
                <a:srgbClr val="6F8DB9"/>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4">
                  <c:v>9</c:v>
                </c:pt>
                <c:pt idx="5">
                  <c:v>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 Id="rId3"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6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prstDash val="dash"/>
            <a:tailEnd type="triangle" w="med" len="med"/>
          </a:ln>
        </p:spPr>
      </p:cxnSp>
      <p:cxnSp>
        <p:nvCxnSpPr>
          <p:cNvPr id="118" name="LegendLineRule"/>
          <p:cNvCxnSpPr/>
          <p:nvPr/>
        </p:nvCxnSpPr>
        <p:spPr>
          <a:xfrm>
            <a:off x="1000354" y="2460650"/>
            <a:ext cx="150876" cy="0"/>
          </a:xfrm>
          <a:prstGeom prst="line">
            <a:avLst/>
          </a:prstGeom>
          <a:ln w="28575">
            <a:solidFill>
              <a:srgbClr val="007770"/>
            </a:solidFill>
            <a:prstDash val="dash"/>
            <a:tailEnd type="triangle" w="med" len="med"/>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FRED (PCE)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3"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Connector: Elbow 50"/>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Connector: Elbow 51"/>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Connector: Elbow 52"/>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Connector: Elbow 112"/>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Connector: Elbow 28"/>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Picture 2"/>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Connector: Elbow 52"/>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Connector: Elbow 92"/>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Connector: Elbow 97"/>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Speech Bubble: Rectangle 105"/>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Connector: Elbow 136"/>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Speech Bubble: Rectangle 139"/>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Straight Arrow Connector 143"/>
          <p:cNvCxnSpPr/>
          <p:nvPr/>
        </p:nvCxnSpPr>
        <p:spPr>
          <a:xfrm>
            <a:off x="1641348" y="2041855"/>
            <a:ext cx="0" cy="304495"/>
          </a:xfrm>
          <a:prstGeom prst="line">
            <a:avLst/>
          </a:prstGeom>
          <a:ln w="12700">
            <a:solidFill>
              <a:srgbClr val="000000"/>
            </a:solidFill>
            <a:tailEnd type="triangle" w="med" len="med"/>
          </a:ln>
        </p:spPr>
      </p:cxnSp>
      <p:sp>
        <p:nvSpPr>
          <p:cNvPr id="150" name="Speech Bubble: Rectangle 158"/>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Connector: Elbow 169"/>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Connector: Elbow 43"/>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Connector: Elbow 44"/>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Connector: Elbow 50"/>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Connector: Elbow 54"/>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Connector: Elbow 65"/>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Connector: Elbow 69"/>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Connector: Elbow 72"/>
          <p:cNvCxnSpPr/>
          <p:nvPr/>
        </p:nvCxnSpPr>
        <p:spPr>
          <a:xfrm>
            <a:off x="2433218" y="1845259"/>
            <a:ext cx="1201522" cy="779069"/>
          </a:xfrm>
          <a:prstGeom prst="bentConnector2">
            <a:avLst/>
          </a:prstGeom>
          <a:ln w="12700">
            <a:solidFill>
              <a:srgbClr val="000000"/>
            </a:solidFill>
            <a:tailEnd type="triangle" w="med" len="med"/>
          </a:ln>
        </p:spPr>
      </p:cxnSp>
      <p:cxnSp>
        <p:nvCxnSpPr>
          <p:cNvPr id="126" name="Connector: Elbow 86"/>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Connector: Elbow 89"/>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sp>
        <p:nvSpPr>
          <p:cNvPr id="132"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sp>
        <p:nvSpPr>
          <p:cNvPr id="133"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4"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5"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6"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7" name="Connector: Elbow 137"/>
          <p:cNvCxnSpPr/>
          <p:nvPr/>
        </p:nvCxnSpPr>
        <p:spPr>
          <a:xfrm flipV="1">
            <a:off x="4760366" y="2509114"/>
            <a:ext cx="3237890" cy="261518"/>
          </a:xfrm>
          <a:prstGeom prst="bentConnector3">
            <a:avLst/>
          </a:prstGeom>
          <a:ln w="12700">
            <a:solidFill>
              <a:srgbClr val="000000"/>
            </a:solidFill>
            <a:tailEnd type="triangle" w="med" len="med"/>
          </a:ln>
        </p:spPr>
      </p:cxnSp>
      <p:cxnSp>
        <p:nvCxnSpPr>
          <p:cNvPr id="138" name="Straight Arrow Connector 147"/>
          <p:cNvCxnSpPr/>
          <p:nvPr/>
        </p:nvCxnSpPr>
        <p:spPr>
          <a:xfrm flipV="1">
            <a:off x="1747418" y="2393899"/>
            <a:ext cx="0" cy="230429"/>
          </a:xfrm>
          <a:prstGeom prst="line">
            <a:avLst/>
          </a:prstGeom>
          <a:ln w="12700">
            <a:solidFill>
              <a:srgbClr val="000000"/>
            </a:solidFill>
            <a:tailEnd type="triangle" w="med" len="med"/>
          </a:ln>
        </p:spPr>
      </p:cxnSp>
      <p:cxnSp>
        <p:nvCxnSpPr>
          <p:cNvPr id="139" name="Straight Arrow Connector 189"/>
          <p:cNvCxnSpPr/>
          <p:nvPr/>
        </p:nvCxnSpPr>
        <p:spPr>
          <a:xfrm flipV="1">
            <a:off x="5253228" y="5565953"/>
            <a:ext cx="0" cy="516636"/>
          </a:xfrm>
          <a:prstGeom prst="line">
            <a:avLst/>
          </a:prstGeom>
          <a:ln w="12700">
            <a:solidFill>
              <a:srgbClr val="000000"/>
            </a:solidFill>
            <a:tailEnd type="triangle" w="med" len="med"/>
          </a:ln>
        </p:spPr>
      </p:cxnSp>
      <p:cxnSp>
        <p:nvCxnSpPr>
          <p:cNvPr id="140" name="Straight Arrow Connector 193"/>
          <p:cNvCxnSpPr/>
          <p:nvPr/>
        </p:nvCxnSpPr>
        <p:spPr>
          <a:xfrm flipH="1" flipV="1">
            <a:off x="8952890" y="5565953"/>
            <a:ext cx="0" cy="516636"/>
          </a:xfrm>
          <a:prstGeom prst="line">
            <a:avLst/>
          </a:prstGeom>
          <a:ln w="12700">
            <a:solidFill>
              <a:srgbClr val="000000"/>
            </a:solidFill>
            <a:tailEnd type="triangle" w="med" len="med"/>
          </a:ln>
        </p:spPr>
      </p:cxnSp>
      <p:sp>
        <p:nvSpPr>
          <p:cNvPr id="141"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sp>
        <p:nvSpPr>
          <p:cNvPr id="142"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3" name="Connector: Elbow 204"/>
          <p:cNvCxnSpPr/>
          <p:nvPr/>
        </p:nvCxnSpPr>
        <p:spPr>
          <a:xfrm flipV="1">
            <a:off x="9908438" y="5565953"/>
            <a:ext cx="914400" cy="640080"/>
          </a:xfrm>
          <a:prstGeom prst="bentConnector2">
            <a:avLst/>
          </a:prstGeom>
          <a:ln w="12700">
            <a:solidFill>
              <a:srgbClr val="000000"/>
            </a:solidFill>
            <a:tailEnd type="triangle" w="med" len="med"/>
          </a:ln>
        </p:spPr>
      </p:cxnSp>
      <p:cxnSp>
        <p:nvCxnSpPr>
          <p:cNvPr id="144" name="Connector: Elbow 208"/>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rPr>
              <a:t>46 USC 8103</a:t>
            </a:r>
            <a:r>
              <a:rPr lang="en-US" sz="800" i="1" dirty="0">
                <a:solidFill>
                  <a:srgbClr val="000000"/>
                </a:solidFill>
                <a:latin typeface="Arial"/>
                <a:ea typeface="Arial"/>
                <a:cs typeface="Arial"/>
              </a:rPr>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Approach to find TCV | </a:t>
            </a:r>
            <a:r>
              <a:rPr lang="en" dirty="0">
                <a:solidFill>
                  <a:srgbClr val="000000"/>
                </a:solidFill>
              </a:rPr>
              <a:t>IAMD (OBBBA and SHIELD)</a:t>
            </a:r>
            <a:endParaRPr lang="en-US" dirty="0">
              <a:solidFill>
                <a:srgbClr val="000000"/>
              </a:solidFill>
            </a:endParaRP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Connector: Elbow 115"/>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Connector: Elbow 116"/>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Straight Connector 136"/>
          <p:cNvCxnSpPr/>
          <p:nvPr/>
        </p:nvCxnSpPr>
        <p:spPr>
          <a:xfrm flipH="1">
            <a:off x="478231" y="1704442"/>
            <a:ext cx="2093062" cy="1829"/>
          </a:xfrm>
          <a:prstGeom prst="line">
            <a:avLst/>
          </a:prstGeom>
          <a:ln w="12700">
            <a:solidFill>
              <a:srgbClr val="162029"/>
            </a:solidFill>
          </a:ln>
        </p:spPr>
      </p:cxnSp>
      <p:cxnSp>
        <p:nvCxnSpPr>
          <p:cNvPr id="148" name="Connector: Elbow 137"/>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Connector: Elbow 145"/>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Connector: Elbow 160"/>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Connector: Elbow 50"/>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Connector: Elbow 51"/>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Connector: Elbow 52"/>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Connector: Elbow 112"/>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Picture 2"/>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dash"/>
            <a:tailEnd type="triangle" w="med" len="med"/>
          </a:ln>
        </p:spPr>
      </p:cxnSp>
      <p:cxnSp>
        <p:nvCxnSpPr>
          <p:cNvPr id="105" name="DashedExerciseArrow"/>
          <p:cNvCxnSpPr/>
          <p:nvPr/>
        </p:nvCxnSpPr>
        <p:spPr>
          <a:xfrm>
            <a:off x="2706624" y="3419856"/>
            <a:ext cx="563270" cy="0"/>
          </a:xfrm>
          <a:prstGeom prst="line">
            <a:avLst/>
          </a:prstGeom>
          <a:ln w="3175">
            <a:solidFill>
              <a:srgbClr val="162029"/>
            </a:solidFill>
            <a:prstDash val="dash"/>
            <a:tailEnd type="triangle" w="med" len="med"/>
          </a:ln>
        </p:spPr>
      </p:cxnSp>
      <p:cxnSp>
        <p:nvCxnSpPr>
          <p:cNvPr id="106" name="DashedExerciseArrow"/>
          <p:cNvCxnSpPr/>
          <p:nvPr/>
        </p:nvCxnSpPr>
        <p:spPr>
          <a:xfrm>
            <a:off x="3974897" y="3419856"/>
            <a:ext cx="563270" cy="0"/>
          </a:xfrm>
          <a:prstGeom prst="line">
            <a:avLst/>
          </a:prstGeom>
          <a:ln w="3175">
            <a:solidFill>
              <a:srgbClr val="162029"/>
            </a:solidFill>
            <a:prstDash val="dash"/>
            <a:tailEnd type="triangle" w="med" len="med"/>
          </a:ln>
        </p:spPr>
      </p:cxnSp>
      <p:cxnSp>
        <p:nvCxnSpPr>
          <p:cNvPr id="107" name="DashedExerciseArrow"/>
          <p:cNvCxnSpPr/>
          <p:nvPr/>
        </p:nvCxnSpPr>
        <p:spPr>
          <a:xfrm>
            <a:off x="5243170" y="3769157"/>
            <a:ext cx="563270" cy="0"/>
          </a:xfrm>
          <a:prstGeom prst="line">
            <a:avLst/>
          </a:prstGeom>
          <a:ln w="3175">
            <a:solidFill>
              <a:srgbClr val="162029"/>
            </a:solidFill>
            <a:prstDash val="dash"/>
            <a:tailEnd type="triangle" w="med" len="med"/>
          </a:ln>
        </p:spPr>
      </p:cxnSp>
      <p:cxnSp>
        <p:nvCxnSpPr>
          <p:cNvPr id="108" name="DashedExerciseArrow"/>
          <p:cNvCxnSpPr/>
          <p:nvPr/>
        </p:nvCxnSpPr>
        <p:spPr>
          <a:xfrm>
            <a:off x="6512357" y="4013302"/>
            <a:ext cx="56235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Picture 2"/>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0000"/>
                          </a:solidFill>
                          <a:latin typeface="Arial"/>
                          <a:ea typeface="Arial"/>
                          <a:cs typeface="Arial"/>
                        </a:rPr>
                        <a:t>Table Stakes</a:t>
                      </a:r>
                    </a:p>
                  </a:txBody>
                  <a:tcPr marL="45720" marR="45720" marT="45720" marB="45720" anchor="ctr">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7770"/>
                          </a:solidFill>
                          <a:latin typeface="Arial"/>
                          <a:ea typeface="Arial"/>
                          <a:cs typeface="Arial"/>
                        </a:rPr>
                        <a:t>Addressable</a:t>
                      </a:r>
                    </a:p>
                    <a:p>
                      <a:pPr algn="l" marL="0" indent="0">
                        <a:lnSpc>
                          <a:spcPct val="100000"/>
                        </a:lnSpc>
                      </a:pPr>
                      <a:r>
                        <a:rPr lang="en-US" sz="1200" dirty="0">
                          <a:solidFill>
                            <a:srgbClr val="007770"/>
                          </a:solidFill>
                          <a:latin typeface="Arial"/>
                          <a:ea typeface="Arial"/>
                          <a:cs typeface="Arial"/>
                        </a:rPr>
                        <a:t>Commercial</a:t>
                      </a:r>
                    </a:p>
                  </a:txBody>
                  <a:tcPr marL="45720" marR="45720" marT="45720" marB="45720" anchor="ctr">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ctr"/>
                    <a:lstStyle/>
                    <a:p>
                      <a:pPr algn="l" marL="0" indent="0">
                        <a:lnSpc>
                          <a:spcPct val="100000"/>
                        </a:lnSpc>
                      </a:pPr>
                      <a:r>
                        <a:rPr lang="en-US" sz="1200" dirty="0">
                          <a:solidFill>
                            <a:srgbClr val="FFC000"/>
                          </a:solidFill>
                          <a:latin typeface="Arial"/>
                          <a:ea typeface="Arial"/>
                          <a:cs typeface="Arial"/>
                        </a:rPr>
                        <a:t>Addressable Offshore</a:t>
                      </a:r>
                    </a:p>
                  </a:txBody>
                  <a:tcPr marL="45720" marR="45720" marT="45720" marB="45720" anchor="ctr">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ctr"/>
                    <a:lstStyle/>
                    <a:p>
                      <a:pPr algn="l" marL="0" indent="0">
                        <a:lnSpc>
                          <a:spcPct val="100000"/>
                        </a:lnSpc>
                      </a:pPr>
                      <a:r>
                        <a:rPr lang="en-US" sz="1200" dirty="0">
                          <a:solidFill>
                            <a:srgbClr val="969696"/>
                          </a:solidFill>
                          <a:latin typeface="Arial"/>
                          <a:ea typeface="Arial"/>
                          <a:cs typeface="Arial"/>
                        </a:rPr>
                        <a:t>Non-Addressable</a:t>
                      </a:r>
                    </a:p>
                  </a:txBody>
                  <a:tcPr marL="45720" marR="45720" marT="45720" marB="45720" anchor="ctr">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ctr"/>
                    <a:lstStyle/>
                    <a:p>
                      <a:pPr algn="l">
                        <a:lnSpc>
                          <a:spcPct val="100000"/>
                        </a:lnSpc>
                      </a:pPr>
                      <a:r>
                        <a:rPr lang="en-US" sz="1200" dirty="0">
                          <a:solidFill>
                            <a:srgbClr val="000000"/>
                          </a:solidFill>
                          <a:latin typeface="Arial"/>
                          <a:ea typeface="Arial"/>
                          <a:cs typeface="Arial"/>
                        </a:rPr>
                        <a:t>Criteria</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ctr"/>
                    <a:lstStyle/>
                    <a:p>
                      <a:pPr algn="l">
                        <a:lnSpc>
                          <a:spcPct val="100000"/>
                        </a:lnSpc>
                      </a:pPr>
                      <a:r>
                        <a:rPr lang="en-US" sz="1200" dirty="0">
                          <a:solidFill>
                            <a:srgbClr val="000000"/>
                          </a:solidFill>
                          <a:latin typeface="Arial"/>
                          <a:ea typeface="Arial"/>
                          <a:cs typeface="Arial"/>
                        </a:rPr>
                        <a:t>Inclusion / Exclusion Rationale</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ValueFlowPanel:cargo_moved_by_archetypes"/>
          <p:cNvSpPr txBox="1"/>
          <p:nvPr/>
        </p:nvSpPr>
        <p:spPr>
          <a:xfrm>
            <a:off x="4524451" y="3161081"/>
            <a:ext cx="7277710" cy="1691640"/>
          </a:xfrm>
          <a:prstGeom prst="rect">
            <a:avLst/>
          </a:prstGeom>
          <a:solidFill>
            <a:srgbClr val="F2F2F2"/>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ctr"/>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ctr"/>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ctr">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ctr"/>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Definitions | Sizing breaks the market down into five levels </a:t>
            </a:r>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ctr"/>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that could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ctr"/>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performed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Saronic unmanned platforms (i.e., market share)</a:t>
                      </a:r>
                    </a:p>
                    <a:p>
                      <a:pPr algn="l">
                        <a:lnSpc>
                          <a:spcPct val="100000"/>
                        </a:lnSpc>
                      </a:pPr>
                      <a:endParaRPr lang="en-US"/>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ctr">
                    <a:lnL>
                      <a:noFill/>
                    </a:lnL>
                    <a:lnR>
                      <a:noFill/>
                    </a:lnR>
                    <a:lnT w="6350" cap="flat" cmpd="sng" algn="ctr">
                      <a:solidFill>
                        <a:srgbClr val="162029"/>
                      </a:solidFill>
                      <a:prstDash val="solid"/>
                    </a:lnT>
                    <a:lnB>
                      <a:noFill/>
                    </a:lnB>
                    <a:noFill/>
                  </a:tcPr>
                </a:tc>
                <a:tc>
                  <a:txBody>
                    <a:bodyPr anchor="ctr"/>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ctr">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ctr"/>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ctr"/>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Table 1"/>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Table 9"/>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Rectangle 2"/>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Table 8"/>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graphicFrame>
        <p:nvGraphicFramePr>
          <p:cNvPr id="101" name="Table 10"/>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Table 6"/>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13"/>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Rectangle 4"/>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8"/>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Rectangle 10"/>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4"/>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ctr"/>
                    <a:lstStyle/>
                    <a:p>
                      <a:pPr algn="r">
                        <a:lnSpc>
                          <a:spcPct val="100000"/>
                        </a:lnSpc>
                      </a:pPr>
                      <a:r>
                        <a:rPr lang="en-US" sz="1000" i="1" dirty="0">
                          <a:solidFill>
                            <a:srgbClr val="000000"/>
                          </a:solidFill>
                          <a:latin typeface="Arial"/>
                          <a:ea typeface="Arial"/>
                          <a:cs typeface="Arial"/>
                        </a:rPr>
                        <a:t>Market:</a:t>
                      </a:r>
                    </a:p>
                  </a:txBody>
                  <a:tcPr marL="45720" marR="45720" marT="45720" marB="45720" anchor="ctr">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ctr"/>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ctr">
                    <a:lnL>
                      <a:noFill/>
                    </a:lnL>
                    <a:lnR>
                      <a:noFill/>
                    </a:lnR>
                    <a:lnT w="6350" cap="flat" cmpd="sng" algn="ctr">
                      <a:solidFill>
                        <a:srgbClr val="808080"/>
                      </a:solidFill>
                      <a:prstDash val="solid"/>
                    </a:lnT>
                    <a:lnB>
                      <a:noFill/>
                    </a:lnB>
                    <a:noFill/>
                  </a:tcPr>
                </a:tc>
                <a:tc rowSpan="3">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ctr">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TextBox 7"/>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Rectangle 10"/>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100" name="Rectangle 1964"/>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Straight Connector 2230"/>
          <p:cNvCxnSpPr/>
          <p:nvPr/>
        </p:nvCxnSpPr>
        <p:spPr>
          <a:xfrm>
            <a:off x="858622" y="1848002"/>
            <a:ext cx="10819181" cy="0"/>
          </a:xfrm>
          <a:prstGeom prst="line">
            <a:avLst/>
          </a:prstGeom>
          <a:ln w="9525">
            <a:solidFill>
              <a:srgbClr val="162029"/>
            </a:solidFill>
            <a:prstDash val="dash"/>
            <a:tailEnd type="triangle" w="med" len="med"/>
          </a:ln>
        </p:spPr>
      </p:cxnSp>
      <p:cxnSp>
        <p:nvCxnSpPr>
          <p:cNvPr id="107" name="Straight Connector 2205"/>
          <p:cNvCxnSpPr/>
          <p:nvPr/>
        </p:nvCxnSpPr>
        <p:spPr>
          <a:xfrm>
            <a:off x="858622" y="2790749"/>
            <a:ext cx="10819181" cy="0"/>
          </a:xfrm>
          <a:prstGeom prst="line">
            <a:avLst/>
          </a:prstGeom>
          <a:ln w="9525">
            <a:solidFill>
              <a:srgbClr val="162029"/>
            </a:solidFill>
            <a:prstDash val="dash"/>
            <a:tailEnd type="triangle" w="med" len="med"/>
          </a:ln>
        </p:spPr>
      </p:cxnSp>
      <p:cxnSp>
        <p:nvCxnSpPr>
          <p:cNvPr id="108" name="Straight Connector 2180"/>
          <p:cNvCxnSpPr/>
          <p:nvPr/>
        </p:nvCxnSpPr>
        <p:spPr>
          <a:xfrm>
            <a:off x="858622" y="3733495"/>
            <a:ext cx="936346" cy="0"/>
          </a:xfrm>
          <a:prstGeom prst="line">
            <a:avLst/>
          </a:prstGeom>
          <a:ln w="9525">
            <a:solidFill>
              <a:srgbClr val="162029"/>
            </a:solidFill>
            <a:prstDash val="dash"/>
            <a:tailEnd type="triangle" w="med" len="med"/>
          </a:ln>
        </p:spPr>
      </p:cxnSp>
      <p:cxnSp>
        <p:nvCxnSpPr>
          <p:cNvPr id="109" name="Straight Connector 2484"/>
          <p:cNvCxnSpPr/>
          <p:nvPr/>
        </p:nvCxnSpPr>
        <p:spPr>
          <a:xfrm>
            <a:off x="2084832" y="3733495"/>
            <a:ext cx="4821631" cy="0"/>
          </a:xfrm>
          <a:prstGeom prst="line">
            <a:avLst/>
          </a:prstGeom>
          <a:ln w="9525">
            <a:solidFill>
              <a:srgbClr val="162029"/>
            </a:solidFill>
            <a:prstDash val="dash"/>
            <a:tailEnd type="triangle" w="med" len="med"/>
          </a:ln>
        </p:spPr>
      </p:cxnSp>
      <p:cxnSp>
        <p:nvCxnSpPr>
          <p:cNvPr id="110" name="Straight Connector 2485"/>
          <p:cNvCxnSpPr/>
          <p:nvPr/>
        </p:nvCxnSpPr>
        <p:spPr>
          <a:xfrm>
            <a:off x="7071055" y="3733495"/>
            <a:ext cx="4606747" cy="0"/>
          </a:xfrm>
          <a:prstGeom prst="line">
            <a:avLst/>
          </a:prstGeom>
          <a:ln w="9525">
            <a:solidFill>
              <a:srgbClr val="162029"/>
            </a:solidFill>
            <a:prstDash val="dash"/>
            <a:tailEnd type="triangle" w="med" len="med"/>
          </a:ln>
        </p:spPr>
      </p:cxnSp>
      <p:cxnSp>
        <p:nvCxnSpPr>
          <p:cNvPr id="111" name="Straight Connector 384"/>
          <p:cNvCxnSpPr/>
          <p:nvPr/>
        </p:nvCxnSpPr>
        <p:spPr>
          <a:xfrm>
            <a:off x="858622" y="4677156"/>
            <a:ext cx="936346" cy="0"/>
          </a:xfrm>
          <a:prstGeom prst="line">
            <a:avLst/>
          </a:prstGeom>
          <a:ln w="9525">
            <a:solidFill>
              <a:srgbClr val="162029"/>
            </a:solidFill>
            <a:prstDash val="dash"/>
            <a:tailEnd type="triangle" w="med" len="med"/>
          </a:ln>
        </p:spPr>
      </p:cxnSp>
      <p:cxnSp>
        <p:nvCxnSpPr>
          <p:cNvPr id="112" name="Straight Connector 2529"/>
          <p:cNvCxnSpPr/>
          <p:nvPr/>
        </p:nvCxnSpPr>
        <p:spPr>
          <a:xfrm>
            <a:off x="2084832" y="4677156"/>
            <a:ext cx="4821631" cy="0"/>
          </a:xfrm>
          <a:prstGeom prst="line">
            <a:avLst/>
          </a:prstGeom>
          <a:ln w="9525">
            <a:solidFill>
              <a:srgbClr val="162029"/>
            </a:solidFill>
            <a:prstDash val="dash"/>
            <a:tailEnd type="triangle" w="med" len="med"/>
          </a:ln>
        </p:spPr>
      </p:cxnSp>
      <p:cxnSp>
        <p:nvCxnSpPr>
          <p:cNvPr id="113" name="Straight Connector 2530"/>
          <p:cNvCxnSpPr/>
          <p:nvPr/>
        </p:nvCxnSpPr>
        <p:spPr>
          <a:xfrm>
            <a:off x="7071055" y="4677156"/>
            <a:ext cx="4606747" cy="0"/>
          </a:xfrm>
          <a:prstGeom prst="line">
            <a:avLst/>
          </a:prstGeom>
          <a:ln w="9525">
            <a:solidFill>
              <a:srgbClr val="162029"/>
            </a:solidFill>
            <a:prstDash val="dash"/>
            <a:tailEnd type="triangle" w="med" len="med"/>
          </a:ln>
        </p:spPr>
      </p:cxnSp>
      <p:cxnSp>
        <p:nvCxnSpPr>
          <p:cNvPr id="114" name="Straight Connector 2528"/>
          <p:cNvCxnSpPr/>
          <p:nvPr/>
        </p:nvCxnSpPr>
        <p:spPr>
          <a:xfrm>
            <a:off x="1940357" y="4759452"/>
            <a:ext cx="0" cy="2743"/>
          </a:xfrm>
          <a:prstGeom prst="line">
            <a:avLst/>
          </a:prstGeom>
          <a:ln w="6350">
            <a:solidFill>
              <a:srgbClr val="44505C"/>
            </a:solidFill>
            <a:prstDash val="dash"/>
            <a:tailEnd type="triangle" w="med" len="med"/>
          </a:ln>
        </p:spPr>
      </p:cxnSp>
      <p:cxnSp>
        <p:nvCxnSpPr>
          <p:cNvPr id="115" name="Straight Connector 2020"/>
          <p:cNvCxnSpPr/>
          <p:nvPr/>
        </p:nvCxnSpPr>
        <p:spPr>
          <a:xfrm>
            <a:off x="858622" y="5619902"/>
            <a:ext cx="10819181" cy="0"/>
          </a:xfrm>
          <a:prstGeom prst="line">
            <a:avLst/>
          </a:prstGeom>
          <a:ln w="9525">
            <a:solidFill>
              <a:srgbClr val="162029"/>
            </a:solidFill>
            <a:prstDash val="dash"/>
            <a:tailEnd type="triangle" w="med" len="med"/>
          </a:ln>
        </p:spPr>
      </p:cxnSp>
      <p:cxnSp>
        <p:nvCxnSpPr>
          <p:cNvPr id="116" name="EBIT margin dash marker"/>
          <p:cNvCxnSpPr/>
          <p:nvPr/>
        </p:nvCxnSpPr>
        <p:spPr>
          <a:xfrm>
            <a:off x="1164649" y="5583227"/>
            <a:ext cx="109728" cy="0"/>
          </a:xfrm>
          <a:prstGeom prst="line">
            <a:avLst/>
          </a:prstGeom>
          <a:ln w="9525">
            <a:solidFill>
              <a:srgbClr val="FFC000"/>
            </a:solidFill>
          </a:ln>
        </p:spPr>
      </p:cxnSp>
      <p:cxnSp>
        <p:nvCxnSpPr>
          <p:cNvPr id="117" name="EBIT margin dash marker"/>
          <p:cNvCxnSpPr/>
          <p:nvPr/>
        </p:nvCxnSpPr>
        <p:spPr>
          <a:xfrm>
            <a:off x="1885920" y="5607795"/>
            <a:ext cx="109728" cy="0"/>
          </a:xfrm>
          <a:prstGeom prst="line">
            <a:avLst/>
          </a:prstGeom>
          <a:ln w="9525">
            <a:solidFill>
              <a:srgbClr val="FFC000"/>
            </a:solidFill>
          </a:ln>
        </p:spPr>
      </p:cxnSp>
      <p:cxnSp>
        <p:nvCxnSpPr>
          <p:cNvPr id="118" name="EBIT margin dash marker"/>
          <p:cNvCxnSpPr/>
          <p:nvPr/>
        </p:nvCxnSpPr>
        <p:spPr>
          <a:xfrm>
            <a:off x="2607192" y="5606157"/>
            <a:ext cx="109728" cy="0"/>
          </a:xfrm>
          <a:prstGeom prst="line">
            <a:avLst/>
          </a:prstGeom>
          <a:ln w="9525">
            <a:solidFill>
              <a:srgbClr val="FFC000"/>
            </a:solidFill>
          </a:ln>
        </p:spPr>
      </p:cxnSp>
      <p:cxnSp>
        <p:nvCxnSpPr>
          <p:cNvPr id="119" name="EBIT margin dash marker"/>
          <p:cNvCxnSpPr/>
          <p:nvPr/>
        </p:nvCxnSpPr>
        <p:spPr>
          <a:xfrm>
            <a:off x="4049734" y="5662388"/>
            <a:ext cx="109728" cy="0"/>
          </a:xfrm>
          <a:prstGeom prst="line">
            <a:avLst/>
          </a:prstGeom>
          <a:ln w="9525">
            <a:solidFill>
              <a:srgbClr val="FFC000"/>
            </a:solidFill>
          </a:ln>
        </p:spPr>
      </p:cxnSp>
      <p:cxnSp>
        <p:nvCxnSpPr>
          <p:cNvPr id="120" name="EBIT margin dash marker"/>
          <p:cNvCxnSpPr/>
          <p:nvPr/>
        </p:nvCxnSpPr>
        <p:spPr>
          <a:xfrm>
            <a:off x="4771005" y="5547741"/>
            <a:ext cx="109728" cy="0"/>
          </a:xfrm>
          <a:prstGeom prst="line">
            <a:avLst/>
          </a:prstGeom>
          <a:ln w="9525">
            <a:solidFill>
              <a:srgbClr val="FFC000"/>
            </a:solidFill>
          </a:ln>
        </p:spPr>
      </p:cxnSp>
      <p:cxnSp>
        <p:nvCxnSpPr>
          <p:cNvPr id="121" name="EBIT margin dash marker"/>
          <p:cNvCxnSpPr/>
          <p:nvPr/>
        </p:nvCxnSpPr>
        <p:spPr>
          <a:xfrm>
            <a:off x="5492277" y="5519898"/>
            <a:ext cx="109728" cy="0"/>
          </a:xfrm>
          <a:prstGeom prst="line">
            <a:avLst/>
          </a:prstGeom>
          <a:ln w="9525">
            <a:solidFill>
              <a:srgbClr val="FFC000"/>
            </a:solidFill>
          </a:ln>
        </p:spPr>
      </p:cxnSp>
      <p:cxnSp>
        <p:nvCxnSpPr>
          <p:cNvPr id="122" name="EBIT margin dash marker"/>
          <p:cNvCxnSpPr/>
          <p:nvPr/>
        </p:nvCxnSpPr>
        <p:spPr>
          <a:xfrm>
            <a:off x="6213548" y="5563573"/>
            <a:ext cx="109728" cy="0"/>
          </a:xfrm>
          <a:prstGeom prst="line">
            <a:avLst/>
          </a:prstGeom>
          <a:ln w="9525">
            <a:solidFill>
              <a:srgbClr val="FFC000"/>
            </a:solidFill>
          </a:ln>
        </p:spPr>
      </p:cxnSp>
      <p:cxnSp>
        <p:nvCxnSpPr>
          <p:cNvPr id="123" name="EBIT margin dash marker"/>
          <p:cNvCxnSpPr/>
          <p:nvPr/>
        </p:nvCxnSpPr>
        <p:spPr>
          <a:xfrm>
            <a:off x="6934819" y="5559752"/>
            <a:ext cx="109728" cy="0"/>
          </a:xfrm>
          <a:prstGeom prst="line">
            <a:avLst/>
          </a:prstGeom>
          <a:ln w="9525">
            <a:solidFill>
              <a:srgbClr val="FFC000"/>
            </a:solidFill>
          </a:ln>
        </p:spPr>
      </p:cxnSp>
      <p:cxnSp>
        <p:nvCxnSpPr>
          <p:cNvPr id="124" name="EBIT margin dash marker"/>
          <p:cNvCxnSpPr/>
          <p:nvPr/>
        </p:nvCxnSpPr>
        <p:spPr>
          <a:xfrm>
            <a:off x="7656090" y="5383960"/>
            <a:ext cx="109728" cy="0"/>
          </a:xfrm>
          <a:prstGeom prst="line">
            <a:avLst/>
          </a:prstGeom>
          <a:ln w="9525">
            <a:solidFill>
              <a:srgbClr val="FFC000"/>
            </a:solidFill>
          </a:ln>
        </p:spPr>
      </p:cxnSp>
      <p:cxnSp>
        <p:nvCxnSpPr>
          <p:cNvPr id="125" name="EBIT margin dash marker"/>
          <p:cNvCxnSpPr/>
          <p:nvPr/>
        </p:nvCxnSpPr>
        <p:spPr>
          <a:xfrm>
            <a:off x="8377362" y="5548287"/>
            <a:ext cx="109728" cy="0"/>
          </a:xfrm>
          <a:prstGeom prst="line">
            <a:avLst/>
          </a:prstGeom>
          <a:ln w="9525">
            <a:solidFill>
              <a:srgbClr val="FFC000"/>
            </a:solidFill>
          </a:ln>
        </p:spPr>
      </p:cxnSp>
      <p:cxnSp>
        <p:nvCxnSpPr>
          <p:cNvPr id="126" name="EBIT margin dash marker"/>
          <p:cNvCxnSpPr/>
          <p:nvPr/>
        </p:nvCxnSpPr>
        <p:spPr>
          <a:xfrm>
            <a:off x="9098633" y="5388327"/>
            <a:ext cx="109728" cy="0"/>
          </a:xfrm>
          <a:prstGeom prst="line">
            <a:avLst/>
          </a:prstGeom>
          <a:ln w="9525">
            <a:solidFill>
              <a:srgbClr val="FFC000"/>
            </a:solidFill>
          </a:ln>
        </p:spPr>
      </p:cxnSp>
      <p:cxnSp>
        <p:nvCxnSpPr>
          <p:cNvPr id="127" name="EBIT margin dash marker"/>
          <p:cNvCxnSpPr/>
          <p:nvPr/>
        </p:nvCxnSpPr>
        <p:spPr>
          <a:xfrm>
            <a:off x="9819904" y="5446743"/>
            <a:ext cx="109728" cy="0"/>
          </a:xfrm>
          <a:prstGeom prst="line">
            <a:avLst/>
          </a:prstGeom>
          <a:ln w="9525">
            <a:solidFill>
              <a:srgbClr val="FFC000"/>
            </a:solidFill>
          </a:ln>
        </p:spPr>
      </p:cxnSp>
      <p:cxnSp>
        <p:nvCxnSpPr>
          <p:cNvPr id="128" name="EBIT margin dash marker"/>
          <p:cNvCxnSpPr/>
          <p:nvPr/>
        </p:nvCxnSpPr>
        <p:spPr>
          <a:xfrm>
            <a:off x="10541175" y="5440737"/>
            <a:ext cx="109728" cy="0"/>
          </a:xfrm>
          <a:prstGeom prst="line">
            <a:avLst/>
          </a:prstGeom>
          <a:ln w="9525">
            <a:solidFill>
              <a:srgbClr val="FFC000"/>
            </a:solidFill>
          </a:ln>
        </p:spPr>
      </p:cxnSp>
      <p:cxnSp>
        <p:nvCxnSpPr>
          <p:cNvPr id="129" name="EBIT margin dash marker"/>
          <p:cNvCxnSpPr/>
          <p:nvPr/>
        </p:nvCxnSpPr>
        <p:spPr>
          <a:xfrm>
            <a:off x="11262447" y="5385052"/>
            <a:ext cx="109728" cy="0"/>
          </a:xfrm>
          <a:prstGeom prst="line">
            <a:avLst/>
          </a:prstGeom>
          <a:ln w="9525">
            <a:solidFill>
              <a:srgbClr val="FFC000"/>
            </a:solidFill>
          </a:ln>
        </p:spPr>
      </p:cxnSp>
      <p:cxnSp>
        <p:nvCxnSpPr>
          <p:cNvPr id="130" name="EBIT margin dash marker"/>
          <p:cNvCxnSpPr/>
          <p:nvPr/>
        </p:nvCxnSpPr>
        <p:spPr>
          <a:xfrm>
            <a:off x="1164649" y="4633561"/>
            <a:ext cx="109728" cy="0"/>
          </a:xfrm>
          <a:prstGeom prst="line">
            <a:avLst/>
          </a:prstGeom>
          <a:ln w="9525">
            <a:solidFill>
              <a:srgbClr val="FFC000"/>
            </a:solidFill>
          </a:ln>
        </p:spPr>
      </p:cxnSp>
      <p:cxnSp>
        <p:nvCxnSpPr>
          <p:cNvPr id="131" name="EBIT margin dash marker"/>
          <p:cNvCxnSpPr/>
          <p:nvPr/>
        </p:nvCxnSpPr>
        <p:spPr>
          <a:xfrm>
            <a:off x="1885920" y="4889060"/>
            <a:ext cx="109728" cy="0"/>
          </a:xfrm>
          <a:prstGeom prst="line">
            <a:avLst/>
          </a:prstGeom>
          <a:ln w="9525">
            <a:solidFill>
              <a:srgbClr val="FFC000"/>
            </a:solidFill>
          </a:ln>
        </p:spPr>
      </p:cxnSp>
      <p:cxnSp>
        <p:nvCxnSpPr>
          <p:cNvPr id="132" name="EBIT margin dash marker"/>
          <p:cNvCxnSpPr/>
          <p:nvPr/>
        </p:nvCxnSpPr>
        <p:spPr>
          <a:xfrm>
            <a:off x="2607192" y="4653215"/>
            <a:ext cx="109728" cy="0"/>
          </a:xfrm>
          <a:prstGeom prst="line">
            <a:avLst/>
          </a:prstGeom>
          <a:ln w="9525">
            <a:solidFill>
              <a:srgbClr val="FFC000"/>
            </a:solidFill>
          </a:ln>
        </p:spPr>
      </p:cxnSp>
      <p:cxnSp>
        <p:nvCxnSpPr>
          <p:cNvPr id="133" name="EBIT margin dash marker"/>
          <p:cNvCxnSpPr/>
          <p:nvPr/>
        </p:nvCxnSpPr>
        <p:spPr>
          <a:xfrm>
            <a:off x="4049734" y="4692523"/>
            <a:ext cx="109728" cy="0"/>
          </a:xfrm>
          <a:prstGeom prst="line">
            <a:avLst/>
          </a:prstGeom>
          <a:ln w="9525">
            <a:solidFill>
              <a:srgbClr val="FFC000"/>
            </a:solidFill>
          </a:ln>
        </p:spPr>
      </p:cxnSp>
      <p:cxnSp>
        <p:nvCxnSpPr>
          <p:cNvPr id="134" name="EBIT margin dash marker"/>
          <p:cNvCxnSpPr/>
          <p:nvPr/>
        </p:nvCxnSpPr>
        <p:spPr>
          <a:xfrm>
            <a:off x="4771005" y="4477969"/>
            <a:ext cx="109728" cy="0"/>
          </a:xfrm>
          <a:prstGeom prst="line">
            <a:avLst/>
          </a:prstGeom>
          <a:ln w="9525">
            <a:solidFill>
              <a:srgbClr val="FFC000"/>
            </a:solidFill>
          </a:ln>
        </p:spPr>
      </p:cxnSp>
      <p:cxnSp>
        <p:nvCxnSpPr>
          <p:cNvPr id="135" name="EBIT margin dash marker"/>
          <p:cNvCxnSpPr/>
          <p:nvPr/>
        </p:nvCxnSpPr>
        <p:spPr>
          <a:xfrm>
            <a:off x="5492277" y="4380246"/>
            <a:ext cx="109728" cy="0"/>
          </a:xfrm>
          <a:prstGeom prst="line">
            <a:avLst/>
          </a:prstGeom>
          <a:ln w="9525">
            <a:solidFill>
              <a:srgbClr val="FFC000"/>
            </a:solidFill>
          </a:ln>
        </p:spPr>
      </p:cxnSp>
      <p:cxnSp>
        <p:nvCxnSpPr>
          <p:cNvPr id="136" name="EBIT margin dash marker"/>
          <p:cNvCxnSpPr/>
          <p:nvPr/>
        </p:nvCxnSpPr>
        <p:spPr>
          <a:xfrm>
            <a:off x="6213548" y="4445758"/>
            <a:ext cx="109728" cy="0"/>
          </a:xfrm>
          <a:prstGeom prst="line">
            <a:avLst/>
          </a:prstGeom>
          <a:ln w="9525">
            <a:solidFill>
              <a:srgbClr val="FFC000"/>
            </a:solidFill>
          </a:ln>
        </p:spPr>
      </p:cxnSp>
      <p:cxnSp>
        <p:nvCxnSpPr>
          <p:cNvPr id="137" name="EBIT margin dash marker"/>
          <p:cNvCxnSpPr/>
          <p:nvPr/>
        </p:nvCxnSpPr>
        <p:spPr>
          <a:xfrm>
            <a:off x="6934819" y="4473055"/>
            <a:ext cx="109728" cy="0"/>
          </a:xfrm>
          <a:prstGeom prst="line">
            <a:avLst/>
          </a:prstGeom>
          <a:ln w="9525">
            <a:solidFill>
              <a:srgbClr val="FFC000"/>
            </a:solidFill>
          </a:ln>
        </p:spPr>
      </p:cxnSp>
      <p:cxnSp>
        <p:nvCxnSpPr>
          <p:cNvPr id="138" name="EBIT margin dash marker"/>
          <p:cNvCxnSpPr/>
          <p:nvPr/>
        </p:nvCxnSpPr>
        <p:spPr>
          <a:xfrm>
            <a:off x="7656090" y="4392802"/>
            <a:ext cx="109728" cy="0"/>
          </a:xfrm>
          <a:prstGeom prst="line">
            <a:avLst/>
          </a:prstGeom>
          <a:ln w="9525">
            <a:solidFill>
              <a:srgbClr val="FFC000"/>
            </a:solidFill>
          </a:ln>
        </p:spPr>
      </p:cxnSp>
      <p:cxnSp>
        <p:nvCxnSpPr>
          <p:cNvPr id="139" name="EBIT margin dash marker"/>
          <p:cNvCxnSpPr/>
          <p:nvPr/>
        </p:nvCxnSpPr>
        <p:spPr>
          <a:xfrm>
            <a:off x="8377362" y="4372602"/>
            <a:ext cx="109728" cy="0"/>
          </a:xfrm>
          <a:prstGeom prst="line">
            <a:avLst/>
          </a:prstGeom>
          <a:ln w="9525">
            <a:solidFill>
              <a:srgbClr val="FFC000"/>
            </a:solidFill>
          </a:ln>
        </p:spPr>
      </p:cxnSp>
      <p:cxnSp>
        <p:nvCxnSpPr>
          <p:cNvPr id="140" name="EBIT margin dash marker"/>
          <p:cNvCxnSpPr/>
          <p:nvPr/>
        </p:nvCxnSpPr>
        <p:spPr>
          <a:xfrm>
            <a:off x="9098633" y="4414640"/>
            <a:ext cx="109728" cy="0"/>
          </a:xfrm>
          <a:prstGeom prst="line">
            <a:avLst/>
          </a:prstGeom>
          <a:ln w="9525">
            <a:solidFill>
              <a:srgbClr val="FFC000"/>
            </a:solidFill>
          </a:ln>
        </p:spPr>
      </p:cxnSp>
      <p:cxnSp>
        <p:nvCxnSpPr>
          <p:cNvPr id="141" name="EBIT margin dash marker"/>
          <p:cNvCxnSpPr/>
          <p:nvPr/>
        </p:nvCxnSpPr>
        <p:spPr>
          <a:xfrm>
            <a:off x="9819904" y="4516184"/>
            <a:ext cx="109728" cy="0"/>
          </a:xfrm>
          <a:prstGeom prst="line">
            <a:avLst/>
          </a:prstGeom>
          <a:ln w="9525">
            <a:solidFill>
              <a:srgbClr val="FFC000"/>
            </a:solidFill>
          </a:ln>
        </p:spPr>
      </p:cxnSp>
      <p:cxnSp>
        <p:nvCxnSpPr>
          <p:cNvPr id="142" name="EBIT margin dash marker"/>
          <p:cNvCxnSpPr/>
          <p:nvPr/>
        </p:nvCxnSpPr>
        <p:spPr>
          <a:xfrm>
            <a:off x="10541175" y="4454493"/>
            <a:ext cx="109728" cy="0"/>
          </a:xfrm>
          <a:prstGeom prst="line">
            <a:avLst/>
          </a:prstGeom>
          <a:ln w="9525">
            <a:solidFill>
              <a:srgbClr val="FFC000"/>
            </a:solidFill>
          </a:ln>
        </p:spPr>
      </p:cxnSp>
      <p:cxnSp>
        <p:nvCxnSpPr>
          <p:cNvPr id="143" name="EBIT margin dash marker"/>
          <p:cNvCxnSpPr/>
          <p:nvPr/>
        </p:nvCxnSpPr>
        <p:spPr>
          <a:xfrm>
            <a:off x="11262447" y="4415186"/>
            <a:ext cx="109728" cy="0"/>
          </a:xfrm>
          <a:prstGeom prst="line">
            <a:avLst/>
          </a:prstGeom>
          <a:ln w="9525">
            <a:solidFill>
              <a:srgbClr val="FFC000"/>
            </a:solidFill>
          </a:ln>
        </p:spPr>
      </p:cxnSp>
      <p:cxnSp>
        <p:nvCxnSpPr>
          <p:cNvPr id="144" name="EBIT margin dash marker"/>
          <p:cNvCxnSpPr/>
          <p:nvPr/>
        </p:nvCxnSpPr>
        <p:spPr>
          <a:xfrm>
            <a:off x="1164649" y="3712652"/>
            <a:ext cx="109728" cy="0"/>
          </a:xfrm>
          <a:prstGeom prst="line">
            <a:avLst/>
          </a:prstGeom>
          <a:ln w="9525">
            <a:solidFill>
              <a:srgbClr val="FFC000"/>
            </a:solidFill>
          </a:ln>
        </p:spPr>
      </p:cxnSp>
      <p:cxnSp>
        <p:nvCxnSpPr>
          <p:cNvPr id="145" name="EBIT margin dash marker"/>
          <p:cNvCxnSpPr/>
          <p:nvPr/>
        </p:nvCxnSpPr>
        <p:spPr>
          <a:xfrm>
            <a:off x="1885920" y="3914650"/>
            <a:ext cx="109728" cy="0"/>
          </a:xfrm>
          <a:prstGeom prst="line">
            <a:avLst/>
          </a:prstGeom>
          <a:ln w="9525">
            <a:solidFill>
              <a:srgbClr val="FFC000"/>
            </a:solidFill>
          </a:ln>
        </p:spPr>
      </p:cxnSp>
      <p:cxnSp>
        <p:nvCxnSpPr>
          <p:cNvPr id="146" name="EBIT margin dash marker"/>
          <p:cNvCxnSpPr/>
          <p:nvPr/>
        </p:nvCxnSpPr>
        <p:spPr>
          <a:xfrm>
            <a:off x="2607192" y="3733944"/>
            <a:ext cx="109728" cy="0"/>
          </a:xfrm>
          <a:prstGeom prst="line">
            <a:avLst/>
          </a:prstGeom>
          <a:ln w="9525">
            <a:solidFill>
              <a:srgbClr val="FFC000"/>
            </a:solidFill>
          </a:ln>
        </p:spPr>
      </p:cxnSp>
      <p:cxnSp>
        <p:nvCxnSpPr>
          <p:cNvPr id="147" name="EBIT margin dash marker"/>
          <p:cNvCxnSpPr/>
          <p:nvPr/>
        </p:nvCxnSpPr>
        <p:spPr>
          <a:xfrm>
            <a:off x="3328463" y="3731760"/>
            <a:ext cx="109728" cy="0"/>
          </a:xfrm>
          <a:prstGeom prst="line">
            <a:avLst/>
          </a:prstGeom>
          <a:ln w="9525">
            <a:solidFill>
              <a:srgbClr val="FFC000"/>
            </a:solidFill>
          </a:ln>
        </p:spPr>
      </p:cxnSp>
      <p:cxnSp>
        <p:nvCxnSpPr>
          <p:cNvPr id="148" name="EBIT margin dash marker"/>
          <p:cNvCxnSpPr/>
          <p:nvPr/>
        </p:nvCxnSpPr>
        <p:spPr>
          <a:xfrm>
            <a:off x="4049734" y="3723025"/>
            <a:ext cx="109728" cy="0"/>
          </a:xfrm>
          <a:prstGeom prst="line">
            <a:avLst/>
          </a:prstGeom>
          <a:ln w="9525">
            <a:solidFill>
              <a:srgbClr val="FFC000"/>
            </a:solidFill>
          </a:ln>
        </p:spPr>
      </p:cxnSp>
      <p:cxnSp>
        <p:nvCxnSpPr>
          <p:cNvPr id="149" name="EBIT margin dash marker"/>
          <p:cNvCxnSpPr/>
          <p:nvPr/>
        </p:nvCxnSpPr>
        <p:spPr>
          <a:xfrm>
            <a:off x="4771005" y="3536314"/>
            <a:ext cx="109728" cy="0"/>
          </a:xfrm>
          <a:prstGeom prst="line">
            <a:avLst/>
          </a:prstGeom>
          <a:ln w="9525">
            <a:solidFill>
              <a:srgbClr val="FFC000"/>
            </a:solidFill>
          </a:ln>
        </p:spPr>
      </p:cxnSp>
      <p:cxnSp>
        <p:nvCxnSpPr>
          <p:cNvPr id="150" name="EBIT margin dash marker"/>
          <p:cNvCxnSpPr/>
          <p:nvPr/>
        </p:nvCxnSpPr>
        <p:spPr>
          <a:xfrm>
            <a:off x="5492277" y="3466434"/>
            <a:ext cx="109728" cy="0"/>
          </a:xfrm>
          <a:prstGeom prst="line">
            <a:avLst/>
          </a:prstGeom>
          <a:ln w="9525">
            <a:solidFill>
              <a:srgbClr val="FFC000"/>
            </a:solidFill>
          </a:ln>
        </p:spPr>
      </p:cxnSp>
      <p:cxnSp>
        <p:nvCxnSpPr>
          <p:cNvPr id="151" name="EBIT margin dash marker"/>
          <p:cNvCxnSpPr/>
          <p:nvPr/>
        </p:nvCxnSpPr>
        <p:spPr>
          <a:xfrm>
            <a:off x="6213548" y="3456607"/>
            <a:ext cx="109728" cy="0"/>
          </a:xfrm>
          <a:prstGeom prst="line">
            <a:avLst/>
          </a:prstGeom>
          <a:ln w="9525">
            <a:solidFill>
              <a:srgbClr val="FFC000"/>
            </a:solidFill>
          </a:ln>
        </p:spPr>
      </p:cxnSp>
      <p:cxnSp>
        <p:nvCxnSpPr>
          <p:cNvPr id="152" name="EBIT margin dash marker"/>
          <p:cNvCxnSpPr/>
          <p:nvPr/>
        </p:nvCxnSpPr>
        <p:spPr>
          <a:xfrm>
            <a:off x="6934819" y="3486088"/>
            <a:ext cx="109728" cy="0"/>
          </a:xfrm>
          <a:prstGeom prst="line">
            <a:avLst/>
          </a:prstGeom>
          <a:ln w="9525">
            <a:solidFill>
              <a:srgbClr val="FFC000"/>
            </a:solidFill>
          </a:ln>
        </p:spPr>
      </p:cxnSp>
      <p:cxnSp>
        <p:nvCxnSpPr>
          <p:cNvPr id="153" name="EBIT margin dash marker"/>
          <p:cNvCxnSpPr/>
          <p:nvPr/>
        </p:nvCxnSpPr>
        <p:spPr>
          <a:xfrm>
            <a:off x="7656090" y="3374170"/>
            <a:ext cx="109728" cy="0"/>
          </a:xfrm>
          <a:prstGeom prst="line">
            <a:avLst/>
          </a:prstGeom>
          <a:ln w="9525">
            <a:solidFill>
              <a:srgbClr val="FFC000"/>
            </a:solidFill>
          </a:ln>
        </p:spPr>
      </p:cxnSp>
      <p:cxnSp>
        <p:nvCxnSpPr>
          <p:cNvPr id="154" name="EBIT margin dash marker"/>
          <p:cNvCxnSpPr/>
          <p:nvPr/>
        </p:nvCxnSpPr>
        <p:spPr>
          <a:xfrm>
            <a:off x="8377362" y="3408564"/>
            <a:ext cx="109728" cy="0"/>
          </a:xfrm>
          <a:prstGeom prst="line">
            <a:avLst/>
          </a:prstGeom>
          <a:ln w="9525">
            <a:solidFill>
              <a:srgbClr val="FFC000"/>
            </a:solidFill>
          </a:ln>
        </p:spPr>
      </p:cxnSp>
      <p:cxnSp>
        <p:nvCxnSpPr>
          <p:cNvPr id="155" name="EBIT margin dash marker"/>
          <p:cNvCxnSpPr/>
          <p:nvPr/>
        </p:nvCxnSpPr>
        <p:spPr>
          <a:xfrm>
            <a:off x="9098633" y="3656421"/>
            <a:ext cx="109728" cy="0"/>
          </a:xfrm>
          <a:prstGeom prst="line">
            <a:avLst/>
          </a:prstGeom>
          <a:ln w="9525">
            <a:solidFill>
              <a:srgbClr val="FFC000"/>
            </a:solidFill>
          </a:ln>
        </p:spPr>
      </p:cxnSp>
      <p:cxnSp>
        <p:nvCxnSpPr>
          <p:cNvPr id="156" name="EBIT margin dash marker"/>
          <p:cNvCxnSpPr/>
          <p:nvPr/>
        </p:nvCxnSpPr>
        <p:spPr>
          <a:xfrm>
            <a:off x="9819904" y="3629670"/>
            <a:ext cx="109728" cy="0"/>
          </a:xfrm>
          <a:prstGeom prst="line">
            <a:avLst/>
          </a:prstGeom>
          <a:ln w="9525">
            <a:solidFill>
              <a:srgbClr val="FFC000"/>
            </a:solidFill>
          </a:ln>
        </p:spPr>
      </p:cxnSp>
      <p:cxnSp>
        <p:nvCxnSpPr>
          <p:cNvPr id="157" name="EBIT margin dash marker"/>
          <p:cNvCxnSpPr/>
          <p:nvPr/>
        </p:nvCxnSpPr>
        <p:spPr>
          <a:xfrm>
            <a:off x="10541175" y="3541228"/>
            <a:ext cx="109728" cy="0"/>
          </a:xfrm>
          <a:prstGeom prst="line">
            <a:avLst/>
          </a:prstGeom>
          <a:ln w="9525">
            <a:solidFill>
              <a:srgbClr val="FFC000"/>
            </a:solidFill>
          </a:ln>
        </p:spPr>
      </p:cxnSp>
      <p:cxnSp>
        <p:nvCxnSpPr>
          <p:cNvPr id="158" name="EBIT margin dash marker"/>
          <p:cNvCxnSpPr/>
          <p:nvPr/>
        </p:nvCxnSpPr>
        <p:spPr>
          <a:xfrm>
            <a:off x="11262447" y="3455515"/>
            <a:ext cx="109728" cy="0"/>
          </a:xfrm>
          <a:prstGeom prst="line">
            <a:avLst/>
          </a:prstGeom>
          <a:ln w="9525">
            <a:solidFill>
              <a:srgbClr val="FFC000"/>
            </a:solidFill>
          </a:ln>
        </p:spPr>
      </p:cxnSp>
      <p:cxnSp>
        <p:nvCxnSpPr>
          <p:cNvPr id="159" name="EBIT margin dash marker"/>
          <p:cNvCxnSpPr/>
          <p:nvPr/>
        </p:nvCxnSpPr>
        <p:spPr>
          <a:xfrm>
            <a:off x="1164649" y="2780825"/>
            <a:ext cx="109728" cy="0"/>
          </a:xfrm>
          <a:prstGeom prst="line">
            <a:avLst/>
          </a:prstGeom>
          <a:ln w="9525">
            <a:solidFill>
              <a:srgbClr val="FFC000"/>
            </a:solidFill>
          </a:ln>
        </p:spPr>
      </p:cxnSp>
      <p:cxnSp>
        <p:nvCxnSpPr>
          <p:cNvPr id="160" name="EBIT margin dash marker"/>
          <p:cNvCxnSpPr/>
          <p:nvPr/>
        </p:nvCxnSpPr>
        <p:spPr>
          <a:xfrm>
            <a:off x="1885920" y="2775911"/>
            <a:ext cx="109728" cy="0"/>
          </a:xfrm>
          <a:prstGeom prst="line">
            <a:avLst/>
          </a:prstGeom>
          <a:ln w="9525">
            <a:solidFill>
              <a:srgbClr val="FFC000"/>
            </a:solidFill>
          </a:ln>
        </p:spPr>
      </p:cxnSp>
      <p:cxnSp>
        <p:nvCxnSpPr>
          <p:cNvPr id="161" name="EBIT margin dash marker"/>
          <p:cNvCxnSpPr/>
          <p:nvPr/>
        </p:nvCxnSpPr>
        <p:spPr>
          <a:xfrm>
            <a:off x="2607192" y="2773182"/>
            <a:ext cx="109728" cy="0"/>
          </a:xfrm>
          <a:prstGeom prst="line">
            <a:avLst/>
          </a:prstGeom>
          <a:ln w="9525">
            <a:solidFill>
              <a:srgbClr val="FFC000"/>
            </a:solidFill>
          </a:ln>
        </p:spPr>
      </p:cxnSp>
      <p:cxnSp>
        <p:nvCxnSpPr>
          <p:cNvPr id="162" name="EBIT margin dash marker"/>
          <p:cNvCxnSpPr/>
          <p:nvPr/>
        </p:nvCxnSpPr>
        <p:spPr>
          <a:xfrm>
            <a:off x="3328463" y="2783554"/>
            <a:ext cx="109728" cy="0"/>
          </a:xfrm>
          <a:prstGeom prst="line">
            <a:avLst/>
          </a:prstGeom>
          <a:ln w="9525">
            <a:solidFill>
              <a:srgbClr val="FFC000"/>
            </a:solidFill>
          </a:ln>
        </p:spPr>
      </p:cxnSp>
      <p:cxnSp>
        <p:nvCxnSpPr>
          <p:cNvPr id="163" name="EBIT margin dash marker"/>
          <p:cNvCxnSpPr/>
          <p:nvPr/>
        </p:nvCxnSpPr>
        <p:spPr>
          <a:xfrm>
            <a:off x="4049734" y="2773727"/>
            <a:ext cx="109728" cy="0"/>
          </a:xfrm>
          <a:prstGeom prst="line">
            <a:avLst/>
          </a:prstGeom>
          <a:ln w="9525">
            <a:solidFill>
              <a:srgbClr val="FFC000"/>
            </a:solidFill>
          </a:ln>
        </p:spPr>
      </p:cxnSp>
      <p:cxnSp>
        <p:nvCxnSpPr>
          <p:cNvPr id="164" name="EBIT margin dash marker"/>
          <p:cNvCxnSpPr/>
          <p:nvPr/>
        </p:nvCxnSpPr>
        <p:spPr>
          <a:xfrm>
            <a:off x="4771005" y="2725685"/>
            <a:ext cx="109728" cy="0"/>
          </a:xfrm>
          <a:prstGeom prst="line">
            <a:avLst/>
          </a:prstGeom>
          <a:ln w="9525">
            <a:solidFill>
              <a:srgbClr val="FFC000"/>
            </a:solidFill>
          </a:ln>
        </p:spPr>
      </p:cxnSp>
      <p:cxnSp>
        <p:nvCxnSpPr>
          <p:cNvPr id="165" name="EBIT margin dash marker"/>
          <p:cNvCxnSpPr/>
          <p:nvPr/>
        </p:nvCxnSpPr>
        <p:spPr>
          <a:xfrm>
            <a:off x="5492277" y="2835419"/>
            <a:ext cx="109728" cy="0"/>
          </a:xfrm>
          <a:prstGeom prst="line">
            <a:avLst/>
          </a:prstGeom>
          <a:ln w="9525">
            <a:solidFill>
              <a:srgbClr val="FFC000"/>
            </a:solidFill>
          </a:ln>
        </p:spPr>
      </p:cxnSp>
      <p:cxnSp>
        <p:nvCxnSpPr>
          <p:cNvPr id="166" name="EBIT margin dash marker"/>
          <p:cNvCxnSpPr/>
          <p:nvPr/>
        </p:nvCxnSpPr>
        <p:spPr>
          <a:xfrm>
            <a:off x="6213548" y="2713674"/>
            <a:ext cx="109728" cy="0"/>
          </a:xfrm>
          <a:prstGeom prst="line">
            <a:avLst/>
          </a:prstGeom>
          <a:ln w="9525">
            <a:solidFill>
              <a:srgbClr val="FFC000"/>
            </a:solidFill>
          </a:ln>
        </p:spPr>
      </p:cxnSp>
      <p:cxnSp>
        <p:nvCxnSpPr>
          <p:cNvPr id="167" name="EBIT margin dash marker"/>
          <p:cNvCxnSpPr/>
          <p:nvPr/>
        </p:nvCxnSpPr>
        <p:spPr>
          <a:xfrm>
            <a:off x="6934819" y="2754620"/>
            <a:ext cx="109728" cy="0"/>
          </a:xfrm>
          <a:prstGeom prst="line">
            <a:avLst/>
          </a:prstGeom>
          <a:ln w="9525">
            <a:solidFill>
              <a:srgbClr val="FFC000"/>
            </a:solidFill>
          </a:ln>
        </p:spPr>
      </p:cxnSp>
      <p:cxnSp>
        <p:nvCxnSpPr>
          <p:cNvPr id="168" name="EBIT margin dash marker"/>
          <p:cNvCxnSpPr/>
          <p:nvPr/>
        </p:nvCxnSpPr>
        <p:spPr>
          <a:xfrm>
            <a:off x="7656090" y="2465272"/>
            <a:ext cx="109728" cy="0"/>
          </a:xfrm>
          <a:prstGeom prst="line">
            <a:avLst/>
          </a:prstGeom>
          <a:ln w="9525">
            <a:solidFill>
              <a:srgbClr val="FFC000"/>
            </a:solidFill>
          </a:ln>
        </p:spPr>
      </p:cxnSp>
      <p:cxnSp>
        <p:nvCxnSpPr>
          <p:cNvPr id="169" name="EBIT margin dash marker"/>
          <p:cNvCxnSpPr/>
          <p:nvPr/>
        </p:nvCxnSpPr>
        <p:spPr>
          <a:xfrm>
            <a:off x="8377362" y="2621411"/>
            <a:ext cx="109728" cy="0"/>
          </a:xfrm>
          <a:prstGeom prst="line">
            <a:avLst/>
          </a:prstGeom>
          <a:ln w="9525">
            <a:solidFill>
              <a:srgbClr val="FFC000"/>
            </a:solidFill>
          </a:ln>
        </p:spPr>
      </p:cxnSp>
      <p:cxnSp>
        <p:nvCxnSpPr>
          <p:cNvPr id="170" name="EBIT margin dash marker"/>
          <p:cNvCxnSpPr/>
          <p:nvPr/>
        </p:nvCxnSpPr>
        <p:spPr>
          <a:xfrm>
            <a:off x="9098633" y="2674367"/>
            <a:ext cx="109728" cy="0"/>
          </a:xfrm>
          <a:prstGeom prst="line">
            <a:avLst/>
          </a:prstGeom>
          <a:ln w="9525">
            <a:solidFill>
              <a:srgbClr val="FFC000"/>
            </a:solidFill>
          </a:ln>
        </p:spPr>
      </p:cxnSp>
      <p:cxnSp>
        <p:nvCxnSpPr>
          <p:cNvPr id="171" name="EBIT margin dash marker"/>
          <p:cNvCxnSpPr/>
          <p:nvPr/>
        </p:nvCxnSpPr>
        <p:spPr>
          <a:xfrm>
            <a:off x="9819904" y="2651437"/>
            <a:ext cx="109728" cy="0"/>
          </a:xfrm>
          <a:prstGeom prst="line">
            <a:avLst/>
          </a:prstGeom>
          <a:ln w="9525">
            <a:solidFill>
              <a:srgbClr val="FFC000"/>
            </a:solidFill>
          </a:ln>
        </p:spPr>
      </p:cxnSp>
      <p:cxnSp>
        <p:nvCxnSpPr>
          <p:cNvPr id="172" name="EBIT margin dash marker"/>
          <p:cNvCxnSpPr/>
          <p:nvPr/>
        </p:nvCxnSpPr>
        <p:spPr>
          <a:xfrm>
            <a:off x="10541175" y="2620319"/>
            <a:ext cx="109728" cy="0"/>
          </a:xfrm>
          <a:prstGeom prst="line">
            <a:avLst/>
          </a:prstGeom>
          <a:ln w="9525">
            <a:solidFill>
              <a:srgbClr val="FFC000"/>
            </a:solidFill>
          </a:ln>
        </p:spPr>
      </p:cxnSp>
      <p:cxnSp>
        <p:nvCxnSpPr>
          <p:cNvPr id="173" name="EBIT margin dash marker"/>
          <p:cNvCxnSpPr/>
          <p:nvPr/>
        </p:nvCxnSpPr>
        <p:spPr>
          <a:xfrm>
            <a:off x="11262447" y="2513861"/>
            <a:ext cx="109728" cy="0"/>
          </a:xfrm>
          <a:prstGeom prst="line">
            <a:avLst/>
          </a:prstGeom>
          <a:ln w="9525">
            <a:solidFill>
              <a:srgbClr val="FFC000"/>
            </a:solidFill>
          </a:ln>
        </p:spPr>
      </p:cxnSp>
      <p:cxnSp>
        <p:nvCxnSpPr>
          <p:cNvPr id="174" name="EBIT margin dash marker"/>
          <p:cNvCxnSpPr/>
          <p:nvPr/>
        </p:nvCxnSpPr>
        <p:spPr>
          <a:xfrm>
            <a:off x="1164649" y="1819516"/>
            <a:ext cx="109728" cy="0"/>
          </a:xfrm>
          <a:prstGeom prst="line">
            <a:avLst/>
          </a:prstGeom>
          <a:ln w="9525">
            <a:solidFill>
              <a:srgbClr val="FFC000"/>
            </a:solidFill>
          </a:ln>
        </p:spPr>
      </p:cxnSp>
      <p:cxnSp>
        <p:nvCxnSpPr>
          <p:cNvPr id="175" name="EBIT margin dash marker"/>
          <p:cNvCxnSpPr/>
          <p:nvPr/>
        </p:nvCxnSpPr>
        <p:spPr>
          <a:xfrm>
            <a:off x="1885920" y="1835895"/>
            <a:ext cx="109728" cy="0"/>
          </a:xfrm>
          <a:prstGeom prst="line">
            <a:avLst/>
          </a:prstGeom>
          <a:ln w="9525">
            <a:solidFill>
              <a:srgbClr val="FFC000"/>
            </a:solidFill>
          </a:ln>
        </p:spPr>
      </p:cxnSp>
      <p:cxnSp>
        <p:nvCxnSpPr>
          <p:cNvPr id="176" name="EBIT margin dash marker"/>
          <p:cNvCxnSpPr/>
          <p:nvPr/>
        </p:nvCxnSpPr>
        <p:spPr>
          <a:xfrm>
            <a:off x="2607192" y="1836986"/>
            <a:ext cx="109728" cy="0"/>
          </a:xfrm>
          <a:prstGeom prst="line">
            <a:avLst/>
          </a:prstGeom>
          <a:ln w="9525">
            <a:solidFill>
              <a:srgbClr val="FFC000"/>
            </a:solidFill>
          </a:ln>
        </p:spPr>
      </p:cxnSp>
      <p:cxnSp>
        <p:nvCxnSpPr>
          <p:cNvPr id="177" name="EBIT margin dash marker"/>
          <p:cNvCxnSpPr/>
          <p:nvPr/>
        </p:nvCxnSpPr>
        <p:spPr>
          <a:xfrm>
            <a:off x="3328463" y="1817333"/>
            <a:ext cx="109728" cy="0"/>
          </a:xfrm>
          <a:prstGeom prst="line">
            <a:avLst/>
          </a:prstGeom>
          <a:ln w="9525">
            <a:solidFill>
              <a:srgbClr val="FFC000"/>
            </a:solidFill>
          </a:ln>
        </p:spPr>
      </p:cxnSp>
      <p:cxnSp>
        <p:nvCxnSpPr>
          <p:cNvPr id="178" name="EBIT margin dash marker"/>
          <p:cNvCxnSpPr/>
          <p:nvPr/>
        </p:nvCxnSpPr>
        <p:spPr>
          <a:xfrm>
            <a:off x="4049734" y="1835349"/>
            <a:ext cx="109728" cy="0"/>
          </a:xfrm>
          <a:prstGeom prst="line">
            <a:avLst/>
          </a:prstGeom>
          <a:ln w="9525">
            <a:solidFill>
              <a:srgbClr val="FFC000"/>
            </a:solidFill>
          </a:ln>
        </p:spPr>
      </p:cxnSp>
      <p:cxnSp>
        <p:nvCxnSpPr>
          <p:cNvPr id="179" name="EBIT margin dash marker"/>
          <p:cNvCxnSpPr/>
          <p:nvPr/>
        </p:nvCxnSpPr>
        <p:spPr>
          <a:xfrm>
            <a:off x="4771005" y="1750728"/>
            <a:ext cx="109728" cy="0"/>
          </a:xfrm>
          <a:prstGeom prst="line">
            <a:avLst/>
          </a:prstGeom>
          <a:ln w="9525">
            <a:solidFill>
              <a:srgbClr val="FFC000"/>
            </a:solidFill>
          </a:ln>
        </p:spPr>
      </p:cxnSp>
      <p:cxnSp>
        <p:nvCxnSpPr>
          <p:cNvPr id="180" name="EBIT margin dash marker"/>
          <p:cNvCxnSpPr/>
          <p:nvPr/>
        </p:nvCxnSpPr>
        <p:spPr>
          <a:xfrm>
            <a:off x="5492277" y="1618065"/>
            <a:ext cx="109728" cy="0"/>
          </a:xfrm>
          <a:prstGeom prst="line">
            <a:avLst/>
          </a:prstGeom>
          <a:ln w="9525">
            <a:solidFill>
              <a:srgbClr val="FFC000"/>
            </a:solidFill>
          </a:ln>
        </p:spPr>
      </p:cxnSp>
      <p:cxnSp>
        <p:nvCxnSpPr>
          <p:cNvPr id="181" name="EBIT margin dash marker"/>
          <p:cNvCxnSpPr/>
          <p:nvPr/>
        </p:nvCxnSpPr>
        <p:spPr>
          <a:xfrm>
            <a:off x="6213548" y="1774749"/>
            <a:ext cx="109728" cy="0"/>
          </a:xfrm>
          <a:prstGeom prst="line">
            <a:avLst/>
          </a:prstGeom>
          <a:ln w="9525">
            <a:solidFill>
              <a:srgbClr val="FFC000"/>
            </a:solidFill>
          </a:ln>
        </p:spPr>
      </p:cxnSp>
      <p:cxnSp>
        <p:nvCxnSpPr>
          <p:cNvPr id="182" name="EBIT margin dash marker"/>
          <p:cNvCxnSpPr/>
          <p:nvPr/>
        </p:nvCxnSpPr>
        <p:spPr>
          <a:xfrm>
            <a:off x="6934819" y="1778571"/>
            <a:ext cx="109728" cy="0"/>
          </a:xfrm>
          <a:prstGeom prst="line">
            <a:avLst/>
          </a:prstGeom>
          <a:ln w="9525">
            <a:solidFill>
              <a:srgbClr val="FFC000"/>
            </a:solidFill>
          </a:ln>
        </p:spPr>
      </p:cxnSp>
      <p:cxnSp>
        <p:nvCxnSpPr>
          <p:cNvPr id="183" name="EBIT margin dash marker"/>
          <p:cNvCxnSpPr/>
          <p:nvPr/>
        </p:nvCxnSpPr>
        <p:spPr>
          <a:xfrm>
            <a:off x="7656090" y="1556920"/>
            <a:ext cx="109728" cy="0"/>
          </a:xfrm>
          <a:prstGeom prst="line">
            <a:avLst/>
          </a:prstGeom>
          <a:ln w="9525">
            <a:solidFill>
              <a:srgbClr val="FFC000"/>
            </a:solidFill>
          </a:ln>
        </p:spPr>
      </p:cxnSp>
      <p:cxnSp>
        <p:nvCxnSpPr>
          <p:cNvPr id="184" name="EBIT margin dash marker"/>
          <p:cNvCxnSpPr/>
          <p:nvPr/>
        </p:nvCxnSpPr>
        <p:spPr>
          <a:xfrm>
            <a:off x="8377362" y="1726707"/>
            <a:ext cx="109728" cy="0"/>
          </a:xfrm>
          <a:prstGeom prst="line">
            <a:avLst/>
          </a:prstGeom>
          <a:ln w="9525">
            <a:solidFill>
              <a:srgbClr val="FFC000"/>
            </a:solidFill>
          </a:ln>
        </p:spPr>
      </p:cxnSp>
      <p:cxnSp>
        <p:nvCxnSpPr>
          <p:cNvPr id="185" name="EBIT margin dash marker"/>
          <p:cNvCxnSpPr/>
          <p:nvPr/>
        </p:nvCxnSpPr>
        <p:spPr>
          <a:xfrm>
            <a:off x="9098633" y="1698318"/>
            <a:ext cx="109728" cy="0"/>
          </a:xfrm>
          <a:prstGeom prst="line">
            <a:avLst/>
          </a:prstGeom>
          <a:ln w="9525">
            <a:solidFill>
              <a:srgbClr val="FFC000"/>
            </a:solidFill>
          </a:ln>
        </p:spPr>
      </p:cxnSp>
      <p:cxnSp>
        <p:nvCxnSpPr>
          <p:cNvPr id="186" name="EBIT margin dash marker"/>
          <p:cNvCxnSpPr/>
          <p:nvPr/>
        </p:nvCxnSpPr>
        <p:spPr>
          <a:xfrm>
            <a:off x="9819904" y="1685215"/>
            <a:ext cx="109728" cy="0"/>
          </a:xfrm>
          <a:prstGeom prst="line">
            <a:avLst/>
          </a:prstGeom>
          <a:ln w="9525">
            <a:solidFill>
              <a:srgbClr val="FFC000"/>
            </a:solidFill>
          </a:ln>
        </p:spPr>
      </p:cxnSp>
      <p:cxnSp>
        <p:nvCxnSpPr>
          <p:cNvPr id="187" name="EBIT margin dash marker"/>
          <p:cNvCxnSpPr/>
          <p:nvPr/>
        </p:nvCxnSpPr>
        <p:spPr>
          <a:xfrm>
            <a:off x="10541175" y="1641540"/>
            <a:ext cx="109728" cy="0"/>
          </a:xfrm>
          <a:prstGeom prst="line">
            <a:avLst/>
          </a:prstGeom>
          <a:ln w="9525">
            <a:solidFill>
              <a:srgbClr val="FFC000"/>
            </a:solidFill>
          </a:ln>
        </p:spPr>
      </p:cxnSp>
      <p:cxnSp>
        <p:nvCxnSpPr>
          <p:cNvPr id="188" name="EBIT margin dash marker"/>
          <p:cNvCxnSpPr/>
          <p:nvPr/>
        </p:nvCxnSpPr>
        <p:spPr>
          <a:xfrm>
            <a:off x="11262447" y="1553098"/>
            <a:ext cx="109728" cy="0"/>
          </a:xfrm>
          <a:prstGeom prst="line">
            <a:avLst/>
          </a:prstGeom>
          <a:ln w="9525">
            <a:solidFill>
              <a:srgbClr val="FFC000"/>
            </a:solidFill>
          </a:ln>
        </p:spPr>
      </p:cxnSp>
      <p:sp>
        <p:nvSpPr>
          <p:cNvPr id="189" name="ValueLabel"/>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0" name="ValueLabel"/>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1" name="ValueLabel"/>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2" name="ValueLabel"/>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3" name="ValueLabel"/>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4" name="ValueLabel"/>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5" name="ValueLabel"/>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6" name="ValueLabel"/>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7" name="ValueLabel"/>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8" name="ValueLabel"/>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9" name="ValueLabel"/>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0" name="ValueLabel"/>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1" name="ValueLabel"/>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2" name="ValueLabel"/>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3" name="ValueLabel"/>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4" name="ValueLabel"/>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5" name="ValueLabel"/>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6" name="ValueLabel"/>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7" name="ValueLabel"/>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8" name="ValueLabel"/>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9" name="ValueLabel"/>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10" name="ValueLabel"/>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11" name="ValueLabel"/>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12" name="ValueLabel"/>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13" name="ValueLabel"/>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14" name="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215" name="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216" name="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217" name="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218" name="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219" name="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220" name="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221" name="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222" name="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223" name="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224" name="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225" name="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226" name="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227" name="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228" name="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229" name="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30" name="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31" name="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32" name="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3" name="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34" name="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235" name="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236" name="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37" name="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8" name="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39" name="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40" name="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241" name="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42" name="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43" name="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44" name="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245" name="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46" name="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47" name="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48" name="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49" name="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50" name="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251" name="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252" name="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253" name="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4" name="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255" name="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256" name="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7" name="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8" name="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9" name="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60" name="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61" name="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262" name="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263" name="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264" name="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65" name="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66" name="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267" name="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268" name="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69" name="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70" name="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71" name="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72" name="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73" name="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4" name="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5" name="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76" name="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7" name="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78" name="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79" name="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80" name="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81" name="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82" name="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3" name="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84" name="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85" name="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6" name="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87" name="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88" name="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89" name="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0" name="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91" name="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2" name="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93" name="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4" name="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5" name="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96" name="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97" name="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98" name="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99" name="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300" name="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301" name="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302" name="ValueLabel"/>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03" name="ValueLabel"/>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04" name="ValueLabel"/>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05" name="ValueLabel"/>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06" name="ValueLabel"/>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7" name="ValueLabel"/>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308" name="ValueLabel"/>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309" name="ValueLabel"/>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0" name="ValueLabel"/>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1" name="ValueLabel"/>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2" name="ValueLabel"/>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3" name="ValueLabel"/>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14" name="ValueLabel"/>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5" name="ValueLabel"/>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6" name="ValueLabel"/>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7" name="ValueLabel"/>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8" name="ValueLabel"/>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19" name="ValueLabel"/>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20" name="ValueLabel"/>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21" name="ValueLabel"/>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322" name="ValueLabel"/>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323" name="ValueLabel"/>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4" name="ValueLabel"/>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5" name="ValueLabel"/>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6" name="ValueLabel"/>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27" name="ValueLabel"/>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8" name="ValueLabel"/>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9" name="ValueLabel"/>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330" name="ValueLabel"/>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1" name="ValueLabel"/>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32" name="ValueLabel"/>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333" name="ValueLabel"/>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34" name="ValueLabel"/>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5" name="ValueLabel"/>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336" name="ValueLabel"/>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337" name="ValueLabel"/>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338" name="ValueLabel"/>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39" name="ValueLabel"/>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0" name="ValueLabel"/>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1" name="ValueLabel"/>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42" name="ValueLabel"/>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3" name="ValueLabel"/>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4" name="ValueLabel"/>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5" name="ValueLabel"/>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6" name="ValueLabel"/>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47" name="ValueLabel"/>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48" name="ValueLabel"/>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349" name="ValueLabel"/>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350" name="ValueLabel"/>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1" name="ValueLabel"/>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352" name="ValueLabel"/>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353" name="ValueLabel"/>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4" name="ValueLabel"/>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5" name="ValueLabel"/>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6" name="ValueLabel"/>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57" name="ValueLabel"/>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8" name="ValueLabel"/>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9" name="ValueLabel"/>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360" name="ValueLabel"/>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61" name="ValueLabel"/>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62" name="ValueLabel"/>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3" name="ValueLabel"/>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364" name="ValueLabel"/>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365" name="ValueLabel"/>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66" name="ValueLabel"/>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7" name="ValueLabel"/>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68" name="ValueLabel"/>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369" name="ValueLabel"/>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0" name="ValueLabel"/>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1" name="ValueLabel"/>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2" name="ValueLabel"/>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73" name="ValueLabel"/>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4" name="ValueLabel"/>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75" name="Label"/>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76" name="Label"/>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77" name="Label"/>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78" name="Rectangle 2147"/>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79" name="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80" name="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81"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82"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83"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84" name="Text Placeholder 25"/>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85" name="Text Placeholder 25"/>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86" name="Straight Arrow Connector 2596"/>
          <p:cNvCxnSpPr/>
          <p:nvPr/>
        </p:nvCxnSpPr>
        <p:spPr>
          <a:xfrm>
            <a:off x="4516222" y="1259129"/>
            <a:ext cx="0" cy="5120640"/>
          </a:xfrm>
          <a:prstGeom prst="line">
            <a:avLst/>
          </a:prstGeom>
          <a:ln w="12700">
            <a:solidFill>
              <a:srgbClr val="808080"/>
            </a:solidFill>
          </a:ln>
        </p:spPr>
      </p:cxnSp>
      <p:cxnSp>
        <p:nvCxnSpPr>
          <p:cNvPr id="387" name="Straight Arrow Connector 2598"/>
          <p:cNvCxnSpPr/>
          <p:nvPr/>
        </p:nvCxnSpPr>
        <p:spPr>
          <a:xfrm>
            <a:off x="7366406" y="1259129"/>
            <a:ext cx="0" cy="5120640"/>
          </a:xfrm>
          <a:prstGeom prst="line">
            <a:avLst/>
          </a:prstGeom>
          <a:ln w="12700">
            <a:solidFill>
              <a:srgbClr val="808080"/>
            </a:solidFill>
          </a:ln>
        </p:spPr>
      </p:cxnSp>
      <p:cxnSp>
        <p:nvCxnSpPr>
          <p:cNvPr id="388" name="Straight Arrow Connector 2602"/>
          <p:cNvCxnSpPr/>
          <p:nvPr/>
        </p:nvCxnSpPr>
        <p:spPr>
          <a:xfrm>
            <a:off x="9569196" y="1259129"/>
            <a:ext cx="0" cy="5120640"/>
          </a:xfrm>
          <a:prstGeom prst="line">
            <a:avLst/>
          </a:prstGeom>
          <a:ln w="12700">
            <a:solidFill>
              <a:srgbClr val="808080"/>
            </a:solidFill>
          </a:ln>
        </p:spPr>
      </p:cxn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30"/>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4955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1" name="YearLabel"/>
          <p:cNvSpPr txBox="1"/>
          <p:nvPr/>
        </p:nvSpPr>
        <p:spPr>
          <a:xfrm>
            <a:off x="57451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2" name="YearLabel"/>
          <p:cNvSpPr txBox="1"/>
          <p:nvPr/>
        </p:nvSpPr>
        <p:spPr>
          <a:xfrm>
            <a:off x="59948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3" name="YearLabel"/>
          <p:cNvSpPr txBox="1"/>
          <p:nvPr/>
        </p:nvSpPr>
        <p:spPr>
          <a:xfrm>
            <a:off x="62435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4" name="YearLabel"/>
          <p:cNvSpPr txBox="1"/>
          <p:nvPr/>
        </p:nvSpPr>
        <p:spPr>
          <a:xfrm>
            <a:off x="64931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5" name="YearLabel"/>
          <p:cNvSpPr txBox="1"/>
          <p:nvPr/>
        </p:nvSpPr>
        <p:spPr>
          <a:xfrm>
            <a:off x="674187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6" name="YearLabel"/>
          <p:cNvSpPr txBox="1"/>
          <p:nvPr/>
        </p:nvSpPr>
        <p:spPr>
          <a:xfrm>
            <a:off x="52468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7" name="Text Placeholder 25"/>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Text Placeholder 25"/>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38" name="Text Placeholder 25"/>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graphicFrame>
        <p:nvGraphicFramePr>
          <p:cNvPr id="139" name="Table 769"/>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40" name="Rectangle 840"/>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43"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44"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45"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46"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47"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48"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49" name="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50" name="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51" name="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52" name="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53" name="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54" name="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55" name="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56" name="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57" name="Speech Bubble: Rectangle 645"/>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58" name="Rectangle 839"/>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dirty="0">
                <a:solidFill>
                  <a:srgbClr val="000000"/>
                </a:solidFill>
                <a:latin typeface="Arial"/>
                <a:ea typeface="Arial"/>
                <a:cs typeface="Arial"/>
              </a:rPr>
              <a:t>1</a:t>
            </a:r>
          </a:p>
        </p:txBody>
      </p:sp>
      <p:sp>
        <p:nvSpPr>
          <p:cNvPr id="159" name="Rectangle 688"/>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60" name="Rectangle 689"/>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dirty="0">
                <a:solidFill>
                  <a:srgbClr val="000000"/>
                </a:solidFill>
                <a:latin typeface="Arial"/>
                <a:ea typeface="Arial"/>
                <a:cs typeface="Arial"/>
              </a:rPr>
              <a:t>2</a:t>
            </a:r>
          </a:p>
        </p:txBody>
      </p:sp>
      <p:sp>
        <p:nvSpPr>
          <p:cNvPr id="161" name="Rectangle 690"/>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62" name="Rectangle 694"/>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63" name="Rectangle 715"/>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64" name="TextBox 716"/>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65" name="Rectangle 717"/>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66" name="TextBox 718"/>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67" name="Speech Bubble: Rectangle 2"/>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68" name="Rectangle 4"/>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702"/>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2468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1" name="YearLabel"/>
          <p:cNvSpPr txBox="1"/>
          <p:nvPr/>
        </p:nvSpPr>
        <p:spPr>
          <a:xfrm>
            <a:off x="54955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2" name="YearLabel"/>
          <p:cNvSpPr txBox="1"/>
          <p:nvPr/>
        </p:nvSpPr>
        <p:spPr>
          <a:xfrm>
            <a:off x="57451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3" name="YearLabel"/>
          <p:cNvSpPr txBox="1"/>
          <p:nvPr/>
        </p:nvSpPr>
        <p:spPr>
          <a:xfrm>
            <a:off x="59948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4" name="YearLabel"/>
          <p:cNvSpPr txBox="1"/>
          <p:nvPr/>
        </p:nvSpPr>
        <p:spPr>
          <a:xfrm>
            <a:off x="62435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5" name="YearLabel"/>
          <p:cNvSpPr txBox="1"/>
          <p:nvPr/>
        </p:nvSpPr>
        <p:spPr>
          <a:xfrm>
            <a:off x="64931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6" name="YearLabel"/>
          <p:cNvSpPr txBox="1"/>
          <p:nvPr/>
        </p:nvSpPr>
        <p:spPr>
          <a:xfrm>
            <a:off x="674187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7" name="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-32</a:t>
            </a:r>
          </a:p>
        </p:txBody>
      </p:sp>
      <p:sp>
        <p:nvSpPr>
          <p:cNvPr id="128" name="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-11</a:t>
            </a:r>
          </a:p>
        </p:txBody>
      </p:sp>
      <p:sp>
        <p:nvSpPr>
          <p:cNvPr id="129" name="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0" name="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-16</a:t>
            </a:r>
          </a:p>
        </p:txBody>
      </p:sp>
      <p:sp>
        <p:nvSpPr>
          <p:cNvPr id="131" name="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2" name="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3" name="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-23</a:t>
            </a:r>
          </a:p>
        </p:txBody>
      </p:sp>
      <p:sp>
        <p:nvSpPr>
          <p:cNvPr id="134" name="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-12</a:t>
            </a:r>
          </a:p>
        </p:txBody>
      </p:sp>
      <p:sp>
        <p:nvSpPr>
          <p:cNvPr id="135" name="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-8</a:t>
            </a:r>
          </a:p>
        </p:txBody>
      </p:sp>
      <p:sp>
        <p:nvSpPr>
          <p:cNvPr id="136" name="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-16</a:t>
            </a:r>
          </a:p>
        </p:txBody>
      </p:sp>
      <p:sp>
        <p:nvSpPr>
          <p:cNvPr id="137" name="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-13</a:t>
            </a:r>
          </a:p>
        </p:txBody>
      </p:sp>
      <p:sp>
        <p:nvSpPr>
          <p:cNvPr id="138" name="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9" name="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40" name="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-6</a:t>
            </a:r>
          </a:p>
        </p:txBody>
      </p:sp>
      <p:sp>
        <p:nvSpPr>
          <p:cNvPr id="141" name="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-10</a:t>
            </a:r>
          </a:p>
        </p:txBody>
      </p:sp>
      <p:sp>
        <p:nvSpPr>
          <p:cNvPr id="142" name="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43" name="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-28</a:t>
            </a:r>
          </a:p>
        </p:txBody>
      </p:sp>
      <p:sp>
        <p:nvSpPr>
          <p:cNvPr id="144" name="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-20</a:t>
            </a:r>
          </a:p>
        </p:txBody>
      </p:sp>
      <p:sp>
        <p:nvSpPr>
          <p:cNvPr id="145" name="Text Placeholder 25"/>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graphicFrame>
        <p:nvGraphicFramePr>
          <p:cNvPr id="146" name="Table 769"/>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47" name="Speech Bubble: Rectangle 645"/>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48" name="Rectangle 661"/>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49" name="Rectangle 662"/>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0" name="Text Placeholder 25"/>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1" name="Text Placeholder 25"/>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2" name="Rectangle 701"/>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53" name="Speech Bubble: Rectangle 771"/>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54" name="Rectangle 772"/>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t>
            </a:r>
          </a:p>
        </p:txBody>
      </p:sp>
      <p:sp>
        <p:nvSpPr>
          <p:cNvPr id="155" name="TextBox 773"/>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Potentially supports serial production</a:t>
            </a:r>
          </a:p>
        </p:txBody>
      </p:sp>
      <p:sp>
        <p:nvSpPr>
          <p:cNvPr id="156" name="Rectangle 774"/>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57" name="TextBox 775"/>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158" name="Rectangle 776"/>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59" name="Rectangle 2"/>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724"/>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Straight Connector 734"/>
          <p:cNvCxnSpPr/>
          <p:nvPr/>
        </p:nvCxnSpPr>
        <p:spPr>
          <a:xfrm>
            <a:off x="833018" y="2803550"/>
            <a:ext cx="9829800" cy="0"/>
          </a:xfrm>
          <a:prstGeom prst="line">
            <a:avLst/>
          </a:prstGeom>
          <a:ln w="9525">
            <a:solidFill>
              <a:srgbClr val="000000"/>
            </a:solidFill>
            <a:prstDash val="dash"/>
            <a:tailEnd type="triangle" w="med" len="med"/>
          </a:ln>
        </p:spPr>
      </p:cxnSp>
      <p:cxnSp>
        <p:nvCxnSpPr>
          <p:cNvPr id="109" name="Straight Connector 735"/>
          <p:cNvCxnSpPr/>
          <p:nvPr/>
        </p:nvCxnSpPr>
        <p:spPr>
          <a:xfrm>
            <a:off x="833018" y="2003450"/>
            <a:ext cx="9829800" cy="0"/>
          </a:xfrm>
          <a:prstGeom prst="line">
            <a:avLst/>
          </a:prstGeom>
          <a:ln w="9525">
            <a:solidFill>
              <a:srgbClr val="000000"/>
            </a:solidFill>
            <a:prstDash val="dash"/>
            <a:tailEnd type="triangle" w="med" len="med"/>
          </a:ln>
        </p:spPr>
      </p:cxnSp>
      <p:cxnSp>
        <p:nvCxnSpPr>
          <p:cNvPr id="110" name="Straight Connector 737"/>
          <p:cNvCxnSpPr/>
          <p:nvPr/>
        </p:nvCxnSpPr>
        <p:spPr>
          <a:xfrm>
            <a:off x="833018" y="2506370"/>
            <a:ext cx="9829800" cy="0"/>
          </a:xfrm>
          <a:prstGeom prst="line">
            <a:avLst/>
          </a:prstGeom>
          <a:ln w="9525">
            <a:solidFill>
              <a:srgbClr val="000000"/>
            </a:solidFill>
            <a:prstDash val="dash"/>
            <a:tailEnd type="triangle" w="med" len="med"/>
          </a:ln>
        </p:spPr>
      </p:cxnSp>
      <p:cxnSp>
        <p:nvCxnSpPr>
          <p:cNvPr id="111" name="Straight Connector 740"/>
          <p:cNvCxnSpPr/>
          <p:nvPr/>
        </p:nvCxnSpPr>
        <p:spPr>
          <a:xfrm>
            <a:off x="833018" y="3396082"/>
            <a:ext cx="9829800" cy="0"/>
          </a:xfrm>
          <a:prstGeom prst="line">
            <a:avLst/>
          </a:prstGeom>
          <a:ln w="9525">
            <a:solidFill>
              <a:srgbClr val="000000"/>
            </a:solidFill>
            <a:prstDash val="dash"/>
            <a:tailEnd type="triangle" w="med" len="med"/>
          </a:ln>
        </p:spPr>
      </p:cxnSp>
      <p:cxnSp>
        <p:nvCxnSpPr>
          <p:cNvPr id="112" name="Straight Connector 741"/>
          <p:cNvCxnSpPr/>
          <p:nvPr/>
        </p:nvCxnSpPr>
        <p:spPr>
          <a:xfrm>
            <a:off x="833018" y="3989527"/>
            <a:ext cx="9829800" cy="0"/>
          </a:xfrm>
          <a:prstGeom prst="line">
            <a:avLst/>
          </a:prstGeom>
          <a:ln w="9525">
            <a:solidFill>
              <a:srgbClr val="000000"/>
            </a:solidFill>
            <a:prstDash val="dash"/>
            <a:tailEnd type="triangle" w="med" len="med"/>
          </a:ln>
        </p:spPr>
      </p:cxnSp>
      <p:cxnSp>
        <p:nvCxnSpPr>
          <p:cNvPr id="113" name="Straight Connector 743"/>
          <p:cNvCxnSpPr/>
          <p:nvPr/>
        </p:nvCxnSpPr>
        <p:spPr>
          <a:xfrm>
            <a:off x="833018" y="4270248"/>
            <a:ext cx="9829800" cy="0"/>
          </a:xfrm>
          <a:prstGeom prst="line">
            <a:avLst/>
          </a:prstGeom>
          <a:ln w="9525">
            <a:solidFill>
              <a:srgbClr val="000000"/>
            </a:solidFill>
            <a:prstDash val="dash"/>
            <a:tailEnd type="triangle" w="med" len="med"/>
          </a:ln>
        </p:spPr>
      </p:cxnSp>
      <p:sp>
        <p:nvSpPr>
          <p:cNvPr id="114"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9"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6"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7"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8" name="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49"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0"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1" name="Straight Arrow Connector 777"/>
          <p:cNvCxnSpPr/>
          <p:nvPr/>
        </p:nvCxnSpPr>
        <p:spPr>
          <a:xfrm>
            <a:off x="834847" y="2495398"/>
            <a:ext cx="9966960" cy="7315"/>
          </a:xfrm>
          <a:prstGeom prst="line">
            <a:avLst/>
          </a:prstGeom>
          <a:ln w="9525">
            <a:solidFill>
              <a:srgbClr val="000000"/>
            </a:solidFill>
            <a:prstDash val="dash"/>
          </a:ln>
        </p:spPr>
      </p:cxnSp>
      <p:cxnSp>
        <p:nvCxnSpPr>
          <p:cNvPr id="152" name="Straight Arrow Connector 778"/>
          <p:cNvCxnSpPr/>
          <p:nvPr/>
        </p:nvCxnSpPr>
        <p:spPr>
          <a:xfrm>
            <a:off x="834847" y="1996135"/>
            <a:ext cx="9966960" cy="7315"/>
          </a:xfrm>
          <a:prstGeom prst="line">
            <a:avLst/>
          </a:prstGeom>
          <a:ln w="9525">
            <a:solidFill>
              <a:srgbClr val="000000"/>
            </a:solidFill>
            <a:prstDash val="dash"/>
          </a:ln>
        </p:spPr>
      </p:cxnSp>
      <p:sp>
        <p:nvSpPr>
          <p:cNvPr id="153"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8" name="Rectangle 787"/>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cxnSp>
        <p:nvCxnSpPr>
          <p:cNvPr id="159" name="Straight Arrow Connector 796"/>
          <p:cNvCxnSpPr/>
          <p:nvPr/>
        </p:nvCxnSpPr>
        <p:spPr>
          <a:xfrm>
            <a:off x="834847" y="2790749"/>
            <a:ext cx="9966960" cy="7315"/>
          </a:xfrm>
          <a:prstGeom prst="line">
            <a:avLst/>
          </a:prstGeom>
          <a:ln w="9525">
            <a:solidFill>
              <a:srgbClr val="000000"/>
            </a:solidFill>
            <a:prstDash val="dash"/>
          </a:ln>
        </p:spPr>
      </p:cxnSp>
      <p:cxnSp>
        <p:nvCxnSpPr>
          <p:cNvPr id="160" name="Straight Arrow Connector 797"/>
          <p:cNvCxnSpPr/>
          <p:nvPr/>
        </p:nvCxnSpPr>
        <p:spPr>
          <a:xfrm>
            <a:off x="834847" y="3394253"/>
            <a:ext cx="9966960" cy="7315"/>
          </a:xfrm>
          <a:prstGeom prst="line">
            <a:avLst/>
          </a:prstGeom>
          <a:ln w="9525">
            <a:solidFill>
              <a:srgbClr val="000000"/>
            </a:solidFill>
            <a:prstDash val="dash"/>
          </a:ln>
        </p:spPr>
      </p:cxnSp>
      <p:cxnSp>
        <p:nvCxnSpPr>
          <p:cNvPr id="161" name="Straight Arrow Connector 798"/>
          <p:cNvCxnSpPr/>
          <p:nvPr/>
        </p:nvCxnSpPr>
        <p:spPr>
          <a:xfrm>
            <a:off x="834847" y="3976726"/>
            <a:ext cx="9966960" cy="7315"/>
          </a:xfrm>
          <a:prstGeom prst="line">
            <a:avLst/>
          </a:prstGeom>
          <a:ln w="9525">
            <a:solidFill>
              <a:srgbClr val="000000"/>
            </a:solidFill>
            <a:prstDash val="dash"/>
          </a:ln>
        </p:spPr>
      </p:cxnSp>
      <p:sp>
        <p:nvSpPr>
          <p:cNvPr id="162"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3"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4"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5" name="Straight Arrow Connector 800"/>
          <p:cNvCxnSpPr/>
          <p:nvPr/>
        </p:nvCxnSpPr>
        <p:spPr>
          <a:xfrm>
            <a:off x="4015130" y="1985162"/>
            <a:ext cx="0" cy="677570"/>
          </a:xfrm>
          <a:prstGeom prst="line">
            <a:avLst/>
          </a:prstGeom>
          <a:ln w="28575">
            <a:solidFill>
              <a:srgbClr val="000000"/>
            </a:solidFill>
            <a:tailEnd type="triangle" w="med" len="med"/>
          </a:ln>
        </p:spPr>
      </p:cxnSp>
      <p:cxnSp>
        <p:nvCxnSpPr>
          <p:cNvPr id="166" name="Straight Arrow Connector 803"/>
          <p:cNvCxnSpPr/>
          <p:nvPr/>
        </p:nvCxnSpPr>
        <p:spPr>
          <a:xfrm>
            <a:off x="833018" y="4257446"/>
            <a:ext cx="9966960" cy="7315"/>
          </a:xfrm>
          <a:prstGeom prst="line">
            <a:avLst/>
          </a:prstGeom>
          <a:ln w="9525">
            <a:solidFill>
              <a:srgbClr val="000000"/>
            </a:solidFill>
            <a:prstDash val="dash"/>
          </a:ln>
        </p:spPr>
      </p:cxnSp>
      <p:sp>
        <p:nvSpPr>
          <p:cNvPr id="167" name="Rectangle 804"/>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Rectangle 6"/>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Speech Bubble: Rectangle 9"/>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Rectangle 70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851"/>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Straight Connector 451"/>
          <p:cNvCxnSpPr/>
          <p:nvPr/>
        </p:nvCxnSpPr>
        <p:spPr>
          <a:xfrm>
            <a:off x="833018" y="2803550"/>
            <a:ext cx="9829800" cy="0"/>
          </a:xfrm>
          <a:prstGeom prst="line">
            <a:avLst/>
          </a:prstGeom>
          <a:ln w="9525">
            <a:solidFill>
              <a:srgbClr val="000000"/>
            </a:solidFill>
            <a:prstDash val="dash"/>
            <a:tailEnd type="triangle" w="med" len="med"/>
          </a:ln>
        </p:spPr>
      </p:cxnSp>
      <p:cxnSp>
        <p:nvCxnSpPr>
          <p:cNvPr id="108" name="Straight Connector 33"/>
          <p:cNvCxnSpPr/>
          <p:nvPr/>
        </p:nvCxnSpPr>
        <p:spPr>
          <a:xfrm>
            <a:off x="833018" y="2003450"/>
            <a:ext cx="9829800" cy="0"/>
          </a:xfrm>
          <a:prstGeom prst="line">
            <a:avLst/>
          </a:prstGeom>
          <a:ln w="9525">
            <a:solidFill>
              <a:srgbClr val="000000"/>
            </a:solidFill>
            <a:prstDash val="dash"/>
            <a:tailEnd type="triangle" w="med" len="med"/>
          </a:ln>
        </p:spPr>
      </p:cxnSp>
      <p:cxnSp>
        <p:nvCxnSpPr>
          <p:cNvPr id="109" name="Straight Connector 50"/>
          <p:cNvCxnSpPr/>
          <p:nvPr/>
        </p:nvCxnSpPr>
        <p:spPr>
          <a:xfrm>
            <a:off x="833018" y="2506370"/>
            <a:ext cx="9829800" cy="0"/>
          </a:xfrm>
          <a:prstGeom prst="line">
            <a:avLst/>
          </a:prstGeom>
          <a:ln w="9525">
            <a:solidFill>
              <a:srgbClr val="000000"/>
            </a:solidFill>
            <a:prstDash val="dash"/>
            <a:tailEnd type="triangle" w="med" len="med"/>
          </a:ln>
        </p:spPr>
      </p:cxnSp>
      <p:cxnSp>
        <p:nvCxnSpPr>
          <p:cNvPr id="110" name="Straight Connector 462"/>
          <p:cNvCxnSpPr/>
          <p:nvPr/>
        </p:nvCxnSpPr>
        <p:spPr>
          <a:xfrm>
            <a:off x="833018" y="3396082"/>
            <a:ext cx="9829800" cy="0"/>
          </a:xfrm>
          <a:prstGeom prst="line">
            <a:avLst/>
          </a:prstGeom>
          <a:ln w="9525">
            <a:solidFill>
              <a:srgbClr val="000000"/>
            </a:solidFill>
            <a:prstDash val="dash"/>
            <a:tailEnd type="triangle" w="med" len="med"/>
          </a:ln>
        </p:spPr>
      </p:cxnSp>
      <p:cxnSp>
        <p:nvCxnSpPr>
          <p:cNvPr id="111" name="Straight Connector 473"/>
          <p:cNvCxnSpPr/>
          <p:nvPr/>
        </p:nvCxnSpPr>
        <p:spPr>
          <a:xfrm>
            <a:off x="833018" y="3989527"/>
            <a:ext cx="9829800" cy="0"/>
          </a:xfrm>
          <a:prstGeom prst="line">
            <a:avLst/>
          </a:prstGeom>
          <a:ln w="9525">
            <a:solidFill>
              <a:srgbClr val="000000"/>
            </a:solidFill>
            <a:prstDash val="dash"/>
            <a:tailEnd type="triangle" w="med" len="med"/>
          </a:ln>
        </p:spPr>
      </p:cxnSp>
      <p:cxnSp>
        <p:nvCxnSpPr>
          <p:cNvPr id="112" name="Straight Connector 486"/>
          <p:cNvCxnSpPr/>
          <p:nvPr/>
        </p:nvCxnSpPr>
        <p:spPr>
          <a:xfrm>
            <a:off x="833018" y="4270248"/>
            <a:ext cx="9829800" cy="0"/>
          </a:xfrm>
          <a:prstGeom prst="line">
            <a:avLst/>
          </a:prstGeom>
          <a:ln w="9525">
            <a:solidFill>
              <a:srgbClr val="000000"/>
            </a:solidFill>
            <a:prstDash val="dash"/>
            <a:tailEnd type="triangle" w="med" len="med"/>
          </a:ln>
        </p:spPr>
      </p:cxnSp>
      <p:sp>
        <p:nvSpPr>
          <p:cNvPr id="113"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8"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3"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4"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5"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6"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7" name="Label"/>
          <p:cNvSpPr txBox="1"/>
          <p:nvPr/>
        </p:nvSpPr>
        <p:spPr>
          <a:xfrm>
            <a:off x="1227125" y="2163470"/>
            <a:ext cx="150053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48"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49"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0" name="Straight Arrow Connector 556"/>
          <p:cNvCxnSpPr/>
          <p:nvPr/>
        </p:nvCxnSpPr>
        <p:spPr>
          <a:xfrm>
            <a:off x="834847" y="2495398"/>
            <a:ext cx="9966960" cy="7315"/>
          </a:xfrm>
          <a:prstGeom prst="line">
            <a:avLst/>
          </a:prstGeom>
          <a:ln w="9525">
            <a:solidFill>
              <a:srgbClr val="000000"/>
            </a:solidFill>
            <a:prstDash val="dash"/>
          </a:ln>
        </p:spPr>
      </p:cxnSp>
      <p:cxnSp>
        <p:nvCxnSpPr>
          <p:cNvPr id="151" name="Straight Arrow Connector 531"/>
          <p:cNvCxnSpPr/>
          <p:nvPr/>
        </p:nvCxnSpPr>
        <p:spPr>
          <a:xfrm>
            <a:off x="834847" y="1996135"/>
            <a:ext cx="9966960" cy="7315"/>
          </a:xfrm>
          <a:prstGeom prst="line">
            <a:avLst/>
          </a:prstGeom>
          <a:ln w="9525">
            <a:solidFill>
              <a:srgbClr val="000000"/>
            </a:solidFill>
            <a:prstDash val="dash"/>
          </a:ln>
        </p:spPr>
      </p:cxnSp>
      <p:sp>
        <p:nvSpPr>
          <p:cNvPr id="152"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157" name="Rectangle 394"/>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8"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9"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60"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61"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2"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3" name="Rectangle 413"/>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64" name="Rectangle 23"/>
          <p:cNvSpPr txBox="1"/>
          <p:nvPr/>
        </p:nvSpPr>
        <p:spPr>
          <a:xfrm>
            <a:off x="7378294" y="158191"/>
            <a:ext cx="2722169" cy="199339"/>
          </a:xfrm>
          <a:prstGeom prst="rect">
            <a:avLst/>
          </a:prstGeom>
          <a:solidFill>
            <a:srgbClr val="0E1924"/>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(3) SHIPS Act “Plus” Scenario</a:t>
            </a:r>
          </a:p>
        </p:txBody>
      </p:sp>
      <p:cxnSp>
        <p:nvCxnSpPr>
          <p:cNvPr id="165" name="Straight Arrow Connector 559"/>
          <p:cNvCxnSpPr/>
          <p:nvPr/>
        </p:nvCxnSpPr>
        <p:spPr>
          <a:xfrm>
            <a:off x="834847" y="2790749"/>
            <a:ext cx="9966960" cy="7315"/>
          </a:xfrm>
          <a:prstGeom prst="line">
            <a:avLst/>
          </a:prstGeom>
          <a:ln w="9525">
            <a:solidFill>
              <a:srgbClr val="000000"/>
            </a:solidFill>
            <a:prstDash val="dash"/>
          </a:ln>
        </p:spPr>
      </p:cxnSp>
      <p:cxnSp>
        <p:nvCxnSpPr>
          <p:cNvPr id="166" name="Straight Arrow Connector 562"/>
          <p:cNvCxnSpPr/>
          <p:nvPr/>
        </p:nvCxnSpPr>
        <p:spPr>
          <a:xfrm>
            <a:off x="834847" y="3394253"/>
            <a:ext cx="9966960" cy="7315"/>
          </a:xfrm>
          <a:prstGeom prst="line">
            <a:avLst/>
          </a:prstGeom>
          <a:ln w="9525">
            <a:solidFill>
              <a:srgbClr val="000000"/>
            </a:solidFill>
            <a:prstDash val="dash"/>
          </a:ln>
        </p:spPr>
      </p:cxnSp>
      <p:cxnSp>
        <p:nvCxnSpPr>
          <p:cNvPr id="167" name="Straight Arrow Connector 566"/>
          <p:cNvCxnSpPr/>
          <p:nvPr/>
        </p:nvCxnSpPr>
        <p:spPr>
          <a:xfrm>
            <a:off x="833018" y="3977640"/>
            <a:ext cx="9966960" cy="7315"/>
          </a:xfrm>
          <a:prstGeom prst="line">
            <a:avLst/>
          </a:prstGeom>
          <a:ln w="9525">
            <a:solidFill>
              <a:srgbClr val="000000"/>
            </a:solidFill>
            <a:prstDash val="dash"/>
          </a:ln>
        </p:spPr>
      </p:cxnSp>
      <p:sp>
        <p:nvSpPr>
          <p:cNvPr id="168"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9"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0"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1" name="Straight Arrow Connector 568"/>
          <p:cNvCxnSpPr/>
          <p:nvPr/>
        </p:nvCxnSpPr>
        <p:spPr>
          <a:xfrm>
            <a:off x="4015130" y="1985162"/>
            <a:ext cx="0" cy="677570"/>
          </a:xfrm>
          <a:prstGeom prst="line">
            <a:avLst/>
          </a:prstGeom>
          <a:ln w="28575">
            <a:solidFill>
              <a:srgbClr val="000000"/>
            </a:solidFill>
            <a:tailEnd type="triangle" w="med" len="med"/>
          </a:ln>
        </p:spPr>
      </p:cxnSp>
      <p:cxnSp>
        <p:nvCxnSpPr>
          <p:cNvPr id="172" name="Straight Arrow Connector 63"/>
          <p:cNvCxnSpPr/>
          <p:nvPr/>
        </p:nvCxnSpPr>
        <p:spPr>
          <a:xfrm>
            <a:off x="833018" y="4254703"/>
            <a:ext cx="9966960" cy="7315"/>
          </a:xfrm>
          <a:prstGeom prst="line">
            <a:avLst/>
          </a:prstGeom>
          <a:ln w="9525">
            <a:solidFill>
              <a:srgbClr val="000000"/>
            </a:solidFill>
            <a:prstDash val="dash"/>
          </a:ln>
        </p:spPr>
      </p:cxn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3" name="Speech Bubble: Rectangle 8"/>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Rectangle 7"/>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Rectangle 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12"/>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100"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GAO Report on Government Preference Cargo</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graphicFrame>
        <p:nvGraphicFramePr>
          <p:cNvPr id="101" name="MandateTable"/>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aptiveDemand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traight Connector 74"/>
          <p:cNvCxnSpPr/>
          <p:nvPr/>
        </p:nvCxnSpPr>
        <p:spPr>
          <a:xfrm flipH="1" flipV="1">
            <a:off x="2376526" y="2079346"/>
            <a:ext cx="92354" cy="63094"/>
          </a:xfrm>
          <a:prstGeom prst="line">
            <a:avLst/>
          </a:prstGeom>
          <a:ln w="6350">
            <a:solidFill>
              <a:srgbClr val="44505C"/>
            </a:solidFill>
            <a:prstDash val="dash"/>
            <a:tailEnd type="triangle" w="med" len="med"/>
          </a:ln>
        </p:spPr>
      </p:cxnSp>
      <p:cxnSp>
        <p:nvCxnSpPr>
          <p:cNvPr id="104" name="Straight Connector 75"/>
          <p:cNvCxnSpPr/>
          <p:nvPr/>
        </p:nvCxnSpPr>
        <p:spPr>
          <a:xfrm flipH="1">
            <a:off x="2376526" y="1990649"/>
            <a:ext cx="92354" cy="63094"/>
          </a:xfrm>
          <a:prstGeom prst="line">
            <a:avLst/>
          </a:prstGeom>
          <a:ln w="6350">
            <a:solidFill>
              <a:srgbClr val="44505C"/>
            </a:solidFill>
            <a:prstDash val="dash"/>
            <a:tailEnd type="triangle" w="med" len="med"/>
          </a:ln>
        </p:spPr>
      </p:cxnSp>
      <p:sp>
        <p:nvSpPr>
          <p:cNvPr id="105" name="ChartTitle"/>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SCFCategoryLabel"/>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MandatedDemandCategoryLabel"/>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SCFTotalLabel"/>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MandatedDemandTotalLabel"/>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OtherPatternSwatch"/>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egend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egend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egend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egend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egend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egend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egend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OpexDnaCaveat"/>
          <p:cNvSpPr txBox="1"/>
          <p:nvPr/>
        </p:nvSpPr>
        <p:spPr>
          <a:xfrm>
            <a:off x="5214823" y="5084064"/>
            <a:ext cx="6482182" cy="79278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8" name="ScenarioChip"/>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cxnSp>
        <p:nvCxnSpPr>
          <p:cNvPr id="129" name="Straight Connector 351"/>
          <p:cNvCxnSpPr/>
          <p:nvPr/>
        </p:nvCxnSpPr>
        <p:spPr>
          <a:xfrm flipV="1">
            <a:off x="4533595" y="2000707"/>
            <a:ext cx="681228" cy="1762049"/>
          </a:xfrm>
          <a:prstGeom prst="line">
            <a:avLst/>
          </a:prstGeom>
          <a:ln w="6350">
            <a:solidFill>
              <a:srgbClr val="808080"/>
            </a:solidFill>
            <a:prstDash val="dash"/>
          </a:ln>
        </p:spPr>
      </p:cxnSp>
      <p:cxnSp>
        <p:nvCxnSpPr>
          <p:cNvPr id="130" name="Straight Connector 355"/>
          <p:cNvCxnSpPr/>
          <p:nvPr/>
        </p:nvCxnSpPr>
        <p:spPr>
          <a:xfrm flipV="1">
            <a:off x="4533595" y="2609698"/>
            <a:ext cx="681228" cy="1404518"/>
          </a:xfrm>
          <a:prstGeom prst="line">
            <a:avLst/>
          </a:prstGeom>
          <a:ln w="6350">
            <a:solidFill>
              <a:srgbClr val="808080"/>
            </a:solidFill>
            <a:prstDash val="dash"/>
          </a:ln>
        </p:spPr>
      </p:cxnSp>
      <p:cxnSp>
        <p:nvCxnSpPr>
          <p:cNvPr id="131" name="Straight Connector 358"/>
          <p:cNvCxnSpPr/>
          <p:nvPr/>
        </p:nvCxnSpPr>
        <p:spPr>
          <a:xfrm flipV="1">
            <a:off x="4533595" y="3188513"/>
            <a:ext cx="681228" cy="1538935"/>
          </a:xfrm>
          <a:prstGeom prst="line">
            <a:avLst/>
          </a:prstGeom>
          <a:ln w="6350">
            <a:solidFill>
              <a:srgbClr val="808080"/>
            </a:solidFill>
            <a:prstDash val="dash"/>
          </a:ln>
        </p:spPr>
      </p:cxnSp>
      <p:sp>
        <p:nvSpPr>
          <p:cNvPr id="132" name="PortAlphaMarker"/>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PortAlphaProductionModeledLabel"/>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PortAlphaChartOutline1"/>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PortAlphaChartOutline2"/>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(1/2).</a:t>
            </a:r>
          </a:p>
        </p:txBody>
      </p:sp>
      <p:graphicFrame>
        <p:nvGraphicFramePr>
          <p:cNvPr id="100" name="Table 3"/>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5"/>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2" name="Rectangle 13"/>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(2/2).</a:t>
            </a:r>
          </a:p>
        </p:txBody>
      </p:sp>
      <p:graphicFrame>
        <p:nvGraphicFramePr>
          <p:cNvPr id="100" name="Table 3"/>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1" name="Rectangle 8"/>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Table 8"/>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ctr"/>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ctr"/>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ctr"/>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Rectangle 19"/>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Rectangle 20"/>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Connector: Elbow 22"/>
          <p:cNvCxnSpPr/>
          <p:nvPr/>
        </p:nvCxnSpPr>
        <p:spPr>
          <a:xfrm>
            <a:off x="8485632" y="3634740"/>
            <a:ext cx="205740" cy="113386"/>
          </a:xfrm>
          <a:prstGeom prst="bentConnector3">
            <a:avLst/>
          </a:prstGeom>
          <a:ln w="12700">
            <a:solidFill>
              <a:srgbClr val="000000"/>
            </a:solidFill>
            <a:tailEnd type="triangle" w="med" len="med"/>
          </a:ln>
        </p:spPr>
      </p:cxnSp>
      <p:sp>
        <p:nvSpPr>
          <p:cNvPr id="104" name="Rectangle 25"/>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Rectangle 32"/>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TextBox 41"/>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Connector: Elbow 42"/>
          <p:cNvCxnSpPr/>
          <p:nvPr/>
        </p:nvCxnSpPr>
        <p:spPr>
          <a:xfrm flipV="1">
            <a:off x="5214823" y="5106924"/>
            <a:ext cx="3499409" cy="70409"/>
          </a:xfrm>
          <a:prstGeom prst="bentConnector3">
            <a:avLst/>
          </a:prstGeom>
          <a:ln w="12700">
            <a:solidFill>
              <a:srgbClr val="000000"/>
            </a:solidFill>
            <a:tailEnd type="triangle" w="med" len="med"/>
          </a:ln>
        </p:spPr>
      </p:cxnSp>
      <p:sp>
        <p:nvSpPr>
          <p:cNvPr id="108" name="TextBox 46"/>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TextBox 48"/>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TextBox 51"/>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TextBox 53"/>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Text Placeholder 25"/>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ext Placeholder 25"/>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Text Placeholder 25"/>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Rectangle 304"/>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Text Placeholder 25"/>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graphicFrame>
        <p:nvGraphicFramePr>
          <p:cNvPr id="126" name="Table 238"/>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Haken, check"/>
          <p:cNvSpPr/>
          <p:nvPr/>
        </p:nvSpPr>
        <p:spPr>
          <a:xfrm>
            <a:off x="7591349" y="3899002"/>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8" name="Haken, check"/>
          <p:cNvSpPr/>
          <p:nvPr/>
        </p:nvSpPr>
        <p:spPr>
          <a:xfrm>
            <a:off x="7591349" y="4490618"/>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9" name="Cross, kreuz"/>
          <p:cNvSpPr/>
          <p:nvPr/>
        </p:nvSpPr>
        <p:spPr>
          <a:xfrm>
            <a:off x="7591349" y="2164385"/>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Cross, kreuz"/>
          <p:cNvSpPr/>
          <p:nvPr/>
        </p:nvSpPr>
        <p:spPr>
          <a:xfrm>
            <a:off x="7591349" y="2738628"/>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1" name="Cross, kreuz"/>
          <p:cNvSpPr/>
          <p:nvPr/>
        </p:nvSpPr>
        <p:spPr>
          <a:xfrm>
            <a:off x="7591349" y="3325673"/>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2" name="Label"/>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Label"/>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34" name="Label"/>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Rectangle 326"/>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36" name="Rectangle 407"/>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Hawaii Department of Transportation</a:t>
            </a:r>
          </a:p>
        </p:txBody>
      </p:sp>
      <p:sp>
        <p:nvSpPr>
          <p:cNvPr id="137" name="Rectangle 453"/>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8" name="Rectangle 465"/>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9" name="Straight Arrow Connector 597"/>
          <p:cNvCxnSpPr/>
          <p:nvPr/>
        </p:nvCxnSpPr>
        <p:spPr>
          <a:xfrm>
            <a:off x="3648456" y="3705149"/>
            <a:ext cx="1976933" cy="636422"/>
          </a:xfrm>
          <a:prstGeom prst="line">
            <a:avLst/>
          </a:prstGeom>
          <a:ln w="12700">
            <a:solidFill>
              <a:srgbClr val="808080"/>
            </a:solidFill>
            <a:prstDash val="dash"/>
          </a:ln>
        </p:spPr>
      </p:cxnSp>
      <p:cxnSp>
        <p:nvCxnSpPr>
          <p:cNvPr id="140" name="Straight Arrow Connector 637"/>
          <p:cNvCxnSpPr/>
          <p:nvPr/>
        </p:nvCxnSpPr>
        <p:spPr>
          <a:xfrm>
            <a:off x="3648456" y="3375050"/>
            <a:ext cx="1985162" cy="389534"/>
          </a:xfrm>
          <a:prstGeom prst="line">
            <a:avLst/>
          </a:prstGeom>
          <a:ln w="12700">
            <a:solidFill>
              <a:srgbClr val="808080"/>
            </a:solidFill>
            <a:prstDash val="dash"/>
          </a:ln>
        </p:spPr>
      </p:cxnSp>
      <p:cxnSp>
        <p:nvCxnSpPr>
          <p:cNvPr id="141" name="Straight Arrow Connector 640"/>
          <p:cNvCxnSpPr/>
          <p:nvPr/>
        </p:nvCxnSpPr>
        <p:spPr>
          <a:xfrm>
            <a:off x="3648456" y="2495398"/>
            <a:ext cx="1976933" cy="643738"/>
          </a:xfrm>
          <a:prstGeom prst="line">
            <a:avLst/>
          </a:prstGeom>
          <a:ln w="12700">
            <a:solidFill>
              <a:srgbClr val="808080"/>
            </a:solidFill>
            <a:prstDash val="dash"/>
          </a:ln>
        </p:spPr>
      </p:cxnSp>
      <p:cxnSp>
        <p:nvCxnSpPr>
          <p:cNvPr id="142" name="Straight Arrow Connector 646"/>
          <p:cNvCxnSpPr/>
          <p:nvPr/>
        </p:nvCxnSpPr>
        <p:spPr>
          <a:xfrm>
            <a:off x="3648456" y="2311603"/>
            <a:ext cx="1985162" cy="281635"/>
          </a:xfrm>
          <a:prstGeom prst="line">
            <a:avLst/>
          </a:prstGeom>
          <a:ln w="12700">
            <a:solidFill>
              <a:srgbClr val="808080"/>
            </a:solidFill>
            <a:prstDash val="dash"/>
          </a:ln>
        </p:spPr>
      </p:cxnSp>
      <p:cxnSp>
        <p:nvCxnSpPr>
          <p:cNvPr id="143" name="Straight Arrow Connector 471"/>
          <p:cNvCxnSpPr/>
          <p:nvPr/>
        </p:nvCxnSpPr>
        <p:spPr>
          <a:xfrm flipV="1">
            <a:off x="3648456" y="2011680"/>
            <a:ext cx="1952244" cy="274320"/>
          </a:xfrm>
          <a:prstGeom prst="line">
            <a:avLst/>
          </a:prstGeom>
          <a:ln w="12700">
            <a:solidFill>
              <a:srgbClr val="808080"/>
            </a:solidFill>
            <a:prstDash val="dash"/>
          </a:ln>
        </p:spPr>
      </p:cxnSp>
      <p:sp>
        <p:nvSpPr>
          <p:cNvPr id="144" name="Rectangle 36"/>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Table 11"/>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610"/>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Picture 2"/>
          <p:cNvPicPr>
            <a:picLocks noChangeAspect="1"/>
          </p:cNvPicPr>
          <p:nvPr/>
        </p:nvPicPr>
        <p:blipFill>
          <a:blip r:embed="rId3"/>
          <a:stretch>
            <a:fillRect/>
          </a:stretch>
        </p:blipFill>
        <p:spPr>
          <a:xfrm>
            <a:off x="10452506" y="43891"/>
            <a:ext cx="843077" cy="843077"/>
          </a:xfrm>
          <a:prstGeom prst="rect">
            <a:avLst/>
          </a:prstGeom>
        </p:spPr>
      </p:pic>
      <p:pic>
        <p:nvPicPr>
          <p:cNvPr id="101" name="Picture 8"/>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dirty="0">
                          <a:solidFill>
                            <a:srgbClr val="000000"/>
                          </a:solidFill>
                          <a:latin typeface="Arial"/>
                          <a:ea typeface="Arial"/>
                          <a:cs typeface="Arial"/>
                        </a:rPr>
                        <a:t>10x+ </a:t>
                      </a:r>
                      <a:r>
                        <a:rPr lang="en-US" sz="1200" i="1" dirty="0">
                          <a:solidFill>
                            <a:srgbClr val="000000"/>
                          </a:solidFill>
                          <a:latin typeface="Arial"/>
                          <a:ea typeface="Arial"/>
                          <a:cs typeface="Arial"/>
                        </a:rPr>
                        <a:t>Arleigh Burke</a:t>
                      </a:r>
                      <a:r>
                        <a:rPr lang="en-US" sz="1200"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 | Source: Congressional Research Service; OBBBA text; FY26 Budget Estimate; Lockheed Martin MK 70 Product Card; 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435254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17</a:t>
            </a:r>
          </a:p>
        </p:txBody>
      </p:sp>
      <p:sp>
        <p:nvSpPr>
          <p:cNvPr id="127" name="SourceChartValueLabel"/>
          <p:cNvSpPr txBox="1"/>
          <p:nvPr/>
        </p:nvSpPr>
        <p:spPr>
          <a:xfrm>
            <a:off x="6698894" y="43132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19</a:t>
            </a:r>
          </a:p>
        </p:txBody>
      </p:sp>
      <p:sp>
        <p:nvSpPr>
          <p:cNvPr id="128" name="SourceChartValueLabel"/>
          <p:cNvSpPr txBox="1"/>
          <p:nvPr/>
        </p:nvSpPr>
        <p:spPr>
          <a:xfrm>
            <a:off x="7798918" y="379658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29" name="SourceChartValueLabel"/>
          <p:cNvSpPr txBox="1"/>
          <p:nvPr/>
        </p:nvSpPr>
        <p:spPr>
          <a:xfrm>
            <a:off x="5598871" y="383682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162029"/>
                </a:solidFill>
                <a:latin typeface="Arial"/>
                <a:ea typeface="Arial"/>
                <a:cs typeface="Arial"/>
              </a:rPr>
              <a:t>9</a:t>
            </a:r>
          </a:p>
        </p:txBody>
      </p:sp>
      <p:sp>
        <p:nvSpPr>
          <p:cNvPr id="130" name="SourceChartValueLabel"/>
          <p:cNvSpPr txBox="1"/>
          <p:nvPr/>
        </p:nvSpPr>
        <p:spPr>
          <a:xfrm>
            <a:off x="6698894" y="379750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7</a:t>
            </a:r>
          </a:p>
        </p:txBody>
      </p:sp>
      <p:sp>
        <p:nvSpPr>
          <p:cNvPr id="131" name="AnnualStartLabel"/>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32" name="AnnualStartLabel"/>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67" name="RequirementMetCallout"/>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marL="0" indent="0">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7"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8"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9"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0"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1"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2"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2026-06-27T17:42:20Z</dcterms:created>
  <dcterms:modified xsi:type="dcterms:W3CDTF">2026-06-27T17:42:20Z</dcterms:modified>
</cp:coreProperties>
</file>