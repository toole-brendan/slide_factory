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jpg" ContentType="image/jpeg"/>
  <Default Extension="png" ContentType="image/png"/>
  <Default Extension="svg" ContentType="image/svg+xml"/>
  <Default Extension="emf" ContentType="image/x-emf"/>
  <Default Extension="bin" ContentType="application/vnd.openxmlformats-officedocument.oleObjec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embeddings/Microsoft_Excel_Worksheet1.xlsx" ContentType="application/vnd.openxmlformats-officedocument.spreadsheetml.sheet"/>
  <Override PartName="/ppt/embeddings/Microsoft_Excel_Worksheet2.xlsx" ContentType="application/vnd.openxmlformats-officedocument.spreadsheetml.sheet"/>
  <Override PartName="/ppt/theme/theme1.xml" ContentType="application/vnd.openxmlformats-officedocument.theme+xml"/>
  <Override PartName="/ppt/theme/theme2.xml" ContentType="application/vnd.openxmlformats-officedocument.theme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handoutMasterIdLst>
    <p:handoutMasterId r:id="rId4"/>
  </p:handoutMasterIdLst>
  <p:sldIdLst>
    <p:sldId id="256" r:id="rId2"/>
    <p:sldId id="257" r:id="rId3"/>
  </p:sldIdLst>
  <p:sldSz cx="12192000" cy="6858000"/>
  <p:notesSz cx="6934200" cy="92202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D5972"/>
    <a:srgbClr val="6E91B1"/>
    <a:srgbClr val="B6C8D8"/>
    <a:srgbClr val="E2E9EF"/>
    <a:srgbClr val="F2F2F2"/>
    <a:srgbClr val="447BB2"/>
    <a:srgbClr val="D1D1D1"/>
    <a:srgbClr val="BFBFBF"/>
    <a:srgbClr val="1D4D68"/>
    <a:srgbClr val="79838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38" autoAdjust="0"/>
    <p:restoredTop sz="94660"/>
  </p:normalViewPr>
  <p:slideViewPr>
    <p:cSldViewPr snapToGrid="0">
      <p:cViewPr varScale="1">
        <p:scale>
          <a:sx n="97" d="100"/>
          <a:sy n="97" d="100"/>
        </p:scale>
        <p:origin x="1038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handoutMaster" Target="handoutMasters/handout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75"/>
          <c:y val="0.085"/>
          <c:w val="0.885"/>
          <c:h val="0.81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Basic Construction stream</c:v>
                </c:pt>
              </c:strCache>
            </c:strRef>
          </c:tx>
          <c:spPr>
            <a:solidFill>
              <a:srgbClr val="364D6E"/>
            </a:solidFill>
            <a:ln>
              <a:noFill/>
            </a:ln>
          </c:spPr>
          <c:invertIfNegative val="0"/>
          <c:cat>
            <c:strRef>
              <c:f>Sheet1!$A$2:$A$7</c:f>
              <c:strCache>
                <c:ptCount val="6"/>
                <c:pt idx="0">
                  <c:v>FY22</c:v>
                </c:pt>
                <c:pt idx="1">
                  <c:v>FY23</c:v>
                </c:pt>
                <c:pt idx="2">
                  <c:v>FY24</c:v>
                </c:pt>
                <c:pt idx="3">
                  <c:v>FY25</c:v>
                </c:pt>
                <c:pt idx="4">
                  <c:v>FY26E</c:v>
                </c:pt>
                <c:pt idx="5">
                  <c:v>FY27E</c:v>
                </c:pt>
              </c:strCache>
            </c:strRef>
          </c:cat>
          <c:val>
            <c:numRef>
              <c:f>Sheet1!$B$2:$B$7</c:f>
              <c:numCache>
                <c:formatCode>$#,##0"M"</c:formatCode>
                <c:ptCount val="6"/>
                <c:pt idx="0">
                  <c:v>474</c:v>
                </c:pt>
                <c:pt idx="1">
                  <c:v>1234</c:v>
                </c:pt>
                <c:pt idx="2">
                  <c:v>874</c:v>
                </c:pt>
                <c:pt idx="3">
                  <c:v>1194</c:v>
                </c:pt>
                <c:pt idx="4">
                  <c:v>71</c:v>
                </c:pt>
                <c:pt idx="5">
                  <c:v>674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OBBBA mandatory overlay</c:v>
                </c:pt>
              </c:strCache>
            </c:strRef>
          </c:tx>
          <c:spPr>
            <a:solidFill>
              <a:srgbClr val="6F8DB9"/>
            </a:solidFill>
            <a:ln>
              <a:noFill/>
            </a:ln>
          </c:spPr>
          <c:invertIfNegative val="0"/>
          <c:cat>
            <c:strRef>
              <c:f>Sheet1!$A$2:$A$7</c:f>
              <c:strCache>
                <c:ptCount val="6"/>
                <c:pt idx="0">
                  <c:v>FY22</c:v>
                </c:pt>
                <c:pt idx="1">
                  <c:v>FY23</c:v>
                </c:pt>
                <c:pt idx="2">
                  <c:v>FY24</c:v>
                </c:pt>
                <c:pt idx="3">
                  <c:v>FY25</c:v>
                </c:pt>
                <c:pt idx="4">
                  <c:v>FY26E</c:v>
                </c:pt>
                <c:pt idx="5">
                  <c:v>FY27E</c:v>
                </c:pt>
              </c:strCache>
            </c:strRef>
          </c:cat>
          <c:val>
            <c:numRef>
              <c:f>Sheet1!$C$2:$C$7</c:f>
              <c:numCache>
                <c:formatCode>$#,##0"M"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858</c:v>
                </c:pt>
                <c:pt idx="5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AP / LLTM overlay</c:v>
                </c:pt>
              </c:strCache>
            </c:strRef>
          </c:tx>
          <c:spPr>
            <a:solidFill>
              <a:srgbClr val="BFBFBF"/>
            </a:solidFill>
            <a:ln>
              <a:noFill/>
            </a:ln>
          </c:spPr>
          <c:invertIfNegative val="0"/>
          <c:cat>
            <c:strRef>
              <c:f>Sheet1!$A$2:$A$7</c:f>
              <c:strCache>
                <c:ptCount val="6"/>
                <c:pt idx="0">
                  <c:v>FY22</c:v>
                </c:pt>
                <c:pt idx="1">
                  <c:v>FY23</c:v>
                </c:pt>
                <c:pt idx="2">
                  <c:v>FY24</c:v>
                </c:pt>
                <c:pt idx="3">
                  <c:v>FY25</c:v>
                </c:pt>
                <c:pt idx="4">
                  <c:v>FY26E</c:v>
                </c:pt>
                <c:pt idx="5">
                  <c:v>FY27E</c:v>
                </c:pt>
              </c:strCache>
            </c:strRef>
          </c:cat>
          <c:val>
            <c:numRef>
              <c:f>Sheet1!$D$2:$D$7</c:f>
              <c:numCache>
                <c:formatCode>$#,##0"M"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42</c:v>
                </c:pt>
                <c:pt idx="4">
                  <c:v>1000</c:v>
                </c:pt>
                <c:pt idx="5">
                  <c:v>0</c:v>
                </c:pt>
              </c:numCache>
            </c:numRef>
          </c:val>
        </c:ser>
        <c:gapWidth val="70"/>
        <c:overlap val="100"/>
        <c:axId val="111111111"/>
        <c:axId val="222222222"/>
      </c:barChart>
      <c:lineChart>
        <c:grouping val="standard"/>
        <c:varyColors val="0"/>
        <c:ser>
          <c:idx val="3"/>
          <c:order val="3"/>
          <c:tx>
            <c:strRef>
              <c:f>Sheet1!$E$1</c:f>
              <c:strCache>
                <c:ptCount val="1"/>
                <c:pt idx="0">
                  <c:v>Observed SAM subawards</c:v>
                </c:pt>
              </c:strCache>
            </c:strRef>
          </c:tx>
          <c:spPr>
            <a:ln w="19050" cap="rnd">
              <a:solidFill>
                <a:srgbClr val="C30C3E"/>
              </a:solidFill>
              <a:round/>
            </a:ln>
          </c:spPr>
          <c:marker>
            <c:symbol val="circle"/>
            <c:size val="6"/>
            <c:spPr>
              <a:solidFill>
                <a:srgbClr val="C30C3E"/>
              </a:solidFill>
              <a:ln w="9525">
                <a:solidFill>
                  <a:srgbClr val="C30C3E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FY22</c:v>
                </c:pt>
                <c:pt idx="1">
                  <c:v>FY23</c:v>
                </c:pt>
                <c:pt idx="2">
                  <c:v>FY24</c:v>
                </c:pt>
                <c:pt idx="3">
                  <c:v>FY25</c:v>
                </c:pt>
                <c:pt idx="4">
                  <c:v>FY26E</c:v>
                </c:pt>
                <c:pt idx="5">
                  <c:v>FY27E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163</c:v>
                </c:pt>
                <c:pt idx="1">
                  <c:v>289</c:v>
                </c:pt>
                <c:pt idx="2">
                  <c:v>568</c:v>
                </c:pt>
                <c:pt idx="3">
                  <c:v>698</c:v>
                </c:pt>
              </c:numCache>
            </c:numRef>
          </c:val>
          <c:smooth val="0"/>
        </c:ser>
        <c:marker val="1"/>
        <c:axId val="111111111"/>
        <c:axId val="222222222"/>
      </c:lineChart>
      <c:catAx>
        <c:axId val="111111111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 cap="flat">
            <a:solidFill>
              <a:srgbClr val="000000"/>
            </a:solidFill>
            <a:prstDash val="solid"/>
          </a:ln>
        </c:spPr>
        <c:txPr>
          <a:bodyPr rot="0" spcFirstLastPara="1" vertOverflow="ellipsis" wrap="square" anchor="ctr" anchorCtr="1"/>
          <a:lstStyle/>
          <a:p>
            <a:pPr>
              <a:defRPr sz="9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222222222"/>
        <c:crosses val="min"/>
        <c:auto val="1"/>
        <c:lblAlgn val="ctr"/>
        <c:lblOffset val="100"/>
        <c:noMultiLvlLbl val="0"/>
      </c:catAx>
      <c:valAx>
        <c:axId val="222222222"/>
        <c:scaling>
          <c:orientation val="minMax"/>
          <c:max val="2200"/>
          <c:min val="0"/>
        </c:scaling>
        <c:delete val="0"/>
        <c:axPos val="l"/>
        <c:numFmt formatCode="$#,##0&quot;M&quot;" sourceLinked="0"/>
        <c:majorTickMark val="out"/>
        <c:minorTickMark val="none"/>
        <c:tickLblPos val="nextTo"/>
        <c:spPr>
          <a:ln w="9525" cap="flat">
            <a:solidFill>
              <a:srgbClr val="000000"/>
            </a:solidFill>
            <a:prstDash val="solid"/>
          </a:ln>
        </c:spPr>
        <c:txPr>
          <a:bodyPr rot="0" spcFirstLastPara="1" vertOverflow="ellipsis" wrap="square" anchor="ctr" anchorCtr="1"/>
          <a:lstStyle/>
          <a:p>
            <a:pPr>
              <a:defRPr sz="9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111111111"/>
        <c:crosses val="min"/>
        <c:crossBetween val="between"/>
        <c:majorUnit val="500"/>
      </c:valAx>
    </c:plotArea>
    <c:plotVisOnly val="1"/>
    <c:dispBlanksAs val="gap"/>
  </c:chart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255"/>
          <c:y val="0.03"/>
          <c:w val="0.675"/>
          <c:h val="0.925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Subaward $M</c:v>
                </c:pt>
              </c:strCache>
            </c:strRef>
          </c:tx>
          <c:spPr>
            <a:solidFill>
              <a:srgbClr val="364D6E"/>
            </a:solidFill>
            <a:ln>
              <a:noFill/>
            </a:ln>
          </c:spPr>
          <c:invertIfNegative val="0"/>
          <c:dPt>
            <c:idx val="0"/>
            <c:invertIfNegative val="0"/>
            <c:bubble3D val="0"/>
            <c:spPr>
              <a:solidFill>
                <a:srgbClr val="364D6E"/>
              </a:solidFill>
              <a:ln>
                <a:noFill/>
              </a:ln>
            </c:spPr>
          </c:dPt>
          <c:dPt>
            <c:idx val="1"/>
            <c:invertIfNegative val="0"/>
            <c:bubble3D val="0"/>
            <c:spPr>
              <a:solidFill>
                <a:srgbClr val="4C6C9C"/>
              </a:solidFill>
              <a:ln>
                <a:noFill/>
              </a:ln>
            </c:spPr>
          </c:dPt>
          <c:dPt>
            <c:idx val="2"/>
            <c:invertIfNegative val="0"/>
            <c:bubble3D val="0"/>
            <c:spPr>
              <a:solidFill>
                <a:srgbClr val="6F8DB9"/>
              </a:solidFill>
              <a:ln>
                <a:noFill/>
              </a:ln>
            </c:spPr>
          </c:dPt>
          <c:dPt>
            <c:idx val="3"/>
            <c:invertIfNegative val="0"/>
            <c:bubble3D val="0"/>
            <c:spPr>
              <a:solidFill>
                <a:srgbClr val="A6A6A6"/>
              </a:solidFill>
              <a:ln>
                <a:noFill/>
              </a:ln>
            </c:spPr>
          </c:dPt>
          <c:dPt>
            <c:idx val="4"/>
            <c:invertIfNegative val="0"/>
            <c:bubble3D val="0"/>
            <c:spPr>
              <a:solidFill>
                <a:srgbClr val="D9D9D9"/>
              </a:solidFill>
              <a:ln>
                <a:noFill/>
              </a:ln>
            </c:spPr>
          </c:dPt>
          <c:dPt>
            <c:idx val="5"/>
            <c:invertIfNegative val="0"/>
            <c:bubble3D val="0"/>
            <c:spPr>
              <a:solidFill>
                <a:srgbClr val="D9D9D9"/>
              </a:solidFill>
              <a:ln>
                <a:noFill/>
              </a:ln>
            </c:spPr>
          </c:dPt>
          <c:dPt>
            <c:idx val="6"/>
            <c:invertIfNegative val="0"/>
            <c:bubble3D val="0"/>
            <c:spPr>
              <a:solidFill>
                <a:srgbClr val="C30C3E"/>
              </a:solidFill>
              <a:ln>
                <a:noFill/>
              </a:ln>
            </c:spPr>
          </c:dPt>
          <c:dPt>
            <c:idx val="7"/>
            <c:invertIfNegative val="0"/>
            <c:bubble3D val="0"/>
            <c:spPr>
              <a:solidFill>
                <a:srgbClr val="BFBFBF"/>
              </a:solidFill>
              <a:ln>
                <a:noFill/>
              </a:ln>
            </c:spPr>
          </c:dPt>
          <c:dLbls>
            <c:txPr>
              <a:bodyPr rot="0" spcFirstLastPara="1" vertOverflow="ellipsis" wrap="square" anchor="ctr" anchorCtr="1"/>
              <a:lstStyle/>
              <a:p>
                <a:pPr>
                  <a:defRPr sz="8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Sheet1!$A$2:$A$9</c:f>
              <c:strCache>
                <c:ptCount val="8"/>
                <c:pt idx="0">
                  <c:v>500 Auxiliary Systems</c:v>
                </c:pt>
                <c:pt idx="1">
                  <c:v>200 Propulsion Plant</c:v>
                </c:pt>
                <c:pt idx="2">
                  <c:v>300 Electric Plant</c:v>
                </c:pt>
                <c:pt idx="3">
                  <c:v>U00 No SWBS Evidence</c:v>
                </c:pt>
                <c:pt idx="4">
                  <c:v>600 Outfit &amp; Furnishings</c:v>
                </c:pt>
                <c:pt idx="5">
                  <c:v>400 Command / Control</c:v>
                </c:pt>
                <c:pt idx="6">
                  <c:v>100 Hull Structure</c:v>
                </c:pt>
                <c:pt idx="7">
                  <c:v>Other / Cross-cutting</c:v>
                </c:pt>
              </c:strCache>
            </c:strRef>
          </c:cat>
          <c:val>
            <c:numRef>
              <c:f>Sheet1!$B$2:$B$9</c:f>
              <c:numCache>
                <c:formatCode>#,##0"M"</c:formatCode>
                <c:ptCount val="8"/>
                <c:pt idx="0">
                  <c:v>1106</c:v>
                </c:pt>
                <c:pt idx="1">
                  <c:v>1094</c:v>
                </c:pt>
                <c:pt idx="2">
                  <c:v>896</c:v>
                </c:pt>
                <c:pt idx="3">
                  <c:v>684</c:v>
                </c:pt>
                <c:pt idx="4">
                  <c:v>73</c:v>
                </c:pt>
                <c:pt idx="5">
                  <c:v>56</c:v>
                </c:pt>
                <c:pt idx="6">
                  <c:v>28</c:v>
                </c:pt>
                <c:pt idx="7">
                  <c:v>21</c:v>
                </c:pt>
              </c:numCache>
            </c:numRef>
          </c:val>
        </c:ser>
        <c:gapWidth val="60"/>
        <c:overlap val="0"/>
        <c:axId val="111111111"/>
        <c:axId val="222222222"/>
      </c:barChart>
      <c:catAx>
        <c:axId val="111111111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9525" cap="flat">
            <a:solidFill>
              <a:srgbClr val="000000"/>
            </a:solidFill>
            <a:prstDash val="solid"/>
          </a:ln>
        </c:spPr>
        <c:txPr>
          <a:bodyPr rot="0" spcFirstLastPara="1" vertOverflow="ellipsis" wrap="square" anchor="ctr" anchorCtr="1"/>
          <a:lstStyle/>
          <a:p>
            <a:pPr>
              <a:defRPr sz="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222222222"/>
        <c:crosses val="autoZero"/>
        <c:auto val="1"/>
        <c:lblAlgn val="ctr"/>
        <c:lblOffset val="100"/>
        <c:noMultiLvlLbl val="0"/>
      </c:catAx>
      <c:valAx>
        <c:axId val="222222222"/>
        <c:scaling>
          <c:orientation val="minMax"/>
          <c:max val="1250"/>
          <c:min val="0"/>
        </c:scaling>
        <c:delete val="0"/>
        <c:axPos val="b"/>
        <c:numFmt formatCode="#,##0&quot;M&quot;" sourceLinked="0"/>
        <c:majorTickMark val="none"/>
        <c:minorTickMark val="none"/>
        <c:tickLblPos val="none"/>
        <c:spPr>
          <a:ln>
            <a:noFill/>
          </a:ln>
        </c:spPr>
        <c:txPr>
          <a:bodyPr rot="0" spcFirstLastPara="1" vertOverflow="ellipsis" wrap="square" anchor="ctr" anchorCtr="1"/>
          <a:lstStyle/>
          <a:p>
            <a:pPr>
              <a:defRPr sz="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111111111"/>
        <c:crosses val="autoZero"/>
        <c:crossBetween val="between"/>
        <c:majorUnit val="250"/>
      </c:valAx>
    </c:plotArea>
    <c:plotVisOnly val="1"/>
    <c:dispBlanksAs val="gap"/>
  </c:chart>
  <c:externalData r:id="rId1">
    <c:autoUpdate val="0"/>
  </c:externalData>
</c:chartSpac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04820" cy="462612"/>
          </a:xfrm>
          <a:prstGeom prst="rect">
            <a:avLst/>
          </a:prstGeom>
        </p:spPr>
        <p:txBody>
          <a:bodyPr vert="horz" lIns="92307" tIns="46153" rIns="92307" bIns="46153" rtlCol="0"/>
          <a:lstStyle>
            <a:lvl1pPr algn="l">
              <a:defRPr sz="1200"/>
            </a:lvl1pPr>
          </a:lstStyle>
          <a:p>
            <a:endParaRPr lang="en-US">
              <a:latin typeface="Arial" panose="020B0604020202020204" pitchFamily="34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27776" y="0"/>
            <a:ext cx="3004820" cy="462612"/>
          </a:xfrm>
          <a:prstGeom prst="rect">
            <a:avLst/>
          </a:prstGeom>
        </p:spPr>
        <p:txBody>
          <a:bodyPr vert="horz" lIns="92307" tIns="46153" rIns="92307" bIns="46153" rtlCol="0"/>
          <a:lstStyle>
            <a:lvl1pPr algn="r">
              <a:defRPr sz="1200"/>
            </a:lvl1pPr>
          </a:lstStyle>
          <a:p>
            <a:fld id="{8ACBDEED-51C7-9D44-8B0E-E5493C8A1496}" type="datetimeFigureOut">
              <a:rPr lang="en-US">
                <a:latin typeface="Arial" panose="020B0604020202020204" pitchFamily="34" charset="0"/>
              </a:rPr>
              <a:t>5/15/2026</a:t>
            </a:fld>
            <a:endParaRPr lang="en-US">
              <a:latin typeface="Arial" panose="020B0604020202020204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757591"/>
            <a:ext cx="3004820" cy="462611"/>
          </a:xfrm>
          <a:prstGeom prst="rect">
            <a:avLst/>
          </a:prstGeom>
        </p:spPr>
        <p:txBody>
          <a:bodyPr vert="horz" lIns="92307" tIns="46153" rIns="92307" bIns="46153" rtlCol="0" anchor="b"/>
          <a:lstStyle>
            <a:lvl1pPr algn="l">
              <a:defRPr sz="1200"/>
            </a:lvl1pPr>
          </a:lstStyle>
          <a:p>
            <a:endParaRPr lang="en-US">
              <a:latin typeface="Arial" panose="020B0604020202020204" pitchFamily="34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27776" y="8757591"/>
            <a:ext cx="3004820" cy="462611"/>
          </a:xfrm>
          <a:prstGeom prst="rect">
            <a:avLst/>
          </a:prstGeom>
        </p:spPr>
        <p:txBody>
          <a:bodyPr vert="horz" lIns="92307" tIns="46153" rIns="92307" bIns="46153" rtlCol="0" anchor="b"/>
          <a:lstStyle>
            <a:lvl1pPr algn="r">
              <a:defRPr sz="1200"/>
            </a:lvl1pPr>
          </a:lstStyle>
          <a:p>
            <a:fld id="{89B20CC8-1D49-1F4A-B7DF-0C6E98397D09}" type="slidenum">
              <a:rPr>
                <a:latin typeface="Arial" panose="020B0604020202020204" pitchFamily="34" charset="0"/>
              </a:rPr>
              <a:t>‹#›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022943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o not remove" hidden="1"/>
          <p:cNvSpPr/>
          <p:nvPr userDrawn="1"/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53080" y="5640670"/>
            <a:ext cx="7776391" cy="473423"/>
          </a:xfrm>
        </p:spPr>
        <p:txBody>
          <a:bodyPr anchor="t"/>
          <a:lstStyle>
            <a:lvl1pPr>
              <a:defRPr sz="1600">
                <a:solidFill>
                  <a:schemeClr val="bg2"/>
                </a:solidFill>
              </a:defRPr>
            </a:lvl1pPr>
          </a:lstStyle>
          <a:p>
            <a:r>
              <a:rPr lang="en-US"/>
              <a:t>Date (16 PT)</a:t>
            </a:r>
          </a:p>
        </p:txBody>
      </p:sp>
      <p:cxnSp>
        <p:nvCxnSpPr>
          <p:cNvPr id="12" name="Straight Connector 11"/>
          <p:cNvCxnSpPr/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635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 userDrawn="1"/>
        </p:nvSpPr>
        <p:spPr>
          <a:xfrm>
            <a:off x="4220848" y="6521083"/>
            <a:ext cx="37503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SARONIC PROPRIETARY AND CONFIDENTIAL</a:t>
            </a:r>
          </a:p>
        </p:txBody>
      </p:sp>
      <p:sp>
        <p:nvSpPr>
          <p:cNvPr id="9" name="Rectangle 8"/>
          <p:cNvSpPr/>
          <p:nvPr userDrawn="1"/>
        </p:nvSpPr>
        <p:spPr>
          <a:xfrm>
            <a:off x="0" y="3429000"/>
            <a:ext cx="0" cy="136506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 Placeholder 26"/>
          <p:cNvSpPr>
            <a:spLocks noGrp="1"/>
          </p:cNvSpPr>
          <p:nvPr>
            <p:ph type="body" sz="quarter" idx="12" hasCustomPrompt="1"/>
          </p:nvPr>
        </p:nvSpPr>
        <p:spPr>
          <a:xfrm>
            <a:off x="453080" y="3260838"/>
            <a:ext cx="7776399" cy="21621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Title (36 PT)</a:t>
            </a:r>
          </a:p>
        </p:txBody>
      </p:sp>
      <p:grpSp>
        <p:nvGrpSpPr>
          <p:cNvPr id="4" name="Group 3"/>
          <p:cNvGrpSpPr/>
          <p:nvPr userDrawn="1"/>
        </p:nvGrpSpPr>
        <p:grpSpPr>
          <a:xfrm>
            <a:off x="453080" y="743907"/>
            <a:ext cx="11230920" cy="1637662"/>
            <a:chOff x="588922" y="596464"/>
            <a:chExt cx="10697007" cy="1559809"/>
          </a:xfrm>
        </p:grpSpPr>
        <p:pic>
          <p:nvPicPr>
            <p:cNvPr id="5" name="Graphic 4"/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88922" y="596464"/>
              <a:ext cx="7799041" cy="1559809"/>
            </a:xfrm>
            <a:prstGeom prst="rect">
              <a:avLst/>
            </a:prstGeom>
          </p:spPr>
        </p:pic>
        <p:pic>
          <p:nvPicPr>
            <p:cNvPr id="6" name="Graphic 5"/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980882" y="913377"/>
              <a:ext cx="2305047" cy="91439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071211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o not remove" hidden="1"/>
          <p:cNvSpPr/>
          <p:nvPr userDrawn="1"/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 userDrawn="1"/>
        </p:nvSpPr>
        <p:spPr>
          <a:xfrm>
            <a:off x="4220848" y="6521083"/>
            <a:ext cx="37503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SARONIC PROPRIETARY AND CONFIDENTIAL</a:t>
            </a:r>
          </a:p>
        </p:txBody>
      </p:sp>
      <p:sp>
        <p:nvSpPr>
          <p:cNvPr id="7" name="Text Placeholder 26"/>
          <p:cNvSpPr>
            <a:spLocks noGrp="1"/>
          </p:cNvSpPr>
          <p:nvPr>
            <p:ph type="body" sz="quarter" idx="11" hasCustomPrompt="1"/>
          </p:nvPr>
        </p:nvSpPr>
        <p:spPr>
          <a:xfrm>
            <a:off x="453082" y="2383743"/>
            <a:ext cx="9153537" cy="2105200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Section Divider Title (36 PT)</a:t>
            </a:r>
          </a:p>
        </p:txBody>
      </p:sp>
      <p:sp>
        <p:nvSpPr>
          <p:cNvPr id="8" name="Text Placeholder 26"/>
          <p:cNvSpPr>
            <a:spLocks noGrp="1"/>
          </p:cNvSpPr>
          <p:nvPr>
            <p:ph type="body" sz="quarter" idx="12" hasCustomPrompt="1"/>
          </p:nvPr>
        </p:nvSpPr>
        <p:spPr>
          <a:xfrm>
            <a:off x="453082" y="4715093"/>
            <a:ext cx="9153537" cy="499503"/>
          </a:xfr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 sz="16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Subsections / Headline Paragraph (16 PT)</a:t>
            </a:r>
          </a:p>
        </p:txBody>
      </p:sp>
      <p:pic>
        <p:nvPicPr>
          <p:cNvPr id="29" name="Graphic 28"/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5439" y="6477927"/>
            <a:ext cx="226315" cy="301753"/>
          </a:xfrm>
          <a:prstGeom prst="rect">
            <a:avLst/>
          </a:prstGeom>
        </p:spPr>
      </p:pic>
      <p:sp>
        <p:nvSpPr>
          <p:cNvPr id="2" name="TextBox 1"/>
          <p:cNvSpPr txBox="1"/>
          <p:nvPr userDrawn="1"/>
        </p:nvSpPr>
        <p:spPr>
          <a:xfrm>
            <a:off x="11724460" y="6567249"/>
            <a:ext cx="46753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fld id="{F8FBCD80-1BA2-9C4B-8FD8-FBEEFF13001D}" type="slidenum">
              <a:rPr lang="en-US" sz="800" smtClean="0">
                <a:solidFill>
                  <a:schemeClr val="accent4"/>
                </a:solidFill>
              </a:rPr>
              <a:pPr algn="ctr"/>
              <a:t>‹#›</a:t>
            </a:fld>
            <a:endParaRPr lang="en-US" sz="80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90492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0% Bloc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o not remove" hidden="1"/>
          <p:cNvSpPr/>
          <p:nvPr userDrawn="1"/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 userDrawn="1"/>
        </p:nvSpPr>
        <p:spPr>
          <a:xfrm>
            <a:off x="0" y="0"/>
            <a:ext cx="6096000" cy="640079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5838" y="566400"/>
            <a:ext cx="5181827" cy="566928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Title (20 PT)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455460" y="263452"/>
            <a:ext cx="4874834" cy="1538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buNone/>
              <a:defRPr sz="10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Category / Description (10 PT)</a:t>
            </a:r>
          </a:p>
        </p:txBody>
      </p:sp>
      <p:sp>
        <p:nvSpPr>
          <p:cNvPr id="3" name="Content Placeholder 5"/>
          <p:cNvSpPr>
            <a:spLocks noGrp="1"/>
          </p:cNvSpPr>
          <p:nvPr>
            <p:ph sz="quarter" idx="15" hasCustomPrompt="1"/>
          </p:nvPr>
        </p:nvSpPr>
        <p:spPr>
          <a:xfrm>
            <a:off x="6552217" y="1424682"/>
            <a:ext cx="5182583" cy="4712658"/>
          </a:xfrm>
        </p:spPr>
        <p:txBody>
          <a:bodyPr/>
          <a:lstStyle/>
          <a:p>
            <a:pPr lvl="0"/>
            <a:r>
              <a:rPr lang="en-US"/>
              <a:t>Click to edit Content (12 PT)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6" hasCustomPrompt="1"/>
          </p:nvPr>
        </p:nvSpPr>
        <p:spPr>
          <a:xfrm>
            <a:off x="455460" y="1424682"/>
            <a:ext cx="5181827" cy="4712657"/>
          </a:xfrm>
        </p:spPr>
        <p:txBody>
          <a:bodyPr/>
          <a:lstStyle>
            <a:lvl1pPr>
              <a:buClr>
                <a:schemeClr val="bg2"/>
              </a:buClr>
              <a:defRPr>
                <a:solidFill>
                  <a:schemeClr val="bg2"/>
                </a:solidFill>
              </a:defRPr>
            </a:lvl1pPr>
            <a:lvl2pPr>
              <a:buClr>
                <a:schemeClr val="bg2"/>
              </a:buClr>
              <a:defRPr>
                <a:solidFill>
                  <a:schemeClr val="bg2"/>
                </a:solidFill>
              </a:defRPr>
            </a:lvl2pPr>
            <a:lvl3pPr>
              <a:buClr>
                <a:schemeClr val="bg2"/>
              </a:buClr>
              <a:defRPr>
                <a:solidFill>
                  <a:schemeClr val="bg2"/>
                </a:solidFill>
              </a:defRPr>
            </a:lvl3pPr>
            <a:lvl4pPr>
              <a:buClr>
                <a:schemeClr val="bg2"/>
              </a:buClr>
              <a:defRPr>
                <a:solidFill>
                  <a:schemeClr val="bg2"/>
                </a:solidFill>
              </a:defRPr>
            </a:lvl4pPr>
            <a:lvl5pPr>
              <a:buClr>
                <a:schemeClr val="bg2"/>
              </a:buCl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Content (12 PT)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596963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o not remove" hidden="1"/>
          <p:cNvSpPr/>
          <p:nvPr userDrawn="1"/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452701" y="263452"/>
            <a:ext cx="4874834" cy="1538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buNone/>
              <a:defRPr sz="1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Category / Description (10 PT)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3079" y="566400"/>
            <a:ext cx="11282099" cy="5669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Title (20 PT)</a:t>
            </a:r>
          </a:p>
        </p:txBody>
      </p:sp>
    </p:spTree>
    <p:extLst>
      <p:ext uri="{BB962C8B-B14F-4D97-AF65-F5344CB8AC3E}">
        <p14:creationId xmlns:p14="http://schemas.microsoft.com/office/powerpoint/2010/main" val="36652981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 not remove" hidden="1"/>
          <p:cNvSpPr/>
          <p:nvPr userDrawn="1"/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7125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Gloss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ags" Target="../tags/tag1.xml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svg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emf"/><Relationship Id="rId4" Type="http://schemas.openxmlformats.org/officeDocument/2006/relationships/slideLayout" Target="../slideLayouts/slideLayout4.xml"/><Relationship Id="rId9" Type="http://schemas.openxmlformats.org/officeDocument/2006/relationships/oleObject" Target="../embeddings/oleObject1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D5435E64-C67E-B7D2-F1D2-3FF5E4CADA9A}"/>
              </a:ext>
            </a:extLst>
          </p:cNvPr>
          <p:cNvGraphicFramePr>
            <a:graphicFrameLocks/>
          </p:cNvGraphicFramePr>
          <p:nvPr userDrawn="1">
            <p:custDataLst>
              <p:tags r:id="rId8"/>
            </p:custDataLst>
            <p:extLst>
              <p:ext uri="{D42A27DB-BD31-4B8C-83A1-F6EECF244321}">
                <p14:modId xmlns:p14="http://schemas.microsoft.com/office/powerpoint/2010/main" val="129009287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04" imgH="405" progId="TCLayout.ActiveDocument.1">
                  <p:embed/>
                </p:oleObj>
              </mc:Choice>
              <mc:Fallback>
                <p:oleObj name="think-cell Slide" r:id="rId9" imgW="404" imgH="405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2702" y="566399"/>
            <a:ext cx="11282100" cy="566919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/>
              <a:t>Click to edit Master Title (20 PT)</a:t>
            </a:r>
            <a:br>
              <a:rPr lang="en-US"/>
            </a:br>
            <a:br>
              <a:rPr lang="en-US"/>
            </a:br>
            <a:endParaRPr lang="en-US"/>
          </a:p>
        </p:txBody>
      </p:sp>
      <p:cxnSp>
        <p:nvCxnSpPr>
          <p:cNvPr id="10" name="Straight Connector 9"/>
          <p:cNvCxnSpPr/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635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 Placeholder 25"/>
          <p:cNvSpPr>
            <a:spLocks noGrp="1"/>
          </p:cNvSpPr>
          <p:nvPr>
            <p:ph type="body" idx="1"/>
          </p:nvPr>
        </p:nvSpPr>
        <p:spPr>
          <a:xfrm>
            <a:off x="452701" y="1424682"/>
            <a:ext cx="11282099" cy="471265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 (12 PT)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Box 10"/>
          <p:cNvSpPr txBox="1"/>
          <p:nvPr userDrawn="1"/>
        </p:nvSpPr>
        <p:spPr>
          <a:xfrm>
            <a:off x="4220848" y="6521083"/>
            <a:ext cx="37503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SARONIC PROPRIETARY AND CONFIDENTIAL</a:t>
            </a:r>
          </a:p>
        </p:txBody>
      </p:sp>
      <p:sp>
        <p:nvSpPr>
          <p:cNvPr id="12" name="TextBox 11"/>
          <p:cNvSpPr txBox="1"/>
          <p:nvPr userDrawn="1"/>
        </p:nvSpPr>
        <p:spPr>
          <a:xfrm>
            <a:off x="11724460" y="6567249"/>
            <a:ext cx="46753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fld id="{F8FBCD80-1BA2-9C4B-8FD8-FBEEFF13001D}" type="slidenum">
              <a:rPr lang="en-US" sz="800" smtClean="0">
                <a:solidFill>
                  <a:schemeClr val="tx2"/>
                </a:solidFill>
              </a:rPr>
              <a:pPr algn="ctr"/>
              <a:t>‹#›</a:t>
            </a:fld>
            <a:endParaRPr lang="en-US" sz="800">
              <a:solidFill>
                <a:schemeClr val="tx2"/>
              </a:solidFill>
            </a:endParaRPr>
          </a:p>
        </p:txBody>
      </p:sp>
      <p:cxnSp>
        <p:nvCxnSpPr>
          <p:cNvPr id="20" name="Straight Connector 19"/>
          <p:cNvCxnSpPr>
            <a:cxnSpLocks/>
          </p:cNvCxnSpPr>
          <p:nvPr userDrawn="1"/>
        </p:nvCxnSpPr>
        <p:spPr>
          <a:xfrm>
            <a:off x="457193" y="6400800"/>
            <a:ext cx="0" cy="457200"/>
          </a:xfrm>
          <a:prstGeom prst="line">
            <a:avLst/>
          </a:prstGeom>
          <a:ln w="635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>
            <a:cxnSpLocks/>
          </p:cNvCxnSpPr>
          <p:nvPr userDrawn="1"/>
        </p:nvCxnSpPr>
        <p:spPr>
          <a:xfrm>
            <a:off x="11724461" y="6400800"/>
            <a:ext cx="0" cy="457200"/>
          </a:xfrm>
          <a:prstGeom prst="line">
            <a:avLst/>
          </a:prstGeom>
          <a:ln w="635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9" name="Graphic 28"/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5439" y="6477927"/>
            <a:ext cx="226315" cy="301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39798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54" r:id="rId2"/>
    <p:sldLayoutId id="2147483658" r:id="rId3"/>
    <p:sldLayoutId id="2147483661" r:id="rId4"/>
    <p:sldLayoutId id="2147483691" r:id="rId5"/>
    <p:sldLayoutId id="2147483696" r:id="rId6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0650" indent="-120650" algn="l" defTabSz="914400" rtl="0" eaLnBrk="1" latinLnBrk="0" hangingPunct="1">
        <a:lnSpc>
          <a:spcPct val="100000"/>
        </a:lnSpc>
        <a:spcBef>
          <a:spcPts val="800"/>
        </a:spcBef>
        <a:buClr>
          <a:schemeClr val="tx2"/>
        </a:buClr>
        <a:buSzPct val="120000"/>
        <a:buFont typeface="Arial" panose="020B0604020202020204" pitchFamily="34" charset="0"/>
        <a:buChar char="•"/>
        <a:tabLst/>
        <a:defRPr sz="1200" kern="1200">
          <a:solidFill>
            <a:schemeClr val="tx2"/>
          </a:solidFill>
          <a:latin typeface="+mn-lt"/>
          <a:ea typeface="+mn-ea"/>
          <a:cs typeface="+mn-cs"/>
        </a:defRPr>
      </a:lvl1pPr>
      <a:lvl2pPr marL="233363" indent="-117475" algn="l" defTabSz="914400" rtl="0" eaLnBrk="1" latinLnBrk="0" hangingPunct="1">
        <a:lnSpc>
          <a:spcPct val="100000"/>
        </a:lnSpc>
        <a:spcBef>
          <a:spcPts val="800"/>
        </a:spcBef>
        <a:buClr>
          <a:schemeClr val="tx2"/>
        </a:buClr>
        <a:buSzPct val="120000"/>
        <a:buFont typeface="Arial" panose="020B0604020202020204" pitchFamily="34" charset="0"/>
        <a:buChar char="-"/>
        <a:tabLst/>
        <a:defRPr sz="1200" kern="1200">
          <a:solidFill>
            <a:schemeClr val="tx2"/>
          </a:solidFill>
          <a:latin typeface="+mn-lt"/>
          <a:ea typeface="+mn-ea"/>
          <a:cs typeface="+mn-cs"/>
        </a:defRPr>
      </a:lvl2pPr>
      <a:lvl3pPr marL="350838" indent="-117475" algn="l" defTabSz="914400" rtl="0" eaLnBrk="1" latinLnBrk="0" hangingPunct="1">
        <a:lnSpc>
          <a:spcPct val="100000"/>
        </a:lnSpc>
        <a:spcBef>
          <a:spcPts val="800"/>
        </a:spcBef>
        <a:buClr>
          <a:schemeClr val="tx2"/>
        </a:buClr>
        <a:buSzPct val="90000"/>
        <a:buFont typeface="Wingdings" pitchFamily="2" charset="2"/>
        <a:buChar char="§"/>
        <a:tabLst/>
        <a:defRPr sz="1200" kern="1200">
          <a:solidFill>
            <a:schemeClr val="tx2"/>
          </a:solidFill>
          <a:latin typeface="+mn-lt"/>
          <a:ea typeface="+mn-ea"/>
          <a:cs typeface="+mn-cs"/>
        </a:defRPr>
      </a:lvl3pPr>
      <a:lvl4pPr marL="463550" indent="-111125" algn="l" defTabSz="914400" rtl="0" eaLnBrk="1" latinLnBrk="0" hangingPunct="1">
        <a:lnSpc>
          <a:spcPct val="100000"/>
        </a:lnSpc>
        <a:spcBef>
          <a:spcPts val="800"/>
        </a:spcBef>
        <a:buSzPct val="90000"/>
        <a:buFont typeface="Wingdings" pitchFamily="2" charset="2"/>
        <a:buChar char="§"/>
        <a:tabLst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573088" indent="-109538" algn="l" defTabSz="914400" rtl="0" eaLnBrk="1" latinLnBrk="0" hangingPunct="1">
        <a:lnSpc>
          <a:spcPct val="100000"/>
        </a:lnSpc>
        <a:spcBef>
          <a:spcPts val="800"/>
        </a:spcBef>
        <a:buSzPct val="90000"/>
        <a:buFont typeface="Wingdings" pitchFamily="2" charset="2"/>
        <a:buChar char="§"/>
        <a:tabLst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DDG-51 Outsourcing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Market Sizing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DDG-51 Outsourced TAM Profile | $6.4B FY22-FY27 modeled TAM, but annual demand is lumpy and FY26 is overlay-driven.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32214" y="158582"/>
            <a:ext cx="1467986" cy="198438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100" name="ChartTitle"/>
          <p:cNvSpPr txBox="1"/>
          <p:nvPr/>
        </p:nvSpPr>
        <p:spPr>
          <a:xfrm>
            <a:off x="534924" y="1376172"/>
            <a:ext cx="6400800" cy="187452"/>
          </a:xfrm>
          <a:prstGeom prst="rect">
            <a:avLst/>
          </a:prstGeom>
          <a:noFill/>
          <a:ln>
            <a:noFill/>
          </a:ln>
        </p:spPr>
        <p:txBody>
          <a:bodyPr wrap="none" anchor="b" lIns="0" tIns="0" rIns="0" bIns="0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Modeled DDG-51 outsourced TAM by stream vs. observed reported subawards ($M, FY26$)</a:t>
            </a:r>
          </a:p>
        </p:txBody>
      </p:sp>
      <p:graphicFrame>
        <p:nvGraphicFramePr>
          <p:cNvPr id="101" name="DDG51TAMProfileChart"/>
          <p:cNvGraphicFramePr/>
          <p:nvPr/>
        </p:nvGraphicFramePr>
        <p:xfrm>
          <a:off x="493776" y="1618488"/>
          <a:ext cx="6492240" cy="31821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02" name="BarTotalLabel"/>
          <p:cNvSpPr txBox="1"/>
          <p:nvPr/>
        </p:nvSpPr>
        <p:spPr>
          <a:xfrm>
            <a:off x="1226325" y="3760266"/>
            <a:ext cx="466344" cy="137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anchor="ctr" lIns="0" tIns="0" rIns="0" bIns="0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$474M</a:t>
            </a:r>
          </a:p>
        </p:txBody>
      </p:sp>
      <p:sp>
        <p:nvSpPr>
          <p:cNvPr id="103" name="BarTotalLabel"/>
          <p:cNvSpPr txBox="1"/>
          <p:nvPr/>
        </p:nvSpPr>
        <p:spPr>
          <a:xfrm>
            <a:off x="2183930" y="2869853"/>
            <a:ext cx="466344" cy="137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anchor="ctr" lIns="0" tIns="0" rIns="0" bIns="0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$1.23B</a:t>
            </a:r>
          </a:p>
        </p:txBody>
      </p:sp>
      <p:sp>
        <p:nvSpPr>
          <p:cNvPr id="104" name="BarTotalLabel"/>
          <p:cNvSpPr txBox="1"/>
          <p:nvPr/>
        </p:nvSpPr>
        <p:spPr>
          <a:xfrm>
            <a:off x="3141536" y="3291628"/>
            <a:ext cx="466344" cy="137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anchor="ctr" lIns="0" tIns="0" rIns="0" bIns="0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$874M</a:t>
            </a:r>
          </a:p>
        </p:txBody>
      </p:sp>
      <p:sp>
        <p:nvSpPr>
          <p:cNvPr id="105" name="BarTotalLabel"/>
          <p:cNvSpPr txBox="1"/>
          <p:nvPr/>
        </p:nvSpPr>
        <p:spPr>
          <a:xfrm>
            <a:off x="4099141" y="2867510"/>
            <a:ext cx="466344" cy="137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anchor="ctr" lIns="0" tIns="0" rIns="0" bIns="0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$1.24B</a:t>
            </a:r>
          </a:p>
        </p:txBody>
      </p:sp>
      <p:sp>
        <p:nvSpPr>
          <p:cNvPr id="106" name="BarTotalLabel"/>
          <p:cNvSpPr txBox="1"/>
          <p:nvPr/>
        </p:nvSpPr>
        <p:spPr>
          <a:xfrm>
            <a:off x="5056746" y="2055594"/>
            <a:ext cx="466344" cy="137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anchor="ctr" lIns="0" tIns="0" rIns="0" bIns="0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$1.93B</a:t>
            </a:r>
          </a:p>
        </p:txBody>
      </p:sp>
      <p:sp>
        <p:nvSpPr>
          <p:cNvPr id="107" name="BarTotalLabel"/>
          <p:cNvSpPr txBox="1"/>
          <p:nvPr/>
        </p:nvSpPr>
        <p:spPr>
          <a:xfrm>
            <a:off x="6014352" y="3525947"/>
            <a:ext cx="466344" cy="137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anchor="ctr" lIns="0" tIns="0" rIns="0" bIns="0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$674M</a:t>
            </a:r>
          </a:p>
        </p:txBody>
      </p:sp>
      <p:sp>
        <p:nvSpPr>
          <p:cNvPr id="108" name="LegendSwatch"/>
          <p:cNvSpPr txBox="1"/>
          <p:nvPr/>
        </p:nvSpPr>
        <p:spPr>
          <a:xfrm>
            <a:off x="754380" y="4933188"/>
            <a:ext cx="146304" cy="100584"/>
          </a:xfrm>
          <a:prstGeom prst="rect">
            <a:avLst/>
          </a:prstGeom>
          <a:solidFill>
            <a:srgbClr val="364D6E"/>
          </a:solidFill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endParaRPr lang="en-US"/>
          </a:p>
        </p:txBody>
      </p:sp>
      <p:sp>
        <p:nvSpPr>
          <p:cNvPr id="109" name="LegendLabel"/>
          <p:cNvSpPr txBox="1"/>
          <p:nvPr/>
        </p:nvSpPr>
        <p:spPr>
          <a:xfrm>
            <a:off x="941832" y="4905756"/>
            <a:ext cx="960120" cy="155448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/>
          <a:lstStyle/>
          <a:p>
            <a:pPr marL="0" indent="0">
              <a:lnSpc>
                <a:spcPct val="100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BC stream</a:t>
            </a:r>
          </a:p>
        </p:txBody>
      </p:sp>
      <p:sp>
        <p:nvSpPr>
          <p:cNvPr id="110" name="LegendSwatch"/>
          <p:cNvSpPr txBox="1"/>
          <p:nvPr/>
        </p:nvSpPr>
        <p:spPr>
          <a:xfrm>
            <a:off x="1906524" y="4933188"/>
            <a:ext cx="146304" cy="100584"/>
          </a:xfrm>
          <a:prstGeom prst="rect">
            <a:avLst/>
          </a:prstGeom>
          <a:solidFill>
            <a:srgbClr val="6F8DB9"/>
          </a:solidFill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endParaRPr lang="en-US"/>
          </a:p>
        </p:txBody>
      </p:sp>
      <p:sp>
        <p:nvSpPr>
          <p:cNvPr id="111" name="LegendLabel"/>
          <p:cNvSpPr txBox="1"/>
          <p:nvPr/>
        </p:nvSpPr>
        <p:spPr>
          <a:xfrm>
            <a:off x="2093976" y="4905756"/>
            <a:ext cx="1298448" cy="155448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/>
          <a:lstStyle/>
          <a:p>
            <a:pPr marL="0" indent="0">
              <a:lnSpc>
                <a:spcPct val="100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OBBBA mandatory</a:t>
            </a:r>
          </a:p>
        </p:txBody>
      </p:sp>
      <p:sp>
        <p:nvSpPr>
          <p:cNvPr id="112" name="LegendSwatch"/>
          <p:cNvSpPr txBox="1"/>
          <p:nvPr/>
        </p:nvSpPr>
        <p:spPr>
          <a:xfrm>
            <a:off x="3552444" y="4933188"/>
            <a:ext cx="146304" cy="100584"/>
          </a:xfrm>
          <a:prstGeom prst="rect">
            <a:avLst/>
          </a:prstGeom>
          <a:solidFill>
            <a:srgbClr val="BFBFBF"/>
          </a:solidFill>
          <a:ln w="635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endParaRPr lang="en-US"/>
          </a:p>
        </p:txBody>
      </p:sp>
      <p:sp>
        <p:nvSpPr>
          <p:cNvPr id="113" name="LegendLabel"/>
          <p:cNvSpPr txBox="1"/>
          <p:nvPr/>
        </p:nvSpPr>
        <p:spPr>
          <a:xfrm>
            <a:off x="3739896" y="4905756"/>
            <a:ext cx="1005840" cy="155448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/>
          <a:lstStyle/>
          <a:p>
            <a:pPr marL="0" indent="0">
              <a:lnSpc>
                <a:spcPct val="100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AP / LLTM</a:t>
            </a:r>
          </a:p>
        </p:txBody>
      </p:sp>
      <p:cxnSp>
        <p:nvCxnSpPr>
          <p:cNvPr id="114" name="SAMLegendLine"/>
          <p:cNvCxnSpPr/>
          <p:nvPr/>
        </p:nvCxnSpPr>
        <p:spPr>
          <a:xfrm>
            <a:off x="5020056" y="4983480"/>
            <a:ext cx="301752" cy="0"/>
          </a:xfrm>
          <a:prstGeom prst="line">
            <a:avLst/>
          </a:prstGeom>
          <a:ln w="19050">
            <a:solidFill>
              <a:srgbClr val="C30C3E"/>
            </a:solidFill>
          </a:ln>
        </p:spPr>
      </p:cxnSp>
      <p:sp>
        <p:nvSpPr>
          <p:cNvPr id="115" name="SAMLegendLabel"/>
          <p:cNvSpPr txBox="1"/>
          <p:nvPr/>
        </p:nvSpPr>
        <p:spPr>
          <a:xfrm>
            <a:off x="5394960" y="4905756"/>
            <a:ext cx="1298448" cy="155448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/>
          <a:lstStyle/>
          <a:p>
            <a:pPr marL="0" indent="0">
              <a:lnSpc>
                <a:spcPct val="100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Observed SAM</a:t>
            </a:r>
          </a:p>
        </p:txBody>
      </p:sp>
      <p:sp>
        <p:nvSpPr>
          <p:cNvPr id="116" name="KpiValueCard"/>
          <p:cNvSpPr txBox="1"/>
          <p:nvPr/>
        </p:nvSpPr>
        <p:spPr>
          <a:xfrm>
            <a:off x="7333488" y="1426464"/>
            <a:ext cx="1298448" cy="640080"/>
          </a:xfrm>
          <a:prstGeom prst="rect">
            <a:avLst/>
          </a:prstGeom>
          <a:solidFill>
            <a:srgbClr val="CEDDEC"/>
          </a:solidFill>
          <a:ln>
            <a:noFill/>
          </a:ln>
        </p:spPr>
        <p:txBody>
          <a:bodyPr wrap="square" anchor="ctr" lIns="91440" tIns="45720" rIns="91440" bIns="45720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$6.42B</a:t>
            </a:r>
          </a:p>
        </p:txBody>
      </p:sp>
      <p:sp>
        <p:nvSpPr>
          <p:cNvPr id="117" name="KpiQualifier"/>
          <p:cNvSpPr txBox="1"/>
          <p:nvPr/>
        </p:nvSpPr>
        <p:spPr>
          <a:xfrm>
            <a:off x="8705088" y="1426464"/>
            <a:ext cx="2916936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FY22-FY27 modeled outsourced TAM across all streams</a:t>
            </a:r>
          </a:p>
        </p:txBody>
      </p:sp>
      <p:sp>
        <p:nvSpPr>
          <p:cNvPr id="118" name="KpiValueCard"/>
          <p:cNvSpPr txBox="1"/>
          <p:nvPr/>
        </p:nvSpPr>
        <p:spPr>
          <a:xfrm>
            <a:off x="7333488" y="2189988"/>
            <a:ext cx="1298448" cy="640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anchor="ctr" lIns="91440" tIns="45720" rIns="91440" bIns="45720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$1.07B/yr</a:t>
            </a:r>
          </a:p>
        </p:txBody>
      </p:sp>
      <p:sp>
        <p:nvSpPr>
          <p:cNvPr id="119" name="KpiQualifier"/>
          <p:cNvSpPr txBox="1"/>
          <p:nvPr/>
        </p:nvSpPr>
        <p:spPr>
          <a:xfrm>
            <a:off x="8705088" y="2189988"/>
            <a:ext cx="2916936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average annual modeled TAM over FY22-FY27</a:t>
            </a:r>
          </a:p>
        </p:txBody>
      </p:sp>
      <p:sp>
        <p:nvSpPr>
          <p:cNvPr id="120" name="KpiValueCard"/>
          <p:cNvSpPr txBox="1"/>
          <p:nvPr/>
        </p:nvSpPr>
        <p:spPr>
          <a:xfrm>
            <a:off x="7333488" y="2953512"/>
            <a:ext cx="1298448" cy="640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anchor="ctr" lIns="91440" tIns="45720" rIns="91440" bIns="45720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~$412M</a:t>
            </a:r>
          </a:p>
        </p:txBody>
      </p:sp>
      <p:sp>
        <p:nvSpPr>
          <p:cNvPr id="121" name="KpiQualifier"/>
          <p:cNvSpPr txBox="1"/>
          <p:nvPr/>
        </p:nvSpPr>
        <p:spPr>
          <a:xfrm>
            <a:off x="8705088" y="2953512"/>
            <a:ext cx="2916936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FY25 per-hull TAM anchor from the 3-ship buy</a:t>
            </a:r>
          </a:p>
        </p:txBody>
      </p:sp>
      <p:sp>
        <p:nvSpPr>
          <p:cNvPr id="122" name="FY26OverlayCallout"/>
          <p:cNvSpPr txBox="1"/>
          <p:nvPr/>
        </p:nvSpPr>
        <p:spPr>
          <a:xfrm>
            <a:off x="7333488" y="3726180"/>
            <a:ext cx="4288536" cy="630936"/>
          </a:xfrm>
          <a:prstGeom prst="rect">
            <a:avLst/>
          </a:prstGeom>
          <a:solidFill>
            <a:srgbClr val="CEDDEC"/>
          </a:solidFill>
          <a:ln w="12700">
            <a:solidFill>
              <a:srgbClr val="162029"/>
            </a:solidFill>
          </a:ln>
        </p:spPr>
        <p:txBody>
          <a:bodyPr wrap="square" anchor="ctr" lIns="91440" tIns="45720" rIns="91440" bIns="45720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FY26E spike is overlay-driven</a:t>
            </a:r>
            <a:br/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$858M OBBBA + $1.0B AP/LLTM; BC stream only $71M</a:t>
            </a:r>
          </a:p>
        </p:txBody>
      </p:sp>
      <p:sp>
        <p:nvSpPr>
          <p:cNvPr id="123" name="MethodCue"/>
          <p:cNvSpPr txBox="1"/>
          <p:nvPr/>
        </p:nvSpPr>
        <p:spPr>
          <a:xfrm>
            <a:off x="7333488" y="4379976"/>
            <a:ext cx="4242816" cy="155448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TAM = modeled market lens; SAM = reported first-tier subaward subset</a:t>
            </a:r>
          </a:p>
        </p:txBody>
      </p:sp>
      <p:graphicFrame>
        <p:nvGraphicFramePr>
          <p:cNvPr id="124" name="OutyearRangeTable"/>
          <p:cNvGraphicFramePr>
            <a:graphicFrameLocks noGrp="1"/>
          </p:cNvGraphicFramePr>
          <p:nvPr/>
        </p:nvGraphicFramePr>
        <p:xfrm>
          <a:off x="7333488" y="4613148"/>
          <a:ext cx="4242816" cy="594360"/>
        </p:xfrm>
        <a:graphic>
          <a:graphicData uri="http://schemas.openxmlformats.org/drawingml/2006/table">
            <a:tbl>
              <a:tblPr firstRow="0" firstCol="0" bandRow="0">
                <a:tableStyleId>{2D5ABB26-0587-4C30-8999-92F81FD0307C}</a:tableStyleId>
              </a:tblPr>
              <a:tblGrid>
                <a:gridCol w="1060704"/>
                <a:gridCol w="1060704"/>
                <a:gridCol w="1060704"/>
                <a:gridCol w="1060704"/>
              </a:tblGrid>
              <a:tr h="155448">
                <a:tc gridSpan="4"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FY28-FY31E outsourced BC range</a:t>
                      </a:r>
                    </a:p>
                  </a:txBody>
                  <a:tcPr marL="30480" marR="30480" marT="15240" marB="1524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162029"/>
                      </a:solidFill>
                      <a:prstDash val="solid"/>
                    </a:lnT>
                    <a:lnB w="12700" cap="flat" cmpd="sng" algn="ctr">
                      <a:solidFill>
                        <a:srgbClr val="162029"/>
                      </a:solidFill>
                      <a:prstDash val="solid"/>
                    </a:lnB>
                    <a:solidFill>
                      <a:srgbClr val="16202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  <a:tr h="169164"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FY28E</a:t>
                      </a:r>
                    </a:p>
                  </a:txBody>
                  <a:tcPr marL="30480" marR="30480" marT="15240" marB="1524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FY29E</a:t>
                      </a:r>
                    </a:p>
                  </a:txBody>
                  <a:tcPr marL="30480" marR="30480" marT="15240" marB="1524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FY30E</a:t>
                      </a:r>
                    </a:p>
                  </a:txBody>
                  <a:tcPr marL="30480" marR="30480" marT="15240" marB="1524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FY31E</a:t>
                      </a:r>
                    </a:p>
                  </a:txBody>
                  <a:tcPr marL="30480" marR="30480" marT="15240" marB="1524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9D9D9"/>
                    </a:solidFill>
                  </a:tcPr>
                </a:tc>
              </a:tr>
              <a:tr h="251460"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$557-577M</a:t>
                      </a:r>
                    </a:p>
                  </a:txBody>
                  <a:tcPr marL="30480" marR="30480" marT="15240" marB="1524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$570-614M</a:t>
                      </a:r>
                    </a:p>
                  </a:txBody>
                  <a:tcPr marL="30480" marR="30480" marT="15240" marB="1524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$876-981M</a:t>
                      </a:r>
                    </a:p>
                  </a:txBody>
                  <a:tcPr marL="30480" marR="30480" marT="15240" marB="1524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$903-1,052M</a:t>
                      </a:r>
                    </a:p>
                  </a:txBody>
                  <a:tcPr marL="30480" marR="30480" marT="15240" marB="1524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</a:tr>
            </a:tbl>
          </a:graphicData>
        </a:graphic>
      </p:graphicFrame>
      <p:sp>
        <p:nvSpPr>
          <p:cNvPr id="9999" name="Source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Note: Modeled dollar amounts are analyst calculations using public sources; figures are constant FY2026 dollars and not stated directly in one public source. | Source: Department of the Navy FY2027 SCN justification book; DoD FY2027 P-1; GovInfo Public Law 119-21; FY2026 Mandatory Funding Allocation Plan; DoD Green Book deflators; DoD/Navy DDG-51 MYP announcements; USAspending/SAM.gov reported subaward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DDG-51 Outsourcing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Workshare Composition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DDG-51 Outsourced Workshare Mix | Observed outsourcing is systems/equipment-heavy; hull structure is a small observed signal.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32214" y="158582"/>
            <a:ext cx="1467986" cy="198438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100" name="ChartTitle"/>
          <p:cNvSpPr txBox="1"/>
          <p:nvPr/>
        </p:nvSpPr>
        <p:spPr>
          <a:xfrm>
            <a:off x="534924" y="1376172"/>
            <a:ext cx="6309360" cy="187452"/>
          </a:xfrm>
          <a:prstGeom prst="rect">
            <a:avLst/>
          </a:prstGeom>
          <a:noFill/>
          <a:ln>
            <a:noFill/>
          </a:ln>
        </p:spPr>
        <p:txBody>
          <a:bodyPr wrap="none" anchor="b" lIns="0" tIns="0" rIns="0" bIns="0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DDG-51 observed outsourced work by SWBS major group ($M, FY26$)</a:t>
            </a:r>
          </a:p>
        </p:txBody>
      </p:sp>
      <p:graphicFrame>
        <p:nvGraphicFramePr>
          <p:cNvPr id="101" name="DDG51SWBSWorkshareChart"/>
          <p:cNvGraphicFramePr/>
          <p:nvPr/>
        </p:nvGraphicFramePr>
        <p:xfrm>
          <a:off x="475488" y="1609344"/>
          <a:ext cx="6364224" cy="331012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02" name="ChartEvidenceNote"/>
          <p:cNvSpPr txBox="1"/>
          <p:nvPr/>
        </p:nvSpPr>
        <p:spPr>
          <a:xfrm>
            <a:off x="534924" y="5047488"/>
            <a:ext cx="6263640" cy="260604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U00 remains unmapped; systems/equipment interpretation is based on mapped SWBS plus output taxonomy.</a:t>
            </a:r>
          </a:p>
        </p:txBody>
      </p:sp>
      <p:sp>
        <p:nvSpPr>
          <p:cNvPr id="103" name="LegendSwatch"/>
          <p:cNvSpPr txBox="1"/>
          <p:nvPr/>
        </p:nvSpPr>
        <p:spPr>
          <a:xfrm>
            <a:off x="749808" y="5157216"/>
            <a:ext cx="132588" cy="91440"/>
          </a:xfrm>
          <a:prstGeom prst="rect">
            <a:avLst/>
          </a:prstGeom>
          <a:solidFill>
            <a:srgbClr val="364D6E"/>
          </a:solidFill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endParaRPr lang="en-US"/>
          </a:p>
        </p:txBody>
      </p:sp>
      <p:sp>
        <p:nvSpPr>
          <p:cNvPr id="104" name="LegendLabel"/>
          <p:cNvSpPr txBox="1"/>
          <p:nvPr/>
        </p:nvSpPr>
        <p:spPr>
          <a:xfrm>
            <a:off x="923544" y="5131613"/>
            <a:ext cx="1261872" cy="137160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marL="0" indent="0">
              <a:lnSpc>
                <a:spcPct val="100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systems/equipment</a:t>
            </a:r>
          </a:p>
        </p:txBody>
      </p:sp>
      <p:sp>
        <p:nvSpPr>
          <p:cNvPr id="105" name="LegendSwatch"/>
          <p:cNvSpPr txBox="1"/>
          <p:nvPr/>
        </p:nvSpPr>
        <p:spPr>
          <a:xfrm>
            <a:off x="2313432" y="5157216"/>
            <a:ext cx="132588" cy="9144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endParaRPr lang="en-US"/>
          </a:p>
        </p:txBody>
      </p:sp>
      <p:sp>
        <p:nvSpPr>
          <p:cNvPr id="106" name="LegendLabel"/>
          <p:cNvSpPr txBox="1"/>
          <p:nvPr/>
        </p:nvSpPr>
        <p:spPr>
          <a:xfrm>
            <a:off x="2487168" y="5131613"/>
            <a:ext cx="822960" cy="137160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marL="0" indent="0">
              <a:lnSpc>
                <a:spcPct val="100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unmapped</a:t>
            </a:r>
          </a:p>
        </p:txBody>
      </p:sp>
      <p:sp>
        <p:nvSpPr>
          <p:cNvPr id="107" name="LegendSwatch"/>
          <p:cNvSpPr txBox="1"/>
          <p:nvPr/>
        </p:nvSpPr>
        <p:spPr>
          <a:xfrm>
            <a:off x="3493008" y="5157216"/>
            <a:ext cx="132588" cy="91440"/>
          </a:xfrm>
          <a:prstGeom prst="rect">
            <a:avLst/>
          </a:prstGeom>
          <a:solidFill>
            <a:srgbClr val="C30C3E"/>
          </a:solidFill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endParaRPr lang="en-US"/>
          </a:p>
        </p:txBody>
      </p:sp>
      <p:sp>
        <p:nvSpPr>
          <p:cNvPr id="108" name="LegendLabel"/>
          <p:cNvSpPr txBox="1"/>
          <p:nvPr/>
        </p:nvSpPr>
        <p:spPr>
          <a:xfrm>
            <a:off x="3666744" y="5131613"/>
            <a:ext cx="822960" cy="137160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marL="0" indent="0">
              <a:lnSpc>
                <a:spcPct val="100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hull signal</a:t>
            </a:r>
          </a:p>
        </p:txBody>
      </p:sp>
      <p:sp>
        <p:nvSpPr>
          <p:cNvPr id="109" name="SystemsShareCalloutFill"/>
          <p:cNvSpPr txBox="1"/>
          <p:nvPr/>
        </p:nvSpPr>
        <p:spPr>
          <a:xfrm>
            <a:off x="7050024" y="1403604"/>
            <a:ext cx="4663440" cy="763524"/>
          </a:xfrm>
          <a:prstGeom prst="rect">
            <a:avLst/>
          </a:prstGeom>
          <a:solidFill>
            <a:srgbClr val="CEDDEC"/>
          </a:solidFill>
          <a:ln>
            <a:noFill/>
          </a:ln>
        </p:spPr>
        <p:txBody>
          <a:bodyPr wrap="square" anchor="ctr" lIns="91440" tIns="45720" rIns="91440" bIns="45720"/>
          <a:lstStyle/>
          <a:p>
            <a:pPr algn="ctr">
              <a:lnSpc>
                <a:spcPct val="100000"/>
              </a:lnSpc>
              <a:buNone/>
            </a:pPr>
            <a:endParaRPr lang="en-US"/>
          </a:p>
        </p:txBody>
      </p:sp>
      <p:sp>
        <p:nvSpPr>
          <p:cNvPr id="110" name="SystemsShareTitle"/>
          <p:cNvSpPr txBox="1"/>
          <p:nvPr/>
        </p:nvSpPr>
        <p:spPr>
          <a:xfrm>
            <a:off x="7050024" y="1485900"/>
            <a:ext cx="4663440" cy="155448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Auxiliary + Propulsion + Electric</a:t>
            </a:r>
          </a:p>
        </p:txBody>
      </p:sp>
      <p:sp>
        <p:nvSpPr>
          <p:cNvPr id="111" name="SystemsShareHeadline"/>
          <p:cNvSpPr txBox="1"/>
          <p:nvPr/>
        </p:nvSpPr>
        <p:spPr>
          <a:xfrm>
            <a:off x="7050024" y="1687068"/>
            <a:ext cx="4663440" cy="237744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$3.10B / 78% of total</a:t>
            </a:r>
          </a:p>
        </p:txBody>
      </p:sp>
      <p:sp>
        <p:nvSpPr>
          <p:cNvPr id="112" name="SystemsShareQualifier"/>
          <p:cNvSpPr txBox="1"/>
          <p:nvPr/>
        </p:nvSpPr>
        <p:spPr>
          <a:xfrm>
            <a:off x="7050024" y="1961388"/>
            <a:ext cx="4663440" cy="146304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~95% of mapped spend excluding No SWBS Evidence</a:t>
            </a:r>
          </a:p>
        </p:txBody>
      </p:sp>
      <p:graphicFrame>
        <p:nvGraphicFramePr>
          <p:cNvPr id="113" name="EvidenceTable"/>
          <p:cNvGraphicFramePr>
            <a:graphicFrameLocks noGrp="1"/>
          </p:cNvGraphicFramePr>
          <p:nvPr/>
        </p:nvGraphicFramePr>
        <p:xfrm>
          <a:off x="7050024" y="2354580"/>
          <a:ext cx="4663440" cy="1293876"/>
        </p:xfrm>
        <a:graphic>
          <a:graphicData uri="http://schemas.openxmlformats.org/drawingml/2006/table">
            <a:tbl>
              <a:tblPr firstRow="0" firstCol="0" bandRow="0">
                <a:tableStyleId>{2D5ABB26-0587-4C30-8999-92F81FD0307C}</a:tableStyleId>
              </a:tblPr>
              <a:tblGrid>
                <a:gridCol w="1106424"/>
                <a:gridCol w="3557016"/>
              </a:tblGrid>
              <a:tr h="196596"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Signal</a:t>
                      </a:r>
                    </a:p>
                  </a:txBody>
                  <a:tcPr marL="45720" marR="45720" marT="30480" marB="3048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162029"/>
                      </a:solidFill>
                      <a:prstDash val="solid"/>
                    </a:lnB>
                    <a:solidFill>
                      <a:srgbClr val="162029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What it supports</a:t>
                      </a:r>
                    </a:p>
                  </a:txBody>
                  <a:tcPr marL="45720" marR="45720" marT="30480" marB="3048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162029"/>
                      </a:solidFill>
                      <a:prstDash val="solid"/>
                    </a:lnB>
                    <a:solidFill>
                      <a:srgbClr val="162029"/>
                    </a:solidFill>
                  </a:tcPr>
                </a:tc>
              </a:tr>
              <a:tr h="352044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SWBS signal</a:t>
                      </a:r>
                    </a:p>
                  </a:txBody>
                  <a:tcPr marL="45720" marR="45720" marT="30480" marB="3048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CEDDE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Auxiliary + Propulsion + Electric = $3.10B / 78% of total</a:t>
                      </a:r>
                    </a:p>
                  </a:txBody>
                  <a:tcPr marL="45720" marR="30480" marT="15240" marB="1524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CEDDEC"/>
                    </a:solidFill>
                  </a:tcPr>
                </a:tc>
              </a:tr>
              <a:tr h="352044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Mapped-spend view</a:t>
                      </a:r>
                    </a:p>
                  </a:txBody>
                  <a:tcPr marL="45720" marR="45720" marT="30480" marB="3048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same three groups are ~95% excluding U00 No SWBS Evidence</a:t>
                      </a:r>
                    </a:p>
                  </a:txBody>
                  <a:tcPr marL="45720" marR="30480" marT="15240" marB="1524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noFill/>
                  </a:tcPr>
                </a:tc>
              </a:tr>
              <a:tr h="352044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Hull contrast</a:t>
                      </a:r>
                    </a:p>
                  </a:txBody>
                  <a:tcPr marL="45720" marR="45720" marT="30480" marB="3048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Hull Structure = $28M / 0.7%; treat bare-steel inference cautiously</a:t>
                      </a:r>
                    </a:p>
                  </a:txBody>
                  <a:tcPr marL="45720" marR="30480" marT="15240" marB="1524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14" name="StructuralAnchorTitle"/>
          <p:cNvSpPr txBox="1"/>
          <p:nvPr/>
        </p:nvSpPr>
        <p:spPr>
          <a:xfrm>
            <a:off x="7050024" y="3849624"/>
            <a:ext cx="4663440" cy="169164"/>
          </a:xfrm>
          <a:prstGeom prst="rect">
            <a:avLst/>
          </a:prstGeom>
          <a:noFill/>
          <a:ln>
            <a:noFill/>
          </a:ln>
        </p:spPr>
        <p:txBody>
          <a:bodyPr wrap="none" anchor="b" lIns="0" tIns="0" rIns="0" bIns="0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Structural-unit cost-allocation anchors</a:t>
            </a:r>
          </a:p>
        </p:txBody>
      </p:sp>
      <p:graphicFrame>
        <p:nvGraphicFramePr>
          <p:cNvPr id="115" name="StructuralAnchorTable"/>
          <p:cNvGraphicFramePr>
            <a:graphicFrameLocks noGrp="1"/>
          </p:cNvGraphicFramePr>
          <p:nvPr/>
        </p:nvGraphicFramePr>
        <p:xfrm>
          <a:off x="7050024" y="4064508"/>
          <a:ext cx="4663440" cy="754380"/>
        </p:xfrm>
        <a:graphic>
          <a:graphicData uri="http://schemas.openxmlformats.org/drawingml/2006/table">
            <a:tbl>
              <a:tblPr firstRow="0" firstCol="0" bandRow="0">
                <a:tableStyleId>{2D5ABB26-0587-4C30-8999-92F81FD0307C}</a:tableStyleId>
              </a:tblPr>
              <a:tblGrid>
                <a:gridCol w="1371600"/>
                <a:gridCol w="1435608"/>
                <a:gridCol w="1856232"/>
              </a:tblGrid>
              <a:tr h="173736"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Package</a:t>
                      </a:r>
                    </a:p>
                  </a:txBody>
                  <a:tcPr marL="45720" marR="45720" marT="30480" marB="3048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162029"/>
                      </a:solidFill>
                      <a:prstDash val="solid"/>
                    </a:lnB>
                    <a:solidFill>
                      <a:srgbClr val="162029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Total FY25 BC</a:t>
                      </a:r>
                    </a:p>
                  </a:txBody>
                  <a:tcPr marL="45720" marR="45720" marT="30480" marB="3048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162029"/>
                      </a:solidFill>
                      <a:prstDash val="solid"/>
                    </a:lnB>
                    <a:solidFill>
                      <a:srgbClr val="162029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Supplier-addressable</a:t>
                      </a:r>
                    </a:p>
                  </a:txBody>
                  <a:tcPr marL="45720" marR="45720" marT="30480" marB="3048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162029"/>
                      </a:solidFill>
                      <a:prstDash val="solid"/>
                    </a:lnB>
                    <a:solidFill>
                      <a:srgbClr val="162029"/>
                    </a:solidFill>
                  </a:tcPr>
                </a:tc>
              </a:tr>
              <a:tr h="269748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Grand block</a:t>
                      </a:r>
                    </a:p>
                  </a:txBody>
                  <a:tcPr marL="45720" marR="45720" marT="30480" marB="3048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$74.9M</a:t>
                      </a:r>
                    </a:p>
                  </a:txBody>
                  <a:tcPr marL="45720" marR="45720" marT="30480" marB="3048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~$19.0M</a:t>
                      </a:r>
                    </a:p>
                  </a:txBody>
                  <a:tcPr marL="45720" marR="45720" marT="30480" marB="3048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</a:tr>
              <a:tr h="269748"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Structural unit</a:t>
                      </a:r>
                    </a:p>
                  </a:txBody>
                  <a:tcPr marL="45720" marR="45720" marT="30480" marB="3048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$21.9M</a:t>
                      </a:r>
                    </a:p>
                  </a:txBody>
                  <a:tcPr marL="45720" marR="45720" marT="30480" marB="3048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~$5.5M</a:t>
                      </a:r>
                    </a:p>
                  </a:txBody>
                  <a:tcPr marL="45720" marR="45720" marT="30480" marB="3048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</a:tr>
            </a:tbl>
          </a:graphicData>
        </a:graphic>
      </p:graphicFrame>
      <p:sp>
        <p:nvSpPr>
          <p:cNvPr id="116" name="StructuralAnchorNote"/>
          <p:cNvSpPr txBox="1"/>
          <p:nvPr/>
        </p:nvSpPr>
        <p:spPr>
          <a:xfrm>
            <a:off x="7050024" y="4969764"/>
            <a:ext cx="4663440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Note: anchors allocate ship Basic Construction cost across modular hierarchy; they are not subcontract quotes.</a:t>
            </a:r>
          </a:p>
        </p:txBody>
      </p:sp>
      <p:sp>
        <p:nvSpPr>
          <p:cNvPr id="9999" name="Source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Note: SWBS shares, output taxonomy, supplier counts, and structural-unit anchors are analyst classifications/allocations, not directly stated public-source facts. | Source: USAspending/SAM.gov reported subaward data; Navy DDG-51 fact file and Surface Force DDG class page; HII/BIW DDG-51 public pages; Eastern Shipbuilding, HII, Marine Log, WorkBoat, USNI, and supplier public releases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Saronic Theme">
  <a:themeElements>
    <a:clrScheme name="Saronic">
      <a:dk1>
        <a:srgbClr val="162029"/>
      </a:dk1>
      <a:lt1>
        <a:srgbClr val="FFFFFF"/>
      </a:lt1>
      <a:dk2>
        <a:srgbClr val="44505C"/>
      </a:dk2>
      <a:lt2>
        <a:srgbClr val="F2F6FA"/>
      </a:lt2>
      <a:accent1>
        <a:srgbClr val="79838F"/>
      </a:accent1>
      <a:accent2>
        <a:srgbClr val="1D4D68"/>
      </a:accent2>
      <a:accent3>
        <a:srgbClr val="486D82"/>
      </a:accent3>
      <a:accent4>
        <a:srgbClr val="89A2B0"/>
      </a:accent4>
      <a:accent5>
        <a:srgbClr val="AFC2CC"/>
      </a:accent5>
      <a:accent6>
        <a:srgbClr val="D8E3EB"/>
      </a:accent6>
      <a:hlink>
        <a:srgbClr val="1D4D68"/>
      </a:hlink>
      <a:folHlink>
        <a:srgbClr val="89A2B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97799b1f-9a79-4131-92f4-d7e1a1e8fbf9}" enabled="0" method="" siteId="{97799b1f-9a79-4131-92f4-d7e1a1e8fbf9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Application>distributed_shipbuilding</Application>
  <PresentationFormat>Widescreen</PresentationFormat>
  <Slides>2</Slides>
  <Notes>0</Notes>
  <HiddenSlides>0</HiddenSlides>
  <MMClips>0</MMClips>
  <ScaleCrop>false</ScaleCrop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Distributed Shipbuilding</dc:title>
  <dc:creator>distributed_shipbuilding build_deck.py</dc:creator>
  <cp:lastModifiedBy>distributed_shipbuilding build_deck.py</cp:lastModifiedBy>
  <cp:revision>1</cp:revision>
  <dcterms:created xsi:type="dcterms:W3CDTF">2026-06-28T16:33:56Z</dcterms:created>
  <dcterms:modified xsi:type="dcterms:W3CDTF">2026-06-28T16:33:56Z</dcterms:modified>
</cp:coreProperties>
</file>