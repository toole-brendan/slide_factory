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eg"/>
  <Default Extension="png" ContentType="image/png"/>
  <Default Extension="svg" ContentType="image/svg+xml"/>
  <Default Extension="emf" ContentType="image/x-emf"/>
  <Default Extension="bin" ContentType="application/vnd.openxmlformats-officedocument.oleObjec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embeddings/Microsoft_Excel_Worksheet1.xlsx" ContentType="application/vnd.openxmlformats-officedocument.spreadsheetml.sheet"/>
  <Override PartName="/ppt/embeddings/Microsoft_Excel_Worksheet2.xlsx" ContentType="application/vnd.openxmlformats-officedocument.spreadsheetml.sheet"/>
  <Override PartName="/ppt/embeddings/Microsoft_Excel_Worksheet3.xlsx" ContentType="application/vnd.openxmlformats-officedocument.spreadsheetml.sheet"/>
  <Override PartName="/ppt/embeddings/Microsoft_Excel_Worksheet4.xlsx" ContentType="application/vnd.openxmlformats-officedocument.spreadsheetml.sheet"/>
  <Override PartName="/ppt/embeddings/Microsoft_Excel_Worksheet5.xlsx" ContentType="application/vnd.openxmlformats-officedocument.spreadsheetml.sheet"/>
  <Override PartName="/ppt/embeddings/Microsoft_Excel_Worksheet6.xlsx" ContentType="application/vnd.openxmlformats-officedocument.spreadsheetml.sheet"/>
  <Override PartName="/ppt/embeddings/Microsoft_Excel_Worksheet7.xlsx" ContentType="application/vnd.openxmlformats-officedocument.spreadsheetml.sheet"/>
  <Override PartName="/ppt/embeddings/Microsoft_Excel_Worksheet8.xlsx" ContentType="application/vnd.openxmlformats-officedocument.spreadsheetml.sheet"/>
  <Override PartName="/ppt/embeddings/Microsoft_Excel_Worksheet9.xlsx" ContentType="application/vnd.openxmlformats-officedocument.spreadsheetml.sheet"/>
  <Override PartName="/ppt/embeddings/Microsoft_Excel_Worksheet10.xlsx" ContentType="application/vnd.openxmlformats-officedocument.spreadsheetml.sheet"/>
  <Override PartName="/ppt/embeddings/Microsoft_Excel_Worksheet11.xlsx" ContentType="application/vnd.openxmlformats-officedocument.spreadsheetml.sheet"/>
  <Override PartName="/ppt/embeddings/Microsoft_Excel_Worksheet12.xlsx" ContentType="application/vnd.openxmlformats-officedocument.spreadsheetml.sheet"/>
  <Override PartName="/ppt/embeddings/Microsoft_Excel_Worksheet13.xlsx" ContentType="application/vnd.openxmlformats-officedocument.spreadsheetml.sheet"/>
  <Override PartName="/ppt/embeddings/Microsoft_Excel_Worksheet14.xlsx" ContentType="application/vnd.openxmlformats-officedocument.spreadsheetml.sheet"/>
  <Override PartName="/ppt/embeddings/Microsoft_Excel_Worksheet15.xlsx" ContentType="application/vnd.openxmlformats-officedocument.spreadsheetml.sheet"/>
  <Override PartName="/ppt/embeddings/Microsoft_Excel_Worksheet16.xlsx" ContentType="application/vnd.openxmlformats-officedocument.spreadsheetml.sheet"/>
  <Override PartName="/ppt/embeddings/Microsoft_Excel_Worksheet17.xlsx" ContentType="application/vnd.openxmlformats-officedocument.spreadsheetml.sheet"/>
  <Override PartName="/ppt/embeddings/Microsoft_Excel_Worksheet18.xlsx" ContentType="application/vnd.openxmlformats-officedocument.spreadsheetml.sheet"/>
  <Override PartName="/ppt/embeddings/Microsoft_Excel_Worksheet19.xlsx" ContentType="application/vnd.openxmlformats-officedocument.spreadsheetml.sheet"/>
  <Override PartName="/ppt/embeddings/Microsoft_Excel_Worksheet20.xlsx" ContentType="application/vnd.openxmlformats-officedocument.spreadsheetml.sheet"/>
  <Override PartName="/ppt/embeddings/Microsoft_Excel_Worksheet21.xlsx" ContentType="application/vnd.openxmlformats-officedocument.spreadsheetml.sheet"/>
  <Override PartName="/ppt/embeddings/Microsoft_Excel_Worksheet22.xlsx" ContentType="application/vnd.openxmlformats-officedocument.spreadsheetml.sheet"/>
  <Override PartName="/ppt/theme/theme1.xml" ContentType="application/vnd.openxmlformats-officedocument.theme+xml"/>
  <Override PartName="/ppt/theme/theme2.xml" ContentType="application/vnd.openxmlformats-officedocument.theme+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handoutMasterIdLst>
    <p:handoutMasterId r:id="rId42"/>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934200" cy="9220200"/>
  <p:defaultTextStyle>
    <a:defPPr>
      <a:defRPr lang="en-US"/>
    </a:defPPr>
    <a:lvl1pPr marL="0" algn="l" defTabSz="914400" rtl="0" eaLnBrk="1" latinLnBrk="0" hangingPunct="1">
      <a:defRPr sz="1800" kern="1200">
        <a:solidFill>
          <a:schemeClr val="tx1"/>
        </a:solidFill>
        <a:latin typeface="+mn-lt"/>
        <a:ea typeface="+mn-ea"/>
        <a:cs typeface="+mn-cs"/>
      </a:defRPr>
    </a:lvl1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5972"/>
    <a:srgbClr val="6E91B1"/>
    <a:srgbClr val="B6C8D8"/>
    <a:srgbClr val="E2E9EF"/>
    <a:srgbClr val="F2F2F2"/>
    <a:srgbClr val="447BB2"/>
    <a:srgbClr val="D1D1D1"/>
    <a:srgbClr val="BFBFBF"/>
    <a:srgbClr val="1D4D68"/>
    <a:srgbClr val="7983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97" d="100"/>
          <a:sy n="97" d="100"/>
        </p:scale>
        <p:origin x="1038" y="6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handoutMaster" Target="handoutMasters/handout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manualLayout>
          <c:layoutTarget val="inner"/>
          <c:xMode val="edge"/>
          <c:yMode val="edge"/>
          <c:x val="0.04879416713404375"/>
          <c:y val="0.032721202003338896"/>
          <c:w val="0.9414843896055337"/>
          <c:h val="0.9275459098497496"/>
        </c:manualLayout>
      </c:layout>
      <c:bubbleChart>
        <c:varyColors val="0"/>
        <c:ser>
          <c:idx val="0"/>
          <c:order val="0"/>
          <c:tx>
            <c:strRef>
              <c:f>Sheet1!$A$1</c:f>
              <c:strCache>
                <c:ptCount val="1"/>
                <c:pt idx="0">
                  <c:v>Bucket 1: shipbuilder recovery/stress</c:v>
                </c:pt>
              </c:strCache>
            </c:strRef>
          </c:tx>
          <c:spPr>
            <a:solidFill>
              <a:srgbClr val="C30C3E"/>
            </a:solidFill>
            <a:ln w="3175" cmpd="sng" algn="ctr">
              <a:solidFill>
                <a:schemeClr val="tx1"/>
              </a:solidFill>
              <a:prstDash val="solid"/>
            </a:ln>
          </c:spPr>
          <c:invertIfNegative val="0"/>
          <c:xVal>
            <c:numRef>
              <c:f>Sheet1!$B$2:$B$74</c:f>
              <c:numCache>
                <c:formatCode>General</c:formatCode>
                <c:ptCount val="73"/>
                <c:pt idx="0">
                  <c:v>2021</c:v>
                </c:pt>
                <c:pt idx="1">
                  <c:v>2022</c:v>
                </c:pt>
                <c:pt idx="2">
                  <c:v>2022</c:v>
                </c:pt>
              </c:numCache>
            </c:numRef>
          </c:xVal>
          <c:yVal>
            <c:numRef>
              <c:f>Sheet1!$C$2:$C$74</c:f>
              <c:numCache>
                <c:formatCode>#,##0;"-"#,##0</c:formatCode>
                <c:ptCount val="73"/>
                <c:pt idx="0">
                  <c:v>-2.9787234042553195</c:v>
                </c:pt>
                <c:pt idx="1">
                  <c:v>-33.20027982387556</c:v>
                </c:pt>
                <c:pt idx="2">
                  <c:v>1.9083969465648851</c:v>
                </c:pt>
              </c:numCache>
            </c:numRef>
          </c:yVal>
          <c:bubbleSize>
            <c:numRef>
              <c:f>Sheet1!$D$2:$D$74</c:f>
              <c:numCache>
                <c:formatCode>General</c:formatCode>
                <c:ptCount val="73"/>
                <c:pt idx="0">
                  <c:v>19771.325688420737</c:v>
                </c:pt>
                <c:pt idx="1">
                  <c:v>3856.7506229268834</c:v>
                </c:pt>
                <c:pt idx="2">
                  <c:v>20790.68069640845</c:v>
                </c:pt>
              </c:numCache>
            </c:numRef>
          </c:bubbleSize>
          <c:bubble3D val="0"/>
        </c:ser>
        <c:ser>
          <c:idx val="1"/>
          <c:order val="1"/>
          <c:tx>
            <c:strRef>
              <c:f>Sheet1!$E$1</c:f>
              <c:strCache>
                <c:ptCount val="1"/>
                <c:pt idx="0">
                  <c:v>Bucket 2: owner/operator default with shipbuilder points</c:v>
                </c:pt>
              </c:strCache>
            </c:strRef>
          </c:tx>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dPt>
          <c:dPt>
            <c:idx val="4"/>
            <c:invertIfNegative val="0"/>
            <c:bubble3D val="0"/>
            <c:spPr>
              <a:solidFill>
                <a:srgbClr val="C30C3E"/>
              </a:solidFill>
              <a:ln w="3175" cmpd="sng" algn="ctr">
                <a:solidFill>
                  <a:schemeClr val="tx1"/>
                </a:solidFill>
                <a:prstDash val="solid"/>
              </a:ln>
            </c:spPr>
          </c:dPt>
          <c:dPt>
            <c:idx val="5"/>
            <c:invertIfNegative val="0"/>
            <c:bubble3D val="0"/>
            <c:spPr>
              <a:solidFill>
                <a:srgbClr val="C30C3E"/>
              </a:solidFill>
              <a:ln w="3175" cmpd="sng" algn="ctr">
                <a:solidFill>
                  <a:schemeClr val="tx1"/>
                </a:solidFill>
                <a:prstDash val="solid"/>
              </a:ln>
            </c:spPr>
          </c:dPt>
          <c:dPt>
            <c:idx val="6"/>
            <c:invertIfNegative val="0"/>
            <c:bubble3D val="0"/>
            <c:spPr>
              <a:solidFill>
                <a:srgbClr val="C30C3E"/>
              </a:solidFill>
              <a:ln w="3175" cmpd="sng" algn="ctr">
                <a:solidFill>
                  <a:schemeClr val="tx1"/>
                </a:solidFill>
                <a:prstDash val="solid"/>
              </a:ln>
            </c:spPr>
          </c:dPt>
          <c:xVal>
            <c:numRef>
              <c:f>Sheet1!$F$2:$F$74</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Sheet1!$G$2:$G$74</c:f>
              <c:numCache>
                <c:formatCode>#,##0;"-"#,##0</c:formatCode>
                <c:ptCount val="73"/>
                <c:pt idx="3">
                  <c:v>-7.826086956521738</c:v>
                </c:pt>
                <c:pt idx="4">
                  <c:v>-38.99333333333333</c:v>
                </c:pt>
                <c:pt idx="5">
                  <c:v>4.1817392562581395</c:v>
                </c:pt>
                <c:pt idx="6">
                  <c:v>0.3434112180997913</c:v>
                </c:pt>
                <c:pt idx="7">
                  <c:v>10.954584404455868</c:v>
                </c:pt>
                <c:pt idx="8">
                  <c:v>54.245502842762605</c:v>
                </c:pt>
                <c:pt idx="9">
                  <c:v>37.24290927185272</c:v>
                </c:pt>
                <c:pt idx="10">
                  <c:v>45.33351996143019</c:v>
                </c:pt>
                <c:pt idx="11">
                  <c:v>-8.174809189880284</c:v>
                </c:pt>
                <c:pt idx="12">
                  <c:v>6.617537812379283</c:v>
                </c:pt>
                <c:pt idx="13">
                  <c:v>42.112632603175356</c:v>
                </c:pt>
                <c:pt idx="14">
                  <c:v>12.68588852038087</c:v>
                </c:pt>
              </c:numCache>
            </c:numRef>
          </c:yVal>
          <c:bubbleSize>
            <c:numRef>
              <c:f>Sheet1!$H$2:$H$74</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ser>
        <c:ser>
          <c:idx val="2"/>
          <c:order val="2"/>
          <c:tx>
            <c:strRef>
              <c:f>Sheet1!$I$1</c:f>
              <c:strCache>
                <c:ptCount val="1"/>
                <c:pt idx="0">
                  <c:v>Bucket 3: charter default with shipbuilder and owner/operator points</c:v>
                </c:pt>
              </c:strCache>
            </c:strRef>
          </c:tx>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dPt>
          <c:dPt>
            <c:idx val="16"/>
            <c:invertIfNegative val="0"/>
            <c:bubble3D val="0"/>
            <c:spPr>
              <a:solidFill>
                <a:srgbClr val="C30C3E"/>
              </a:solidFill>
              <a:ln w="3175" cmpd="sng" algn="ctr">
                <a:solidFill>
                  <a:schemeClr val="tx1"/>
                </a:solidFill>
                <a:prstDash val="solid"/>
              </a:ln>
            </c:spPr>
          </c:dPt>
          <c:dPt>
            <c:idx val="17"/>
            <c:invertIfNegative val="0"/>
            <c:bubble3D val="0"/>
            <c:spPr>
              <a:solidFill>
                <a:srgbClr val="C30C3E"/>
              </a:solidFill>
              <a:ln w="3175" cmpd="sng" algn="ctr">
                <a:solidFill>
                  <a:schemeClr val="tx1"/>
                </a:solidFill>
                <a:prstDash val="solid"/>
              </a:ln>
            </c:spPr>
          </c:dPt>
          <c:dPt>
            <c:idx val="18"/>
            <c:invertIfNegative val="0"/>
            <c:bubble3D val="0"/>
            <c:spPr>
              <a:solidFill>
                <a:srgbClr val="C30C3E"/>
              </a:solidFill>
              <a:ln w="3175" cmpd="sng" algn="ctr">
                <a:solidFill>
                  <a:schemeClr val="tx1"/>
                </a:solidFill>
                <a:prstDash val="solid"/>
              </a:ln>
            </c:spPr>
          </c:dPt>
          <c:dPt>
            <c:idx val="19"/>
            <c:invertIfNegative val="0"/>
            <c:bubble3D val="0"/>
            <c:spPr>
              <a:solidFill>
                <a:srgbClr val="364D6E"/>
              </a:solidFill>
              <a:ln w="3175" cmpd="sng" algn="ctr">
                <a:solidFill>
                  <a:schemeClr val="tx1"/>
                </a:solidFill>
                <a:prstDash val="solid"/>
              </a:ln>
            </c:spPr>
          </c:dPt>
          <c:dPt>
            <c:idx val="20"/>
            <c:invertIfNegative val="0"/>
            <c:bubble3D val="0"/>
            <c:spPr>
              <a:solidFill>
                <a:srgbClr val="364D6E"/>
              </a:solidFill>
              <a:ln w="3175" cmpd="sng" algn="ctr">
                <a:solidFill>
                  <a:schemeClr val="tx1"/>
                </a:solidFill>
                <a:prstDash val="solid"/>
              </a:ln>
            </c:spPr>
          </c:dPt>
          <c:dPt>
            <c:idx val="21"/>
            <c:invertIfNegative val="0"/>
            <c:bubble3D val="0"/>
            <c:spPr>
              <a:solidFill>
                <a:srgbClr val="364D6E"/>
              </a:solidFill>
              <a:ln w="3175" cmpd="sng" algn="ctr">
                <a:solidFill>
                  <a:schemeClr val="tx1"/>
                </a:solidFill>
                <a:prstDash val="solid"/>
              </a:ln>
            </c:spPr>
          </c:dPt>
          <c:dPt>
            <c:idx val="22"/>
            <c:invertIfNegative val="0"/>
            <c:bubble3D val="0"/>
            <c:spPr>
              <a:solidFill>
                <a:srgbClr val="364D6E"/>
              </a:solidFill>
              <a:ln w="3175" cmpd="sng" algn="ctr">
                <a:solidFill>
                  <a:schemeClr val="tx1"/>
                </a:solidFill>
                <a:prstDash val="solid"/>
              </a:ln>
            </c:spPr>
          </c:dPt>
          <c:dPt>
            <c:idx val="23"/>
            <c:invertIfNegative val="0"/>
            <c:bubble3D val="0"/>
            <c:spPr>
              <a:solidFill>
                <a:srgbClr val="364D6E"/>
              </a:solidFill>
              <a:ln w="3175" cmpd="sng" algn="ctr">
                <a:solidFill>
                  <a:schemeClr val="tx1"/>
                </a:solidFill>
                <a:prstDash val="solid"/>
              </a:ln>
            </c:spPr>
          </c:dPt>
          <c:dPt>
            <c:idx val="24"/>
            <c:invertIfNegative val="0"/>
            <c:bubble3D val="0"/>
            <c:spPr>
              <a:solidFill>
                <a:srgbClr val="364D6E"/>
              </a:solidFill>
              <a:ln w="3175" cmpd="sng" algn="ctr">
                <a:solidFill>
                  <a:schemeClr val="tx1"/>
                </a:solidFill>
                <a:prstDash val="solid"/>
              </a:ln>
            </c:spPr>
          </c:dPt>
          <c:dPt>
            <c:idx val="25"/>
            <c:invertIfNegative val="0"/>
            <c:bubble3D val="0"/>
            <c:spPr>
              <a:solidFill>
                <a:srgbClr val="364D6E"/>
              </a:solidFill>
              <a:ln w="3175" cmpd="sng" algn="ctr">
                <a:solidFill>
                  <a:schemeClr val="tx1"/>
                </a:solidFill>
                <a:prstDash val="solid"/>
              </a:ln>
            </c:spPr>
          </c:dPt>
          <c:xVal>
            <c:numRef>
              <c:f>Sheet1!$J$2:$J$74</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Sheet1!$K$2:$K$74</c:f>
              <c:numCache>
                <c:formatCode>#,##0;"-"#,##0</c:formatCode>
                <c:ptCount val="73"/>
                <c:pt idx="15">
                  <c:v>7.840197254431562</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50.73212274388066</c:v>
                </c:pt>
                <c:pt idx="24">
                  <c:v>14.143675169182718</c:v>
                </c:pt>
                <c:pt idx="25">
                  <c:v>13.392813131562084</c:v>
                </c:pt>
                <c:pt idx="26">
                  <c:v>51.92159420289856</c:v>
                </c:pt>
                <c:pt idx="27">
                  <c:v>55.61092637836599</c:v>
                </c:pt>
                <c:pt idx="28">
                  <c:v>65.80422960725076</c:v>
                </c:pt>
                <c:pt idx="29">
                  <c:v>59.455101588262075</c:v>
                </c:pt>
                <c:pt idx="30">
                  <c:v>14.103882746207253</c:v>
                </c:pt>
                <c:pt idx="31">
                  <c:v>59.61611909650924</c:v>
                </c:pt>
                <c:pt idx="32">
                  <c:v>30.965074903765107</c:v>
                </c:pt>
                <c:pt idx="33">
                  <c:v>21.258235671389425</c:v>
                </c:pt>
                <c:pt idx="34">
                  <c:v>22.182558229929164</c:v>
                </c:pt>
              </c:numCache>
            </c:numRef>
          </c:yVal>
          <c:bubbleSize>
            <c:numRef>
              <c:f>Sheet1!$L$2:$L$74</c:f>
              <c:numCache>
                <c:formatCode>General</c:formatCode>
                <c:ptCount val="73"/>
                <c:pt idx="15">
                  <c:v>1089.4355999999998</c:v>
                </c:pt>
                <c:pt idx="16">
                  <c:v>8004.243600000001</c:v>
                </c:pt>
                <c:pt idx="17">
                  <c:v>25097.40737584917</c:v>
                </c:pt>
                <c:pt idx="18">
                  <c:v>23479.89660725644</c:v>
                </c:pt>
                <c:pt idx="19">
                  <c:v>3992</c:v>
                </c:pt>
                <c:pt idx="20">
                  <c:v>14577</c:v>
                </c:pt>
                <c:pt idx="21">
                  <c:v>26356</c:v>
                </c:pt>
                <c:pt idx="22">
                  <c:v>3544.6</c:v>
                </c:pt>
                <c:pt idx="23">
                  <c:v>36401</c:v>
                </c:pt>
                <c:pt idx="24">
                  <c:v>19210</c:v>
                </c:pt>
                <c:pt idx="25">
                  <c:v>20287</c:v>
                </c:pt>
                <c:pt idx="26">
                  <c:v>690</c:v>
                </c:pt>
                <c:pt idx="27">
                  <c:v>793.639</c:v>
                </c:pt>
                <c:pt idx="28">
                  <c:v>993</c:v>
                </c:pt>
                <c:pt idx="29">
                  <c:v>1113.859</c:v>
                </c:pt>
                <c:pt idx="30">
                  <c:v>1555.6</c:v>
                </c:pt>
                <c:pt idx="31">
                  <c:v>974</c:v>
                </c:pt>
                <c:pt idx="32">
                  <c:v>1511.406</c:v>
                </c:pt>
                <c:pt idx="33">
                  <c:v>1715.1</c:v>
                </c:pt>
                <c:pt idx="34">
                  <c:v>2083.894</c:v>
                </c:pt>
              </c:numCache>
            </c:numRef>
          </c:bubbleSize>
          <c:bubble3D val="0"/>
        </c:ser>
        <c:ser>
          <c:idx val="3"/>
          <c:order val="3"/>
          <c:tx>
            <c:strRef>
              <c:f>Sheet1!$M$1</c:f>
              <c:strCache>
                <c:ptCount val="1"/>
                <c:pt idx="0">
                  <c:v>Bucket 4: owner/operator default with charter points</c:v>
                </c:pt>
              </c:strCache>
            </c:strRef>
          </c:tx>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dPt>
          <c:dPt>
            <c:idx val="36"/>
            <c:invertIfNegative val="0"/>
            <c:bubble3D val="0"/>
            <c:spPr>
              <a:solidFill>
                <a:srgbClr val="C30C3E"/>
              </a:solidFill>
              <a:ln w="3175" cmpd="sng" algn="ctr">
                <a:solidFill>
                  <a:schemeClr val="tx1"/>
                </a:solidFill>
                <a:prstDash val="solid"/>
              </a:ln>
            </c:spPr>
          </c:dPt>
          <c:dPt>
            <c:idx val="37"/>
            <c:invertIfNegative val="0"/>
            <c:bubble3D val="0"/>
            <c:spPr>
              <a:solidFill>
                <a:srgbClr val="C30C3E"/>
              </a:solidFill>
              <a:ln w="3175" cmpd="sng" algn="ctr">
                <a:solidFill>
                  <a:schemeClr val="tx1"/>
                </a:solidFill>
                <a:prstDash val="solid"/>
              </a:ln>
            </c:spPr>
          </c:dPt>
          <c:dPt>
            <c:idx val="38"/>
            <c:invertIfNegative val="0"/>
            <c:bubble3D val="0"/>
            <c:spPr>
              <a:solidFill>
                <a:srgbClr val="C30C3E"/>
              </a:solidFill>
              <a:ln w="3175" cmpd="sng" algn="ctr">
                <a:solidFill>
                  <a:schemeClr val="tx1"/>
                </a:solidFill>
                <a:prstDash val="solid"/>
              </a:ln>
            </c:spPr>
          </c:dPt>
          <c:dPt>
            <c:idx val="44"/>
            <c:invertIfNegative val="0"/>
            <c:bubble3D val="0"/>
            <c:spPr>
              <a:solidFill>
                <a:srgbClr val="27AE60"/>
              </a:solidFill>
              <a:ln w="3175" cmpd="sng" algn="ctr">
                <a:solidFill>
                  <a:schemeClr val="tx1"/>
                </a:solidFill>
                <a:prstDash val="solid"/>
              </a:ln>
            </c:spPr>
          </c:dPt>
          <c:dPt>
            <c:idx val="45"/>
            <c:invertIfNegative val="0"/>
            <c:bubble3D val="0"/>
            <c:spPr>
              <a:solidFill>
                <a:srgbClr val="6F8DB9"/>
              </a:solidFill>
              <a:ln w="3175" cmpd="sng" algn="ctr">
                <a:solidFill>
                  <a:schemeClr val="tx1"/>
                </a:solidFill>
                <a:prstDash val="solid"/>
              </a:ln>
            </c:spPr>
          </c:dPt>
          <c:dPt>
            <c:idx val="46"/>
            <c:invertIfNegative val="0"/>
            <c:bubble3D val="0"/>
            <c:spPr>
              <a:solidFill>
                <a:srgbClr val="6F8DB9"/>
              </a:solidFill>
              <a:ln w="3175" cmpd="sng" algn="ctr">
                <a:solidFill>
                  <a:schemeClr val="tx1"/>
                </a:solidFill>
                <a:prstDash val="solid"/>
              </a:ln>
            </c:spPr>
          </c:dPt>
          <c:dPt>
            <c:idx val="47"/>
            <c:invertIfNegative val="0"/>
            <c:bubble3D val="0"/>
            <c:spPr>
              <a:solidFill>
                <a:srgbClr val="6F8DB9"/>
              </a:solidFill>
              <a:ln w="3175" cmpd="sng" algn="ctr">
                <a:solidFill>
                  <a:schemeClr val="tx1"/>
                </a:solidFill>
                <a:prstDash val="solid"/>
              </a:ln>
            </c:spPr>
          </c:dPt>
          <c:dPt>
            <c:idx val="48"/>
            <c:invertIfNegative val="0"/>
            <c:bubble3D val="0"/>
            <c:spPr>
              <a:solidFill>
                <a:srgbClr val="6F8DB9"/>
              </a:solidFill>
              <a:ln w="3175" cmpd="sng" algn="ctr">
                <a:solidFill>
                  <a:schemeClr val="tx1"/>
                </a:solidFill>
                <a:prstDash val="solid"/>
              </a:ln>
            </c:spPr>
          </c:dPt>
          <c:dPt>
            <c:idx val="49"/>
            <c:invertIfNegative val="0"/>
            <c:bubble3D val="0"/>
            <c:spPr>
              <a:solidFill>
                <a:srgbClr val="6F8DB9"/>
              </a:solidFill>
              <a:ln w="3175" cmpd="sng" algn="ctr">
                <a:solidFill>
                  <a:schemeClr val="tx1"/>
                </a:solidFill>
                <a:prstDash val="solid"/>
              </a:ln>
            </c:spPr>
          </c:dPt>
          <c:xVal>
            <c:numRef>
              <c:f>Sheet1!$N$2:$N$74</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Sheet1!$O$2:$O$74</c:f>
              <c:numCache>
                <c:formatCode>#,##0;"-"#,##0</c:formatCode>
                <c:ptCount val="73"/>
                <c:pt idx="35">
                  <c:v>2.517434937914611</c:v>
                </c:pt>
                <c:pt idx="36">
                  <c:v>3.845388188453882</c:v>
                </c:pt>
                <c:pt idx="37">
                  <c:v>1.324192336589031</c:v>
                </c:pt>
                <c:pt idx="38">
                  <c:v>5.615161719790116</c:v>
                </c:pt>
                <c:pt idx="39">
                  <c:v>13.204595717136847</c:v>
                </c:pt>
                <c:pt idx="40">
                  <c:v>36.315755873340144</c:v>
                </c:pt>
                <c:pt idx="41">
                  <c:v>48.91892752515603</c:v>
                </c:pt>
                <c:pt idx="42">
                  <c:v>11.90149374243036</c:v>
                </c:pt>
                <c:pt idx="43">
                  <c:v>17.827526070398974</c:v>
                </c:pt>
                <c:pt idx="44">
                  <c:v>13.105694094747339</c:v>
                </c:pt>
                <c:pt idx="45">
                  <c:v>31.652219595482006</c:v>
                </c:pt>
                <c:pt idx="46">
                  <c:v>29.325000000000003</c:v>
                </c:pt>
                <c:pt idx="47">
                  <c:v>19.03454587051018</c:v>
                </c:pt>
                <c:pt idx="48">
                  <c:v>25.494276795005206</c:v>
                </c:pt>
                <c:pt idx="49">
                  <c:v>29.764837625979844</c:v>
                </c:pt>
              </c:numCache>
            </c:numRef>
          </c:yVal>
          <c:bubbleSize>
            <c:numRef>
              <c:f>Sheet1!$P$2:$P$74</c:f>
              <c:numCache>
                <c:formatCode>General</c:formatCode>
                <c:ptCount val="73"/>
                <c:pt idx="35">
                  <c:v>7190.017000000001</c:v>
                </c:pt>
                <c:pt idx="36">
                  <c:v>1025.5135</c:v>
                </c:pt>
                <c:pt idx="37">
                  <c:v>16496.1230702495</c:v>
                </c:pt>
                <c:pt idx="38">
                  <c:v>17280.39191804366</c:v>
                </c:pt>
                <c:pt idx="39">
                  <c:v>1853.9</c:v>
                </c:pt>
                <c:pt idx="40">
                  <c:v>3132.8</c:v>
                </c:pt>
                <c:pt idx="41">
                  <c:v>12561.6</c:v>
                </c:pt>
                <c:pt idx="42">
                  <c:v>2477</c:v>
                </c:pt>
                <c:pt idx="43">
                  <c:v>2809.7</c:v>
                </c:pt>
                <c:pt idx="44">
                  <c:v>460.319</c:v>
                </c:pt>
                <c:pt idx="45">
                  <c:v>3807</c:v>
                </c:pt>
                <c:pt idx="46">
                  <c:v>4000</c:v>
                </c:pt>
                <c:pt idx="47">
                  <c:v>4371</c:v>
                </c:pt>
                <c:pt idx="48">
                  <c:v>3844</c:v>
                </c:pt>
                <c:pt idx="49">
                  <c:v>4465</c:v>
                </c:pt>
              </c:numCache>
            </c:numRef>
          </c:bubbleSize>
          <c:bubble3D val="0"/>
        </c:ser>
        <c:ser>
          <c:idx val="4"/>
          <c:order val="4"/>
          <c:tx>
            <c:strRef>
              <c:f>Sheet1!$Q$1</c:f>
              <c:strCache>
                <c:ptCount val="1"/>
                <c:pt idx="0">
                  <c:v>Bucket 5: standalone terminal-operator pattern</c:v>
                </c:pt>
              </c:strCache>
            </c:strRef>
          </c:tx>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dPt>
          <c:dPt>
            <c:idx val="51"/>
            <c:invertIfNegative val="0"/>
            <c:bubble3D val="0"/>
            <c:spPr>
              <a:solidFill>
                <a:srgbClr val="C30C3E"/>
              </a:solidFill>
              <a:ln w="3175" cmpd="sng" algn="ctr">
                <a:solidFill>
                  <a:schemeClr val="tx1"/>
                </a:solidFill>
                <a:prstDash val="solid"/>
              </a:ln>
            </c:spPr>
          </c:dPt>
          <c:dPt>
            <c:idx val="52"/>
            <c:invertIfNegative val="0"/>
            <c:bubble3D val="0"/>
            <c:spPr>
              <a:solidFill>
                <a:srgbClr val="C30C3E"/>
              </a:solidFill>
              <a:ln w="3175" cmpd="sng" algn="ctr">
                <a:solidFill>
                  <a:schemeClr val="tx1"/>
                </a:solidFill>
                <a:prstDash val="solid"/>
              </a:ln>
            </c:spPr>
          </c:dPt>
          <c:dPt>
            <c:idx val="53"/>
            <c:invertIfNegative val="0"/>
            <c:bubble3D val="0"/>
            <c:spPr>
              <a:solidFill>
                <a:srgbClr val="27AE60"/>
              </a:solidFill>
              <a:ln w="3175" cmpd="sng" algn="ctr">
                <a:solidFill>
                  <a:schemeClr val="tx1"/>
                </a:solidFill>
                <a:prstDash val="solid"/>
              </a:ln>
            </c:spPr>
          </c:dPt>
          <c:xVal>
            <c:numRef>
              <c:f>Sheet1!$R$2:$R$74</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Sheet1!$S$2:$S$74</c:f>
              <c:numCache>
                <c:formatCode>#,##0;"-"#,##0</c:formatCode>
                <c:ptCount val="73"/>
                <c:pt idx="50">
                  <c:v>2.1914285714285713</c:v>
                </c:pt>
                <c:pt idx="51">
                  <c:v>3.2152659783034894</c:v>
                </c:pt>
                <c:pt idx="52">
                  <c:v>1.9931102362204725</c:v>
                </c:pt>
                <c:pt idx="53">
                  <c:v>27.35885788449059</c:v>
                </c:pt>
                <c:pt idx="54">
                  <c:v>32.75701021875992</c:v>
                </c:pt>
                <c:pt idx="55">
                  <c:v>42.955828628362674</c:v>
                </c:pt>
                <c:pt idx="56">
                  <c:v>40.61280117184256</c:v>
                </c:pt>
                <c:pt idx="57">
                  <c:v>47.833780160857906</c:v>
                </c:pt>
                <c:pt idx="58">
                  <c:v>35.1868290838553</c:v>
                </c:pt>
                <c:pt idx="59">
                  <c:v>50.92657155595185</c:v>
                </c:pt>
                <c:pt idx="60">
                  <c:v>31.215682587438888</c:v>
                </c:pt>
                <c:pt idx="61">
                  <c:v>50.728753109918834</c:v>
                </c:pt>
                <c:pt idx="62">
                  <c:v>37.84991786980203</c:v>
                </c:pt>
                <c:pt idx="63">
                  <c:v>53.95908194270246</c:v>
                </c:pt>
              </c:numCache>
            </c:numRef>
          </c:yVal>
          <c:bubbleSize>
            <c:numRef>
              <c:f>Sheet1!$T$2:$T$74</c:f>
              <c:numCache>
                <c:formatCode>General</c:formatCode>
                <c:ptCount val="73"/>
                <c:pt idx="50">
                  <c:v>6445.019381093996</c:v>
                </c:pt>
                <c:pt idx="51">
                  <c:v>8463.5362</c:v>
                </c:pt>
                <c:pt idx="52">
                  <c:v>8413.2928</c:v>
                </c:pt>
                <c:pt idx="53">
                  <c:v>2311.5</c:v>
                </c:pt>
                <c:pt idx="54">
                  <c:v>1380.7877834240462</c:v>
                </c:pt>
                <c:pt idx="55">
                  <c:v>1505.5</c:v>
                </c:pt>
                <c:pt idx="56">
                  <c:v>1698.04861787784</c:v>
                </c:pt>
                <c:pt idx="57">
                  <c:v>1865</c:v>
                </c:pt>
                <c:pt idx="58">
                  <c:v>1559.4693328206115</c:v>
                </c:pt>
                <c:pt idx="59">
                  <c:v>2243</c:v>
                </c:pt>
                <c:pt idx="60">
                  <c:v>1361.686873471687</c:v>
                </c:pt>
                <c:pt idx="61">
                  <c:v>2388.326</c:v>
                </c:pt>
                <c:pt idx="62">
                  <c:v>1489.1151821002356</c:v>
                </c:pt>
                <c:pt idx="63">
                  <c:v>2739.524</c:v>
                </c:pt>
              </c:numCache>
            </c:numRef>
          </c:bubbleSize>
          <c:bubble3D val="0"/>
        </c:ser>
        <c:ser>
          <c:idx val="5"/>
          <c:order val="5"/>
          <c:tx>
            <c:strRef>
              <c:f>Sheet1!$U$1</c:f>
              <c:strCache>
                <c:ptCount val="1"/>
                <c:pt idx="0">
                  <c:v>Bucket 6: shipbuilder default with charter points</c:v>
                </c:pt>
              </c:strCache>
            </c:strRef>
          </c:tx>
          <c:spPr>
            <a:solidFill>
              <a:srgbClr val="C30C3E"/>
            </a:solidFill>
            <a:ln w="3175" cmpd="sng" algn="ctr">
              <a:solidFill>
                <a:schemeClr val="tx1"/>
              </a:solidFill>
              <a:prstDash val="solid"/>
            </a:ln>
          </c:spPr>
          <c:invertIfNegative val="0"/>
          <c:dPt>
            <c:idx val="67"/>
            <c:invertIfNegative val="0"/>
            <c:bubble3D val="0"/>
            <c:spPr>
              <a:solidFill>
                <a:srgbClr val="27AE60"/>
              </a:solidFill>
              <a:ln w="3175" cmpd="sng" algn="ctr">
                <a:solidFill>
                  <a:schemeClr val="tx1"/>
                </a:solidFill>
                <a:prstDash val="solid"/>
              </a:ln>
            </c:spPr>
          </c:dPt>
          <c:dPt>
            <c:idx val="68"/>
            <c:invertIfNegative val="0"/>
            <c:bubble3D val="0"/>
            <c:spPr>
              <a:solidFill>
                <a:srgbClr val="27AE60"/>
              </a:solidFill>
              <a:ln w="3175" cmpd="sng" algn="ctr">
                <a:solidFill>
                  <a:schemeClr val="tx1"/>
                </a:solidFill>
                <a:prstDash val="solid"/>
              </a:ln>
            </c:spPr>
          </c:dPt>
          <c:dPt>
            <c:idx val="69"/>
            <c:invertIfNegative val="0"/>
            <c:bubble3D val="0"/>
            <c:spPr>
              <a:solidFill>
                <a:srgbClr val="27AE60"/>
              </a:solidFill>
              <a:ln w="3175" cmpd="sng" algn="ctr">
                <a:solidFill>
                  <a:schemeClr val="tx1"/>
                </a:solidFill>
                <a:prstDash val="solid"/>
              </a:ln>
            </c:spPr>
          </c:dPt>
          <c:xVal>
            <c:numRef>
              <c:f>Sheet1!$V$2:$V$74</c:f>
              <c:numCache>
                <c:formatCode>General</c:formatCode>
                <c:ptCount val="73"/>
                <c:pt idx="64">
                  <c:v>2020</c:v>
                </c:pt>
                <c:pt idx="65">
                  <c:v>2023</c:v>
                </c:pt>
                <c:pt idx="66">
                  <c:v>2024</c:v>
                </c:pt>
                <c:pt idx="67">
                  <c:v>2020</c:v>
                </c:pt>
                <c:pt idx="68">
                  <c:v>2021</c:v>
                </c:pt>
                <c:pt idx="69">
                  <c:v>2024</c:v>
                </c:pt>
              </c:numCache>
            </c:numRef>
          </c:xVal>
          <c:yVal>
            <c:numRef>
              <c:f>Sheet1!$W$2:$W$74</c:f>
              <c:numCache>
                <c:formatCode>#,##0;"-"#,##0</c:formatCode>
                <c:ptCount val="73"/>
                <c:pt idx="64">
                  <c:v>6.697282816685799</c:v>
                </c:pt>
                <c:pt idx="65">
                  <c:v>2.6524303821389523</c:v>
                </c:pt>
                <c:pt idx="66">
                  <c:v>2.206755753526355</c:v>
                </c:pt>
                <c:pt idx="67">
                  <c:v>42.43581410464738</c:v>
                </c:pt>
                <c:pt idx="68">
                  <c:v>47.85417941916616</c:v>
                </c:pt>
                <c:pt idx="69">
                  <c:v>53.34161735700197</c:v>
                </c:pt>
              </c:numCache>
            </c:numRef>
          </c:yVal>
          <c:bubbleSize>
            <c:numRef>
              <c:f>Sheet1!$X$2:$X$74</c:f>
              <c:numCache>
                <c:formatCode>General</c:formatCode>
                <c:ptCount val="73"/>
                <c:pt idx="64">
                  <c:v>1410.0531899999999</c:v>
                </c:pt>
                <c:pt idx="65">
                  <c:v>5738.553180941462</c:v>
                </c:pt>
                <c:pt idx="66">
                  <c:v>7291.6243757866105</c:v>
                </c:pt>
                <c:pt idx="67">
                  <c:v>1230.8</c:v>
                </c:pt>
                <c:pt idx="68">
                  <c:v>1470.3</c:v>
                </c:pt>
                <c:pt idx="69">
                  <c:v>1014</c:v>
                </c:pt>
              </c:numCache>
            </c:numRef>
          </c:bubbleSize>
          <c:bubble3D val="0"/>
        </c:ser>
        <c:ser>
          <c:idx val="6"/>
          <c:order val="6"/>
          <c:tx>
            <c:strRef>
              <c:f>Sheet1!$Y$1</c:f>
              <c:strCache>
                <c:ptCount val="1"/>
                <c:pt idx="0">
                  <c:v>Bucket 7: terminal/charter tail points</c:v>
                </c:pt>
              </c:strCache>
            </c:strRef>
          </c:tx>
          <c:spPr>
            <a:solidFill>
              <a:srgbClr val="C30C3E"/>
            </a:solidFill>
            <a:ln w="3175" cmpd="sng" algn="ctr">
              <a:solidFill>
                <a:schemeClr val="tx1"/>
              </a:solidFill>
              <a:prstDash val="solid"/>
            </a:ln>
          </c:spPr>
          <c:invertIfNegative val="0"/>
          <c:dPt>
            <c:idx val="72"/>
            <c:invertIfNegative val="0"/>
            <c:bubble3D val="0"/>
            <c:spPr>
              <a:solidFill>
                <a:srgbClr val="27AE60"/>
              </a:solidFill>
              <a:ln w="3175" cmpd="sng" algn="ctr">
                <a:solidFill>
                  <a:schemeClr val="tx1"/>
                </a:solidFill>
                <a:prstDash val="solid"/>
              </a:ln>
            </c:spPr>
          </c:dPt>
          <c:xVal>
            <c:numRef>
              <c:f>Sheet1!$Z$2:$Z$74</c:f>
              <c:numCache>
                <c:formatCode>General</c:formatCode>
                <c:ptCount val="73"/>
                <c:pt idx="70">
                  <c:v>2023</c:v>
                </c:pt>
                <c:pt idx="71">
                  <c:v>2024</c:v>
                </c:pt>
                <c:pt idx="72">
                  <c:v>2020</c:v>
                </c:pt>
              </c:numCache>
            </c:numRef>
          </c:xVal>
          <c:yVal>
            <c:numRef>
              <c:f>Sheet1!$AA$2:$AA$74</c:f>
              <c:numCache>
                <c:formatCode>#,##0;"-"#,##0</c:formatCode>
                <c:ptCount val="73"/>
                <c:pt idx="70">
                  <c:v>1.7566688353936235</c:v>
                </c:pt>
                <c:pt idx="71">
                  <c:v>5.16068282607375</c:v>
                </c:pt>
                <c:pt idx="72">
                  <c:v>43.17748917748918</c:v>
                </c:pt>
              </c:numCache>
            </c:numRef>
          </c:yVal>
          <c:bubbleSize>
            <c:numRef>
              <c:f>Sheet1!$AB$2:$AB$74</c:f>
              <c:numCache>
                <c:formatCode>General</c:formatCode>
                <c:ptCount val="73"/>
                <c:pt idx="70">
                  <c:v>1049.4636</c:v>
                </c:pt>
                <c:pt idx="71">
                  <c:v>1018.11285</c:v>
                </c:pt>
                <c:pt idx="72">
                  <c:v>462</c:v>
                </c:pt>
              </c:numCache>
            </c:numRef>
          </c:bubbleSize>
          <c:bubble3D val="0"/>
        </c:ser>
        <c:bubbleScale val="66"/>
        <c:showNegBubbles val="0"/>
        <c:axId val="555555555"/>
        <c:axId val="666666666"/>
      </c:bubbleChart>
      <c:valAx>
        <c:axId val="555555555"/>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666666666"/>
        <c:crossesAt val="0"/>
        <c:crossBetween val="midCat"/>
        <c:majorUnit val="1"/>
      </c:valAx>
      <c:valAx>
        <c:axId val="666666666"/>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555555555"/>
        <c:crosses val="min"/>
        <c:crossBetween val="midCat"/>
        <c:majorUnit val="10"/>
      </c:valAx>
    </c:plotArea>
    <c:plotVisOnly val="0"/>
    <c:dispBlanksAs val="gap"/>
    <c:showDLblsOverMax val="1"/>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8546866333887965"/>
          <c:y val="0.053951367781155016"/>
          <c:w val="0.9290072102052135"/>
          <c:h val="0.89209726443769"/>
        </c:manualLayout>
      </c:layout>
      <c:barChart>
        <c:barDir val="col"/>
        <c:grouping val="stacked"/>
        <c:varyColors val="0"/>
        <c:ser>
          <c:idx val="0"/>
          <c:order val="0"/>
          <c:tx>
            <c:strRef>
              <c:f>Sheet1!$B$1</c:f>
              <c:strCache>
                <c:ptCount val="1"/>
                <c:pt idx="0">
                  <c:v>FSV/PSV Adds</c:v>
                </c:pt>
              </c:strCache>
            </c:strRef>
          </c:tx>
          <c:spPr>
            <a:solidFill>
              <a:srgbClr val="364D6E"/>
            </a:solidFill>
            <a:ln>
              <a:noFill/>
            </a:ln>
          </c:spPr>
          <c:invertIfNegative val="0"/>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Sheet1!$B$2:$B$41</c:f>
              <c:numCache>
                <c:formatCode>#,##0;"-"#,##0</c:formatCode>
                <c:ptCount val="40"/>
                <c:pt idx="4">
                  <c:v>2</c:v>
                </c:pt>
                <c:pt idx="5">
                  <c:v>1</c:v>
                </c:pt>
                <c:pt idx="6">
                  <c:v>1</c:v>
                </c:pt>
                <c:pt idx="8">
                  <c:v>1</c:v>
                </c:pt>
                <c:pt idx="9">
                  <c:v>2</c:v>
                </c:pt>
                <c:pt idx="10">
                  <c:v>4</c:v>
                </c:pt>
                <c:pt idx="11">
                  <c:v>7</c:v>
                </c:pt>
                <c:pt idx="12">
                  <c:v>14</c:v>
                </c:pt>
                <c:pt idx="13">
                  <c:v>15</c:v>
                </c:pt>
                <c:pt idx="14">
                  <c:v>11</c:v>
                </c:pt>
                <c:pt idx="15">
                  <c:v>5</c:v>
                </c:pt>
                <c:pt idx="16">
                  <c:v>11</c:v>
                </c:pt>
                <c:pt idx="17">
                  <c:v>17</c:v>
                </c:pt>
                <c:pt idx="18">
                  <c:v>8</c:v>
                </c:pt>
                <c:pt idx="19">
                  <c:v>12</c:v>
                </c:pt>
                <c:pt idx="20">
                  <c:v>9</c:v>
                </c:pt>
                <c:pt idx="21">
                  <c:v>18</c:v>
                </c:pt>
                <c:pt idx="22">
                  <c:v>18</c:v>
                </c:pt>
                <c:pt idx="23">
                  <c:v>16</c:v>
                </c:pt>
                <c:pt idx="24">
                  <c:v>16</c:v>
                </c:pt>
                <c:pt idx="25">
                  <c:v>7</c:v>
                </c:pt>
                <c:pt idx="26">
                  <c:v>13</c:v>
                </c:pt>
                <c:pt idx="27">
                  <c:v>18</c:v>
                </c:pt>
                <c:pt idx="28">
                  <c:v>33</c:v>
                </c:pt>
                <c:pt idx="29">
                  <c:v>23</c:v>
                </c:pt>
                <c:pt idx="30">
                  <c:v>11</c:v>
                </c:pt>
                <c:pt idx="31">
                  <c:v>6</c:v>
                </c:pt>
                <c:pt idx="32">
                  <c:v>5</c:v>
                </c:pt>
                <c:pt idx="33">
                  <c:v>3</c:v>
                </c:pt>
                <c:pt idx="34">
                  <c:v>1</c:v>
                </c:pt>
                <c:pt idx="35">
                  <c:v>2</c:v>
                </c:pt>
              </c:numCache>
            </c:numRef>
          </c:val>
        </c:ser>
        <c:gapWidth val="80"/>
        <c:overlap val="100"/>
        <c:axId val="111111111"/>
        <c:axId val="222222222"/>
      </c:barChart>
      <c:lineChart>
        <c:grouping val="standard"/>
        <c:varyColors val="0"/>
        <c:ser>
          <c:idx val="1"/>
          <c:order val="1"/>
          <c:tx>
            <c:strRef>
              <c:f>Sheet1!$C$1</c:f>
              <c:strCache>
                <c:ptCount val="1"/>
                <c:pt idx="0">
                  <c:v>WTI Spot Price ($ / barrel)</c:v>
                </c:pt>
              </c:strCache>
            </c:strRef>
          </c:tx>
          <c:spPr>
            <a:ln w="28575" cap="rnd">
              <a:solidFill>
                <a:srgbClr val="FFC000"/>
              </a:solidFill>
              <a:round/>
            </a:ln>
          </c:spPr>
          <c:marker>
            <c:symbol val="none"/>
          </c:marker>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Sheet1!$C$2:$C$41</c:f>
              <c:numCache>
                <c:formatCode>General</c:formatCode>
                <c:ptCount val="40"/>
                <c:pt idx="0">
                  <c:v>37.29</c:v>
                </c:pt>
                <c:pt idx="1">
                  <c:v>46.15</c:v>
                </c:pt>
                <c:pt idx="2">
                  <c:v>36.94</c:v>
                </c:pt>
                <c:pt idx="3">
                  <c:v>43.53</c:v>
                </c:pt>
                <c:pt idx="4">
                  <c:v>52.09</c:v>
                </c:pt>
                <c:pt idx="5">
                  <c:v>44.26</c:v>
                </c:pt>
                <c:pt idx="6">
                  <c:v>41.19</c:v>
                </c:pt>
                <c:pt idx="7">
                  <c:v>35.99</c:v>
                </c:pt>
                <c:pt idx="8">
                  <c:v>32.9</c:v>
                </c:pt>
                <c:pt idx="9">
                  <c:v>34.52</c:v>
                </c:pt>
                <c:pt idx="10">
                  <c:v>40.57</c:v>
                </c:pt>
                <c:pt idx="11">
                  <c:v>37.15</c:v>
                </c:pt>
                <c:pt idx="12">
                  <c:v>25.79</c:v>
                </c:pt>
                <c:pt idx="13">
                  <c:v>34.09</c:v>
                </c:pt>
                <c:pt idx="14">
                  <c:v>52.23</c:v>
                </c:pt>
                <c:pt idx="15">
                  <c:v>43.79</c:v>
                </c:pt>
                <c:pt idx="16">
                  <c:v>43.55</c:v>
                </c:pt>
                <c:pt idx="17">
                  <c:v>50.64</c:v>
                </c:pt>
                <c:pt idx="18">
                  <c:v>66.0</c:v>
                </c:pt>
                <c:pt idx="19">
                  <c:v>87.53</c:v>
                </c:pt>
                <c:pt idx="20">
                  <c:v>99.28</c:v>
                </c:pt>
                <c:pt idx="21">
                  <c:v>106.01</c:v>
                </c:pt>
                <c:pt idx="22">
                  <c:v>141.87</c:v>
                </c:pt>
                <c:pt idx="23">
                  <c:v>88.42</c:v>
                </c:pt>
                <c:pt idx="24">
                  <c:v>111.45</c:v>
                </c:pt>
                <c:pt idx="25">
                  <c:v>129.76</c:v>
                </c:pt>
                <c:pt idx="26">
                  <c:v>126.27</c:v>
                </c:pt>
                <c:pt idx="27">
                  <c:v>129.84</c:v>
                </c:pt>
                <c:pt idx="28">
                  <c:v>121.76</c:v>
                </c:pt>
                <c:pt idx="29">
                  <c:v>63.47</c:v>
                </c:pt>
                <c:pt idx="30">
                  <c:v>55.9</c:v>
                </c:pt>
                <c:pt idx="31">
                  <c:v>64.48</c:v>
                </c:pt>
                <c:pt idx="32">
                  <c:v>81.13</c:v>
                </c:pt>
                <c:pt idx="33">
                  <c:v>69.88</c:v>
                </c:pt>
                <c:pt idx="34">
                  <c:v>47.49</c:v>
                </c:pt>
                <c:pt idx="35">
                  <c:v>79.35</c:v>
                </c:pt>
                <c:pt idx="36">
                  <c:v>103.75</c:v>
                </c:pt>
                <c:pt idx="37">
                  <c:v>81.71</c:v>
                </c:pt>
                <c:pt idx="38">
                  <c:v>78.65</c:v>
                </c:pt>
                <c:pt idx="39">
                  <c:v>65.39</c:v>
                </c:pt>
              </c:numCache>
            </c:numRef>
          </c:val>
          <c:smooth val="0"/>
        </c:ser>
        <c:ser>
          <c:idx val="2"/>
          <c:order val="2"/>
          <c:tx>
            <c:strRef>
              <c:f>Sheet1!$D$1</c:f>
              <c:strCache>
                <c:ptCount val="1"/>
                <c:pt idx="0">
                  <c:v>Brent Spot Price ($ / barrel)</c:v>
                </c:pt>
              </c:strCache>
            </c:strRef>
          </c:tx>
          <c:spPr>
            <a:ln w="28575" cap="rnd">
              <a:solidFill>
                <a:srgbClr val="007770"/>
              </a:solidFill>
              <a:round/>
            </a:ln>
          </c:spPr>
          <c:marker>
            <c:symbol val="none"/>
          </c:marker>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Sheet1!$D$2:$D$41</c:f>
              <c:numCache>
                <c:formatCode>General</c:formatCode>
                <c:ptCount val="40"/>
                <c:pt idx="1">
                  <c:v>44.54</c:v>
                </c:pt>
                <c:pt idx="2">
                  <c:v>34.49</c:v>
                </c:pt>
                <c:pt idx="3">
                  <c:v>40.41</c:v>
                </c:pt>
                <c:pt idx="4">
                  <c:v>50.45</c:v>
                </c:pt>
                <c:pt idx="5">
                  <c:v>41.17</c:v>
                </c:pt>
                <c:pt idx="6">
                  <c:v>38.66</c:v>
                </c:pt>
                <c:pt idx="7">
                  <c:v>33.21</c:v>
                </c:pt>
                <c:pt idx="8">
                  <c:v>30.34</c:v>
                </c:pt>
                <c:pt idx="9">
                  <c:v>31.88</c:v>
                </c:pt>
                <c:pt idx="10">
                  <c:v>37.86</c:v>
                </c:pt>
                <c:pt idx="11">
                  <c:v>34.45</c:v>
                </c:pt>
                <c:pt idx="12">
                  <c:v>22.82</c:v>
                </c:pt>
                <c:pt idx="13">
                  <c:v>31.55</c:v>
                </c:pt>
                <c:pt idx="14">
                  <c:v>49.27</c:v>
                </c:pt>
                <c:pt idx="15">
                  <c:v>41.23</c:v>
                </c:pt>
                <c:pt idx="16">
                  <c:v>41.57</c:v>
                </c:pt>
                <c:pt idx="17">
                  <c:v>47.01</c:v>
                </c:pt>
                <c:pt idx="18">
                  <c:v>60.83</c:v>
                </c:pt>
                <c:pt idx="19">
                  <c:v>84.33</c:v>
                </c:pt>
                <c:pt idx="20">
                  <c:v>97.94</c:v>
                </c:pt>
                <c:pt idx="21">
                  <c:v>106.16</c:v>
                </c:pt>
                <c:pt idx="22">
                  <c:v>137.98</c:v>
                </c:pt>
                <c:pt idx="23">
                  <c:v>88.12</c:v>
                </c:pt>
                <c:pt idx="24">
                  <c:v>111.63</c:v>
                </c:pt>
                <c:pt idx="25">
                  <c:v>152.16</c:v>
                </c:pt>
                <c:pt idx="26">
                  <c:v>149.87</c:v>
                </c:pt>
                <c:pt idx="27">
                  <c:v>143.86</c:v>
                </c:pt>
                <c:pt idx="28">
                  <c:v>129.34</c:v>
                </c:pt>
                <c:pt idx="29">
                  <c:v>68.25</c:v>
                </c:pt>
                <c:pt idx="30">
                  <c:v>56.36</c:v>
                </c:pt>
                <c:pt idx="31">
                  <c:v>68.7</c:v>
                </c:pt>
                <c:pt idx="32">
                  <c:v>88.73</c:v>
                </c:pt>
                <c:pt idx="33">
                  <c:v>78.84</c:v>
                </c:pt>
                <c:pt idx="34">
                  <c:v>50.88</c:v>
                </c:pt>
                <c:pt idx="35">
                  <c:v>82.53</c:v>
                </c:pt>
                <c:pt idx="36">
                  <c:v>110.34</c:v>
                </c:pt>
                <c:pt idx="37">
                  <c:v>86.88</c:v>
                </c:pt>
                <c:pt idx="38">
                  <c:v>82.64</c:v>
                </c:pt>
                <c:pt idx="39">
                  <c:v>69.14</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50"/>
          <c:min val="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ax"/>
        <c:crossBetween val="between"/>
        <c:majorUnit val="5"/>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6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333333333"/>
        <c:crosses val="min"/>
        <c:crossBetween val="between"/>
        <c:majorUnit val="10"/>
      </c:valAx>
    </c:plotArea>
    <c:plotVisOnly val="1"/>
    <c:dispBlanksAs val="gap"/>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manualLayout>
          <c:layoutTarget val="inner"/>
          <c:xMode val="edge"/>
          <c:yMode val="edge"/>
          <c:x val="0.036134570123217497"/>
          <c:y val="0.032721202003338896"/>
          <c:w val="0.9566662051779039"/>
          <c:h val="0.9275459098497496"/>
        </c:manualLayout>
      </c:layout>
      <c:bubbleChart>
        <c:varyColors val="0"/>
        <c:ser>
          <c:idx val="0"/>
          <c:order val="0"/>
          <c:tx>
            <c:strRef>
              <c:f>Sheet1!$A$1</c:f>
              <c:strCache>
                <c:ptCount val="1"/>
                <c:pt idx="0">
                  <c:v>Source bucket 1 — shipbuilder residuals</c:v>
                </c:pt>
              </c:strCache>
            </c:strRef>
          </c:tx>
          <c:spPr>
            <a:solidFill>
              <a:srgbClr val="C30C3E"/>
            </a:solidFill>
            <a:ln w="3175" cmpd="sng" algn="ctr">
              <a:solidFill>
                <a:schemeClr val="tx1"/>
              </a:solidFill>
              <a:prstDash val="solid"/>
            </a:ln>
          </c:spPr>
          <c:invertIfNegative val="0"/>
          <c:xVal>
            <c:numRef>
              <c:f>Sheet1!$B$2:$B$74</c:f>
              <c:numCache>
                <c:formatCode>General</c:formatCode>
                <c:ptCount val="73"/>
                <c:pt idx="0">
                  <c:v>2021</c:v>
                </c:pt>
                <c:pt idx="1">
                  <c:v>2022</c:v>
                </c:pt>
                <c:pt idx="2">
                  <c:v>2022</c:v>
                </c:pt>
              </c:numCache>
            </c:numRef>
          </c:xVal>
          <c:yVal>
            <c:numRef>
              <c:f>Sheet1!$C$2:$C$74</c:f>
              <c:numCache>
                <c:formatCode>#,##0;"-"#,##0</c:formatCode>
                <c:ptCount val="73"/>
                <c:pt idx="0">
                  <c:v>-2.9787234042553195</c:v>
                </c:pt>
                <c:pt idx="1">
                  <c:v>-33.20027982387556</c:v>
                </c:pt>
                <c:pt idx="2">
                  <c:v>1.9083969465648851</c:v>
                </c:pt>
              </c:numCache>
            </c:numRef>
          </c:yVal>
          <c:bubbleSize>
            <c:numRef>
              <c:f>Sheet1!$D$2:$D$74</c:f>
              <c:numCache>
                <c:formatCode>General</c:formatCode>
                <c:ptCount val="73"/>
                <c:pt idx="0">
                  <c:v>19771.325688420737</c:v>
                </c:pt>
                <c:pt idx="1">
                  <c:v>3856.7506229268834</c:v>
                </c:pt>
                <c:pt idx="2">
                  <c:v>20790.68069640845</c:v>
                </c:pt>
              </c:numCache>
            </c:numRef>
          </c:bubbleSize>
          <c:bubble3D val="0"/>
        </c:ser>
        <c:ser>
          <c:idx val="1"/>
          <c:order val="1"/>
          <c:tx>
            <c:strRef>
              <c:f>Sheet1!$E$1</c:f>
              <c:strCache>
                <c:ptCount val="1"/>
                <c:pt idx="0">
                  <c:v>Source bucket 2 — mixed shipbuilder / owner-operator</c:v>
                </c:pt>
              </c:strCache>
            </c:strRef>
          </c:tx>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dPt>
          <c:dPt>
            <c:idx val="4"/>
            <c:invertIfNegative val="0"/>
            <c:bubble3D val="0"/>
            <c:spPr>
              <a:solidFill>
                <a:srgbClr val="C30C3E"/>
              </a:solidFill>
              <a:ln w="3175" cmpd="sng" algn="ctr">
                <a:solidFill>
                  <a:schemeClr val="tx1"/>
                </a:solidFill>
                <a:prstDash val="solid"/>
              </a:ln>
            </c:spPr>
          </c:dPt>
          <c:dPt>
            <c:idx val="5"/>
            <c:invertIfNegative val="0"/>
            <c:bubble3D val="0"/>
            <c:spPr>
              <a:solidFill>
                <a:srgbClr val="C30C3E"/>
              </a:solidFill>
              <a:ln w="3175" cmpd="sng" algn="ctr">
                <a:solidFill>
                  <a:schemeClr val="tx1"/>
                </a:solidFill>
                <a:prstDash val="solid"/>
              </a:ln>
            </c:spPr>
          </c:dPt>
          <c:dPt>
            <c:idx val="6"/>
            <c:invertIfNegative val="0"/>
            <c:bubble3D val="0"/>
            <c:spPr>
              <a:solidFill>
                <a:srgbClr val="C30C3E"/>
              </a:solidFill>
              <a:ln w="3175" cmpd="sng" algn="ctr">
                <a:solidFill>
                  <a:schemeClr val="tx1"/>
                </a:solidFill>
                <a:prstDash val="solid"/>
              </a:ln>
            </c:spPr>
          </c:dPt>
          <c:xVal>
            <c:numRef>
              <c:f>Sheet1!$F$2:$F$74</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Sheet1!$G$2:$G$74</c:f>
              <c:numCache>
                <c:formatCode>#,##0;"-"#,##0</c:formatCode>
                <c:ptCount val="73"/>
                <c:pt idx="3">
                  <c:v>-7.826086956521738</c:v>
                </c:pt>
                <c:pt idx="4">
                  <c:v>-38.99333333333333</c:v>
                </c:pt>
                <c:pt idx="5">
                  <c:v>4.1817392562581395</c:v>
                </c:pt>
                <c:pt idx="6">
                  <c:v>0.3434112180997913</c:v>
                </c:pt>
                <c:pt idx="7">
                  <c:v>10.954584404455868</c:v>
                </c:pt>
                <c:pt idx="8">
                  <c:v>54.245502842762605</c:v>
                </c:pt>
                <c:pt idx="9">
                  <c:v>37.24290927185272</c:v>
                </c:pt>
                <c:pt idx="10">
                  <c:v>45.33351996143019</c:v>
                </c:pt>
                <c:pt idx="11">
                  <c:v>-8.174809189880284</c:v>
                </c:pt>
                <c:pt idx="12">
                  <c:v>6.617537812379283</c:v>
                </c:pt>
                <c:pt idx="13">
                  <c:v>42.112632603175356</c:v>
                </c:pt>
                <c:pt idx="14">
                  <c:v>12.68588852038087</c:v>
                </c:pt>
              </c:numCache>
            </c:numRef>
          </c:yVal>
          <c:bubbleSize>
            <c:numRef>
              <c:f>Sheet1!$H$2:$H$74</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ser>
        <c:ser>
          <c:idx val="2"/>
          <c:order val="2"/>
          <c:tx>
            <c:strRef>
              <c:f>Sheet1!$I$1</c:f>
              <c:strCache>
                <c:ptCount val="1"/>
                <c:pt idx="0">
                  <c:v>Source bucket 3 — mixed archetype operating margins</c:v>
                </c:pt>
              </c:strCache>
            </c:strRef>
          </c:tx>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dPt>
          <c:dPt>
            <c:idx val="16"/>
            <c:invertIfNegative val="0"/>
            <c:bubble3D val="0"/>
            <c:spPr>
              <a:solidFill>
                <a:srgbClr val="C30C3E"/>
              </a:solidFill>
              <a:ln w="3175" cmpd="sng" algn="ctr">
                <a:solidFill>
                  <a:schemeClr val="tx1"/>
                </a:solidFill>
                <a:prstDash val="solid"/>
              </a:ln>
            </c:spPr>
          </c:dPt>
          <c:dPt>
            <c:idx val="17"/>
            <c:invertIfNegative val="0"/>
            <c:bubble3D val="0"/>
            <c:spPr>
              <a:solidFill>
                <a:srgbClr val="C30C3E"/>
              </a:solidFill>
              <a:ln w="3175" cmpd="sng" algn="ctr">
                <a:solidFill>
                  <a:schemeClr val="tx1"/>
                </a:solidFill>
                <a:prstDash val="solid"/>
              </a:ln>
            </c:spPr>
          </c:dPt>
          <c:dPt>
            <c:idx val="18"/>
            <c:invertIfNegative val="0"/>
            <c:bubble3D val="0"/>
            <c:spPr>
              <a:solidFill>
                <a:srgbClr val="C30C3E"/>
              </a:solidFill>
              <a:ln w="3175" cmpd="sng" algn="ctr">
                <a:solidFill>
                  <a:schemeClr val="tx1"/>
                </a:solidFill>
                <a:prstDash val="solid"/>
              </a:ln>
            </c:spPr>
          </c:dPt>
          <c:dPt>
            <c:idx val="19"/>
            <c:invertIfNegative val="0"/>
            <c:bubble3D val="0"/>
            <c:spPr>
              <a:solidFill>
                <a:srgbClr val="364D6E"/>
              </a:solidFill>
              <a:ln w="3175" cmpd="sng" algn="ctr">
                <a:solidFill>
                  <a:schemeClr val="tx1"/>
                </a:solidFill>
                <a:prstDash val="solid"/>
              </a:ln>
            </c:spPr>
          </c:dPt>
          <c:dPt>
            <c:idx val="20"/>
            <c:invertIfNegative val="0"/>
            <c:bubble3D val="0"/>
            <c:spPr>
              <a:solidFill>
                <a:srgbClr val="364D6E"/>
              </a:solidFill>
              <a:ln w="3175" cmpd="sng" algn="ctr">
                <a:solidFill>
                  <a:schemeClr val="tx1"/>
                </a:solidFill>
                <a:prstDash val="solid"/>
              </a:ln>
            </c:spPr>
          </c:dPt>
          <c:dPt>
            <c:idx val="21"/>
            <c:invertIfNegative val="0"/>
            <c:bubble3D val="0"/>
            <c:spPr>
              <a:solidFill>
                <a:srgbClr val="364D6E"/>
              </a:solidFill>
              <a:ln w="3175" cmpd="sng" algn="ctr">
                <a:solidFill>
                  <a:schemeClr val="tx1"/>
                </a:solidFill>
                <a:prstDash val="solid"/>
              </a:ln>
            </c:spPr>
          </c:dPt>
          <c:dPt>
            <c:idx val="22"/>
            <c:invertIfNegative val="0"/>
            <c:bubble3D val="0"/>
            <c:spPr>
              <a:solidFill>
                <a:srgbClr val="364D6E"/>
              </a:solidFill>
              <a:ln w="3175" cmpd="sng" algn="ctr">
                <a:solidFill>
                  <a:schemeClr val="tx1"/>
                </a:solidFill>
                <a:prstDash val="solid"/>
              </a:ln>
            </c:spPr>
          </c:dPt>
          <c:dPt>
            <c:idx val="23"/>
            <c:invertIfNegative val="0"/>
            <c:bubble3D val="0"/>
            <c:spPr>
              <a:solidFill>
                <a:srgbClr val="364D6E"/>
              </a:solidFill>
              <a:ln w="3175" cmpd="sng" algn="ctr">
                <a:solidFill>
                  <a:schemeClr val="tx1"/>
                </a:solidFill>
                <a:prstDash val="solid"/>
              </a:ln>
            </c:spPr>
          </c:dPt>
          <c:dPt>
            <c:idx val="24"/>
            <c:invertIfNegative val="0"/>
            <c:bubble3D val="0"/>
            <c:spPr>
              <a:solidFill>
                <a:srgbClr val="364D6E"/>
              </a:solidFill>
              <a:ln w="3175" cmpd="sng" algn="ctr">
                <a:solidFill>
                  <a:schemeClr val="tx1"/>
                </a:solidFill>
                <a:prstDash val="solid"/>
              </a:ln>
            </c:spPr>
          </c:dPt>
          <c:dPt>
            <c:idx val="25"/>
            <c:invertIfNegative val="0"/>
            <c:bubble3D val="0"/>
            <c:spPr>
              <a:solidFill>
                <a:srgbClr val="364D6E"/>
              </a:solidFill>
              <a:ln w="3175" cmpd="sng" algn="ctr">
                <a:solidFill>
                  <a:schemeClr val="tx1"/>
                </a:solidFill>
                <a:prstDash val="solid"/>
              </a:ln>
            </c:spPr>
          </c:dPt>
          <c:xVal>
            <c:numRef>
              <c:f>Sheet1!$J$2:$J$74</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Sheet1!$K$2:$K$74</c:f>
              <c:numCache>
                <c:formatCode>#,##0;"-"#,##0</c:formatCode>
                <c:ptCount val="73"/>
                <c:pt idx="15">
                  <c:v>7.840197254431562</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50.73212274388066</c:v>
                </c:pt>
                <c:pt idx="24">
                  <c:v>14.143675169182718</c:v>
                </c:pt>
                <c:pt idx="25">
                  <c:v>13.392813131562084</c:v>
                </c:pt>
                <c:pt idx="26">
                  <c:v>51.92159420289856</c:v>
                </c:pt>
                <c:pt idx="27">
                  <c:v>55.61092637836599</c:v>
                </c:pt>
                <c:pt idx="28">
                  <c:v>65.80422960725076</c:v>
                </c:pt>
                <c:pt idx="29">
                  <c:v>59.455101588262075</c:v>
                </c:pt>
                <c:pt idx="30">
                  <c:v>14.103882746207253</c:v>
                </c:pt>
                <c:pt idx="31">
                  <c:v>59.61611909650924</c:v>
                </c:pt>
                <c:pt idx="32">
                  <c:v>30.965074903765107</c:v>
                </c:pt>
                <c:pt idx="33">
                  <c:v>21.258235671389425</c:v>
                </c:pt>
                <c:pt idx="34">
                  <c:v>22.182558229929164</c:v>
                </c:pt>
              </c:numCache>
            </c:numRef>
          </c:yVal>
          <c:bubbleSize>
            <c:numRef>
              <c:f>Sheet1!$L$2:$L$74</c:f>
              <c:numCache>
                <c:formatCode>General</c:formatCode>
                <c:ptCount val="73"/>
                <c:pt idx="15">
                  <c:v>1089.4355999999998</c:v>
                </c:pt>
                <c:pt idx="16">
                  <c:v>8004.243600000001</c:v>
                </c:pt>
                <c:pt idx="17">
                  <c:v>25097.40737584917</c:v>
                </c:pt>
                <c:pt idx="18">
                  <c:v>23479.89660725644</c:v>
                </c:pt>
                <c:pt idx="19">
                  <c:v>3992</c:v>
                </c:pt>
                <c:pt idx="20">
                  <c:v>14577</c:v>
                </c:pt>
                <c:pt idx="21">
                  <c:v>26356</c:v>
                </c:pt>
                <c:pt idx="22">
                  <c:v>3544.6</c:v>
                </c:pt>
                <c:pt idx="23">
                  <c:v>36401</c:v>
                </c:pt>
                <c:pt idx="24">
                  <c:v>19210</c:v>
                </c:pt>
                <c:pt idx="25">
                  <c:v>20287</c:v>
                </c:pt>
                <c:pt idx="26">
                  <c:v>690</c:v>
                </c:pt>
                <c:pt idx="27">
                  <c:v>793.639</c:v>
                </c:pt>
                <c:pt idx="28">
                  <c:v>993</c:v>
                </c:pt>
                <c:pt idx="29">
                  <c:v>1113.859</c:v>
                </c:pt>
                <c:pt idx="30">
                  <c:v>1555.6</c:v>
                </c:pt>
                <c:pt idx="31">
                  <c:v>974</c:v>
                </c:pt>
                <c:pt idx="32">
                  <c:v>1511.406</c:v>
                </c:pt>
                <c:pt idx="33">
                  <c:v>1715.1</c:v>
                </c:pt>
                <c:pt idx="34">
                  <c:v>2083.894</c:v>
                </c:pt>
              </c:numCache>
            </c:numRef>
          </c:bubbleSize>
          <c:bubble3D val="0"/>
        </c:ser>
        <c:ser>
          <c:idx val="3"/>
          <c:order val="3"/>
          <c:tx>
            <c:strRef>
              <c:f>Sheet1!$M$1</c:f>
              <c:strCache>
                <c:ptCount val="1"/>
                <c:pt idx="0">
                  <c:v>Source bucket 4 — owner-operator / integrated-terminal mix</c:v>
                </c:pt>
              </c:strCache>
            </c:strRef>
          </c:tx>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dPt>
          <c:dPt>
            <c:idx val="36"/>
            <c:invertIfNegative val="0"/>
            <c:bubble3D val="0"/>
            <c:spPr>
              <a:solidFill>
                <a:srgbClr val="C30C3E"/>
              </a:solidFill>
              <a:ln w="3175" cmpd="sng" algn="ctr">
                <a:solidFill>
                  <a:schemeClr val="tx1"/>
                </a:solidFill>
                <a:prstDash val="solid"/>
              </a:ln>
            </c:spPr>
          </c:dPt>
          <c:dPt>
            <c:idx val="37"/>
            <c:invertIfNegative val="0"/>
            <c:bubble3D val="0"/>
            <c:spPr>
              <a:solidFill>
                <a:srgbClr val="C30C3E"/>
              </a:solidFill>
              <a:ln w="3175" cmpd="sng" algn="ctr">
                <a:solidFill>
                  <a:schemeClr val="tx1"/>
                </a:solidFill>
                <a:prstDash val="solid"/>
              </a:ln>
            </c:spPr>
          </c:dPt>
          <c:dPt>
            <c:idx val="38"/>
            <c:invertIfNegative val="0"/>
            <c:bubble3D val="0"/>
            <c:spPr>
              <a:solidFill>
                <a:srgbClr val="C30C3E"/>
              </a:solidFill>
              <a:ln w="3175" cmpd="sng" algn="ctr">
                <a:solidFill>
                  <a:schemeClr val="tx1"/>
                </a:solidFill>
                <a:prstDash val="solid"/>
              </a:ln>
            </c:spPr>
          </c:dPt>
          <c:dPt>
            <c:idx val="44"/>
            <c:invertIfNegative val="0"/>
            <c:bubble3D val="0"/>
            <c:spPr>
              <a:solidFill>
                <a:srgbClr val="27AE60"/>
              </a:solidFill>
              <a:ln w="3175" cmpd="sng" algn="ctr">
                <a:solidFill>
                  <a:schemeClr val="tx1"/>
                </a:solidFill>
                <a:prstDash val="solid"/>
              </a:ln>
            </c:spPr>
          </c:dPt>
          <c:dPt>
            <c:idx val="45"/>
            <c:invertIfNegative val="0"/>
            <c:bubble3D val="0"/>
            <c:spPr>
              <a:solidFill>
                <a:srgbClr val="6F8DB9"/>
              </a:solidFill>
              <a:ln w="3175" cmpd="sng" algn="ctr">
                <a:solidFill>
                  <a:schemeClr val="tx1"/>
                </a:solidFill>
                <a:prstDash val="solid"/>
              </a:ln>
            </c:spPr>
          </c:dPt>
          <c:dPt>
            <c:idx val="46"/>
            <c:invertIfNegative val="0"/>
            <c:bubble3D val="0"/>
            <c:spPr>
              <a:solidFill>
                <a:srgbClr val="6F8DB9"/>
              </a:solidFill>
              <a:ln w="3175" cmpd="sng" algn="ctr">
                <a:solidFill>
                  <a:schemeClr val="tx1"/>
                </a:solidFill>
                <a:prstDash val="solid"/>
              </a:ln>
            </c:spPr>
          </c:dPt>
          <c:dPt>
            <c:idx val="47"/>
            <c:invertIfNegative val="0"/>
            <c:bubble3D val="0"/>
            <c:spPr>
              <a:solidFill>
                <a:srgbClr val="6F8DB9"/>
              </a:solidFill>
              <a:ln w="3175" cmpd="sng" algn="ctr">
                <a:solidFill>
                  <a:schemeClr val="tx1"/>
                </a:solidFill>
                <a:prstDash val="solid"/>
              </a:ln>
            </c:spPr>
          </c:dPt>
          <c:dPt>
            <c:idx val="48"/>
            <c:invertIfNegative val="0"/>
            <c:bubble3D val="0"/>
            <c:spPr>
              <a:solidFill>
                <a:srgbClr val="6F8DB9"/>
              </a:solidFill>
              <a:ln w="3175" cmpd="sng" algn="ctr">
                <a:solidFill>
                  <a:schemeClr val="tx1"/>
                </a:solidFill>
                <a:prstDash val="solid"/>
              </a:ln>
            </c:spPr>
          </c:dPt>
          <c:dPt>
            <c:idx val="49"/>
            <c:invertIfNegative val="0"/>
            <c:bubble3D val="0"/>
            <c:spPr>
              <a:solidFill>
                <a:srgbClr val="6F8DB9"/>
              </a:solidFill>
              <a:ln w="3175" cmpd="sng" algn="ctr">
                <a:solidFill>
                  <a:schemeClr val="tx1"/>
                </a:solidFill>
                <a:prstDash val="solid"/>
              </a:ln>
            </c:spPr>
          </c:dPt>
          <c:xVal>
            <c:numRef>
              <c:f>Sheet1!$N$2:$N$74</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Sheet1!$O$2:$O$74</c:f>
              <c:numCache>
                <c:formatCode>#,##0;"-"#,##0</c:formatCode>
                <c:ptCount val="73"/>
                <c:pt idx="35">
                  <c:v>2.517434937914611</c:v>
                </c:pt>
                <c:pt idx="36">
                  <c:v>3.845388188453882</c:v>
                </c:pt>
                <c:pt idx="37">
                  <c:v>1.324192336589031</c:v>
                </c:pt>
                <c:pt idx="38">
                  <c:v>5.615161719790116</c:v>
                </c:pt>
                <c:pt idx="39">
                  <c:v>13.204595717136847</c:v>
                </c:pt>
                <c:pt idx="40">
                  <c:v>36.315755873340144</c:v>
                </c:pt>
                <c:pt idx="41">
                  <c:v>48.91892752515603</c:v>
                </c:pt>
                <c:pt idx="42">
                  <c:v>11.90149374243036</c:v>
                </c:pt>
                <c:pt idx="43">
                  <c:v>17.827526070398974</c:v>
                </c:pt>
                <c:pt idx="44">
                  <c:v>13.105694094747339</c:v>
                </c:pt>
                <c:pt idx="45">
                  <c:v>31.652219595482006</c:v>
                </c:pt>
                <c:pt idx="46">
                  <c:v>29.325000000000003</c:v>
                </c:pt>
                <c:pt idx="47">
                  <c:v>19.03454587051018</c:v>
                </c:pt>
                <c:pt idx="48">
                  <c:v>25.494276795005206</c:v>
                </c:pt>
                <c:pt idx="49">
                  <c:v>29.764837625979844</c:v>
                </c:pt>
              </c:numCache>
            </c:numRef>
          </c:yVal>
          <c:bubbleSize>
            <c:numRef>
              <c:f>Sheet1!$P$2:$P$74</c:f>
              <c:numCache>
                <c:formatCode>General</c:formatCode>
                <c:ptCount val="73"/>
                <c:pt idx="35">
                  <c:v>7190.017000000001</c:v>
                </c:pt>
                <c:pt idx="36">
                  <c:v>1025.5135</c:v>
                </c:pt>
                <c:pt idx="37">
                  <c:v>16496.1230702495</c:v>
                </c:pt>
                <c:pt idx="38">
                  <c:v>17280.39191804366</c:v>
                </c:pt>
                <c:pt idx="39">
                  <c:v>1853.9</c:v>
                </c:pt>
                <c:pt idx="40">
                  <c:v>3132.8</c:v>
                </c:pt>
                <c:pt idx="41">
                  <c:v>12561.6</c:v>
                </c:pt>
                <c:pt idx="42">
                  <c:v>2477</c:v>
                </c:pt>
                <c:pt idx="43">
                  <c:v>2809.7</c:v>
                </c:pt>
                <c:pt idx="44">
                  <c:v>460.319</c:v>
                </c:pt>
                <c:pt idx="45">
                  <c:v>3807</c:v>
                </c:pt>
                <c:pt idx="46">
                  <c:v>4000</c:v>
                </c:pt>
                <c:pt idx="47">
                  <c:v>4371</c:v>
                </c:pt>
                <c:pt idx="48">
                  <c:v>3844</c:v>
                </c:pt>
                <c:pt idx="49">
                  <c:v>4465</c:v>
                </c:pt>
              </c:numCache>
            </c:numRef>
          </c:bubbleSize>
          <c:bubble3D val="0"/>
        </c:ser>
        <c:ser>
          <c:idx val="4"/>
          <c:order val="4"/>
          <c:tx>
            <c:strRef>
              <c:f>Sheet1!$Q$1</c:f>
              <c:strCache>
                <c:ptCount val="1"/>
                <c:pt idx="0">
                  <c:v>Source bucket 5 — standalone-terminal pattern bucket</c:v>
                </c:pt>
              </c:strCache>
            </c:strRef>
          </c:tx>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dPt>
          <c:dPt>
            <c:idx val="51"/>
            <c:invertIfNegative val="0"/>
            <c:bubble3D val="0"/>
            <c:spPr>
              <a:solidFill>
                <a:srgbClr val="C30C3E"/>
              </a:solidFill>
              <a:ln w="3175" cmpd="sng" algn="ctr">
                <a:solidFill>
                  <a:schemeClr val="tx1"/>
                </a:solidFill>
                <a:prstDash val="solid"/>
              </a:ln>
            </c:spPr>
          </c:dPt>
          <c:dPt>
            <c:idx val="52"/>
            <c:invertIfNegative val="0"/>
            <c:bubble3D val="0"/>
            <c:spPr>
              <a:solidFill>
                <a:srgbClr val="C30C3E"/>
              </a:solidFill>
              <a:ln w="3175" cmpd="sng" algn="ctr">
                <a:solidFill>
                  <a:schemeClr val="tx1"/>
                </a:solidFill>
                <a:prstDash val="solid"/>
              </a:ln>
            </c:spPr>
          </c:dPt>
          <c:dPt>
            <c:idx val="53"/>
            <c:invertIfNegative val="0"/>
            <c:bubble3D val="0"/>
            <c:spPr>
              <a:solidFill>
                <a:srgbClr val="27AE60"/>
              </a:solidFill>
              <a:ln w="3175" cmpd="sng" algn="ctr">
                <a:solidFill>
                  <a:schemeClr val="tx1"/>
                </a:solidFill>
                <a:prstDash val="solid"/>
              </a:ln>
            </c:spPr>
          </c:dPt>
          <c:xVal>
            <c:numRef>
              <c:f>Sheet1!$R$2:$R$74</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Sheet1!$S$2:$S$74</c:f>
              <c:numCache>
                <c:formatCode>#,##0;"-"#,##0</c:formatCode>
                <c:ptCount val="73"/>
                <c:pt idx="50">
                  <c:v>2.1914285714285713</c:v>
                </c:pt>
                <c:pt idx="51">
                  <c:v>3.2152659783034894</c:v>
                </c:pt>
                <c:pt idx="52">
                  <c:v>1.9931102362204725</c:v>
                </c:pt>
                <c:pt idx="53">
                  <c:v>27.35885788449059</c:v>
                </c:pt>
                <c:pt idx="54">
                  <c:v>32.75701021875992</c:v>
                </c:pt>
                <c:pt idx="55">
                  <c:v>42.955828628362674</c:v>
                </c:pt>
                <c:pt idx="56">
                  <c:v>40.61280117184256</c:v>
                </c:pt>
                <c:pt idx="57">
                  <c:v>47.833780160857906</c:v>
                </c:pt>
                <c:pt idx="58">
                  <c:v>35.1868290838553</c:v>
                </c:pt>
                <c:pt idx="59">
                  <c:v>50.92657155595185</c:v>
                </c:pt>
                <c:pt idx="60">
                  <c:v>31.215682587438888</c:v>
                </c:pt>
                <c:pt idx="61">
                  <c:v>50.728753109918834</c:v>
                </c:pt>
                <c:pt idx="62">
                  <c:v>37.84991786980203</c:v>
                </c:pt>
                <c:pt idx="63">
                  <c:v>53.95908194270246</c:v>
                </c:pt>
              </c:numCache>
            </c:numRef>
          </c:yVal>
          <c:bubbleSize>
            <c:numRef>
              <c:f>Sheet1!$T$2:$T$74</c:f>
              <c:numCache>
                <c:formatCode>General</c:formatCode>
                <c:ptCount val="73"/>
                <c:pt idx="50">
                  <c:v>6445.019381093996</c:v>
                </c:pt>
                <c:pt idx="51">
                  <c:v>8463.5362</c:v>
                </c:pt>
                <c:pt idx="52">
                  <c:v>8413.2928</c:v>
                </c:pt>
                <c:pt idx="53">
                  <c:v>2311.5</c:v>
                </c:pt>
                <c:pt idx="54">
                  <c:v>1380.7877834240462</c:v>
                </c:pt>
                <c:pt idx="55">
                  <c:v>1505.5</c:v>
                </c:pt>
                <c:pt idx="56">
                  <c:v>1698.04861787784</c:v>
                </c:pt>
                <c:pt idx="57">
                  <c:v>1865</c:v>
                </c:pt>
                <c:pt idx="58">
                  <c:v>1559.4693328206115</c:v>
                </c:pt>
                <c:pt idx="59">
                  <c:v>2243</c:v>
                </c:pt>
                <c:pt idx="60">
                  <c:v>1361.686873471687</c:v>
                </c:pt>
                <c:pt idx="61">
                  <c:v>2388.326</c:v>
                </c:pt>
                <c:pt idx="62">
                  <c:v>1489.1151821002356</c:v>
                </c:pt>
                <c:pt idx="63">
                  <c:v>2739.524</c:v>
                </c:pt>
              </c:numCache>
            </c:numRef>
          </c:bubbleSize>
          <c:bubble3D val="0"/>
        </c:ser>
        <c:ser>
          <c:idx val="5"/>
          <c:order val="5"/>
          <c:tx>
            <c:strRef>
              <c:f>Sheet1!$U$1</c:f>
              <c:strCache>
                <c:ptCount val="1"/>
                <c:pt idx="0">
                  <c:v>Source bucket 6 — shipbuilder / charter mix</c:v>
                </c:pt>
              </c:strCache>
            </c:strRef>
          </c:tx>
          <c:spPr>
            <a:solidFill>
              <a:srgbClr val="C30C3E"/>
            </a:solidFill>
            <a:ln w="3175" cmpd="sng" algn="ctr">
              <a:solidFill>
                <a:schemeClr val="tx1"/>
              </a:solidFill>
              <a:prstDash val="solid"/>
            </a:ln>
          </c:spPr>
          <c:invertIfNegative val="0"/>
          <c:dPt>
            <c:idx val="67"/>
            <c:invertIfNegative val="0"/>
            <c:bubble3D val="0"/>
            <c:spPr>
              <a:solidFill>
                <a:srgbClr val="27AE60"/>
              </a:solidFill>
              <a:ln w="3175" cmpd="sng" algn="ctr">
                <a:solidFill>
                  <a:schemeClr val="tx1"/>
                </a:solidFill>
                <a:prstDash val="solid"/>
              </a:ln>
            </c:spPr>
          </c:dPt>
          <c:dPt>
            <c:idx val="68"/>
            <c:invertIfNegative val="0"/>
            <c:bubble3D val="0"/>
            <c:spPr>
              <a:solidFill>
                <a:srgbClr val="27AE60"/>
              </a:solidFill>
              <a:ln w="3175" cmpd="sng" algn="ctr">
                <a:solidFill>
                  <a:schemeClr val="tx1"/>
                </a:solidFill>
                <a:prstDash val="solid"/>
              </a:ln>
            </c:spPr>
          </c:dPt>
          <c:dPt>
            <c:idx val="69"/>
            <c:invertIfNegative val="0"/>
            <c:bubble3D val="0"/>
            <c:spPr>
              <a:solidFill>
                <a:srgbClr val="27AE60"/>
              </a:solidFill>
              <a:ln w="3175" cmpd="sng" algn="ctr">
                <a:solidFill>
                  <a:schemeClr val="tx1"/>
                </a:solidFill>
                <a:prstDash val="solid"/>
              </a:ln>
            </c:spPr>
          </c:dPt>
          <c:xVal>
            <c:numRef>
              <c:f>Sheet1!$V$2:$V$74</c:f>
              <c:numCache>
                <c:formatCode>General</c:formatCode>
                <c:ptCount val="73"/>
                <c:pt idx="64">
                  <c:v>2020</c:v>
                </c:pt>
                <c:pt idx="65">
                  <c:v>2023</c:v>
                </c:pt>
                <c:pt idx="66">
                  <c:v>2024</c:v>
                </c:pt>
                <c:pt idx="67">
                  <c:v>2020</c:v>
                </c:pt>
                <c:pt idx="68">
                  <c:v>2021</c:v>
                </c:pt>
                <c:pt idx="69">
                  <c:v>2024</c:v>
                </c:pt>
              </c:numCache>
            </c:numRef>
          </c:xVal>
          <c:yVal>
            <c:numRef>
              <c:f>Sheet1!$W$2:$W$74</c:f>
              <c:numCache>
                <c:formatCode>#,##0;"-"#,##0</c:formatCode>
                <c:ptCount val="73"/>
                <c:pt idx="64">
                  <c:v>6.697282816685799</c:v>
                </c:pt>
                <c:pt idx="65">
                  <c:v>2.6524303821389523</c:v>
                </c:pt>
                <c:pt idx="66">
                  <c:v>2.206755753526355</c:v>
                </c:pt>
                <c:pt idx="67">
                  <c:v>42.43581410464738</c:v>
                </c:pt>
                <c:pt idx="68">
                  <c:v>47.85417941916616</c:v>
                </c:pt>
                <c:pt idx="69">
                  <c:v>53.34161735700197</c:v>
                </c:pt>
              </c:numCache>
            </c:numRef>
          </c:yVal>
          <c:bubbleSize>
            <c:numRef>
              <c:f>Sheet1!$X$2:$X$74</c:f>
              <c:numCache>
                <c:formatCode>General</c:formatCode>
                <c:ptCount val="73"/>
                <c:pt idx="64">
                  <c:v>1410.0531899999999</c:v>
                </c:pt>
                <c:pt idx="65">
                  <c:v>5738.553180941462</c:v>
                </c:pt>
                <c:pt idx="66">
                  <c:v>7291.6243757866105</c:v>
                </c:pt>
                <c:pt idx="67">
                  <c:v>1230.8</c:v>
                </c:pt>
                <c:pt idx="68">
                  <c:v>1470.3</c:v>
                </c:pt>
                <c:pt idx="69">
                  <c:v>1014</c:v>
                </c:pt>
              </c:numCache>
            </c:numRef>
          </c:bubbleSize>
          <c:bubble3D val="0"/>
        </c:ser>
        <c:ser>
          <c:idx val="6"/>
          <c:order val="6"/>
          <c:tx>
            <c:strRef>
              <c:f>Sheet1!$Y$1</c:f>
              <c:strCache>
                <c:ptCount val="1"/>
                <c:pt idx="0">
                  <c:v>Source bucket 7 — shipbuilder / charter residuals</c:v>
                </c:pt>
              </c:strCache>
            </c:strRef>
          </c:tx>
          <c:spPr>
            <a:solidFill>
              <a:srgbClr val="C30C3E"/>
            </a:solidFill>
            <a:ln w="3175" cmpd="sng" algn="ctr">
              <a:solidFill>
                <a:schemeClr val="tx1"/>
              </a:solidFill>
              <a:prstDash val="solid"/>
            </a:ln>
          </c:spPr>
          <c:invertIfNegative val="0"/>
          <c:dPt>
            <c:idx val="72"/>
            <c:invertIfNegative val="0"/>
            <c:bubble3D val="0"/>
            <c:spPr>
              <a:solidFill>
                <a:srgbClr val="27AE60"/>
              </a:solidFill>
              <a:ln w="3175" cmpd="sng" algn="ctr">
                <a:solidFill>
                  <a:schemeClr val="tx1"/>
                </a:solidFill>
                <a:prstDash val="solid"/>
              </a:ln>
            </c:spPr>
          </c:dPt>
          <c:xVal>
            <c:numRef>
              <c:f>Sheet1!$Z$2:$Z$74</c:f>
              <c:numCache>
                <c:formatCode>General</c:formatCode>
                <c:ptCount val="73"/>
                <c:pt idx="70">
                  <c:v>2023</c:v>
                </c:pt>
                <c:pt idx="71">
                  <c:v>2024</c:v>
                </c:pt>
                <c:pt idx="72">
                  <c:v>2020</c:v>
                </c:pt>
              </c:numCache>
            </c:numRef>
          </c:xVal>
          <c:yVal>
            <c:numRef>
              <c:f>Sheet1!$AA$2:$AA$74</c:f>
              <c:numCache>
                <c:formatCode>#,##0;"-"#,##0</c:formatCode>
                <c:ptCount val="73"/>
                <c:pt idx="70">
                  <c:v>1.7566688353936235</c:v>
                </c:pt>
                <c:pt idx="71">
                  <c:v>5.16068282607375</c:v>
                </c:pt>
                <c:pt idx="72">
                  <c:v>43.17748917748918</c:v>
                </c:pt>
              </c:numCache>
            </c:numRef>
          </c:yVal>
          <c:bubbleSize>
            <c:numRef>
              <c:f>Sheet1!$AB$2:$AB$74</c:f>
              <c:numCache>
                <c:formatCode>General</c:formatCode>
                <c:ptCount val="73"/>
                <c:pt idx="70">
                  <c:v>1049.4636</c:v>
                </c:pt>
                <c:pt idx="71">
                  <c:v>1018.11285</c:v>
                </c:pt>
                <c:pt idx="72">
                  <c:v>462</c:v>
                </c:pt>
              </c:numCache>
            </c:numRef>
          </c:bubbleSize>
          <c:bubble3D val="0"/>
        </c:ser>
        <c:bubbleScale val="66"/>
        <c:showNegBubbles val="0"/>
        <c:axId val="555555555"/>
        <c:axId val="666666666"/>
      </c:bubbleChart>
      <c:valAx>
        <c:axId val="555555555"/>
        <c:scaling>
          <c:orientation val="minMax"/>
          <c:max val="2025"/>
          <c:min val="2019"/>
        </c:scaling>
        <c:delete val="0"/>
        <c:axPos val="b"/>
        <c:numFmt formatCode="General" sourceLinked="1"/>
        <c:majorTickMark val="out"/>
        <c:minorTickMark val="none"/>
        <c:tickLblPos val="none"/>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666666666"/>
        <c:crossesAt val="0"/>
        <c:crossBetween val="midCat"/>
        <c:majorUnit val="1"/>
      </c:valAx>
      <c:valAx>
        <c:axId val="666666666"/>
        <c:scaling>
          <c:orientation val="minMax"/>
          <c:max val="70"/>
          <c:min val="-50"/>
        </c:scaling>
        <c:delete val="0"/>
        <c:axPos val="l"/>
        <c:numFmt formatCode="#,##0;&quot;-&quot;#,##0" sourceLinked="0"/>
        <c:majorTickMark val="out"/>
        <c:minorTickMark val="none"/>
        <c:tickLblPos val="nextTo"/>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555555555"/>
        <c:crosses val="min"/>
        <c:crossBetween val="midCat"/>
        <c:majorUnit val="10"/>
      </c:valAx>
      <c:spPr>
        <a:noFill/>
        <a:ln w="9525" cmpd="sng" algn="ctr">
          <a:solidFill>
            <a:schemeClr val="tx1"/>
          </a:solidFill>
          <a:prstDash val="solid"/>
        </a:ln>
      </c:spPr>
    </c:plotArea>
    <c:plotVisOnly val="0"/>
    <c:dispBlanksAs val="gap"/>
    <c:showDLblsOverMax val="1"/>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652866242038217"/>
          <c:w val="0.9261618306204293"/>
          <c:h val="0.8869426751592356"/>
        </c:manualLayout>
      </c:layout>
      <c:barChart>
        <c:barDir val="col"/>
        <c:grouping val="stacked"/>
        <c:varyColors val="0"/>
        <c:ser>
          <c:idx val="0"/>
          <c:order val="0"/>
          <c:tx>
            <c:strRef>
              <c:f>Sheet1!$B$1</c:f>
              <c:strCache>
                <c:ptCount val="1"/>
                <c:pt idx="0">
                  <c:v>Source workbook row 1</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9DB1CF"/>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4C6C9C"/>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-2</c:v>
                </c:pt>
                <c:pt idx="1">
                  <c:v>-3</c:v>
                </c:pt>
                <c:pt idx="2">
                  <c:v>-8</c:v>
                </c:pt>
                <c:pt idx="3">
                  <c:v>-12</c:v>
                </c:pt>
                <c:pt idx="4">
                  <c:v>-9</c:v>
                </c:pt>
                <c:pt idx="5">
                  <c:v>-3</c:v>
                </c:pt>
                <c:pt idx="6">
                  <c:v>-8</c:v>
                </c:pt>
                <c:pt idx="7">
                  <c:v>-14</c:v>
                </c:pt>
                <c:pt idx="8">
                  <c:v>-5</c:v>
                </c:pt>
                <c:pt idx="9">
                  <c:v>-5</c:v>
                </c:pt>
                <c:pt idx="10">
                  <c:v>-5</c:v>
                </c:pt>
                <c:pt idx="11">
                  <c:v>-11</c:v>
                </c:pt>
                <c:pt idx="12">
                  <c:v>-9</c:v>
                </c:pt>
                <c:pt idx="13">
                  <c:v>-9</c:v>
                </c:pt>
                <c:pt idx="14">
                  <c:v>-14</c:v>
                </c:pt>
                <c:pt idx="15">
                  <c:v>-4</c:v>
                </c:pt>
                <c:pt idx="16">
                  <c:v>-8</c:v>
                </c:pt>
                <c:pt idx="17">
                  <c:v>-14</c:v>
                </c:pt>
                <c:pt idx="18">
                  <c:v>-27</c:v>
                </c:pt>
                <c:pt idx="19">
                  <c:v>-17</c:v>
                </c:pt>
                <c:pt idx="20">
                  <c:v>-9</c:v>
                </c:pt>
                <c:pt idx="21">
                  <c:v>-4</c:v>
                </c:pt>
                <c:pt idx="22">
                  <c:v>-4</c:v>
                </c:pt>
                <c:pt idx="23">
                  <c:v>-2</c:v>
                </c:pt>
                <c:pt idx="24">
                  <c:v>-1</c:v>
                </c:pt>
              </c:numCache>
            </c:numRef>
          </c:val>
        </c:ser>
        <c:ser>
          <c:idx val="1"/>
          <c:order val="1"/>
          <c:tx>
            <c:strRef>
              <c:f>Sheet1!$C$1</c:f>
              <c:strCache>
                <c:ptCount val="1"/>
                <c:pt idx="0">
                  <c:v>Source workbook row 2</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-30</c:v>
                </c:pt>
                <c:pt idx="2">
                  <c:v>-3</c:v>
                </c:pt>
                <c:pt idx="3">
                  <c:v>-3</c:v>
                </c:pt>
                <c:pt idx="4">
                  <c:v>-7</c:v>
                </c:pt>
                <c:pt idx="5">
                  <c:v>-4</c:v>
                </c:pt>
                <c:pt idx="6">
                  <c:v>-7</c:v>
                </c:pt>
                <c:pt idx="7">
                  <c:v>-9</c:v>
                </c:pt>
                <c:pt idx="8">
                  <c:v>-7</c:v>
                </c:pt>
                <c:pt idx="9">
                  <c:v>-2</c:v>
                </c:pt>
                <c:pt idx="10">
                  <c:v>-3</c:v>
                </c:pt>
                <c:pt idx="11">
                  <c:v>-5</c:v>
                </c:pt>
                <c:pt idx="12">
                  <c:v>-4</c:v>
                </c:pt>
                <c:pt idx="13">
                  <c:v>-6</c:v>
                </c:pt>
                <c:pt idx="14">
                  <c:v>-6</c:v>
                </c:pt>
                <c:pt idx="15">
                  <c:v>-2</c:v>
                </c:pt>
                <c:pt idx="16">
                  <c:v>-2</c:v>
                </c:pt>
                <c:pt idx="17">
                  <c:v>-1</c:v>
                </c:pt>
                <c:pt idx="18">
                  <c:v>-1</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35"/>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16785022595222725"/>
          <c:y val="0.02179379715004191"/>
          <c:w val="0.9664299548095545"/>
          <c:h val="0.9564124056999161"/>
        </c:manualLayout>
      </c:layout>
      <c:barChart>
        <c:barDir val="bar"/>
        <c:grouping val="stacked"/>
        <c:varyColors val="0"/>
        <c:ser>
          <c:idx val="0"/>
          <c:order val="0"/>
          <c:tx>
            <c:strRef>
              <c:f>Sheet1!$B$1</c:f>
              <c:strCache>
                <c:ptCount val="1"/>
                <c:pt idx="0">
                  <c:v>Gross tonnage (GT)</c:v>
                </c:pt>
              </c:strCache>
            </c:strRef>
          </c:tx>
          <c:invertIfNegative val="0"/>
          <c:dPt>
            <c:idx val="0"/>
            <c:invertIfNegative val="0"/>
            <c:bubble3D val="0"/>
            <c:spPr>
              <a:solidFill>
                <a:srgbClr val="4C6C9C"/>
              </a:solidFill>
              <a:ln w="6350">
                <a:solidFill>
                  <a:srgbClr val="FFFFFF"/>
                </a:solidFill>
              </a:ln>
            </c:spPr>
          </c:dPt>
          <c:dPt>
            <c:idx val="1"/>
            <c:invertIfNegative val="0"/>
            <c:bubble3D val="0"/>
            <c:spPr>
              <a:solidFill>
                <a:srgbClr val="007770"/>
              </a:solidFill>
              <a:ln w="6350">
                <a:solidFill>
                  <a:srgbClr val="FFFFFF"/>
                </a:solidFill>
              </a:ln>
            </c:spPr>
          </c:dPt>
          <c:dPt>
            <c:idx val="2"/>
            <c:invertIfNegative val="0"/>
            <c:bubble3D val="0"/>
            <c:spPr>
              <a:solidFill>
                <a:srgbClr val="969696"/>
              </a:solidFill>
              <a:ln w="6350">
                <a:solidFill>
                  <a:srgbClr val="FFFFFF"/>
                </a:solidFill>
              </a:ln>
            </c:spPr>
          </c:dPt>
          <c:dPt>
            <c:idx val="3"/>
            <c:invertIfNegative val="0"/>
            <c:bubble3D val="0"/>
            <c:spPr>
              <a:solidFill>
                <a:srgbClr val="FFC000"/>
              </a:solidFill>
              <a:ln w="6350">
                <a:solidFill>
                  <a:srgbClr val="FFFFFF"/>
                </a:solidFill>
              </a:ln>
            </c:spPr>
          </c:dPt>
          <c:dPt>
            <c:idx val="4"/>
            <c:invertIfNegative val="0"/>
            <c:bubble3D val="0"/>
            <c:spPr>
              <a:solidFill>
                <a:srgbClr val="969696"/>
              </a:solidFill>
              <a:ln w="6350">
                <a:solidFill>
                  <a:srgbClr val="FFFFFF"/>
                </a:solidFill>
              </a:ln>
            </c:spPr>
          </c:dPt>
          <c:dPt>
            <c:idx val="5"/>
            <c:invertIfNegative val="0"/>
            <c:bubble3D val="0"/>
            <c:spPr>
              <a:solidFill>
                <a:srgbClr val="969696"/>
              </a:solidFill>
              <a:ln w="6350">
                <a:solidFill>
                  <a:srgbClr val="FFFFFF"/>
                </a:solidFill>
              </a:ln>
            </c:spPr>
          </c:dPt>
          <c:cat>
            <c:strRef>
              <c:f>Sheet1!$A$2:$A$7</c:f>
              <c:strCache>
                <c:ptCount val="6"/>
                <c:pt idx="0">
                  <c:v>Total</c:v>
                </c:pt>
                <c:pt idx="1">
                  <c:v>Addressable Commercial</c:v>
                </c:pt>
                <c:pt idx="2">
                  <c:v>Great Lakes Commercial</c:v>
                </c:pt>
                <c:pt idx="3">
                  <c:v>Addressable Offshore</c:v>
                </c:pt>
                <c:pt idx="4">
                  <c:v>Non-Addressable Offshore</c:v>
                </c:pt>
                <c:pt idx="5">
                  <c:v>Other Segments</c:v>
                </c:pt>
              </c:strCache>
            </c:strRef>
          </c:cat>
          <c:val>
            <c:numRef>
              <c:f>Sheet1!$B$2:$B$7</c:f>
              <c:numCache>
                <c:formatCode>0.0</c:formatCode>
                <c:ptCount val="6"/>
                <c:pt idx="0">
                  <c:v>6628515</c:v>
                </c:pt>
                <c:pt idx="1">
                  <c:v>3347252</c:v>
                </c:pt>
                <c:pt idx="2">
                  <c:v>739991</c:v>
                </c:pt>
                <c:pt idx="3">
                  <c:v>625304</c:v>
                </c:pt>
                <c:pt idx="4">
                  <c:v>334461</c:v>
                </c:pt>
                <c:pt idx="5">
                  <c:v>1581507</c:v>
                </c:pt>
              </c:numCache>
            </c:numRef>
          </c:val>
        </c:ser>
        <c:gapWidth val="130"/>
        <c:overlap val="100"/>
        <c:axId val="111111111"/>
        <c:axId val="222222222"/>
      </c:barChart>
      <c:catAx>
        <c:axId val="111111111"/>
        <c:scaling>
          <c:orientation val="maxMin"/>
        </c:scaling>
        <c:delete val="0"/>
        <c:axPos val="l"/>
        <c:numFmt formatCode="General" sourceLinked="1"/>
        <c:majorTickMark val="none"/>
        <c:minorTickMark val="none"/>
        <c:tickLblPos val="none"/>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6628515"/>
          <c:min val="0"/>
        </c:scaling>
        <c:delete val="0"/>
        <c:axPos val="b"/>
        <c:numFmt formatCode="0.0" sourceLinked="0"/>
        <c:majorTickMark val="none"/>
        <c:minorTickMark val="none"/>
        <c:tickLblPos val="none"/>
        <c:spPr>
          <a:ln>
            <a:noFill/>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000"/>
      </c:valAx>
    </c:plotArea>
    <c:plotVisOnly val="1"/>
    <c:dispBlanksAs val="gap"/>
  </c:chart>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8160703075957313"/>
          <c:y val="0.02173004596740493"/>
          <c:w val="0.9836785938480854"/>
          <c:h val="0.9565399080651902"/>
        </c:manualLayout>
      </c:layout>
      <c:barChart>
        <c:barDir val="col"/>
        <c:grouping val="stacked"/>
        <c:varyColors val="0"/>
        <c:ser>
          <c:idx val="0"/>
          <c:order val="0"/>
          <c:tx>
            <c:strRef>
              <c:f>Sheet1!$B$1</c:f>
              <c:strCache>
                <c:ptCount val="1"/>
                <c:pt idx="0">
                  <c:v>Source row 1 — commercial orderbook / offshore retirements bridge</c:v>
                </c:pt>
              </c:strCache>
            </c:strRef>
          </c:tx>
          <c:spPr>
            <a:solidFill>
              <a:srgbClr val="FFC000"/>
            </a:solidFill>
            <a:ln>
              <a:noFill/>
            </a:ln>
          </c:spPr>
          <c:invertIfNegative val="0"/>
          <c:dPt>
            <c:idx val="0"/>
            <c:invertIfNegative val="0"/>
            <c:bubble3D val="0"/>
            <c:spPr>
              <a:solidFill>
                <a:srgbClr val="007770"/>
              </a:solidFill>
              <a:ln>
                <a:noFill/>
              </a:ln>
            </c:spPr>
          </c:dPt>
          <c:dPt>
            <c:idx val="1"/>
            <c:invertIfNegative val="0"/>
            <c:bubble3D val="0"/>
            <c:spPr>
              <a:solidFill>
                <a:srgbClr val="007770"/>
              </a:solidFill>
              <a:ln>
                <a:noFill/>
              </a:ln>
            </c:spPr>
          </c:dPt>
          <c:dPt>
            <c:idx val="2"/>
            <c:invertIfNegative val="0"/>
            <c:bubble3D val="0"/>
            <c:spPr>
              <a:solidFill>
                <a:srgbClr val="007770"/>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c:formatCode>
                <c:ptCount val="25"/>
                <c:pt idx="0">
                  <c:v>48.049</c:v>
                </c:pt>
                <c:pt idx="1">
                  <c:v>96.098</c:v>
                </c:pt>
                <c:pt idx="2">
                  <c:v>222.0</c:v>
                </c:pt>
                <c:pt idx="3">
                  <c:v>285.0</c:v>
                </c:pt>
                <c:pt idx="4">
                  <c:v>285.0</c:v>
                </c:pt>
                <c:pt idx="5">
                  <c:v>-8.415</c:v>
                </c:pt>
                <c:pt idx="6">
                  <c:v>-22.359</c:v>
                </c:pt>
                <c:pt idx="7">
                  <c:v>-31.669</c:v>
                </c:pt>
                <c:pt idx="8">
                  <c:v>-15.549</c:v>
                </c:pt>
                <c:pt idx="9">
                  <c:v>-13.908</c:v>
                </c:pt>
                <c:pt idx="10">
                  <c:v>-14.256</c:v>
                </c:pt>
                <c:pt idx="11">
                  <c:v>-29.826</c:v>
                </c:pt>
                <c:pt idx="12">
                  <c:v>-23.429</c:v>
                </c:pt>
                <c:pt idx="13">
                  <c:v>-25.05</c:v>
                </c:pt>
                <c:pt idx="14">
                  <c:v>-33.881</c:v>
                </c:pt>
                <c:pt idx="15">
                  <c:v>-11.82</c:v>
                </c:pt>
                <c:pt idx="16">
                  <c:v>-31.534</c:v>
                </c:pt>
                <c:pt idx="17">
                  <c:v>-45.321</c:v>
                </c:pt>
                <c:pt idx="18">
                  <c:v>-103.45</c:v>
                </c:pt>
                <c:pt idx="19">
                  <c:v>-58.863</c:v>
                </c:pt>
                <c:pt idx="20">
                  <c:v>-35.032</c:v>
                </c:pt>
                <c:pt idx="21">
                  <c:v>-16.215</c:v>
                </c:pt>
                <c:pt idx="22">
                  <c:v>-18.412</c:v>
                </c:pt>
                <c:pt idx="23">
                  <c:v>-7.328</c:v>
                </c:pt>
                <c:pt idx="24">
                  <c:v>-1.634</c:v>
                </c:pt>
              </c:numCache>
            </c:numRef>
          </c:val>
        </c:ser>
        <c:ser>
          <c:idx val="1"/>
          <c:order val="1"/>
          <c:tx>
            <c:strRef>
              <c:f>Sheet1!$C$1</c:f>
              <c:strCache>
                <c:ptCount val="1"/>
                <c:pt idx="0">
                  <c:v>Source row 2 — offshore orderbook / commercial retirements bridge</c:v>
                </c:pt>
              </c:strCache>
            </c:strRef>
          </c:tx>
          <c:spPr>
            <a:solidFill>
              <a:srgbClr val="007770"/>
            </a:solidFill>
            <a:ln>
              <a:noFill/>
            </a:ln>
          </c:spPr>
          <c:invertIfNegative val="0"/>
          <c:dPt>
            <c:idx val="0"/>
            <c:invertIfNegative val="0"/>
            <c:bubble3D val="0"/>
            <c:spPr>
              <a:solidFill>
                <a:srgbClr val="FFC000"/>
              </a:solidFill>
              <a:ln>
                <a:noFill/>
              </a:ln>
            </c:spPr>
          </c:dPt>
          <c:dPt>
            <c:idx val="1"/>
            <c:invertIfNegative val="0"/>
            <c:bubble3D val="0"/>
            <c:spPr>
              <a:solidFill>
                <a:srgbClr val="FFC000"/>
              </a:solidFill>
              <a:ln>
                <a:noFill/>
              </a:ln>
            </c:spPr>
          </c:dPt>
          <c:dPt>
            <c:idx val="2"/>
            <c:invertIfNegative val="0"/>
            <c:bubble3D val="0"/>
            <c:spPr>
              <a:solidFill>
                <a:srgbClr val="FFC000"/>
              </a:solidFill>
              <a:ln>
                <a:noFill/>
              </a:ln>
            </c:spPr>
          </c:dPt>
          <c:dPt>
            <c:idx val="3"/>
            <c:invertIfNegative val="0"/>
            <c:bubble3D val="0"/>
            <c:spPr>
              <a:solidFill>
                <a:srgbClr val="FFC000"/>
              </a:solidFill>
              <a:ln>
                <a:noFill/>
              </a:ln>
            </c:spPr>
          </c:dPt>
          <c:dPt>
            <c:idx val="4"/>
            <c:invertIfNegative val="0"/>
            <c:bubble3D val="0"/>
            <c:spPr>
              <a:solidFill>
                <a:srgbClr val="FFC00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c:formatCode>
                <c:ptCount val="25"/>
                <c:pt idx="0">
                  <c:v>-12.518</c:v>
                </c:pt>
                <c:pt idx="1">
                  <c:v>-0.949</c:v>
                </c:pt>
                <c:pt idx="2">
                  <c:v>-16.35</c:v>
                </c:pt>
                <c:pt idx="3">
                  <c:v>-24.688</c:v>
                </c:pt>
                <c:pt idx="4">
                  <c:v>-18.715</c:v>
                </c:pt>
                <c:pt idx="5">
                  <c:v>-1.904</c:v>
                </c:pt>
                <c:pt idx="6">
                  <c:v>-61.988</c:v>
                </c:pt>
                <c:pt idx="7">
                  <c:v>-91.245</c:v>
                </c:pt>
                <c:pt idx="8">
                  <c:v>-61.54</c:v>
                </c:pt>
                <c:pt idx="10">
                  <c:v>-85.099</c:v>
                </c:pt>
                <c:pt idx="11">
                  <c:v>-85.098</c:v>
                </c:pt>
                <c:pt idx="12">
                  <c:v>-86.641</c:v>
                </c:pt>
                <c:pt idx="13">
                  <c:v>-196.08</c:v>
                </c:pt>
                <c:pt idx="14">
                  <c:v>-230.065</c:v>
                </c:pt>
                <c:pt idx="15">
                  <c:v>-196.08</c:v>
                </c:pt>
                <c:pt idx="16">
                  <c:v>-87.726</c:v>
                </c:pt>
                <c:pt idx="17">
                  <c:v>-221.687</c:v>
                </c:pt>
                <c:pt idx="18">
                  <c:v>-208.874</c:v>
                </c:pt>
                <c:pt idx="19">
                  <c:v>-216.895</c:v>
                </c:pt>
                <c:pt idx="20">
                  <c:v>-55.958</c:v>
                </c:pt>
                <c:pt idx="21">
                  <c:v>-59.96</c:v>
                </c:pt>
                <c:pt idx="22">
                  <c:v>-29.242</c:v>
                </c:pt>
                <c:pt idx="23">
                  <c:v>-62.318</c:v>
                </c:pt>
                <c:pt idx="24">
                  <c:v>-151.354</c:v>
                </c:pt>
              </c:numCache>
            </c:numRef>
          </c:val>
        </c:ser>
        <c:ser>
          <c:idx val="2"/>
          <c:order val="2"/>
          <c:tx>
            <c:strRef>
              <c:f>Sheet1!$D$1</c:f>
              <c:strCache>
                <c:ptCount val="1"/>
                <c:pt idx="0">
                  <c:v>Source row 3 — commercial orderbook / retirements bridge</c:v>
                </c:pt>
              </c:strCache>
            </c:strRef>
          </c:tx>
          <c:spPr>
            <a:solidFill>
              <a:srgbClr val="00777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c:formatCode>
                <c:ptCount val="25"/>
                <c:pt idx="0">
                  <c:v>-196.731</c:v>
                </c:pt>
                <c:pt idx="1">
                  <c:v>-62.895</c:v>
                </c:pt>
                <c:pt idx="3">
                  <c:v>-16.771</c:v>
                </c:pt>
                <c:pt idx="4">
                  <c:v>-1.495</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350"/>
          <c:min val="-350"/>
        </c:scaling>
        <c:delete val="0"/>
        <c:axPos val="l"/>
        <c:numFmt formatCode="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4410517387616624"/>
          <c:w val="0.9857417055113792"/>
          <c:h val="0.9117896522476675"/>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Sheet1!$B$2:$B$7</c:f>
              <c:numCache>
                <c:formatCode>General</c:formatCode>
                <c:ptCount val="6"/>
                <c:pt idx="0">
                  <c:v>400</c:v>
                </c:pt>
                <c:pt idx="1">
                  <c:v>200</c:v>
                </c:pt>
                <c:pt idx="2">
                  <c:v>200</c:v>
                </c:pt>
                <c:pt idx="3">
                  <c:v>190</c:v>
                </c:pt>
                <c:pt idx="4">
                  <c:v>100</c:v>
                </c:pt>
                <c:pt idx="5">
                  <c:v>100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Sheet1!$C$2:$C$7</c:f>
              <c:numCache>
                <c:formatCode>General</c:formatCode>
                <c:ptCount val="6"/>
                <c:pt idx="1">
                  <c:v>200</c:v>
                </c:pt>
                <c:pt idx="3">
                  <c:v>10</c:v>
                </c:pt>
                <c:pt idx="4">
                  <c:v>90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4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
      </c:valAx>
    </c:plotArea>
    <c:plotVisOnly val="1"/>
    <c:dispBlanksAs val="gap"/>
  </c:chart>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5279187817258883"/>
          <c:w val="0.9857417055113792"/>
          <c:h val="0.8944162436548223"/>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Sheet1!$B$2:$B$10</c:f>
              <c:numCache>
                <c:formatCode>General</c:formatCode>
                <c:ptCount val="9"/>
                <c:pt idx="0">
                  <c:v>200</c:v>
                </c:pt>
                <c:pt idx="1">
                  <c:v>100</c:v>
                </c:pt>
                <c:pt idx="2">
                  <c:v>100</c:v>
                </c:pt>
                <c:pt idx="3">
                  <c:v>50</c:v>
                </c:pt>
                <c:pt idx="4">
                  <c:v>15</c:v>
                </c:pt>
                <c:pt idx="5">
                  <c:v>15</c:v>
                </c:pt>
                <c:pt idx="6">
                  <c:v>0</c:v>
                </c:pt>
                <c:pt idx="7">
                  <c:v>0</c:v>
                </c:pt>
                <c:pt idx="8">
                  <c:v>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Sheet1!$C$2:$C$10</c:f>
              <c:numCache>
                <c:formatCode>General</c:formatCode>
                <c:ptCount val="9"/>
                <c:pt idx="1">
                  <c:v>100</c:v>
                </c:pt>
                <c:pt idx="3">
                  <c:v>50</c:v>
                </c:pt>
                <c:pt idx="4">
                  <c:v>35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53430713050163364"/>
          <c:y val="0.06807286673058485"/>
          <c:w val="0.9365750528541226"/>
          <c:h val="0.8638542665388304"/>
        </c:manualLayout>
      </c:layout>
      <c:barChart>
        <c:barDir val="col"/>
        <c:grouping val="stacked"/>
        <c:varyColors val="0"/>
        <c:ser>
          <c:idx val="0"/>
          <c:order val="0"/>
          <c:tx>
            <c:strRef>
              <c:f>Sheet1!$B$1</c:f>
              <c:strCache>
                <c:ptCount val="1"/>
                <c:pt idx="0">
                  <c:v>Saronic</c:v>
                </c:pt>
              </c:strCache>
            </c:strRef>
          </c:tx>
          <c:spPr>
            <a:solidFill>
              <a:srgbClr val="007770"/>
            </a:solidFill>
            <a:ln>
              <a:noFill/>
            </a:ln>
          </c:spPr>
          <c:invertIfNegative val="0"/>
          <c:dPt>
            <c:idx val="0"/>
            <c:invertIfNegative val="0"/>
            <c:bubble3D val="0"/>
            <c:spPr>
              <a:solidFill>
                <a:srgbClr val="364D6E"/>
              </a:solidFill>
              <a:ln>
                <a:noFill/>
              </a:ln>
            </c:spPr>
          </c:dPt>
          <c:dPt>
            <c:idx val="1"/>
            <c:invertIfNegative val="0"/>
            <c:bubble3D val="0"/>
            <c:spPr>
              <a:solidFill>
                <a:srgbClr val="364D6E"/>
              </a:solidFill>
              <a:ln>
                <a:noFill/>
              </a:ln>
            </c:spPr>
          </c:dPt>
          <c:dPt>
            <c:idx val="2"/>
            <c:invertIfNegative val="0"/>
            <c:bubble3D val="0"/>
            <c:spPr>
              <a:solidFill>
                <a:srgbClr val="364D6E"/>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dPt>
            <c:idx val="5"/>
            <c:invertIfNegative val="0"/>
            <c:bubble3D val="0"/>
            <c:spPr>
              <a:solidFill>
                <a:srgbClr val="007770"/>
              </a:solidFill>
              <a:ln>
                <a:noFill/>
              </a:ln>
            </c:spPr>
          </c:dPt>
          <c:dPt>
            <c:idx val="6"/>
            <c:invertIfNegative val="0"/>
            <c:bubble3D val="0"/>
            <c:spPr>
              <a:solidFill>
                <a:srgbClr val="007770"/>
              </a:solidFill>
              <a:ln>
                <a:noFill/>
              </a:ln>
            </c:spPr>
          </c:dPt>
          <c:dPt>
            <c:idx val="7"/>
            <c:invertIfNegative val="0"/>
            <c:bubble3D val="0"/>
            <c:spPr>
              <a:solidFill>
                <a:srgbClr val="007770"/>
              </a:solidFill>
              <a:ln>
                <a:noFill/>
              </a:ln>
            </c:spPr>
          </c:dPt>
          <c:dPt>
            <c:idx val="8"/>
            <c:invertIfNegative val="0"/>
            <c:bubble3D val="0"/>
            <c:spPr>
              <a:solidFill>
                <a:srgbClr val="007770"/>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007770"/>
              </a:solidFill>
              <a:ln>
                <a:noFill/>
              </a:ln>
            </c:spPr>
          </c:dPt>
          <c:dPt>
            <c:idx val="13"/>
            <c:invertIfNegative val="0"/>
            <c:bubble3D val="0"/>
            <c:spPr>
              <a:solidFill>
                <a:srgbClr val="007770"/>
              </a:solidFill>
              <a:ln>
                <a:noFill/>
              </a:ln>
            </c:spPr>
          </c:dPt>
          <c:dPt>
            <c:idx val="14"/>
            <c:invertIfNegative val="0"/>
            <c:bubble3D val="0"/>
            <c:spPr>
              <a:solidFill>
                <a:srgbClr val="007770"/>
              </a:solidFill>
              <a:ln>
                <a:noFill/>
              </a:ln>
            </c:spPr>
          </c:dPt>
          <c:dPt>
            <c:idx val="15"/>
            <c:invertIfNegative val="0"/>
            <c:bubble3D val="0"/>
            <c:spPr>
              <a:solidFill>
                <a:srgbClr val="007770"/>
              </a:solidFill>
              <a:ln>
                <a:noFill/>
              </a:ln>
            </c:spPr>
          </c:dPt>
          <c:dPt>
            <c:idx val="16"/>
            <c:invertIfNegative val="0"/>
            <c:bubble3D val="0"/>
            <c:spPr>
              <a:solidFill>
                <a:srgbClr val="007770"/>
              </a:solidFill>
              <a:ln>
                <a:noFill/>
              </a:ln>
            </c:spPr>
          </c:dPt>
          <c:dPt>
            <c:idx val="17"/>
            <c:invertIfNegative val="0"/>
            <c:bubble3D val="0"/>
            <c:spPr>
              <a:solidFill>
                <a:srgbClr val="007770"/>
              </a:solidFill>
              <a:ln>
                <a:noFill/>
              </a:ln>
            </c:spPr>
          </c:dPt>
          <c:dPt>
            <c:idx val="18"/>
            <c:invertIfNegative val="0"/>
            <c:bubble3D val="0"/>
            <c:spPr>
              <a:solidFill>
                <a:srgbClr val="007770"/>
              </a:solidFill>
              <a:ln>
                <a:noFill/>
              </a:ln>
            </c:spPr>
          </c:dPt>
          <c:dPt>
            <c:idx val="19"/>
            <c:invertIfNegative val="0"/>
            <c:bubble3D val="0"/>
            <c:spPr>
              <a:solidFill>
                <a:srgbClr val="007770"/>
              </a:solidFill>
              <a:ln>
                <a:noFill/>
              </a:ln>
            </c:spPr>
          </c:dPt>
          <c:dPt>
            <c:idx val="20"/>
            <c:invertIfNegative val="0"/>
            <c:bubble3D val="0"/>
            <c:spPr>
              <a:solidFill>
                <a:srgbClr val="007770"/>
              </a:solidFill>
              <a:ln>
                <a:noFill/>
              </a:ln>
            </c:spPr>
          </c:dPt>
          <c:dPt>
            <c:idx val="21"/>
            <c:invertIfNegative val="0"/>
            <c:bubble3D val="0"/>
            <c:spPr>
              <a:solidFill>
                <a:srgbClr val="007770"/>
              </a:solidFill>
              <a:ln>
                <a:noFill/>
              </a:ln>
            </c:spPr>
          </c:dPt>
          <c:dPt>
            <c:idx val="22"/>
            <c:invertIfNegative val="0"/>
            <c:bubble3D val="0"/>
            <c:spPr>
              <a:solidFill>
                <a:srgbClr val="007770"/>
              </a:solidFill>
              <a:ln>
                <a:noFill/>
              </a:ln>
            </c:spPr>
          </c:dPt>
          <c:dPt>
            <c:idx val="23"/>
            <c:invertIfNegative val="0"/>
            <c:bubble3D val="0"/>
            <c:spPr>
              <a:solidFill>
                <a:srgbClr val="007770"/>
              </a:solidFill>
              <a:ln>
                <a:noFill/>
              </a:ln>
            </c:spPr>
          </c:dPt>
          <c:dPt>
            <c:idx val="2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7</c:v>
                </c:pt>
                <c:pt idx="4">
                  <c:v>14</c:v>
                </c:pt>
                <c:pt idx="5">
                  <c:v>23</c:v>
                </c:pt>
                <c:pt idx="6">
                  <c:v>40</c:v>
                </c:pt>
                <c:pt idx="7">
                  <c:v>56</c:v>
                </c:pt>
                <c:pt idx="8">
                  <c:v>85</c:v>
                </c:pt>
                <c:pt idx="9">
                  <c:v>97</c:v>
                </c:pt>
                <c:pt idx="10">
                  <c:v>111</c:v>
                </c:pt>
                <c:pt idx="11">
                  <c:v>110</c:v>
                </c:pt>
                <c:pt idx="12">
                  <c:v>110</c:v>
                </c:pt>
                <c:pt idx="13">
                  <c:v>125</c:v>
                </c:pt>
                <c:pt idx="14">
                  <c:v>125</c:v>
                </c:pt>
                <c:pt idx="15">
                  <c:v>125</c:v>
                </c:pt>
                <c:pt idx="16">
                  <c:v>125</c:v>
                </c:pt>
                <c:pt idx="17">
                  <c:v>125</c:v>
                </c:pt>
                <c:pt idx="18">
                  <c:v>125</c:v>
                </c:pt>
                <c:pt idx="19">
                  <c:v>125</c:v>
                </c:pt>
                <c:pt idx="20">
                  <c:v>125</c:v>
                </c:pt>
                <c:pt idx="21">
                  <c:v>125</c:v>
                </c:pt>
                <c:pt idx="22">
                  <c:v>125</c:v>
                </c:pt>
                <c:pt idx="23">
                  <c:v>125</c:v>
                </c:pt>
                <c:pt idx="24">
                  <c:v>125</c:v>
                </c:pt>
              </c:numCache>
            </c:numRef>
          </c:val>
        </c:ser>
        <c:ser>
          <c:idx val="1"/>
          <c:order val="1"/>
          <c:tx>
            <c:strRef>
              <c:f>Sheet1!$C$1</c:f>
              <c:strCache>
                <c:ptCount val="1"/>
                <c:pt idx="0">
                  <c:v>Hanwha Philly</c:v>
                </c:pt>
              </c:strCache>
            </c:strRef>
          </c:tx>
          <c:spPr>
            <a:solidFill>
              <a:srgbClr val="364D6E"/>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3">
                  <c:v>5</c:v>
                </c:pt>
                <c:pt idx="4">
                  <c:v>6</c:v>
                </c:pt>
                <c:pt idx="5">
                  <c:v>6</c:v>
                </c:pt>
                <c:pt idx="6">
                  <c:v>6</c:v>
                </c:pt>
                <c:pt idx="7">
                  <c:v>7</c:v>
                </c:pt>
                <c:pt idx="8">
                  <c:v>8</c:v>
                </c:pt>
                <c:pt idx="9">
                  <c:v>9</c:v>
                </c:pt>
                <c:pt idx="10">
                  <c:v>11</c:v>
                </c:pt>
                <c:pt idx="11">
                  <c:v>12</c:v>
                </c:pt>
                <c:pt idx="12">
                  <c:v>13</c:v>
                </c:pt>
                <c:pt idx="13">
                  <c:v>14</c:v>
                </c:pt>
                <c:pt idx="14">
                  <c:v>15</c:v>
                </c:pt>
                <c:pt idx="15">
                  <c:v>16</c:v>
                </c:pt>
                <c:pt idx="16">
                  <c:v>17</c:v>
                </c:pt>
                <c:pt idx="17">
                  <c:v>18</c:v>
                </c:pt>
                <c:pt idx="18">
                  <c:v>19</c:v>
                </c:pt>
                <c:pt idx="19">
                  <c:v>20</c:v>
                </c:pt>
                <c:pt idx="20">
                  <c:v>20</c:v>
                </c:pt>
                <c:pt idx="21">
                  <c:v>20</c:v>
                </c:pt>
                <c:pt idx="22">
                  <c:v>20</c:v>
                </c:pt>
                <c:pt idx="23">
                  <c:v>20</c:v>
                </c:pt>
                <c:pt idx="24">
                  <c:v>20</c:v>
                </c:pt>
              </c:numCache>
            </c:numRef>
          </c:val>
        </c:ser>
        <c:ser>
          <c:idx val="2"/>
          <c:order val="2"/>
          <c:tx>
            <c:strRef>
              <c:f>Sheet1!$D$1</c:f>
              <c:strCache>
                <c:ptCount val="1"/>
                <c:pt idx="0">
                  <c:v>Hanwha 2nd Yard</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4C6C9C"/>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C3CFE1"/>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5">
                  <c:v>1</c:v>
                </c:pt>
                <c:pt idx="6">
                  <c:v>1</c:v>
                </c:pt>
                <c:pt idx="7">
                  <c:v>1</c:v>
                </c:pt>
                <c:pt idx="8">
                  <c:v>2</c:v>
                </c:pt>
                <c:pt idx="9">
                  <c:v>2</c:v>
                </c:pt>
                <c:pt idx="10">
                  <c:v>2</c:v>
                </c:pt>
                <c:pt idx="11">
                  <c:v>3</c:v>
                </c:pt>
                <c:pt idx="12">
                  <c:v>3</c:v>
                </c:pt>
                <c:pt idx="13">
                  <c:v>3</c:v>
                </c:pt>
                <c:pt idx="14">
                  <c:v>4</c:v>
                </c:pt>
                <c:pt idx="15">
                  <c:v>4</c:v>
                </c:pt>
                <c:pt idx="16">
                  <c:v>4</c:v>
                </c:pt>
                <c:pt idx="17">
                  <c:v>5</c:v>
                </c:pt>
                <c:pt idx="18">
                  <c:v>5</c:v>
                </c:pt>
                <c:pt idx="19">
                  <c:v>5</c:v>
                </c:pt>
                <c:pt idx="20">
                  <c:v>5</c:v>
                </c:pt>
                <c:pt idx="21">
                  <c:v>5</c:v>
                </c:pt>
                <c:pt idx="22">
                  <c:v>5</c:v>
                </c:pt>
                <c:pt idx="23">
                  <c:v>5</c:v>
                </c:pt>
                <c:pt idx="24">
                  <c:v>5</c:v>
                </c:pt>
              </c:numCache>
            </c:numRef>
          </c:val>
        </c:ser>
        <c:ser>
          <c:idx val="3"/>
          <c:order val="3"/>
          <c:tx>
            <c:strRef>
              <c:f>Sheet1!$E$1</c:f>
              <c:strCache>
                <c:ptCount val="1"/>
                <c:pt idx="0">
                  <c:v>New Entrant (e.g., HD Hyundai)</c:v>
                </c:pt>
              </c:strCache>
            </c:strRef>
          </c:tx>
          <c:spPr>
            <a:solidFill>
              <a:srgbClr val="6F8DB9"/>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6">
                  <c:v>1</c:v>
                </c:pt>
                <c:pt idx="7">
                  <c:v>2</c:v>
                </c:pt>
                <c:pt idx="8">
                  <c:v>3</c:v>
                </c:pt>
                <c:pt idx="9">
                  <c:v>3</c:v>
                </c:pt>
                <c:pt idx="10">
                  <c:v>3</c:v>
                </c:pt>
                <c:pt idx="11">
                  <c:v>4</c:v>
                </c:pt>
                <c:pt idx="12">
                  <c:v>4</c:v>
                </c:pt>
                <c:pt idx="13">
                  <c:v>4</c:v>
                </c:pt>
                <c:pt idx="14">
                  <c:v>5</c:v>
                </c:pt>
                <c:pt idx="15">
                  <c:v>5</c:v>
                </c:pt>
                <c:pt idx="16">
                  <c:v>5</c:v>
                </c:pt>
                <c:pt idx="17">
                  <c:v>5</c:v>
                </c:pt>
                <c:pt idx="18">
                  <c:v>5</c:v>
                </c:pt>
                <c:pt idx="19">
                  <c:v>5</c:v>
                </c:pt>
                <c:pt idx="20">
                  <c:v>5</c:v>
                </c:pt>
                <c:pt idx="21">
                  <c:v>5</c:v>
                </c:pt>
                <c:pt idx="22">
                  <c:v>5</c:v>
                </c:pt>
                <c:pt idx="23">
                  <c:v>5</c:v>
                </c:pt>
                <c:pt idx="24">
                  <c:v>5</c:v>
                </c:pt>
              </c:numCache>
            </c:numRef>
          </c:val>
        </c:ser>
        <c:ser>
          <c:idx val="4"/>
          <c:order val="4"/>
          <c:tx>
            <c:strRef>
              <c:f>Sheet1!$F$1</c:f>
              <c:strCache>
                <c:ptCount val="1"/>
                <c:pt idx="0">
                  <c:v>Bollinger</c:v>
                </c:pt>
              </c:strCache>
            </c:strRef>
          </c:tx>
          <c:spPr>
            <a:solidFill>
              <a:srgbClr val="9DB1CF"/>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#,##0;"-"#,##0</c:formatCode>
                <c:ptCount val="25"/>
                <c:pt idx="6">
                  <c:v>1</c:v>
                </c:pt>
                <c:pt idx="7">
                  <c:v>1</c:v>
                </c:pt>
                <c:pt idx="8">
                  <c:v>2</c:v>
                </c:pt>
                <c:pt idx="9">
                  <c:v>2</c:v>
                </c:pt>
                <c:pt idx="10">
                  <c:v>2</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numCache>
            </c:numRef>
          </c:val>
        </c:ser>
        <c:ser>
          <c:idx val="5"/>
          <c:order val="5"/>
          <c:tx>
            <c:strRef>
              <c:f>Sheet1!$G$1</c:f>
              <c:strCache>
                <c:ptCount val="1"/>
                <c:pt idx="0">
                  <c:v>Tampa Ship (HD HHI)</c:v>
                </c:pt>
              </c:strCache>
            </c:strRef>
          </c:tx>
          <c:spPr>
            <a:solidFill>
              <a:srgbClr val="C3CFE1"/>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Sheet1!$G$2:$G$26</c:f>
              <c:numCache>
                <c:formatCode>#,##0;"-"#,##0</c:formatCode>
                <c:ptCount val="25"/>
                <c:pt idx="6">
                  <c:v>1</c:v>
                </c:pt>
                <c:pt idx="7">
                  <c:v>2</c:v>
                </c:pt>
                <c:pt idx="8">
                  <c:v>2</c:v>
                </c:pt>
                <c:pt idx="9">
                  <c:v>3</c:v>
                </c:pt>
                <c:pt idx="10">
                  <c:v>3</c:v>
                </c:pt>
                <c:pt idx="11">
                  <c:v>4</c:v>
                </c:pt>
                <c:pt idx="12">
                  <c:v>4</c:v>
                </c:pt>
                <c:pt idx="13">
                  <c:v>5</c:v>
                </c:pt>
                <c:pt idx="14">
                  <c:v>5</c:v>
                </c:pt>
                <c:pt idx="15">
                  <c:v>5</c:v>
                </c:pt>
                <c:pt idx="16">
                  <c:v>5</c:v>
                </c:pt>
                <c:pt idx="17">
                  <c:v>5</c:v>
                </c:pt>
                <c:pt idx="18">
                  <c:v>5</c:v>
                </c:pt>
                <c:pt idx="19">
                  <c:v>5</c:v>
                </c:pt>
                <c:pt idx="20">
                  <c:v>5</c:v>
                </c:pt>
                <c:pt idx="21">
                  <c:v>5</c:v>
                </c:pt>
                <c:pt idx="22">
                  <c:v>5</c:v>
                </c:pt>
                <c:pt idx="23">
                  <c:v>5</c:v>
                </c:pt>
                <c:pt idx="24">
                  <c:v>5</c:v>
                </c:pt>
              </c:numCache>
            </c:numRef>
          </c:val>
        </c:ser>
        <c:ser>
          <c:idx val="6"/>
          <c:order val="6"/>
          <c:tx>
            <c:strRef>
              <c:f>Sheet1!$H$1</c:f>
              <c:strCache>
                <c:ptCount val="1"/>
                <c:pt idx="0">
                  <c:v>GD NASSCO (SHI)</c:v>
                </c:pt>
              </c:strCache>
            </c:strRef>
          </c:tx>
          <c:spPr>
            <a:solidFill>
              <a:srgbClr val="80808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Sheet1!$H$2:$H$26</c:f>
              <c:numCache>
                <c:formatCode>#,##0;"-"#,##0</c:formatCode>
                <c:ptCount val="25"/>
                <c:pt idx="8">
                  <c:v>1</c:v>
                </c:pt>
                <c:pt idx="9">
                  <c:v>1</c:v>
                </c:pt>
                <c:pt idx="10">
                  <c:v>1</c:v>
                </c:pt>
                <c:pt idx="11">
                  <c:v>1</c:v>
                </c:pt>
                <c:pt idx="12">
                  <c:v>2</c:v>
                </c:pt>
                <c:pt idx="13">
                  <c:v>2</c:v>
                </c:pt>
                <c:pt idx="14">
                  <c:v>3</c:v>
                </c:pt>
                <c:pt idx="15">
                  <c:v>3</c:v>
                </c:pt>
                <c:pt idx="16">
                  <c:v>3</c:v>
                </c:pt>
                <c:pt idx="17">
                  <c:v>3</c:v>
                </c:pt>
                <c:pt idx="18">
                  <c:v>3</c:v>
                </c:pt>
                <c:pt idx="19">
                  <c:v>3</c:v>
                </c:pt>
                <c:pt idx="20">
                  <c:v>3</c:v>
                </c:pt>
                <c:pt idx="21">
                  <c:v>3</c:v>
                </c:pt>
                <c:pt idx="22">
                  <c:v>3</c:v>
                </c:pt>
                <c:pt idx="23">
                  <c:v>3</c:v>
                </c:pt>
                <c:pt idx="24">
                  <c:v>3</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8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2020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1410</c:v>
                </c:pt>
                <c:pt idx="1">
                  <c:v>6445</c:v>
                </c:pt>
                <c:pt idx="2">
                  <c:v>7190</c:v>
                </c:pt>
                <c:pt idx="4">
                  <c:v>21176</c:v>
                </c:pt>
                <c:pt idx="5">
                  <c:v>1854</c:v>
                </c:pt>
                <c:pt idx="6">
                  <c:v>3992</c:v>
                </c:pt>
                <c:pt idx="7">
                  <c:v>14577</c:v>
                </c:pt>
                <c:pt idx="8">
                  <c:v>29175</c:v>
                </c:pt>
                <c:pt idx="9">
                  <c:v>462</c:v>
                </c:pt>
                <c:pt idx="10">
                  <c:v>460</c:v>
                </c:pt>
                <c:pt idx="11">
                  <c:v>1231</c:v>
                </c:pt>
                <c:pt idx="12">
                  <c:v>3807</c:v>
                </c:pt>
                <c:pt idx="13">
                  <c:v>1381</c:v>
                </c:pt>
                <c:pt idx="14">
                  <c:v>1506</c:v>
                </c:pt>
              </c:numCache>
            </c:numRef>
          </c:val>
        </c:ser>
        <c:gapWidth val="80"/>
        <c:overlap val="100"/>
        <c:axId val="111111111"/>
        <c:axId val="222222222"/>
      </c:barChart>
      <c:lineChart>
        <c:grouping val="standard"/>
        <c:varyColors val="0"/>
        <c:ser>
          <c:idx val="1"/>
          <c:order val="1"/>
          <c:tx>
            <c:strRef>
              <c:f>Sheet1!$C$1</c:f>
              <c:strCache>
                <c:ptCount val="1"/>
                <c:pt idx="0">
                  <c:v>2020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6.7</c:v>
                </c:pt>
                <c:pt idx="1">
                  <c:v>2.2</c:v>
                </c:pt>
                <c:pt idx="2">
                  <c:v>2.5</c:v>
                </c:pt>
                <c:pt idx="4">
                  <c:v>-7.8</c:v>
                </c:pt>
                <c:pt idx="5">
                  <c:v>13.2</c:v>
                </c:pt>
                <c:pt idx="6">
                  <c:v>18.3</c:v>
                </c:pt>
                <c:pt idx="7">
                  <c:v>10.3</c:v>
                </c:pt>
                <c:pt idx="8">
                  <c:v>11</c:v>
                </c:pt>
                <c:pt idx="9">
                  <c:v>43.2</c:v>
                </c:pt>
                <c:pt idx="10">
                  <c:v>13.1</c:v>
                </c:pt>
                <c:pt idx="11">
                  <c:v>42.4</c:v>
                </c:pt>
                <c:pt idx="12">
                  <c:v>31.7</c:v>
                </c:pt>
                <c:pt idx="13">
                  <c:v>32.8</c:v>
                </c:pt>
                <c:pt idx="14">
                  <c:v>43</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2021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1089</c:v>
                </c:pt>
                <c:pt idx="1">
                  <c:v>3786</c:v>
                </c:pt>
                <c:pt idx="2">
                  <c:v>7822</c:v>
                </c:pt>
                <c:pt idx="4">
                  <c:v>19771</c:v>
                </c:pt>
                <c:pt idx="5">
                  <c:v>3133</c:v>
                </c:pt>
                <c:pt idx="6">
                  <c:v>10729</c:v>
                </c:pt>
                <c:pt idx="7">
                  <c:v>26356</c:v>
                </c:pt>
                <c:pt idx="8">
                  <c:v>48232</c:v>
                </c:pt>
                <c:pt idx="9">
                  <c:v>690</c:v>
                </c:pt>
                <c:pt idx="10">
                  <c:v>794</c:v>
                </c:pt>
                <c:pt idx="11">
                  <c:v>1470</c:v>
                </c:pt>
                <c:pt idx="12">
                  <c:v>4000</c:v>
                </c:pt>
                <c:pt idx="13">
                  <c:v>1698</c:v>
                </c:pt>
                <c:pt idx="14">
                  <c:v>1865</c:v>
                </c:pt>
              </c:numCache>
            </c:numRef>
          </c:val>
        </c:ser>
        <c:gapWidth val="80"/>
        <c:overlap val="100"/>
        <c:axId val="111111111"/>
        <c:axId val="222222222"/>
      </c:barChart>
      <c:lineChart>
        <c:grouping val="standard"/>
        <c:varyColors val="0"/>
        <c:ser>
          <c:idx val="1"/>
          <c:order val="1"/>
          <c:tx>
            <c:strRef>
              <c:f>Sheet1!$C$1</c:f>
              <c:strCache>
                <c:ptCount val="1"/>
                <c:pt idx="0">
                  <c:v>2021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7.8</c:v>
                </c:pt>
                <c:pt idx="1">
                  <c:v>-39</c:v>
                </c:pt>
                <c:pt idx="2">
                  <c:v>4.2</c:v>
                </c:pt>
                <c:pt idx="4">
                  <c:v>-3</c:v>
                </c:pt>
                <c:pt idx="5">
                  <c:v>36.3</c:v>
                </c:pt>
                <c:pt idx="6">
                  <c:v>54.2</c:v>
                </c:pt>
                <c:pt idx="7">
                  <c:v>42.2</c:v>
                </c:pt>
                <c:pt idx="8">
                  <c:v>37.2</c:v>
                </c:pt>
                <c:pt idx="9">
                  <c:v>51.9</c:v>
                </c:pt>
                <c:pt idx="10">
                  <c:v>55.6</c:v>
                </c:pt>
                <c:pt idx="11">
                  <c:v>47.9</c:v>
                </c:pt>
                <c:pt idx="12">
                  <c:v>29.3</c:v>
                </c:pt>
                <c:pt idx="13">
                  <c:v>40.6</c:v>
                </c:pt>
                <c:pt idx="14">
                  <c:v>47.8</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2022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1026</c:v>
                </c:pt>
                <c:pt idx="1">
                  <c:v>3857</c:v>
                </c:pt>
                <c:pt idx="2">
                  <c:v>8004</c:v>
                </c:pt>
                <c:pt idx="3">
                  <c:v>11785</c:v>
                </c:pt>
                <c:pt idx="4">
                  <c:v>20791</c:v>
                </c:pt>
                <c:pt idx="5">
                  <c:v>3545</c:v>
                </c:pt>
                <c:pt idx="6">
                  <c:v>12562</c:v>
                </c:pt>
                <c:pt idx="7">
                  <c:v>36401</c:v>
                </c:pt>
                <c:pt idx="8">
                  <c:v>64299</c:v>
                </c:pt>
                <c:pt idx="9">
                  <c:v>993</c:v>
                </c:pt>
                <c:pt idx="10">
                  <c:v>1114</c:v>
                </c:pt>
                <c:pt idx="11">
                  <c:v>1556</c:v>
                </c:pt>
                <c:pt idx="12">
                  <c:v>4371</c:v>
                </c:pt>
                <c:pt idx="13">
                  <c:v>1559</c:v>
                </c:pt>
                <c:pt idx="14">
                  <c:v>2243</c:v>
                </c:pt>
              </c:numCache>
            </c:numRef>
          </c:val>
        </c:ser>
        <c:gapWidth val="80"/>
        <c:overlap val="100"/>
        <c:axId val="111111111"/>
        <c:axId val="222222222"/>
      </c:barChart>
      <c:lineChart>
        <c:grouping val="standard"/>
        <c:varyColors val="0"/>
        <c:ser>
          <c:idx val="1"/>
          <c:order val="1"/>
          <c:tx>
            <c:strRef>
              <c:f>Sheet1!$C$1</c:f>
              <c:strCache>
                <c:ptCount val="1"/>
                <c:pt idx="0">
                  <c:v>2022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3.8</c:v>
                </c:pt>
                <c:pt idx="1">
                  <c:v>-33.2</c:v>
                </c:pt>
                <c:pt idx="2">
                  <c:v>-0.1</c:v>
                </c:pt>
                <c:pt idx="3">
                  <c:v>0.3</c:v>
                </c:pt>
                <c:pt idx="4">
                  <c:v>1.9</c:v>
                </c:pt>
                <c:pt idx="5">
                  <c:v>36.1</c:v>
                </c:pt>
                <c:pt idx="6">
                  <c:v>48.9</c:v>
                </c:pt>
                <c:pt idx="7">
                  <c:v>50.7</c:v>
                </c:pt>
                <c:pt idx="8">
                  <c:v>45.3</c:v>
                </c:pt>
                <c:pt idx="9">
                  <c:v>65.8</c:v>
                </c:pt>
                <c:pt idx="10">
                  <c:v>59.5</c:v>
                </c:pt>
                <c:pt idx="11">
                  <c:v>14.1</c:v>
                </c:pt>
                <c:pt idx="12">
                  <c:v>19</c:v>
                </c:pt>
                <c:pt idx="13">
                  <c:v>35.2</c:v>
                </c:pt>
                <c:pt idx="14">
                  <c:v>50.9</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2023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1049</c:v>
                </c:pt>
                <c:pt idx="1">
                  <c:v>5739</c:v>
                </c:pt>
                <c:pt idx="2">
                  <c:v>8464</c:v>
                </c:pt>
                <c:pt idx="3">
                  <c:v>16496</c:v>
                </c:pt>
                <c:pt idx="4">
                  <c:v>25097</c:v>
                </c:pt>
                <c:pt idx="5">
                  <c:v>2477</c:v>
                </c:pt>
                <c:pt idx="6">
                  <c:v>5162</c:v>
                </c:pt>
                <c:pt idx="7">
                  <c:v>19210</c:v>
                </c:pt>
                <c:pt idx="8">
                  <c:v>33653</c:v>
                </c:pt>
                <c:pt idx="9">
                  <c:v>974</c:v>
                </c:pt>
                <c:pt idx="10">
                  <c:v>1511</c:v>
                </c:pt>
                <c:pt idx="11">
                  <c:v>1715</c:v>
                </c:pt>
                <c:pt idx="12">
                  <c:v>3844</c:v>
                </c:pt>
                <c:pt idx="13">
                  <c:v>1362</c:v>
                </c:pt>
                <c:pt idx="14">
                  <c:v>2388</c:v>
                </c:pt>
              </c:numCache>
            </c:numRef>
          </c:val>
        </c:ser>
        <c:gapWidth val="80"/>
        <c:overlap val="100"/>
        <c:axId val="111111111"/>
        <c:axId val="222222222"/>
      </c:barChart>
      <c:lineChart>
        <c:grouping val="standard"/>
        <c:varyColors val="0"/>
        <c:ser>
          <c:idx val="1"/>
          <c:order val="1"/>
          <c:tx>
            <c:strRef>
              <c:f>Sheet1!$C$1</c:f>
              <c:strCache>
                <c:ptCount val="1"/>
                <c:pt idx="0">
                  <c:v>2023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1.8</c:v>
                </c:pt>
                <c:pt idx="1">
                  <c:v>2.7</c:v>
                </c:pt>
                <c:pt idx="2">
                  <c:v>3.2</c:v>
                </c:pt>
                <c:pt idx="3">
                  <c:v>1.3</c:v>
                </c:pt>
                <c:pt idx="4">
                  <c:v>3.1</c:v>
                </c:pt>
                <c:pt idx="5">
                  <c:v>11.9</c:v>
                </c:pt>
                <c:pt idx="6">
                  <c:v>-8.2</c:v>
                </c:pt>
                <c:pt idx="7">
                  <c:v>14.1</c:v>
                </c:pt>
                <c:pt idx="8">
                  <c:v>6.6</c:v>
                </c:pt>
                <c:pt idx="9">
                  <c:v>59.6</c:v>
                </c:pt>
                <c:pt idx="10">
                  <c:v>31</c:v>
                </c:pt>
                <c:pt idx="11">
                  <c:v>21.3</c:v>
                </c:pt>
                <c:pt idx="12">
                  <c:v>25.5</c:v>
                </c:pt>
                <c:pt idx="13">
                  <c:v>31.2</c:v>
                </c:pt>
                <c:pt idx="14">
                  <c:v>50.7</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2024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1018</c:v>
                </c:pt>
                <c:pt idx="1">
                  <c:v>7292</c:v>
                </c:pt>
                <c:pt idx="2">
                  <c:v>8413</c:v>
                </c:pt>
                <c:pt idx="3">
                  <c:v>17280</c:v>
                </c:pt>
                <c:pt idx="4">
                  <c:v>23480</c:v>
                </c:pt>
                <c:pt idx="5">
                  <c:v>2810</c:v>
                </c:pt>
                <c:pt idx="6">
                  <c:v>8427</c:v>
                </c:pt>
                <c:pt idx="7">
                  <c:v>20287</c:v>
                </c:pt>
                <c:pt idx="8">
                  <c:v>37388</c:v>
                </c:pt>
                <c:pt idx="9">
                  <c:v>1014</c:v>
                </c:pt>
                <c:pt idx="10">
                  <c:v>2084</c:v>
                </c:pt>
                <c:pt idx="11">
                  <c:v>2312</c:v>
                </c:pt>
                <c:pt idx="12">
                  <c:v>4465</c:v>
                </c:pt>
                <c:pt idx="13">
                  <c:v>1489</c:v>
                </c:pt>
                <c:pt idx="14">
                  <c:v>2740</c:v>
                </c:pt>
              </c:numCache>
            </c:numRef>
          </c:val>
        </c:ser>
        <c:gapWidth val="80"/>
        <c:overlap val="100"/>
        <c:axId val="111111111"/>
        <c:axId val="222222222"/>
      </c:barChart>
      <c:lineChart>
        <c:grouping val="standard"/>
        <c:varyColors val="0"/>
        <c:ser>
          <c:idx val="1"/>
          <c:order val="1"/>
          <c:tx>
            <c:strRef>
              <c:f>Sheet1!$C$1</c:f>
              <c:strCache>
                <c:ptCount val="1"/>
                <c:pt idx="0">
                  <c:v>2024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5.2</c:v>
                </c:pt>
                <c:pt idx="1">
                  <c:v>2.2</c:v>
                </c:pt>
                <c:pt idx="2">
                  <c:v>2</c:v>
                </c:pt>
                <c:pt idx="3">
                  <c:v>5.6</c:v>
                </c:pt>
                <c:pt idx="4">
                  <c:v>2.3</c:v>
                </c:pt>
                <c:pt idx="5">
                  <c:v>17.8</c:v>
                </c:pt>
                <c:pt idx="6">
                  <c:v>42.1</c:v>
                </c:pt>
                <c:pt idx="7">
                  <c:v>13.4</c:v>
                </c:pt>
                <c:pt idx="8">
                  <c:v>12.7</c:v>
                </c:pt>
                <c:pt idx="9">
                  <c:v>53.3</c:v>
                </c:pt>
                <c:pt idx="10">
                  <c:v>22.2</c:v>
                </c:pt>
                <c:pt idx="11">
                  <c:v>27.4</c:v>
                </c:pt>
                <c:pt idx="12">
                  <c:v>29.8</c:v>
                </c:pt>
                <c:pt idx="13">
                  <c:v>37.8</c:v>
                </c:pt>
                <c:pt idx="14">
                  <c:v>54</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9191329720716966"/>
          <c:w val="0.9261618306204293"/>
          <c:h val="0.8816173405585661"/>
        </c:manualLayout>
      </c:layout>
      <c:barChart>
        <c:barDir val="col"/>
        <c:grouping val="stacked"/>
        <c:varyColors val="0"/>
        <c:ser>
          <c:idx val="0"/>
          <c:order val="0"/>
          <c:tx>
            <c:strRef>
              <c:f>Sheet1!$B$1</c:f>
              <c:strCache>
                <c:ptCount val="1"/>
                <c:pt idx="0">
                  <c:v>Source chart layer 1</c:v>
                </c:pt>
              </c:strCache>
            </c:strRef>
          </c:tx>
          <c:spPr>
            <a:solidFill>
              <a:srgbClr val="364D6E"/>
            </a:solidFill>
            <a:ln>
              <a:noFill/>
            </a:ln>
          </c:spPr>
          <c:invertIfNegative val="0"/>
          <c:dPt>
            <c:idx val="0"/>
            <c:invertIfNegative val="0"/>
            <c:bubble3D val="0"/>
            <c:spPr>
              <a:solidFill>
                <a:srgbClr val="C0C0C0"/>
              </a:solidFill>
              <a:ln>
                <a:noFill/>
              </a:ln>
            </c:spPr>
          </c:dPt>
          <c:dPt>
            <c:idx val="1"/>
            <c:invertIfNegative val="0"/>
            <c:bubble3D val="0"/>
            <c:spPr>
              <a:solidFill>
                <a:srgbClr val="C0C0C0"/>
              </a:solidFill>
              <a:ln>
                <a:noFill/>
              </a:ln>
            </c:spPr>
          </c:dPt>
          <c:dPt>
            <c:idx val="2"/>
            <c:invertIfNegative val="0"/>
            <c:bubble3D val="0"/>
            <c:spPr>
              <a:solidFill>
                <a:srgbClr val="000000"/>
              </a:solidFill>
              <a:ln>
                <a:noFill/>
              </a:ln>
            </c:spPr>
          </c:dPt>
          <c:dPt>
            <c:idx val="3"/>
            <c:invertIfNegative val="0"/>
            <c:bubble3D val="0"/>
            <c:spPr>
              <a:solidFill>
                <a:srgbClr val="000000"/>
              </a:solidFill>
              <a:ln>
                <a:noFill/>
              </a:ln>
            </c:spPr>
          </c:dPt>
          <c:dPt>
            <c:idx val="4"/>
            <c:invertIfNegative val="0"/>
            <c:bubble3D val="0"/>
            <c:spPr>
              <a:solidFill>
                <a:srgbClr val="000000"/>
              </a:solidFill>
              <a:ln>
                <a:noFill/>
              </a:ln>
            </c:spPr>
          </c:dPt>
          <c:dPt>
            <c:idx val="5"/>
            <c:invertIfNegative val="0"/>
            <c:bubble3D val="0"/>
            <c:spPr>
              <a:solidFill>
                <a:srgbClr val="9DB1CF"/>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dPt>
            <c:idx val="10"/>
            <c:invertIfNegative val="0"/>
            <c:bubble3D val="0"/>
            <c:spPr>
              <a:solidFill>
                <a:srgbClr val="364D6E"/>
              </a:solidFill>
              <a:ln>
                <a:noFill/>
              </a:ln>
            </c:spPr>
          </c:dPt>
          <c:dPt>
            <c:idx val="11"/>
            <c:invertIfNegative val="0"/>
            <c:bubble3D val="0"/>
            <c:spPr>
              <a:solidFill>
                <a:srgbClr val="364D6E"/>
              </a:solidFill>
              <a:ln>
                <a:noFill/>
              </a:ln>
            </c:spPr>
          </c:dPt>
          <c:dPt>
            <c:idx val="12"/>
            <c:invertIfNegative val="0"/>
            <c:bubble3D val="0"/>
            <c:spPr>
              <a:solidFill>
                <a:srgbClr val="364D6E"/>
              </a:solidFill>
              <a:ln>
                <a:noFill/>
              </a:ln>
            </c:spPr>
          </c:dPt>
          <c:dPt>
            <c:idx val="13"/>
            <c:invertIfNegative val="0"/>
            <c:bubble3D val="0"/>
            <c:spPr>
              <a:solidFill>
                <a:srgbClr val="364D6E"/>
              </a:solidFill>
              <a:ln>
                <a:noFill/>
              </a:ln>
            </c:spPr>
          </c:dPt>
          <c:dPt>
            <c:idx val="14"/>
            <c:invertIfNegative val="0"/>
            <c:bubble3D val="0"/>
            <c:spPr>
              <a:solidFill>
                <a:srgbClr val="364D6E"/>
              </a:solidFill>
              <a:ln>
                <a:noFill/>
              </a:ln>
            </c:spPr>
          </c:dPt>
          <c:dPt>
            <c:idx val="15"/>
            <c:invertIfNegative val="0"/>
            <c:bubble3D val="0"/>
            <c:spPr>
              <a:solidFill>
                <a:srgbClr val="364D6E"/>
              </a:solidFill>
              <a:ln>
                <a:noFill/>
              </a:ln>
            </c:spPr>
          </c:dPt>
          <c:dPt>
            <c:idx val="16"/>
            <c:invertIfNegative val="0"/>
            <c:bubble3D val="0"/>
            <c:spPr>
              <a:solidFill>
                <a:srgbClr val="364D6E"/>
              </a:solidFill>
              <a:ln>
                <a:noFill/>
              </a:ln>
            </c:spPr>
          </c:dPt>
          <c:dPt>
            <c:idx val="17"/>
            <c:invertIfNegative val="0"/>
            <c:bubble3D val="0"/>
            <c:spPr>
              <a:solidFill>
                <a:srgbClr val="364D6E"/>
              </a:solidFill>
              <a:ln>
                <a:noFill/>
              </a:ln>
            </c:spPr>
          </c:dPt>
          <c:dPt>
            <c:idx val="18"/>
            <c:invertIfNegative val="0"/>
            <c:bubble3D val="0"/>
            <c:spPr>
              <a:solidFill>
                <a:srgbClr val="364D6E"/>
              </a:solidFill>
              <a:ln>
                <a:noFill/>
              </a:ln>
            </c:spPr>
          </c:dPt>
          <c:dPt>
            <c:idx val="19"/>
            <c:invertIfNegative val="0"/>
            <c:bubble3D val="0"/>
            <c:spPr>
              <a:solidFill>
                <a:srgbClr val="364D6E"/>
              </a:solidFill>
              <a:ln>
                <a:noFill/>
              </a:ln>
            </c:spPr>
          </c:dPt>
          <c:dPt>
            <c:idx val="20"/>
            <c:invertIfNegative val="0"/>
            <c:bubble3D val="0"/>
            <c:spPr>
              <a:solidFill>
                <a:srgbClr val="364D6E"/>
              </a:solidFill>
              <a:ln>
                <a:noFill/>
              </a:ln>
            </c:spPr>
          </c:dPt>
          <c:dPt>
            <c:idx val="21"/>
            <c:invertIfNegative val="0"/>
            <c:bubble3D val="0"/>
            <c:spPr>
              <a:solidFill>
                <a:srgbClr val="364D6E"/>
              </a:solidFill>
              <a:ln>
                <a:noFill/>
              </a:ln>
            </c:spPr>
          </c:dPt>
          <c:dPt>
            <c:idx val="22"/>
            <c:invertIfNegative val="0"/>
            <c:bubble3D val="0"/>
            <c:spPr>
              <a:solidFill>
                <a:srgbClr val="364D6E"/>
              </a:solidFill>
              <a:ln>
                <a:noFill/>
              </a:ln>
            </c:spPr>
          </c:dPt>
          <c:dPt>
            <c:idx val="23"/>
            <c:invertIfNegative val="0"/>
            <c:bubble3D val="0"/>
            <c:spPr>
              <a:solidFill>
                <a:srgbClr val="364D6E"/>
              </a:solidFill>
              <a:ln>
                <a:noFill/>
              </a:ln>
            </c:spPr>
          </c:dPt>
          <c:dPt>
            <c:idx val="24"/>
            <c:invertIfNegative val="0"/>
            <c:bubble3D val="0"/>
            <c:spPr>
              <a:solidFill>
                <a:srgbClr val="364D6E"/>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5</c:v>
                </c:pt>
                <c:pt idx="4">
                  <c:v>5</c:v>
                </c:pt>
                <c:pt idx="5">
                  <c:v>-1</c:v>
                </c:pt>
                <c:pt idx="6">
                  <c:v>-1</c:v>
                </c:pt>
                <c:pt idx="7">
                  <c:v>-3</c:v>
                </c:pt>
                <c:pt idx="8">
                  <c:v>-2</c:v>
                </c:pt>
                <c:pt idx="10">
                  <c:v>-1</c:v>
                </c:pt>
                <c:pt idx="11">
                  <c:v>-1</c:v>
                </c:pt>
                <c:pt idx="12">
                  <c:v>-1</c:v>
                </c:pt>
                <c:pt idx="13">
                  <c:v>-2</c:v>
                </c:pt>
                <c:pt idx="14">
                  <c:v>-2</c:v>
                </c:pt>
                <c:pt idx="15">
                  <c:v>-2</c:v>
                </c:pt>
                <c:pt idx="16">
                  <c:v>-3</c:v>
                </c:pt>
                <c:pt idx="17">
                  <c:v>-2</c:v>
                </c:pt>
                <c:pt idx="18">
                  <c:v>-6</c:v>
                </c:pt>
                <c:pt idx="19">
                  <c:v>-5</c:v>
                </c:pt>
                <c:pt idx="20">
                  <c:v>-1</c:v>
                </c:pt>
                <c:pt idx="21">
                  <c:v>-2</c:v>
                </c:pt>
                <c:pt idx="22">
                  <c:v>-1</c:v>
                </c:pt>
                <c:pt idx="23">
                  <c:v>-1</c:v>
                </c:pt>
                <c:pt idx="24">
                  <c:v>-4</c:v>
                </c:pt>
              </c:numCache>
            </c:numRef>
          </c:val>
        </c:ser>
        <c:ser>
          <c:idx val="1"/>
          <c:order val="1"/>
          <c:tx>
            <c:strRef>
              <c:f>Sheet1!$C$1</c:f>
              <c:strCache>
                <c:ptCount val="1"/>
                <c:pt idx="0">
                  <c:v>Source chart layer 2</c:v>
                </c:pt>
              </c:strCache>
            </c:strRef>
          </c:tx>
          <c:spPr>
            <a:solidFill>
              <a:srgbClr val="9DB1CF"/>
            </a:solidFill>
            <a:ln>
              <a:noFill/>
            </a:ln>
          </c:spPr>
          <c:invertIfNegative val="0"/>
          <c:dPt>
            <c:idx val="0"/>
            <c:invertIfNegative val="0"/>
            <c:bubble3D val="0"/>
            <c:spPr>
              <a:solidFill>
                <a:srgbClr val="364D6E"/>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364D6E"/>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6F8DB9"/>
              </a:solidFill>
              <a:ln>
                <a:noFill/>
              </a:ln>
            </c:spPr>
          </c:dPt>
          <c:dPt>
            <c:idx val="13"/>
            <c:invertIfNegative val="0"/>
            <c:bubble3D val="0"/>
            <c:spPr>
              <a:solidFill>
                <a:srgbClr val="9DB1CF"/>
              </a:solidFill>
              <a:ln>
                <a:noFill/>
              </a:ln>
            </c:spPr>
          </c:dPt>
          <c:dPt>
            <c:idx val="14"/>
            <c:invertIfNegative val="0"/>
            <c:bubble3D val="0"/>
            <c:spPr>
              <a:solidFill>
                <a:srgbClr val="4C6C9C"/>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4C6C9C"/>
              </a:solidFill>
              <a:ln>
                <a:noFill/>
              </a:ln>
            </c:spPr>
          </c:dPt>
          <c:dPt>
            <c:idx val="18"/>
            <c:invertIfNegative val="0"/>
            <c:bubble3D val="0"/>
            <c:spPr>
              <a:solidFill>
                <a:srgbClr val="9DB1CF"/>
              </a:solidFill>
              <a:ln>
                <a:noFill/>
              </a:ln>
            </c:spPr>
          </c:dPt>
          <c:dPt>
            <c:idx val="19"/>
            <c:invertIfNegative val="0"/>
            <c:bubble3D val="0"/>
            <c:spPr>
              <a:solidFill>
                <a:srgbClr val="4C6C9C"/>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-1</c:v>
                </c:pt>
                <c:pt idx="1">
                  <c:v>-3</c:v>
                </c:pt>
                <c:pt idx="3">
                  <c:v>-1</c:v>
                </c:pt>
                <c:pt idx="4">
                  <c:v>-1</c:v>
                </c:pt>
                <c:pt idx="6">
                  <c:v>-1</c:v>
                </c:pt>
                <c:pt idx="12">
                  <c:v>-1</c:v>
                </c:pt>
                <c:pt idx="14">
                  <c:v>-1</c:v>
                </c:pt>
                <c:pt idx="17">
                  <c:v>-2</c:v>
                </c:pt>
                <c:pt idx="18">
                  <c:v>-1</c:v>
                </c:pt>
                <c:pt idx="19">
                  <c:v>-1</c:v>
                </c:pt>
                <c:pt idx="20">
                  <c:v>-1</c:v>
                </c:pt>
              </c:numCache>
            </c:numRef>
          </c:val>
        </c:ser>
        <c:ser>
          <c:idx val="2"/>
          <c:order val="2"/>
          <c:tx>
            <c:strRef>
              <c:f>Sheet1!$D$1</c:f>
              <c:strCache>
                <c:ptCount val="1"/>
                <c:pt idx="0">
                  <c:v>Source chart layer 3</c:v>
                </c:pt>
              </c:strCache>
            </c:strRef>
          </c:tx>
          <c:spPr>
            <a:solidFill>
              <a:srgbClr val="9DB1CF"/>
            </a:solidFill>
            <a:ln>
              <a:noFill/>
            </a:ln>
          </c:spPr>
          <c:invertIfNegative val="0"/>
          <c:dPt>
            <c:idx val="0"/>
            <c:invertIfNegative val="0"/>
            <c:bubble3D val="0"/>
            <c:spPr>
              <a:solidFill>
                <a:srgbClr val="6F8DB9"/>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0">
                  <c:v>-5</c:v>
                </c:pt>
                <c:pt idx="17">
                  <c:v>-1</c:v>
                </c:pt>
                <c:pt idx="19">
                  <c:v>-1</c:v>
                </c:pt>
              </c:numCache>
            </c:numRef>
          </c:val>
        </c:ser>
        <c:ser>
          <c:idx val="3"/>
          <c:order val="3"/>
          <c:tx>
            <c:strRef>
              <c:f>Sheet1!$E$1</c:f>
              <c:strCache>
                <c:ptCount val="1"/>
                <c:pt idx="0">
                  <c:v>Source chart layer 4</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0">
                  <c:v>-4</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1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23</c:v>
                </c:pt>
                <c:pt idx="8">
                  <c:v>19</c:v>
                </c:pt>
                <c:pt idx="9">
                  <c:v>11</c:v>
                </c:pt>
                <c:pt idx="10">
                  <c:v>6</c:v>
                </c:pt>
                <c:pt idx="11">
                  <c:v>4</c:v>
                </c:pt>
                <c:pt idx="12">
                  <c:v>6</c:v>
                </c:pt>
                <c:pt idx="13">
                  <c:v>4</c:v>
                </c:pt>
                <c:pt idx="14">
                  <c:v>6</c:v>
                </c:pt>
                <c:pt idx="15">
                  <c:v>3</c:v>
                </c:pt>
                <c:pt idx="16">
                  <c:v>2</c:v>
                </c:pt>
                <c:pt idx="17">
                  <c:v>3</c:v>
                </c:pt>
                <c:pt idx="18">
                  <c:v>2</c:v>
                </c:pt>
                <c:pt idx="19">
                  <c:v>3</c:v>
                </c:pt>
                <c:pt idx="20">
                  <c:v>2</c:v>
                </c:pt>
                <c:pt idx="21">
                  <c:v>2</c:v>
                </c:pt>
                <c:pt idx="22">
                  <c:v>2</c:v>
                </c:pt>
                <c:pt idx="23">
                  <c:v>2</c:v>
                </c:pt>
                <c:pt idx="24">
                  <c:v>8</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7">
                  <c:v>36</c:v>
                </c:pt>
                <c:pt idx="8">
                  <c:v>81</c:v>
                </c:pt>
                <c:pt idx="9">
                  <c:v>106</c:v>
                </c:pt>
                <c:pt idx="10">
                  <c:v>126</c:v>
                </c:pt>
                <c:pt idx="11">
                  <c:v>132</c:v>
                </c:pt>
                <c:pt idx="12">
                  <c:v>131</c:v>
                </c:pt>
                <c:pt idx="13">
                  <c:v>150</c:v>
                </c:pt>
                <c:pt idx="14">
                  <c:v>150</c:v>
                </c:pt>
                <c:pt idx="15">
                  <c:v>156</c:v>
                </c:pt>
                <c:pt idx="16">
                  <c:v>60</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96</c:v>
                </c:pt>
                <c:pt idx="17">
                  <c:v>156</c:v>
                </c:pt>
                <c:pt idx="18">
                  <c:v>156</c:v>
                </c:pt>
                <c:pt idx="19">
                  <c:v>156</c:v>
                </c:pt>
                <c:pt idx="20">
                  <c:v>163</c:v>
                </c:pt>
                <c:pt idx="21">
                  <c:v>163</c:v>
                </c:pt>
                <c:pt idx="22">
                  <c:v>164</c:v>
                </c:pt>
                <c:pt idx="23">
                  <c:v>162</c:v>
                </c:pt>
                <c:pt idx="24">
                  <c:v>155</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Plus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59</c:v>
                </c:pt>
                <c:pt idx="8">
                  <c:v>100</c:v>
                </c:pt>
                <c:pt idx="9">
                  <c:v>69</c:v>
                </c:pt>
                <c:pt idx="10">
                  <c:v>10</c:v>
                </c:pt>
                <c:pt idx="11">
                  <c:v>6</c:v>
                </c:pt>
                <c:pt idx="12">
                  <c:v>3</c:v>
                </c:pt>
                <c:pt idx="13">
                  <c:v>1</c:v>
                </c:pt>
                <c:pt idx="14">
                  <c:v>2</c:v>
                </c:pt>
                <c:pt idx="15">
                  <c:v>8</c:v>
                </c:pt>
                <c:pt idx="17">
                  <c:v>5</c:v>
                </c:pt>
                <c:pt idx="19">
                  <c:v>5</c:v>
                </c:pt>
                <c:pt idx="21">
                  <c:v>5</c:v>
                </c:pt>
                <c:pt idx="22">
                  <c:v>1</c:v>
                </c:pt>
                <c:pt idx="24">
                  <c:v>7</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9">
                  <c:v>48</c:v>
                </c:pt>
                <c:pt idx="10">
                  <c:v>122</c:v>
                </c:pt>
                <c:pt idx="11">
                  <c:v>130</c:v>
                </c:pt>
                <c:pt idx="12">
                  <c:v>134</c:v>
                </c:pt>
                <c:pt idx="13">
                  <c:v>153</c:v>
                </c:pt>
                <c:pt idx="14">
                  <c:v>154</c:v>
                </c:pt>
                <c:pt idx="15">
                  <c:v>151</c:v>
                </c:pt>
                <c:pt idx="16">
                  <c:v>56</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102</c:v>
                </c:pt>
                <c:pt idx="17">
                  <c:v>154</c:v>
                </c:pt>
                <c:pt idx="18">
                  <c:v>158</c:v>
                </c:pt>
                <c:pt idx="19">
                  <c:v>154</c:v>
                </c:pt>
                <c:pt idx="20">
                  <c:v>165</c:v>
                </c:pt>
                <c:pt idx="21">
                  <c:v>160</c:v>
                </c:pt>
                <c:pt idx="22">
                  <c:v>165</c:v>
                </c:pt>
                <c:pt idx="23">
                  <c:v>164</c:v>
                </c:pt>
                <c:pt idx="24">
                  <c:v>156</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942053541172484"/>
          <c:y val="0.05274888558692422"/>
          <c:w val="0.8881735005083022"/>
          <c:h val="0.8945022288261516"/>
        </c:manualLayout>
      </c:layout>
      <c:barChart>
        <c:barDir val="col"/>
        <c:grouping val="stacked"/>
        <c:varyColors val="0"/>
        <c:ser>
          <c:idx val="0"/>
          <c:order val="0"/>
          <c:tx>
            <c:strRef>
              <c:f>Sheet1!$B$1</c:f>
              <c:strCache>
                <c:ptCount val="1"/>
                <c:pt idx="0">
                  <c:v>Container</c:v>
                </c:pt>
              </c:strCache>
            </c:strRef>
          </c:tx>
          <c:spPr>
            <a:solidFill>
              <a:srgbClr val="007770"/>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Sheet1!$B$2:$B$3</c:f>
              <c:numCache>
                <c:formatCode>#,##0;"-"#,##0</c:formatCode>
                <c:ptCount val="2"/>
                <c:pt idx="0">
                  <c:v>124</c:v>
                </c:pt>
                <c:pt idx="1">
                  <c:v>46</c:v>
                </c:pt>
              </c:numCache>
            </c:numRef>
          </c:val>
        </c:ser>
        <c:ser>
          <c:idx val="1"/>
          <c:order val="1"/>
          <c:tx>
            <c:strRef>
              <c:f>Sheet1!$C$1</c:f>
              <c:strCache>
                <c:ptCount val="1"/>
                <c:pt idx="0">
                  <c:v>LNG</c:v>
                </c:pt>
              </c:strCache>
            </c:strRef>
          </c:tx>
          <c:spPr>
            <a:solidFill>
              <a:srgbClr val="C0C0C0"/>
            </a:solid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Sheet1!$C$2:$C$3</c:f>
              <c:numCache>
                <c:formatCode>#,##0;"-"#,##0</c:formatCode>
                <c:ptCount val="2"/>
                <c:pt idx="0">
                  <c:v>46</c:v>
                </c:pt>
                <c:pt idx="1">
                  <c:v>41</c:v>
                </c:pt>
              </c:numCache>
            </c:numRef>
          </c:val>
        </c:ser>
        <c:ser>
          <c:idx val="2"/>
          <c:order val="2"/>
          <c:tx>
            <c:strRef>
              <c:f>Sheet1!$D$1</c:f>
              <c:strCache>
                <c:ptCount val="1"/>
                <c:pt idx="0">
                  <c:v>Crude Tanker</c:v>
                </c:pt>
              </c:strCache>
            </c:strRef>
          </c:tx>
          <c:spPr>
            <a:solidFill>
              <a:srgbClr val="1D4D68"/>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Sheet1!$D$2:$D$3</c:f>
              <c:numCache>
                <c:formatCode>#,##0;"-"#,##0</c:formatCode>
                <c:ptCount val="2"/>
                <c:pt idx="0">
                  <c:v>18</c:v>
                </c:pt>
                <c:pt idx="1">
                  <c:v>15</c:v>
                </c:pt>
              </c:numCache>
            </c:numRef>
          </c:val>
        </c:ser>
        <c:ser>
          <c:idx val="3"/>
          <c:order val="3"/>
          <c:tx>
            <c:strRef>
              <c:f>Sheet1!$E$1</c:f>
              <c:strCache>
                <c:ptCount val="1"/>
                <c:pt idx="0">
                  <c:v>Ro-Ro / Product Tanker bridge</c:v>
                </c:pt>
              </c:strCache>
            </c:strRef>
          </c:tx>
          <c:spPr>
            <a:solidFill>
              <a:srgbClr val="969696"/>
            </a:solidFill>
            <a:ln>
              <a:noFill/>
            </a:ln>
          </c:spPr>
          <c:invertIfNegative val="0"/>
          <c:dPt>
            <c:idx val="0"/>
            <c:invertIfNegative val="0"/>
            <c:bubble3D val="0"/>
            <c:spPr>
              <a:solidFill>
                <a:srgbClr val="969696"/>
              </a:solidFill>
              <a:ln>
                <a:noFill/>
              </a:ln>
            </c:spPr>
          </c:dPt>
          <c:dPt>
            <c:idx val="1"/>
            <c:invertIfNegative val="0"/>
            <c:bubble3D val="0"/>
            <c:spPr>
              <a:solidFill>
                <a:srgbClr val="4C6C9C"/>
              </a:solidFill>
              <a:ln>
                <a:noFill/>
              </a:ln>
            </c:spPr>
          </c:dPt>
          <c:dLbls>
            <c:dLbl>
              <c:idx val="1"/>
              <c:delete val="1"/>
            </c:dLbl>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Sheet1!$E$2:$E$3</c:f>
              <c:numCache>
                <c:formatCode>#,##0;"-"#,##0</c:formatCode>
                <c:ptCount val="2"/>
                <c:pt idx="0">
                  <c:v>9</c:v>
                </c:pt>
                <c:pt idx="1">
                  <c:v>1</c:v>
                </c:pt>
              </c:numCache>
            </c:numRef>
          </c:val>
        </c:ser>
        <c:ser>
          <c:idx val="4"/>
          <c:order val="4"/>
          <c:tx>
            <c:strRef>
              <c:f>Sheet1!$F$1</c:f>
              <c:strCache>
                <c:ptCount val="1"/>
                <c:pt idx="0">
                  <c:v>Product Tanker / Bulk bridge</c:v>
                </c:pt>
              </c:strCache>
            </c:strRef>
          </c:tx>
          <c:spPr>
            <a:solidFill>
              <a:srgbClr val="000000"/>
            </a:solidFill>
            <a:ln>
              <a:noFill/>
            </a:ln>
          </c:spPr>
          <c:invertIfNegative val="0"/>
          <c:dPt>
            <c:idx val="0"/>
            <c:invertIfNegative val="0"/>
            <c:bubble3D val="0"/>
            <c:spPr>
              <a:solidFill>
                <a:srgbClr val="4C6C9C"/>
              </a:solidFill>
              <a:ln>
                <a:noFill/>
              </a:ln>
            </c:spPr>
          </c:dPt>
          <c:dPt>
            <c:idx val="1"/>
            <c:invertIfNegative val="0"/>
            <c:bubble3D val="0"/>
            <c:spPr>
              <a:solidFill>
                <a:srgbClr val="000000"/>
              </a:solidFill>
              <a:ln>
                <a:noFill/>
              </a:ln>
            </c:spPr>
          </c:dPt>
          <c:cat>
            <c:strRef>
              <c:f>Sheet1!$A$2:$A$3</c:f>
              <c:strCache>
                <c:ptCount val="2"/>
                <c:pt idx="0">
                  <c:v>Strategic Commercial Fleet (supported by MSTF)</c:v>
                </c:pt>
                <c:pt idx="1">
                  <c:v>Legally Mandated Demand</c:v>
                </c:pt>
              </c:strCache>
            </c:strRef>
          </c:cat>
          <c:val>
            <c:numRef>
              <c:f>Sheet1!$F$2:$F$3</c:f>
              <c:numCache>
                <c:formatCode>#,##0;"-"#,##0</c:formatCode>
                <c:ptCount val="2"/>
                <c:pt idx="0">
                  <c:v>1</c:v>
                </c:pt>
                <c:pt idx="1">
                  <c:v>1</c:v>
                </c:pt>
              </c:numCache>
            </c:numRef>
          </c:val>
        </c:ser>
        <c:ser>
          <c:idx val="5"/>
          <c:order val="5"/>
          <c:tx>
            <c:strRef>
              <c:f>Sheet1!$G$1</c:f>
              <c:strCache>
                <c:ptCount val="1"/>
                <c:pt idx="0">
                  <c:v>Bulk</c:v>
                </c:pt>
              </c:strCache>
            </c:strRef>
          </c:tx>
          <c:spPr>
            <a:solidFill>
              <a:srgbClr val="000000"/>
            </a:solidFill>
            <a:ln>
              <a:noFill/>
            </a:ln>
          </c:spPr>
          <c:invertIfNegative val="0"/>
          <c:dLbls>
            <c:dLbl>
              <c:idx val="0"/>
              <c:layout>
                <c:manualLayout>
                  <c:x val="0.13825821755337173"/>
                  <c:y val="1.485884101040118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c:f>
              <c:strCache>
                <c:ptCount val="2"/>
                <c:pt idx="0">
                  <c:v>Strategic Commercial Fleet (supported by MSTF)</c:v>
                </c:pt>
                <c:pt idx="1">
                  <c:v>Legally Mandated Demand</c:v>
                </c:pt>
              </c:strCache>
            </c:strRef>
          </c:cat>
          <c:val>
            <c:numRef>
              <c:f>Sheet1!$G$2:$G$3</c:f>
              <c:numCache>
                <c:formatCode>#,##0;"-"#,##0</c:formatCode>
                <c:ptCount val="2"/>
                <c:pt idx="0">
                  <c:v>1</c:v>
                </c:pt>
              </c:numCache>
            </c:numRef>
          </c:val>
        </c:ser>
        <c:ser>
          <c:idx val="6"/>
          <c:order val="6"/>
          <c:tx>
            <c:strRef>
              <c:f>Sheet1!$H$1</c:f>
              <c:strCache>
                <c:ptCount val="1"/>
                <c:pt idx="0">
                  <c:v>Other</c:v>
                </c:pt>
              </c:strCache>
            </c:strRef>
          </c:tx>
          <c:spPr>
            <a:pattFill prst="ltDnDiag">
              <a:fgClr>
                <a:srgbClr val="000000"/>
              </a:fgClr>
              <a:bgClr>
                <a:srgbClr val="FFFFFF"/>
              </a:bgClr>
            </a:pattFill>
            <a:ln>
              <a:noFill/>
            </a:ln>
          </c:spPr>
          <c:invertIfNegative val="0"/>
          <c:dLbls>
            <c:dLbl>
              <c:idx val="0"/>
              <c:layout>
                <c:manualLayout>
                  <c:x val="0.13825821755337173"/>
                  <c:y val="-1.485884101040118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c:f>
              <c:strCache>
                <c:ptCount val="2"/>
                <c:pt idx="0">
                  <c:v>Strategic Commercial Fleet (supported by MSTF)</c:v>
                </c:pt>
                <c:pt idx="1">
                  <c:v>Legally Mandated Demand</c:v>
                </c:pt>
              </c:strCache>
            </c:strRef>
          </c:cat>
          <c:val>
            <c:numRef>
              <c:f>Sheet1!$H$2:$H$3</c:f>
              <c:numCache>
                <c:formatCode>#,##0;"-"#,##0</c:formatCode>
                <c:ptCount val="2"/>
                <c:pt idx="0">
                  <c:v>2</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2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16214530714062987"/>
          <c:y val="0.021968736797634135"/>
          <c:w val="0.967570938571874"/>
          <c:h val="0.9560625264047318"/>
        </c:manualLayout>
      </c:layout>
      <c:barChart>
        <c:barDir val="col"/>
        <c:grouping val="stacked"/>
        <c:varyColors val="0"/>
        <c:ser>
          <c:idx val="0"/>
          <c:order val="0"/>
          <c:tx>
            <c:strRef>
              <c:f>Sheet1!$B$1</c:f>
              <c:strCache>
                <c:ptCount val="1"/>
                <c:pt idx="0">
                  <c:v>Basic Ocean Rate</c:v>
                </c:pt>
              </c:strCache>
            </c:strRef>
          </c:tx>
          <c:spPr>
            <a:solidFill>
              <a:srgbClr val="364D6E"/>
            </a:solidFill>
            <a:ln w="3175">
              <a:solidFill>
                <a:srgbClr val="000000"/>
              </a:solidFill>
            </a:ln>
          </c:spPr>
          <c:invertIfNegative val="0"/>
          <c:cat>
            <c:strRef>
              <c:f>Sheet1!$A$2:$A$2</c:f>
              <c:strCache>
                <c:ptCount val="1"/>
                <c:pt idx="0">
                  <c:v>Long Beach to Honolulu</c:v>
                </c:pt>
              </c:strCache>
            </c:strRef>
          </c:cat>
          <c:val>
            <c:numRef>
              <c:f>Sheet1!$B$2:$B$2</c:f>
              <c:numCache>
                <c:formatCode>General</c:formatCode>
                <c:ptCount val="1"/>
                <c:pt idx="0">
                  <c:v>57.14285714285715</c:v>
                </c:pt>
              </c:numCache>
            </c:numRef>
          </c:val>
        </c:ser>
        <c:ser>
          <c:idx val="1"/>
          <c:order val="1"/>
          <c:tx>
            <c:strRef>
              <c:f>Sheet1!$C$1</c:f>
              <c:strCache>
                <c:ptCount val="1"/>
                <c:pt idx="0">
                  <c:v>Fuel Surcharge</c:v>
                </c:pt>
              </c:strCache>
            </c:strRef>
          </c:tx>
          <c:spPr>
            <a:solidFill>
              <a:srgbClr val="4C6C9C"/>
            </a:solidFill>
            <a:ln w="3175">
              <a:solidFill>
                <a:srgbClr val="000000"/>
              </a:solidFill>
            </a:ln>
          </c:spPr>
          <c:invertIfNegative val="0"/>
          <c:cat>
            <c:strRef>
              <c:f>Sheet1!$A$2:$A$2</c:f>
              <c:strCache>
                <c:ptCount val="1"/>
                <c:pt idx="0">
                  <c:v>Long Beach to Honolulu</c:v>
                </c:pt>
              </c:strCache>
            </c:strRef>
          </c:cat>
          <c:val>
            <c:numRef>
              <c:f>Sheet1!$C$2:$C$2</c:f>
              <c:numCache>
                <c:formatCode>General</c:formatCode>
                <c:ptCount val="1"/>
                <c:pt idx="0">
                  <c:v>10.204081632653061</c:v>
                </c:pt>
              </c:numCache>
            </c:numRef>
          </c:val>
        </c:ser>
        <c:ser>
          <c:idx val="2"/>
          <c:order val="2"/>
          <c:tx>
            <c:strRef>
              <c:f>Sheet1!$D$1</c:f>
              <c:strCache>
                <c:ptCount val="1"/>
                <c:pt idx="0">
                  <c:v>Terminal - Long Beach</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Sheet1!$D$2:$D$2</c:f>
              <c:numCache>
                <c:formatCode>General</c:formatCode>
                <c:ptCount val="1"/>
                <c:pt idx="0">
                  <c:v>16.326530612244905</c:v>
                </c:pt>
              </c:numCache>
            </c:numRef>
          </c:val>
        </c:ser>
        <c:ser>
          <c:idx val="3"/>
          <c:order val="3"/>
          <c:tx>
            <c:strRef>
              <c:f>Sheet1!$E$1</c:f>
              <c:strCache>
                <c:ptCount val="1"/>
                <c:pt idx="0">
                  <c:v>Terminal - Honolulu</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Sheet1!$E$2:$E$2</c:f>
              <c:numCache>
                <c:formatCode>General</c:formatCode>
                <c:ptCount val="1"/>
                <c:pt idx="0">
                  <c:v>10.204081632653061</c:v>
                </c:pt>
              </c:numCache>
            </c:numRef>
          </c:val>
        </c:ser>
        <c:ser>
          <c:idx val="4"/>
          <c:order val="4"/>
          <c:tx>
            <c:strRef>
              <c:f>Sheet1!$F$1</c:f>
              <c:strCache>
                <c:ptCount val="1"/>
                <c:pt idx="0">
                  <c:v>Wharfage - Long Beach</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Sheet1!$F$2:$F$2</c:f>
              <c:numCache>
                <c:formatCode>General</c:formatCode>
                <c:ptCount val="1"/>
                <c:pt idx="0">
                  <c:v>2.0408163265306145</c:v>
                </c:pt>
              </c:numCache>
            </c:numRef>
          </c:val>
        </c:ser>
        <c:ser>
          <c:idx val="5"/>
          <c:order val="5"/>
          <c:tx>
            <c:strRef>
              <c:f>Sheet1!$G$1</c:f>
              <c:strCache>
                <c:ptCount val="1"/>
                <c:pt idx="0">
                  <c:v>Wharfage - Honolulu</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Sheet1!$G$2:$G$2</c:f>
              <c:numCache>
                <c:formatCode>General</c:formatCode>
                <c:ptCount val="1"/>
                <c:pt idx="0">
                  <c:v>4.081632653061229</c:v>
                </c:pt>
              </c:numCache>
            </c:numRef>
          </c:val>
        </c:ser>
        <c:ser>
          <c:idx val="6"/>
          <c:order val="6"/>
          <c:tx>
            <c:strRef>
              <c:f>Sheet1!$H$1</c:f>
              <c:strCache>
                <c:ptCount val="1"/>
                <c:pt idx="0">
                  <c:v>Other fees</c:v>
                </c:pt>
              </c:strCache>
            </c:strRef>
          </c:tx>
          <c:spPr>
            <a:solidFill>
              <a:srgbClr val="FFFFFF"/>
            </a:solidFill>
            <a:ln w="3175">
              <a:solidFill>
                <a:srgbClr val="000000"/>
              </a:solidFill>
            </a:ln>
          </c:spPr>
          <c:invertIfNegative val="0"/>
          <c:cat>
            <c:strRef>
              <c:f>Sheet1!$A$2:$A$2</c:f>
              <c:strCache>
                <c:ptCount val="1"/>
                <c:pt idx="0">
                  <c:v>Long Beach to Honolulu</c:v>
                </c:pt>
              </c:strCache>
            </c:strRef>
          </c:cat>
          <c:val>
            <c:numRef>
              <c:f>Sheet1!$H$2:$H$2</c:f>
              <c:numCache>
                <c:formatCode>General</c:formatCode>
                <c:ptCount val="1"/>
                <c:pt idx="0">
                  <c:v>0.0</c:v>
                </c:pt>
              </c:numCache>
            </c:numRef>
          </c:val>
        </c:ser>
        <c:gapWidth val="25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110.00000000000001"/>
          <c:min val="0"/>
        </c:scaling>
        <c:delete val="0"/>
        <c:axPos val="l"/>
        <c:numFmt formatCode="General" sourceLinked="0"/>
        <c:majorTickMark val="none"/>
        <c:minorTickMark val="none"/>
        <c:tickLblPos val="none"/>
        <c:spPr>
          <a:ln>
            <a:noFill/>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in"/>
        <c:crossBetween val="between"/>
      </c:valAx>
    </c:plotArea>
    <c:plotVisOnly val="1"/>
    <c:dispBlanksAs val="gap"/>
  </c:chart>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11101573676680973"/>
          <c:y val="0.04653371320037987"/>
          <c:w val="0.8741058655221745"/>
          <c:h val="0.9069325735992403"/>
        </c:manualLayout>
      </c:layout>
      <c:barChart>
        <c:barDir val="col"/>
        <c:grouping val="stacked"/>
        <c:varyColors val="0"/>
        <c:ser>
          <c:idx val="0"/>
          <c:order val="0"/>
          <c:tx>
            <c:strRef>
              <c:f>Sheet1!$B$1</c:f>
              <c:strCache>
                <c:ptCount val="1"/>
                <c:pt idx="0">
                  <c:v>DDG #1 / MR #1-#120 co-located</c:v>
                </c:pt>
              </c:strCache>
            </c:strRef>
          </c:tx>
          <c:spPr>
            <a:solidFill>
              <a:srgbClr val="000000"/>
            </a:solidFill>
            <a:ln>
              <a:noFill/>
            </a:ln>
          </c:spPr>
          <c:invertIfNegative val="0"/>
          <c:dPt>
            <c:idx val="0"/>
            <c:invertIfNegative val="0"/>
            <c:bubble3D val="0"/>
            <c:spPr>
              <a:solidFill>
                <a:srgbClr val="000000"/>
              </a:solidFill>
              <a:ln>
                <a:noFill/>
              </a:ln>
            </c:spPr>
          </c:dPt>
          <c:dPt>
            <c:idx val="1"/>
            <c:invertIfNegative val="0"/>
            <c:bubble3D val="0"/>
            <c:spPr>
              <a:solidFill>
                <a:srgbClr val="4C6C9C"/>
              </a:solidFill>
              <a:ln>
                <a:noFill/>
              </a:ln>
            </c:spPr>
          </c:dPt>
          <c:cat>
            <c:strRef>
              <c:f>Sheet1!$A$2:$A$3</c:f>
              <c:strCache>
                <c:ptCount val="2"/>
                <c:pt idx="0">
                  <c:v>4x Arleigh Burke-class destroyers</c:v>
                </c:pt>
                <c:pt idx="1">
                  <c:v>240x Golden Dome Marauders</c:v>
                </c:pt>
              </c:strCache>
            </c:strRef>
          </c:cat>
          <c:val>
            <c:numRef>
              <c:f>Sheet1!$B$2:$B$3</c:f>
              <c:numCache>
                <c:formatCode>#,##0;"-"#,##0</c:formatCode>
                <c:ptCount val="2"/>
                <c:pt idx="0">
                  <c:v>2700</c:v>
                </c:pt>
                <c:pt idx="1">
                  <c:v>5040</c:v>
                </c:pt>
              </c:numCache>
            </c:numRef>
          </c:val>
        </c:ser>
        <c:ser>
          <c:idx val="1"/>
          <c:order val="1"/>
          <c:tx>
            <c:strRef>
              <c:f>Sheet1!$C$1</c:f>
              <c:strCache>
                <c:ptCount val="1"/>
                <c:pt idx="0">
                  <c:v>DDG #2 / MR #121-#240 separate platforms</c:v>
                </c:pt>
              </c:strCache>
            </c:strRef>
          </c:tx>
          <c:spPr>
            <a:solidFill>
              <a:srgbClr val="808080"/>
            </a:solidFill>
            <a:ln>
              <a:noFill/>
            </a:ln>
          </c:spPr>
          <c:invertIfNegative val="0"/>
          <c:dPt>
            <c:idx val="0"/>
            <c:invertIfNegative val="0"/>
            <c:bubble3D val="0"/>
            <c:spPr>
              <a:solidFill>
                <a:srgbClr val="808080"/>
              </a:solidFill>
              <a:ln>
                <a:noFill/>
              </a:ln>
            </c:spPr>
          </c:dPt>
          <c:dPt>
            <c:idx val="1"/>
            <c:invertIfNegative val="0"/>
            <c:bubble3D val="0"/>
            <c:spPr>
              <a:solidFill>
                <a:srgbClr val="9DB1CF"/>
              </a:solidFill>
              <a:ln>
                <a:noFill/>
              </a:ln>
            </c:spPr>
          </c:dPt>
          <c:cat>
            <c:strRef>
              <c:f>Sheet1!$A$2:$A$3</c:f>
              <c:strCache>
                <c:ptCount val="2"/>
                <c:pt idx="0">
                  <c:v>4x Arleigh Burke-class destroyers</c:v>
                </c:pt>
                <c:pt idx="1">
                  <c:v>240x Golden Dome Marauders</c:v>
                </c:pt>
              </c:strCache>
            </c:strRef>
          </c:cat>
          <c:val>
            <c:numRef>
              <c:f>Sheet1!$C$2:$C$3</c:f>
              <c:numCache>
                <c:formatCode>#,##0;"-"#,##0</c:formatCode>
                <c:ptCount val="2"/>
                <c:pt idx="0">
                  <c:v>2700</c:v>
                </c:pt>
                <c:pt idx="1">
                  <c:v>5040</c:v>
                </c:pt>
              </c:numCache>
            </c:numRef>
          </c:val>
        </c:ser>
        <c:ser>
          <c:idx val="2"/>
          <c:order val="2"/>
          <c:tx>
            <c:strRef>
              <c:f>Sheet1!$D$1</c:f>
              <c:strCache>
                <c:ptCount val="1"/>
                <c:pt idx="0">
                  <c:v>DDG #3</c:v>
                </c:pt>
              </c:strCache>
            </c:strRef>
          </c:tx>
          <c:spPr>
            <a:solidFill>
              <a:srgbClr val="969696"/>
            </a:solidFill>
            <a:ln>
              <a:noFill/>
            </a:ln>
          </c:spPr>
          <c:invertIfNegative val="0"/>
          <c:cat>
            <c:strRef>
              <c:f>Sheet1!$A$2:$A$3</c:f>
              <c:strCache>
                <c:ptCount val="2"/>
                <c:pt idx="0">
                  <c:v>4x Arleigh Burke-class destroyers</c:v>
                </c:pt>
                <c:pt idx="1">
                  <c:v>240x Golden Dome Marauders</c:v>
                </c:pt>
              </c:strCache>
            </c:strRef>
          </c:cat>
          <c:val>
            <c:numRef>
              <c:f>Sheet1!$D$2:$D$3</c:f>
              <c:numCache>
                <c:formatCode>#,##0;"-"#,##0</c:formatCode>
                <c:ptCount val="2"/>
                <c:pt idx="0">
                  <c:v>2700</c:v>
                </c:pt>
              </c:numCache>
            </c:numRef>
          </c:val>
        </c:ser>
        <c:ser>
          <c:idx val="3"/>
          <c:order val="3"/>
          <c:tx>
            <c:strRef>
              <c:f>Sheet1!$E$1</c:f>
              <c:strCache>
                <c:ptCount val="1"/>
                <c:pt idx="0">
                  <c:v>DDG #4</c:v>
                </c:pt>
              </c:strCache>
            </c:strRef>
          </c:tx>
          <c:spPr>
            <a:solidFill>
              <a:srgbClr val="C0C0C0"/>
            </a:solidFill>
            <a:ln>
              <a:noFill/>
            </a:ln>
          </c:spPr>
          <c:invertIfNegative val="0"/>
          <c:cat>
            <c:strRef>
              <c:f>Sheet1!$A$2:$A$3</c:f>
              <c:strCache>
                <c:ptCount val="2"/>
                <c:pt idx="0">
                  <c:v>4x Arleigh Burke-class destroyers</c:v>
                </c:pt>
                <c:pt idx="1">
                  <c:v>240x Golden Dome Marauders</c:v>
                </c:pt>
              </c:strCache>
            </c:strRef>
          </c:cat>
          <c:val>
            <c:numRef>
              <c:f>Sheet1!$E$2:$E$3</c:f>
              <c:numCache>
                <c:formatCode>#,##0;"-"#,##0</c:formatCode>
                <c:ptCount val="2"/>
                <c:pt idx="0">
                  <c:v>2700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
          <c:min val="0"/>
        </c:scaling>
        <c:delete val="0"/>
        <c:axPos val="l"/>
        <c:numFmt formatCode="#,##0;&quot;-&quot;#,##0" sourceLinked="0"/>
        <c:majorTickMark val="out"/>
        <c:minorTickMark val="none"/>
        <c:tickLblPos val="nextTo"/>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
      </c:valAx>
    </c:plotArea>
    <c:plotVisOnly val="1"/>
    <c:dispBlanksAs val="gap"/>
  </c:chart>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6F8DB9"/>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17</c:v>
                </c:pt>
                <c:pt idx="5">
                  <c:v>19</c:v>
                </c:pt>
                <c:pt idx="6">
                  <c:v>20</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9DB1CF"/>
              </a:solidFill>
              <a:ln>
                <a:noFill/>
              </a:ln>
            </c:spPr>
          </c:dPt>
          <c:dPt>
            <c:idx val="5"/>
            <c:invertIfNegative val="0"/>
            <c:bubble3D val="0"/>
            <c:spPr>
              <a:solidFill>
                <a:srgbClr val="6F8DB9"/>
              </a:solidFill>
              <a:ln>
                <a:noFill/>
              </a:ln>
            </c:spPr>
          </c:dPt>
          <c:dPt>
            <c:idx val="6"/>
            <c:invertIfNegative val="0"/>
            <c:bubble3D val="0"/>
            <c:spPr>
              <a:solidFill>
                <a:srgbClr val="6F8DB9"/>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4">
                  <c:v>9</c:v>
                </c:pt>
                <c:pt idx="5">
                  <c:v>7</c:v>
                </c:pt>
              </c:numCache>
            </c:numRef>
          </c:val>
        </c:ser>
        <c:gapWidth val="80"/>
        <c:overlap val="100"/>
        <c:axId val="111111111"/>
        <c:axId val="222222222"/>
      </c:barChart>
      <c:lineChart>
        <c:grouping val="standard"/>
        <c:varyColors val="0"/>
        <c:ser>
          <c:idx val="2"/>
          <c:order val="2"/>
          <c:tx>
            <c:strRef>
              <c:f>Sheet1!$D$1</c:f>
              <c:strCache>
                <c:ptCount val="1"/>
                <c:pt idx="0">
                  <c:v>Franklin capacity (vessel starts)</c:v>
                </c:pt>
              </c:strCache>
            </c:strRef>
          </c:tx>
          <c:spPr>
            <a:ln w="19050" cap="rnd">
              <a:solidFill>
                <a:srgbClr val="000000"/>
              </a:solidFill>
              <a:round/>
            </a:ln>
          </c:spPr>
          <c:marker>
            <c:symbol val="none"/>
          </c:marker>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Sheet1!$D$2:$D$11</c:f>
              <c:numCache>
                <c:formatCode>General</c:formatCode>
                <c:ptCount val="10"/>
                <c:pt idx="0">
                  <c:v>8</c:v>
                </c:pt>
                <c:pt idx="1">
                  <c:v>17</c:v>
                </c:pt>
                <c:pt idx="2">
                  <c:v>28</c:v>
                </c:pt>
                <c:pt idx="3">
                  <c:v>50</c:v>
                </c:pt>
                <c:pt idx="4">
                  <c:v>50</c:v>
                </c:pt>
                <c:pt idx="5">
                  <c:v>50</c:v>
                </c:pt>
                <c:pt idx="6">
                  <c:v>50</c:v>
                </c:pt>
                <c:pt idx="7">
                  <c:v>50</c:v>
                </c:pt>
                <c:pt idx="8">
                  <c:v>50</c:v>
                </c:pt>
                <c:pt idx="9">
                  <c:v>50</c:v>
                </c:pt>
              </c:numCache>
            </c:numRef>
          </c:val>
          <c:smooth val="0"/>
        </c:ser>
        <c:marker val="1"/>
        <c:axId val="111111111"/>
        <c:axId val="222222222"/>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in"/>
        <c:crossBetween val="between"/>
        <c:majorUnit val="5"/>
      </c:valAx>
    </c:plotArea>
    <c:plotVisOnly val="1"/>
    <c:dispBlanksAs val="gap"/>
  </c:chart>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6F8DB9"/>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26</c:v>
                </c:pt>
                <c:pt idx="5">
                  <c:v>26</c:v>
                </c:pt>
                <c:pt idx="6">
                  <c:v>21</c:v>
                </c:pt>
                <c:pt idx="7">
                  <c:v>8</c:v>
                </c:pt>
                <c:pt idx="8">
                  <c:v>35</c:v>
                </c:pt>
                <c:pt idx="9">
                  <c:v>35</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6F8DB9"/>
              </a:solidFill>
              <a:ln>
                <a:noFill/>
              </a:ln>
            </c:spPr>
          </c:dPt>
          <c:dPt>
            <c:idx val="5"/>
            <c:invertIfNegative val="0"/>
            <c:bubble3D val="0"/>
            <c:spPr>
              <a:solidFill>
                <a:srgbClr val="6F8DB9"/>
              </a:solidFill>
              <a:ln>
                <a:noFill/>
              </a:ln>
            </c:spPr>
          </c:dPt>
          <c:dPt>
            <c:idx val="6"/>
            <c:invertIfNegative val="0"/>
            <c:bubble3D val="0"/>
            <c:spPr>
              <a:solidFill>
                <a:srgbClr val="9DB1CF"/>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6">
                  <c:v>14</c:v>
                </c:pt>
                <c:pt idx="7">
                  <c:v>27</c:v>
                </c:pt>
              </c:numCache>
            </c:numRef>
          </c:val>
        </c:ser>
        <c:gapWidth val="80"/>
        <c:overlap val="100"/>
        <c:axId val="111111111"/>
        <c:axId val="222222222"/>
      </c:barChart>
      <c:lineChart>
        <c:grouping val="standard"/>
        <c:varyColors val="0"/>
        <c:ser>
          <c:idx val="2"/>
          <c:order val="2"/>
          <c:tx>
            <c:strRef>
              <c:f>Sheet1!$D$1</c:f>
              <c:strCache>
                <c:ptCount val="1"/>
                <c:pt idx="0">
                  <c:v>Franklin capacity (vessel starts)</c:v>
                </c:pt>
              </c:strCache>
            </c:strRef>
          </c:tx>
          <c:spPr>
            <a:ln w="19050" cap="rnd">
              <a:solidFill>
                <a:srgbClr val="000000"/>
              </a:solidFill>
              <a:round/>
            </a:ln>
          </c:spPr>
          <c:marker>
            <c:symbol val="none"/>
          </c:marker>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Sheet1!$D$2:$D$11</c:f>
              <c:numCache>
                <c:formatCode>General</c:formatCode>
                <c:ptCount val="10"/>
                <c:pt idx="0">
                  <c:v>8</c:v>
                </c:pt>
                <c:pt idx="1">
                  <c:v>17</c:v>
                </c:pt>
                <c:pt idx="2">
                  <c:v>28</c:v>
                </c:pt>
                <c:pt idx="3">
                  <c:v>50</c:v>
                </c:pt>
                <c:pt idx="4">
                  <c:v>50</c:v>
                </c:pt>
                <c:pt idx="5">
                  <c:v>50</c:v>
                </c:pt>
                <c:pt idx="6">
                  <c:v>50</c:v>
                </c:pt>
                <c:pt idx="7">
                  <c:v>50</c:v>
                </c:pt>
                <c:pt idx="8">
                  <c:v>50</c:v>
                </c:pt>
                <c:pt idx="9">
                  <c:v>50</c:v>
                </c:pt>
              </c:numCache>
            </c:numRef>
          </c:val>
          <c:smooth val="0"/>
        </c:ser>
        <c:marker val="1"/>
        <c:axId val="111111111"/>
        <c:axId val="222222222"/>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in"/>
        <c:crossBetween val="between"/>
        <c:majorUnit val="5"/>
      </c:valAx>
    </c:plotArea>
    <c:plotVisOnly val="1"/>
    <c:dispBlanksAs val="gap"/>
  </c:chart>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04820" cy="462612"/>
          </a:xfrm>
          <a:prstGeom prst="rect">
            <a:avLst/>
          </a:prstGeom>
        </p:spPr>
        <p:txBody>
          <a:bodyPr vert="horz" lIns="92307" tIns="46153" rIns="92307" bIns="46153" rtlCol="0"/>
          <a:lstStyle>
            <a:lvl1pPr algn="l">
              <a:defRPr sz="1200"/>
            </a:lvl1pPr>
          </a:lstStyle>
          <a:p>
            <a:endParaRPr lang="en-US">
              <a:latin typeface="Arial" panose="020B0604020202020204" pitchFamily="34" charset="0"/>
            </a:endParaRPr>
          </a:p>
        </p:txBody>
      </p:sp>
      <p:sp>
        <p:nvSpPr>
          <p:cNvPr id="3" name="Date Placeholder 2"/>
          <p:cNvSpPr>
            <a:spLocks noGrp="1"/>
          </p:cNvSpPr>
          <p:nvPr>
            <p:ph type="dt" sz="quarter" idx="1"/>
          </p:nvPr>
        </p:nvSpPr>
        <p:spPr>
          <a:xfrm>
            <a:off x="3927776" y="0"/>
            <a:ext cx="3004820" cy="462612"/>
          </a:xfrm>
          <a:prstGeom prst="rect">
            <a:avLst/>
          </a:prstGeom>
        </p:spPr>
        <p:txBody>
          <a:bodyPr vert="horz" lIns="92307" tIns="46153" rIns="92307" bIns="46153" rtlCol="0"/>
          <a:lstStyle>
            <a:lvl1pPr algn="r">
              <a:defRPr sz="1200"/>
            </a:lvl1pPr>
          </a:lstStyle>
          <a:p>
            <a:fld id="{8ACBDEED-51C7-9D44-8B0E-E5493C8A1496}" type="datetimeFigureOut">
              <a:rPr lang="en-US">
                <a:latin typeface="Arial" panose="020B0604020202020204" pitchFamily="34" charset="0"/>
              </a:rPr>
              <a:t>5/15/2026</a:t>
            </a:fld>
            <a:endParaRPr lang="en-US">
              <a:latin typeface="Arial" panose="020B0604020202020204" pitchFamily="34" charset="0"/>
            </a:endParaRPr>
          </a:p>
        </p:txBody>
      </p:sp>
      <p:sp>
        <p:nvSpPr>
          <p:cNvPr id="4" name="Footer Placeholder 3"/>
          <p:cNvSpPr>
            <a:spLocks noGrp="1"/>
          </p:cNvSpPr>
          <p:nvPr>
            <p:ph type="ftr" sz="quarter" idx="2"/>
          </p:nvPr>
        </p:nvSpPr>
        <p:spPr>
          <a:xfrm>
            <a:off x="0" y="8757591"/>
            <a:ext cx="3004820" cy="462611"/>
          </a:xfrm>
          <a:prstGeom prst="rect">
            <a:avLst/>
          </a:prstGeom>
        </p:spPr>
        <p:txBody>
          <a:bodyPr vert="horz" lIns="92307" tIns="46153" rIns="92307" bIns="46153" rtlCol="0" anchor="b"/>
          <a:lstStyle>
            <a:lvl1pPr algn="l">
              <a:defRPr sz="1200"/>
            </a:lvl1pPr>
          </a:lstStyle>
          <a:p>
            <a:endParaRPr lang="en-US">
              <a:latin typeface="Arial" panose="020B0604020202020204" pitchFamily="34" charset="0"/>
            </a:endParaRPr>
          </a:p>
        </p:txBody>
      </p:sp>
      <p:sp>
        <p:nvSpPr>
          <p:cNvPr id="5" name="Slide Number Placeholder 4"/>
          <p:cNvSpPr>
            <a:spLocks noGrp="1"/>
          </p:cNvSpPr>
          <p:nvPr>
            <p:ph type="sldNum" sz="quarter" idx="3"/>
          </p:nvPr>
        </p:nvSpPr>
        <p:spPr>
          <a:xfrm>
            <a:off x="3927776" y="8757591"/>
            <a:ext cx="3004820" cy="462611"/>
          </a:xfrm>
          <a:prstGeom prst="rect">
            <a:avLst/>
          </a:prstGeom>
        </p:spPr>
        <p:txBody>
          <a:bodyPr vert="horz" lIns="92307" tIns="46153" rIns="92307" bIns="46153" rtlCol="0" anchor="b"/>
          <a:lstStyle>
            <a:lvl1pPr algn="r">
              <a:defRPr sz="1200"/>
            </a:lvl1pPr>
          </a:lstStyle>
          <a:p>
            <a:fld id="{89B20CC8-1D49-1F4A-B7DF-0C6E98397D09}" type="slidenum">
              <a:rPr>
                <a:latin typeface="Arial" panose="020B0604020202020204" pitchFamily="34" charset="0"/>
              </a:rPr>
              <a:t>‹#›</a:t>
            </a:fld>
            <a:endParaRPr lang="en-US">
              <a:latin typeface="Arial" panose="020B0604020202020204" pitchFamily="34" charset="0"/>
            </a:endParaRPr>
          </a:p>
        </p:txBody>
      </p:sp>
    </p:spTree>
    <p:extLst>
      <p:ext uri="{BB962C8B-B14F-4D97-AF65-F5344CB8AC3E}">
        <p14:creationId xmlns:p14="http://schemas.microsoft.com/office/powerpoint/2010/main" val="1360229431"/>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tx2"/>
        </a:solidFill>
        <a:effectLst/>
      </p:bgPr>
    </p:bg>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p:cNvSpPr/>
          <p:nvPr userDrawn="1"/>
        </p:nvSpPr>
        <p:spPr>
          <a:xfrm>
            <a:off x="0" y="0"/>
            <a:ext cx="12192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p:cNvSpPr>
            <a:spLocks noGrp="1"/>
          </p:cNvSpPr>
          <p:nvPr>
            <p:ph type="title" hasCustomPrompt="1"/>
          </p:nvPr>
        </p:nvSpPr>
        <p:spPr>
          <a:xfrm>
            <a:off x="453080" y="5640670"/>
            <a:ext cx="7776391" cy="473423"/>
          </a:xfrm>
        </p:spPr>
        <p:txBody>
          <a:bodyPr anchor="t"/>
          <a:lstStyle>
            <a:lvl1pPr>
              <a:defRPr sz="1600">
                <a:solidFill>
                  <a:schemeClr val="bg2"/>
                </a:solidFill>
              </a:defRPr>
            </a:lvl1pPr>
          </a:lstStyle>
          <a:p>
            <a:r>
              <a:rPr lang="en-US"/>
              <a:t>Date (16 PT)</a:t>
            </a:r>
          </a:p>
        </p:txBody>
      </p:sp>
      <p:cxnSp>
        <p:nvCxnSpPr>
          <p:cNvPr id="12" name="Straight Connector 11"/>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9" name="Rectangle 8"/>
          <p:cNvSpPr/>
          <p:nvPr userDrawn="1"/>
        </p:nvSpPr>
        <p:spPr>
          <a:xfrm>
            <a:off x="0" y="3429000"/>
            <a:ext cx="0" cy="136506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 Placeholder 26"/>
          <p:cNvSpPr>
            <a:spLocks noGrp="1"/>
          </p:cNvSpPr>
          <p:nvPr>
            <p:ph type="body" sz="quarter" idx="12" hasCustomPrompt="1"/>
          </p:nvPr>
        </p:nvSpPr>
        <p:spPr>
          <a:xfrm>
            <a:off x="453080" y="3260838"/>
            <a:ext cx="7776399" cy="2162129"/>
          </a:xfrm>
        </p:spPr>
        <p:txBody>
          <a:bodyPr anchor="b">
            <a:noAutofit/>
          </a:bodyPr>
          <a:lstStyle>
            <a:lvl1pPr marL="0" indent="0">
              <a:lnSpc>
                <a:spcPct val="100000"/>
              </a:lnSpc>
              <a:spcBef>
                <a:spcPts val="0"/>
              </a:spcBef>
              <a:buNone/>
              <a:defRPr sz="3600">
                <a:solidFill>
                  <a:schemeClr val="bg2"/>
                </a:solidFill>
              </a:defRPr>
            </a:lvl1pPr>
          </a:lstStyle>
          <a:p>
            <a:pPr lvl="0"/>
            <a:r>
              <a:rPr lang="en-US"/>
              <a:t>Title (36 PT)</a:t>
            </a:r>
          </a:p>
        </p:txBody>
      </p:sp>
      <p:grpSp>
        <p:nvGrpSpPr>
          <p:cNvPr id="4" name="Group 3"/>
          <p:cNvGrpSpPr/>
          <p:nvPr userDrawn="1"/>
        </p:nvGrpSpPr>
        <p:grpSpPr>
          <a:xfrm>
            <a:off x="453080" y="743907"/>
            <a:ext cx="11230920" cy="1637662"/>
            <a:chOff x="588922" y="596464"/>
            <a:chExt cx="10697007" cy="1559809"/>
          </a:xfrm>
        </p:grpSpPr>
        <p:pic>
          <p:nvPicPr>
            <p:cNvPr id="5" name="Graphic 4"/>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88922" y="596464"/>
              <a:ext cx="7799041" cy="1559809"/>
            </a:xfrm>
            <a:prstGeom prst="rect">
              <a:avLst/>
            </a:prstGeom>
          </p:spPr>
        </p:pic>
        <p:pic>
          <p:nvPicPr>
            <p:cNvPr id="6" name="Graphic 5"/>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80882" y="913377"/>
              <a:ext cx="2305047" cy="914399"/>
            </a:xfrm>
            <a:prstGeom prst="rect">
              <a:avLst/>
            </a:prstGeom>
          </p:spPr>
        </p:pic>
      </p:grpSp>
    </p:spTree>
    <p:extLst>
      <p:ext uri="{BB962C8B-B14F-4D97-AF65-F5344CB8AC3E}">
        <p14:creationId xmlns:p14="http://schemas.microsoft.com/office/powerpoint/2010/main" val="24071211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tx2"/>
        </a:solidFill>
        <a:effectLst/>
      </p:bgPr>
    </p:bg>
    <p:spTree>
      <p:nvGrpSpPr>
        <p:cNvPr id="1" name=""/>
        <p:cNvGrpSpPr/>
        <p:nvPr/>
      </p:nvGrpSpPr>
      <p:grpSpPr>
        <a:xfrm>
          <a:off x="0" y="0"/>
          <a:ext cx="0" cy="0"/>
          <a:chOff x="0" y="0"/>
          <a:chExt cx="0" cy="0"/>
        </a:xfrm>
      </p:grpSpPr>
      <p:sp>
        <p:nvSpPr>
          <p:cNvPr id="10"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7" name="Text Placeholder 26"/>
          <p:cNvSpPr>
            <a:spLocks noGrp="1"/>
          </p:cNvSpPr>
          <p:nvPr>
            <p:ph type="body" sz="quarter" idx="11" hasCustomPrompt="1"/>
          </p:nvPr>
        </p:nvSpPr>
        <p:spPr>
          <a:xfrm>
            <a:off x="453082" y="2383743"/>
            <a:ext cx="9153537" cy="2105200"/>
          </a:xfrm>
        </p:spPr>
        <p:txBody>
          <a:bodyPr anchor="b">
            <a:noAutofit/>
          </a:bodyPr>
          <a:lstStyle>
            <a:lvl1pPr marL="0" indent="0">
              <a:lnSpc>
                <a:spcPct val="100000"/>
              </a:lnSpc>
              <a:spcBef>
                <a:spcPts val="0"/>
              </a:spcBef>
              <a:buNone/>
              <a:defRPr sz="3600">
                <a:solidFill>
                  <a:schemeClr val="bg2"/>
                </a:solidFill>
              </a:defRPr>
            </a:lvl1pPr>
          </a:lstStyle>
          <a:p>
            <a:pPr lvl="0"/>
            <a:r>
              <a:rPr lang="en-US"/>
              <a:t>Section Divider Title (36 PT)</a:t>
            </a:r>
          </a:p>
        </p:txBody>
      </p:sp>
      <p:sp>
        <p:nvSpPr>
          <p:cNvPr id="8" name="Text Placeholder 26"/>
          <p:cNvSpPr>
            <a:spLocks noGrp="1"/>
          </p:cNvSpPr>
          <p:nvPr>
            <p:ph type="body" sz="quarter" idx="12" hasCustomPrompt="1"/>
          </p:nvPr>
        </p:nvSpPr>
        <p:spPr>
          <a:xfrm>
            <a:off x="453082" y="4715093"/>
            <a:ext cx="9153537" cy="499503"/>
          </a:xfrm>
        </p:spPr>
        <p:txBody>
          <a:bodyPr anchor="t">
            <a:noAutofit/>
          </a:bodyPr>
          <a:lstStyle>
            <a:lvl1pPr marL="0" marR="0" indent="0" algn="l" defTabSz="914400" rtl="0" eaLnBrk="1" fontAlgn="auto" latinLnBrk="0" hangingPunct="1">
              <a:lnSpc>
                <a:spcPct val="100000"/>
              </a:lnSpc>
              <a:spcBef>
                <a:spcPts val="0"/>
              </a:spcBef>
              <a:spcAft>
                <a:spcPts val="0"/>
              </a:spcAft>
              <a:buClr>
                <a:schemeClr val="tx2"/>
              </a:buClr>
              <a:buSzPct val="120000"/>
              <a:buFont typeface="Arial" panose="020B0604020202020204" pitchFamily="34" charset="0"/>
              <a:buNone/>
              <a:tabLst/>
              <a:defRPr sz="1600">
                <a:solidFill>
                  <a:schemeClr val="bg2"/>
                </a:solidFill>
              </a:defRPr>
            </a:lvl1pPr>
          </a:lstStyle>
          <a:p>
            <a:pPr lvl="0"/>
            <a:r>
              <a:rPr lang="en-US"/>
              <a:t>Subsections / Headline Paragraph (16 PT)</a:t>
            </a:r>
          </a:p>
        </p:txBody>
      </p:sp>
      <p:pic>
        <p:nvPicPr>
          <p:cNvPr id="29" name="Graphic 28"/>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439" y="6477927"/>
            <a:ext cx="226315" cy="301753"/>
          </a:xfrm>
          <a:prstGeom prst="rect">
            <a:avLst/>
          </a:prstGeom>
        </p:spPr>
      </p:pic>
      <p:sp>
        <p:nvSpPr>
          <p:cNvPr id="2" name="TextBox 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accent4"/>
                </a:solidFill>
              </a:rPr>
              <a:pPr algn="ctr"/>
              <a:t>‹#›</a:t>
            </a:fld>
            <a:endParaRPr lang="en-US" sz="800">
              <a:solidFill>
                <a:schemeClr val="accent4"/>
              </a:solidFill>
            </a:endParaRPr>
          </a:p>
        </p:txBody>
      </p:sp>
    </p:spTree>
    <p:extLst>
      <p:ext uri="{BB962C8B-B14F-4D97-AF65-F5344CB8AC3E}">
        <p14:creationId xmlns:p14="http://schemas.microsoft.com/office/powerpoint/2010/main" val="366904929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0% Block + Title">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userDrawn="1"/>
        </p:nvSpPr>
        <p:spPr>
          <a:xfrm>
            <a:off x="0" y="0"/>
            <a:ext cx="6096000" cy="640079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55838" y="566400"/>
            <a:ext cx="5181827" cy="566928"/>
          </a:xfrm>
        </p:spPr>
        <p:txBody>
          <a:bodyPr/>
          <a:lstStyle>
            <a:lvl1pPr>
              <a:defRPr>
                <a:solidFill>
                  <a:schemeClr val="bg2"/>
                </a:solidFill>
              </a:defRPr>
            </a:lvl1pPr>
          </a:lstStyle>
          <a:p>
            <a:r>
              <a:rPr lang="en-US"/>
              <a:t>Click to edit Title (20 PT)</a:t>
            </a:r>
          </a:p>
        </p:txBody>
      </p:sp>
      <p:sp>
        <p:nvSpPr>
          <p:cNvPr id="5" name="Text Placeholder 4"/>
          <p:cNvSpPr>
            <a:spLocks noGrp="1"/>
          </p:cNvSpPr>
          <p:nvPr>
            <p:ph type="body" sz="quarter" idx="10" hasCustomPrompt="1"/>
          </p:nvPr>
        </p:nvSpPr>
        <p:spPr>
          <a:xfrm>
            <a:off x="455460" y="263452"/>
            <a:ext cx="4874834" cy="153888"/>
          </a:xfrm>
          <a:prstGeom prst="rect">
            <a:avLst/>
          </a:prstGeom>
        </p:spPr>
        <p:txBody>
          <a:bodyPr wrap="square" lIns="0" tIns="0" rIns="0" bIns="0">
            <a:spAutoFit/>
          </a:bodyPr>
          <a:lstStyle>
            <a:lvl1pPr marL="0" indent="0">
              <a:buNone/>
              <a:defRPr sz="1000">
                <a:solidFill>
                  <a:schemeClr val="bg2"/>
                </a:solidFill>
              </a:defRPr>
            </a:lvl1pPr>
          </a:lstStyle>
          <a:p>
            <a:pPr lvl="0"/>
            <a:r>
              <a:rPr lang="en-US"/>
              <a:t>Category / Description (10 PT)</a:t>
            </a:r>
          </a:p>
        </p:txBody>
      </p:sp>
      <p:sp>
        <p:nvSpPr>
          <p:cNvPr id="3" name="Content Placeholder 5"/>
          <p:cNvSpPr>
            <a:spLocks noGrp="1"/>
          </p:cNvSpPr>
          <p:nvPr>
            <p:ph sz="quarter" idx="15" hasCustomPrompt="1"/>
          </p:nvPr>
        </p:nvSpPr>
        <p:spPr>
          <a:xfrm>
            <a:off x="6552217" y="1424682"/>
            <a:ext cx="5182583" cy="4712658"/>
          </a:xfrm>
        </p:spPr>
        <p:txBody>
          <a:body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16" hasCustomPrompt="1"/>
          </p:nvPr>
        </p:nvSpPr>
        <p:spPr>
          <a:xfrm>
            <a:off x="455460" y="1424682"/>
            <a:ext cx="5181827" cy="4712657"/>
          </a:xfrm>
        </p:spPr>
        <p:txBody>
          <a:bodyPr/>
          <a:lstStyle>
            <a:lvl1pPr>
              <a:buClr>
                <a:schemeClr val="bg2"/>
              </a:buClr>
              <a:defRPr>
                <a:solidFill>
                  <a:schemeClr val="bg2"/>
                </a:solidFill>
              </a:defRPr>
            </a:lvl1pPr>
            <a:lvl2pPr>
              <a:buClr>
                <a:schemeClr val="bg2"/>
              </a:buClr>
              <a:defRPr>
                <a:solidFill>
                  <a:schemeClr val="bg2"/>
                </a:solidFill>
              </a:defRPr>
            </a:lvl2pPr>
            <a:lvl3pPr>
              <a:buClr>
                <a:schemeClr val="bg2"/>
              </a:buCl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596963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ght Blank">
    <p:spTree>
      <p:nvGrpSpPr>
        <p:cNvPr id="1" name=""/>
        <p:cNvGrpSpPr/>
        <p:nvPr/>
      </p:nvGrpSpPr>
      <p:grpSpPr>
        <a:xfrm>
          <a:off x="0" y="0"/>
          <a:ext cx="0" cy="0"/>
          <a:chOff x="0" y="0"/>
          <a:chExt cx="0" cy="0"/>
        </a:xfrm>
      </p:grpSpPr>
      <p:sp>
        <p:nvSpPr>
          <p:cNvPr id="5"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4"/>
          <p:cNvSpPr>
            <a:spLocks noGrp="1"/>
          </p:cNvSpPr>
          <p:nvPr>
            <p:ph type="body" sz="quarter" idx="10" hasCustomPrompt="1"/>
          </p:nvPr>
        </p:nvSpPr>
        <p:spPr>
          <a:xfrm>
            <a:off x="452701" y="263452"/>
            <a:ext cx="4874834" cy="153888"/>
          </a:xfrm>
          <a:prstGeom prst="rect">
            <a:avLst/>
          </a:prstGeom>
        </p:spPr>
        <p:txBody>
          <a:bodyPr wrap="square" lIns="0" tIns="0" rIns="0" bIns="0">
            <a:spAutoFit/>
          </a:bodyPr>
          <a:lstStyle>
            <a:lvl1pPr marL="0" indent="0">
              <a:buNone/>
              <a:defRPr sz="1000">
                <a:solidFill>
                  <a:schemeClr val="tx2"/>
                </a:solidFill>
              </a:defRPr>
            </a:lvl1pPr>
          </a:lstStyle>
          <a:p>
            <a:pPr lvl="0"/>
            <a:r>
              <a:rPr lang="en-US"/>
              <a:t>Category / Description (10 PT)</a:t>
            </a:r>
          </a:p>
        </p:txBody>
      </p:sp>
      <p:sp>
        <p:nvSpPr>
          <p:cNvPr id="2" name="Title 1"/>
          <p:cNvSpPr>
            <a:spLocks noGrp="1"/>
          </p:cNvSpPr>
          <p:nvPr>
            <p:ph type="title" hasCustomPrompt="1"/>
          </p:nvPr>
        </p:nvSpPr>
        <p:spPr>
          <a:xfrm>
            <a:off x="453079" y="566400"/>
            <a:ext cx="11282099" cy="566928"/>
          </a:xfrm>
        </p:spPr>
        <p:txBody>
          <a:bodyPr/>
          <a:lstStyle>
            <a:lvl1pPr>
              <a:defRPr>
                <a:solidFill>
                  <a:schemeClr val="tx1"/>
                </a:solidFill>
              </a:defRPr>
            </a:lvl1pPr>
          </a:lstStyle>
          <a:p>
            <a:r>
              <a:rPr lang="en-US"/>
              <a:t>Click to edit Title (20 PT)</a:t>
            </a:r>
          </a:p>
        </p:txBody>
      </p:sp>
    </p:spTree>
    <p:extLst>
      <p:ext uri="{BB962C8B-B14F-4D97-AF65-F5344CB8AC3E}">
        <p14:creationId xmlns:p14="http://schemas.microsoft.com/office/powerpoint/2010/main" val="366529818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5712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Glossary">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sv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D5435E64-C67E-B7D2-F1D2-3FF5E4CADA9A}"/>
              </a:ext>
            </a:extLst>
          </p:cNvPr>
          <p:cNvGraphicFramePr>
            <a:graphicFrameLocks/>
          </p:cNvGraphicFramePr>
          <p:nvPr userDrawn="1">
            <p:custDataLst>
              <p:tags r:id="rId8"/>
            </p:custDataLst>
            <p:extLst>
              <p:ext uri="{D42A27DB-BD31-4B8C-83A1-F6EECF244321}">
                <p14:modId xmlns:p14="http://schemas.microsoft.com/office/powerpoint/2010/main" val="12900928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04" imgH="405" progId="TCLayout.ActiveDocument.1">
                  <p:embed/>
                </p:oleObj>
              </mc:Choice>
              <mc:Fallback>
                <p:oleObj name="think-cell Slide" r:id="rId9" imgW="404" imgH="405" progId="TCLayout.ActiveDocument.1">
                  <p:embed/>
                  <p:pic>
                    <p:nvPicPr>
                      <p:cNvPr id="0" name=""/>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452702" y="566399"/>
            <a:ext cx="11282100" cy="566919"/>
          </a:xfrm>
          <a:prstGeom prst="rect">
            <a:avLst/>
          </a:prstGeom>
        </p:spPr>
        <p:txBody>
          <a:bodyPr vert="horz" wrap="square" lIns="0" tIns="0" rIns="0" bIns="0" rtlCol="0" anchor="t">
            <a:noAutofit/>
          </a:bodyPr>
          <a:lstStyle/>
          <a:p>
            <a:r>
              <a:rPr lang="en-US"/>
              <a:t>Click to edit Master Title (20 PT)</a:t>
            </a:r>
            <a:br>
              <a:rPr lang="en-US"/>
            </a:br>
            <a:br>
              <a:rPr lang="en-US"/>
            </a:br>
            <a:endParaRPr lang="en-US"/>
          </a:p>
        </p:txBody>
      </p:sp>
      <p:cxnSp>
        <p:nvCxnSpPr>
          <p:cNvPr id="10" name="Straight Connector 9"/>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26" name="Text Placeholder 25"/>
          <p:cNvSpPr>
            <a:spLocks noGrp="1"/>
          </p:cNvSpPr>
          <p:nvPr>
            <p:ph type="body" idx="1"/>
          </p:nvPr>
        </p:nvSpPr>
        <p:spPr>
          <a:xfrm>
            <a:off x="452701" y="1424682"/>
            <a:ext cx="11282099" cy="4712654"/>
          </a:xfrm>
          <a:prstGeom prst="rect">
            <a:avLst/>
          </a:prstGeom>
        </p:spPr>
        <p:txBody>
          <a:bodyPr vert="horz" lIns="0" tIns="0" rIns="0" bIns="0" rtlCol="0">
            <a:noAutofit/>
          </a:bodyPr>
          <a:lstStyle/>
          <a:p>
            <a:pPr lvl="0"/>
            <a:r>
              <a:rPr lang="en-US"/>
              <a:t>Click to edit Master text styles (12 PT)</a:t>
            </a:r>
          </a:p>
          <a:p>
            <a:pPr lvl="1"/>
            <a:r>
              <a:rPr lang="en-US"/>
              <a:t>Second level</a:t>
            </a:r>
          </a:p>
          <a:p>
            <a:pPr lvl="2"/>
            <a:r>
              <a:rPr lang="en-US"/>
              <a:t>Third level</a:t>
            </a:r>
          </a:p>
          <a:p>
            <a:pPr lvl="3"/>
            <a:r>
              <a:rPr lang="en-US"/>
              <a:t>Fourth level</a:t>
            </a:r>
          </a:p>
          <a:p>
            <a:pPr lvl="4"/>
            <a:r>
              <a:rPr lang="en-US"/>
              <a:t>Fifth level</a:t>
            </a:r>
          </a:p>
        </p:txBody>
      </p:sp>
      <p:sp>
        <p:nvSpPr>
          <p:cNvPr id="11" name="TextBox 10"/>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2"/>
                </a:solidFill>
                <a:effectLst/>
                <a:uLnTx/>
                <a:uFillTx/>
                <a:latin typeface="Arial" panose="020B0604020202020204"/>
                <a:ea typeface="+mn-ea"/>
                <a:cs typeface="+mn-cs"/>
              </a:rPr>
              <a:t>SARONIC PROPRIETARY AND CONFIDENTIAL</a:t>
            </a:r>
          </a:p>
        </p:txBody>
      </p:sp>
      <p:sp>
        <p:nvSpPr>
          <p:cNvPr id="12" name="TextBox 1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tx2"/>
                </a:solidFill>
              </a:rPr>
              <a:pPr algn="ctr"/>
              <a:t>‹#›</a:t>
            </a:fld>
            <a:endParaRPr lang="en-US" sz="800">
              <a:solidFill>
                <a:schemeClr val="tx2"/>
              </a:solidFill>
            </a:endParaRPr>
          </a:p>
        </p:txBody>
      </p:sp>
      <p:cxnSp>
        <p:nvCxnSpPr>
          <p:cNvPr id="20" name="Straight Connector 19"/>
          <p:cNvCxnSpPr>
            <a:cxnSpLocks/>
          </p:cNvCxnSpPr>
          <p:nvPr userDrawn="1"/>
        </p:nvCxnSpPr>
        <p:spPr>
          <a:xfrm>
            <a:off x="457193"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p:cNvCxnSpPr>
            <a:cxnSpLocks/>
          </p:cNvCxnSpPr>
          <p:nvPr userDrawn="1"/>
        </p:nvCxnSpPr>
        <p:spPr>
          <a:xfrm>
            <a:off x="11724461"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pic>
        <p:nvPicPr>
          <p:cNvPr id="29" name="Graphic 28"/>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15439" y="6477927"/>
            <a:ext cx="226315" cy="301753"/>
          </a:xfrm>
          <a:prstGeom prst="rect">
            <a:avLst/>
          </a:prstGeom>
        </p:spPr>
      </p:pic>
    </p:spTree>
    <p:extLst>
      <p:ext uri="{BB962C8B-B14F-4D97-AF65-F5344CB8AC3E}">
        <p14:creationId xmlns:p14="http://schemas.microsoft.com/office/powerpoint/2010/main" val="833979895"/>
      </p:ext>
    </p:extLst>
  </p:cSld>
  <p:clrMap bg1="lt1" tx1="dk1" bg2="lt2" tx2="dk2" accent1="accent1" accent2="accent2" accent3="accent3" accent4="accent4" accent5="accent5" accent6="accent6" hlink="hlink" folHlink="folHlink"/>
  <p:sldLayoutIdLst>
    <p:sldLayoutId id="2147483674" r:id="rId1"/>
    <p:sldLayoutId id="2147483654" r:id="rId2"/>
    <p:sldLayoutId id="2147483658" r:id="rId3"/>
    <p:sldLayoutId id="2147483661" r:id="rId4"/>
    <p:sldLayoutId id="2147483691" r:id="rId5"/>
    <p:sldLayoutId id="2147483696" r:id="rId6"/>
  </p:sldLayoutIdLst>
  <p:txStyles>
    <p:titleStyle>
      <a:lvl1pPr algn="l" defTabSz="914400" rtl="0" eaLnBrk="1" latinLnBrk="0" hangingPunct="1">
        <a:lnSpc>
          <a:spcPct val="100000"/>
        </a:lnSpc>
        <a:spcBef>
          <a:spcPct val="0"/>
        </a:spcBef>
        <a:buNone/>
        <a:defRPr sz="2000" kern="1200">
          <a:solidFill>
            <a:schemeClr val="tx1"/>
          </a:solidFill>
          <a:latin typeface="+mj-lt"/>
          <a:ea typeface="+mj-ea"/>
          <a:cs typeface="+mj-cs"/>
        </a:defRPr>
      </a:lvl1pPr>
    </p:titleStyle>
    <p:bodyStyle>
      <a:lvl1pPr marL="120650" indent="-120650"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1pPr>
      <a:lvl2pPr marL="233363" indent="-117475"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2pPr>
      <a:lvl3pPr marL="350838" indent="-117475" algn="l" defTabSz="914400" rtl="0" eaLnBrk="1" latinLnBrk="0" hangingPunct="1">
        <a:lnSpc>
          <a:spcPct val="100000"/>
        </a:lnSpc>
        <a:spcBef>
          <a:spcPts val="800"/>
        </a:spcBef>
        <a:buClr>
          <a:schemeClr val="tx2"/>
        </a:buClr>
        <a:buSzPct val="90000"/>
        <a:buFont typeface="Wingdings" pitchFamily="2" charset="2"/>
        <a:buChar char="§"/>
        <a:tabLst/>
        <a:defRPr sz="1200" kern="1200">
          <a:solidFill>
            <a:schemeClr val="tx2"/>
          </a:solidFill>
          <a:latin typeface="+mn-lt"/>
          <a:ea typeface="+mn-ea"/>
          <a:cs typeface="+mn-cs"/>
        </a:defRPr>
      </a:lvl3pPr>
      <a:lvl4pPr marL="463550" indent="-111125"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4pPr>
      <a:lvl5pPr marL="573088" indent="-109538"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hyperlink" Target="https://www.eia.gov/dnav/pet/hist/LeafHandler.ashx?n=PET&amp;s=RWTC&amp;f=A" TargetMode="External"/><Relationship Id="rId4" Type="http://schemas.openxmlformats.org/officeDocument/2006/relationships/hyperlink" Target="https://www.eia.gov/dnav/pet/hist/LeafHandler.ashx?n=PET&amp;s=RBRTE&amp;f=A" TargetMode="External"/><Relationship Id="rId5" Type="http://schemas.openxmlformats.org/officeDocument/2006/relationships/hyperlink" Target="https://fred.stlouisfed.org/series/PCEPI"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9f2e24d3.png"/><Relationship Id="rId3" Type="http://schemas.openxmlformats.org/officeDocument/2006/relationships/image" Target="../media/image7_f6006d1c.png"/><Relationship Id="rId4" Type="http://schemas.openxmlformats.org/officeDocument/2006/relationships/hyperlink" Target="https://www.law.cornell.edu/uscode/text/46/8103"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7.xml"/><Relationship Id="rId3" Type="http://schemas.openxmlformats.org/officeDocument/2006/relationships/image" Target="../media/image8_3071a23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8.xml"/><Relationship Id="rId3" Type="http://schemas.openxmlformats.org/officeDocument/2006/relationships/image" Target="../media/image6_3071a231.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_672efe4b.png"/><Relationship Id="rId3" Type="http://schemas.openxmlformats.org/officeDocument/2006/relationships/image" Target="../media/image14_1bf4c99e.png"/><Relationship Id="rId4" Type="http://schemas.openxmlformats.org/officeDocument/2006/relationships/image" Target="../media/image15_25624857.png"/><Relationship Id="rId5" Type="http://schemas.openxmlformats.org/officeDocument/2006/relationships/image" Target="../media/image16_da5f3708.png"/><Relationship Id="rId6" Type="http://schemas.openxmlformats.org/officeDocument/2006/relationships/image" Target="../media/image17_f373f1da.png"/><Relationship Id="rId7" Type="http://schemas.openxmlformats.org/officeDocument/2006/relationships/image" Target="../media/image18_ddebb15f.png"/><Relationship Id="rId8" Type="http://schemas.openxmlformats.org/officeDocument/2006/relationships/image" Target="../media/image19_84003496.png"/><Relationship Id="rId9" Type="http://schemas.openxmlformats.org/officeDocument/2006/relationships/image" Target="../media/image21_0bacf462.png"/><Relationship Id="rId10" Type="http://schemas.openxmlformats.org/officeDocument/2006/relationships/image" Target="../media/image22_9fb945dc.png"/><Relationship Id="rId11" Type="http://schemas.openxmlformats.org/officeDocument/2006/relationships/image" Target="../media/image23_03c42e94.png"/><Relationship Id="rId12" Type="http://schemas.openxmlformats.org/officeDocument/2006/relationships/image" Target="../media/image24_2778926d.png"/><Relationship Id="rId13" Type="http://schemas.openxmlformats.org/officeDocument/2006/relationships/image" Target="../media/image25_bd50af1e.png"/><Relationship Id="rId14" Type="http://schemas.openxmlformats.org/officeDocument/2006/relationships/image" Target="../media/image26_8d2caa7b.png"/><Relationship Id="rId15" Type="http://schemas.openxmlformats.org/officeDocument/2006/relationships/image" Target="../media/image27_768e13fd.png"/><Relationship Id="rId16" Type="http://schemas.openxmlformats.org/officeDocument/2006/relationships/image" Target="../media/image28_9cbe8d79.png"/><Relationship Id="rId17" Type="http://schemas.openxmlformats.org/officeDocument/2006/relationships/image" Target="../media/image29_4d22badb.png"/><Relationship Id="rId18" Type="http://schemas.openxmlformats.org/officeDocument/2006/relationships/image" Target="../media/image30_ee91678f.png"/><Relationship Id="rId19" Type="http://schemas.openxmlformats.org/officeDocument/2006/relationships/image" Target="../media/image31_98d329b1.png"/><Relationship Id="rId20" Type="http://schemas.openxmlformats.org/officeDocument/2006/relationships/image" Target="../media/image32_251526d6.png"/><Relationship Id="rId21" Type="http://schemas.openxmlformats.org/officeDocument/2006/relationships/image" Target="../media/image33_f545c301.png"/><Relationship Id="rId22" Type="http://schemas.openxmlformats.org/officeDocument/2006/relationships/image" Target="../media/image34_75574897.jpeg"/><Relationship Id="rId23" Type="http://schemas.openxmlformats.org/officeDocument/2006/relationships/image" Target="../media/image35_b95a7460.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6.xml"/><Relationship Id="rId3" Type="http://schemas.openxmlformats.org/officeDocument/2006/relationships/hyperlink" Target="https://www.whitehouse.gov/maritimemight/" TargetMode="External"/><Relationship Id="rId4" Type="http://schemas.openxmlformats.org/officeDocument/2006/relationships/hyperlink" Target="https://www.congress.gov/bill/119th-congress/senate-bill/1541/text#toc-id9f432e34eabc4c5ea3d818bfdc7a838f" TargetMode="External"/><Relationship Id="rId5" Type="http://schemas.openxmlformats.org/officeDocument/2006/relationships/hyperlink" Target="https://www.congress.gov/bill/119th-congress/senate-bill/1536/text" TargetMode="External"/><Relationship Id="rId6" Type="http://schemas.openxmlformats.org/officeDocument/2006/relationships/hyperlink" Target="https://www.law.cornell.edu/uscode/text/46/53106%20(MSP%20Rates)" TargetMode="External"/><Relationship Id="rId7" Type="http://schemas.openxmlformats.org/officeDocument/2006/relationships/hyperlink" Target="https://www.law.cornell.edu/uscode/text/46/53406" TargetMode="External"/><Relationship Id="rId8" Type="http://schemas.openxmlformats.org/officeDocument/2006/relationships/hyperlink" Target="https://www.maritime.dot.gov/data-reports/us-flag-fleet-CY-2025" TargetMode="External"/><Relationship Id="rId9" Type="http://schemas.openxmlformats.org/officeDocument/2006/relationships/hyperlink" Target="https://www.maritime.dot.gov/sites/marad.dot.gov/files/2024-07/FACT%20SHEET%20for%20DOMESTIC%20SHIPBUILDING%20(JULY%202024)_0.pdf" TargetMode="External"/><Relationship Id="rId10" Type="http://schemas.openxmlformats.org/officeDocument/2006/relationships/hyperlink" Target="https://www.maritime.dot.gov/outreach/publications/comparison-us-and-foreign-flag-operating-costs" TargetMode="External"/><Relationship Id="rId11" Type="http://schemas.openxmlformats.org/officeDocument/2006/relationships/hyperlink" Target="https://www.gao.gov/assets/gao-18-478.pdf" TargetMode="External"/><Relationship Id="rId12" Type="http://schemas.openxmlformats.org/officeDocument/2006/relationships/hyperlink" Target="https://fred.stlouisfed.org/series/PCU483111483111" TargetMode="External"/><Relationship Id="rId13" Type="http://schemas.openxmlformats.org/officeDocument/2006/relationships/hyperlink" Target="https://www.eia.gov/outlooks/aeo/data/browser/#/?id=76-AEO2025&amp;cases=ref2025&amp;sourcekey=0" TargetMode="External"/><Relationship Id="rId14" Type="http://schemas.openxmlformats.org/officeDocument/2006/relationships/hyperlink" Target="https://www.bp.com/content/dam/bp/business-sites/en/global/corporate/pdfs/energy-economics/statistical-review/bp-stats-review-2022-approximate-conversion-factors.pdf" TargetMode="External"/><Relationship Id="rId15" Type="http://schemas.openxmlformats.org/officeDocument/2006/relationships/hyperlink" Target="https://www.federalregister.gov/documents/2025/04/23/2025-06927/notice-of-action-and-proposed-action-in-section-301-investigation-of-chinas-targeting-the-maritime" TargetMode="External"/><Relationship Id="rId16" Type="http://schemas.openxmlformats.org/officeDocument/2006/relationships/hyperlink" Target="https://ustr.gov/sites/default/files/files/Press/Releases/2025/Federal%20Register%20Notice%2010.26.2025.pdf" TargetMode="External"/><Relationship Id="rId17" Type="http://schemas.openxmlformats.org/officeDocument/2006/relationships/hyperlink" Target="https://www.gao.gov/assets/gao-22-105160.pdf" TargetMode="External"/><Relationship Id="rId18" Type="http://schemas.openxmlformats.org/officeDocument/2006/relationships/hyperlink" Target="https://www.imf.org/-/media/files/publications/weo/2025/october/english/ch1.pdf"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7.xml"/><Relationship Id="rId3" Type="http://schemas.openxmlformats.org/officeDocument/2006/relationships/hyperlink" Target="https://www.whitehouse.gov/maritimemight/" TargetMode="External"/><Relationship Id="rId4" Type="http://schemas.openxmlformats.org/officeDocument/2006/relationships/hyperlink" Target="https://www.congress.gov/bill/119th-congress/senate-bill/1541/text#toc-id9f432e34eabc4c5ea3d818bfdc7a838f" TargetMode="External"/><Relationship Id="rId5" Type="http://schemas.openxmlformats.org/officeDocument/2006/relationships/hyperlink" Target="https://www.congress.gov/bill/119th-congress/senate-bill/1536/text" TargetMode="External"/><Relationship Id="rId6" Type="http://schemas.openxmlformats.org/officeDocument/2006/relationships/hyperlink" Target="https://www.law.cornell.edu/uscode/text/46/53106%20(MSP%20Rates)" TargetMode="External"/><Relationship Id="rId7" Type="http://schemas.openxmlformats.org/officeDocument/2006/relationships/hyperlink" Target="https://www.law.cornell.edu/uscode/text/46/53406" TargetMode="External"/><Relationship Id="rId8" Type="http://schemas.openxmlformats.org/officeDocument/2006/relationships/hyperlink" Target="https://www.maritime.dot.gov/data-reports/us-flag-fleet-CY-2025" TargetMode="External"/><Relationship Id="rId9" Type="http://schemas.openxmlformats.org/officeDocument/2006/relationships/hyperlink" Target="https://www.maritime.dot.gov/sites/marad.dot.gov/files/2024-07/FACT%20SHEET%20for%20DOMESTIC%20SHIPBUILDING%20(JULY%202024)_0.pdf" TargetMode="External"/><Relationship Id="rId10" Type="http://schemas.openxmlformats.org/officeDocument/2006/relationships/hyperlink" Target="https://www.maritime.dot.gov/outreach/publications/comparison-us-and-foreign-flag-operating-costs" TargetMode="External"/><Relationship Id="rId11" Type="http://schemas.openxmlformats.org/officeDocument/2006/relationships/hyperlink" Target="https://www.gao.gov/assets/gao-18-478.pdf" TargetMode="External"/><Relationship Id="rId12" Type="http://schemas.openxmlformats.org/officeDocument/2006/relationships/hyperlink" Target="https://fred.stlouisfed.org/series/PCU483111483111" TargetMode="External"/><Relationship Id="rId13" Type="http://schemas.openxmlformats.org/officeDocument/2006/relationships/hyperlink" Target="https://www.eia.gov/outlooks/aeo/data/browser/#/?id=76-AEO2025&amp;cases=ref2025&amp;sourcekey=0" TargetMode="External"/><Relationship Id="rId14" Type="http://schemas.openxmlformats.org/officeDocument/2006/relationships/hyperlink" Target="https://www.bp.com/content/dam/bp/business-sites/en/global/corporate/pdfs/energy-economics/statistical-review/bp-stats-review-2022-approximate-conversion-factors.pdf" TargetMode="External"/><Relationship Id="rId15" Type="http://schemas.openxmlformats.org/officeDocument/2006/relationships/hyperlink" Target="https://www.federalregister.gov/documents/2025/04/23/2025-06927/notice-of-action-and-proposed-action-in-section-301-investigation-of-chinas-targeting-the-maritime" TargetMode="External"/><Relationship Id="rId16" Type="http://schemas.openxmlformats.org/officeDocument/2006/relationships/hyperlink" Target="https://ustr.gov/sites/default/files/files/Press/Releases/2025/Federal%20Register%20Notice%2010.26.2025.pdf" TargetMode="External"/><Relationship Id="rId17" Type="http://schemas.openxmlformats.org/officeDocument/2006/relationships/hyperlink" Target="https://www.gao.gov/assets/gao-22-105160.pdf" TargetMode="External"/><Relationship Id="rId18" Type="http://schemas.openxmlformats.org/officeDocument/2006/relationships/hyperlink" Target="https://www.imf.org/-/media/files/publications/weo/2025/october/english/ch1.pdf"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8.xml"/><Relationship Id="rId3" Type="http://schemas.openxmlformats.org/officeDocument/2006/relationships/hyperlink" Target="https://www.congress.gov/bill/119th-congress/senate-bill/1541/text#toc-id9f432e34eabc4c5ea3d818bfdc7a838f" TargetMode="External"/><Relationship Id="rId4" Type="http://schemas.openxmlformats.org/officeDocument/2006/relationships/hyperlink" Target="https://www.eia.gov/outlooks/aeo/data/browser/#/?id=76-AEO2025&amp;cases=ref2025&amp;sourcekey=0" TargetMode="External"/><Relationship Id="rId5" Type="http://schemas.openxmlformats.org/officeDocument/2006/relationships/hyperlink" Target="../https/www.eia.gov/outlooks/aeo/data/browser#/?id=11-AEO2025&amp;cases=ref2025&amp;sourcekey=0" TargetMode="External"/><Relationship Id="rId6" Type="http://schemas.openxmlformats.org/officeDocument/2006/relationships/hyperlink" Target="https://www.eia.gov/todayinenergy/detail.php?id=67064" TargetMode="External"/><Relationship Id="rId7" Type="http://schemas.openxmlformats.org/officeDocument/2006/relationships/hyperlink" Target="https://www.gao.gov/assets/gao-22-105160.pdf"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9.xml"/><Relationship Id="rId3" Type="http://schemas.openxmlformats.org/officeDocument/2006/relationships/hyperlink" Target="https://www.pashahawaiitariffs.com/tariffs/rates#0200-00-0500/false/" TargetMode="External"/><Relationship Id="rId4" Type="http://schemas.openxmlformats.org/officeDocument/2006/relationships/hyperlink" Target="https://www.alohafreight.com/hawaii-fsc-decrease-09-14-25" TargetMode="External"/><Relationship Id="rId5" Type="http://schemas.openxmlformats.org/officeDocument/2006/relationships/hyperlink" Target="https://hidot.hawaii.gov/harbors/files/2025/04/Cargo-Wharfage-Tariff-Rates-Effective-July-1-2025-June-30-2026.pdf"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0.xml"/><Relationship Id="rId3" Type="http://schemas.openxmlformats.org/officeDocument/2006/relationships/image" Target="../media/image7_3071a231.jpeg"/><Relationship Id="rId4" Type="http://schemas.openxmlformats.org/officeDocument/2006/relationships/image" Target="../media/image8_ffd85751.png"/><Relationship Id="rId5" Type="http://schemas.openxmlformats.org/officeDocument/2006/relationships/hyperlink" Target="https://www.congress.gov/crs-product/RL32109" TargetMode="External"/><Relationship Id="rId6" Type="http://schemas.openxmlformats.org/officeDocument/2006/relationships/hyperlink" Target="https://www.congress.gov/bill/119th-congress/house-bill/1/text" TargetMode="External"/><Relationship Id="rId7" Type="http://schemas.openxmlformats.org/officeDocument/2006/relationships/hyperlink" Target="https://www.lockheedmartin.com/content/dam/lockheed-martin/rms/documents/naval-launchers-and-munitions/Mk70_Product_Card.pdf" TargetMode="External"/><Relationship Id="rId8" Type="http://schemas.openxmlformats.org/officeDocument/2006/relationships/hyperlink" Target="https://www.lockheedmartin.com/content/dam/lockheed-martin/rms/documents/naval-launchers-and-munitions/Mk_41_Product_Card_Update_24_08549.pdf"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1.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2.xml"/><Relationship Id="rId3" Type="http://schemas.openxmlformats.org/officeDocument/2006/relationships/image" Target="../media/image7_3071a231.jpeg"/><Relationship Id="rId4" Type="http://schemas.openxmlformats.org/officeDocument/2006/relationships/image" Target="../media/image8_ffd8575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(2/3) | VOCC performance ’21-’22 driven by historically high freight rates; charter companies benefitted through ’24 from leases locked in ’21-’22.</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341071" y="1550822"/>
          <a:ext cx="8491118"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194767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328178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46131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5945429"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7278624"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653613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653613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653613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653613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6461150"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653613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6743700"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6743700"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6743700"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6743700"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6743700"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6812280"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RevenueAndMarginDriversRail"/>
          <p:cNvSpPr txBox="1"/>
          <p:nvPr/>
        </p:nvSpPr>
        <p:spPr>
          <a:xfrm>
            <a:off x="8833104" y="1706270"/>
            <a:ext cx="2867558" cy="445312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Shipbuilders</a:t>
            </a:r>
            <a:r>
              <a:rPr lang="en-US" sz="1000" dirty="0">
                <a:solidFill>
                  <a:srgbClr val="000000"/>
                </a:solidFill>
                <a:latin typeface="Arial"/>
                <a:ea typeface="Arial"/>
                <a:cs typeface="Arial"/>
              </a:rPr>
              <a:t> </a:t>
            </a:r>
            <a:r>
              <a:rPr lang="en-US" sz="1000" i="1" dirty="0">
                <a:solidFill>
                  <a:srgbClr val="000000"/>
                </a:solidFill>
                <a:latin typeface="Arial"/>
                <a:ea typeface="Arial"/>
                <a:cs typeface="Arial"/>
              </a:rPr>
              <a:t>(relating to Commercial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While orders recovered from ’20, earnings remained pressured by input materials and labor cost growth.</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Improvement driven by performance against orderbook contracts and rising new build prices</a:t>
            </a:r>
          </a:p>
          <a:p>
            <a:pPr>
              <a:lnSpc>
                <a:spcPct val="100000"/>
              </a:lnSpc>
              <a:buNone/>
            </a:pPr>
            <a:r>
              <a:rPr lang="en-US" sz="1000" b="1" dirty="0">
                <a:solidFill>
                  <a:srgbClr val="000000"/>
                </a:solidFill>
                <a:latin typeface="Arial"/>
                <a:ea typeface="Arial"/>
                <a:cs typeface="Arial"/>
              </a:rPr>
              <a:t>Owner/Operators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reached historic highs driven by post-COVID pent-up demand and shift toward goods consumption, while port congestion and operational disruptions constrained effective vessel supply amid below-trend capacity additions.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normalized as consumer demand softened under inflationary pressure, coinciding with acceleration in new vessel deliveries that expanded global fleet capacity.</a:t>
            </a:r>
          </a:p>
          <a:p>
            <a:pPr>
              <a:lnSpc>
                <a:spcPct val="100000"/>
              </a:lnSpc>
              <a:buNone/>
            </a:pPr>
            <a:r>
              <a:rPr lang="en-US" sz="1000" b="1" dirty="0">
                <a:solidFill>
                  <a:srgbClr val="000000"/>
                </a:solidFill>
                <a:latin typeface="Arial"/>
                <a:ea typeface="Arial"/>
                <a:cs typeface="Arial"/>
              </a:rPr>
              <a:t>Charter Companies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Charter rates surged alongside freight rates as operators sought to secure tonnage in supply-constrained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Earnings remained supported by multi-year charter contracts signed at peak market conditions ’21-’22, partially insulating results from lower charter rates.</a:t>
            </a:r>
          </a:p>
          <a:p>
            <a:pPr>
              <a:lnSpc>
                <a:spcPct val="100000"/>
              </a:lnSpc>
              <a:buNone/>
            </a:pPr>
            <a:r>
              <a:rPr lang="en-US" sz="1000" b="1" dirty="0">
                <a:solidFill>
                  <a:srgbClr val="000000"/>
                </a:solidFill>
                <a:latin typeface="Arial"/>
                <a:ea typeface="Arial"/>
                <a:cs typeface="Arial"/>
              </a:rPr>
              <a:t>Terminal Operators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Relatively more stable margins given ability to pass on costs to operators.</a:t>
            </a:r>
          </a:p>
        </p:txBody>
      </p:sp>
      <p:graphicFrame>
        <p:nvGraphicFramePr>
          <p:cNvPr id="120" name="RevenueAndMarginDriversHeader"/>
          <p:cNvGraphicFramePr>
            <a:graphicFrameLocks noGrp="1"/>
          </p:cNvGraphicFramePr>
          <p:nvPr/>
        </p:nvGraphicFramePr>
        <p:xfrm>
          <a:off x="8833104" y="1429207"/>
          <a:ext cx="2866644" cy="274320"/>
        </p:xfrm>
        <a:graphic>
          <a:graphicData uri="http://schemas.openxmlformats.org/drawingml/2006/table">
            <a:tbl>
              <a:tblPr firstRow="1" firstCol="1" bandRow="0">
                <a:tableStyleId>{2D5ABB26-0587-4C30-8999-92F81FD0307C}</a:tableStyleId>
              </a:tblPr>
              <a:tblGrid>
                <a:gridCol w="2866644"/>
              </a:tblGrid>
              <a:tr h="274320">
                <a:tc>
                  <a:txBody>
                    <a:bodyPr anchor="ctr"/>
                    <a:lstStyle/>
                    <a:p>
                      <a:pPr algn="l" marL="0" indent="0">
                        <a:lnSpc>
                          <a:spcPct val="100000"/>
                        </a:lnSpc>
                      </a:pPr>
                      <a:r>
                        <a:rPr lang="en-US" sz="1000" b="1" dirty="0">
                          <a:solidFill>
                            <a:srgbClr val="000000"/>
                          </a:solidFill>
                          <a:latin typeface="Arial"/>
                          <a:ea typeface="Arial"/>
                          <a:cs typeface="Arial"/>
                        </a:rPr>
                        <a:t>Revenue and EBIT margin drivers</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21"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a:t>
            </a:r>
            <a:r>
              <a:rPr lang="en-US" sz="700" dirty="0">
                <a:solidFill>
                  <a:srgbClr val="000000"/>
                </a:solidFill>
                <a:latin typeface="Arial"/>
                <a:ea typeface="Arial"/>
                <a:cs typeface="Arial"/>
              </a:rPr>
              <a:t>Costamare</a:t>
            </a:r>
            <a:r>
              <a:rPr lang="en-US" sz="700" dirty="0">
                <a:solidFill>
                  <a:srgbClr val="000000"/>
                </a:solidFill>
                <a:latin typeface="Arial"/>
                <a:ea typeface="Arial"/>
                <a:cs typeface="Arial"/>
              </a:rPr>
              <a:t>,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2/2) | Favorable upstream capex outlook likely contingent upon crude prices remaining elevated, though recent spike did not result in fleet adds.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NoAdditionsPanel"/>
          <p:cNvSpPr txBox="1"/>
          <p:nvPr/>
        </p:nvSpPr>
        <p:spPr>
          <a:xfrm>
            <a:off x="10414102" y="1917497"/>
            <a:ext cx="1054303" cy="3741725"/>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No FSV / PSV additions</a:t>
            </a:r>
          </a:p>
        </p:txBody>
      </p:sp>
      <p:graphicFrame>
        <p:nvGraphicFramePr>
          <p:cNvPr id="101" name="Chart"/>
          <p:cNvGraphicFramePr/>
          <p:nvPr/>
        </p:nvGraphicFramePr>
        <p:xfrm>
          <a:off x="384048" y="1706270"/>
          <a:ext cx="11449202" cy="4177894"/>
        </p:xfrm>
        <a:graphic>
          <a:graphicData uri="http://schemas.openxmlformats.org/drawingml/2006/chart">
            <c:chart xmlns:c="http://schemas.openxmlformats.org/drawingml/2006/chart" xmlns:r="http://schemas.openxmlformats.org/officeDocument/2006/relationships" r:id="rId2"/>
          </a:graphicData>
        </a:graphic>
      </p:graphicFrame>
      <p:sp>
        <p:nvSpPr>
          <p:cNvPr id="102" name="AxisTitle"/>
          <p:cNvSpPr txBox="1"/>
          <p:nvPr/>
        </p:nvSpPr>
        <p:spPr>
          <a:xfrm>
            <a:off x="8298180" y="1602029"/>
            <a:ext cx="3431743" cy="152705"/>
          </a:xfrm>
          <a:prstGeom prst="rect">
            <a:avLst/>
          </a:prstGeom>
          <a:noFill/>
          <a:ln>
            <a:noFill/>
          </a:ln>
        </p:spPr>
        <p:txBody>
          <a:bodyPr wrap="none" anchor="b" lIns="0" tIns="0" rIns="0" bIns="0"/>
          <a:lstStyle/>
          <a:p>
            <a:pPr algn="r" marL="0" indent="0">
              <a:lnSpc>
                <a:spcPct val="100000"/>
              </a:lnSpc>
              <a:buNone/>
            </a:pPr>
            <a:r>
              <a:rPr lang="en-US" sz="1000" b="1" dirty="0">
                <a:solidFill>
                  <a:srgbClr val="000000"/>
                </a:solidFill>
                <a:latin typeface="Arial"/>
                <a:ea typeface="Arial"/>
                <a:cs typeface="Arial"/>
              </a:rPr>
              <a:t>US-Built &amp; Flagged FSV / PSV Fleet Additions (# Vessels)</a:t>
            </a:r>
          </a:p>
        </p:txBody>
      </p:sp>
      <p:sp>
        <p:nvSpPr>
          <p:cNvPr id="103" name="AxisTitle"/>
          <p:cNvSpPr txBox="1"/>
          <p:nvPr/>
        </p:nvSpPr>
        <p:spPr>
          <a:xfrm>
            <a:off x="487375" y="1602029"/>
            <a:ext cx="4765853"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West Texas Intermediate (WTI) and Brent Crude Spot Prices (2025 $ per barrel)</a:t>
            </a:r>
            <a:r>
              <a:rPr lang="en-US" sz="1000" b="1" dirty="0">
                <a:solidFill>
                  <a:srgbClr val="000000"/>
                </a:solidFill>
                <a:latin typeface="Arial"/>
                <a:ea typeface="Arial"/>
                <a:cs typeface="Arial"/>
              </a:rPr>
              <a:t>1</a:t>
            </a:r>
          </a:p>
        </p:txBody>
      </p:sp>
      <p:sp>
        <p:nvSpPr>
          <p:cNvPr id="104" name="YearTickLabel"/>
          <p:cNvSpPr txBox="1"/>
          <p:nvPr/>
        </p:nvSpPr>
        <p:spPr>
          <a:xfrm>
            <a:off x="81290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1986</a:t>
            </a:r>
          </a:p>
        </p:txBody>
      </p:sp>
      <p:sp>
        <p:nvSpPr>
          <p:cNvPr id="105" name="YearTickLabel"/>
          <p:cNvSpPr txBox="1"/>
          <p:nvPr/>
        </p:nvSpPr>
        <p:spPr>
          <a:xfrm>
            <a:off x="187634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1990</a:t>
            </a:r>
          </a:p>
        </p:txBody>
      </p:sp>
      <p:sp>
        <p:nvSpPr>
          <p:cNvPr id="106" name="YearTickLabel"/>
          <p:cNvSpPr txBox="1"/>
          <p:nvPr/>
        </p:nvSpPr>
        <p:spPr>
          <a:xfrm>
            <a:off x="320497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1995</a:t>
            </a:r>
          </a:p>
        </p:txBody>
      </p:sp>
      <p:sp>
        <p:nvSpPr>
          <p:cNvPr id="107" name="YearTickLabel"/>
          <p:cNvSpPr txBox="1"/>
          <p:nvPr/>
        </p:nvSpPr>
        <p:spPr>
          <a:xfrm>
            <a:off x="453542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2000</a:t>
            </a:r>
          </a:p>
        </p:txBody>
      </p:sp>
      <p:sp>
        <p:nvSpPr>
          <p:cNvPr id="108" name="YearTickLabel"/>
          <p:cNvSpPr txBox="1"/>
          <p:nvPr/>
        </p:nvSpPr>
        <p:spPr>
          <a:xfrm>
            <a:off x="5864047"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2005</a:t>
            </a:r>
          </a:p>
        </p:txBody>
      </p:sp>
      <p:sp>
        <p:nvSpPr>
          <p:cNvPr id="109" name="YearTickLabel"/>
          <p:cNvSpPr txBox="1"/>
          <p:nvPr/>
        </p:nvSpPr>
        <p:spPr>
          <a:xfrm>
            <a:off x="719449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2010</a:t>
            </a:r>
          </a:p>
        </p:txBody>
      </p:sp>
      <p:sp>
        <p:nvSpPr>
          <p:cNvPr id="110" name="YearTickLabel"/>
          <p:cNvSpPr txBox="1"/>
          <p:nvPr/>
        </p:nvSpPr>
        <p:spPr>
          <a:xfrm>
            <a:off x="852312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2015</a:t>
            </a:r>
          </a:p>
        </p:txBody>
      </p:sp>
      <p:sp>
        <p:nvSpPr>
          <p:cNvPr id="111" name="YearTickLabel"/>
          <p:cNvSpPr txBox="1"/>
          <p:nvPr/>
        </p:nvSpPr>
        <p:spPr>
          <a:xfrm>
            <a:off x="985357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12" name="YearTickLabel"/>
          <p:cNvSpPr txBox="1"/>
          <p:nvPr/>
        </p:nvSpPr>
        <p:spPr>
          <a:xfrm>
            <a:off x="11182198"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2025</a:t>
            </a:r>
          </a:p>
        </p:txBody>
      </p:sp>
      <p:sp>
        <p:nvSpPr>
          <p:cNvPr id="113" name="PeakFleetAddLabel"/>
          <p:cNvSpPr txBox="1"/>
          <p:nvPr/>
        </p:nvSpPr>
        <p:spPr>
          <a:xfrm>
            <a:off x="5126126" y="4660697"/>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14" name="PeakFleetAddLabel"/>
          <p:cNvSpPr txBox="1"/>
          <p:nvPr/>
        </p:nvSpPr>
        <p:spPr>
          <a:xfrm>
            <a:off x="8316468" y="302117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33</a:t>
            </a:r>
          </a:p>
        </p:txBody>
      </p:sp>
      <p:sp>
        <p:nvSpPr>
          <p:cNvPr id="115" name="PeakFleetAddLabel"/>
          <p:cNvSpPr txBox="1"/>
          <p:nvPr/>
        </p:nvSpPr>
        <p:spPr>
          <a:xfrm>
            <a:off x="8581644" y="376732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116" name="LegendBarSwatch"/>
          <p:cNvSpPr txBox="1"/>
          <p:nvPr/>
        </p:nvSpPr>
        <p:spPr>
          <a:xfrm>
            <a:off x="985723" y="1987906"/>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17" name="LegendLineRule"/>
          <p:cNvCxnSpPr/>
          <p:nvPr/>
        </p:nvCxnSpPr>
        <p:spPr>
          <a:xfrm>
            <a:off x="1000354" y="2257654"/>
            <a:ext cx="150876" cy="0"/>
          </a:xfrm>
          <a:prstGeom prst="line">
            <a:avLst/>
          </a:prstGeom>
          <a:ln w="28575">
            <a:solidFill>
              <a:srgbClr val="FFC000"/>
            </a:solidFill>
          </a:ln>
        </p:spPr>
      </p:cxnSp>
      <p:cxnSp>
        <p:nvCxnSpPr>
          <p:cNvPr id="118" name="LegendLineRule"/>
          <p:cNvCxnSpPr/>
          <p:nvPr/>
        </p:nvCxnSpPr>
        <p:spPr>
          <a:xfrm>
            <a:off x="1000354" y="2460650"/>
            <a:ext cx="150876" cy="0"/>
          </a:xfrm>
          <a:prstGeom prst="line">
            <a:avLst/>
          </a:prstGeom>
          <a:ln w="28575">
            <a:solidFill>
              <a:srgbClr val="007770"/>
            </a:solidFill>
          </a:ln>
        </p:spPr>
      </p:cxnSp>
      <p:sp>
        <p:nvSpPr>
          <p:cNvPr id="119" name="LegendLabel"/>
          <p:cNvSpPr txBox="1"/>
          <p:nvPr/>
        </p:nvSpPr>
        <p:spPr>
          <a:xfrm>
            <a:off x="1216152" y="1982419"/>
            <a:ext cx="85587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FSV/PSV Adds</a:t>
            </a:r>
          </a:p>
        </p:txBody>
      </p:sp>
      <p:sp>
        <p:nvSpPr>
          <p:cNvPr id="120" name="LegendLabel"/>
          <p:cNvSpPr txBox="1"/>
          <p:nvPr/>
        </p:nvSpPr>
        <p:spPr>
          <a:xfrm>
            <a:off x="1216152" y="2186330"/>
            <a:ext cx="147035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WTI Spot Price ($ / barrel)</a:t>
            </a:r>
          </a:p>
        </p:txBody>
      </p:sp>
      <p:sp>
        <p:nvSpPr>
          <p:cNvPr id="121" name="LegendLabel"/>
          <p:cNvSpPr txBox="1"/>
          <p:nvPr/>
        </p:nvSpPr>
        <p:spPr>
          <a:xfrm>
            <a:off x="1216152" y="2389327"/>
            <a:ext cx="153802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Brent Spot Price ($ / barrel)</a:t>
            </a:r>
          </a:p>
        </p:txBody>
      </p:sp>
      <p:sp>
        <p:nvSpPr>
          <p:cNvPr id="12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Historical WTI and Brent spot prices inflated to 2025 $ using US Personal Consumption Expenditures (PCE) index</a:t>
            </a:r>
            <a:br/>
            <a:r>
              <a:rPr lang="en-US" sz="800" dirty="0">
                <a:solidFill>
                  <a:srgbClr val="000000"/>
                </a:solidFill>
                <a:latin typeface="Arial"/>
                <a:ea typeface="Arial"/>
                <a:cs typeface="Arial"/>
              </a:rPr>
              <a:t>Source: Clarksons (US fleet adds); </a:t>
            </a:r>
            <a:r>
              <a:rPr lang="en-US" sz="800" dirty="0">
                <a:solidFill>
                  <a:srgbClr val="000000"/>
                </a:solidFill>
                <a:latin typeface="Arial"/>
                <a:ea typeface="Arial"/>
                <a:cs typeface="Arial"/>
                <a:hlinkClick r:id="rId3"/>
              </a:rPr>
              <a:t>EIA (WTI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4"/>
              </a:rPr>
              <a:t>EIA (Brent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5"/>
              </a:rPr>
              <a:t>FRED (PCE)</a:t>
            </a:r>
          </a:p>
        </p:txBody>
      </p:sp>
      <p:sp>
        <p:nvSpPr>
          <p:cNvPr id="123"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124" name="CorrelationCallout"/>
          <p:cNvSpPr txBox="1"/>
          <p:nvPr/>
        </p:nvSpPr>
        <p:spPr>
          <a:xfrm>
            <a:off x="942746" y="2806294"/>
            <a:ext cx="3495751" cy="908914"/>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000" b="1" u="sng" dirty="0">
                <a:solidFill>
                  <a:srgbClr val="000000"/>
                </a:solidFill>
                <a:latin typeface="Arial"/>
                <a:ea typeface="Arial"/>
                <a:cs typeface="Arial"/>
              </a:rPr>
              <a:t>Moderate positive correlation</a:t>
            </a:r>
            <a:r>
              <a:rPr lang="en-US" sz="1000" b="1" dirty="0">
                <a:solidFill>
                  <a:srgbClr val="000000"/>
                </a:solidFill>
                <a:latin typeface="Arial"/>
                <a:ea typeface="Arial"/>
                <a:cs typeface="Arial"/>
              </a:rPr>
              <a:t> </a:t>
            </a:r>
            <a:r>
              <a:rPr lang="en-US" sz="1000" dirty="0">
                <a:solidFill>
                  <a:srgbClr val="000000"/>
                </a:solidFill>
                <a:latin typeface="Arial"/>
                <a:ea typeface="Arial"/>
                <a:cs typeface="Arial"/>
              </a:rPr>
              <a:t>between crude prices (inflation adjusted) and FSV &amp; PSV fleet additions:</a:t>
            </a:r>
            <a:br/>
            <a:br/>
            <a:r>
              <a:rPr lang="en-US" sz="1000" b="1" dirty="0">
                <a:solidFill>
                  <a:srgbClr val="000000"/>
                </a:solidFill>
                <a:latin typeface="Arial"/>
                <a:ea typeface="Arial"/>
                <a:cs typeface="Arial"/>
              </a:rPr>
              <a:t>WTI correlation coefficient (r) = 0.48 </a:t>
            </a:r>
            <a:br/>
            <a:r>
              <a:rPr lang="en-US" sz="1000" b="1" dirty="0">
                <a:solidFill>
                  <a:srgbClr val="000000"/>
                </a:solidFill>
                <a:latin typeface="Arial"/>
                <a:ea typeface="Arial"/>
                <a:cs typeface="Arial"/>
              </a:rPr>
              <a:t>Brent correlation coefficient (r) = 0.46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(1/3) | Despite seeing improvement from rising new build prices and increased orders, shipbuilders only achieved low-to-mid-single digit EBIT margins by ‘24.</a:t>
            </a:r>
          </a:p>
        </p:txBody>
      </p:sp>
      <p:graphicFrame>
        <p:nvGraphicFramePr>
          <p:cNvPr id="100" name="Chart"/>
          <p:cNvGraphicFramePr/>
          <p:nvPr/>
        </p:nvGraphicFramePr>
        <p:xfrm>
          <a:off x="341071" y="1550822"/>
          <a:ext cx="11466576"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2445106"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42720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61008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79296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97566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948507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948507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948507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948507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9402775"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948507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9693554"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9693554"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9693554"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9693554"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9693554"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9753905"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Costamare,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marL="0" indent="0">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1/2) | Achieving serial production of FSVs requires capturing 60%+ of the market and more favorable upstream player capex outlook.</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NoOrderbookEvidenceBand"/>
          <p:cNvSpPr txBox="1"/>
          <p:nvPr/>
        </p:nvSpPr>
        <p:spPr>
          <a:xfrm>
            <a:off x="715975" y="1923898"/>
            <a:ext cx="1238098" cy="3909974"/>
          </a:xfrm>
          <a:prstGeom prst="rect">
            <a:avLst/>
          </a:prstGeom>
          <a:solidFill>
            <a:srgbClr val="F2F2F2"/>
          </a:solidFill>
          <a:ln>
            <a:noFill/>
          </a:ln>
        </p:spPr>
        <p:txBody>
          <a:bodyPr wrap="square" anchor="t" lIns="91440" tIns="45720" rIns="91440" bIns="45720"/>
          <a:lstStyle/>
          <a:p>
            <a:pPr algn="r">
              <a:lnSpc>
                <a:spcPct val="100000"/>
              </a:lnSpc>
              <a:buNone/>
            </a:pPr>
            <a:r>
              <a:rPr lang="en-US" sz="1000" i="1" dirty="0">
                <a:solidFill>
                  <a:srgbClr val="000000"/>
                </a:solidFill>
                <a:latin typeface="Arial"/>
                <a:ea typeface="Arial"/>
                <a:cs typeface="Arial"/>
              </a:rPr>
              <a:t>No orderbook orders for </a:t>
            </a:r>
            <a:br/>
            <a:r>
              <a:rPr lang="en-US" sz="1000" i="1" dirty="0">
                <a:solidFill>
                  <a:srgbClr val="000000"/>
                </a:solidFill>
                <a:latin typeface="Arial"/>
                <a:ea typeface="Arial"/>
                <a:cs typeface="Arial"/>
              </a:rPr>
              <a:t>FSV / PSV</a:t>
            </a:r>
            <a:br/>
            <a:br/>
            <a:br/>
          </a:p>
        </p:txBody>
      </p:sp>
      <p:graphicFrame>
        <p:nvGraphicFramePr>
          <p:cNvPr id="101" name="Chart"/>
          <p:cNvGraphicFramePr/>
          <p:nvPr/>
        </p:nvGraphicFramePr>
        <p:xfrm>
          <a:off x="297180" y="1706270"/>
          <a:ext cx="6729070" cy="3987698"/>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TickLabel"/>
          <p:cNvSpPr txBox="1"/>
          <p:nvPr/>
        </p:nvSpPr>
        <p:spPr>
          <a:xfrm>
            <a:off x="758952"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2026</a:t>
            </a:r>
          </a:p>
        </p:txBody>
      </p:sp>
      <p:sp>
        <p:nvSpPr>
          <p:cNvPr id="103" name="YearTickLabel"/>
          <p:cNvSpPr txBox="1"/>
          <p:nvPr/>
        </p:nvSpPr>
        <p:spPr>
          <a:xfrm>
            <a:off x="1007669"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2027</a:t>
            </a:r>
          </a:p>
        </p:txBody>
      </p:sp>
      <p:sp>
        <p:nvSpPr>
          <p:cNvPr id="104" name="YearTickLabel"/>
          <p:cNvSpPr txBox="1"/>
          <p:nvPr/>
        </p:nvSpPr>
        <p:spPr>
          <a:xfrm>
            <a:off x="1257300"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2028</a:t>
            </a:r>
          </a:p>
        </p:txBody>
      </p:sp>
      <p:sp>
        <p:nvSpPr>
          <p:cNvPr id="105" name="YearTickLabel"/>
          <p:cNvSpPr txBox="1"/>
          <p:nvPr/>
        </p:nvSpPr>
        <p:spPr>
          <a:xfrm>
            <a:off x="1506931"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2029</a:t>
            </a:r>
          </a:p>
        </p:txBody>
      </p:sp>
      <p:sp>
        <p:nvSpPr>
          <p:cNvPr id="106" name="YearTickLabel"/>
          <p:cNvSpPr txBox="1"/>
          <p:nvPr/>
        </p:nvSpPr>
        <p:spPr>
          <a:xfrm>
            <a:off x="1755648"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2030</a:t>
            </a:r>
          </a:p>
        </p:txBody>
      </p:sp>
      <p:sp>
        <p:nvSpPr>
          <p:cNvPr id="107" name="YearTickLabel"/>
          <p:cNvSpPr txBox="1"/>
          <p:nvPr/>
        </p:nvSpPr>
        <p:spPr>
          <a:xfrm>
            <a:off x="2005279"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2031</a:t>
            </a:r>
          </a:p>
        </p:txBody>
      </p:sp>
      <p:sp>
        <p:nvSpPr>
          <p:cNvPr id="108" name="YearTickLabel"/>
          <p:cNvSpPr txBox="1"/>
          <p:nvPr/>
        </p:nvSpPr>
        <p:spPr>
          <a:xfrm>
            <a:off x="225399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2032</a:t>
            </a:r>
          </a:p>
        </p:txBody>
      </p:sp>
      <p:sp>
        <p:nvSpPr>
          <p:cNvPr id="109" name="YearTickLabel"/>
          <p:cNvSpPr txBox="1"/>
          <p:nvPr/>
        </p:nvSpPr>
        <p:spPr>
          <a:xfrm>
            <a:off x="2503627"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2033</a:t>
            </a:r>
          </a:p>
        </p:txBody>
      </p:sp>
      <p:sp>
        <p:nvSpPr>
          <p:cNvPr id="110" name="YearTickLabel"/>
          <p:cNvSpPr txBox="1"/>
          <p:nvPr/>
        </p:nvSpPr>
        <p:spPr>
          <a:xfrm>
            <a:off x="275234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2034</a:t>
            </a:r>
          </a:p>
        </p:txBody>
      </p:sp>
      <p:sp>
        <p:nvSpPr>
          <p:cNvPr id="111" name="YearTickLabel"/>
          <p:cNvSpPr txBox="1"/>
          <p:nvPr/>
        </p:nvSpPr>
        <p:spPr>
          <a:xfrm>
            <a:off x="3001975"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2035</a:t>
            </a:r>
          </a:p>
        </p:txBody>
      </p:sp>
      <p:sp>
        <p:nvSpPr>
          <p:cNvPr id="112" name="YearTickLabel"/>
          <p:cNvSpPr txBox="1"/>
          <p:nvPr/>
        </p:nvSpPr>
        <p:spPr>
          <a:xfrm>
            <a:off x="325160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2036</a:t>
            </a:r>
          </a:p>
        </p:txBody>
      </p:sp>
      <p:sp>
        <p:nvSpPr>
          <p:cNvPr id="113" name="YearTickLabel"/>
          <p:cNvSpPr txBox="1"/>
          <p:nvPr/>
        </p:nvSpPr>
        <p:spPr>
          <a:xfrm>
            <a:off x="3500323"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2037</a:t>
            </a:r>
          </a:p>
        </p:txBody>
      </p:sp>
      <p:sp>
        <p:nvSpPr>
          <p:cNvPr id="114" name="YearTickLabel"/>
          <p:cNvSpPr txBox="1"/>
          <p:nvPr/>
        </p:nvSpPr>
        <p:spPr>
          <a:xfrm>
            <a:off x="374995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2038</a:t>
            </a:r>
          </a:p>
        </p:txBody>
      </p:sp>
      <p:sp>
        <p:nvSpPr>
          <p:cNvPr id="115" name="YearTickLabel"/>
          <p:cNvSpPr txBox="1"/>
          <p:nvPr/>
        </p:nvSpPr>
        <p:spPr>
          <a:xfrm>
            <a:off x="4000500"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2039</a:t>
            </a:r>
          </a:p>
        </p:txBody>
      </p:sp>
      <p:sp>
        <p:nvSpPr>
          <p:cNvPr id="116" name="YearTickLabel"/>
          <p:cNvSpPr txBox="1"/>
          <p:nvPr/>
        </p:nvSpPr>
        <p:spPr>
          <a:xfrm>
            <a:off x="4250131"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2040</a:t>
            </a:r>
          </a:p>
        </p:txBody>
      </p:sp>
      <p:sp>
        <p:nvSpPr>
          <p:cNvPr id="117" name="YearTickLabel"/>
          <p:cNvSpPr txBox="1"/>
          <p:nvPr/>
        </p:nvSpPr>
        <p:spPr>
          <a:xfrm>
            <a:off x="4498848"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2041</a:t>
            </a:r>
          </a:p>
        </p:txBody>
      </p:sp>
      <p:sp>
        <p:nvSpPr>
          <p:cNvPr id="118" name="YearTickLabel"/>
          <p:cNvSpPr txBox="1"/>
          <p:nvPr/>
        </p:nvSpPr>
        <p:spPr>
          <a:xfrm>
            <a:off x="4748479"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2042</a:t>
            </a:r>
          </a:p>
        </p:txBody>
      </p:sp>
      <p:sp>
        <p:nvSpPr>
          <p:cNvPr id="119" name="YearTickLabel"/>
          <p:cNvSpPr txBox="1"/>
          <p:nvPr/>
        </p:nvSpPr>
        <p:spPr>
          <a:xfrm>
            <a:off x="499719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2043</a:t>
            </a:r>
          </a:p>
        </p:txBody>
      </p:sp>
      <p:sp>
        <p:nvSpPr>
          <p:cNvPr id="120" name="YearTickLabel"/>
          <p:cNvSpPr txBox="1"/>
          <p:nvPr/>
        </p:nvSpPr>
        <p:spPr>
          <a:xfrm>
            <a:off x="5246827"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2044</a:t>
            </a:r>
          </a:p>
        </p:txBody>
      </p:sp>
      <p:sp>
        <p:nvSpPr>
          <p:cNvPr id="121" name="YearTickLabel"/>
          <p:cNvSpPr txBox="1"/>
          <p:nvPr/>
        </p:nvSpPr>
        <p:spPr>
          <a:xfrm>
            <a:off x="549554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2045</a:t>
            </a:r>
          </a:p>
        </p:txBody>
      </p:sp>
      <p:sp>
        <p:nvSpPr>
          <p:cNvPr id="122" name="YearTickLabel"/>
          <p:cNvSpPr txBox="1"/>
          <p:nvPr/>
        </p:nvSpPr>
        <p:spPr>
          <a:xfrm>
            <a:off x="5745175"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2046</a:t>
            </a:r>
          </a:p>
        </p:txBody>
      </p:sp>
      <p:sp>
        <p:nvSpPr>
          <p:cNvPr id="123" name="YearTickLabel"/>
          <p:cNvSpPr txBox="1"/>
          <p:nvPr/>
        </p:nvSpPr>
        <p:spPr>
          <a:xfrm>
            <a:off x="599480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2047</a:t>
            </a:r>
          </a:p>
        </p:txBody>
      </p:sp>
      <p:sp>
        <p:nvSpPr>
          <p:cNvPr id="124" name="YearTickLabel"/>
          <p:cNvSpPr txBox="1"/>
          <p:nvPr/>
        </p:nvSpPr>
        <p:spPr>
          <a:xfrm>
            <a:off x="6243523"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2048</a:t>
            </a:r>
          </a:p>
        </p:txBody>
      </p:sp>
      <p:sp>
        <p:nvSpPr>
          <p:cNvPr id="125" name="YearTickLabel"/>
          <p:cNvSpPr txBox="1"/>
          <p:nvPr/>
        </p:nvSpPr>
        <p:spPr>
          <a:xfrm>
            <a:off x="649315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2049</a:t>
            </a:r>
          </a:p>
        </p:txBody>
      </p:sp>
      <p:sp>
        <p:nvSpPr>
          <p:cNvPr id="126" name="YearTickLabel"/>
          <p:cNvSpPr txBox="1"/>
          <p:nvPr/>
        </p:nvSpPr>
        <p:spPr>
          <a:xfrm>
            <a:off x="6741871"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2050</a:t>
            </a:r>
          </a:p>
        </p:txBody>
      </p:sp>
      <p:sp>
        <p:nvSpPr>
          <p:cNvPr id="127" name="NetHullLabel"/>
          <p:cNvSpPr txBox="1"/>
          <p:nvPr/>
        </p:nvSpPr>
        <p:spPr>
          <a:xfrm>
            <a:off x="726948" y="52578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28" name="NetHullLabel"/>
          <p:cNvSpPr txBox="1"/>
          <p:nvPr/>
        </p:nvSpPr>
        <p:spPr>
          <a:xfrm>
            <a:off x="1010412" y="2979115"/>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a:t>
            </a:r>
          </a:p>
        </p:txBody>
      </p:sp>
      <p:sp>
        <p:nvSpPr>
          <p:cNvPr id="129" name="NetHullLabel"/>
          <p:cNvSpPr txBox="1"/>
          <p:nvPr/>
        </p:nvSpPr>
        <p:spPr>
          <a:xfrm>
            <a:off x="1225296" y="3608222"/>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30" name="NetHullLabel"/>
          <p:cNvSpPr txBox="1"/>
          <p:nvPr/>
        </p:nvSpPr>
        <p:spPr>
          <a:xfrm>
            <a:off x="1474927"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1" name="NetHullLabel"/>
          <p:cNvSpPr txBox="1"/>
          <p:nvPr/>
        </p:nvSpPr>
        <p:spPr>
          <a:xfrm>
            <a:off x="1723644"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2" name="NetHullLabel"/>
          <p:cNvSpPr txBox="1"/>
          <p:nvPr/>
        </p:nvSpPr>
        <p:spPr>
          <a:xfrm>
            <a:off x="2008022"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3" name="NetHullLabel"/>
          <p:cNvSpPr txBox="1"/>
          <p:nvPr/>
        </p:nvSpPr>
        <p:spPr>
          <a:xfrm>
            <a:off x="22229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4" name="NetHullLabel"/>
          <p:cNvSpPr txBox="1"/>
          <p:nvPr/>
        </p:nvSpPr>
        <p:spPr>
          <a:xfrm>
            <a:off x="2471623" y="455096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135" name="NetHullLabel"/>
          <p:cNvSpPr txBox="1"/>
          <p:nvPr/>
        </p:nvSpPr>
        <p:spPr>
          <a:xfrm>
            <a:off x="2721254" y="36859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6" name="NetHullLabel"/>
          <p:cNvSpPr txBox="1"/>
          <p:nvPr/>
        </p:nvSpPr>
        <p:spPr>
          <a:xfrm>
            <a:off x="3004718"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7" name="NetHullLabel"/>
          <p:cNvSpPr txBox="1"/>
          <p:nvPr/>
        </p:nvSpPr>
        <p:spPr>
          <a:xfrm>
            <a:off x="3254350" y="3372307"/>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a:t>
            </a:r>
          </a:p>
        </p:txBody>
      </p:sp>
      <p:sp>
        <p:nvSpPr>
          <p:cNvPr id="138" name="NetHullLabel"/>
          <p:cNvSpPr txBox="1"/>
          <p:nvPr/>
        </p:nvSpPr>
        <p:spPr>
          <a:xfrm>
            <a:off x="3468319"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9" name="NetHullLabel"/>
          <p:cNvSpPr txBox="1"/>
          <p:nvPr/>
        </p:nvSpPr>
        <p:spPr>
          <a:xfrm>
            <a:off x="3717950" y="376549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-13</a:t>
            </a:r>
          </a:p>
        </p:txBody>
      </p:sp>
      <p:sp>
        <p:nvSpPr>
          <p:cNvPr id="140" name="NetHullLabel"/>
          <p:cNvSpPr txBox="1"/>
          <p:nvPr/>
        </p:nvSpPr>
        <p:spPr>
          <a:xfrm>
            <a:off x="396849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1" name="NetHullLabel"/>
          <p:cNvSpPr txBox="1"/>
          <p:nvPr/>
        </p:nvSpPr>
        <p:spPr>
          <a:xfrm>
            <a:off x="4218127" y="431505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42" name="NetHullLabel"/>
          <p:cNvSpPr txBox="1"/>
          <p:nvPr/>
        </p:nvSpPr>
        <p:spPr>
          <a:xfrm>
            <a:off x="4502506" y="3215030"/>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-6</a:t>
            </a:r>
          </a:p>
        </p:txBody>
      </p:sp>
      <p:sp>
        <p:nvSpPr>
          <p:cNvPr id="143" name="NetHullLabel"/>
          <p:cNvSpPr txBox="1"/>
          <p:nvPr/>
        </p:nvSpPr>
        <p:spPr>
          <a:xfrm>
            <a:off x="4716475" y="352867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HullLabel"/>
          <p:cNvSpPr txBox="1"/>
          <p:nvPr/>
        </p:nvSpPr>
        <p:spPr>
          <a:xfrm>
            <a:off x="49661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5" name="NetHullLabel"/>
          <p:cNvSpPr txBox="1"/>
          <p:nvPr/>
        </p:nvSpPr>
        <p:spPr>
          <a:xfrm>
            <a:off x="5214823" y="49432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-28</a:t>
            </a:r>
          </a:p>
        </p:txBody>
      </p:sp>
      <p:sp>
        <p:nvSpPr>
          <p:cNvPr id="146" name="NetHullLabel"/>
          <p:cNvSpPr txBox="1"/>
          <p:nvPr/>
        </p:nvSpPr>
        <p:spPr>
          <a:xfrm>
            <a:off x="5463540" y="407913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-17</a:t>
            </a:r>
          </a:p>
        </p:txBody>
      </p:sp>
      <p:sp>
        <p:nvSpPr>
          <p:cNvPr id="147" name="NetHullLabel"/>
          <p:cNvSpPr txBox="1"/>
          <p:nvPr/>
        </p:nvSpPr>
        <p:spPr>
          <a:xfrm>
            <a:off x="5747918" y="3450946"/>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a:t>
            </a:r>
          </a:p>
        </p:txBody>
      </p:sp>
      <p:sp>
        <p:nvSpPr>
          <p:cNvPr id="148" name="NetHullLabel"/>
          <p:cNvSpPr txBox="1"/>
          <p:nvPr/>
        </p:nvSpPr>
        <p:spPr>
          <a:xfrm>
            <a:off x="5997550" y="30577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a:t>
            </a:r>
          </a:p>
        </p:txBody>
      </p:sp>
      <p:sp>
        <p:nvSpPr>
          <p:cNvPr id="149" name="NetHullLabel"/>
          <p:cNvSpPr txBox="1"/>
          <p:nvPr/>
        </p:nvSpPr>
        <p:spPr>
          <a:xfrm>
            <a:off x="6246266" y="30577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a:t>
            </a:r>
          </a:p>
        </p:txBody>
      </p:sp>
      <p:sp>
        <p:nvSpPr>
          <p:cNvPr id="150" name="NetHullLabel"/>
          <p:cNvSpPr txBox="1"/>
          <p:nvPr/>
        </p:nvSpPr>
        <p:spPr>
          <a:xfrm>
            <a:off x="6495898" y="2900477"/>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51" name="NetHullLabel"/>
          <p:cNvSpPr txBox="1"/>
          <p:nvPr/>
        </p:nvSpPr>
        <p:spPr>
          <a:xfrm>
            <a:off x="6744614" y="2821838"/>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52" name="ChartTitle"/>
          <p:cNvSpPr txBox="1"/>
          <p:nvPr/>
        </p:nvSpPr>
        <p:spPr>
          <a:xfrm>
            <a:off x="442570" y="1602029"/>
            <a:ext cx="523585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Offshore FSV/PSV (# Hulls)</a:t>
            </a:r>
          </a:p>
        </p:txBody>
      </p:sp>
      <p:graphicFrame>
        <p:nvGraphicFramePr>
          <p:cNvPr id="153" name="RetirementReplacementsTable"/>
          <p:cNvGraphicFramePr>
            <a:graphicFrameLocks noGrp="1"/>
          </p:cNvGraphicFramePr>
          <p:nvPr/>
        </p:nvGraphicFramePr>
        <p:xfrm>
          <a:off x="7083857" y="1540764"/>
          <a:ext cx="4616806" cy="350489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t"/>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t">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t"/>
                    <a:lstStyle/>
                    <a:p>
                      <a:pPr algn="ctr">
                        <a:lnSpc>
                          <a:spcPct val="100000"/>
                        </a:lnSpc>
                      </a:pPr>
                      <a:r>
                        <a:rPr lang="en-US" sz="1000" b="1" dirty="0">
                          <a:solidFill>
                            <a:srgbClr val="000000"/>
                          </a:solidFill>
                          <a:latin typeface="Arial"/>
                          <a:ea typeface="Arial"/>
                          <a:cs typeface="Arial"/>
                        </a:rPr>
                        <a:t>Total</a:t>
                      </a:r>
                    </a:p>
                  </a:txBody>
                  <a:tcPr marL="45720" marR="45720" marT="45720" marB="45720" anchor="t">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t"/>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t">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Crew/Fast Supply</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1-for-1 retirement replacements potentially challenged by O&amp;G sector maintaining capital discipline that drives retirement deferrals </a:t>
                      </a:r>
                      <a:r>
                        <a:rPr lang="en-US" sz="1000" i="1" dirty="0">
                          <a:solidFill>
                            <a:srgbClr val="000000"/>
                          </a:solidFill>
                          <a:latin typeface="Arial"/>
                          <a:ea typeface="Arial"/>
                          <a:cs typeface="Arial"/>
                        </a:rPr>
                        <a:t>(potentially mitigated if crude prices remain high due to Persian Gulf disruptions)</a:t>
                      </a:r>
                    </a:p>
                    <a:p>
                      <a:pPr algn="l" marL="171450" indent="-171450">
                        <a:lnSpc>
                          <a:spcPct val="100000"/>
                        </a:lnSpc>
                        <a:buFont typeface="Arial" panose="020B0604020202020204" pitchFamily="34" charset="0"/>
                        <a:buChar char="•"/>
                      </a:pPr>
                      <a:endParaRPr lang="en-US" sz="1000"/>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Only Offshore O&amp;G vessel types with orders are Multipurpose Support Vessels (2x on order), providing evidence of constrained upstream capex environment</a:t>
                      </a:r>
                    </a:p>
                    <a:p>
                      <a:pPr algn="l" marL="171450" indent="-171450">
                        <a:lnSpc>
                          <a:spcPct val="100000"/>
                        </a:lnSpc>
                        <a:buFont typeface="Arial" panose="020B0604020202020204" pitchFamily="34" charset="0"/>
                        <a:buChar char="•"/>
                      </a:pPr>
                      <a:endParaRPr lang="en-US" sz="1000"/>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Other Offshore O&amp;G vessel types have smaller fleet counts than PSV and Crew/Fast Supply (1-66 vs. 206 and 105, respectively), likely precluding serial production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54" name="NetHullsCallout"/>
          <p:cNvSpPr txBox="1"/>
          <p:nvPr/>
        </p:nvSpPr>
        <p:spPr>
          <a:xfrm>
            <a:off x="4651553" y="1796796"/>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55" name="LegendSwatch"/>
          <p:cNvSpPr txBox="1"/>
          <p:nvPr/>
        </p:nvSpPr>
        <p:spPr>
          <a:xfrm>
            <a:off x="4749394" y="2241194"/>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4749394" y="2445106"/>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LegendLabel"/>
          <p:cNvSpPr txBox="1"/>
          <p:nvPr/>
        </p:nvSpPr>
        <p:spPr>
          <a:xfrm>
            <a:off x="4979822" y="2236622"/>
            <a:ext cx="99852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Crew/Fast Supply</a:t>
            </a:r>
          </a:p>
        </p:txBody>
      </p:sp>
      <p:sp>
        <p:nvSpPr>
          <p:cNvPr id="158" name="LegendLabel"/>
          <p:cNvSpPr txBox="1"/>
          <p:nvPr/>
        </p:nvSpPr>
        <p:spPr>
          <a:xfrm>
            <a:off x="4979822" y="2439619"/>
            <a:ext cx="2523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PSV</a:t>
            </a:r>
          </a:p>
        </p:txBody>
      </p:sp>
      <p:sp>
        <p:nvSpPr>
          <p:cNvPr id="159"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30 years for PSVs and 25 years for Crew/FSVs </a:t>
            </a:r>
            <a:br/>
            <a:r>
              <a:rPr lang="en-US" sz="800" dirty="0">
                <a:solidFill>
                  <a:srgbClr val="000000"/>
                </a:solidFill>
                <a:latin typeface="Arial"/>
                <a:ea typeface="Arial"/>
                <a:cs typeface="Arial"/>
              </a:rPr>
              <a:t>Source: Clarksons (US fleet size and GT data); </a:t>
            </a:r>
            <a:r>
              <a:rPr lang="en-US" sz="800" dirty="0">
                <a:solidFill>
                  <a:srgbClr val="000000"/>
                </a:solidFill>
                <a:latin typeface="Arial"/>
                <a:ea typeface="Arial"/>
                <a:cs typeface="Arial"/>
              </a:rPr>
              <a:t>McKinsey article on O&amp;G sector operating model</a:t>
            </a:r>
          </a:p>
        </p:txBody>
      </p:sp>
      <p:sp>
        <p:nvSpPr>
          <p:cNvPr id="160" name="RetirementBacklogCallout"/>
          <p:cNvSpPr txBox="1"/>
          <p:nvPr/>
        </p:nvSpPr>
        <p:spPr>
          <a:xfrm>
            <a:off x="1162202" y="4783226"/>
            <a:ext cx="1839773" cy="512978"/>
          </a:xfrm>
          <a:prstGeom prst="wedgeRectCallout">
            <a:avLst>
              <a:gd name="adj1" fmla="val -60475"/>
              <a:gd name="adj2" fmla="val 8630"/>
            </a:avLst>
          </a:prstGeom>
          <a:solidFill>
            <a:srgbClr val="FFFFFF"/>
          </a:solidFill>
          <a:ln w="12700">
            <a:solidFill>
              <a:srgbClr val="121415"/>
            </a:solid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Retirement backlog suggests owners likely to keep vessels in service despite age</a:t>
            </a:r>
          </a:p>
        </p:txBody>
      </p:sp>
      <p:sp>
        <p:nvSpPr>
          <p:cNvPr id="161" name="SerialProductionGlyph"/>
          <p:cNvSpPr txBox="1"/>
          <p:nvPr/>
        </p:nvSpPr>
        <p:spPr>
          <a:xfrm>
            <a:off x="9544507" y="1085393"/>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7770"/>
                </a:solidFill>
                <a:latin typeface="Arial"/>
                <a:ea typeface="Arial"/>
                <a:cs typeface="Arial"/>
              </a:rPr>
              <a:t>#</a:t>
            </a:r>
          </a:p>
        </p:txBody>
      </p:sp>
      <p:sp>
        <p:nvSpPr>
          <p:cNvPr id="162" name="SerialProductionLabel"/>
          <p:cNvSpPr txBox="1"/>
          <p:nvPr/>
        </p:nvSpPr>
        <p:spPr>
          <a:xfrm>
            <a:off x="9778594" y="1097280"/>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Supports serial production</a:t>
            </a:r>
          </a:p>
        </p:txBody>
      </p:sp>
      <p:sp>
        <p:nvSpPr>
          <p:cNvPr id="163" name="SerialProductionGlyph"/>
          <p:cNvSpPr txBox="1"/>
          <p:nvPr/>
        </p:nvSpPr>
        <p:spPr>
          <a:xfrm>
            <a:off x="9544507" y="1306678"/>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0000"/>
                </a:solidFill>
                <a:latin typeface="Arial"/>
                <a:ea typeface="Arial"/>
                <a:cs typeface="Arial"/>
              </a:rPr>
              <a:t>#</a:t>
            </a:r>
          </a:p>
        </p:txBody>
      </p:sp>
      <p:sp>
        <p:nvSpPr>
          <p:cNvPr id="164" name="SerialProductionLabel"/>
          <p:cNvSpPr txBox="1"/>
          <p:nvPr/>
        </p:nvSpPr>
        <p:spPr>
          <a:xfrm>
            <a:off x="9778594" y="1318565"/>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Potentially supports serial production</a:t>
            </a:r>
          </a:p>
        </p:txBody>
      </p:sp>
      <p:sp>
        <p:nvSpPr>
          <p:cNvPr id="165" name="TakeawayBanner"/>
          <p:cNvSpPr txBox="1"/>
          <p:nvPr/>
        </p:nvSpPr>
        <p:spPr>
          <a:xfrm>
            <a:off x="7123176" y="5168189"/>
            <a:ext cx="4657954" cy="621792"/>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Achieving PSV serial production requires capturing 60%+ of the market; potential to serve international demand as US remains competitive in OSVs</a:t>
            </a:r>
          </a:p>
        </p:txBody>
      </p:sp>
      <p:sp>
        <p:nvSpPr>
          <p:cNvPr id="166"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US-Flagged, US-Built Fleet Overview | Entire US-flagged and US-built fleet (~6.6M GT) is less than 1 year’s capacity target (10M GT); addressable fleet is ~3.9M GT.</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2009851" y="1790395"/>
          <a:ext cx="4917643" cy="3787445"/>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2087575" y="1614830"/>
            <a:ext cx="456925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US-Flagged, US-Built Fleet Composition by Gross Tonnage (GT in millions)</a:t>
            </a:r>
            <a:r>
              <a:rPr lang="en-US" sz="1000" b="1" dirty="0">
                <a:solidFill>
                  <a:srgbClr val="000000"/>
                </a:solidFill>
                <a:latin typeface="Arial"/>
                <a:ea typeface="Arial"/>
                <a:cs typeface="Arial"/>
              </a:rPr>
              <a:t>1</a:t>
            </a:r>
          </a:p>
        </p:txBody>
      </p:sp>
      <p:sp>
        <p:nvSpPr>
          <p:cNvPr id="102" name="CategoryTickLabel"/>
          <p:cNvSpPr txBox="1"/>
          <p:nvPr/>
        </p:nvSpPr>
        <p:spPr>
          <a:xfrm>
            <a:off x="1725473" y="2098548"/>
            <a:ext cx="280721"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Total</a:t>
            </a:r>
          </a:p>
        </p:txBody>
      </p:sp>
      <p:sp>
        <p:nvSpPr>
          <p:cNvPr id="103" name="CategoryTickLabel"/>
          <p:cNvSpPr txBox="1"/>
          <p:nvPr/>
        </p:nvSpPr>
        <p:spPr>
          <a:xfrm>
            <a:off x="592531" y="2702052"/>
            <a:ext cx="1414577"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Commercial</a:t>
            </a:r>
          </a:p>
        </p:txBody>
      </p:sp>
      <p:sp>
        <p:nvSpPr>
          <p:cNvPr id="104" name="CategoryTickLabel"/>
          <p:cNvSpPr txBox="1"/>
          <p:nvPr/>
        </p:nvSpPr>
        <p:spPr>
          <a:xfrm>
            <a:off x="606247" y="3306470"/>
            <a:ext cx="1399946"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Great Lakes Commercial</a:t>
            </a:r>
          </a:p>
        </p:txBody>
      </p:sp>
      <p:sp>
        <p:nvSpPr>
          <p:cNvPr id="105" name="CategoryTickLabel"/>
          <p:cNvSpPr txBox="1"/>
          <p:nvPr/>
        </p:nvSpPr>
        <p:spPr>
          <a:xfrm>
            <a:off x="785470" y="3909974"/>
            <a:ext cx="122072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Offshore</a:t>
            </a:r>
          </a:p>
        </p:txBody>
      </p:sp>
      <p:sp>
        <p:nvSpPr>
          <p:cNvPr id="106" name="CategoryTickLabel"/>
          <p:cNvSpPr txBox="1"/>
          <p:nvPr/>
        </p:nvSpPr>
        <p:spPr>
          <a:xfrm>
            <a:off x="511150" y="4513478"/>
            <a:ext cx="149504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Non-Addressable Offshore</a:t>
            </a:r>
          </a:p>
        </p:txBody>
      </p:sp>
      <p:sp>
        <p:nvSpPr>
          <p:cNvPr id="107" name="CategoryTickLabel"/>
          <p:cNvSpPr txBox="1"/>
          <p:nvPr/>
        </p:nvSpPr>
        <p:spPr>
          <a:xfrm>
            <a:off x="1087222" y="5117897"/>
            <a:ext cx="918972"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Other Segments</a:t>
            </a:r>
          </a:p>
        </p:txBody>
      </p:sp>
      <p:sp>
        <p:nvSpPr>
          <p:cNvPr id="108" name="BarValueLabel"/>
          <p:cNvSpPr txBox="1"/>
          <p:nvPr/>
        </p:nvSpPr>
        <p:spPr>
          <a:xfrm>
            <a:off x="6870802" y="209854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6.6</a:t>
            </a:r>
          </a:p>
        </p:txBody>
      </p:sp>
      <p:sp>
        <p:nvSpPr>
          <p:cNvPr id="109" name="BarValueLabel"/>
          <p:cNvSpPr txBox="1"/>
          <p:nvPr/>
        </p:nvSpPr>
        <p:spPr>
          <a:xfrm>
            <a:off x="4518050" y="2702052"/>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3.3</a:t>
            </a:r>
          </a:p>
        </p:txBody>
      </p:sp>
      <p:sp>
        <p:nvSpPr>
          <p:cNvPr id="110" name="BarValueLabel"/>
          <p:cNvSpPr txBox="1"/>
          <p:nvPr/>
        </p:nvSpPr>
        <p:spPr>
          <a:xfrm>
            <a:off x="2648102" y="3306470"/>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0.7</a:t>
            </a:r>
          </a:p>
        </p:txBody>
      </p:sp>
      <p:sp>
        <p:nvSpPr>
          <p:cNvPr id="111" name="BarValueLabel"/>
          <p:cNvSpPr txBox="1"/>
          <p:nvPr/>
        </p:nvSpPr>
        <p:spPr>
          <a:xfrm>
            <a:off x="2565806" y="3909974"/>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0.6</a:t>
            </a:r>
          </a:p>
        </p:txBody>
      </p:sp>
      <p:sp>
        <p:nvSpPr>
          <p:cNvPr id="112" name="BarValueLabel"/>
          <p:cNvSpPr txBox="1"/>
          <p:nvPr/>
        </p:nvSpPr>
        <p:spPr>
          <a:xfrm>
            <a:off x="2357323" y="451347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0.3</a:t>
            </a:r>
          </a:p>
        </p:txBody>
      </p:sp>
      <p:sp>
        <p:nvSpPr>
          <p:cNvPr id="113" name="BarValueLabel"/>
          <p:cNvSpPr txBox="1"/>
          <p:nvPr/>
        </p:nvSpPr>
        <p:spPr>
          <a:xfrm>
            <a:off x="3251606" y="5117897"/>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1.6</a:t>
            </a:r>
          </a:p>
        </p:txBody>
      </p:sp>
      <p:sp>
        <p:nvSpPr>
          <p:cNvPr id="114" name="SourceNote"/>
          <p:cNvSpPr txBox="1"/>
          <p:nvPr/>
        </p:nvSpPr>
        <p:spPr>
          <a:xfrm>
            <a:off x="452628" y="6094476"/>
            <a:ext cx="11308385" cy="303581"/>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 of January 2026; Addressable Commercial defined as oceangoing vessels</a:t>
            </a:r>
            <a:br/>
            <a:r>
              <a:rPr lang="en-US" sz="800" dirty="0">
                <a:solidFill>
                  <a:srgbClr val="000000"/>
                </a:solidFill>
                <a:latin typeface="Arial"/>
                <a:ea typeface="Arial"/>
                <a:cs typeface="Arial"/>
              </a:rPr>
              <a:t>Source: Clarksons (US fleet size and GT data)</a:t>
            </a:r>
          </a:p>
        </p:txBody>
      </p:sp>
      <p:sp>
        <p:nvSpPr>
          <p:cNvPr id="115" name="KpiComparisonCard"/>
          <p:cNvSpPr txBox="1"/>
          <p:nvPr/>
        </p:nvSpPr>
        <p:spPr>
          <a:xfrm>
            <a:off x="7349947" y="1613002"/>
            <a:ext cx="1340510" cy="914400"/>
          </a:xfrm>
          <a:prstGeom prst="rect">
            <a:avLst/>
          </a:prstGeom>
          <a:solidFill>
            <a:srgbClr val="F2F2F2"/>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2800" b="1" dirty="0">
                <a:solidFill>
                  <a:srgbClr val="000000"/>
                </a:solidFill>
                <a:latin typeface="Arial"/>
                <a:ea typeface="Arial"/>
                <a:cs typeface="Arial"/>
              </a:rPr>
              <a:t>10M</a:t>
            </a:r>
          </a:p>
          <a:p>
            <a:pPr algn="ctr">
              <a:lnSpc>
                <a:spcPct val="100000"/>
              </a:lnSpc>
              <a:buNone/>
            </a:pPr>
            <a:r>
              <a:rPr lang="en-US" sz="1600" dirty="0">
                <a:solidFill>
                  <a:srgbClr val="000000"/>
                </a:solidFill>
                <a:latin typeface="Arial"/>
                <a:ea typeface="Arial"/>
                <a:cs typeface="Arial"/>
              </a:rPr>
              <a:t>Gross tons</a:t>
            </a:r>
          </a:p>
        </p:txBody>
      </p:sp>
      <p:sp>
        <p:nvSpPr>
          <p:cNvPr id="116" name="KpiComparisonCard"/>
          <p:cNvSpPr txBox="1"/>
          <p:nvPr/>
        </p:nvSpPr>
        <p:spPr>
          <a:xfrm>
            <a:off x="7349947" y="2687422"/>
            <a:ext cx="1340510" cy="914400"/>
          </a:xfrm>
          <a:prstGeom prst="rect">
            <a:avLst/>
          </a:prstGeom>
          <a:solidFill>
            <a:srgbClr val="F2F2F2"/>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~6.6M</a:t>
            </a:r>
          </a:p>
          <a:p>
            <a:pPr algn="ctr">
              <a:lnSpc>
                <a:spcPct val="100000"/>
              </a:lnSpc>
              <a:buNone/>
            </a:pPr>
            <a:r>
              <a:rPr lang="en-US" sz="1600" dirty="0">
                <a:solidFill>
                  <a:srgbClr val="000000"/>
                </a:solidFill>
                <a:latin typeface="Arial"/>
                <a:ea typeface="Arial"/>
                <a:cs typeface="Arial"/>
              </a:rPr>
              <a:t>Gross tons</a:t>
            </a:r>
          </a:p>
        </p:txBody>
      </p:sp>
      <p:sp>
        <p:nvSpPr>
          <p:cNvPr id="117" name="KpiComparisonCard"/>
          <p:cNvSpPr txBox="1"/>
          <p:nvPr/>
        </p:nvSpPr>
        <p:spPr>
          <a:xfrm>
            <a:off x="7349947" y="3760927"/>
            <a:ext cx="1340510" cy="914400"/>
          </a:xfrm>
          <a:prstGeom prst="rect">
            <a:avLst/>
          </a:prstGeom>
          <a:solidFill>
            <a:srgbClr val="F2F2F2"/>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~3.9M</a:t>
            </a:r>
          </a:p>
          <a:p>
            <a:pPr algn="ctr">
              <a:lnSpc>
                <a:spcPct val="100000"/>
              </a:lnSpc>
              <a:buNone/>
            </a:pPr>
            <a:r>
              <a:rPr lang="en-US" sz="1600" dirty="0">
                <a:solidFill>
                  <a:srgbClr val="000000"/>
                </a:solidFill>
                <a:latin typeface="Arial"/>
                <a:ea typeface="Arial"/>
                <a:cs typeface="Arial"/>
              </a:rPr>
              <a:t>Gross tons</a:t>
            </a:r>
          </a:p>
        </p:txBody>
      </p:sp>
      <p:sp>
        <p:nvSpPr>
          <p:cNvPr id="118" name="KpiComparisonNote"/>
          <p:cNvSpPr txBox="1"/>
          <p:nvPr/>
        </p:nvSpPr>
        <p:spPr>
          <a:xfrm>
            <a:off x="8690458" y="161300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Annual target</a:t>
            </a:r>
          </a:p>
        </p:txBody>
      </p:sp>
      <p:sp>
        <p:nvSpPr>
          <p:cNvPr id="119" name="KpiComparisonNote"/>
          <p:cNvSpPr txBox="1"/>
          <p:nvPr/>
        </p:nvSpPr>
        <p:spPr>
          <a:xfrm>
            <a:off x="8690458" y="268742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Current US-flagged, US-built fleet gross tonnage</a:t>
            </a:r>
          </a:p>
        </p:txBody>
      </p:sp>
      <p:sp>
        <p:nvSpPr>
          <p:cNvPr id="120" name="KpiComparisonNote"/>
          <p:cNvSpPr txBox="1"/>
          <p:nvPr/>
        </p:nvSpPr>
        <p:spPr>
          <a:xfrm>
            <a:off x="8690458" y="3760927"/>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Addressable Commercial and Offshore gross tonnage</a:t>
            </a:r>
          </a:p>
        </p:txBody>
      </p:sp>
      <p:sp>
        <p:nvSpPr>
          <p:cNvPr id="121" name="KpiComparisonNote"/>
          <p:cNvSpPr txBox="1"/>
          <p:nvPr/>
        </p:nvSpPr>
        <p:spPr>
          <a:xfrm>
            <a:off x="7349947" y="4835347"/>
            <a:ext cx="4349801" cy="914400"/>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Reaching throughput target requires rebuilding the entire fleet 1.5x every year</a:t>
            </a:r>
          </a:p>
        </p:txBody>
      </p:sp>
      <p:sp>
        <p:nvSpPr>
          <p:cNvPr id="122" name="AddressabilityLegendFrame"/>
          <p:cNvSpPr txBox="1"/>
          <p:nvPr/>
        </p:nvSpPr>
        <p:spPr>
          <a:xfrm>
            <a:off x="5038344" y="4345229"/>
            <a:ext cx="1923898" cy="1168603"/>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23" name="AddressabilityLegendTitle"/>
          <p:cNvSpPr txBox="1"/>
          <p:nvPr/>
        </p:nvSpPr>
        <p:spPr>
          <a:xfrm>
            <a:off x="5483657" y="4265676"/>
            <a:ext cx="1033272" cy="160020"/>
          </a:xfrm>
          <a:prstGeom prst="rect">
            <a:avLst/>
          </a:prstGeom>
          <a:solidFill>
            <a:srgbClr val="FFFFFF"/>
          </a:solidFill>
          <a:ln>
            <a:noFill/>
          </a:ln>
        </p:spPr>
        <p:txBody>
          <a:bodyPr wrap="square" anchor="ctr" lIns="91440" tIns="45720" rIns="91440" bIns="45720"/>
          <a:lstStyle/>
          <a:p>
            <a:pPr algn="ctr" marL="0" indent="0">
              <a:lnSpc>
                <a:spcPct val="100000"/>
              </a:lnSpc>
              <a:buNone/>
            </a:pPr>
            <a:r>
              <a:rPr lang="en-US" sz="1000" i="1" dirty="0">
                <a:solidFill>
                  <a:srgbClr val="000000"/>
                </a:solidFill>
                <a:latin typeface="Arial"/>
                <a:ea typeface="Arial"/>
                <a:cs typeface="Arial"/>
              </a:rPr>
              <a:t>Addressability</a:t>
            </a:r>
          </a:p>
        </p:txBody>
      </p:sp>
      <p:sp>
        <p:nvSpPr>
          <p:cNvPr id="124" name="LegendSwatch"/>
          <p:cNvSpPr txBox="1"/>
          <p:nvPr/>
        </p:nvSpPr>
        <p:spPr>
          <a:xfrm>
            <a:off x="5149901" y="448513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5" name="LegendSwatch"/>
          <p:cNvSpPr txBox="1"/>
          <p:nvPr/>
        </p:nvSpPr>
        <p:spPr>
          <a:xfrm>
            <a:off x="5149901" y="468812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26" name="LegendSwatch"/>
          <p:cNvSpPr txBox="1"/>
          <p:nvPr/>
        </p:nvSpPr>
        <p:spPr>
          <a:xfrm>
            <a:off x="5149901" y="489112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7" name="LegendSwatch"/>
          <p:cNvSpPr txBox="1"/>
          <p:nvPr/>
        </p:nvSpPr>
        <p:spPr>
          <a:xfrm>
            <a:off x="5149901" y="5094122"/>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8" name="LegendSwatch"/>
          <p:cNvSpPr txBox="1"/>
          <p:nvPr/>
        </p:nvSpPr>
        <p:spPr>
          <a:xfrm>
            <a:off x="5149901" y="5297119"/>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9" name="LegendLabel"/>
          <p:cNvSpPr txBox="1"/>
          <p:nvPr/>
        </p:nvSpPr>
        <p:spPr>
          <a:xfrm>
            <a:off x="5380330" y="4479646"/>
            <a:ext cx="141457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a:t>
            </a:r>
          </a:p>
        </p:txBody>
      </p:sp>
      <p:sp>
        <p:nvSpPr>
          <p:cNvPr id="130" name="LegendLabel"/>
          <p:cNvSpPr txBox="1"/>
          <p:nvPr/>
        </p:nvSpPr>
        <p:spPr>
          <a:xfrm>
            <a:off x="5380330" y="4683557"/>
            <a:ext cx="122072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a:t>
            </a:r>
          </a:p>
        </p:txBody>
      </p:sp>
      <p:sp>
        <p:nvSpPr>
          <p:cNvPr id="131" name="LegendLabel"/>
          <p:cNvSpPr txBox="1"/>
          <p:nvPr/>
        </p:nvSpPr>
        <p:spPr>
          <a:xfrm>
            <a:off x="5380330" y="4886554"/>
            <a:ext cx="13999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Great Lakes Commercial</a:t>
            </a:r>
          </a:p>
        </p:txBody>
      </p:sp>
      <p:sp>
        <p:nvSpPr>
          <p:cNvPr id="132" name="LegendLabel"/>
          <p:cNvSpPr txBox="1"/>
          <p:nvPr/>
        </p:nvSpPr>
        <p:spPr>
          <a:xfrm>
            <a:off x="5380330" y="5089550"/>
            <a:ext cx="14950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Non-Addressable Offshore</a:t>
            </a:r>
          </a:p>
        </p:txBody>
      </p:sp>
      <p:sp>
        <p:nvSpPr>
          <p:cNvPr id="133" name="LegendLabel"/>
          <p:cNvSpPr txBox="1"/>
          <p:nvPr/>
        </p:nvSpPr>
        <p:spPr>
          <a:xfrm>
            <a:off x="5380330" y="5292547"/>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Segments</a:t>
            </a:r>
          </a:p>
        </p:txBody>
      </p:sp>
      <p:sp>
        <p:nvSpPr>
          <p:cNvPr id="134"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Fleet Outlook | Following completion of orderbook deliveries, fleet is expected to shrink by ~144K GT p.a. ’31-’50 (&lt;2% of 10M GT target).</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OrderbookDataBand"/>
          <p:cNvSpPr txBox="1"/>
          <p:nvPr/>
        </p:nvSpPr>
        <p:spPr>
          <a:xfrm>
            <a:off x="868680" y="1923898"/>
            <a:ext cx="1995221" cy="3836822"/>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p>
        </p:txBody>
      </p:sp>
      <p:graphicFrame>
        <p:nvGraphicFramePr>
          <p:cNvPr id="101" name="Chart"/>
          <p:cNvGraphicFramePr/>
          <p:nvPr/>
        </p:nvGraphicFramePr>
        <p:xfrm>
          <a:off x="790956" y="1849831"/>
          <a:ext cx="10115093" cy="3799332"/>
        </p:xfrm>
        <a:graphic>
          <a:graphicData uri="http://schemas.openxmlformats.org/drawingml/2006/chart">
            <c:chart xmlns:c="http://schemas.openxmlformats.org/drawingml/2006/chart" xmlns:r="http://schemas.openxmlformats.org/officeDocument/2006/relationships" r:id="rId2"/>
          </a:graphicData>
        </a:graphic>
      </p:graphicFrame>
      <p:sp>
        <p:nvSpPr>
          <p:cNvPr id="102" name="ValueAxisTickLabel"/>
          <p:cNvSpPr txBox="1"/>
          <p:nvPr/>
        </p:nvSpPr>
        <p:spPr>
          <a:xfrm>
            <a:off x="491947" y="548914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03" name="ValueAxisTickLabel"/>
          <p:cNvSpPr txBox="1"/>
          <p:nvPr/>
        </p:nvSpPr>
        <p:spPr>
          <a:xfrm>
            <a:off x="491947" y="523036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04" name="ValueAxisTickLabel"/>
          <p:cNvSpPr txBox="1"/>
          <p:nvPr/>
        </p:nvSpPr>
        <p:spPr>
          <a:xfrm>
            <a:off x="491947" y="497067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05" name="ValueAxisTickLabel"/>
          <p:cNvSpPr txBox="1"/>
          <p:nvPr/>
        </p:nvSpPr>
        <p:spPr>
          <a:xfrm>
            <a:off x="491947" y="471190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06" name="ValueAxisTickLabel"/>
          <p:cNvSpPr txBox="1"/>
          <p:nvPr/>
        </p:nvSpPr>
        <p:spPr>
          <a:xfrm>
            <a:off x="491947" y="4451299"/>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07" name="ValueAxisTickLabel"/>
          <p:cNvSpPr txBox="1"/>
          <p:nvPr/>
        </p:nvSpPr>
        <p:spPr>
          <a:xfrm>
            <a:off x="491947" y="4192524"/>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08" name="ValueAxisTickLabel"/>
          <p:cNvSpPr txBox="1"/>
          <p:nvPr/>
        </p:nvSpPr>
        <p:spPr>
          <a:xfrm>
            <a:off x="562356" y="3931920"/>
            <a:ext cx="182880"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09" name="ValueAxisTickLabel"/>
          <p:cNvSpPr txBox="1"/>
          <p:nvPr/>
        </p:nvSpPr>
        <p:spPr>
          <a:xfrm>
            <a:off x="674827" y="3673145"/>
            <a:ext cx="6949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0</a:t>
            </a:r>
          </a:p>
        </p:txBody>
      </p:sp>
      <p:sp>
        <p:nvSpPr>
          <p:cNvPr id="110" name="ValueAxisTickLabel"/>
          <p:cNvSpPr txBox="1"/>
          <p:nvPr/>
        </p:nvSpPr>
        <p:spPr>
          <a:xfrm>
            <a:off x="604418" y="3413455"/>
            <a:ext cx="139903"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11" name="ValueAxisTickLabel"/>
          <p:cNvSpPr txBox="1"/>
          <p:nvPr/>
        </p:nvSpPr>
        <p:spPr>
          <a:xfrm>
            <a:off x="534924" y="3154680"/>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12" name="ValueAxisTickLabel"/>
          <p:cNvSpPr txBox="1"/>
          <p:nvPr/>
        </p:nvSpPr>
        <p:spPr>
          <a:xfrm>
            <a:off x="534924" y="2894076"/>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13" name="ValueAxisTickLabel"/>
          <p:cNvSpPr txBox="1"/>
          <p:nvPr/>
        </p:nvSpPr>
        <p:spPr>
          <a:xfrm>
            <a:off x="534924" y="2635301"/>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14" name="ValueAxisTickLabel"/>
          <p:cNvSpPr txBox="1"/>
          <p:nvPr/>
        </p:nvSpPr>
        <p:spPr>
          <a:xfrm>
            <a:off x="534924" y="2374697"/>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15" name="ValueAxisTickLabel"/>
          <p:cNvSpPr txBox="1"/>
          <p:nvPr/>
        </p:nvSpPr>
        <p:spPr>
          <a:xfrm>
            <a:off x="534924" y="211592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16" name="ValueAxisTickLabel"/>
          <p:cNvSpPr txBox="1"/>
          <p:nvPr/>
        </p:nvSpPr>
        <p:spPr>
          <a:xfrm>
            <a:off x="534924" y="185623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17" name="YearTickLabel"/>
          <p:cNvSpPr txBox="1"/>
          <p:nvPr/>
        </p:nvSpPr>
        <p:spPr>
          <a:xfrm>
            <a:off x="92537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2026</a:t>
            </a:r>
          </a:p>
        </p:txBody>
      </p:sp>
      <p:sp>
        <p:nvSpPr>
          <p:cNvPr id="118" name="YearTickLabel"/>
          <p:cNvSpPr txBox="1"/>
          <p:nvPr/>
        </p:nvSpPr>
        <p:spPr>
          <a:xfrm>
            <a:off x="132222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2027</a:t>
            </a:r>
          </a:p>
        </p:txBody>
      </p:sp>
      <p:sp>
        <p:nvSpPr>
          <p:cNvPr id="119" name="YearTickLabel"/>
          <p:cNvSpPr txBox="1"/>
          <p:nvPr/>
        </p:nvSpPr>
        <p:spPr>
          <a:xfrm>
            <a:off x="172090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2028</a:t>
            </a:r>
          </a:p>
        </p:txBody>
      </p:sp>
      <p:sp>
        <p:nvSpPr>
          <p:cNvPr id="120" name="YearTickLabel"/>
          <p:cNvSpPr txBox="1"/>
          <p:nvPr/>
        </p:nvSpPr>
        <p:spPr>
          <a:xfrm>
            <a:off x="211957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2029</a:t>
            </a:r>
          </a:p>
        </p:txBody>
      </p:sp>
      <p:sp>
        <p:nvSpPr>
          <p:cNvPr id="121" name="YearTickLabel"/>
          <p:cNvSpPr txBox="1"/>
          <p:nvPr/>
        </p:nvSpPr>
        <p:spPr>
          <a:xfrm>
            <a:off x="251734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2030</a:t>
            </a:r>
          </a:p>
        </p:txBody>
      </p:sp>
      <p:sp>
        <p:nvSpPr>
          <p:cNvPr id="122" name="YearTickLabel"/>
          <p:cNvSpPr txBox="1"/>
          <p:nvPr/>
        </p:nvSpPr>
        <p:spPr>
          <a:xfrm>
            <a:off x="291510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2031</a:t>
            </a:r>
          </a:p>
        </p:txBody>
      </p:sp>
      <p:sp>
        <p:nvSpPr>
          <p:cNvPr id="123" name="YearTickLabel"/>
          <p:cNvSpPr txBox="1"/>
          <p:nvPr/>
        </p:nvSpPr>
        <p:spPr>
          <a:xfrm>
            <a:off x="331287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2032</a:t>
            </a:r>
          </a:p>
        </p:txBody>
      </p:sp>
      <p:sp>
        <p:nvSpPr>
          <p:cNvPr id="124" name="YearTickLabel"/>
          <p:cNvSpPr txBox="1"/>
          <p:nvPr/>
        </p:nvSpPr>
        <p:spPr>
          <a:xfrm>
            <a:off x="371155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2033</a:t>
            </a:r>
          </a:p>
        </p:txBody>
      </p:sp>
      <p:sp>
        <p:nvSpPr>
          <p:cNvPr id="125" name="YearTickLabel"/>
          <p:cNvSpPr txBox="1"/>
          <p:nvPr/>
        </p:nvSpPr>
        <p:spPr>
          <a:xfrm>
            <a:off x="410839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2034</a:t>
            </a:r>
          </a:p>
        </p:txBody>
      </p:sp>
      <p:sp>
        <p:nvSpPr>
          <p:cNvPr id="126" name="YearTickLabel"/>
          <p:cNvSpPr txBox="1"/>
          <p:nvPr/>
        </p:nvSpPr>
        <p:spPr>
          <a:xfrm>
            <a:off x="450707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2035</a:t>
            </a:r>
          </a:p>
        </p:txBody>
      </p:sp>
      <p:sp>
        <p:nvSpPr>
          <p:cNvPr id="127" name="YearTickLabel"/>
          <p:cNvSpPr txBox="1"/>
          <p:nvPr/>
        </p:nvSpPr>
        <p:spPr>
          <a:xfrm>
            <a:off x="490575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2036</a:t>
            </a:r>
          </a:p>
        </p:txBody>
      </p:sp>
      <p:sp>
        <p:nvSpPr>
          <p:cNvPr id="128" name="YearTickLabel"/>
          <p:cNvSpPr txBox="1"/>
          <p:nvPr/>
        </p:nvSpPr>
        <p:spPr>
          <a:xfrm>
            <a:off x="530352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2037</a:t>
            </a:r>
          </a:p>
        </p:txBody>
      </p:sp>
      <p:sp>
        <p:nvSpPr>
          <p:cNvPr id="129" name="YearTickLabel"/>
          <p:cNvSpPr txBox="1"/>
          <p:nvPr/>
        </p:nvSpPr>
        <p:spPr>
          <a:xfrm>
            <a:off x="570037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2038</a:t>
            </a:r>
          </a:p>
        </p:txBody>
      </p:sp>
      <p:sp>
        <p:nvSpPr>
          <p:cNvPr id="130" name="YearTickLabel"/>
          <p:cNvSpPr txBox="1"/>
          <p:nvPr/>
        </p:nvSpPr>
        <p:spPr>
          <a:xfrm>
            <a:off x="609904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2039</a:t>
            </a:r>
          </a:p>
        </p:txBody>
      </p:sp>
      <p:sp>
        <p:nvSpPr>
          <p:cNvPr id="131" name="YearTickLabel"/>
          <p:cNvSpPr txBox="1"/>
          <p:nvPr/>
        </p:nvSpPr>
        <p:spPr>
          <a:xfrm>
            <a:off x="649772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2040</a:t>
            </a:r>
          </a:p>
        </p:txBody>
      </p:sp>
      <p:sp>
        <p:nvSpPr>
          <p:cNvPr id="132" name="YearTickLabel"/>
          <p:cNvSpPr txBox="1"/>
          <p:nvPr/>
        </p:nvSpPr>
        <p:spPr>
          <a:xfrm>
            <a:off x="689640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2041</a:t>
            </a:r>
          </a:p>
        </p:txBody>
      </p:sp>
      <p:sp>
        <p:nvSpPr>
          <p:cNvPr id="133" name="YearTickLabel"/>
          <p:cNvSpPr txBox="1"/>
          <p:nvPr/>
        </p:nvSpPr>
        <p:spPr>
          <a:xfrm>
            <a:off x="7293254"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2042</a:t>
            </a:r>
          </a:p>
        </p:txBody>
      </p:sp>
      <p:sp>
        <p:nvSpPr>
          <p:cNvPr id="134" name="YearTickLabel"/>
          <p:cNvSpPr txBox="1"/>
          <p:nvPr/>
        </p:nvSpPr>
        <p:spPr>
          <a:xfrm>
            <a:off x="769101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2043</a:t>
            </a:r>
          </a:p>
        </p:txBody>
      </p:sp>
      <p:sp>
        <p:nvSpPr>
          <p:cNvPr id="135" name="YearTickLabel"/>
          <p:cNvSpPr txBox="1"/>
          <p:nvPr/>
        </p:nvSpPr>
        <p:spPr>
          <a:xfrm>
            <a:off x="808969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2044</a:t>
            </a:r>
          </a:p>
        </p:txBody>
      </p:sp>
      <p:sp>
        <p:nvSpPr>
          <p:cNvPr id="136" name="YearTickLabel"/>
          <p:cNvSpPr txBox="1"/>
          <p:nvPr/>
        </p:nvSpPr>
        <p:spPr>
          <a:xfrm>
            <a:off x="848654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2045</a:t>
            </a:r>
          </a:p>
        </p:txBody>
      </p:sp>
      <p:sp>
        <p:nvSpPr>
          <p:cNvPr id="137" name="YearTickLabel"/>
          <p:cNvSpPr txBox="1"/>
          <p:nvPr/>
        </p:nvSpPr>
        <p:spPr>
          <a:xfrm>
            <a:off x="888522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2046</a:t>
            </a:r>
          </a:p>
        </p:txBody>
      </p:sp>
      <p:sp>
        <p:nvSpPr>
          <p:cNvPr id="138" name="YearTickLabel"/>
          <p:cNvSpPr txBox="1"/>
          <p:nvPr/>
        </p:nvSpPr>
        <p:spPr>
          <a:xfrm>
            <a:off x="928390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2047</a:t>
            </a:r>
          </a:p>
        </p:txBody>
      </p:sp>
      <p:sp>
        <p:nvSpPr>
          <p:cNvPr id="139" name="YearTickLabel"/>
          <p:cNvSpPr txBox="1"/>
          <p:nvPr/>
        </p:nvSpPr>
        <p:spPr>
          <a:xfrm>
            <a:off x="968258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2048</a:t>
            </a:r>
          </a:p>
        </p:txBody>
      </p:sp>
      <p:sp>
        <p:nvSpPr>
          <p:cNvPr id="140" name="YearTickLabel"/>
          <p:cNvSpPr txBox="1"/>
          <p:nvPr/>
        </p:nvSpPr>
        <p:spPr>
          <a:xfrm>
            <a:off x="1007943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2049</a:t>
            </a:r>
          </a:p>
        </p:txBody>
      </p:sp>
      <p:sp>
        <p:nvSpPr>
          <p:cNvPr id="141" name="YearTickLabel"/>
          <p:cNvSpPr txBox="1"/>
          <p:nvPr/>
        </p:nvSpPr>
        <p:spPr>
          <a:xfrm>
            <a:off x="1047719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2050</a:t>
            </a:r>
          </a:p>
        </p:txBody>
      </p:sp>
      <p:sp>
        <p:nvSpPr>
          <p:cNvPr id="142" name="NetTotalLabel"/>
          <p:cNvSpPr txBox="1"/>
          <p:nvPr/>
        </p:nvSpPr>
        <p:spPr>
          <a:xfrm>
            <a:off x="929030" y="486095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3" name="NetTotalLabel"/>
          <p:cNvSpPr txBox="1"/>
          <p:nvPr/>
        </p:nvSpPr>
        <p:spPr>
          <a:xfrm>
            <a:off x="2952598" y="38276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TotalLabel"/>
          <p:cNvSpPr txBox="1"/>
          <p:nvPr/>
        </p:nvSpPr>
        <p:spPr>
          <a:xfrm>
            <a:off x="3351276" y="421172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-84</a:t>
            </a:r>
          </a:p>
        </p:txBody>
      </p:sp>
      <p:sp>
        <p:nvSpPr>
          <p:cNvPr id="145" name="NetTotalLabel"/>
          <p:cNvSpPr txBox="1"/>
          <p:nvPr/>
        </p:nvSpPr>
        <p:spPr>
          <a:xfrm>
            <a:off x="3714293" y="441198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-123</a:t>
            </a:r>
          </a:p>
        </p:txBody>
      </p:sp>
      <p:sp>
        <p:nvSpPr>
          <p:cNvPr id="146" name="NetTotalLabel"/>
          <p:cNvSpPr txBox="1"/>
          <p:nvPr/>
        </p:nvSpPr>
        <p:spPr>
          <a:xfrm>
            <a:off x="4146804" y="41751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-77</a:t>
            </a:r>
          </a:p>
        </p:txBody>
      </p:sp>
      <p:sp>
        <p:nvSpPr>
          <p:cNvPr id="147" name="NetTotalLabel"/>
          <p:cNvSpPr txBox="1"/>
          <p:nvPr/>
        </p:nvSpPr>
        <p:spPr>
          <a:xfrm>
            <a:off x="4943246" y="42894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-99</a:t>
            </a:r>
          </a:p>
        </p:txBody>
      </p:sp>
      <p:sp>
        <p:nvSpPr>
          <p:cNvPr id="148" name="NetTotalLabel"/>
          <p:cNvSpPr txBox="1"/>
          <p:nvPr/>
        </p:nvSpPr>
        <p:spPr>
          <a:xfrm>
            <a:off x="5307178" y="4370832"/>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-115</a:t>
            </a:r>
          </a:p>
        </p:txBody>
      </p:sp>
      <p:sp>
        <p:nvSpPr>
          <p:cNvPr id="149" name="NetTotalLabel"/>
          <p:cNvSpPr txBox="1"/>
          <p:nvPr/>
        </p:nvSpPr>
        <p:spPr>
          <a:xfrm>
            <a:off x="5704027" y="43452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-110</a:t>
            </a:r>
          </a:p>
        </p:txBody>
      </p:sp>
      <p:sp>
        <p:nvSpPr>
          <p:cNvPr id="150" name="NetTotalLabel"/>
          <p:cNvSpPr txBox="1"/>
          <p:nvPr/>
        </p:nvSpPr>
        <p:spPr>
          <a:xfrm>
            <a:off x="6102706" y="492313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-221</a:t>
            </a:r>
          </a:p>
        </p:txBody>
      </p:sp>
      <p:sp>
        <p:nvSpPr>
          <p:cNvPr id="151" name="NetTotalLabel"/>
          <p:cNvSpPr txBox="1"/>
          <p:nvPr/>
        </p:nvSpPr>
        <p:spPr>
          <a:xfrm>
            <a:off x="6500470" y="51453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-264</a:t>
            </a:r>
          </a:p>
        </p:txBody>
      </p:sp>
      <p:sp>
        <p:nvSpPr>
          <p:cNvPr id="152" name="NetTotalLabel"/>
          <p:cNvSpPr txBox="1"/>
          <p:nvPr/>
        </p:nvSpPr>
        <p:spPr>
          <a:xfrm>
            <a:off x="6899148" y="4852721"/>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-208</a:t>
            </a:r>
          </a:p>
        </p:txBody>
      </p:sp>
      <p:sp>
        <p:nvSpPr>
          <p:cNvPr id="153" name="NetTotalLabel"/>
          <p:cNvSpPr txBox="1"/>
          <p:nvPr/>
        </p:nvSpPr>
        <p:spPr>
          <a:xfrm>
            <a:off x="7295998" y="4392778"/>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-119</a:t>
            </a:r>
          </a:p>
        </p:txBody>
      </p:sp>
      <p:sp>
        <p:nvSpPr>
          <p:cNvPr id="154" name="NetTotalLabel"/>
          <p:cNvSpPr txBox="1"/>
          <p:nvPr/>
        </p:nvSpPr>
        <p:spPr>
          <a:xfrm>
            <a:off x="4544568" y="384688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55" name="NetTotalLabel"/>
          <p:cNvSpPr txBox="1"/>
          <p:nvPr/>
        </p:nvSpPr>
        <p:spPr>
          <a:xfrm>
            <a:off x="8093354" y="5395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-312</a:t>
            </a:r>
          </a:p>
        </p:txBody>
      </p:sp>
      <p:sp>
        <p:nvSpPr>
          <p:cNvPr id="156" name="NetTotalLabel"/>
          <p:cNvSpPr txBox="1"/>
          <p:nvPr/>
        </p:nvSpPr>
        <p:spPr>
          <a:xfrm>
            <a:off x="8490204" y="520567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-276</a:t>
            </a:r>
          </a:p>
        </p:txBody>
      </p:sp>
      <p:sp>
        <p:nvSpPr>
          <p:cNvPr id="157" name="NetTotalLabel"/>
          <p:cNvSpPr txBox="1"/>
          <p:nvPr/>
        </p:nvSpPr>
        <p:spPr>
          <a:xfrm>
            <a:off x="8923630" y="424647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-91</a:t>
            </a:r>
          </a:p>
        </p:txBody>
      </p:sp>
      <p:sp>
        <p:nvSpPr>
          <p:cNvPr id="158" name="NetTotalLabel"/>
          <p:cNvSpPr txBox="1"/>
          <p:nvPr/>
        </p:nvSpPr>
        <p:spPr>
          <a:xfrm>
            <a:off x="9321394" y="41705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-76</a:t>
            </a:r>
          </a:p>
        </p:txBody>
      </p:sp>
      <p:sp>
        <p:nvSpPr>
          <p:cNvPr id="159" name="NetTotalLabel"/>
          <p:cNvSpPr txBox="1"/>
          <p:nvPr/>
        </p:nvSpPr>
        <p:spPr>
          <a:xfrm>
            <a:off x="9720072" y="40215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-48</a:t>
            </a:r>
          </a:p>
        </p:txBody>
      </p:sp>
      <p:sp>
        <p:nvSpPr>
          <p:cNvPr id="160" name="NetTotalLabel"/>
          <p:cNvSpPr txBox="1"/>
          <p:nvPr/>
        </p:nvSpPr>
        <p:spPr>
          <a:xfrm>
            <a:off x="10116922" y="41358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-70</a:t>
            </a:r>
          </a:p>
        </p:txBody>
      </p:sp>
      <p:sp>
        <p:nvSpPr>
          <p:cNvPr id="161" name="NetTotalLabel"/>
          <p:cNvSpPr txBox="1"/>
          <p:nvPr/>
        </p:nvSpPr>
        <p:spPr>
          <a:xfrm>
            <a:off x="10480853" y="4569257"/>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-153</a:t>
            </a:r>
          </a:p>
        </p:txBody>
      </p:sp>
      <p:sp>
        <p:nvSpPr>
          <p:cNvPr id="162" name="NetTotalLabel"/>
          <p:cNvSpPr txBox="1"/>
          <p:nvPr/>
        </p:nvSpPr>
        <p:spPr>
          <a:xfrm>
            <a:off x="7694676" y="5160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-267</a:t>
            </a:r>
          </a:p>
        </p:txBody>
      </p:sp>
      <p:sp>
        <p:nvSpPr>
          <p:cNvPr id="163" name="PositiveNetTotalLabel"/>
          <p:cNvSpPr txBox="1"/>
          <p:nvPr/>
        </p:nvSpPr>
        <p:spPr>
          <a:xfrm>
            <a:off x="1380744" y="307147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64" name="PositiveNetTotalLabel"/>
          <p:cNvSpPr txBox="1"/>
          <p:nvPr/>
        </p:nvSpPr>
        <p:spPr>
          <a:xfrm>
            <a:off x="1744675" y="241950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206</a:t>
            </a:r>
          </a:p>
        </p:txBody>
      </p:sp>
      <p:sp>
        <p:nvSpPr>
          <p:cNvPr id="165" name="PositiveNetTotalLabel"/>
          <p:cNvSpPr txBox="1"/>
          <p:nvPr/>
        </p:nvSpPr>
        <p:spPr>
          <a:xfrm>
            <a:off x="2143354"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244</a:t>
            </a:r>
          </a:p>
        </p:txBody>
      </p:sp>
      <p:sp>
        <p:nvSpPr>
          <p:cNvPr id="166" name="PositiveNetTotalLabel"/>
          <p:cNvSpPr txBox="1"/>
          <p:nvPr/>
        </p:nvSpPr>
        <p:spPr>
          <a:xfrm>
            <a:off x="2542032"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265</a:t>
            </a:r>
          </a:p>
        </p:txBody>
      </p:sp>
      <p:sp>
        <p:nvSpPr>
          <p:cNvPr id="167" name="ChartTitle"/>
          <p:cNvSpPr txBox="1"/>
          <p:nvPr/>
        </p:nvSpPr>
        <p:spPr>
          <a:xfrm>
            <a:off x="534924" y="1602029"/>
            <a:ext cx="757580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US-Flagged, US-Built Vessels (K GT, High and Partial Autonomy Fit Vessel Archetypes) </a:t>
            </a:r>
          </a:p>
        </p:txBody>
      </p:sp>
      <p:sp>
        <p:nvSpPr>
          <p:cNvPr id="168" name="LegendSwatch"/>
          <p:cNvSpPr txBox="1"/>
          <p:nvPr/>
        </p:nvSpPr>
        <p:spPr>
          <a:xfrm>
            <a:off x="9286646" y="1987906"/>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69" name="LegendSwatch"/>
          <p:cNvSpPr txBox="1"/>
          <p:nvPr/>
        </p:nvSpPr>
        <p:spPr>
          <a:xfrm>
            <a:off x="9286646" y="219090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70" name="LegendSwatch"/>
          <p:cNvSpPr txBox="1"/>
          <p:nvPr/>
        </p:nvSpPr>
        <p:spPr>
          <a:xfrm>
            <a:off x="9286646" y="239389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1" name="LegendSwatch"/>
          <p:cNvSpPr txBox="1"/>
          <p:nvPr/>
        </p:nvSpPr>
        <p:spPr>
          <a:xfrm>
            <a:off x="9286646" y="2596896"/>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2" name="LegendLabel"/>
          <p:cNvSpPr txBox="1"/>
          <p:nvPr/>
        </p:nvSpPr>
        <p:spPr>
          <a:xfrm>
            <a:off x="9517075" y="1982419"/>
            <a:ext cx="21323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Retirements</a:t>
            </a:r>
          </a:p>
        </p:txBody>
      </p:sp>
      <p:sp>
        <p:nvSpPr>
          <p:cNvPr id="173" name="LegendLabel"/>
          <p:cNvSpPr txBox="1"/>
          <p:nvPr/>
        </p:nvSpPr>
        <p:spPr>
          <a:xfrm>
            <a:off x="9517075" y="2186330"/>
            <a:ext cx="20464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Orderbook</a:t>
            </a:r>
          </a:p>
        </p:txBody>
      </p:sp>
      <p:sp>
        <p:nvSpPr>
          <p:cNvPr id="174" name="LegendLabel"/>
          <p:cNvSpPr txBox="1"/>
          <p:nvPr/>
        </p:nvSpPr>
        <p:spPr>
          <a:xfrm>
            <a:off x="9517075" y="2389327"/>
            <a:ext cx="193852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Retirements</a:t>
            </a:r>
          </a:p>
        </p:txBody>
      </p:sp>
      <p:sp>
        <p:nvSpPr>
          <p:cNvPr id="175" name="LegendLabel"/>
          <p:cNvSpPr txBox="1"/>
          <p:nvPr/>
        </p:nvSpPr>
        <p:spPr>
          <a:xfrm>
            <a:off x="9517075" y="2592324"/>
            <a:ext cx="18525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Orderbook</a:t>
            </a:r>
          </a:p>
        </p:txBody>
      </p:sp>
      <p:sp>
        <p:nvSpPr>
          <p:cNvPr id="176" name="NetTonnageCallout"/>
          <p:cNvSpPr txBox="1"/>
          <p:nvPr/>
        </p:nvSpPr>
        <p:spPr>
          <a:xfrm>
            <a:off x="9423806" y="1559052"/>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totals indicate net gross tonnage added (removed) each year</a:t>
            </a:r>
          </a:p>
        </p:txBody>
      </p:sp>
      <p:cxnSp>
        <p:nvCxnSpPr>
          <p:cNvPr id="177" name="RetirementTrendConnector"/>
          <p:cNvCxnSpPr/>
          <p:nvPr/>
        </p:nvCxnSpPr>
        <p:spPr>
          <a:xfrm>
            <a:off x="2922422" y="4478731"/>
            <a:ext cx="7955280" cy="0"/>
          </a:xfrm>
          <a:prstGeom prst="line">
            <a:avLst/>
          </a:prstGeom>
          <a:ln w="12700">
            <a:solidFill>
              <a:srgbClr val="000000"/>
            </a:solidFill>
            <a:prstDash val="dash"/>
          </a:ln>
        </p:spPr>
      </p:cxnSp>
      <p:sp>
        <p:nvSpPr>
          <p:cNvPr id="178" name="AverageRetirementsCallout"/>
          <p:cNvSpPr txBox="1"/>
          <p:nvPr/>
        </p:nvSpPr>
        <p:spPr>
          <a:xfrm>
            <a:off x="10795406" y="4235501"/>
            <a:ext cx="1097280" cy="477317"/>
          </a:xfrm>
          <a:prstGeom prst="wedgeRectCallout">
            <a:avLst>
              <a:gd name="adj1" fmla="val -19106"/>
              <a:gd name="adj2" fmla="val -3267"/>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‘31-’50 avg. retirements: </a:t>
            </a:r>
            <a:r>
              <a:rPr lang="en-US" sz="1000" b="1" i="1" dirty="0">
                <a:solidFill>
                  <a:srgbClr val="000000"/>
                </a:solidFill>
                <a:latin typeface="Arial"/>
                <a:ea typeface="Arial"/>
                <a:cs typeface="Arial"/>
              </a:rPr>
              <a:t>~144K GT p.a.</a:t>
            </a:r>
          </a:p>
        </p:txBody>
      </p:sp>
      <p:sp>
        <p:nvSpPr>
          <p:cNvPr id="179" name="SourceNote"/>
          <p:cNvSpPr txBox="1"/>
          <p:nvPr/>
        </p:nvSpPr>
        <p:spPr>
          <a:xfrm>
            <a:off x="452628" y="6107278"/>
            <a:ext cx="11308385" cy="291694"/>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40 years for Bulk, Container, General Cargo, and RORO, 35 years for Tankers, 30 years for PSVs, and 25 years for Crew/FSVs </a:t>
            </a:r>
            <a:br/>
            <a:r>
              <a:rPr lang="en-US" sz="800" dirty="0">
                <a:solidFill>
                  <a:srgbClr val="000000"/>
                </a:solidFill>
                <a:latin typeface="Arial"/>
                <a:ea typeface="Arial"/>
                <a:cs typeface="Arial"/>
              </a:rPr>
              <a:t>Source: Clarksons (US fleet size and GT data)</a:t>
            </a:r>
          </a:p>
        </p:txBody>
      </p:sp>
      <p:sp>
        <p:nvSpPr>
          <p:cNvPr id="180"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priority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5"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6"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7" name="Step2B"/>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specific platforms / effectors for missions </a:t>
            </a:r>
            <a:r>
              <a:rPr lang="en-US" sz="1000" i="1" dirty="0">
                <a:solidFill>
                  <a:srgbClr val="000000"/>
                </a:solidFill>
                <a:latin typeface="Arial"/>
                <a:ea typeface="Arial"/>
                <a:cs typeface="Arial"/>
              </a:rPr>
              <a:t>(platforms/effectors shown are not exhaustive)</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4"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15"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16" name="FlowNode"/>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Oceanographic Ships</a:t>
            </a:r>
          </a:p>
        </p:txBody>
      </p:sp>
      <p:sp>
        <p:nvSpPr>
          <p:cNvPr id="117"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MK-48 torpedoes</a:t>
            </a:r>
          </a:p>
        </p:txBody>
      </p:sp>
      <p:sp>
        <p:nvSpPr>
          <p:cNvPr id="118" name="FlowNode"/>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MK-54 torpedoes</a:t>
            </a:r>
          </a:p>
        </p:txBody>
      </p:sp>
      <p:sp>
        <p:nvSpPr>
          <p:cNvPr id="119"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0" name="FlowNode"/>
          <p:cNvSpPr txBox="1"/>
          <p:nvPr/>
        </p:nvSpPr>
        <p:spPr>
          <a:xfrm>
            <a:off x="2745943"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1" name="FlowNode"/>
          <p:cNvSpPr txBox="1"/>
          <p:nvPr/>
        </p:nvSpPr>
        <p:spPr>
          <a:xfrm>
            <a:off x="8326526"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Cost Elements ($)</a:t>
            </a:r>
          </a:p>
        </p:txBody>
      </p:sp>
      <p:sp>
        <p:nvSpPr>
          <p:cNvPr id="122" name="FlowNode"/>
          <p:cNvSpPr txBox="1"/>
          <p:nvPr/>
        </p:nvSpPr>
        <p:spPr>
          <a:xfrm>
            <a:off x="7385609" y="4307738"/>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Mission allocations by platform and effector (%)</a:t>
            </a:r>
          </a:p>
        </p:txBody>
      </p:sp>
      <p:sp>
        <p:nvSpPr>
          <p:cNvPr id="123" name="FlowNode"/>
          <p:cNvSpPr txBox="1"/>
          <p:nvPr/>
        </p:nvSpPr>
        <p:spPr>
          <a:xfrm>
            <a:off x="7395667" y="5006340"/>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24" name="FlowNode"/>
          <p:cNvSpPr txBox="1"/>
          <p:nvPr/>
        </p:nvSpPr>
        <p:spPr>
          <a:xfrm>
            <a:off x="7395667" y="5704942"/>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25" name="FlowNode"/>
          <p:cNvSpPr txBox="1"/>
          <p:nvPr/>
        </p:nvSpPr>
        <p:spPr>
          <a:xfrm>
            <a:off x="274594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OBBBA items ($)</a:t>
            </a:r>
          </a:p>
        </p:txBody>
      </p:sp>
      <p:sp>
        <p:nvSpPr>
          <p:cNvPr id="126" name="LosAngeles"/>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Los Angeles</a:t>
            </a:r>
            <a:r>
              <a:rPr lang="en-US" sz="1000" dirty="0">
                <a:solidFill>
                  <a:srgbClr val="FFFFFF"/>
                </a:solidFill>
                <a:latin typeface="Arial"/>
                <a:ea typeface="Arial"/>
                <a:cs typeface="Arial"/>
              </a:rPr>
              <a:t>-class submarines</a:t>
            </a:r>
          </a:p>
        </p:txBody>
      </p:sp>
      <p:sp>
        <p:nvSpPr>
          <p:cNvPr id="127" name="Ohio"/>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Ohio-</a:t>
            </a:r>
            <a:r>
              <a:rPr lang="en-US" sz="1000" dirty="0">
                <a:solidFill>
                  <a:srgbClr val="FFFFFF"/>
                </a:solidFill>
                <a:latin typeface="Arial"/>
                <a:ea typeface="Arial"/>
                <a:cs typeface="Arial"/>
              </a:rPr>
              <a:t>class submarines</a:t>
            </a:r>
          </a:p>
        </p:txBody>
      </p:sp>
      <p:sp>
        <p:nvSpPr>
          <p:cNvPr id="128" name="Virginia"/>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Virginia</a:t>
            </a:r>
            <a:r>
              <a:rPr lang="en-US" sz="1000" dirty="0">
                <a:solidFill>
                  <a:srgbClr val="FFFFFF"/>
                </a:solidFill>
                <a:latin typeface="Arial"/>
                <a:ea typeface="Arial"/>
                <a:cs typeface="Arial"/>
              </a:rPr>
              <a:t>-class submarines</a:t>
            </a:r>
          </a:p>
        </p:txBody>
      </p:sp>
      <p:cxnSp>
        <p:nvCxnSpPr>
          <p:cNvPr id="129" name="MissionToPlatformArrow"/>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30" name="MissionToPlatformArrow"/>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31" name="MissionToPlatformArrow"/>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32" name="MissionToPlatformArrow"/>
          <p:cNvCxnSpPr/>
          <p:nvPr/>
        </p:nvCxnSpPr>
        <p:spPr>
          <a:xfrm rot="16200000" flipH="1">
            <a:off x="8449056" y="187452"/>
            <a:ext cx="370332" cy="5076749"/>
          </a:xfrm>
          <a:prstGeom prst="bentConnector3">
            <a:avLst>
              <a:gd name="adj1" fmla="val 28752"/>
            </a:avLst>
          </a:prstGeom>
          <a:ln w="12700">
            <a:solidFill>
              <a:srgbClr val="000000"/>
            </a:solidFill>
            <a:tailEnd type="triangle" w="med" len="med"/>
          </a:ln>
        </p:spPr>
      </p:cxnSp>
      <p:cxnSp>
        <p:nvCxnSpPr>
          <p:cNvPr id="133" name="MissionToPlatformArrow"/>
          <p:cNvCxnSpPr/>
          <p:nvPr/>
        </p:nvCxnSpPr>
        <p:spPr>
          <a:xfrm rot="16200000" flipH="1">
            <a:off x="7676388" y="960120"/>
            <a:ext cx="370332" cy="3530498"/>
          </a:xfrm>
          <a:prstGeom prst="bentConnector3">
            <a:avLst>
              <a:gd name="adj1" fmla="val 28752"/>
            </a:avLst>
          </a:prstGeom>
          <a:ln w="12700">
            <a:solidFill>
              <a:srgbClr val="000000"/>
            </a:solidFill>
            <a:tailEnd type="triangle" w="med" len="med"/>
          </a:ln>
        </p:spPr>
      </p:cxnSp>
      <p:cxnSp>
        <p:nvCxnSpPr>
          <p:cNvPr id="134" name="MissionToPlatformArrow"/>
          <p:cNvCxnSpPr/>
          <p:nvPr/>
        </p:nvCxnSpPr>
        <p:spPr>
          <a:xfrm rot="16200000" flipH="1">
            <a:off x="6902806" y="1733702"/>
            <a:ext cx="370332" cy="1983334"/>
          </a:xfrm>
          <a:prstGeom prst="bentConnector3">
            <a:avLst>
              <a:gd name="adj1" fmla="val 28752"/>
            </a:avLst>
          </a:prstGeom>
          <a:ln w="12700">
            <a:solidFill>
              <a:srgbClr val="000000"/>
            </a:solidFill>
            <a:tailEnd type="triangle" w="med" len="med"/>
          </a:ln>
        </p:spPr>
      </p:cxnSp>
      <p:sp>
        <p:nvSpPr>
          <p:cNvPr id="135" name="Programs"/>
          <p:cNvSpPr txBox="1"/>
          <p:nvPr/>
        </p:nvSpPr>
        <p:spPr>
          <a:xfrm>
            <a:off x="460583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Programs ($)</a:t>
            </a:r>
            <a:r>
              <a:rPr lang="en-US" sz="1000" dirty="0">
                <a:solidFill>
                  <a:srgbClr val="FFFFFF"/>
                </a:solidFill>
                <a:latin typeface="Arial"/>
                <a:ea typeface="Arial"/>
                <a:cs typeface="Arial"/>
              </a:rPr>
              <a:t>1</a:t>
            </a:r>
          </a:p>
        </p:txBody>
      </p:sp>
      <p:sp>
        <p:nvSpPr>
          <p:cNvPr id="136"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3" name="SummaryCollectionArrow"/>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44" name="SummaryCollectionArrow"/>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45" name="SummaryCollectionArrow"/>
          <p:cNvCxnSpPr/>
          <p:nvPr/>
        </p:nvCxnSpPr>
        <p:spPr>
          <a:xfrm rot="5400000">
            <a:off x="7356348" y="1888236"/>
            <a:ext cx="370332" cy="7262165"/>
          </a:xfrm>
          <a:prstGeom prst="bentConnector3">
            <a:avLst/>
          </a:prstGeom>
          <a:ln w="12700">
            <a:solidFill>
              <a:srgbClr val="000000"/>
            </a:solidFill>
            <a:tailEnd type="triangle" w="med" len="med"/>
          </a:ln>
        </p:spPr>
      </p:cxnSp>
      <p:sp>
        <p:nvSpPr>
          <p:cNvPr id="146"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Projects"/>
          <p:cNvSpPr txBox="1"/>
          <p:nvPr/>
        </p:nvSpPr>
        <p:spPr>
          <a:xfrm>
            <a:off x="6466637"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Projects ($)</a:t>
            </a:r>
            <a:r>
              <a:rPr lang="en-US" sz="1000" dirty="0">
                <a:solidFill>
                  <a:srgbClr val="FFFFFF"/>
                </a:solidFill>
                <a:latin typeface="Arial"/>
                <a:ea typeface="Arial"/>
                <a:cs typeface="Arial"/>
              </a:rPr>
              <a:t> 1</a:t>
            </a:r>
          </a:p>
        </p:txBody>
      </p:sp>
      <p:sp>
        <p:nvSpPr>
          <p:cNvPr id="149"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ffectors"/>
          <p:cNvSpPr txBox="1"/>
          <p:nvPr/>
        </p:nvSpPr>
        <p:spPr>
          <a:xfrm>
            <a:off x="5171846"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 </a:t>
            </a:r>
            <a:br/>
            <a:r>
              <a:rPr lang="en-US" sz="1000" i="1" dirty="0">
                <a:solidFill>
                  <a:srgbClr val="FFFFFF"/>
                </a:solidFill>
                <a:latin typeface="Arial"/>
                <a:ea typeface="Arial"/>
                <a:cs typeface="Arial"/>
              </a:rPr>
              <a:t>(ASuW and ASW only)</a:t>
            </a:r>
          </a:p>
        </p:txBody>
      </p:sp>
      <p:sp>
        <p:nvSpPr>
          <p:cNvPr id="153"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54" name="Approach underline"/>
          <p:cNvCxnSpPr/>
          <p:nvPr/>
        </p:nvCxnSpPr>
        <p:spPr>
          <a:xfrm flipH="1">
            <a:off x="389534" y="1450238"/>
            <a:ext cx="1920240" cy="1829"/>
          </a:xfrm>
          <a:prstGeom prst="line">
            <a:avLst/>
          </a:prstGeom>
          <a:ln w="12700">
            <a:solidFill>
              <a:srgbClr val="162029"/>
            </a:solidFill>
          </a:ln>
        </p:spPr>
      </p:cxnSp>
      <p:cxnSp>
        <p:nvCxnSpPr>
          <p:cNvPr id="155" name="MissionToPlatformArrow"/>
          <p:cNvCxnSpPr/>
          <p:nvPr/>
        </p:nvCxnSpPr>
        <p:spPr>
          <a:xfrm rot="5400000">
            <a:off x="4435754" y="1208837"/>
            <a:ext cx="237744" cy="1769364"/>
          </a:xfrm>
          <a:prstGeom prst="bentConnector3">
            <a:avLst/>
          </a:prstGeom>
          <a:ln w="12700">
            <a:solidFill>
              <a:srgbClr val="000000"/>
            </a:solidFill>
            <a:tailEnd type="triangle" w="med" len="med"/>
          </a:ln>
        </p:spPr>
      </p:cxnSp>
      <p:sp>
        <p:nvSpPr>
          <p:cNvPr id="156" name="ScopeChip"/>
          <p:cNvSpPr txBox="1"/>
          <p:nvPr/>
        </p:nvSpPr>
        <p:spPr>
          <a:xfrm>
            <a:off x="8340242" y="67666"/>
            <a:ext cx="2435047" cy="457200"/>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Currently manned capabilities</a:t>
            </a:r>
          </a:p>
        </p:txBody>
      </p:sp>
      <p:sp>
        <p:nvSpPr>
          <p:cNvPr id="157"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61"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62"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63"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65" name="MissionGridFrame"/>
          <p:cNvSpPr txBox="1"/>
          <p:nvPr/>
        </p:nvSpPr>
        <p:spPr>
          <a:xfrm>
            <a:off x="2488082" y="1189634"/>
            <a:ext cx="5901538"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66" name="MissionCell"/>
          <p:cNvSpPr txBox="1"/>
          <p:nvPr/>
        </p:nvSpPr>
        <p:spPr>
          <a:xfrm>
            <a:off x="7235647"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67" name="MissionCell"/>
          <p:cNvSpPr txBox="1"/>
          <p:nvPr/>
        </p:nvSpPr>
        <p:spPr>
          <a:xfrm>
            <a:off x="2539289"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68" name="MissionCell"/>
          <p:cNvSpPr txBox="1"/>
          <p:nvPr/>
        </p:nvSpPr>
        <p:spPr>
          <a:xfrm>
            <a:off x="4887468" y="1234440"/>
            <a:ext cx="1110082"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C5</a:t>
            </a:r>
          </a:p>
        </p:txBody>
      </p:sp>
      <p:sp>
        <p:nvSpPr>
          <p:cNvPr id="169" name="MissionCell"/>
          <p:cNvSpPr txBox="1"/>
          <p:nvPr/>
        </p:nvSpPr>
        <p:spPr>
          <a:xfrm>
            <a:off x="6061558"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70" name="MissionCell"/>
          <p:cNvSpPr txBox="1"/>
          <p:nvPr/>
        </p:nvSpPr>
        <p:spPr>
          <a:xfrm>
            <a:off x="371337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71" name="MissionCell"/>
          <p:cNvSpPr txBox="1"/>
          <p:nvPr/>
        </p:nvSpPr>
        <p:spPr>
          <a:xfrm>
            <a:off x="488746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72" name="MissionCell"/>
          <p:cNvSpPr txBox="1"/>
          <p:nvPr/>
        </p:nvSpPr>
        <p:spPr>
          <a:xfrm>
            <a:off x="606155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Subsea &amp; Seabed Warfare</a:t>
            </a:r>
          </a:p>
        </p:txBody>
      </p:sp>
      <p:sp>
        <p:nvSpPr>
          <p:cNvPr id="173" name="MissionCell"/>
          <p:cNvSpPr txBox="1"/>
          <p:nvPr/>
        </p:nvSpPr>
        <p:spPr>
          <a:xfrm>
            <a:off x="8409737" y="1234440"/>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74" name="AntiSurface"/>
          <p:cNvSpPr txBox="1"/>
          <p:nvPr/>
        </p:nvSpPr>
        <p:spPr>
          <a:xfrm>
            <a:off x="3713378"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a:t>
            </a:r>
            <a:br/>
            <a:r>
              <a:rPr lang="en-US" sz="900" dirty="0">
                <a:solidFill>
                  <a:srgbClr val="FFFFFF"/>
                </a:solidFill>
                <a:latin typeface="Arial"/>
                <a:ea typeface="Arial"/>
                <a:cs typeface="Arial"/>
              </a:rPr>
              <a:t>Warfare</a:t>
            </a:r>
          </a:p>
        </p:txBody>
      </p:sp>
      <p:sp>
        <p:nvSpPr>
          <p:cNvPr id="175" name="AntiSubmarine"/>
          <p:cNvSpPr txBox="1"/>
          <p:nvPr/>
        </p:nvSpPr>
        <p:spPr>
          <a:xfrm>
            <a:off x="2539289"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a:t>
            </a:r>
            <a:br/>
            <a:r>
              <a:rPr lang="en-US" sz="900" dirty="0">
                <a:solidFill>
                  <a:srgbClr val="FFFFFF"/>
                </a:solidFill>
                <a:latin typeface="Arial"/>
                <a:ea typeface="Arial"/>
                <a:cs typeface="Arial"/>
              </a:rPr>
              <a:t>Warfare</a:t>
            </a:r>
          </a:p>
        </p:txBody>
      </p:sp>
      <p:cxnSp>
        <p:nvCxnSpPr>
          <p:cNvPr id="176" name="MissionToEffectorsArrow"/>
          <p:cNvCxnSpPr/>
          <p:nvPr/>
        </p:nvCxnSpPr>
        <p:spPr>
          <a:xfrm rot="16200000" flipH="1">
            <a:off x="5649163" y="1765706"/>
            <a:ext cx="237744" cy="656539"/>
          </a:xfrm>
          <a:prstGeom prst="bentConnector3">
            <a:avLst/>
          </a:prstGeom>
          <a:ln w="12700">
            <a:solidFill>
              <a:srgbClr val="000000"/>
            </a:solidFill>
            <a:tailEnd type="triangle" w="med" len="med"/>
          </a:ln>
        </p:spPr>
      </p:cxnSp>
      <p:pic>
        <p:nvPicPr>
          <p:cNvPr id="177" name="NavyLogo"/>
          <p:cNvPicPr>
            <a:picLocks noChangeAspect="1"/>
          </p:cNvPicPr>
          <p:nvPr/>
        </p:nvPicPr>
        <p:blipFill>
          <a:blip r:embed="rId2"/>
          <a:stretch>
            <a:fillRect/>
          </a:stretch>
        </p:blipFill>
        <p:spPr>
          <a:xfrm>
            <a:off x="11313871" y="43891"/>
            <a:ext cx="843077" cy="843077"/>
          </a:xfrm>
          <a:prstGeom prst="rect">
            <a:avLst/>
          </a:prstGeom>
        </p:spPr>
      </p:pic>
      <p:sp>
        <p:nvSpPr>
          <p:cNvPr id="178" name="StrategicDeterrence"/>
          <p:cNvSpPr txBox="1"/>
          <p:nvPr/>
        </p:nvSpPr>
        <p:spPr>
          <a:xfrm>
            <a:off x="9583826" y="1234440"/>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Strategic Deterrence</a:t>
            </a:r>
            <a:r>
              <a:rPr lang="en-US" sz="900" dirty="0">
                <a:solidFill>
                  <a:srgbClr val="BFBFBF"/>
                </a:solidFill>
                <a:latin typeface="Arial"/>
                <a:ea typeface="Arial"/>
                <a:cs typeface="Arial"/>
              </a:rPr>
              <a:t>5</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(2/2) | To find annual volume and price per unit of cargo ($ / TEU).</a:t>
            </a:r>
          </a:p>
        </p:txBody>
      </p:sp>
      <p:sp>
        <p:nvSpPr>
          <p:cNvPr id="100" name="OperatorGlyph"/>
          <p:cNvSpPr txBox="1"/>
          <p:nvPr/>
        </p:nvSpPr>
        <p:spPr>
          <a:xfrm>
            <a:off x="1504188"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1" name="OperatorGlyph"/>
          <p:cNvSpPr txBox="1"/>
          <p:nvPr/>
        </p:nvSpPr>
        <p:spPr>
          <a:xfrm>
            <a:off x="463052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2" name="OperatorGlyph"/>
          <p:cNvSpPr txBox="1"/>
          <p:nvPr/>
        </p:nvSpPr>
        <p:spPr>
          <a:xfrm>
            <a:off x="773948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3" name="OperatorGlyph"/>
          <p:cNvSpPr txBox="1"/>
          <p:nvPr/>
        </p:nvSpPr>
        <p:spPr>
          <a:xfrm>
            <a:off x="6185002"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4" name="OperatorGlyph"/>
          <p:cNvSpPr txBox="1"/>
          <p:nvPr/>
        </p:nvSpPr>
        <p:spPr>
          <a:xfrm>
            <a:off x="6185002"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5" name="OperatorGlyph"/>
          <p:cNvSpPr txBox="1"/>
          <p:nvPr/>
        </p:nvSpPr>
        <p:spPr>
          <a:xfrm>
            <a:off x="1504188" y="330555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6" name="OperatorGlyph"/>
          <p:cNvSpPr txBox="1"/>
          <p:nvPr/>
        </p:nvSpPr>
        <p:spPr>
          <a:xfrm>
            <a:off x="1504188"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07" name="PriceTrackFlowArrow"/>
          <p:cNvCxnSpPr/>
          <p:nvPr/>
        </p:nvCxnSpPr>
        <p:spPr>
          <a:xfrm rot="5400000">
            <a:off x="6946697" y="2665476"/>
            <a:ext cx="304495" cy="1554480"/>
          </a:xfrm>
          <a:prstGeom prst="bentConnector3">
            <a:avLst/>
          </a:prstGeom>
          <a:ln w="12700">
            <a:solidFill>
              <a:srgbClr val="000000"/>
            </a:solidFill>
            <a:tailEnd type="triangle" w="med" len="med"/>
          </a:ln>
        </p:spPr>
      </p:cxnSp>
      <p:sp>
        <p:nvSpPr>
          <p:cNvPr id="108" name="MixWeightedBasicOceanRate"/>
          <p:cNvSpPr txBox="1"/>
          <p:nvPr/>
        </p:nvSpPr>
        <p:spPr>
          <a:xfrm>
            <a:off x="5133442"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avg. basic ocean rate </a:t>
            </a:r>
            <a:br/>
            <a:r>
              <a:rPr lang="en-US" sz="1000" dirty="0">
                <a:solidFill>
                  <a:srgbClr val="FFFFFF"/>
                </a:solidFill>
                <a:latin typeface="Arial"/>
                <a:ea typeface="Arial"/>
                <a:cs typeface="Arial"/>
              </a:rPr>
              <a:t>($ / TEU)</a:t>
            </a:r>
          </a:p>
        </p:txBody>
      </p:sp>
      <p:sp>
        <p:nvSpPr>
          <p:cNvPr id="109" name="OperatorGlyph"/>
          <p:cNvSpPr txBox="1"/>
          <p:nvPr/>
        </p:nvSpPr>
        <p:spPr>
          <a:xfrm rot="5400000">
            <a:off x="6185002" y="2980944"/>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0" name="OperatorGlyph"/>
          <p:cNvSpPr txBox="1"/>
          <p:nvPr/>
        </p:nvSpPr>
        <p:spPr>
          <a:xfrm rot="5400000">
            <a:off x="10373868" y="3930091"/>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1" name="OperatorGlyph"/>
          <p:cNvSpPr txBox="1"/>
          <p:nvPr/>
        </p:nvSpPr>
        <p:spPr>
          <a:xfrm rot="5400000">
            <a:off x="10373868" y="4554626"/>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2" name="OperatorGlyph"/>
          <p:cNvSpPr txBox="1"/>
          <p:nvPr/>
        </p:nvSpPr>
        <p:spPr>
          <a:xfrm rot="5400000">
            <a:off x="6185002" y="5179162"/>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3" name="FormulaNode"/>
          <p:cNvSpPr txBox="1"/>
          <p:nvPr/>
        </p:nvSpPr>
        <p:spPr>
          <a:xfrm>
            <a:off x="452628" y="2346350"/>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14" name="FormulaNode"/>
          <p:cNvSpPr txBox="1"/>
          <p:nvPr/>
        </p:nvSpPr>
        <p:spPr>
          <a:xfrm>
            <a:off x="452628" y="2970886"/>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capacity (#)</a:t>
            </a:r>
          </a:p>
        </p:txBody>
      </p:sp>
      <p:sp>
        <p:nvSpPr>
          <p:cNvPr id="115" name="FormulaNode"/>
          <p:cNvSpPr txBox="1"/>
          <p:nvPr/>
        </p:nvSpPr>
        <p:spPr>
          <a:xfrm>
            <a:off x="452628"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utilization (%)</a:t>
            </a:r>
          </a:p>
        </p:txBody>
      </p:sp>
      <p:sp>
        <p:nvSpPr>
          <p:cNvPr id="116" name="FormulaNode"/>
          <p:cNvSpPr txBox="1"/>
          <p:nvPr/>
        </p:nvSpPr>
        <p:spPr>
          <a:xfrm>
            <a:off x="452628" y="484357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container volume (#) </a:t>
            </a:r>
          </a:p>
        </p:txBody>
      </p:sp>
      <p:sp>
        <p:nvSpPr>
          <p:cNvPr id="117" name="FormulaNode"/>
          <p:cNvSpPr txBox="1"/>
          <p:nvPr/>
        </p:nvSpPr>
        <p:spPr>
          <a:xfrm>
            <a:off x="668792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FEU proportion of cargo type (%)</a:t>
            </a:r>
          </a:p>
        </p:txBody>
      </p:sp>
      <p:sp>
        <p:nvSpPr>
          <p:cNvPr id="118" name="FormulaNode"/>
          <p:cNvSpPr txBox="1"/>
          <p:nvPr/>
        </p:nvSpPr>
        <p:spPr>
          <a:xfrm>
            <a:off x="357896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TEU proportion of cargo type (%)</a:t>
            </a:r>
          </a:p>
        </p:txBody>
      </p:sp>
      <p:sp>
        <p:nvSpPr>
          <p:cNvPr id="119" name="FormulaNode"/>
          <p:cNvSpPr txBox="1"/>
          <p:nvPr/>
        </p:nvSpPr>
        <p:spPr>
          <a:xfrm>
            <a:off x="5133442"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Cargo type proportion of total volume (%)</a:t>
            </a:r>
          </a:p>
        </p:txBody>
      </p:sp>
      <p:sp>
        <p:nvSpPr>
          <p:cNvPr id="120" name="FormulaNode"/>
          <p:cNvSpPr txBox="1"/>
          <p:nvPr/>
        </p:nvSpPr>
        <p:spPr>
          <a:xfrm>
            <a:off x="452628" y="3595421"/>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vessel capacity (#)</a:t>
            </a:r>
          </a:p>
        </p:txBody>
      </p:sp>
      <p:sp>
        <p:nvSpPr>
          <p:cNvPr id="121" name="FormulaNode"/>
          <p:cNvSpPr txBox="1"/>
          <p:nvPr/>
        </p:nvSpPr>
        <p:spPr>
          <a:xfrm>
            <a:off x="452628" y="5468112"/>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22" name="FormulaNode"/>
          <p:cNvSpPr txBox="1"/>
          <p:nvPr/>
        </p:nvSpPr>
        <p:spPr>
          <a:xfrm>
            <a:off x="452628" y="609264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Avg. container volume per voyage (#)</a:t>
            </a:r>
          </a:p>
        </p:txBody>
      </p:sp>
      <p:sp>
        <p:nvSpPr>
          <p:cNvPr id="123" name="VesselInput"/>
          <p:cNvSpPr txBox="1"/>
          <p:nvPr/>
        </p:nvSpPr>
        <p:spPr>
          <a:xfrm>
            <a:off x="452628" y="1721815"/>
            <a:ext cx="2377440" cy="32004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Vessel (e.g., Maunawili)</a:t>
            </a:r>
          </a:p>
        </p:txBody>
      </p:sp>
      <p:graphicFrame>
        <p:nvGraphicFramePr>
          <p:cNvPr id="124" name="VolumeHeader"/>
          <p:cNvGraphicFramePr>
            <a:graphicFrameLocks noGrp="1"/>
          </p:cNvGraphicFramePr>
          <p:nvPr/>
        </p:nvGraphicFramePr>
        <p:xfrm>
          <a:off x="452628" y="1338682"/>
          <a:ext cx="2834640" cy="274320"/>
        </p:xfrm>
        <a:graphic>
          <a:graphicData uri="http://schemas.openxmlformats.org/drawingml/2006/table">
            <a:tbl>
              <a:tblPr firstRow="1" firstCol="1" bandRow="0">
                <a:tableStyleId>{2D5ABB26-0587-4C30-8999-92F81FD0307C}</a:tableStyleId>
              </a:tblPr>
              <a:tblGrid>
                <a:gridCol w="2834640"/>
              </a:tblGrid>
              <a:tr h="274320">
                <a:tc>
                  <a:txBody>
                    <a:bodyPr anchor="ctr"/>
                    <a:lstStyle/>
                    <a:p>
                      <a:pPr algn="l" marL="0" indent="0">
                        <a:lnSpc>
                          <a:spcPct val="100000"/>
                        </a:lnSpc>
                      </a:pPr>
                      <a:r>
                        <a:rPr lang="en-US" sz="1000" b="1" dirty="0">
                          <a:solidFill>
                            <a:srgbClr val="000000"/>
                          </a:solidFill>
                          <a:latin typeface="Arial"/>
                          <a:ea typeface="Arial"/>
                          <a:cs typeface="Arial"/>
                        </a:rPr>
                        <a:t>Total Container Volume </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graphicFrame>
        <p:nvGraphicFramePr>
          <p:cNvPr id="125" name="PriceHeader"/>
          <p:cNvGraphicFramePr>
            <a:graphicFrameLocks noGrp="1"/>
          </p:cNvGraphicFramePr>
          <p:nvPr/>
        </p:nvGraphicFramePr>
        <p:xfrm>
          <a:off x="3470148" y="1338682"/>
          <a:ext cx="8229600" cy="274320"/>
        </p:xfrm>
        <a:graphic>
          <a:graphicData uri="http://schemas.openxmlformats.org/drawingml/2006/table">
            <a:tbl>
              <a:tblPr firstRow="1" firstCol="1" bandRow="0">
                <a:tableStyleId>{2D5ABB26-0587-4C30-8999-92F81FD0307C}</a:tableStyleId>
              </a:tblPr>
              <a:tblGrid>
                <a:gridCol w="8229600"/>
              </a:tblGrid>
              <a:tr h="274320">
                <a:tc>
                  <a:txBody>
                    <a:bodyPr anchor="ctr"/>
                    <a:lstStyle/>
                    <a:p>
                      <a:pPr algn="l" marL="0" indent="0">
                        <a:lnSpc>
                          <a:spcPct val="100000"/>
                        </a:lnSpc>
                      </a:pPr>
                      <a:r>
                        <a:rPr lang="en-US" sz="1000" b="1" dirty="0">
                          <a:solidFill>
                            <a:srgbClr val="000000"/>
                          </a:solidFill>
                          <a:latin typeface="Arial"/>
                          <a:ea typeface="Arial"/>
                          <a:cs typeface="Arial"/>
                        </a:rPr>
                        <a:t>Container Price</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sp>
        <p:nvSpPr>
          <p:cNvPr id="126" name="OperatorGlyph"/>
          <p:cNvSpPr txBox="1"/>
          <p:nvPr/>
        </p:nvSpPr>
        <p:spPr>
          <a:xfrm>
            <a:off x="1504188" y="2681935"/>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7" name="OperatorGlyph"/>
          <p:cNvSpPr txBox="1"/>
          <p:nvPr/>
        </p:nvSpPr>
        <p:spPr>
          <a:xfrm>
            <a:off x="773948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8" name="OperatorGlyph"/>
          <p:cNvSpPr txBox="1"/>
          <p:nvPr/>
        </p:nvSpPr>
        <p:spPr>
          <a:xfrm>
            <a:off x="463052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9" name="OperatorGlyph"/>
          <p:cNvSpPr txBox="1"/>
          <p:nvPr/>
        </p:nvSpPr>
        <p:spPr>
          <a:xfrm>
            <a:off x="7624267" y="4866437"/>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0" name="OperatorGlyph"/>
          <p:cNvSpPr txBox="1"/>
          <p:nvPr/>
        </p:nvSpPr>
        <p:spPr>
          <a:xfrm>
            <a:off x="6185002"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1504188"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2" name="FormulaNode"/>
          <p:cNvSpPr txBox="1"/>
          <p:nvPr/>
        </p:nvSpPr>
        <p:spPr>
          <a:xfrm>
            <a:off x="9322308"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Fuel surcharge ($ / TEU)</a:t>
            </a:r>
          </a:p>
        </p:txBody>
      </p:sp>
      <p:sp>
        <p:nvSpPr>
          <p:cNvPr id="133" name="FormulaNode"/>
          <p:cNvSpPr txBox="1"/>
          <p:nvPr/>
        </p:nvSpPr>
        <p:spPr>
          <a:xfrm>
            <a:off x="357896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TEU basic ocean rate within cargo type ($ / TEU)</a:t>
            </a:r>
          </a:p>
        </p:txBody>
      </p:sp>
      <p:sp>
        <p:nvSpPr>
          <p:cNvPr id="134" name="FormulaNode"/>
          <p:cNvSpPr txBox="1"/>
          <p:nvPr/>
        </p:nvSpPr>
        <p:spPr>
          <a:xfrm>
            <a:off x="668792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FEU container rate within cargo type, normalized to TEU ($ / TEU)</a:t>
            </a:r>
          </a:p>
        </p:txBody>
      </p:sp>
      <p:sp>
        <p:nvSpPr>
          <p:cNvPr id="135" name="FormulaNode"/>
          <p:cNvSpPr txBox="1"/>
          <p:nvPr/>
        </p:nvSpPr>
        <p:spPr>
          <a:xfrm>
            <a:off x="9322308" y="421995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Wharfage / Other Fees ($ / TEU)</a:t>
            </a:r>
          </a:p>
        </p:txBody>
      </p:sp>
      <p:sp>
        <p:nvSpPr>
          <p:cNvPr id="136" name="FormulaNode"/>
          <p:cNvSpPr txBox="1"/>
          <p:nvPr/>
        </p:nvSpPr>
        <p:spPr>
          <a:xfrm>
            <a:off x="668792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FEU basic ocean rate, normalized to TEU ($ / TEU)</a:t>
            </a:r>
          </a:p>
        </p:txBody>
      </p:sp>
      <p:sp>
        <p:nvSpPr>
          <p:cNvPr id="137" name="FormulaNode"/>
          <p:cNvSpPr txBox="1"/>
          <p:nvPr/>
        </p:nvSpPr>
        <p:spPr>
          <a:xfrm>
            <a:off x="8011973" y="4843577"/>
            <a:ext cx="1122883"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Surcharge (%)</a:t>
            </a:r>
          </a:p>
        </p:txBody>
      </p:sp>
      <p:sp>
        <p:nvSpPr>
          <p:cNvPr id="138" name="FormulaNode"/>
          <p:cNvSpPr txBox="1"/>
          <p:nvPr/>
        </p:nvSpPr>
        <p:spPr>
          <a:xfrm>
            <a:off x="5133442"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Volume-weighted avg. basic ocean rate ($ / TEU)</a:t>
            </a:r>
          </a:p>
        </p:txBody>
      </p:sp>
      <p:sp>
        <p:nvSpPr>
          <p:cNvPr id="139" name="FormulaNode"/>
          <p:cNvSpPr txBox="1"/>
          <p:nvPr/>
        </p:nvSpPr>
        <p:spPr>
          <a:xfrm>
            <a:off x="5133442" y="5468112"/>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Ancillary charges ($ / TEU)</a:t>
            </a:r>
          </a:p>
        </p:txBody>
      </p:sp>
      <p:sp>
        <p:nvSpPr>
          <p:cNvPr id="140" name="TerminalHandling"/>
          <p:cNvSpPr txBox="1"/>
          <p:nvPr/>
        </p:nvSpPr>
        <p:spPr>
          <a:xfrm>
            <a:off x="9322308"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Terminal Handling / Stevedoring</a:t>
            </a:r>
            <a:br/>
            <a:r>
              <a:rPr lang="en-US" sz="1000" dirty="0">
                <a:solidFill>
                  <a:srgbClr val="FFFFFF"/>
                </a:solidFill>
                <a:latin typeface="Arial"/>
                <a:ea typeface="Arial"/>
                <a:cs typeface="Arial"/>
              </a:rPr>
              <a:t>($ / TEU)</a:t>
            </a:r>
          </a:p>
        </p:txBody>
      </p:sp>
      <p:sp>
        <p:nvSpPr>
          <p:cNvPr id="141" name="FinalWeightedPrice"/>
          <p:cNvSpPr txBox="1"/>
          <p:nvPr/>
        </p:nvSpPr>
        <p:spPr>
          <a:xfrm>
            <a:off x="3578962" y="6092647"/>
            <a:ext cx="548640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Total weighted avg. container price</a:t>
            </a:r>
            <a:br/>
            <a:r>
              <a:rPr lang="en-US" sz="1000" b="1" dirty="0">
                <a:solidFill>
                  <a:srgbClr val="FFFFFF"/>
                </a:solidFill>
                <a:latin typeface="Arial"/>
                <a:ea typeface="Arial"/>
                <a:cs typeface="Arial"/>
              </a:rPr>
              <a:t>($ / TEU)</a:t>
            </a:r>
          </a:p>
        </p:txBody>
      </p:sp>
      <p:sp>
        <p:nvSpPr>
          <p:cNvPr id="142" name="MixWeightedTEU"/>
          <p:cNvSpPr txBox="1"/>
          <p:nvPr/>
        </p:nvSpPr>
        <p:spPr>
          <a:xfrm>
            <a:off x="357896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TEU basic ocean rate </a:t>
            </a:r>
            <a:br/>
            <a:r>
              <a:rPr lang="en-US" sz="1000" dirty="0">
                <a:solidFill>
                  <a:srgbClr val="FFFFFF"/>
                </a:solidFill>
                <a:latin typeface="Arial"/>
                <a:ea typeface="Arial"/>
                <a:cs typeface="Arial"/>
              </a:rPr>
              <a:t>($ / TEU)</a:t>
            </a:r>
          </a:p>
        </p:txBody>
      </p:sp>
      <p:cxnSp>
        <p:nvCxnSpPr>
          <p:cNvPr id="143" name="PriceTrackFlowArrow"/>
          <p:cNvCxnSpPr/>
          <p:nvPr/>
        </p:nvCxnSpPr>
        <p:spPr>
          <a:xfrm rot="16200000" flipH="1">
            <a:off x="5392217" y="2665476"/>
            <a:ext cx="304495" cy="1554480"/>
          </a:xfrm>
          <a:prstGeom prst="bentConnector3">
            <a:avLst/>
          </a:prstGeom>
          <a:ln w="12700">
            <a:solidFill>
              <a:srgbClr val="000000"/>
            </a:solidFill>
            <a:tailEnd type="triangle" w="med" len="med"/>
          </a:ln>
        </p:spPr>
      </p:cxnSp>
      <p:cxnSp>
        <p:nvCxnSpPr>
          <p:cNvPr id="144" name="PriceTrackFlowArrow"/>
          <p:cNvCxnSpPr/>
          <p:nvPr/>
        </p:nvCxnSpPr>
        <p:spPr>
          <a:xfrm flipV="1">
            <a:off x="9133942" y="3755441"/>
            <a:ext cx="188366" cy="1248156"/>
          </a:xfrm>
          <a:prstGeom prst="bentConnector3">
            <a:avLst/>
          </a:prstGeom>
          <a:ln w="12700">
            <a:solidFill>
              <a:srgbClr val="000000"/>
            </a:solidFill>
            <a:tailEnd type="triangle" w="med" len="med"/>
          </a:ln>
        </p:spPr>
      </p:cxnSp>
      <p:sp>
        <p:nvSpPr>
          <p:cNvPr id="145" name="RepeatCargoTypesFrame"/>
          <p:cNvSpPr txBox="1"/>
          <p:nvPr/>
        </p:nvSpPr>
        <p:spPr>
          <a:xfrm>
            <a:off x="3470148" y="1671523"/>
            <a:ext cx="5663794" cy="2902306"/>
          </a:xfrm>
          <a:prstGeom prst="rect">
            <a:avLst/>
          </a:prstGeom>
          <a:noFill/>
          <a:ln w="12700">
            <a:solidFill>
              <a:srgbClr val="000000"/>
            </a:solidFill>
            <a:prstDash val="dash"/>
          </a:ln>
        </p:spPr>
        <p:txBody>
          <a:bodyPr wrap="square" anchor="b" lIns="91440" tIns="45720" rIns="91440" bIns="45720"/>
          <a:lstStyle/>
          <a:p>
            <a:pPr>
              <a:lnSpc>
                <a:spcPct val="100000"/>
              </a:lnSpc>
              <a:buNone/>
            </a:pPr>
            <a:endParaRPr lang="en-US"/>
          </a:p>
          <a:p>
            <a:pPr>
              <a:lnSpc>
                <a:spcPct val="100000"/>
              </a:lnSpc>
              <a:buNone/>
            </a:pPr>
            <a:r>
              <a:rPr lang="en-US" sz="1000" b="1" i="1" dirty="0">
                <a:solidFill>
                  <a:srgbClr val="000000"/>
                </a:solidFill>
                <a:latin typeface="Arial"/>
                <a:ea typeface="Arial"/>
                <a:cs typeface="Arial"/>
              </a:rPr>
              <a:t>Repeat across </a:t>
            </a:r>
            <a:br/>
            <a:r>
              <a:rPr lang="en-US" sz="1000" b="1" i="1" dirty="0">
                <a:solidFill>
                  <a:srgbClr val="000000"/>
                </a:solidFill>
                <a:latin typeface="Arial"/>
                <a:ea typeface="Arial"/>
                <a:cs typeface="Arial"/>
              </a:rPr>
              <a:t>cargo types</a:t>
            </a:r>
          </a:p>
        </p:txBody>
      </p:sp>
      <p:sp>
        <p:nvSpPr>
          <p:cNvPr id="146" name="MixWeightingMethodCallout"/>
          <p:cNvSpPr txBox="1"/>
          <p:nvPr/>
        </p:nvSpPr>
        <p:spPr>
          <a:xfrm>
            <a:off x="9293962" y="2268626"/>
            <a:ext cx="2406701" cy="674827"/>
          </a:xfrm>
          <a:prstGeom prst="wedgeRectCallout">
            <a:avLst>
              <a:gd name="adj1" fmla="val -59942"/>
              <a:gd name="adj2" fmla="val 53401"/>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Finding mix-weighted rate required as TEU generally have higher basic ocean and terminal handling / stevedoring charges vs. normalized FEU</a:t>
            </a:r>
          </a:p>
        </p:txBody>
      </p:sp>
      <p:cxnSp>
        <p:nvCxnSpPr>
          <p:cNvPr id="147" name="PriceTrackFlowArrow"/>
          <p:cNvCxnSpPr/>
          <p:nvPr/>
        </p:nvCxnSpPr>
        <p:spPr>
          <a:xfrm rot="5400000">
            <a:off x="8779154" y="3895344"/>
            <a:ext cx="464515" cy="3001061"/>
          </a:xfrm>
          <a:prstGeom prst="bentConnector2">
            <a:avLst/>
          </a:prstGeom>
          <a:ln w="12700">
            <a:solidFill>
              <a:srgbClr val="000000"/>
            </a:solidFill>
            <a:tailEnd type="triangle" w="med" len="med"/>
          </a:ln>
        </p:spPr>
      </p:cxnSp>
      <p:sp>
        <p:nvSpPr>
          <p:cNvPr id="148" name="MixWeightingNote"/>
          <p:cNvSpPr txBox="1"/>
          <p:nvPr/>
        </p:nvSpPr>
        <p:spPr>
          <a:xfrm>
            <a:off x="10648188" y="5316322"/>
            <a:ext cx="1221638" cy="572414"/>
          </a:xfrm>
          <a:prstGeom prst="wedgeRectCallout">
            <a:avLst>
              <a:gd name="adj1" fmla="val 5870"/>
              <a:gd name="adj2" fmla="val -74249"/>
            </a:avLst>
          </a:prstGeom>
          <a:solidFill>
            <a:srgbClr val="FFFFCC"/>
          </a:solidFill>
          <a:ln w="12700">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Also weighted by TEU/FEU mix and cargo composition </a:t>
            </a:r>
          </a:p>
        </p:txBody>
      </p:sp>
      <p:cxnSp>
        <p:nvCxnSpPr>
          <p:cNvPr id="149" name="VolumeTrackFlowArrow"/>
          <p:cNvCxnSpPr/>
          <p:nvPr/>
        </p:nvCxnSpPr>
        <p:spPr>
          <a:xfrm>
            <a:off x="1641348" y="2041855"/>
            <a:ext cx="0" cy="304495"/>
          </a:xfrm>
          <a:prstGeom prst="line">
            <a:avLst/>
          </a:prstGeom>
          <a:ln w="12700">
            <a:solidFill>
              <a:srgbClr val="000000"/>
            </a:solidFill>
            <a:tailEnd type="triangle" w="med" len="med"/>
          </a:ln>
        </p:spPr>
      </p:cxnSp>
      <p:sp>
        <p:nvSpPr>
          <p:cNvPr id="150" name="UtilizationMethodCallout"/>
          <p:cNvSpPr txBox="1"/>
          <p:nvPr/>
        </p:nvSpPr>
        <p:spPr>
          <a:xfrm>
            <a:off x="2859329" y="4656125"/>
            <a:ext cx="1390802" cy="1132027"/>
          </a:xfrm>
          <a:prstGeom prst="wedgeRectCallout">
            <a:avLst>
              <a:gd name="adj1" fmla="val -55587"/>
              <a:gd name="adj2" fmla="val -66064"/>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Matson does not publish utilization metrics; thus, utilization is solved for using published &amp; forecast annual and quarterly container volume, westbound / eastbound cargo proportions, and cargo type proportions</a:t>
            </a:r>
          </a:p>
        </p:txBody>
      </p:sp>
      <p:sp>
        <p:nvSpPr>
          <p:cNvPr id="151" name="DivisionGlyph"/>
          <p:cNvSpPr txBox="1"/>
          <p:nvPr/>
        </p:nvSpPr>
        <p:spPr>
          <a:xfrm>
            <a:off x="1504188" y="5179162"/>
            <a:ext cx="274320" cy="274320"/>
          </a:xfrm>
          <a:prstGeom prst="mathDivide">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52" name="VolumeTrackFlowArrow"/>
          <p:cNvCxnSpPr/>
          <p:nvPr/>
        </p:nvCxnSpPr>
        <p:spPr>
          <a:xfrm rot="10800000" flipV="1">
            <a:off x="452628" y="2506370"/>
            <a:ext cx="12802" cy="3121762"/>
          </a:xfrm>
          <a:prstGeom prst="bentConnector3">
            <a:avLst>
              <a:gd name="adj1" fmla="val 1800000"/>
            </a:avLst>
          </a:prstGeom>
          <a:ln w="12700">
            <a:solidFill>
              <a:srgbClr val="000000"/>
            </a:solidFill>
            <a:tailEnd type="triangle" w="med" len="med"/>
          </a:ln>
        </p:spPr>
      </p:cxnSp>
      <p:sp>
        <p:nvSpPr>
          <p:cNvPr id="153" name="RepeatRoutes"/>
          <p:cNvSpPr txBox="1"/>
          <p:nvPr/>
        </p:nvSpPr>
        <p:spPr>
          <a:xfrm>
            <a:off x="6943039" y="1064362"/>
            <a:ext cx="5004511" cy="21397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Repeat across all routes and vessels</a:t>
            </a:r>
          </a:p>
        </p:txBody>
      </p:sp>
      <p:sp>
        <p:nvSpPr>
          <p:cNvPr id="154" name="RepeatCargo"/>
          <p:cNvSpPr txBox="1"/>
          <p:nvPr/>
        </p:nvSpPr>
        <p:spPr>
          <a:xfrm>
            <a:off x="6943039" y="1351483"/>
            <a:ext cx="5004511" cy="213970"/>
          </a:xfrm>
          <a:prstGeom prst="rect">
            <a:avLst/>
          </a:prstGeom>
          <a:solidFill>
            <a:srgbClr val="6E91B1"/>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To find volume and price for dry cargo TEUs, refrigerated TEUs, and automobiles</a:t>
            </a:r>
          </a:p>
        </p:txBody>
      </p:sp>
      <p:sp>
        <p:nvSpPr>
          <p:cNvPr id="155" name="TrackLabel"/>
          <p:cNvSpPr txBox="1"/>
          <p:nvPr/>
        </p:nvSpPr>
        <p:spPr>
          <a:xfrm>
            <a:off x="1579169" y="1063447"/>
            <a:ext cx="687629"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Volume (#)</a:t>
            </a:r>
          </a:p>
        </p:txBody>
      </p:sp>
      <p:sp>
        <p:nvSpPr>
          <p:cNvPr id="156" name="TrackLabel"/>
          <p:cNvSpPr txBox="1"/>
          <p:nvPr/>
        </p:nvSpPr>
        <p:spPr>
          <a:xfrm>
            <a:off x="648310" y="1063447"/>
            <a:ext cx="572414"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Price ($)</a:t>
            </a:r>
          </a:p>
        </p:txBody>
      </p:sp>
      <p:sp>
        <p:nvSpPr>
          <p:cNvPr id="157" name="TrackLabel"/>
          <p:cNvSpPr txBox="1"/>
          <p:nvPr/>
        </p:nvSpPr>
        <p:spPr>
          <a:xfrm>
            <a:off x="2647188" y="1063447"/>
            <a:ext cx="899770"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Proportions (%)</a:t>
            </a:r>
          </a:p>
        </p:txBody>
      </p:sp>
      <p:sp>
        <p:nvSpPr>
          <p:cNvPr id="158" name="LegendSwatch"/>
          <p:cNvSpPr txBox="1"/>
          <p:nvPr/>
        </p:nvSpPr>
        <p:spPr>
          <a:xfrm>
            <a:off x="444398" y="1063447"/>
            <a:ext cx="211226" cy="213970"/>
          </a:xfrm>
          <a:prstGeom prst="rect">
            <a:avLst/>
          </a:prstGeom>
          <a:solidFill>
            <a:srgbClr val="2E7D3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1375258" y="1063447"/>
            <a:ext cx="211226" cy="213970"/>
          </a:xfrm>
          <a:prstGeom prst="rect">
            <a:avLst/>
          </a:prstGeom>
          <a:solidFill>
            <a:srgbClr val="F2F2F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2442362" y="1063447"/>
            <a:ext cx="211226" cy="2139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Overview | Foreign penalties fund domestic Strategic Commercial Fleet (SCF) build-out.</a:t>
            </a:r>
          </a:p>
        </p:txBody>
      </p:sp>
      <p:sp>
        <p:nvSpPr>
          <p:cNvPr id="100" name="BackgroundBand"/>
          <p:cNvSpPr txBox="1"/>
          <p:nvPr/>
        </p:nvSpPr>
        <p:spPr>
          <a:xfrm>
            <a:off x="2480767" y="5979262"/>
            <a:ext cx="7427671" cy="453542"/>
          </a:xfrm>
          <a:prstGeom prst="rect">
            <a:avLst/>
          </a:prstGeom>
          <a:solidFill>
            <a:srgbClr val="DFE7EB"/>
          </a:solidFill>
          <a:ln w="3175">
            <a:solidFill>
              <a:srgbClr val="000000"/>
            </a:solidFill>
          </a:ln>
        </p:spPr>
        <p:txBody>
          <a:bodyPr wrap="square" anchor="ctr" lIns="91440" tIns="45720" rIns="91440" bIns="45720"/>
          <a:lstStyle/>
          <a:p>
            <a:pPr algn="ctr">
              <a:lnSpc>
                <a:spcPct val="100000"/>
              </a:lnSpc>
              <a:buNone/>
            </a:pPr>
            <a:endParaRPr lang="en-US"/>
          </a:p>
        </p:txBody>
      </p:sp>
      <p:sp>
        <p:nvSpPr>
          <p:cNvPr id="101" name="FlowNode"/>
          <p:cNvSpPr txBox="1"/>
          <p:nvPr/>
        </p:nvSpPr>
        <p:spPr>
          <a:xfrm>
            <a:off x="8039405" y="6082589"/>
            <a:ext cx="1828800" cy="293522"/>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Other foreign ship operators</a:t>
            </a:r>
          </a:p>
        </p:txBody>
      </p:sp>
      <p:sp>
        <p:nvSpPr>
          <p:cNvPr id="102" name="FlowNode"/>
          <p:cNvSpPr txBox="1"/>
          <p:nvPr/>
        </p:nvSpPr>
        <p:spPr>
          <a:xfrm>
            <a:off x="7160666" y="3951122"/>
            <a:ext cx="2249424" cy="293522"/>
          </a:xfrm>
          <a:prstGeom prst="rect">
            <a:avLst/>
          </a:prstGeom>
          <a:solidFill>
            <a:srgbClr val="6DCF9E"/>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Operating Subsidies</a:t>
            </a:r>
          </a:p>
        </p:txBody>
      </p:sp>
      <p:sp>
        <p:nvSpPr>
          <p:cNvPr id="103" name="FlowNode"/>
          <p:cNvSpPr txBox="1"/>
          <p:nvPr/>
        </p:nvSpPr>
        <p:spPr>
          <a:xfrm>
            <a:off x="6260897" y="6082589"/>
            <a:ext cx="1737360" cy="293522"/>
          </a:xfrm>
          <a:prstGeom prst="rect">
            <a:avLst/>
          </a:prstGeom>
          <a:solidFill>
            <a:srgbClr val="D9D9D9"/>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25-49% of orderbook at PRC</a:t>
            </a:r>
          </a:p>
        </p:txBody>
      </p:sp>
      <p:sp>
        <p:nvSpPr>
          <p:cNvPr id="104" name="FlowNode"/>
          <p:cNvSpPr txBox="1"/>
          <p:nvPr/>
        </p:nvSpPr>
        <p:spPr>
          <a:xfrm>
            <a:off x="4384548" y="6082589"/>
            <a:ext cx="1737360" cy="293522"/>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50% of orderbook / fleet from PRC</a:t>
            </a:r>
          </a:p>
        </p:txBody>
      </p:sp>
      <p:sp>
        <p:nvSpPr>
          <p:cNvPr id="105" name="FlowNode"/>
          <p:cNvSpPr txBox="1"/>
          <p:nvPr/>
        </p:nvSpPr>
        <p:spPr>
          <a:xfrm>
            <a:off x="4835347" y="3951122"/>
            <a:ext cx="2249424" cy="293522"/>
          </a:xfrm>
          <a:prstGeom prst="rect">
            <a:avLst/>
          </a:prstGeom>
          <a:solidFill>
            <a:srgbClr val="3D997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Capital Subsidies</a:t>
            </a:r>
          </a:p>
        </p:txBody>
      </p:sp>
      <p:sp>
        <p:nvSpPr>
          <p:cNvPr id="106" name="FlowNode"/>
          <p:cNvSpPr txBox="1"/>
          <p:nvPr/>
        </p:nvSpPr>
        <p:spPr>
          <a:xfrm>
            <a:off x="2509114" y="2624328"/>
            <a:ext cx="2251253" cy="293522"/>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US Built Ships</a:t>
            </a:r>
          </a:p>
        </p:txBody>
      </p:sp>
      <p:sp>
        <p:nvSpPr>
          <p:cNvPr id="107" name="FlowNode"/>
          <p:cNvSpPr txBox="1"/>
          <p:nvPr/>
        </p:nvSpPr>
        <p:spPr>
          <a:xfrm>
            <a:off x="2509114" y="5271516"/>
            <a:ext cx="5488229" cy="293522"/>
          </a:xfrm>
          <a:prstGeom prst="rect">
            <a:avLst/>
          </a:prstGeom>
          <a:solidFill>
            <a:srgbClr val="C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Penalties</a:t>
            </a:r>
          </a:p>
        </p:txBody>
      </p:sp>
      <p:sp>
        <p:nvSpPr>
          <p:cNvPr id="108" name="FlowNode"/>
          <p:cNvSpPr txBox="1"/>
          <p:nvPr/>
        </p:nvSpPr>
        <p:spPr>
          <a:xfrm>
            <a:off x="2509114" y="6082589"/>
            <a:ext cx="1737360" cy="293522"/>
          </a:xfrm>
          <a:prstGeom prst="rect">
            <a:avLst/>
          </a:prstGeom>
          <a:solidFill>
            <a:srgbClr val="A6A6A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PRC owned/operated</a:t>
            </a:r>
          </a:p>
        </p:txBody>
      </p:sp>
      <p:sp>
        <p:nvSpPr>
          <p:cNvPr id="109" name="RegularTonnageTaxes"/>
          <p:cNvSpPr txBox="1"/>
          <p:nvPr/>
        </p:nvSpPr>
        <p:spPr>
          <a:xfrm>
            <a:off x="8038490" y="5271516"/>
            <a:ext cx="1828800" cy="293522"/>
          </a:xfrm>
          <a:prstGeom prst="rect">
            <a:avLst/>
          </a:prstGeom>
          <a:solidFill>
            <a:srgbClr val="FFC000"/>
          </a:solidFill>
          <a:ln w="3175">
            <a:solidFill>
              <a:srgbClr val="000000"/>
            </a:solid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Regular Tonnage Taxes </a:t>
            </a:r>
            <a:br/>
            <a:r>
              <a:rPr lang="en-US" sz="1000" i="1" dirty="0">
                <a:solidFill>
                  <a:srgbClr val="000000"/>
                </a:solidFill>
                <a:latin typeface="Arial"/>
                <a:ea typeface="Arial"/>
                <a:cs typeface="Arial"/>
              </a:rPr>
              <a:t>(Subject to exemptions)</a:t>
            </a:r>
          </a:p>
        </p:txBody>
      </p:sp>
      <p:sp>
        <p:nvSpPr>
          <p:cNvPr id="110" name="FlowNode"/>
          <p:cNvSpPr txBox="1"/>
          <p:nvPr/>
        </p:nvSpPr>
        <p:spPr>
          <a:xfrm>
            <a:off x="1061618" y="1296619"/>
            <a:ext cx="1371600" cy="1097280"/>
          </a:xfrm>
          <a:prstGeom prst="rect">
            <a:avLst/>
          </a:prstGeom>
          <a:solidFill>
            <a:srgbClr val="223E59"/>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 Shipbuilders</a:t>
            </a:r>
          </a:p>
        </p:txBody>
      </p:sp>
      <p:sp>
        <p:nvSpPr>
          <p:cNvPr id="111" name="FlowNode"/>
          <p:cNvSpPr txBox="1"/>
          <p:nvPr/>
        </p:nvSpPr>
        <p:spPr>
          <a:xfrm>
            <a:off x="1061618" y="2624328"/>
            <a:ext cx="1371600" cy="1097280"/>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US-Built, US-Flagged Vessel Owners / Operators</a:t>
            </a:r>
          </a:p>
        </p:txBody>
      </p:sp>
      <p:sp>
        <p:nvSpPr>
          <p:cNvPr id="112" name="FlowNode"/>
          <p:cNvSpPr txBox="1"/>
          <p:nvPr/>
        </p:nvSpPr>
        <p:spPr>
          <a:xfrm>
            <a:off x="1061618" y="5278831"/>
            <a:ext cx="1371600" cy="1097280"/>
          </a:xfrm>
          <a:prstGeom prst="rect">
            <a:avLst/>
          </a:prstGeom>
          <a:solidFill>
            <a:srgbClr val="808080"/>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Foreign Vessel Owners / Operators</a:t>
            </a:r>
          </a:p>
        </p:txBody>
      </p:sp>
      <p:pic>
        <p:nvPicPr>
          <p:cNvPr id="113" name="ForeignTierFlag"/>
          <p:cNvPicPr>
            <a:picLocks noChangeAspect="1"/>
          </p:cNvPicPr>
          <p:nvPr/>
        </p:nvPicPr>
        <p:blipFill>
          <a:blip r:embed="rId2"/>
          <a:stretch>
            <a:fillRect/>
          </a:stretch>
        </p:blipFill>
        <p:spPr>
          <a:xfrm>
            <a:off x="262433" y="5644591"/>
            <a:ext cx="548640" cy="365760"/>
          </a:xfrm>
          <a:prstGeom prst="rect">
            <a:avLst/>
          </a:prstGeom>
        </p:spPr>
      </p:pic>
      <p:pic>
        <p:nvPicPr>
          <p:cNvPr id="114" name="DomesticTierFlag"/>
          <p:cNvPicPr>
            <a:picLocks noChangeAspect="1"/>
          </p:cNvPicPr>
          <p:nvPr/>
        </p:nvPicPr>
        <p:blipFill>
          <a:blip r:embed="rId3"/>
          <a:stretch>
            <a:fillRect/>
          </a:stretch>
        </p:blipFill>
        <p:spPr>
          <a:xfrm>
            <a:off x="189281" y="1662379"/>
            <a:ext cx="694944" cy="365760"/>
          </a:xfrm>
          <a:prstGeom prst="rect">
            <a:avLst/>
          </a:prstGeom>
        </p:spPr>
      </p:pic>
      <p:sp>
        <p:nvSpPr>
          <p:cNvPr id="115" name="FlowNode"/>
          <p:cNvSpPr txBox="1"/>
          <p:nvPr/>
        </p:nvSpPr>
        <p:spPr>
          <a:xfrm>
            <a:off x="1061618" y="3951122"/>
            <a:ext cx="1371600" cy="1097280"/>
          </a:xfrm>
          <a:prstGeom prst="rect">
            <a:avLst/>
          </a:prstGeom>
          <a:solidFill>
            <a:srgbClr val="99B9D8"/>
          </a:solidFill>
          <a:ln w="12700">
            <a:solidFill>
              <a:srgbClr val="000000"/>
            </a:solidFill>
          </a:ln>
        </p:spPr>
        <p:txBody>
          <a:bodyPr wrap="square" anchor="ctr" lIns="91440" tIns="45720" rIns="91440" bIns="45720"/>
          <a:lstStyle/>
          <a:p>
            <a:pPr algn="ctr">
              <a:lnSpc>
                <a:spcPct val="100000"/>
              </a:lnSpc>
              <a:buNone/>
            </a:pPr>
            <a:r>
              <a:rPr lang="en-US" sz="1200" dirty="0">
                <a:solidFill>
                  <a:srgbClr val="000000"/>
                </a:solidFill>
                <a:latin typeface="Arial"/>
                <a:ea typeface="Arial"/>
                <a:cs typeface="Arial"/>
              </a:rPr>
              <a:t>US Government</a:t>
            </a:r>
          </a:p>
        </p:txBody>
      </p:sp>
      <p:sp>
        <p:nvSpPr>
          <p:cNvPr id="116" name="MaritimeSecurityTrustFund"/>
          <p:cNvSpPr txBox="1"/>
          <p:nvPr/>
        </p:nvSpPr>
        <p:spPr>
          <a:xfrm>
            <a:off x="2509114" y="4754880"/>
            <a:ext cx="9228125" cy="293522"/>
          </a:xfrm>
          <a:prstGeom prst="rect">
            <a:avLst/>
          </a:prstGeom>
          <a:solidFill>
            <a:srgbClr val="1B4332"/>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Maritime Security Trust Fund </a:t>
            </a:r>
            <a:r>
              <a:rPr lang="en-US" sz="1000" i="1" dirty="0">
                <a:solidFill>
                  <a:srgbClr val="FFFFFF"/>
                </a:solidFill>
                <a:latin typeface="Arial"/>
                <a:ea typeface="Arial"/>
                <a:cs typeface="Arial"/>
              </a:rPr>
              <a:t>($20B cap, appropriations specified from FY26-FY35)</a:t>
            </a:r>
          </a:p>
        </p:txBody>
      </p:sp>
      <p:cxnSp>
        <p:nvCxnSpPr>
          <p:cNvPr id="117" name="FundingRouteArrow"/>
          <p:cNvCxnSpPr/>
          <p:nvPr/>
        </p:nvCxnSpPr>
        <p:spPr>
          <a:xfrm rot="5400000" flipH="1" flipV="1">
            <a:off x="4057193" y="4886554"/>
            <a:ext cx="516636" cy="1875434"/>
          </a:xfrm>
          <a:prstGeom prst="bentConnector3">
            <a:avLst/>
          </a:prstGeom>
          <a:ln w="12700">
            <a:solidFill>
              <a:srgbClr val="000000"/>
            </a:solidFill>
            <a:tailEnd type="triangle" w="med" len="med"/>
          </a:ln>
        </p:spPr>
      </p:cxnSp>
      <p:cxnSp>
        <p:nvCxnSpPr>
          <p:cNvPr id="118" name="FundingRouteArrow"/>
          <p:cNvCxnSpPr/>
          <p:nvPr/>
        </p:nvCxnSpPr>
        <p:spPr>
          <a:xfrm rot="16200000" flipV="1">
            <a:off x="5932627" y="4886554"/>
            <a:ext cx="516636" cy="1875434"/>
          </a:xfrm>
          <a:prstGeom prst="bentConnector3">
            <a:avLst/>
          </a:prstGeom>
          <a:ln w="12700">
            <a:solidFill>
              <a:srgbClr val="000000"/>
            </a:solidFill>
            <a:tailEnd type="triangle" w="med" len="med"/>
          </a:ln>
        </p:spPr>
      </p:cxnSp>
      <p:cxnSp>
        <p:nvCxnSpPr>
          <p:cNvPr id="119" name="FundingRouteArrow"/>
          <p:cNvCxnSpPr/>
          <p:nvPr/>
        </p:nvCxnSpPr>
        <p:spPr>
          <a:xfrm rot="5400000" flipH="1" flipV="1">
            <a:off x="6077102" y="4225442"/>
            <a:ext cx="223114" cy="1869948"/>
          </a:xfrm>
          <a:prstGeom prst="bentConnector3">
            <a:avLst/>
          </a:prstGeom>
          <a:ln w="12700">
            <a:solidFill>
              <a:srgbClr val="000000"/>
            </a:solidFill>
            <a:tailEnd type="triangle" w="med" len="med"/>
          </a:ln>
        </p:spPr>
      </p:cxnSp>
      <p:cxnSp>
        <p:nvCxnSpPr>
          <p:cNvPr id="120" name="FundingRouteArrow"/>
          <p:cNvCxnSpPr/>
          <p:nvPr/>
        </p:nvCxnSpPr>
        <p:spPr>
          <a:xfrm rot="16200000" flipV="1">
            <a:off x="7926934" y="4245559"/>
            <a:ext cx="223114" cy="1829714"/>
          </a:xfrm>
          <a:prstGeom prst="bentConnector3">
            <a:avLst/>
          </a:prstGeom>
          <a:ln w="12700">
            <a:solidFill>
              <a:srgbClr val="000000"/>
            </a:solidFill>
            <a:tailEnd type="triangle" w="med" len="med"/>
          </a:ln>
        </p:spPr>
      </p:cxnSp>
      <p:pic>
        <p:nvPicPr>
          <p:cNvPr id="121" name="OwnerTierFlag"/>
          <p:cNvPicPr>
            <a:picLocks noChangeAspect="1"/>
          </p:cNvPicPr>
          <p:nvPr/>
        </p:nvPicPr>
        <p:blipFill>
          <a:blip r:embed="rId3"/>
          <a:stretch>
            <a:fillRect/>
          </a:stretch>
        </p:blipFill>
        <p:spPr>
          <a:xfrm>
            <a:off x="189281" y="2990088"/>
            <a:ext cx="694944" cy="365760"/>
          </a:xfrm>
          <a:prstGeom prst="rect">
            <a:avLst/>
          </a:prstGeom>
        </p:spPr>
      </p:pic>
      <p:pic>
        <p:nvPicPr>
          <p:cNvPr id="122" name="GovernmentTierFlag"/>
          <p:cNvPicPr>
            <a:picLocks noChangeAspect="1"/>
          </p:cNvPicPr>
          <p:nvPr/>
        </p:nvPicPr>
        <p:blipFill>
          <a:blip r:embed="rId3"/>
          <a:stretch>
            <a:fillRect/>
          </a:stretch>
        </p:blipFill>
        <p:spPr>
          <a:xfrm>
            <a:off x="189281" y="4316882"/>
            <a:ext cx="694944" cy="365760"/>
          </a:xfrm>
          <a:prstGeom prst="rect">
            <a:avLst/>
          </a:prstGeom>
        </p:spPr>
      </p:pic>
      <p:cxnSp>
        <p:nvCxnSpPr>
          <p:cNvPr id="123" name="OwnerOperatorRouteArrow"/>
          <p:cNvCxnSpPr/>
          <p:nvPr/>
        </p:nvCxnSpPr>
        <p:spPr>
          <a:xfrm rot="5400000" flipH="1" flipV="1">
            <a:off x="7449617" y="3919118"/>
            <a:ext cx="510235" cy="1162202"/>
          </a:xfrm>
          <a:prstGeom prst="bentConnector3">
            <a:avLst/>
          </a:prstGeom>
          <a:ln w="12700">
            <a:solidFill>
              <a:srgbClr val="000000"/>
            </a:solidFill>
            <a:tailEnd type="triangle" w="med" len="med"/>
          </a:ln>
        </p:spPr>
      </p:cxnSp>
      <p:cxnSp>
        <p:nvCxnSpPr>
          <p:cNvPr id="124" name="OwnerOperatorRouteArrow"/>
          <p:cNvCxnSpPr/>
          <p:nvPr/>
        </p:nvCxnSpPr>
        <p:spPr>
          <a:xfrm rot="16200000" flipV="1">
            <a:off x="6286500" y="3918204"/>
            <a:ext cx="510235" cy="1163117"/>
          </a:xfrm>
          <a:prstGeom prst="bentConnector3">
            <a:avLst/>
          </a:prstGeom>
          <a:ln w="12700">
            <a:solidFill>
              <a:srgbClr val="000000"/>
            </a:solidFill>
            <a:tailEnd type="triangle" w="med" len="med"/>
          </a:ln>
        </p:spPr>
      </p:cxnSp>
      <p:cxnSp>
        <p:nvCxnSpPr>
          <p:cNvPr id="125" name="BuildRouteArrow"/>
          <p:cNvCxnSpPr/>
          <p:nvPr/>
        </p:nvCxnSpPr>
        <p:spPr>
          <a:xfrm>
            <a:off x="2433218" y="1845259"/>
            <a:ext cx="1201522" cy="779069"/>
          </a:xfrm>
          <a:prstGeom prst="bentConnector2">
            <a:avLst/>
          </a:prstGeom>
          <a:ln w="12700">
            <a:solidFill>
              <a:srgbClr val="000000"/>
            </a:solidFill>
            <a:tailEnd type="triangle" w="med" len="med"/>
          </a:ln>
        </p:spPr>
      </p:cxnSp>
      <p:cxnSp>
        <p:nvCxnSpPr>
          <p:cNvPr id="126" name="SubsidyRouteArrow"/>
          <p:cNvCxnSpPr/>
          <p:nvPr/>
        </p:nvCxnSpPr>
        <p:spPr>
          <a:xfrm rot="16200000" flipV="1">
            <a:off x="4280306" y="2272284"/>
            <a:ext cx="1034186" cy="2325319"/>
          </a:xfrm>
          <a:prstGeom prst="bentConnector3">
            <a:avLst/>
          </a:prstGeom>
          <a:ln w="12700">
            <a:solidFill>
              <a:srgbClr val="000000"/>
            </a:solidFill>
            <a:tailEnd type="triangle" w="med" len="med"/>
          </a:ln>
        </p:spPr>
      </p:cxnSp>
      <p:cxnSp>
        <p:nvCxnSpPr>
          <p:cNvPr id="127" name="SubsidyRouteArrow"/>
          <p:cNvCxnSpPr/>
          <p:nvPr/>
        </p:nvCxnSpPr>
        <p:spPr>
          <a:xfrm rot="16200000" flipV="1">
            <a:off x="5443423" y="1109167"/>
            <a:ext cx="1034186" cy="4650638"/>
          </a:xfrm>
          <a:prstGeom prst="bentConnector3">
            <a:avLst/>
          </a:prstGeom>
          <a:ln w="12700">
            <a:solidFill>
              <a:srgbClr val="000000"/>
            </a:solidFill>
            <a:tailEnd type="triangle" w="med" len="med"/>
          </a:ln>
        </p:spPr>
      </p:cxnSp>
      <p:sp>
        <p:nvSpPr>
          <p:cNvPr id="128" name="SCFTarget"/>
          <p:cNvSpPr txBox="1"/>
          <p:nvPr/>
        </p:nvSpPr>
        <p:spPr>
          <a:xfrm>
            <a:off x="7998257" y="2134210"/>
            <a:ext cx="3738067" cy="748894"/>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Strategic Commercial Fleet (SCF)</a:t>
            </a:r>
            <a:br/>
            <a:r>
              <a:rPr lang="en-US" sz="1000" i="1" dirty="0">
                <a:solidFill>
                  <a:srgbClr val="FFFFFF"/>
                </a:solidFill>
                <a:latin typeface="Arial"/>
                <a:ea typeface="Arial"/>
                <a:cs typeface="Arial"/>
              </a:rPr>
              <a:t>(250 commercial ships for foreign trade only; </a:t>
            </a:r>
            <a:r>
              <a:rPr lang="en-US" sz="1000" b="1" i="1" dirty="0">
                <a:solidFill>
                  <a:srgbClr val="FFFFFF"/>
                </a:solidFill>
                <a:latin typeface="Arial"/>
                <a:ea typeface="Arial"/>
                <a:cs typeface="Arial"/>
              </a:rPr>
              <a:t>permanently ineligible for coastwise trade i.e., Jones Act</a:t>
            </a:r>
            <a:r>
              <a:rPr lang="en-US" sz="1000" i="1" dirty="0">
                <a:solidFill>
                  <a:srgbClr val="FFFFFF"/>
                </a:solidFill>
                <a:latin typeface="Arial"/>
                <a:ea typeface="Arial"/>
                <a:cs typeface="Arial"/>
              </a:rPr>
              <a:t>)</a:t>
            </a:r>
          </a:p>
        </p:txBody>
      </p:sp>
      <p:sp>
        <p:nvSpPr>
          <p:cNvPr id="129" name="EdgeVerb"/>
          <p:cNvSpPr txBox="1"/>
          <p:nvPr/>
        </p:nvSpPr>
        <p:spPr>
          <a:xfrm>
            <a:off x="2720340" y="1762049"/>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Sells</a:t>
            </a:r>
          </a:p>
        </p:txBody>
      </p:sp>
      <p:sp>
        <p:nvSpPr>
          <p:cNvPr id="130" name="EdgeVerb"/>
          <p:cNvSpPr txBox="1"/>
          <p:nvPr/>
        </p:nvSpPr>
        <p:spPr>
          <a:xfrm>
            <a:off x="4834433" y="3554273"/>
            <a:ext cx="4574743"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Paid to US vessel owner / operators for each ship in SCF</a:t>
            </a:r>
          </a:p>
        </p:txBody>
      </p:sp>
      <p:sp>
        <p:nvSpPr>
          <p:cNvPr id="131" name="EdgeVerb"/>
          <p:cNvSpPr txBox="1"/>
          <p:nvPr/>
        </p:nvSpPr>
        <p:spPr>
          <a:xfrm>
            <a:off x="5998464" y="4538167"/>
            <a:ext cx="2249424"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Disburses</a:t>
            </a:r>
          </a:p>
        </p:txBody>
      </p:sp>
      <p:cxnSp>
        <p:nvCxnSpPr>
          <p:cNvPr id="132" name="StrategicCommercialFleetArrow"/>
          <p:cNvCxnSpPr/>
          <p:nvPr/>
        </p:nvCxnSpPr>
        <p:spPr>
          <a:xfrm flipV="1">
            <a:off x="4760366" y="2509114"/>
            <a:ext cx="3237890" cy="261518"/>
          </a:xfrm>
          <a:prstGeom prst="bentConnector3">
            <a:avLst/>
          </a:prstGeom>
          <a:ln w="12700">
            <a:solidFill>
              <a:srgbClr val="000000"/>
            </a:solidFill>
            <a:tailEnd type="triangle" w="med" len="med"/>
          </a:ln>
        </p:spPr>
      </p:cxnSp>
      <p:sp>
        <p:nvSpPr>
          <p:cNvPr id="133" name="EdgeVerb"/>
          <p:cNvSpPr txBox="1"/>
          <p:nvPr/>
        </p:nvSpPr>
        <p:spPr>
          <a:xfrm>
            <a:off x="5748833" y="2548433"/>
            <a:ext cx="1320394" cy="18105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Placed into service </a:t>
            </a:r>
          </a:p>
        </p:txBody>
      </p:sp>
      <p:cxnSp>
        <p:nvCxnSpPr>
          <p:cNvPr id="134" name="GovernmentPurchaseArrow"/>
          <p:cNvCxnSpPr/>
          <p:nvPr/>
        </p:nvCxnSpPr>
        <p:spPr>
          <a:xfrm flipV="1">
            <a:off x="1747418" y="2393899"/>
            <a:ext cx="0" cy="230429"/>
          </a:xfrm>
          <a:prstGeom prst="line">
            <a:avLst/>
          </a:prstGeom>
          <a:ln w="12700">
            <a:solidFill>
              <a:srgbClr val="000000"/>
            </a:solidFill>
            <a:tailEnd type="triangle" w="med" len="med"/>
          </a:ln>
        </p:spPr>
      </p:cxnSp>
      <p:sp>
        <p:nvSpPr>
          <p:cNvPr id="135" name="EdgeVerb"/>
          <p:cNvSpPr txBox="1"/>
          <p:nvPr/>
        </p:nvSpPr>
        <p:spPr>
          <a:xfrm>
            <a:off x="1878178" y="2423160"/>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Buys</a:t>
            </a:r>
          </a:p>
        </p:txBody>
      </p:sp>
      <p:sp>
        <p:nvSpPr>
          <p:cNvPr id="136" name="TaxCreditNote"/>
          <p:cNvSpPr txBox="1"/>
          <p:nvPr/>
        </p:nvSpPr>
        <p:spPr>
          <a:xfrm>
            <a:off x="8919058" y="1296619"/>
            <a:ext cx="2816352" cy="544068"/>
          </a:xfrm>
          <a:prstGeom prst="rect">
            <a:avLst/>
          </a:prstGeom>
          <a:noFill/>
          <a:ln w="3175">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Vessel and Shipyard Investment Tax Credits (40% and 25%, respectively) from Building Ships in America Act not shown</a:t>
            </a:r>
          </a:p>
        </p:txBody>
      </p:sp>
      <p:cxnSp>
        <p:nvCxnSpPr>
          <p:cNvPr id="137" name="PenaltyRouteArrow"/>
          <p:cNvCxnSpPr/>
          <p:nvPr/>
        </p:nvCxnSpPr>
        <p:spPr>
          <a:xfrm flipV="1">
            <a:off x="5253228" y="5565953"/>
            <a:ext cx="0" cy="516636"/>
          </a:xfrm>
          <a:prstGeom prst="line">
            <a:avLst/>
          </a:prstGeom>
          <a:ln w="12700">
            <a:solidFill>
              <a:srgbClr val="000000"/>
            </a:solidFill>
            <a:tailEnd type="triangle" w="med" len="med"/>
          </a:ln>
        </p:spPr>
      </p:cxnSp>
      <p:sp>
        <p:nvSpPr>
          <p:cNvPr id="138" name="EdgeVerb"/>
          <p:cNvSpPr txBox="1"/>
          <p:nvPr/>
        </p:nvSpPr>
        <p:spPr>
          <a:xfrm>
            <a:off x="4972507"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39" name="PenaltyRouteArrow"/>
          <p:cNvCxnSpPr/>
          <p:nvPr/>
        </p:nvCxnSpPr>
        <p:spPr>
          <a:xfrm flipH="1" flipV="1">
            <a:off x="8952890" y="5565953"/>
            <a:ext cx="0" cy="516636"/>
          </a:xfrm>
          <a:prstGeom prst="line">
            <a:avLst/>
          </a:prstGeom>
          <a:ln w="12700">
            <a:solidFill>
              <a:srgbClr val="000000"/>
            </a:solidFill>
            <a:tailEnd type="triangle" w="med" len="med"/>
          </a:ln>
        </p:spPr>
      </p:cxnSp>
      <p:sp>
        <p:nvSpPr>
          <p:cNvPr id="140" name="EdgeVerb"/>
          <p:cNvSpPr txBox="1"/>
          <p:nvPr/>
        </p:nvSpPr>
        <p:spPr>
          <a:xfrm>
            <a:off x="8672170"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41" name="CargoFees"/>
          <p:cNvSpPr txBox="1"/>
          <p:nvPr/>
        </p:nvSpPr>
        <p:spPr>
          <a:xfrm>
            <a:off x="9908438" y="5271516"/>
            <a:ext cx="1828800" cy="293522"/>
          </a:xfrm>
          <a:prstGeom prst="rect">
            <a:avLst/>
          </a:prstGeom>
          <a:solidFill>
            <a:srgbClr val="FB6B3C"/>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Cargo Fees ($0.01+ / kg)</a:t>
            </a:r>
            <a:br/>
            <a:r>
              <a:rPr lang="en-US" sz="1000" i="1" dirty="0">
                <a:solidFill>
                  <a:srgbClr val="FFFFFF"/>
                </a:solidFill>
                <a:latin typeface="Arial"/>
                <a:ea typeface="Arial"/>
                <a:cs typeface="Arial"/>
              </a:rPr>
              <a:t>SHIPS Act “Plus” only</a:t>
            </a:r>
          </a:p>
        </p:txBody>
      </p:sp>
      <p:cxnSp>
        <p:nvCxnSpPr>
          <p:cNvPr id="142" name="CargoFeeRouteArrow"/>
          <p:cNvCxnSpPr/>
          <p:nvPr/>
        </p:nvCxnSpPr>
        <p:spPr>
          <a:xfrm flipV="1">
            <a:off x="9908438" y="5565953"/>
            <a:ext cx="914400" cy="640080"/>
          </a:xfrm>
          <a:prstGeom prst="bentConnector2">
            <a:avLst/>
          </a:prstGeom>
          <a:ln w="12700">
            <a:solidFill>
              <a:srgbClr val="000000"/>
            </a:solidFill>
            <a:tailEnd type="triangle" w="med" len="med"/>
          </a:ln>
        </p:spPr>
      </p:cxnSp>
      <p:sp>
        <p:nvSpPr>
          <p:cNvPr id="143" name="EdgeVerb"/>
          <p:cNvSpPr txBox="1"/>
          <p:nvPr/>
        </p:nvSpPr>
        <p:spPr>
          <a:xfrm>
            <a:off x="10496398" y="5740603"/>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44" name="CargoFeeRouteArrow"/>
          <p:cNvCxnSpPr/>
          <p:nvPr/>
        </p:nvCxnSpPr>
        <p:spPr>
          <a:xfrm rot="16200000" flipV="1">
            <a:off x="8861450" y="3310128"/>
            <a:ext cx="223114" cy="3699662"/>
          </a:xfrm>
          <a:prstGeom prst="bentConnector3">
            <a:avLst/>
          </a:prstGeom>
          <a:ln w="12700">
            <a:solidFill>
              <a:srgbClr val="000000"/>
            </a:solidFill>
            <a:tailEnd type="triangle" w="med" len="med"/>
          </a:ln>
        </p:spPr>
      </p:cxnSp>
      <p:sp>
        <p:nvSpPr>
          <p:cNvPr id="145" name="PlusRowMarker"/>
          <p:cNvSpPr txBox="1"/>
          <p:nvPr/>
        </p:nvSpPr>
        <p:spPr>
          <a:xfrm>
            <a:off x="159106" y="6082589"/>
            <a:ext cx="756209" cy="293522"/>
          </a:xfrm>
          <a:prstGeom prst="rect">
            <a:avLst/>
          </a:prstGeom>
          <a:no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 ROW</a:t>
            </a:r>
          </a:p>
        </p:txBody>
      </p:sp>
      <p:sp>
        <p:nvSpPr>
          <p:cNvPr id="146" name="BottomToTopNote"/>
          <p:cNvSpPr txBox="1"/>
          <p:nvPr/>
        </p:nvSpPr>
        <p:spPr>
          <a:xfrm>
            <a:off x="127102" y="1024128"/>
            <a:ext cx="2816352" cy="224028"/>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Chart reads from bottom to top</a:t>
            </a:r>
          </a:p>
        </p:txBody>
      </p:sp>
      <p:sp>
        <p:nvSpPr>
          <p:cNvPr id="147" name="CrewRequirementCallout"/>
          <p:cNvSpPr txBox="1"/>
          <p:nvPr/>
        </p:nvSpPr>
        <p:spPr>
          <a:xfrm>
            <a:off x="4215384" y="1986991"/>
            <a:ext cx="1790395" cy="466344"/>
          </a:xfrm>
          <a:prstGeom prst="wedgeRectCallout">
            <a:avLst>
              <a:gd name="adj1" fmla="val 41650"/>
              <a:gd name="adj2" fmla="val 74944"/>
            </a:avLst>
          </a:prstGeom>
          <a:noFill/>
          <a:ln w="3175">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US crew required to participate in SCF; SHIPS Act states vessels will be crewed IAW </a:t>
            </a:r>
            <a:r>
              <a:rPr lang="en-US" sz="800" i="1" dirty="0">
                <a:solidFill>
                  <a:srgbClr val="000000"/>
                </a:solidFill>
                <a:latin typeface="Arial"/>
                <a:ea typeface="Arial"/>
                <a:cs typeface="Arial"/>
                <a:hlinkClick r:id="rId4"/>
              </a:rPr>
              <a:t>46 USC 8103</a:t>
            </a:r>
            <a:r>
              <a:rPr lang="en-US" sz="800" i="1" dirty="0">
                <a:solidFill>
                  <a:srgbClr val="000000"/>
                </a:solidFill>
                <a:latin typeface="Arial"/>
                <a:ea typeface="Arial"/>
                <a:cs typeface="Arial"/>
              </a:rPr>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IAMD (OBBBA and SHIELD)</a:t>
            </a:r>
          </a:p>
        </p:txBody>
      </p:sp>
      <p:sp>
        <p:nvSpPr>
          <p:cNvPr id="100" name="StepOne"/>
          <p:cNvSpPr txBox="1"/>
          <p:nvPr/>
        </p:nvSpPr>
        <p:spPr>
          <a:xfrm>
            <a:off x="477317" y="1720901"/>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relevant OBBBA items </a:t>
            </a:r>
            <a:r>
              <a:rPr lang="en-US" sz="1000" i="1" dirty="0">
                <a:solidFill>
                  <a:srgbClr val="000000"/>
                </a:solidFill>
                <a:latin typeface="Arial"/>
                <a:ea typeface="Arial"/>
                <a:cs typeface="Arial"/>
              </a:rPr>
              <a:t>(items shown are not exhaustive)</a:t>
            </a:r>
          </a:p>
        </p:txBody>
      </p:sp>
      <p:sp>
        <p:nvSpPr>
          <p:cNvPr id="101" name="ApproachStep"/>
          <p:cNvSpPr txBox="1"/>
          <p:nvPr/>
        </p:nvSpPr>
        <p:spPr>
          <a:xfrm>
            <a:off x="477317" y="2390242"/>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Allocate to domains to find maritime-specific funding</a:t>
            </a:r>
          </a:p>
        </p:txBody>
      </p:sp>
      <p:sp>
        <p:nvSpPr>
          <p:cNvPr id="102" name="ApproachStep"/>
          <p:cNvSpPr txBox="1"/>
          <p:nvPr/>
        </p:nvSpPr>
        <p:spPr>
          <a:xfrm>
            <a:off x="477317" y="3728009"/>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FY allocations to find TAM by year</a:t>
            </a:r>
          </a:p>
        </p:txBody>
      </p:sp>
      <p:sp>
        <p:nvSpPr>
          <p:cNvPr id="103" name="ApproachStep"/>
          <p:cNvSpPr txBox="1"/>
          <p:nvPr/>
        </p:nvSpPr>
        <p:spPr>
          <a:xfrm>
            <a:off x="477317" y="4396435"/>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4" name="ApproachStep"/>
          <p:cNvSpPr txBox="1"/>
          <p:nvPr/>
        </p:nvSpPr>
        <p:spPr>
          <a:xfrm>
            <a:off x="477317" y="5065776"/>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5" name="ApproachStep"/>
          <p:cNvSpPr txBox="1"/>
          <p:nvPr/>
        </p:nvSpPr>
        <p:spPr>
          <a:xfrm>
            <a:off x="477317" y="3058668"/>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Allocate to kill chain roles to find Total Funding</a:t>
            </a:r>
          </a:p>
        </p:txBody>
      </p:sp>
      <p:sp>
        <p:nvSpPr>
          <p:cNvPr id="106" name="FlowNode"/>
          <p:cNvSpPr txBox="1"/>
          <p:nvPr/>
        </p:nvSpPr>
        <p:spPr>
          <a:xfrm>
            <a:off x="10303459" y="3215945"/>
            <a:ext cx="1707185"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7" name="FlowNode"/>
          <p:cNvSpPr txBox="1"/>
          <p:nvPr/>
        </p:nvSpPr>
        <p:spPr>
          <a:xfrm>
            <a:off x="8445398"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Space</a:t>
            </a:r>
          </a:p>
        </p:txBody>
      </p:sp>
      <p:sp>
        <p:nvSpPr>
          <p:cNvPr id="108" name="FlowNode"/>
          <p:cNvSpPr txBox="1"/>
          <p:nvPr/>
        </p:nvSpPr>
        <p:spPr>
          <a:xfrm>
            <a:off x="7004304"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Ground</a:t>
            </a:r>
          </a:p>
        </p:txBody>
      </p:sp>
      <p:sp>
        <p:nvSpPr>
          <p:cNvPr id="109" name="FlowNode"/>
          <p:cNvSpPr txBox="1"/>
          <p:nvPr/>
        </p:nvSpPr>
        <p:spPr>
          <a:xfrm>
            <a:off x="10303459" y="3884371"/>
            <a:ext cx="1707185"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2733142" y="3884371"/>
            <a:ext cx="2072030"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1" name="FlowNode"/>
          <p:cNvSpPr txBox="1"/>
          <p:nvPr/>
        </p:nvSpPr>
        <p:spPr>
          <a:xfrm>
            <a:off x="2733142" y="4552798"/>
            <a:ext cx="2072030"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2" name="FlowNode"/>
          <p:cNvSpPr txBox="1"/>
          <p:nvPr/>
        </p:nvSpPr>
        <p:spPr>
          <a:xfrm>
            <a:off x="7583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3" name="FlowNode"/>
          <p:cNvSpPr txBox="1"/>
          <p:nvPr/>
        </p:nvSpPr>
        <p:spPr>
          <a:xfrm>
            <a:off x="8726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 Integration</a:t>
            </a:r>
          </a:p>
        </p:txBody>
      </p:sp>
      <p:sp>
        <p:nvSpPr>
          <p:cNvPr id="114" name="FlowNode"/>
          <p:cNvSpPr txBox="1"/>
          <p:nvPr/>
        </p:nvSpPr>
        <p:spPr>
          <a:xfrm>
            <a:off x="5562295" y="2546604"/>
            <a:ext cx="134142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a:t>
            </a:r>
          </a:p>
        </p:txBody>
      </p:sp>
      <p:sp>
        <p:nvSpPr>
          <p:cNvPr id="115" name="FlowNode"/>
          <p:cNvSpPr txBox="1"/>
          <p:nvPr/>
        </p:nvSpPr>
        <p:spPr>
          <a:xfrm>
            <a:off x="7713878" y="3884371"/>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FY allocations (%)</a:t>
            </a:r>
          </a:p>
        </p:txBody>
      </p:sp>
      <p:sp>
        <p:nvSpPr>
          <p:cNvPr id="116" name="FlowNode"/>
          <p:cNvSpPr txBox="1"/>
          <p:nvPr/>
        </p:nvSpPr>
        <p:spPr>
          <a:xfrm>
            <a:off x="7714793" y="455279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17" name="FlowNode"/>
          <p:cNvSpPr txBox="1"/>
          <p:nvPr/>
        </p:nvSpPr>
        <p:spPr>
          <a:xfrm>
            <a:off x="7714793" y="522213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18" name="FlowNode"/>
          <p:cNvSpPr txBox="1"/>
          <p:nvPr/>
        </p:nvSpPr>
        <p:spPr>
          <a:xfrm>
            <a:off x="10303459" y="2546604"/>
            <a:ext cx="170718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19" name="FlowNode"/>
          <p:cNvSpPr txBox="1"/>
          <p:nvPr/>
        </p:nvSpPr>
        <p:spPr>
          <a:xfrm>
            <a:off x="2733142" y="2546604"/>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0" name="FlowNode"/>
          <p:cNvSpPr txBox="1"/>
          <p:nvPr/>
        </p:nvSpPr>
        <p:spPr>
          <a:xfrm>
            <a:off x="2733142"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test bed program ($)</a:t>
            </a:r>
          </a:p>
        </p:txBody>
      </p:sp>
      <p:sp>
        <p:nvSpPr>
          <p:cNvPr id="121" name="FlowNode"/>
          <p:cNvSpPr txBox="1"/>
          <p:nvPr/>
        </p:nvSpPr>
        <p:spPr>
          <a:xfrm>
            <a:off x="7861097"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defense systems ($)</a:t>
            </a:r>
          </a:p>
        </p:txBody>
      </p:sp>
      <p:sp>
        <p:nvSpPr>
          <p:cNvPr id="122" name="FlowNode"/>
          <p:cNvSpPr txBox="1"/>
          <p:nvPr/>
        </p:nvSpPr>
        <p:spPr>
          <a:xfrm>
            <a:off x="5297119"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Military missile defense capabilities ($)</a:t>
            </a:r>
          </a:p>
        </p:txBody>
      </p:sp>
      <p:sp>
        <p:nvSpPr>
          <p:cNvPr id="123" name="FlowNode"/>
          <p:cNvSpPr txBox="1"/>
          <p:nvPr/>
        </p:nvSpPr>
        <p:spPr>
          <a:xfrm>
            <a:off x="10303459" y="1878178"/>
            <a:ext cx="1707185"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4" name="FlowNode"/>
          <p:cNvSpPr txBox="1"/>
          <p:nvPr/>
        </p:nvSpPr>
        <p:spPr>
          <a:xfrm>
            <a:off x="5297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5" name="FlowNode"/>
          <p:cNvSpPr txBox="1"/>
          <p:nvPr/>
        </p:nvSpPr>
        <p:spPr>
          <a:xfrm>
            <a:off x="2732227" y="3215030"/>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26" name="FlowNode"/>
          <p:cNvSpPr txBox="1"/>
          <p:nvPr/>
        </p:nvSpPr>
        <p:spPr>
          <a:xfrm>
            <a:off x="6440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a:t>
            </a:r>
          </a:p>
        </p:txBody>
      </p:sp>
      <p:sp>
        <p:nvSpPr>
          <p:cNvPr id="127" name="FlowNode"/>
          <p:cNvSpPr txBox="1"/>
          <p:nvPr/>
        </p:nvSpPr>
        <p:spPr>
          <a:xfrm>
            <a:off x="10303459" y="4552798"/>
            <a:ext cx="1707185"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8" name="FlowNode"/>
          <p:cNvSpPr txBox="1"/>
          <p:nvPr/>
        </p:nvSpPr>
        <p:spPr>
          <a:xfrm>
            <a:off x="10303459" y="5222138"/>
            <a:ext cx="1707185" cy="328270"/>
          </a:xfrm>
          <a:prstGeom prst="rect">
            <a:avLst/>
          </a:prstGeom>
          <a:solidFill>
            <a:srgbClr val="3D5972"/>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9" name="FlowNode"/>
          <p:cNvSpPr txBox="1"/>
          <p:nvPr/>
        </p:nvSpPr>
        <p:spPr>
          <a:xfrm>
            <a:off x="2733142" y="5222138"/>
            <a:ext cx="2072030"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30" name="OperatorGlyph"/>
          <p:cNvSpPr txBox="1"/>
          <p:nvPr/>
        </p:nvSpPr>
        <p:spPr>
          <a:xfrm>
            <a:off x="9862718" y="252831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9862718" y="386516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OperatorGlyph"/>
          <p:cNvSpPr txBox="1"/>
          <p:nvPr/>
        </p:nvSpPr>
        <p:spPr>
          <a:xfrm>
            <a:off x="9862718" y="520293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3" name="OperatorGlyph"/>
          <p:cNvSpPr txBox="1"/>
          <p:nvPr/>
        </p:nvSpPr>
        <p:spPr>
          <a:xfrm>
            <a:off x="9862718" y="453451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OperatorGlyph"/>
          <p:cNvSpPr txBox="1"/>
          <p:nvPr/>
        </p:nvSpPr>
        <p:spPr>
          <a:xfrm>
            <a:off x="9862718" y="31967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OperatorGlyph"/>
          <p:cNvSpPr txBox="1"/>
          <p:nvPr/>
        </p:nvSpPr>
        <p:spPr>
          <a:xfrm>
            <a:off x="9862718" y="1858975"/>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OperatorGlyph"/>
          <p:cNvSpPr txBox="1"/>
          <p:nvPr/>
        </p:nvSpPr>
        <p:spPr>
          <a:xfrm rot="2572505">
            <a:off x="4967935" y="252831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OperatorGlyph"/>
          <p:cNvSpPr txBox="1"/>
          <p:nvPr/>
        </p:nvSpPr>
        <p:spPr>
          <a:xfrm rot="2572505">
            <a:off x="6077102" y="453451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OperatorGlyph"/>
          <p:cNvSpPr txBox="1"/>
          <p:nvPr/>
        </p:nvSpPr>
        <p:spPr>
          <a:xfrm rot="2572505">
            <a:off x="6077102" y="520293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OperatorGlyph"/>
          <p:cNvSpPr txBox="1"/>
          <p:nvPr/>
        </p:nvSpPr>
        <p:spPr>
          <a:xfrm rot="2572505">
            <a:off x="6077102" y="386516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OperatorGlyph"/>
          <p:cNvSpPr txBox="1"/>
          <p:nvPr/>
        </p:nvSpPr>
        <p:spPr>
          <a:xfrm rot="2572505">
            <a:off x="4849063" y="31967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1" name="AllocationRouteArrow"/>
          <p:cNvCxnSpPr/>
          <p:nvPr/>
        </p:nvCxnSpPr>
        <p:spPr>
          <a:xfrm rot="5400000">
            <a:off x="7292340" y="20117"/>
            <a:ext cx="341071" cy="7387438"/>
          </a:xfrm>
          <a:prstGeom prst="bentConnector3">
            <a:avLst/>
          </a:prstGeom>
          <a:ln w="12700">
            <a:solidFill>
              <a:srgbClr val="000000"/>
            </a:solidFill>
            <a:tailEnd type="triangle" w="med" len="med"/>
          </a:ln>
        </p:spPr>
      </p:cxnSp>
      <p:cxnSp>
        <p:nvCxnSpPr>
          <p:cNvPr id="142" name="AllocationRouteArrow"/>
          <p:cNvCxnSpPr/>
          <p:nvPr/>
        </p:nvCxnSpPr>
        <p:spPr>
          <a:xfrm rot="5400000">
            <a:off x="7292340" y="689458"/>
            <a:ext cx="341071" cy="7387438"/>
          </a:xfrm>
          <a:prstGeom prst="bentConnector3">
            <a:avLst/>
          </a:prstGeom>
          <a:ln w="12700">
            <a:solidFill>
              <a:srgbClr val="000000"/>
            </a:solidFill>
            <a:tailEnd type="triangle" w="med" len="med"/>
          </a:ln>
        </p:spPr>
      </p:cxnSp>
      <p:sp>
        <p:nvSpPr>
          <p:cNvPr id="143" name="DomainAllocation"/>
          <p:cNvSpPr txBox="1"/>
          <p:nvPr/>
        </p:nvSpPr>
        <p:spPr>
          <a:xfrm>
            <a:off x="5495544" y="2309774"/>
            <a:ext cx="4335170" cy="607162"/>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Domain allocations (%)</a:t>
            </a:r>
          </a:p>
        </p:txBody>
      </p:sp>
      <p:sp>
        <p:nvSpPr>
          <p:cNvPr id="144" name="Plus Sign 131"/>
          <p:cNvSpPr txBox="1"/>
          <p:nvPr/>
        </p:nvSpPr>
        <p:spPr>
          <a:xfrm rot="5400000">
            <a:off x="4795114"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Plus Sign 132"/>
          <p:cNvSpPr txBox="1"/>
          <p:nvPr/>
        </p:nvSpPr>
        <p:spPr>
          <a:xfrm rot="5400000">
            <a:off x="7359091"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ApproachStepsHeader"/>
          <p:cNvSpPr txBox="1"/>
          <p:nvPr/>
        </p:nvSpPr>
        <p:spPr>
          <a:xfrm>
            <a:off x="477317" y="1378001"/>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47" name="ApproachHeaderRule"/>
          <p:cNvCxnSpPr/>
          <p:nvPr/>
        </p:nvCxnSpPr>
        <p:spPr>
          <a:xfrm flipH="1">
            <a:off x="478231" y="1704442"/>
            <a:ext cx="2093062" cy="1829"/>
          </a:xfrm>
          <a:prstGeom prst="line">
            <a:avLst/>
          </a:prstGeom>
          <a:ln w="12700">
            <a:solidFill>
              <a:srgbClr val="162029"/>
            </a:solidFill>
          </a:ln>
        </p:spPr>
      </p:cxnSp>
      <p:cxnSp>
        <p:nvCxnSpPr>
          <p:cNvPr id="148" name="AllocationRouteArrow"/>
          <p:cNvCxnSpPr/>
          <p:nvPr/>
        </p:nvCxnSpPr>
        <p:spPr>
          <a:xfrm rot="5400000">
            <a:off x="7293254" y="-1317650"/>
            <a:ext cx="340157" cy="7387438"/>
          </a:xfrm>
          <a:prstGeom prst="bentConnector3">
            <a:avLst>
              <a:gd name="adj1" fmla="val 15352"/>
            </a:avLst>
          </a:prstGeom>
          <a:ln w="12700">
            <a:solidFill>
              <a:srgbClr val="000000"/>
            </a:solidFill>
            <a:tailEnd type="triangle" w="med" len="med"/>
          </a:ln>
        </p:spPr>
      </p:cxnSp>
      <p:sp>
        <p:nvSpPr>
          <p:cNvPr id="149" name="KillChainAllocation"/>
          <p:cNvSpPr txBox="1"/>
          <p:nvPr/>
        </p:nvSpPr>
        <p:spPr>
          <a:xfrm>
            <a:off x="5258714" y="3008376"/>
            <a:ext cx="4572914" cy="563270"/>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Kill chain role allocations (%)</a:t>
            </a:r>
          </a:p>
        </p:txBody>
      </p:sp>
      <p:cxnSp>
        <p:nvCxnSpPr>
          <p:cNvPr id="150" name="AllocationRouteArrow"/>
          <p:cNvCxnSpPr/>
          <p:nvPr/>
        </p:nvCxnSpPr>
        <p:spPr>
          <a:xfrm rot="5400000">
            <a:off x="7292340" y="-649224"/>
            <a:ext cx="340157" cy="7388352"/>
          </a:xfrm>
          <a:prstGeom prst="bentConnector3">
            <a:avLst>
              <a:gd name="adj1" fmla="val 32676"/>
            </a:avLst>
          </a:prstGeom>
          <a:ln w="12700">
            <a:solidFill>
              <a:srgbClr val="000000"/>
            </a:solidFill>
            <a:tailEnd type="triangle" w="med" len="med"/>
          </a:ln>
        </p:spPr>
      </p:cxnSp>
      <p:cxnSp>
        <p:nvCxnSpPr>
          <p:cNvPr id="151" name="AllocationRouteArrow"/>
          <p:cNvCxnSpPr/>
          <p:nvPr/>
        </p:nvCxnSpPr>
        <p:spPr>
          <a:xfrm rot="5400000">
            <a:off x="7292340" y="1357884"/>
            <a:ext cx="341071" cy="7387438"/>
          </a:xfrm>
          <a:prstGeom prst="bentConnector3">
            <a:avLst/>
          </a:prstGeom>
          <a:ln w="12700">
            <a:solidFill>
              <a:srgbClr val="000000"/>
            </a:solidFill>
            <a:tailEnd type="triangle" w="med" len="med"/>
          </a:ln>
        </p:spPr>
      </p:cxnSp>
      <p:sp>
        <p:nvSpPr>
          <p:cNvPr id="152" name="LegendSwatch"/>
          <p:cNvSpPr txBox="1"/>
          <p:nvPr/>
        </p:nvSpPr>
        <p:spPr>
          <a:xfrm>
            <a:off x="8471916" y="1446581"/>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10993831" y="1446581"/>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7270394" y="1446581"/>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10021824" y="1446581"/>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56" name="LegendLabel"/>
          <p:cNvSpPr txBox="1"/>
          <p:nvPr/>
        </p:nvSpPr>
        <p:spPr>
          <a:xfrm>
            <a:off x="8675827" y="1446581"/>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57" name="LegendLabel"/>
          <p:cNvSpPr txBox="1"/>
          <p:nvPr/>
        </p:nvSpPr>
        <p:spPr>
          <a:xfrm>
            <a:off x="11198657" y="1446581"/>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58" name="LegendLabel"/>
          <p:cNvSpPr txBox="1"/>
          <p:nvPr/>
        </p:nvSpPr>
        <p:spPr>
          <a:xfrm>
            <a:off x="7474306" y="1446581"/>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59" name="LegendLabel"/>
          <p:cNvSpPr txBox="1"/>
          <p:nvPr/>
        </p:nvSpPr>
        <p:spPr>
          <a:xfrm>
            <a:off x="10225735" y="1446581"/>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0"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OBBBA / IDIQ approach</a:t>
            </a:r>
          </a:p>
        </p:txBody>
      </p:sp>
      <p:pic>
        <p:nvPicPr>
          <p:cNvPr id="161" name="Navy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unmanned adoption rate to find SAM</a:t>
            </a:r>
          </a:p>
        </p:txBody>
      </p:sp>
      <p:sp>
        <p:nvSpPr>
          <p:cNvPr id="105" name="ApproachStep"/>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specific platforms / effectors for missions</a:t>
            </a:r>
          </a:p>
        </p:txBody>
      </p:sp>
      <p:sp>
        <p:nvSpPr>
          <p:cNvPr id="106"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7. Multiply by Saronic market share to find Company TCV</a:t>
            </a:r>
          </a:p>
        </p:txBody>
      </p:sp>
      <p:sp>
        <p:nvSpPr>
          <p:cNvPr id="107"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4" name="FlowNode"/>
          <p:cNvSpPr txBox="1"/>
          <p:nvPr/>
        </p:nvSpPr>
        <p:spPr>
          <a:xfrm>
            <a:off x="517184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15"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6"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7" name="FlowNode"/>
          <p:cNvSpPr txBox="1"/>
          <p:nvPr/>
        </p:nvSpPr>
        <p:spPr>
          <a:xfrm>
            <a:off x="2745943" y="2211934"/>
            <a:ext cx="1848917"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18"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Littoral Combat Ship</a:t>
            </a:r>
          </a:p>
        </p:txBody>
      </p:sp>
      <p:sp>
        <p:nvSpPr>
          <p:cNvPr id="119" name="FlowNode"/>
          <p:cNvSpPr txBox="1"/>
          <p:nvPr/>
        </p:nvSpPr>
        <p:spPr>
          <a:xfrm>
            <a:off x="8326526"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20" name="FlowNode"/>
          <p:cNvSpPr txBox="1"/>
          <p:nvPr/>
        </p:nvSpPr>
        <p:spPr>
          <a:xfrm>
            <a:off x="7385609" y="4307738"/>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Mission allocations by platform and effector (%)</a:t>
            </a:r>
          </a:p>
        </p:txBody>
      </p:sp>
      <p:sp>
        <p:nvSpPr>
          <p:cNvPr id="121" name="FlowNode"/>
          <p:cNvSpPr txBox="1"/>
          <p:nvPr/>
        </p:nvSpPr>
        <p:spPr>
          <a:xfrm>
            <a:off x="7395667" y="5006340"/>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p>
        </p:txBody>
      </p:sp>
      <p:sp>
        <p:nvSpPr>
          <p:cNvPr id="122"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23" name="FlowNode"/>
          <p:cNvSpPr txBox="1"/>
          <p:nvPr/>
        </p:nvSpPr>
        <p:spPr>
          <a:xfrm>
            <a:off x="7395667" y="5704942"/>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24" name="FlowNode"/>
          <p:cNvSpPr txBox="1"/>
          <p:nvPr/>
        </p:nvSpPr>
        <p:spPr>
          <a:xfrm>
            <a:off x="274594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25" name="MissionCell"/>
          <p:cNvSpPr txBox="1"/>
          <p:nvPr/>
        </p:nvSpPr>
        <p:spPr>
          <a:xfrm>
            <a:off x="2539289"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26" name="MissionCell"/>
          <p:cNvSpPr txBox="1"/>
          <p:nvPr/>
        </p:nvSpPr>
        <p:spPr>
          <a:xfrm>
            <a:off x="488655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p>
        </p:txBody>
      </p:sp>
      <p:sp>
        <p:nvSpPr>
          <p:cNvPr id="127" name="MissionCell"/>
          <p:cNvSpPr txBox="1"/>
          <p:nvPr/>
        </p:nvSpPr>
        <p:spPr>
          <a:xfrm>
            <a:off x="8408822" y="1253642"/>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p>
        </p:txBody>
      </p:sp>
      <p:sp>
        <p:nvSpPr>
          <p:cNvPr id="128" name="MissionCell"/>
          <p:cNvSpPr txBox="1"/>
          <p:nvPr/>
        </p:nvSpPr>
        <p:spPr>
          <a:xfrm>
            <a:off x="6061558" y="1253642"/>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p>
        </p:txBody>
      </p:sp>
      <p:sp>
        <p:nvSpPr>
          <p:cNvPr id="129" name="MissionCell"/>
          <p:cNvSpPr txBox="1"/>
          <p:nvPr/>
        </p:nvSpPr>
        <p:spPr>
          <a:xfrm>
            <a:off x="7234733"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30" name="MissionCell"/>
          <p:cNvSpPr txBox="1"/>
          <p:nvPr/>
        </p:nvSpPr>
        <p:spPr>
          <a:xfrm>
            <a:off x="488655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31" name="MissionCell"/>
          <p:cNvSpPr txBox="1"/>
          <p:nvPr/>
        </p:nvSpPr>
        <p:spPr>
          <a:xfrm>
            <a:off x="840882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32" name="MissionCell"/>
          <p:cNvSpPr txBox="1"/>
          <p:nvPr/>
        </p:nvSpPr>
        <p:spPr>
          <a:xfrm>
            <a:off x="958291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p>
        </p:txBody>
      </p:sp>
      <p:sp>
        <p:nvSpPr>
          <p:cNvPr id="133" name="MissionCell"/>
          <p:cNvSpPr txBox="1"/>
          <p:nvPr/>
        </p:nvSpPr>
        <p:spPr>
          <a:xfrm>
            <a:off x="6061558" y="1622146"/>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34" name="MissionCell"/>
          <p:cNvSpPr txBox="1"/>
          <p:nvPr/>
        </p:nvSpPr>
        <p:spPr>
          <a:xfrm>
            <a:off x="371246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35" name="MissionCell"/>
          <p:cNvSpPr txBox="1"/>
          <p:nvPr/>
        </p:nvSpPr>
        <p:spPr>
          <a:xfrm>
            <a:off x="9582912" y="1253642"/>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p>
        </p:txBody>
      </p:sp>
      <p:sp>
        <p:nvSpPr>
          <p:cNvPr id="136" name="MissionCell"/>
          <p:cNvSpPr txBox="1"/>
          <p:nvPr/>
        </p:nvSpPr>
        <p:spPr>
          <a:xfrm>
            <a:off x="2539289" y="1625803"/>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37" name="Ticonderoga"/>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Ticonderoga</a:t>
            </a:r>
            <a:r>
              <a:rPr lang="en-US" sz="900" dirty="0">
                <a:solidFill>
                  <a:srgbClr val="FFFFFF"/>
                </a:solidFill>
                <a:latin typeface="Arial"/>
                <a:ea typeface="Arial"/>
                <a:cs typeface="Arial"/>
              </a:rPr>
              <a:t>-class cruisers</a:t>
            </a:r>
          </a:p>
        </p:txBody>
      </p:sp>
      <p:sp>
        <p:nvSpPr>
          <p:cNvPr id="138" name="ArleighBurke"/>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Arleigh Burke</a:t>
            </a:r>
            <a:r>
              <a:rPr lang="en-US" sz="900" dirty="0">
                <a:solidFill>
                  <a:srgbClr val="FFFFFF"/>
                </a:solidFill>
                <a:latin typeface="Arial"/>
                <a:ea typeface="Arial"/>
                <a:cs typeface="Arial"/>
              </a:rPr>
              <a:t>-class destroyers</a:t>
            </a:r>
          </a:p>
        </p:txBody>
      </p:sp>
      <p:sp>
        <p:nvSpPr>
          <p:cNvPr id="139" name="Zumwalt"/>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Zumwalt</a:t>
            </a:r>
            <a:r>
              <a:rPr lang="en-US" sz="900" dirty="0">
                <a:solidFill>
                  <a:srgbClr val="FFFFFF"/>
                </a:solidFill>
                <a:latin typeface="Arial"/>
                <a:ea typeface="Arial"/>
                <a:cs typeface="Arial"/>
              </a:rPr>
              <a:t>-class destroyers</a:t>
            </a:r>
          </a:p>
        </p:txBody>
      </p:sp>
      <p:sp>
        <p:nvSpPr>
          <p:cNvPr id="140" name="Constellation"/>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Constellation-</a:t>
            </a:r>
            <a:r>
              <a:rPr lang="en-US" sz="900" dirty="0">
                <a:solidFill>
                  <a:srgbClr val="FFFFFF"/>
                </a:solidFill>
                <a:latin typeface="Arial"/>
                <a:ea typeface="Arial"/>
                <a:cs typeface="Arial"/>
              </a:rPr>
              <a:t>class frigates</a:t>
            </a:r>
          </a:p>
        </p:txBody>
      </p:sp>
      <p:sp>
        <p:nvSpPr>
          <p:cNvPr id="141" name="Avenger"/>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b="1" i="1" dirty="0">
                <a:solidFill>
                  <a:srgbClr val="FFFFFF"/>
                </a:solidFill>
                <a:latin typeface="Arial"/>
                <a:ea typeface="Arial"/>
                <a:cs typeface="Arial"/>
              </a:rPr>
              <a:t>Avenger</a:t>
            </a:r>
            <a:r>
              <a:rPr lang="en-US" sz="900" b="1" dirty="0">
                <a:solidFill>
                  <a:srgbClr val="FFFFFF"/>
                </a:solidFill>
                <a:latin typeface="Arial"/>
                <a:ea typeface="Arial"/>
                <a:cs typeface="Arial"/>
              </a:rPr>
              <a:t>-class MCM ship</a:t>
            </a:r>
          </a:p>
        </p:txBody>
      </p:sp>
      <p:cxnSp>
        <p:nvCxnSpPr>
          <p:cNvPr id="142" name="MissionToPlatformArrow"/>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43" name="MissionToPlatformArrow"/>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44" name="MissionToPlatformArrow"/>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45" name="MissionToPlatformArrow"/>
          <p:cNvCxnSpPr/>
          <p:nvPr/>
        </p:nvCxnSpPr>
        <p:spPr>
          <a:xfrm rot="16200000" flipH="1">
            <a:off x="7236562" y="-1025957"/>
            <a:ext cx="370332" cy="7502652"/>
          </a:xfrm>
          <a:prstGeom prst="bentConnector3">
            <a:avLst/>
          </a:prstGeom>
          <a:ln w="12700">
            <a:solidFill>
              <a:srgbClr val="000000"/>
            </a:solidFill>
            <a:tailEnd type="triangle" w="med" len="med"/>
          </a:ln>
        </p:spPr>
      </p:cxnSp>
      <p:cxnSp>
        <p:nvCxnSpPr>
          <p:cNvPr id="146" name="MissionToPlatformArrow"/>
          <p:cNvCxnSpPr/>
          <p:nvPr/>
        </p:nvCxnSpPr>
        <p:spPr>
          <a:xfrm rot="16200000" flipH="1">
            <a:off x="6462979" y="-252374"/>
            <a:ext cx="370332" cy="5956402"/>
          </a:xfrm>
          <a:prstGeom prst="bentConnector3">
            <a:avLst/>
          </a:prstGeom>
          <a:ln w="12700">
            <a:solidFill>
              <a:srgbClr val="000000"/>
            </a:solidFill>
            <a:tailEnd type="triangle" w="med" len="med"/>
          </a:ln>
        </p:spPr>
      </p:cxnSp>
      <p:cxnSp>
        <p:nvCxnSpPr>
          <p:cNvPr id="147" name="MissionToPlatformArrow"/>
          <p:cNvCxnSpPr/>
          <p:nvPr/>
        </p:nvCxnSpPr>
        <p:spPr>
          <a:xfrm rot="16200000" flipH="1">
            <a:off x="5689397" y="521208"/>
            <a:ext cx="370332" cy="4409237"/>
          </a:xfrm>
          <a:prstGeom prst="bentConnector3">
            <a:avLst/>
          </a:prstGeom>
          <a:ln w="12700">
            <a:solidFill>
              <a:srgbClr val="000000"/>
            </a:solidFill>
            <a:tailEnd type="triangle" w="med" len="med"/>
          </a:ln>
        </p:spPr>
      </p:cxnSp>
      <p:sp>
        <p:nvSpPr>
          <p:cNvPr id="148" name="Programs"/>
          <p:cNvSpPr txBox="1"/>
          <p:nvPr/>
        </p:nvSpPr>
        <p:spPr>
          <a:xfrm>
            <a:off x="460583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49"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56" name="SummaryCollectionArrow"/>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57" name="SummaryCollectionArrow"/>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58" name="SummaryCollectionArrow"/>
          <p:cNvCxnSpPr/>
          <p:nvPr/>
        </p:nvCxnSpPr>
        <p:spPr>
          <a:xfrm rot="5400000">
            <a:off x="7356348" y="1888236"/>
            <a:ext cx="370332" cy="7262165"/>
          </a:xfrm>
          <a:prstGeom prst="bentConnector3">
            <a:avLst/>
          </a:prstGeom>
          <a:ln w="12700">
            <a:solidFill>
              <a:srgbClr val="000000"/>
            </a:solidFill>
            <a:tailEnd type="triangle" w="med" len="med"/>
          </a:ln>
        </p:spPr>
      </p:cxnSp>
      <p:sp>
        <p:nvSpPr>
          <p:cNvPr id="159"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0"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1" name="Projects"/>
          <p:cNvSpPr txBox="1"/>
          <p:nvPr/>
        </p:nvSpPr>
        <p:spPr>
          <a:xfrm>
            <a:off x="6466637"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62"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3"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4"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5"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66" name="Approach underline"/>
          <p:cNvCxnSpPr/>
          <p:nvPr/>
        </p:nvCxnSpPr>
        <p:spPr>
          <a:xfrm flipH="1">
            <a:off x="389534" y="1450238"/>
            <a:ext cx="1920240" cy="1829"/>
          </a:xfrm>
          <a:prstGeom prst="line">
            <a:avLst/>
          </a:prstGeom>
          <a:ln w="12700">
            <a:solidFill>
              <a:srgbClr val="162029"/>
            </a:solidFill>
          </a:ln>
        </p:spPr>
      </p:cxnSp>
      <p:sp>
        <p:nvSpPr>
          <p:cNvPr id="167" name="AntiShip"/>
          <p:cNvSpPr txBox="1"/>
          <p:nvPr/>
        </p:nvSpPr>
        <p:spPr>
          <a:xfrm>
            <a:off x="371246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Anti-Ship </a:t>
            </a:r>
            <a:br/>
            <a:r>
              <a:rPr lang="en-US" sz="900" dirty="0">
                <a:solidFill>
                  <a:srgbClr val="FFFFFF"/>
                </a:solidFill>
                <a:latin typeface="Arial"/>
                <a:ea typeface="Arial"/>
                <a:cs typeface="Arial"/>
              </a:rPr>
              <a:t>Warfare</a:t>
            </a:r>
          </a:p>
        </p:txBody>
      </p:sp>
      <p:sp>
        <p:nvSpPr>
          <p:cNvPr id="168" name="VBSS"/>
          <p:cNvSpPr txBox="1"/>
          <p:nvPr/>
        </p:nvSpPr>
        <p:spPr>
          <a:xfrm>
            <a:off x="10757916" y="1253642"/>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p>
        </p:txBody>
      </p:sp>
      <p:sp>
        <p:nvSpPr>
          <p:cNvPr id="169" name="MissionGridFrame"/>
          <p:cNvSpPr txBox="1"/>
          <p:nvPr/>
        </p:nvSpPr>
        <p:spPr>
          <a:xfrm>
            <a:off x="2438705" y="1199693"/>
            <a:ext cx="5940857"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cxnSp>
        <p:nvCxnSpPr>
          <p:cNvPr id="170" name="MissionToPlatformArrow"/>
          <p:cNvCxnSpPr/>
          <p:nvPr/>
        </p:nvCxnSpPr>
        <p:spPr>
          <a:xfrm rot="5400000">
            <a:off x="4425696" y="1228954"/>
            <a:ext cx="226771" cy="1739189"/>
          </a:xfrm>
          <a:prstGeom prst="bentConnector3">
            <a:avLst/>
          </a:prstGeom>
          <a:ln w="12700">
            <a:solidFill>
              <a:srgbClr val="000000"/>
            </a:solidFill>
            <a:tailEnd type="triangle" w="med" len="med"/>
          </a:ln>
        </p:spPr>
      </p:cxnSp>
      <p:sp>
        <p:nvSpPr>
          <p:cNvPr id="17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72"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73"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74"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7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76"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77"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78"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79"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primary approach</a:t>
            </a:r>
          </a:p>
        </p:txBody>
      </p:sp>
      <p:pic>
        <p:nvPicPr>
          <p:cNvPr id="180" name="Navy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Unmanned-specified</a:t>
            </a:r>
          </a:p>
        </p:txBody>
      </p:sp>
      <p:sp>
        <p:nvSpPr>
          <p:cNvPr id="100" name="ApproachStep"/>
          <p:cNvSpPr txBox="1"/>
          <p:nvPr/>
        </p:nvSpPr>
        <p:spPr>
          <a:xfrm>
            <a:off x="388620"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8620"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8620"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8620"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8620"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MethodNote"/>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2745943" y="1613002"/>
            <a:ext cx="1388974" cy="328270"/>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S/M UUV</a:t>
            </a:r>
          </a:p>
        </p:txBody>
      </p:sp>
      <p:sp>
        <p:nvSpPr>
          <p:cNvPr id="113" name="FlowNode"/>
          <p:cNvSpPr txBox="1"/>
          <p:nvPr/>
        </p:nvSpPr>
        <p:spPr>
          <a:xfrm>
            <a:off x="5322722"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Large / XL UUV</a:t>
            </a:r>
          </a:p>
        </p:txBody>
      </p:sp>
      <p:sp>
        <p:nvSpPr>
          <p:cNvPr id="114"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5" name="FlowNod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 - 100% </a:t>
            </a:r>
          </a:p>
        </p:txBody>
      </p:sp>
      <p:sp>
        <p:nvSpPr>
          <p:cNvPr id="116"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7"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8"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9" name="FlowNode"/>
          <p:cNvSpPr txBox="1"/>
          <p:nvPr/>
        </p:nvSpPr>
        <p:spPr>
          <a:xfrm>
            <a:off x="7900416"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Wave-powered UUV</a:t>
            </a:r>
          </a:p>
        </p:txBody>
      </p:sp>
      <p:sp>
        <p:nvSpPr>
          <p:cNvPr id="120" name="FlowNode"/>
          <p:cNvSpPr txBox="1"/>
          <p:nvPr/>
        </p:nvSpPr>
        <p:spPr>
          <a:xfrm>
            <a:off x="10478110"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Core Technologies</a:t>
            </a:r>
          </a:p>
        </p:txBody>
      </p:sp>
      <p:sp>
        <p:nvSpPr>
          <p:cNvPr id="121"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2"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6" name="Plus Sign 59"/>
          <p:cNvSpPr txBox="1"/>
          <p:nvPr/>
        </p:nvSpPr>
        <p:spPr>
          <a:xfrm rot="2572505">
            <a:off x="606155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27" name="SummaryCollectionArrow"/>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8" name="SummaryCollectionArrow"/>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9" name="SummaryCollectionArrow"/>
          <p:cNvCxnSpPr/>
          <p:nvPr/>
        </p:nvCxnSpPr>
        <p:spPr>
          <a:xfrm rot="5400000">
            <a:off x="7356348" y="590702"/>
            <a:ext cx="370332" cy="7262165"/>
          </a:xfrm>
          <a:prstGeom prst="bentConnector3">
            <a:avLst/>
          </a:prstGeom>
          <a:ln w="12700">
            <a:solidFill>
              <a:srgbClr val="000000"/>
            </a:solidFill>
            <a:tailEnd type="triangle" w="med" len="med"/>
          </a:ln>
        </p:spPr>
      </p:cxnSp>
      <p:sp>
        <p:nvSpPr>
          <p:cNvPr id="130" name="Plus Sign 66"/>
          <p:cNvSpPr txBox="1"/>
          <p:nvPr/>
        </p:nvSpPr>
        <p:spPr>
          <a:xfrm rot="2572505">
            <a:off x="606155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3"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4"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8" name="Approach underline"/>
          <p:cNvCxnSpPr/>
          <p:nvPr/>
        </p:nvCxnSpPr>
        <p:spPr>
          <a:xfrm flipH="1">
            <a:off x="389534" y="1450238"/>
            <a:ext cx="1920240" cy="1829"/>
          </a:xfrm>
          <a:prstGeom prst="line">
            <a:avLst/>
          </a:prstGeom>
          <a:ln w="12700">
            <a:solidFill>
              <a:srgbClr val="162029"/>
            </a:solidFill>
          </a:ln>
        </p:spPr>
      </p:cxn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42"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6"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7" name="ScopeChip"/>
          <p:cNvSpPr txBox="1"/>
          <p:nvPr/>
        </p:nvSpPr>
        <p:spPr>
          <a:xfrm>
            <a:off x="8340242" y="67666"/>
            <a:ext cx="2435047" cy="4572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Unmanned-specified</a:t>
            </a:r>
          </a:p>
        </p:txBody>
      </p:sp>
      <p:pic>
        <p:nvPicPr>
          <p:cNvPr id="148" name="Navy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USV-specified</a:t>
            </a:r>
          </a:p>
        </p:txBody>
      </p:sp>
      <p:sp>
        <p:nvSpPr>
          <p:cNvPr id="100" name="ApproachStep"/>
          <p:cNvSpPr txBox="1"/>
          <p:nvPr/>
        </p:nvSpPr>
        <p:spPr>
          <a:xfrm>
            <a:off x="389534"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9534"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9534"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9534"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9534"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3"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4"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5"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6" name="FlowNode"/>
          <p:cNvSpPr txBox="1"/>
          <p:nvPr/>
        </p:nvSpPr>
        <p:spPr>
          <a:xfrm>
            <a:off x="9536278"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7" name="sUSVInput"/>
          <p:cNvSpPr txBox="1"/>
          <p:nvPr/>
        </p:nvSpPr>
        <p:spPr>
          <a:xfrm>
            <a:off x="2745943"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 </a:t>
            </a:r>
            <a:r>
              <a:rPr lang="en-US" sz="900" dirty="0">
                <a:solidFill>
                  <a:srgbClr val="FFFFFF"/>
                </a:solidFill>
                <a:latin typeface="Arial"/>
                <a:ea typeface="Arial"/>
                <a:cs typeface="Arial"/>
              </a:rPr>
              <a:t>(incl. Corsair- and Mirage-equivalent platforms)</a:t>
            </a:r>
          </a:p>
        </p:txBody>
      </p:sp>
      <p:sp>
        <p:nvSpPr>
          <p:cNvPr id="118" name="mUSVInput"/>
          <p:cNvSpPr txBox="1"/>
          <p:nvPr/>
        </p:nvSpPr>
        <p:spPr>
          <a:xfrm>
            <a:off x="6141110"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9"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0"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1"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2"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Plus Sign 59"/>
          <p:cNvSpPr txBox="1"/>
          <p:nvPr/>
        </p:nvSpPr>
        <p:spPr>
          <a:xfrm rot="2572505">
            <a:off x="605332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AdoptionRat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br/>
            <a:r>
              <a:rPr lang="en-US" sz="900" i="1" dirty="0">
                <a:solidFill>
                  <a:srgbClr val="FFFFFF"/>
                </a:solidFill>
                <a:latin typeface="Arial"/>
                <a:ea typeface="Arial"/>
                <a:cs typeface="Arial"/>
              </a:rPr>
              <a:t>Rate: 100% </a:t>
            </a:r>
          </a:p>
        </p:txBody>
      </p:sp>
      <p:cxnSp>
        <p:nvCxnSpPr>
          <p:cNvPr id="126" name="SummaryCollectionArrow"/>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7" name="SummaryCollectionArrow"/>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8" name="SummaryCollectionArrow"/>
          <p:cNvCxnSpPr/>
          <p:nvPr/>
        </p:nvCxnSpPr>
        <p:spPr>
          <a:xfrm rot="5400000">
            <a:off x="7356348" y="590702"/>
            <a:ext cx="370332" cy="7262165"/>
          </a:xfrm>
          <a:prstGeom prst="bentConnector3">
            <a:avLst/>
          </a:prstGeom>
          <a:ln w="12700">
            <a:solidFill>
              <a:srgbClr val="000000"/>
            </a:solidFill>
            <a:tailEnd type="triangle" w="med" len="med"/>
          </a:ln>
        </p:spPr>
      </p:cxnSp>
      <p:sp>
        <p:nvSpPr>
          <p:cNvPr id="129" name="Plus Sign 66"/>
          <p:cNvSpPr txBox="1"/>
          <p:nvPr/>
        </p:nvSpPr>
        <p:spPr>
          <a:xfrm rot="2572505">
            <a:off x="605332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0"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2"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3"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7" name="Approach underline"/>
          <p:cNvCxnSpPr/>
          <p:nvPr/>
        </p:nvCxnSpPr>
        <p:spPr>
          <a:xfrm flipH="1">
            <a:off x="389534" y="1450238"/>
            <a:ext cx="1920240" cy="1829"/>
          </a:xfrm>
          <a:prstGeom prst="line">
            <a:avLst/>
          </a:prstGeom>
          <a:ln w="12700">
            <a:solidFill>
              <a:srgbClr val="162029"/>
            </a:solidFill>
          </a:ln>
        </p:spPr>
      </p:cxnSp>
      <p:sp>
        <p:nvSpPr>
          <p:cNvPr id="138"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2"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5"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6" name="ScopeChip"/>
          <p:cNvSpPr txBox="1"/>
          <p:nvPr/>
        </p:nvSpPr>
        <p:spPr>
          <a:xfrm>
            <a:off x="8552383" y="125273"/>
            <a:ext cx="2011680" cy="3429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Unmanned-specified</a:t>
            </a:r>
          </a:p>
        </p:txBody>
      </p:sp>
      <p:pic>
        <p:nvPicPr>
          <p:cNvPr id="147" name="Navy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932127" y="2824582"/>
            <a:ext cx="844906" cy="0"/>
          </a:xfrm>
          <a:prstGeom prst="line">
            <a:avLst/>
          </a:prstGeom>
          <a:ln w="3175">
            <a:solidFill>
              <a:srgbClr val="162029"/>
            </a:solidFill>
            <a:prstDash val="lgDash"/>
          </a:ln>
        </p:spPr>
      </p:cxnSp>
      <p:cxnSp>
        <p:nvCxnSpPr>
          <p:cNvPr id="105" name="DashedExerciseArrow"/>
          <p:cNvCxnSpPr/>
          <p:nvPr/>
        </p:nvCxnSpPr>
        <p:spPr>
          <a:xfrm>
            <a:off x="3834994" y="3678631"/>
            <a:ext cx="844906" cy="0"/>
          </a:xfrm>
          <a:prstGeom prst="line">
            <a:avLst/>
          </a:prstGeom>
          <a:ln w="3175">
            <a:solidFill>
              <a:srgbClr val="162029"/>
            </a:solidFill>
            <a:prstDash val="lgDash"/>
          </a:ln>
        </p:spPr>
      </p:cxnSp>
      <p:cxnSp>
        <p:nvCxnSpPr>
          <p:cNvPr id="106" name="DashedExerciseArrow"/>
          <p:cNvCxnSpPr/>
          <p:nvPr/>
        </p:nvCxnSpPr>
        <p:spPr>
          <a:xfrm>
            <a:off x="5736946" y="3678631"/>
            <a:ext cx="844906" cy="0"/>
          </a:xfrm>
          <a:prstGeom prst="line">
            <a:avLst/>
          </a:prstGeom>
          <a:ln w="3175">
            <a:solidFill>
              <a:srgbClr val="162029"/>
            </a:solidFill>
            <a:prstDash val="lgDash"/>
          </a:ln>
        </p:spPr>
      </p:cxnSp>
      <p:cxnSp>
        <p:nvCxnSpPr>
          <p:cNvPr id="107" name="DashedExerciseArrow"/>
          <p:cNvCxnSpPr/>
          <p:nvPr/>
        </p:nvCxnSpPr>
        <p:spPr>
          <a:xfrm>
            <a:off x="7638898" y="3719779"/>
            <a:ext cx="844906" cy="0"/>
          </a:xfrm>
          <a:prstGeom prst="line">
            <a:avLst/>
          </a:prstGeom>
          <a:ln w="3175">
            <a:solidFill>
              <a:srgbClr val="162029"/>
            </a:solidFill>
            <a:prstDash val="lgDash"/>
          </a:ln>
        </p:spPr>
      </p:cxnSp>
      <p:cxnSp>
        <p:nvCxnSpPr>
          <p:cNvPr id="108" name="DashedExerciseArrow"/>
          <p:cNvCxnSpPr/>
          <p:nvPr/>
        </p:nvCxnSpPr>
        <p:spPr>
          <a:xfrm>
            <a:off x="9542678" y="4103827"/>
            <a:ext cx="844906" cy="0"/>
          </a:xfrm>
          <a:prstGeom prst="line">
            <a:avLst/>
          </a:prstGeom>
          <a:ln w="3175">
            <a:solidFill>
              <a:srgbClr val="162029"/>
            </a:solidFill>
            <a:prstDash val="lgDash"/>
          </a:ln>
        </p:spPr>
      </p:cxnSp>
      <p:graphicFrame>
        <p:nvGraphicFramePr>
          <p:cNvPr id="109" name="Chart"/>
          <p:cNvGraphicFramePr/>
          <p:nvPr/>
        </p:nvGraphicFramePr>
        <p:xfrm>
          <a:off x="370332" y="2741371"/>
          <a:ext cx="11579047" cy="1871777"/>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1246327" y="360090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400</a:t>
            </a:r>
          </a:p>
        </p:txBody>
      </p:sp>
      <p:sp>
        <p:nvSpPr>
          <p:cNvPr id="111" name="CategoryTick"/>
          <p:cNvSpPr txBox="1"/>
          <p:nvPr/>
        </p:nvSpPr>
        <p:spPr>
          <a:xfrm>
            <a:off x="1260043" y="4573829"/>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2919679" y="4573829"/>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4787798" y="4573829"/>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6704381" y="4573829"/>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8556955" y="4573829"/>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10382098" y="4573829"/>
            <a:ext cx="1068019"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Next-year exercise</a:t>
            </a:r>
          </a:p>
        </p:txBody>
      </p:sp>
      <p:sp>
        <p:nvSpPr>
          <p:cNvPr id="117" name="ValueBadge"/>
          <p:cNvSpPr txBox="1"/>
          <p:nvPr/>
        </p:nvSpPr>
        <p:spPr>
          <a:xfrm>
            <a:off x="3148279" y="317479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200</a:t>
            </a:r>
          </a:p>
        </p:txBody>
      </p:sp>
      <p:sp>
        <p:nvSpPr>
          <p:cNvPr id="118" name="ValueBadge"/>
          <p:cNvSpPr txBox="1"/>
          <p:nvPr/>
        </p:nvSpPr>
        <p:spPr>
          <a:xfrm>
            <a:off x="5051146" y="40279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9" name="ValueBadge"/>
          <p:cNvSpPr txBox="1"/>
          <p:nvPr/>
        </p:nvSpPr>
        <p:spPr>
          <a:xfrm>
            <a:off x="6987845" y="3622853"/>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a:t>
            </a:r>
          </a:p>
        </p:txBody>
      </p:sp>
      <p:sp>
        <p:nvSpPr>
          <p:cNvPr id="120" name="ValueBadge"/>
          <p:cNvSpPr txBox="1"/>
          <p:nvPr/>
        </p:nvSpPr>
        <p:spPr>
          <a:xfrm>
            <a:off x="8889797" y="3834994"/>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90</a:t>
            </a:r>
          </a:p>
        </p:txBody>
      </p:sp>
      <p:sp>
        <p:nvSpPr>
          <p:cNvPr id="121" name="ValueBadge"/>
          <p:cNvSpPr txBox="1"/>
          <p:nvPr/>
        </p:nvSpPr>
        <p:spPr>
          <a:xfrm>
            <a:off x="10758830" y="4240073"/>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4"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year1"/>
          <p:cNvSpPr txBox="1"/>
          <p:nvPr/>
        </p:nvSpPr>
        <p:spPr>
          <a:xfrm>
            <a:off x="6581851" y="2819095"/>
            <a:ext cx="2960827"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1</a:t>
            </a:r>
          </a:p>
        </p:txBody>
      </p:sp>
      <p:sp>
        <p:nvSpPr>
          <p:cNvPr id="126" name="year2"/>
          <p:cNvSpPr txBox="1"/>
          <p:nvPr/>
        </p:nvSpPr>
        <p:spPr>
          <a:xfrm>
            <a:off x="10233965" y="2819095"/>
            <a:ext cx="1347826"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2</a:t>
            </a:r>
          </a:p>
        </p:txBody>
      </p:sp>
      <p:sp>
        <p:nvSpPr>
          <p:cNvPr id="127" name="ProgramsFrame"/>
          <p:cNvSpPr txBox="1"/>
          <p:nvPr/>
        </p:nvSpPr>
        <p:spPr>
          <a:xfrm>
            <a:off x="8382305" y="3457346"/>
            <a:ext cx="3181198" cy="1312164"/>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28" name="TimelineDivider"/>
          <p:cNvCxnSpPr/>
          <p:nvPr/>
        </p:nvCxnSpPr>
        <p:spPr>
          <a:xfrm>
            <a:off x="452628" y="2499970"/>
            <a:ext cx="11282782" cy="1829"/>
          </a:xfrm>
          <a:prstGeom prst="line">
            <a:avLst/>
          </a:prstGeom>
          <a:ln w="12700">
            <a:solidFill>
              <a:srgbClr val="808080"/>
            </a:solidFill>
          </a:ln>
        </p:spPr>
      </p:cxnSp>
      <p:sp>
        <p:nvSpPr>
          <p:cNvPr id="129"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0"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50% in Year 1, 50% in Year 2 for Marauder) </a:t>
            </a:r>
          </a:p>
        </p:txBody>
      </p:sp>
      <p:sp>
        <p:nvSpPr>
          <p:cNvPr id="131" name="WorkedExampleCaption"/>
          <p:cNvSpPr txBox="1"/>
          <p:nvPr/>
        </p:nvSpPr>
        <p:spPr>
          <a:xfrm>
            <a:off x="388620" y="2173529"/>
            <a:ext cx="4662526"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 presumed Marauder exercise timing):</a:t>
            </a:r>
          </a:p>
        </p:txBody>
      </p:sp>
      <p:cxnSp>
        <p:nvCxnSpPr>
          <p:cNvPr id="132" name="Year1Arrow"/>
          <p:cNvCxnSpPr/>
          <p:nvPr/>
        </p:nvCxnSpPr>
        <p:spPr>
          <a:xfrm>
            <a:off x="493776" y="2638044"/>
            <a:ext cx="9362542" cy="0"/>
          </a:xfrm>
          <a:prstGeom prst="line">
            <a:avLst/>
          </a:prstGeom>
          <a:ln w="12700">
            <a:solidFill>
              <a:srgbClr val="000000"/>
            </a:solidFill>
            <a:tailEnd type="triangle" w="med" len="med"/>
          </a:ln>
        </p:spPr>
      </p:cxnSp>
      <p:sp>
        <p:nvSpPr>
          <p:cNvPr id="133" name="Year1Label"/>
          <p:cNvSpPr txBox="1"/>
          <p:nvPr/>
        </p:nvSpPr>
        <p:spPr>
          <a:xfrm>
            <a:off x="4643323" y="2536546"/>
            <a:ext cx="1062533"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1</a:t>
            </a:r>
          </a:p>
        </p:txBody>
      </p:sp>
      <p:cxnSp>
        <p:nvCxnSpPr>
          <p:cNvPr id="134" name="Year2Arrow"/>
          <p:cNvCxnSpPr/>
          <p:nvPr/>
        </p:nvCxnSpPr>
        <p:spPr>
          <a:xfrm>
            <a:off x="9915754" y="2638044"/>
            <a:ext cx="1951330" cy="0"/>
          </a:xfrm>
          <a:prstGeom prst="line">
            <a:avLst/>
          </a:prstGeom>
          <a:ln w="12700">
            <a:solidFill>
              <a:srgbClr val="000000"/>
            </a:solidFill>
            <a:tailEnd type="triangle" w="med" len="med"/>
          </a:ln>
        </p:spPr>
      </p:cxnSp>
      <p:sp>
        <p:nvSpPr>
          <p:cNvPr id="135" name="Year2Label"/>
          <p:cNvSpPr txBox="1"/>
          <p:nvPr/>
        </p:nvSpPr>
        <p:spPr>
          <a:xfrm>
            <a:off x="10488168" y="2536546"/>
            <a:ext cx="841248"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2</a:t>
            </a:r>
          </a:p>
        </p:txBody>
      </p:sp>
      <p:graphicFrame>
        <p:nvGraphicFramePr>
          <p:cNvPr id="136" name="ExerciseTimingTable"/>
          <p:cNvGraphicFramePr>
            <a:graphicFrameLocks noGrp="1"/>
          </p:cNvGraphicFramePr>
          <p:nvPr/>
        </p:nvGraphicFramePr>
        <p:xfrm>
          <a:off x="452628" y="4862779"/>
          <a:ext cx="11413541" cy="1524305"/>
        </p:xfrm>
        <a:graphic>
          <a:graphicData uri="http://schemas.openxmlformats.org/drawingml/2006/table">
            <a:tbl>
              <a:tblPr firstRow="1" firstCol="1" bandRow="0">
                <a:tableStyleId>{2D5ABB26-0587-4C30-8999-92F81FD0307C}</a:tableStyleId>
              </a:tblPr>
              <a:tblGrid>
                <a:gridCol w="778154"/>
                <a:gridCol w="5346497"/>
                <a:gridCol w="1656893"/>
                <a:gridCol w="1656893"/>
                <a:gridCol w="1975104"/>
              </a:tblGrid>
              <a:tr h="0">
                <a:tc gridSpan="2">
                  <a:txBody>
                    <a:bodyPr anchor="b"/>
                    <a:lstStyle/>
                    <a:p>
                      <a:pPr algn="l" marL="0" indent="0">
                        <a:lnSpc>
                          <a:spcPct val="100000"/>
                        </a:lnSpc>
                      </a:pPr>
                      <a:r>
                        <a:rPr lang="en-US" sz="1000" i="1" dirty="0">
                          <a:solidFill>
                            <a:srgbClr val="162029"/>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Next-year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Corsair</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Production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Mirage</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Assumes similar timing as Corsair Production OT because Mirage falls under sUSV funding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Marauder</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Based on estimated MASC contract exercise: MASC procured in 10-vessel block buys with each vessel a separate CLIN and CLINs are exercised evenly across 24-month period</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45%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7" name="ScopeChip"/>
          <p:cNvSpPr txBox="1"/>
          <p:nvPr/>
        </p:nvSpPr>
        <p:spPr>
          <a:xfrm>
            <a:off x="8552383" y="125273"/>
            <a:ext cx="2011680" cy="3429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All archetypes</a:t>
            </a:r>
          </a:p>
        </p:txBody>
      </p:sp>
      <p:pic>
        <p:nvPicPr>
          <p:cNvPr id="138" name="NavyLogo"/>
          <p:cNvPicPr>
            <a:picLocks noChangeAspect="1"/>
          </p:cNvPicPr>
          <p:nvPr/>
        </p:nvPicPr>
        <p:blipFill>
          <a:blip r:embed="rId3"/>
          <a:stretch>
            <a:fillRect/>
          </a:stretch>
        </p:blipFill>
        <p:spPr>
          <a:xfrm>
            <a:off x="11313871" y="43891"/>
            <a:ext cx="843077" cy="84307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438351" y="2719426"/>
            <a:ext cx="563270" cy="0"/>
          </a:xfrm>
          <a:prstGeom prst="line">
            <a:avLst/>
          </a:prstGeom>
          <a:ln w="3175">
            <a:solidFill>
              <a:srgbClr val="162029"/>
            </a:solidFill>
            <a:prstDash val="lgDash"/>
          </a:ln>
        </p:spPr>
      </p:cxnSp>
      <p:cxnSp>
        <p:nvCxnSpPr>
          <p:cNvPr id="105" name="DashedExerciseArrow"/>
          <p:cNvCxnSpPr/>
          <p:nvPr/>
        </p:nvCxnSpPr>
        <p:spPr>
          <a:xfrm>
            <a:off x="2706624" y="3419856"/>
            <a:ext cx="563270" cy="0"/>
          </a:xfrm>
          <a:prstGeom prst="line">
            <a:avLst/>
          </a:prstGeom>
          <a:ln w="3175">
            <a:solidFill>
              <a:srgbClr val="162029"/>
            </a:solidFill>
            <a:prstDash val="lgDash"/>
          </a:ln>
        </p:spPr>
      </p:cxnSp>
      <p:cxnSp>
        <p:nvCxnSpPr>
          <p:cNvPr id="106" name="DashedExerciseArrow"/>
          <p:cNvCxnSpPr/>
          <p:nvPr/>
        </p:nvCxnSpPr>
        <p:spPr>
          <a:xfrm>
            <a:off x="3974897" y="3419856"/>
            <a:ext cx="563270" cy="0"/>
          </a:xfrm>
          <a:prstGeom prst="line">
            <a:avLst/>
          </a:prstGeom>
          <a:ln w="3175">
            <a:solidFill>
              <a:srgbClr val="162029"/>
            </a:solidFill>
            <a:prstDash val="lgDash"/>
          </a:ln>
        </p:spPr>
      </p:cxnSp>
      <p:cxnSp>
        <p:nvCxnSpPr>
          <p:cNvPr id="107" name="DashedExerciseArrow"/>
          <p:cNvCxnSpPr/>
          <p:nvPr/>
        </p:nvCxnSpPr>
        <p:spPr>
          <a:xfrm>
            <a:off x="5243170" y="3769157"/>
            <a:ext cx="563270" cy="0"/>
          </a:xfrm>
          <a:prstGeom prst="line">
            <a:avLst/>
          </a:prstGeom>
          <a:ln w="3175">
            <a:solidFill>
              <a:srgbClr val="162029"/>
            </a:solidFill>
            <a:prstDash val="lgDash"/>
          </a:ln>
        </p:spPr>
      </p:cxnSp>
      <p:cxnSp>
        <p:nvCxnSpPr>
          <p:cNvPr id="108" name="DashedExerciseArrow"/>
          <p:cNvCxnSpPr/>
          <p:nvPr/>
        </p:nvCxnSpPr>
        <p:spPr>
          <a:xfrm>
            <a:off x="6512357" y="4013302"/>
            <a:ext cx="562356" cy="0"/>
          </a:xfrm>
          <a:prstGeom prst="line">
            <a:avLst/>
          </a:prstGeom>
          <a:ln w="3175">
            <a:solidFill>
              <a:srgbClr val="162029"/>
            </a:solidFill>
            <a:prstDash val="lgDash"/>
          </a:ln>
        </p:spPr>
      </p:cxnSp>
      <p:graphicFrame>
        <p:nvGraphicFramePr>
          <p:cNvPr id="109" name="Chart"/>
          <p:cNvGraphicFramePr/>
          <p:nvPr/>
        </p:nvGraphicFramePr>
        <p:xfrm>
          <a:off x="370332" y="2637130"/>
          <a:ext cx="11579047" cy="1563624"/>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929030" y="33421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1" name="CategoryTick"/>
          <p:cNvSpPr txBox="1"/>
          <p:nvPr/>
        </p:nvSpPr>
        <p:spPr>
          <a:xfrm>
            <a:off x="942746" y="4237330"/>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1968703" y="4237330"/>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3202229" y="4237330"/>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4485132" y="4237330"/>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5704027" y="4237330"/>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698144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2 exercise</a:t>
            </a:r>
          </a:p>
        </p:txBody>
      </p:sp>
      <p:sp>
        <p:nvSpPr>
          <p:cNvPr id="117" name="CategoryTick"/>
          <p:cNvSpPr txBox="1"/>
          <p:nvPr/>
        </p:nvSpPr>
        <p:spPr>
          <a:xfrm>
            <a:off x="8250631"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3 exercise</a:t>
            </a:r>
          </a:p>
        </p:txBody>
      </p:sp>
      <p:sp>
        <p:nvSpPr>
          <p:cNvPr id="118" name="CategoryTick"/>
          <p:cNvSpPr txBox="1"/>
          <p:nvPr/>
        </p:nvSpPr>
        <p:spPr>
          <a:xfrm>
            <a:off x="951890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4 exercise</a:t>
            </a:r>
          </a:p>
        </p:txBody>
      </p:sp>
      <p:sp>
        <p:nvSpPr>
          <p:cNvPr id="119" name="CategoryTick"/>
          <p:cNvSpPr txBox="1"/>
          <p:nvPr/>
        </p:nvSpPr>
        <p:spPr>
          <a:xfrm>
            <a:off x="10787177"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5 exercise</a:t>
            </a:r>
          </a:p>
        </p:txBody>
      </p:sp>
      <p:sp>
        <p:nvSpPr>
          <p:cNvPr id="120" name="ValueBadge"/>
          <p:cNvSpPr txBox="1"/>
          <p:nvPr/>
        </p:nvSpPr>
        <p:spPr>
          <a:xfrm>
            <a:off x="2197303" y="2992831"/>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100</a:t>
            </a:r>
          </a:p>
        </p:txBody>
      </p:sp>
      <p:sp>
        <p:nvSpPr>
          <p:cNvPr id="121" name="ValueBadge"/>
          <p:cNvSpPr txBox="1"/>
          <p:nvPr/>
        </p:nvSpPr>
        <p:spPr>
          <a:xfrm>
            <a:off x="3465576" y="369234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ValueBadge"/>
          <p:cNvSpPr txBox="1"/>
          <p:nvPr/>
        </p:nvSpPr>
        <p:spPr>
          <a:xfrm>
            <a:off x="4768596" y="351769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50</a:t>
            </a:r>
          </a:p>
        </p:txBody>
      </p:sp>
      <p:sp>
        <p:nvSpPr>
          <p:cNvPr id="123" name="ValueBadge"/>
          <p:cNvSpPr txBox="1"/>
          <p:nvPr/>
        </p:nvSpPr>
        <p:spPr>
          <a:xfrm>
            <a:off x="6036869" y="381487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35</a:t>
            </a:r>
          </a:p>
        </p:txBody>
      </p:sp>
      <p:sp>
        <p:nvSpPr>
          <p:cNvPr id="124" name="ValueBadge"/>
          <p:cNvSpPr txBox="1"/>
          <p:nvPr/>
        </p:nvSpPr>
        <p:spPr>
          <a:xfrm>
            <a:off x="7304227" y="3989527"/>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15</a:t>
            </a:r>
          </a:p>
        </p:txBody>
      </p:sp>
      <p:sp>
        <p:nvSpPr>
          <p:cNvPr id="125" name="ValueBadge"/>
          <p:cNvSpPr txBox="1"/>
          <p:nvPr/>
        </p:nvSpPr>
        <p:spPr>
          <a:xfrm>
            <a:off x="864199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6" name="ValueBadge"/>
          <p:cNvSpPr txBox="1"/>
          <p:nvPr/>
        </p:nvSpPr>
        <p:spPr>
          <a:xfrm>
            <a:off x="9911182"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7" name="ValueBadge"/>
          <p:cNvSpPr txBox="1"/>
          <p:nvPr/>
        </p:nvSpPr>
        <p:spPr>
          <a:xfrm>
            <a:off x="1117945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8"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graphicFrame>
        <p:nvGraphicFramePr>
          <p:cNvPr id="129" name="ExerciseTimingTable"/>
          <p:cNvGraphicFramePr>
            <a:graphicFrameLocks noGrp="1"/>
          </p:cNvGraphicFramePr>
          <p:nvPr/>
        </p:nvGraphicFramePr>
        <p:xfrm>
          <a:off x="452628" y="4483303"/>
          <a:ext cx="11413541" cy="1920240"/>
        </p:xfrm>
        <a:graphic>
          <a:graphicData uri="http://schemas.openxmlformats.org/drawingml/2006/table">
            <a:tbl>
              <a:tblPr firstRow="1" firstCol="1" bandRow="0">
                <a:tableStyleId>{2D5ABB26-0587-4C30-8999-92F81FD0307C}</a:tableStyleId>
              </a:tblPr>
              <a:tblGrid>
                <a:gridCol w="1173175"/>
                <a:gridCol w="2736799"/>
                <a:gridCol w="1250899"/>
                <a:gridCol w="1250899"/>
                <a:gridCol w="1250899"/>
                <a:gridCol w="1250899"/>
                <a:gridCol w="1250899"/>
                <a:gridCol w="1250899"/>
              </a:tblGrid>
              <a:tr h="274320">
                <a:tc gridSpan="2">
                  <a:txBody>
                    <a:bodyPr anchor="b"/>
                    <a:lstStyle/>
                    <a:p>
                      <a:pPr algn="l" marL="0" indent="0">
                        <a:lnSpc>
                          <a:spcPct val="100000"/>
                        </a:lnSpc>
                      </a:pPr>
                      <a:r>
                        <a:rPr lang="en-US" sz="1000" i="1" dirty="0">
                          <a:solidFill>
                            <a:srgbClr val="000000"/>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3</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4</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5</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27432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2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3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4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5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Corsair kits</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First tranche / subsequent (in line w/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 / 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kits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Surface Navy Mirage timing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COCO</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Quarter-long operations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TREX</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LCUE</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0"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31"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year1"/>
          <p:cNvSpPr txBox="1"/>
          <p:nvPr/>
        </p:nvSpPr>
        <p:spPr>
          <a:xfrm>
            <a:off x="4539082" y="2724912"/>
            <a:ext cx="1973275"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$85M in Year 1</a:t>
            </a:r>
          </a:p>
        </p:txBody>
      </p:sp>
      <p:sp>
        <p:nvSpPr>
          <p:cNvPr id="133" name="year2"/>
          <p:cNvSpPr txBox="1"/>
          <p:nvPr/>
        </p:nvSpPr>
        <p:spPr>
          <a:xfrm>
            <a:off x="6875374"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2 ACV: </a:t>
            </a:r>
            <a:br/>
            <a:r>
              <a:rPr lang="en-US" sz="1000" dirty="0">
                <a:solidFill>
                  <a:srgbClr val="FFFFFF"/>
                </a:solidFill>
                <a:latin typeface="Arial"/>
                <a:ea typeface="Arial"/>
                <a:cs typeface="Arial"/>
              </a:rPr>
              <a:t>$15M</a:t>
            </a:r>
          </a:p>
        </p:txBody>
      </p:sp>
      <p:cxnSp>
        <p:nvCxnSpPr>
          <p:cNvPr id="134" name="TimelineDivider"/>
          <p:cNvCxnSpPr/>
          <p:nvPr/>
        </p:nvCxnSpPr>
        <p:spPr>
          <a:xfrm>
            <a:off x="452628" y="2387498"/>
            <a:ext cx="11282782" cy="1829"/>
          </a:xfrm>
          <a:prstGeom prst="line">
            <a:avLst/>
          </a:prstGeom>
          <a:ln w="12700">
            <a:solidFill>
              <a:srgbClr val="808080"/>
            </a:solidFill>
          </a:ln>
        </p:spPr>
      </p:cxnSp>
      <p:sp>
        <p:nvSpPr>
          <p:cNvPr id="135"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6"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85% in Year 1, 15% in Year 2 for Corsair) </a:t>
            </a:r>
          </a:p>
        </p:txBody>
      </p:sp>
      <p:sp>
        <p:nvSpPr>
          <p:cNvPr id="137" name="WorkedExampleCaption"/>
          <p:cNvSpPr txBox="1"/>
          <p:nvPr/>
        </p:nvSpPr>
        <p:spPr>
          <a:xfrm>
            <a:off x="388620" y="2060143"/>
            <a:ext cx="3586277"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a:t>
            </a:r>
          </a:p>
        </p:txBody>
      </p:sp>
      <p:sp>
        <p:nvSpPr>
          <p:cNvPr id="138" name="ProgramsFrame"/>
          <p:cNvSpPr txBox="1"/>
          <p:nvPr/>
        </p:nvSpPr>
        <p:spPr>
          <a:xfrm>
            <a:off x="5544007" y="3222346"/>
            <a:ext cx="6322162" cy="1207008"/>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39" name="Year1Arrow"/>
          <p:cNvCxnSpPr/>
          <p:nvPr/>
        </p:nvCxnSpPr>
        <p:spPr>
          <a:xfrm>
            <a:off x="493776" y="2574950"/>
            <a:ext cx="6018581" cy="0"/>
          </a:xfrm>
          <a:prstGeom prst="line">
            <a:avLst/>
          </a:prstGeom>
          <a:ln w="12700">
            <a:solidFill>
              <a:srgbClr val="162029"/>
            </a:solidFill>
            <a:tailEnd type="triangle" w="med" len="med"/>
          </a:ln>
        </p:spPr>
      </p:cxnSp>
      <p:sp>
        <p:nvSpPr>
          <p:cNvPr id="140" name="Year1Label"/>
          <p:cNvSpPr txBox="1"/>
          <p:nvPr/>
        </p:nvSpPr>
        <p:spPr>
          <a:xfrm>
            <a:off x="3215030" y="2469794"/>
            <a:ext cx="683057"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Year 1</a:t>
            </a:r>
          </a:p>
        </p:txBody>
      </p:sp>
      <p:cxnSp>
        <p:nvCxnSpPr>
          <p:cNvPr id="141" name="SubsequentYearsArrow"/>
          <p:cNvCxnSpPr/>
          <p:nvPr/>
        </p:nvCxnSpPr>
        <p:spPr>
          <a:xfrm>
            <a:off x="6875374" y="2574950"/>
            <a:ext cx="4913071" cy="0"/>
          </a:xfrm>
          <a:prstGeom prst="line">
            <a:avLst/>
          </a:prstGeom>
          <a:ln w="12700">
            <a:solidFill>
              <a:srgbClr val="162029"/>
            </a:solidFill>
            <a:tailEnd type="triangle" w="med" len="med"/>
          </a:ln>
        </p:spPr>
      </p:cxnSp>
      <p:sp>
        <p:nvSpPr>
          <p:cNvPr id="142" name="SubsequentYearsLabel"/>
          <p:cNvSpPr txBox="1"/>
          <p:nvPr/>
        </p:nvSpPr>
        <p:spPr>
          <a:xfrm>
            <a:off x="8317382" y="2469794"/>
            <a:ext cx="2117750"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Subsequent years</a:t>
            </a:r>
          </a:p>
        </p:txBody>
      </p:sp>
      <p:sp>
        <p:nvSpPr>
          <p:cNvPr id="143" name="ScopeChip"/>
          <p:cNvSpPr txBox="1"/>
          <p:nvPr/>
        </p:nvSpPr>
        <p:spPr>
          <a:xfrm>
            <a:off x="8340242" y="67666"/>
            <a:ext cx="2435047" cy="4572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All archetypes</a:t>
            </a:r>
          </a:p>
        </p:txBody>
      </p:sp>
      <p:sp>
        <p:nvSpPr>
          <p:cNvPr id="144" name="year3"/>
          <p:cNvSpPr txBox="1"/>
          <p:nvPr/>
        </p:nvSpPr>
        <p:spPr>
          <a:xfrm>
            <a:off x="813724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3 ACV: </a:t>
            </a:r>
            <a:br/>
            <a:r>
              <a:rPr lang="en-US" sz="1000" dirty="0">
                <a:solidFill>
                  <a:srgbClr val="FFFFFF"/>
                </a:solidFill>
                <a:latin typeface="Arial"/>
                <a:ea typeface="Arial"/>
                <a:cs typeface="Arial"/>
              </a:rPr>
              <a:t>$0M</a:t>
            </a:r>
          </a:p>
        </p:txBody>
      </p:sp>
      <p:sp>
        <p:nvSpPr>
          <p:cNvPr id="145" name="year4"/>
          <p:cNvSpPr txBox="1"/>
          <p:nvPr/>
        </p:nvSpPr>
        <p:spPr>
          <a:xfrm>
            <a:off x="9406433"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4 ACV: </a:t>
            </a:r>
            <a:br/>
            <a:r>
              <a:rPr lang="en-US" sz="1000" dirty="0">
                <a:solidFill>
                  <a:srgbClr val="FFFFFF"/>
                </a:solidFill>
                <a:latin typeface="Arial"/>
                <a:ea typeface="Arial"/>
                <a:cs typeface="Arial"/>
              </a:rPr>
              <a:t>$0M</a:t>
            </a:r>
          </a:p>
        </p:txBody>
      </p:sp>
      <p:sp>
        <p:nvSpPr>
          <p:cNvPr id="146" name="year5"/>
          <p:cNvSpPr txBox="1"/>
          <p:nvPr/>
        </p:nvSpPr>
        <p:spPr>
          <a:xfrm>
            <a:off x="1067470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5 ACV: </a:t>
            </a:r>
            <a:br/>
            <a:r>
              <a:rPr lang="en-US" sz="1000" dirty="0">
                <a:solidFill>
                  <a:srgbClr val="FFFFFF"/>
                </a:solidFill>
                <a:latin typeface="Arial"/>
                <a:ea typeface="Arial"/>
                <a:cs typeface="Arial"/>
              </a:rPr>
              <a:t>$0M</a:t>
            </a:r>
          </a:p>
        </p:txBody>
      </p:sp>
      <p:pic>
        <p:nvPicPr>
          <p:cNvPr id="147" name="NavyLogo"/>
          <p:cNvPicPr>
            <a:picLocks noChangeAspect="1"/>
          </p:cNvPicPr>
          <p:nvPr/>
        </p:nvPicPr>
        <p:blipFill>
          <a:blip r:embed="rId3"/>
          <a:stretch>
            <a:fillRect/>
          </a:stretch>
        </p:blipFill>
        <p:spPr>
          <a:xfrm>
            <a:off x="11313871" y="43891"/>
            <a:ext cx="843077" cy="843077"/>
          </a:xfrm>
          <a:prstGeom prst="rect">
            <a:avLst/>
          </a:prstGeom>
        </p:spPr>
      </p:pic>
      <p:sp>
        <p:nvSpPr>
          <p:cNvPr id="148" name="ContractFootnote"/>
          <p:cNvSpPr txBox="1"/>
          <p:nvPr/>
        </p:nvSpPr>
        <p:spPr>
          <a:xfrm>
            <a:off x="8250631" y="3620110"/>
            <a:ext cx="3427171" cy="368503"/>
          </a:xfrm>
          <a:prstGeom prst="rect">
            <a:avLst/>
          </a:prstGeom>
          <a:solidFill>
            <a:srgbClr val="F2F2F2"/>
          </a:solidFill>
          <a:ln w="19050">
            <a:solidFill>
              <a:srgbClr val="F2F2F2"/>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May be used if Weapons Procurement contract extends over 5-year period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 Delivery Capacity | Expansion largely driven by Saronic; Competitor growth enabled by ownership / partnerships with major ROK shipbuilders and completion of USN/USCG activity.</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DeliveryCapacityChart"/>
          <p:cNvGraphicFramePr/>
          <p:nvPr/>
        </p:nvGraphicFramePr>
        <p:xfrm>
          <a:off x="392278" y="1481328"/>
          <a:ext cx="8259775" cy="3311957"/>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YearTick"/>
          <p:cNvSpPr txBox="1"/>
          <p:nvPr/>
        </p:nvSpPr>
        <p:spPr>
          <a:xfrm>
            <a:off x="911657"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02" name="ChartYearTick"/>
          <p:cNvSpPr txBox="1"/>
          <p:nvPr/>
        </p:nvSpPr>
        <p:spPr>
          <a:xfrm>
            <a:off x="122072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03" name="ChartYearTick"/>
          <p:cNvSpPr txBox="1"/>
          <p:nvPr/>
        </p:nvSpPr>
        <p:spPr>
          <a:xfrm>
            <a:off x="153070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04" name="ChartYearTick"/>
          <p:cNvSpPr txBox="1"/>
          <p:nvPr/>
        </p:nvSpPr>
        <p:spPr>
          <a:xfrm>
            <a:off x="183977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05" name="ChartYearTick"/>
          <p:cNvSpPr txBox="1"/>
          <p:nvPr/>
        </p:nvSpPr>
        <p:spPr>
          <a:xfrm>
            <a:off x="21497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06" name="ChartYearTick"/>
          <p:cNvSpPr txBox="1"/>
          <p:nvPr/>
        </p:nvSpPr>
        <p:spPr>
          <a:xfrm>
            <a:off x="245882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07" name="ChartYearTick"/>
          <p:cNvSpPr txBox="1"/>
          <p:nvPr/>
        </p:nvSpPr>
        <p:spPr>
          <a:xfrm>
            <a:off x="276697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08" name="ChartYearTick"/>
          <p:cNvSpPr txBox="1"/>
          <p:nvPr/>
        </p:nvSpPr>
        <p:spPr>
          <a:xfrm>
            <a:off x="307695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09" name="ChartYearTick"/>
          <p:cNvSpPr txBox="1"/>
          <p:nvPr/>
        </p:nvSpPr>
        <p:spPr>
          <a:xfrm>
            <a:off x="338602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10" name="ChartYearTick"/>
          <p:cNvSpPr txBox="1"/>
          <p:nvPr/>
        </p:nvSpPr>
        <p:spPr>
          <a:xfrm>
            <a:off x="3696005"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11" name="ChartYearTick"/>
          <p:cNvSpPr txBox="1"/>
          <p:nvPr/>
        </p:nvSpPr>
        <p:spPr>
          <a:xfrm>
            <a:off x="400507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12" name="ChartYearTick"/>
          <p:cNvSpPr txBox="1"/>
          <p:nvPr/>
        </p:nvSpPr>
        <p:spPr>
          <a:xfrm>
            <a:off x="43150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3" name="ChartYearTick"/>
          <p:cNvSpPr txBox="1"/>
          <p:nvPr/>
        </p:nvSpPr>
        <p:spPr>
          <a:xfrm>
            <a:off x="462412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4" name="ChartYearTick"/>
          <p:cNvSpPr txBox="1"/>
          <p:nvPr/>
        </p:nvSpPr>
        <p:spPr>
          <a:xfrm>
            <a:off x="49341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5" name="ChartYearTick"/>
          <p:cNvSpPr txBox="1"/>
          <p:nvPr/>
        </p:nvSpPr>
        <p:spPr>
          <a:xfrm>
            <a:off x="524317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6" name="ChartYearTick"/>
          <p:cNvSpPr txBox="1"/>
          <p:nvPr/>
        </p:nvSpPr>
        <p:spPr>
          <a:xfrm>
            <a:off x="555315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7" name="ChartYearTick"/>
          <p:cNvSpPr txBox="1"/>
          <p:nvPr/>
        </p:nvSpPr>
        <p:spPr>
          <a:xfrm>
            <a:off x="5862218"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18" name="ChartYearTick"/>
          <p:cNvSpPr txBox="1"/>
          <p:nvPr/>
        </p:nvSpPr>
        <p:spPr>
          <a:xfrm>
            <a:off x="617220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ChartYearTick"/>
          <p:cNvSpPr txBox="1"/>
          <p:nvPr/>
        </p:nvSpPr>
        <p:spPr>
          <a:xfrm>
            <a:off x="648035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ChartYearTick"/>
          <p:cNvSpPr txBox="1"/>
          <p:nvPr/>
        </p:nvSpPr>
        <p:spPr>
          <a:xfrm>
            <a:off x="678942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ChartYearTick"/>
          <p:cNvSpPr txBox="1"/>
          <p:nvPr/>
        </p:nvSpPr>
        <p:spPr>
          <a:xfrm>
            <a:off x="70994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ChartYearTick"/>
          <p:cNvSpPr txBox="1"/>
          <p:nvPr/>
        </p:nvSpPr>
        <p:spPr>
          <a:xfrm>
            <a:off x="740846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3" name="ChartYearTick"/>
          <p:cNvSpPr txBox="1"/>
          <p:nvPr/>
        </p:nvSpPr>
        <p:spPr>
          <a:xfrm>
            <a:off x="771845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ChartYearTick"/>
          <p:cNvSpPr txBox="1"/>
          <p:nvPr/>
        </p:nvSpPr>
        <p:spPr>
          <a:xfrm>
            <a:off x="802843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ChartYearTick"/>
          <p:cNvSpPr txBox="1"/>
          <p:nvPr/>
        </p:nvSpPr>
        <p:spPr>
          <a:xfrm>
            <a:off x="833749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DeliveryTotalLabel"/>
          <p:cNvSpPr txBox="1"/>
          <p:nvPr/>
        </p:nvSpPr>
        <p:spPr>
          <a:xfrm>
            <a:off x="898855" y="437357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27" name="DeliveryTotalLabel"/>
          <p:cNvSpPr txBox="1"/>
          <p:nvPr/>
        </p:nvSpPr>
        <p:spPr>
          <a:xfrm>
            <a:off x="1208837"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8" name="DeliveryTotalLabel"/>
          <p:cNvSpPr txBox="1"/>
          <p:nvPr/>
        </p:nvSpPr>
        <p:spPr>
          <a:xfrm>
            <a:off x="1518818"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9" name="DeliveryTotalLabel"/>
          <p:cNvSpPr txBox="1"/>
          <p:nvPr/>
        </p:nvSpPr>
        <p:spPr>
          <a:xfrm>
            <a:off x="1828800" y="41989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0" name="DeliveryTotalLabel"/>
          <p:cNvSpPr txBox="1"/>
          <p:nvPr/>
        </p:nvSpPr>
        <p:spPr>
          <a:xfrm>
            <a:off x="2138782" y="407182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31" name="DeliveryTotalLabel"/>
          <p:cNvSpPr txBox="1"/>
          <p:nvPr/>
        </p:nvSpPr>
        <p:spPr>
          <a:xfrm>
            <a:off x="2447849" y="391363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30</a:t>
            </a:r>
          </a:p>
        </p:txBody>
      </p:sp>
      <p:sp>
        <p:nvSpPr>
          <p:cNvPr id="132" name="DeliveryTotalLabel"/>
          <p:cNvSpPr txBox="1"/>
          <p:nvPr/>
        </p:nvSpPr>
        <p:spPr>
          <a:xfrm>
            <a:off x="2756002" y="3594506"/>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50</a:t>
            </a:r>
          </a:p>
        </p:txBody>
      </p:sp>
      <p:sp>
        <p:nvSpPr>
          <p:cNvPr id="133" name="DeliveryTotalLabel"/>
          <p:cNvSpPr txBox="1"/>
          <p:nvPr/>
        </p:nvSpPr>
        <p:spPr>
          <a:xfrm>
            <a:off x="3065069" y="329275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69</a:t>
            </a:r>
          </a:p>
        </p:txBody>
      </p:sp>
      <p:sp>
        <p:nvSpPr>
          <p:cNvPr id="134" name="DeliveryTotalLabel"/>
          <p:cNvSpPr txBox="1"/>
          <p:nvPr/>
        </p:nvSpPr>
        <p:spPr>
          <a:xfrm>
            <a:off x="3340303" y="275234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103</a:t>
            </a:r>
          </a:p>
        </p:txBody>
      </p:sp>
      <p:sp>
        <p:nvSpPr>
          <p:cNvPr id="135" name="DeliveryTotalLabel"/>
          <p:cNvSpPr txBox="1"/>
          <p:nvPr/>
        </p:nvSpPr>
        <p:spPr>
          <a:xfrm>
            <a:off x="3649370" y="253014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117</a:t>
            </a:r>
          </a:p>
        </p:txBody>
      </p:sp>
      <p:sp>
        <p:nvSpPr>
          <p:cNvPr id="136" name="DeliveryTotalLabel"/>
          <p:cNvSpPr txBox="1"/>
          <p:nvPr/>
        </p:nvSpPr>
        <p:spPr>
          <a:xfrm>
            <a:off x="3959352" y="227685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133</a:t>
            </a:r>
          </a:p>
        </p:txBody>
      </p:sp>
      <p:sp>
        <p:nvSpPr>
          <p:cNvPr id="137" name="DeliveryTotalLabel"/>
          <p:cNvSpPr txBox="1"/>
          <p:nvPr/>
        </p:nvSpPr>
        <p:spPr>
          <a:xfrm>
            <a:off x="4268419" y="221101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137</a:t>
            </a:r>
          </a:p>
        </p:txBody>
      </p:sp>
      <p:sp>
        <p:nvSpPr>
          <p:cNvPr id="138" name="DeliveryTotalLabel"/>
          <p:cNvSpPr txBox="1"/>
          <p:nvPr/>
        </p:nvSpPr>
        <p:spPr>
          <a:xfrm>
            <a:off x="4578401" y="217993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139</a:t>
            </a:r>
          </a:p>
        </p:txBody>
      </p:sp>
      <p:sp>
        <p:nvSpPr>
          <p:cNvPr id="139" name="DeliveryTotalLabel"/>
          <p:cNvSpPr txBox="1"/>
          <p:nvPr/>
        </p:nvSpPr>
        <p:spPr>
          <a:xfrm>
            <a:off x="4887468" y="191018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156</a:t>
            </a:r>
          </a:p>
        </p:txBody>
      </p:sp>
      <p:sp>
        <p:nvSpPr>
          <p:cNvPr id="140" name="DeliveryTotalLabel"/>
          <p:cNvSpPr txBox="1"/>
          <p:nvPr/>
        </p:nvSpPr>
        <p:spPr>
          <a:xfrm>
            <a:off x="5197450" y="184617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160</a:t>
            </a:r>
          </a:p>
        </p:txBody>
      </p:sp>
      <p:sp>
        <p:nvSpPr>
          <p:cNvPr id="141" name="DeliveryTotalLabel"/>
          <p:cNvSpPr txBox="1"/>
          <p:nvPr/>
        </p:nvSpPr>
        <p:spPr>
          <a:xfrm>
            <a:off x="5507431" y="183062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2" name="DeliveryTotalLabel"/>
          <p:cNvSpPr txBox="1"/>
          <p:nvPr/>
        </p:nvSpPr>
        <p:spPr>
          <a:xfrm>
            <a:off x="5816498" y="181417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162</a:t>
            </a:r>
          </a:p>
        </p:txBody>
      </p:sp>
      <p:sp>
        <p:nvSpPr>
          <p:cNvPr id="143" name="DeliveryTotalLabel"/>
          <p:cNvSpPr txBox="1"/>
          <p:nvPr/>
        </p:nvSpPr>
        <p:spPr>
          <a:xfrm>
            <a:off x="6126480" y="178308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164</a:t>
            </a:r>
          </a:p>
        </p:txBody>
      </p:sp>
      <p:sp>
        <p:nvSpPr>
          <p:cNvPr id="144" name="DeliveryTotalLabel"/>
          <p:cNvSpPr txBox="1"/>
          <p:nvPr/>
        </p:nvSpPr>
        <p:spPr>
          <a:xfrm>
            <a:off x="6433718" y="1766621"/>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165</a:t>
            </a:r>
          </a:p>
        </p:txBody>
      </p:sp>
      <p:sp>
        <p:nvSpPr>
          <p:cNvPr id="145" name="DeliveryTotalLabel"/>
          <p:cNvSpPr txBox="1"/>
          <p:nvPr/>
        </p:nvSpPr>
        <p:spPr>
          <a:xfrm>
            <a:off x="674370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6" name="DeliveryTotalLabel"/>
          <p:cNvSpPr txBox="1"/>
          <p:nvPr/>
        </p:nvSpPr>
        <p:spPr>
          <a:xfrm>
            <a:off x="7053682"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7" name="DeliveryTotalLabel"/>
          <p:cNvSpPr txBox="1"/>
          <p:nvPr/>
        </p:nvSpPr>
        <p:spPr>
          <a:xfrm>
            <a:off x="736274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8" name="DeliveryTotalLabel"/>
          <p:cNvSpPr txBox="1"/>
          <p:nvPr/>
        </p:nvSpPr>
        <p:spPr>
          <a:xfrm>
            <a:off x="767273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9" name="DeliveryTotalLabel"/>
          <p:cNvSpPr txBox="1"/>
          <p:nvPr/>
        </p:nvSpPr>
        <p:spPr>
          <a:xfrm>
            <a:off x="7981798"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0" name="DeliveryTotalLabel"/>
          <p:cNvSpPr txBox="1"/>
          <p:nvPr/>
        </p:nvSpPr>
        <p:spPr>
          <a:xfrm>
            <a:off x="829177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1" name="ChartTitle"/>
          <p:cNvSpPr txBox="1"/>
          <p:nvPr/>
        </p:nvSpPr>
        <p:spPr>
          <a:xfrm>
            <a:off x="495605" y="1376172"/>
            <a:ext cx="527883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US-Built Oceangoing Commercial Delivery Capacity by Shipyard  (# potential deliveries)</a:t>
            </a:r>
          </a:p>
        </p:txBody>
      </p:sp>
      <p:sp>
        <p:nvSpPr>
          <p:cNvPr id="152" name="ShipyardLegendSwatch"/>
          <p:cNvSpPr txBox="1"/>
          <p:nvPr/>
        </p:nvSpPr>
        <p:spPr>
          <a:xfrm>
            <a:off x="884225" y="1762049"/>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ShipyardLegendSwatch"/>
          <p:cNvSpPr txBox="1"/>
          <p:nvPr/>
        </p:nvSpPr>
        <p:spPr>
          <a:xfrm>
            <a:off x="884225" y="1965046"/>
            <a:ext cx="179222" cy="133502"/>
          </a:xfrm>
          <a:prstGeom prst="rect">
            <a:avLst/>
          </a:prstGeom>
          <a:solidFill>
            <a:srgbClr val="C3CFE1"/>
          </a:solidFill>
          <a:ln>
            <a:noFill/>
          </a:ln>
        </p:spPr>
        <p:txBody>
          <a:bodyPr wrap="square" anchor="ctr" lIns="91440" tIns="45720" rIns="91440" bIns="45720"/>
          <a:lstStyle/>
          <a:p>
            <a:pPr algn="ctr">
              <a:lnSpc>
                <a:spcPct val="100000"/>
              </a:lnSpc>
              <a:buNone/>
            </a:pPr>
            <a:endParaRPr lang="en-US"/>
          </a:p>
        </p:txBody>
      </p:sp>
      <p:sp>
        <p:nvSpPr>
          <p:cNvPr id="154" name="ShipyardLegendSwatch"/>
          <p:cNvSpPr txBox="1"/>
          <p:nvPr/>
        </p:nvSpPr>
        <p:spPr>
          <a:xfrm>
            <a:off x="884225" y="2168957"/>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ShipyardLegendSwatch"/>
          <p:cNvSpPr txBox="1"/>
          <p:nvPr/>
        </p:nvSpPr>
        <p:spPr>
          <a:xfrm>
            <a:off x="884225" y="2371954"/>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ShipyardLegendSwatch"/>
          <p:cNvSpPr txBox="1"/>
          <p:nvPr/>
        </p:nvSpPr>
        <p:spPr>
          <a:xfrm>
            <a:off x="884225" y="2574950"/>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ShipyardLegendSwatch"/>
          <p:cNvSpPr txBox="1"/>
          <p:nvPr/>
        </p:nvSpPr>
        <p:spPr>
          <a:xfrm>
            <a:off x="884225" y="277794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ShipyardLegendSwatch"/>
          <p:cNvSpPr txBox="1"/>
          <p:nvPr/>
        </p:nvSpPr>
        <p:spPr>
          <a:xfrm>
            <a:off x="884225"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59" name="ShipyardLegendLabel"/>
          <p:cNvSpPr txBox="1"/>
          <p:nvPr/>
        </p:nvSpPr>
        <p:spPr>
          <a:xfrm>
            <a:off x="1114654" y="1757477"/>
            <a:ext cx="10917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GD NASSCO (SHI)</a:t>
            </a:r>
          </a:p>
        </p:txBody>
      </p:sp>
      <p:sp>
        <p:nvSpPr>
          <p:cNvPr id="160" name="ShipyardLegendLabel"/>
          <p:cNvSpPr txBox="1"/>
          <p:nvPr/>
        </p:nvSpPr>
        <p:spPr>
          <a:xfrm>
            <a:off x="1114654" y="1960474"/>
            <a:ext cx="12399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Tampa Ship (HD HHI)</a:t>
            </a:r>
          </a:p>
        </p:txBody>
      </p:sp>
      <p:sp>
        <p:nvSpPr>
          <p:cNvPr id="161" name="ShipyardLegendLabel"/>
          <p:cNvSpPr txBox="1"/>
          <p:nvPr/>
        </p:nvSpPr>
        <p:spPr>
          <a:xfrm>
            <a:off x="1114654" y="2163470"/>
            <a:ext cx="5266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Bollinger</a:t>
            </a:r>
          </a:p>
        </p:txBody>
      </p:sp>
      <p:sp>
        <p:nvSpPr>
          <p:cNvPr id="162" name="ShipyardLegendLabel"/>
          <p:cNvSpPr txBox="1"/>
          <p:nvPr/>
        </p:nvSpPr>
        <p:spPr>
          <a:xfrm>
            <a:off x="1114654" y="2367382"/>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New Entrant (e.g., HD Hyundai)</a:t>
            </a:r>
          </a:p>
        </p:txBody>
      </p:sp>
      <p:sp>
        <p:nvSpPr>
          <p:cNvPr id="163" name="ShipyardLegendLabel"/>
          <p:cNvSpPr txBox="1"/>
          <p:nvPr/>
        </p:nvSpPr>
        <p:spPr>
          <a:xfrm>
            <a:off x="1114654" y="2570378"/>
            <a:ext cx="10094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2nd Yard</a:t>
            </a:r>
          </a:p>
        </p:txBody>
      </p:sp>
      <p:sp>
        <p:nvSpPr>
          <p:cNvPr id="164" name="ShipyardLegendLabel"/>
          <p:cNvSpPr txBox="1"/>
          <p:nvPr/>
        </p:nvSpPr>
        <p:spPr>
          <a:xfrm>
            <a:off x="1114654" y="2773375"/>
            <a:ext cx="80192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Philly</a:t>
            </a:r>
          </a:p>
        </p:txBody>
      </p:sp>
      <p:sp>
        <p:nvSpPr>
          <p:cNvPr id="165" name="ShipyardLegendLabel"/>
          <p:cNvSpPr txBox="1"/>
          <p:nvPr/>
        </p:nvSpPr>
        <p:spPr>
          <a:xfrm>
            <a:off x="1114654" y="2976372"/>
            <a:ext cx="42885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Saronic</a:t>
            </a:r>
          </a:p>
        </p:txBody>
      </p:sp>
      <p:sp>
        <p:nvSpPr>
          <p:cNvPr id="166"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Assumes avg. 50K GT per newbuild (~13K higher than current fleet avg.); 10M GT target may be achieved with 140-160 deliveries / year with 60K-70K GT per newbuild </a:t>
            </a:r>
            <a:br/>
            <a:r>
              <a:rPr lang="en-US" sz="800" dirty="0">
                <a:solidFill>
                  <a:srgbClr val="000000"/>
                </a:solidFill>
                <a:latin typeface="Arial"/>
                <a:ea typeface="Arial"/>
                <a:cs typeface="Arial"/>
              </a:rPr>
              <a:t>Source: Saronic IP (Jan ’26); </a:t>
            </a:r>
            <a:r>
              <a:rPr lang="en-US" sz="800" dirty="0">
                <a:solidFill>
                  <a:srgbClr val="000000"/>
                </a:solidFill>
                <a:latin typeface="Arial"/>
                <a:ea typeface="Arial"/>
                <a:cs typeface="Arial"/>
              </a:rPr>
              <a:t>Hanwha Philly</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Breaking Defense (Hanwha 2</a:t>
            </a:r>
            <a:r>
              <a:rPr lang="en-US" sz="800" dirty="0">
                <a:solidFill>
                  <a:srgbClr val="000000"/>
                </a:solidFill>
                <a:latin typeface="Arial"/>
                <a:ea typeface="Arial"/>
                <a:cs typeface="Arial"/>
              </a:rPr>
              <a:t>nd</a:t>
            </a:r>
            <a:r>
              <a:rPr lang="en-US" sz="800" dirty="0">
                <a:solidFill>
                  <a:srgbClr val="000000"/>
                </a:solidFill>
                <a:latin typeface="Arial"/>
                <a:ea typeface="Arial"/>
                <a:cs typeface="Arial"/>
              </a:rPr>
              <a:t> 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Conrad Shipyard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HD Hyundai (Tampa Ship)</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GD NASSCO</a:t>
            </a:r>
          </a:p>
        </p:txBody>
      </p:sp>
      <p:sp>
        <p:nvSpPr>
          <p:cNvPr id="167" name="AssumptionsRailBody"/>
          <p:cNvSpPr txBox="1"/>
          <p:nvPr/>
        </p:nvSpPr>
        <p:spPr>
          <a:xfrm>
            <a:off x="8631022" y="1592885"/>
            <a:ext cx="3359506" cy="3991356"/>
          </a:xfrm>
          <a:prstGeom prst="rect">
            <a:avLst/>
          </a:prstGeom>
          <a:noFill/>
          <a:ln>
            <a:noFill/>
          </a:ln>
        </p:spPr>
        <p:txBody>
          <a:bodyPr wrap="square" anchor="t" lIns="91440" tIns="45720" rIns="91440" bIns="45720"/>
          <a:lstStyle/>
          <a:p>
            <a:pPr>
              <a:lnSpc>
                <a:spcPct val="100000"/>
              </a:lnSpc>
              <a:buNone/>
            </a:pPr>
            <a:r>
              <a:rPr lang="en-US" sz="1000" b="1" i="1" dirty="0">
                <a:solidFill>
                  <a:srgbClr val="000000"/>
                </a:solidFill>
                <a:latin typeface="Arial"/>
                <a:ea typeface="Arial"/>
                <a:cs typeface="Arial"/>
              </a:rPr>
              <a:t>Total Delivery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ramps to 8.3M GT by early 2050s based on Investor Presentation target (Jan ’26)</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Avg. GT stays ~50K / ship, in line with recent US built containerships; ~10K above 10-yr. avg. for commercially viable, ocean ships</a:t>
            </a:r>
          </a:p>
          <a:p>
            <a:pPr>
              <a:lnSpc>
                <a:spcPct val="100000"/>
              </a:lnSpc>
              <a:buNone/>
            </a:pPr>
            <a:r>
              <a:rPr lang="en-US" sz="1000" b="1" i="1" dirty="0">
                <a:solidFill>
                  <a:srgbClr val="000000"/>
                </a:solidFill>
                <a:latin typeface="Arial"/>
                <a:ea typeface="Arial"/>
                <a:cs typeface="Arial"/>
              </a:rPr>
              <a:t>Saronic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Port Alpha ramps from 7 deliveries in 2029 to 125 delivery capacity by late ’30s to align with IP assertion of achieving 10M GT of US capacity</a:t>
            </a:r>
          </a:p>
          <a:p>
            <a:pPr>
              <a:lnSpc>
                <a:spcPct val="100000"/>
              </a:lnSpc>
              <a:buNone/>
            </a:pPr>
            <a:r>
              <a:rPr lang="en-US" sz="1000" b="1" i="1" dirty="0">
                <a:solidFill>
                  <a:srgbClr val="000000"/>
                </a:solidFill>
                <a:latin typeface="Arial"/>
                <a:ea typeface="Arial"/>
                <a:cs typeface="Arial"/>
              </a:rPr>
              <a:t>Competitor Capacities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Philly achieves 10 deliveries/yr. by mid-2030s and 20 deliveries/yr. by mid-2040s, in line with stated goals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purchase 2nd yard in the US, ramping to 5 deliveries/yr. by mid-2040s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HD Hyundai potentially enters US market, purchasing a Gulf Coast yard, ramping production through 2030s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Tampa Ship begins producing commercial vessels in early 2030s, enabled by HD HII partnership</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Bollinger begins producing commercial vessels in early-to-mid 2030s after completion of USCG vessels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GD NASSCO begins delivering commercial vessels after completion of Navy T-AO in early-to-mid 2030s</a:t>
            </a:r>
          </a:p>
          <a:p>
            <a:pPr marL="171450" indent="-171450">
              <a:lnSpc>
                <a:spcPct val="100000"/>
              </a:lnSpc>
              <a:buFont typeface="Arial" panose="020B0604020202020204" pitchFamily="34" charset="0"/>
              <a:buChar char="•"/>
            </a:pPr>
            <a:endParaRPr lang="en-US"/>
          </a:p>
        </p:txBody>
      </p:sp>
      <p:graphicFrame>
        <p:nvGraphicFramePr>
          <p:cNvPr id="168" name="AssumptionsRailHeader"/>
          <p:cNvGraphicFramePr>
            <a:graphicFrameLocks noGrp="1"/>
          </p:cNvGraphicFramePr>
          <p:nvPr/>
        </p:nvGraphicFramePr>
        <p:xfrm>
          <a:off x="8631022" y="1308506"/>
          <a:ext cx="3359506" cy="274320"/>
        </p:xfrm>
        <a:graphic>
          <a:graphicData uri="http://schemas.openxmlformats.org/drawingml/2006/table">
            <a:tbl>
              <a:tblPr firstRow="1" firstCol="1" bandRow="0">
                <a:tableStyleId>{2D5ABB26-0587-4C30-8999-92F81FD0307C}</a:tableStyleId>
              </a:tblPr>
              <a:tblGrid>
                <a:gridCol w="3359506"/>
              </a:tblGrid>
              <a:tr h="274320">
                <a:tc>
                  <a:txBody>
                    <a:bodyPr anchor="ctr"/>
                    <a:lstStyle/>
                    <a:p>
                      <a:pPr algn="l" marL="0" indent="0">
                        <a:lnSpc>
                          <a:spcPct val="100000"/>
                        </a:lnSpc>
                      </a:pPr>
                      <a:r>
                        <a:rPr lang="en-US" sz="1000" b="1" dirty="0">
                          <a:solidFill>
                            <a:srgbClr val="000000"/>
                          </a:solidFill>
                          <a:latin typeface="Arial"/>
                          <a:ea typeface="Arial"/>
                          <a:cs typeface="Arial"/>
                        </a:rPr>
                        <a:t>Inputs &amp; Assumptions </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69" name="SummaryRowLabelTotalUSGT"/>
          <p:cNvSpPr txBox="1"/>
          <p:nvPr/>
        </p:nvSpPr>
        <p:spPr>
          <a:xfrm>
            <a:off x="103327" y="5345582"/>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Total US GT </a:t>
            </a:r>
            <a:r>
              <a:rPr lang="en-US" sz="1000" i="1" dirty="0">
                <a:solidFill>
                  <a:srgbClr val="000000"/>
                </a:solidFill>
                <a:latin typeface="Arial"/>
                <a:ea typeface="Arial"/>
                <a:cs typeface="Arial"/>
              </a:rPr>
              <a:t>(incl. non-ocean/commercial)</a:t>
            </a:r>
            <a:r>
              <a:rPr lang="en-US" sz="1000" b="1" dirty="0">
                <a:solidFill>
                  <a:srgbClr val="000000"/>
                </a:solidFill>
                <a:latin typeface="Arial"/>
                <a:ea typeface="Arial"/>
                <a:cs typeface="Arial"/>
              </a:rPr>
              <a:t>:</a:t>
            </a:r>
          </a:p>
        </p:txBody>
      </p:sp>
      <p:sp>
        <p:nvSpPr>
          <p:cNvPr id="170" name="SummaryBadge_total_us_gt"/>
          <p:cNvSpPr txBox="1"/>
          <p:nvPr/>
        </p:nvSpPr>
        <p:spPr>
          <a:xfrm>
            <a:off x="1945843"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1.1M</a:t>
            </a:r>
          </a:p>
        </p:txBody>
      </p:sp>
      <p:sp>
        <p:nvSpPr>
          <p:cNvPr id="171" name="SummaryBadge_total_us_gt"/>
          <p:cNvSpPr txBox="1"/>
          <p:nvPr/>
        </p:nvSpPr>
        <p:spPr>
          <a:xfrm>
            <a:off x="3496666"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6.0M</a:t>
            </a:r>
          </a:p>
        </p:txBody>
      </p:sp>
      <p:sp>
        <p:nvSpPr>
          <p:cNvPr id="172" name="SummaryBadge_total_us_gt"/>
          <p:cNvSpPr txBox="1"/>
          <p:nvPr/>
        </p:nvSpPr>
        <p:spPr>
          <a:xfrm>
            <a:off x="504474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8.1M</a:t>
            </a:r>
          </a:p>
        </p:txBody>
      </p:sp>
      <p:sp>
        <p:nvSpPr>
          <p:cNvPr id="173" name="SummaryBadge_total_us_gt"/>
          <p:cNvSpPr txBox="1"/>
          <p:nvPr/>
        </p:nvSpPr>
        <p:spPr>
          <a:xfrm>
            <a:off x="659099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4" name="SummaryBadge_total_us_gt"/>
          <p:cNvSpPr txBox="1"/>
          <p:nvPr/>
        </p:nvSpPr>
        <p:spPr>
          <a:xfrm>
            <a:off x="8138160"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5" name="SummaryBadge_oceangoing_gt"/>
          <p:cNvSpPr txBox="1"/>
          <p:nvPr/>
        </p:nvSpPr>
        <p:spPr>
          <a:xfrm>
            <a:off x="1945843"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1.0M</a:t>
            </a:r>
          </a:p>
        </p:txBody>
      </p:sp>
      <p:sp>
        <p:nvSpPr>
          <p:cNvPr id="176" name="SummaryBadge_oceangoing_gt"/>
          <p:cNvSpPr txBox="1"/>
          <p:nvPr/>
        </p:nvSpPr>
        <p:spPr>
          <a:xfrm>
            <a:off x="3496666"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5.9M</a:t>
            </a:r>
          </a:p>
        </p:txBody>
      </p:sp>
      <p:sp>
        <p:nvSpPr>
          <p:cNvPr id="177" name="SummaryBadge_oceangoing_gt"/>
          <p:cNvSpPr txBox="1"/>
          <p:nvPr/>
        </p:nvSpPr>
        <p:spPr>
          <a:xfrm>
            <a:off x="504474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8.0M</a:t>
            </a:r>
          </a:p>
        </p:txBody>
      </p:sp>
      <p:sp>
        <p:nvSpPr>
          <p:cNvPr id="178" name="SummaryBadge_oceangoing_gt"/>
          <p:cNvSpPr txBox="1"/>
          <p:nvPr/>
        </p:nvSpPr>
        <p:spPr>
          <a:xfrm>
            <a:off x="659099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79" name="SummaryBadge_oceangoing_gt"/>
          <p:cNvSpPr txBox="1"/>
          <p:nvPr/>
        </p:nvSpPr>
        <p:spPr>
          <a:xfrm>
            <a:off x="8138160"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80" name="SummaryBadge_port_alpha_share"/>
          <p:cNvSpPr txBox="1"/>
          <p:nvPr/>
        </p:nvSpPr>
        <p:spPr>
          <a:xfrm>
            <a:off x="1945843"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81" name="SummaryBadge_port_alpha_share"/>
          <p:cNvSpPr txBox="1"/>
          <p:nvPr/>
        </p:nvSpPr>
        <p:spPr>
          <a:xfrm>
            <a:off x="3496666"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82" name="SummaryBadge_port_alpha_share"/>
          <p:cNvSpPr txBox="1"/>
          <p:nvPr/>
        </p:nvSpPr>
        <p:spPr>
          <a:xfrm>
            <a:off x="504474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83" name="SummaryBadge_port_alpha_share"/>
          <p:cNvSpPr txBox="1"/>
          <p:nvPr/>
        </p:nvSpPr>
        <p:spPr>
          <a:xfrm>
            <a:off x="659099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4" name="SummaryBadge_port_alpha_share"/>
          <p:cNvSpPr txBox="1"/>
          <p:nvPr/>
        </p:nvSpPr>
        <p:spPr>
          <a:xfrm>
            <a:off x="8138160"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5" name="SummaryRowLabelOceangoingGT"/>
          <p:cNvSpPr txBox="1"/>
          <p:nvPr/>
        </p:nvSpPr>
        <p:spPr>
          <a:xfrm>
            <a:off x="103327" y="4983480"/>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Oceangoing commercial GT</a:t>
            </a:r>
            <a:r>
              <a:rPr lang="en-US" sz="1000" b="1" dirty="0">
                <a:solidFill>
                  <a:srgbClr val="000000"/>
                </a:solidFill>
                <a:latin typeface="Arial"/>
                <a:ea typeface="Arial"/>
                <a:cs typeface="Arial"/>
              </a:rPr>
              <a:t>1</a:t>
            </a:r>
            <a:r>
              <a:rPr lang="en-US" sz="1000" b="1" dirty="0">
                <a:solidFill>
                  <a:srgbClr val="000000"/>
                </a:solidFill>
                <a:latin typeface="Arial"/>
                <a:ea typeface="Arial"/>
                <a:cs typeface="Arial"/>
              </a:rPr>
              <a:t>:</a:t>
            </a:r>
          </a:p>
        </p:txBody>
      </p:sp>
      <p:sp>
        <p:nvSpPr>
          <p:cNvPr id="186" name="SummaryRowLabelPortAlphaShare"/>
          <p:cNvSpPr txBox="1"/>
          <p:nvPr/>
        </p:nvSpPr>
        <p:spPr>
          <a:xfrm>
            <a:off x="103327" y="5708599"/>
            <a:ext cx="1828800"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 oceangoing commercial attributable to Port Alpha:</a:t>
            </a:r>
          </a:p>
        </p:txBody>
      </p:sp>
      <p:sp>
        <p:nvSpPr>
          <p:cNvPr id="187" name="NonOceangoingStableGTCallout"/>
          <p:cNvSpPr txBox="1"/>
          <p:nvPr/>
        </p:nvSpPr>
        <p:spPr>
          <a:xfrm>
            <a:off x="9134856" y="5384902"/>
            <a:ext cx="2557577" cy="950976"/>
          </a:xfrm>
          <a:prstGeom prst="wedgeRectCallout">
            <a:avLst>
              <a:gd name="adj1" fmla="val -62578"/>
              <a:gd name="adj2" fmla="val -35925"/>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Est. ~100K GT for naval, USCG, offshore, and other vessels remains relatively stable through forecast; implied amount based on current orderbook for non-oceangoing commercial and assumed defense/national security production</a:t>
            </a:r>
          </a:p>
        </p:txBody>
      </p:sp>
      <p:sp>
        <p:nvSpPr>
          <p:cNvPr id="188" name="OrderbookCapacityCallout"/>
          <p:cNvSpPr txBox="1"/>
          <p:nvPr/>
        </p:nvSpPr>
        <p:spPr>
          <a:xfrm>
            <a:off x="882396" y="3242462"/>
            <a:ext cx="1565453" cy="639166"/>
          </a:xfrm>
          <a:prstGeom prst="wedgeRectCallout">
            <a:avLst>
              <a:gd name="adj1" fmla="val -21817"/>
              <a:gd name="adj2" fmla="val 120159"/>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Implied delivery capacity based on orderbook; excludes idle / underutilized yards</a:t>
            </a:r>
          </a:p>
        </p:txBody>
      </p:sp>
      <p:sp>
        <p:nvSpPr>
          <p:cNvPr id="189" name="SaronicRampCallout"/>
          <p:cNvSpPr txBox="1"/>
          <p:nvPr/>
        </p:nvSpPr>
        <p:spPr>
          <a:xfrm>
            <a:off x="4776826" y="3913632"/>
            <a:ext cx="3651199" cy="574243"/>
          </a:xfrm>
          <a:prstGeom prst="rect">
            <a:avLst/>
          </a:prstGeom>
          <a:solidFill>
            <a:srgbClr val="FFFFF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Saronic capacity assumes Port Alpha ramps from 7 delivery capacity in 2029 to 125 deliveries by late 2030s to align with IP assertion of achieving 10M GT of US shipbuilding capacity </a:t>
            </a:r>
          </a:p>
        </p:txBody>
      </p:sp>
      <p:sp>
        <p:nvSpPr>
          <p:cNvPr id="190" name="ScopeChip"/>
          <p:cNvSpPr txBox="1"/>
          <p:nvPr/>
        </p:nvSpPr>
        <p:spPr>
          <a:xfrm>
            <a:off x="7378294" y="159106"/>
            <a:ext cx="2722169" cy="198425"/>
          </a:xfrm>
          <a:prstGeom prst="rect">
            <a:avLst/>
          </a:prstGeom>
          <a:noFill/>
          <a:ln w="1905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All Scenarios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Addressable Demand | US-built and flagged oceangoing commercial vessels and high-volume offshore vessels meet desired regulatory and/or serial production requirements.</a:t>
            </a:r>
          </a:p>
        </p:txBody>
      </p:sp>
      <p:sp>
        <p:nvSpPr>
          <p:cNvPr id="100" name="Criteria_us_built"/>
          <p:cNvSpPr txBox="1"/>
          <p:nvPr/>
        </p:nvSpPr>
        <p:spPr>
          <a:xfrm>
            <a:off x="1638605" y="1596542"/>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US-Built</a:t>
            </a:r>
          </a:p>
        </p:txBody>
      </p:sp>
      <p:sp>
        <p:nvSpPr>
          <p:cNvPr id="101" name="Criteria_us_flagged"/>
          <p:cNvSpPr txBox="1"/>
          <p:nvPr/>
        </p:nvSpPr>
        <p:spPr>
          <a:xfrm>
            <a:off x="1639519" y="2215591"/>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US-Flagged</a:t>
            </a:r>
          </a:p>
        </p:txBody>
      </p:sp>
      <p:sp>
        <p:nvSpPr>
          <p:cNvPr id="102" name="Criteria_commercially_viable"/>
          <p:cNvSpPr txBox="1"/>
          <p:nvPr/>
        </p:nvSpPr>
        <p:spPr>
          <a:xfrm>
            <a:off x="1639519" y="2834640"/>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Commercially Viable</a:t>
            </a:r>
          </a:p>
        </p:txBody>
      </p:sp>
      <p:sp>
        <p:nvSpPr>
          <p:cNvPr id="103" name="Criteria_oceangoing"/>
          <p:cNvSpPr txBox="1"/>
          <p:nvPr/>
        </p:nvSpPr>
        <p:spPr>
          <a:xfrm>
            <a:off x="1639519" y="3453689"/>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Oceangoing</a:t>
            </a:r>
          </a:p>
        </p:txBody>
      </p:sp>
      <p:sp>
        <p:nvSpPr>
          <p:cNvPr id="104" name="Criteria_high_volume_offshore"/>
          <p:cNvSpPr txBox="1"/>
          <p:nvPr/>
        </p:nvSpPr>
        <p:spPr>
          <a:xfrm>
            <a:off x="1639519" y="4072738"/>
            <a:ext cx="2011680" cy="457200"/>
          </a:xfrm>
          <a:prstGeom prst="rect">
            <a:avLst/>
          </a:prstGeom>
          <a:solidFill>
            <a:srgbClr val="FFC000"/>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High Volume Offshore</a:t>
            </a:r>
            <a:br/>
            <a:r>
              <a:rPr lang="en-US" sz="1200" i="1" dirty="0">
                <a:solidFill>
                  <a:srgbClr val="000000"/>
                </a:solidFill>
                <a:latin typeface="Arial"/>
                <a:ea typeface="Arial"/>
                <a:cs typeface="Arial"/>
              </a:rPr>
              <a:t>(PSV and FSV)</a:t>
            </a:r>
          </a:p>
        </p:txBody>
      </p:sp>
      <p:sp>
        <p:nvSpPr>
          <p:cNvPr id="105" name="Criteria_great_lakes"/>
          <p:cNvSpPr txBox="1"/>
          <p:nvPr/>
        </p:nvSpPr>
        <p:spPr>
          <a:xfrm>
            <a:off x="1639519" y="4691786"/>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Great Lakes Commercial Vessels</a:t>
            </a:r>
          </a:p>
        </p:txBody>
      </p:sp>
      <p:sp>
        <p:nvSpPr>
          <p:cNvPr id="106" name="Criteria_low_volume_offshore"/>
          <p:cNvSpPr txBox="1"/>
          <p:nvPr/>
        </p:nvSpPr>
        <p:spPr>
          <a:xfrm>
            <a:off x="1639519" y="5310835"/>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Low Volume Offshore </a:t>
            </a:r>
            <a:br/>
            <a:r>
              <a:rPr lang="en-US" sz="1200" i="1" dirty="0">
                <a:solidFill>
                  <a:srgbClr val="FFFFFF"/>
                </a:solidFill>
                <a:latin typeface="Arial"/>
                <a:ea typeface="Arial"/>
                <a:cs typeface="Arial"/>
              </a:rPr>
              <a:t>(ex-PSV and FSV)</a:t>
            </a:r>
            <a:r>
              <a:rPr lang="en-US" sz="1200" b="1" dirty="0">
                <a:solidFill>
                  <a:srgbClr val="FFFFFF"/>
                </a:solidFill>
                <a:latin typeface="Arial"/>
                <a:ea typeface="Arial"/>
                <a:cs typeface="Arial"/>
              </a:rPr>
              <a:t> </a:t>
            </a:r>
          </a:p>
        </p:txBody>
      </p:sp>
      <p:sp>
        <p:nvSpPr>
          <p:cNvPr id="107" name="Criteria_other_categories"/>
          <p:cNvSpPr txBox="1"/>
          <p:nvPr/>
        </p:nvSpPr>
        <p:spPr>
          <a:xfrm>
            <a:off x="1639519" y="5929884"/>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Other Categories</a:t>
            </a:r>
          </a:p>
        </p:txBody>
      </p:sp>
      <p:graphicFrame>
        <p:nvGraphicFramePr>
          <p:cNvPr id="108" name="TierSpine_TableStakes"/>
          <p:cNvGraphicFramePr>
            <a:graphicFrameLocks noGrp="1"/>
          </p:cNvGraphicFramePr>
          <p:nvPr/>
        </p:nvGraphicFramePr>
        <p:xfrm>
          <a:off x="330098" y="1596542"/>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t"/>
                    <a:lstStyle/>
                    <a:p>
                      <a:pPr algn="l" marL="0" indent="0">
                        <a:lnSpc>
                          <a:spcPct val="100000"/>
                        </a:lnSpc>
                      </a:pPr>
                      <a:r>
                        <a:rPr lang="en-US" sz="1200" b="1" dirty="0">
                          <a:solidFill>
                            <a:srgbClr val="000000"/>
                          </a:solidFill>
                          <a:latin typeface="Arial"/>
                          <a:ea typeface="Arial"/>
                          <a:cs typeface="Arial"/>
                        </a:rPr>
                        <a:t>Table Stakes</a:t>
                      </a:r>
                    </a:p>
                  </a:txBody>
                  <a:tcPr marL="45720" marR="45720" marT="45720" marB="45720" anchor="t">
                    <a:lnL>
                      <a:noFill/>
                    </a:lnL>
                    <a:lnR w="38100" cap="flat" cmpd="sng" algn="ctr">
                      <a:solidFill>
                        <a:srgbClr val="000000"/>
                      </a:solidFill>
                      <a:prstDash val="solid"/>
                    </a:lnR>
                    <a:lnT>
                      <a:noFill/>
                    </a:lnT>
                    <a:lnB>
                      <a:noFill/>
                    </a:lnB>
                    <a:noFill/>
                  </a:tcPr>
                </a:tc>
              </a:tr>
            </a:tbl>
          </a:graphicData>
        </a:graphic>
      </p:graphicFrame>
      <p:graphicFrame>
        <p:nvGraphicFramePr>
          <p:cNvPr id="109" name="TierSpine_AddressableCommercial"/>
          <p:cNvGraphicFramePr>
            <a:graphicFrameLocks noGrp="1"/>
          </p:cNvGraphicFramePr>
          <p:nvPr/>
        </p:nvGraphicFramePr>
        <p:xfrm>
          <a:off x="330098" y="2831897"/>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t"/>
                    <a:lstStyle/>
                    <a:p>
                      <a:pPr algn="l" marL="0" indent="0">
                        <a:lnSpc>
                          <a:spcPct val="100000"/>
                        </a:lnSpc>
                      </a:pPr>
                      <a:r>
                        <a:rPr lang="en-US" sz="1200" b="1" dirty="0">
                          <a:solidFill>
                            <a:srgbClr val="007770"/>
                          </a:solidFill>
                          <a:latin typeface="Arial"/>
                          <a:ea typeface="Arial"/>
                          <a:cs typeface="Arial"/>
                        </a:rPr>
                        <a:t>Addressable</a:t>
                      </a:r>
                    </a:p>
                    <a:p>
                      <a:pPr algn="l" marL="0" indent="0">
                        <a:lnSpc>
                          <a:spcPct val="100000"/>
                        </a:lnSpc>
                      </a:pPr>
                      <a:r>
                        <a:rPr lang="en-US" sz="1200" b="1" dirty="0">
                          <a:solidFill>
                            <a:srgbClr val="007770"/>
                          </a:solidFill>
                          <a:latin typeface="Arial"/>
                          <a:ea typeface="Arial"/>
                          <a:cs typeface="Arial"/>
                        </a:rPr>
                        <a:t>Commercial</a:t>
                      </a:r>
                    </a:p>
                  </a:txBody>
                  <a:tcPr marL="45720" marR="45720" marT="45720" marB="45720" anchor="t">
                    <a:lnL>
                      <a:noFill/>
                    </a:lnL>
                    <a:lnR w="38100" cap="flat" cmpd="sng" algn="ctr">
                      <a:solidFill>
                        <a:srgbClr val="007770"/>
                      </a:solidFill>
                      <a:prstDash val="solid"/>
                    </a:lnR>
                    <a:lnT>
                      <a:noFill/>
                    </a:lnT>
                    <a:lnB>
                      <a:noFill/>
                    </a:lnB>
                    <a:noFill/>
                  </a:tcPr>
                </a:tc>
              </a:tr>
            </a:tbl>
          </a:graphicData>
        </a:graphic>
      </p:graphicFrame>
      <p:graphicFrame>
        <p:nvGraphicFramePr>
          <p:cNvPr id="110" name="TierSpine_AddressableOffshore"/>
          <p:cNvGraphicFramePr>
            <a:graphicFrameLocks noGrp="1"/>
          </p:cNvGraphicFramePr>
          <p:nvPr/>
        </p:nvGraphicFramePr>
        <p:xfrm>
          <a:off x="331013" y="4072738"/>
          <a:ext cx="1154887" cy="457200"/>
        </p:xfrm>
        <a:graphic>
          <a:graphicData uri="http://schemas.openxmlformats.org/drawingml/2006/table">
            <a:tbl>
              <a:tblPr firstRow="1" firstCol="1" bandRow="0">
                <a:tableStyleId>{2D5ABB26-0587-4C30-8999-92F81FD0307C}</a:tableStyleId>
              </a:tblPr>
              <a:tblGrid>
                <a:gridCol w="1154887"/>
              </a:tblGrid>
              <a:tr h="457200">
                <a:tc>
                  <a:txBody>
                    <a:bodyPr anchor="t"/>
                    <a:lstStyle/>
                    <a:p>
                      <a:pPr algn="l" marL="0" indent="0">
                        <a:lnSpc>
                          <a:spcPct val="100000"/>
                        </a:lnSpc>
                      </a:pPr>
                      <a:r>
                        <a:rPr lang="en-US" sz="1200" b="1" dirty="0">
                          <a:solidFill>
                            <a:srgbClr val="FFC000"/>
                          </a:solidFill>
                          <a:latin typeface="Arial"/>
                          <a:ea typeface="Arial"/>
                          <a:cs typeface="Arial"/>
                        </a:rPr>
                        <a:t>Addressable Offshore</a:t>
                      </a:r>
                    </a:p>
                  </a:txBody>
                  <a:tcPr marL="45720" marR="45720" marT="45720" marB="45720" anchor="t">
                    <a:lnL>
                      <a:noFill/>
                    </a:lnL>
                    <a:lnR w="38100" cap="flat" cmpd="sng" algn="ctr">
                      <a:solidFill>
                        <a:srgbClr val="FFC000"/>
                      </a:solidFill>
                      <a:prstDash val="solid"/>
                    </a:lnR>
                    <a:lnT>
                      <a:noFill/>
                    </a:lnT>
                    <a:lnB>
                      <a:noFill/>
                    </a:lnB>
                    <a:noFill/>
                  </a:tcPr>
                </a:tc>
              </a:tr>
            </a:tbl>
          </a:graphicData>
        </a:graphic>
      </p:graphicFrame>
      <p:graphicFrame>
        <p:nvGraphicFramePr>
          <p:cNvPr id="111" name="TierSpine_NonAddressable"/>
          <p:cNvGraphicFramePr>
            <a:graphicFrameLocks noGrp="1"/>
          </p:cNvGraphicFramePr>
          <p:nvPr/>
        </p:nvGraphicFramePr>
        <p:xfrm>
          <a:off x="331013" y="4691786"/>
          <a:ext cx="1154887" cy="1695298"/>
        </p:xfrm>
        <a:graphic>
          <a:graphicData uri="http://schemas.openxmlformats.org/drawingml/2006/table">
            <a:tbl>
              <a:tblPr firstRow="1" firstCol="1" bandRow="0">
                <a:tableStyleId>{2D5ABB26-0587-4C30-8999-92F81FD0307C}</a:tableStyleId>
              </a:tblPr>
              <a:tblGrid>
                <a:gridCol w="1154887"/>
              </a:tblGrid>
              <a:tr h="1695298">
                <a:tc>
                  <a:txBody>
                    <a:bodyPr anchor="t"/>
                    <a:lstStyle/>
                    <a:p>
                      <a:pPr algn="l" marL="0" indent="0">
                        <a:lnSpc>
                          <a:spcPct val="100000"/>
                        </a:lnSpc>
                      </a:pPr>
                      <a:r>
                        <a:rPr lang="en-US" sz="1200" b="1" dirty="0">
                          <a:solidFill>
                            <a:srgbClr val="969696"/>
                          </a:solidFill>
                          <a:latin typeface="Arial"/>
                          <a:ea typeface="Arial"/>
                          <a:cs typeface="Arial"/>
                        </a:rPr>
                        <a:t>Non-Addressable</a:t>
                      </a:r>
                    </a:p>
                  </a:txBody>
                  <a:tcPr marL="45720" marR="45720" marT="45720" marB="45720" anchor="t">
                    <a:lnL>
                      <a:noFill/>
                    </a:lnL>
                    <a:lnR w="38100" cap="flat" cmpd="sng" algn="ctr">
                      <a:solidFill>
                        <a:srgbClr val="969696"/>
                      </a:solidFill>
                      <a:prstDash val="solid"/>
                    </a:lnR>
                    <a:lnT>
                      <a:noFill/>
                    </a:lnT>
                    <a:lnB>
                      <a:noFill/>
                    </a:lnB>
                    <a:noFill/>
                  </a:tcPr>
                </a:tc>
              </a:tr>
            </a:tbl>
          </a:graphicData>
        </a:graphic>
      </p:graphicFrame>
      <p:sp>
        <p:nvSpPr>
          <p:cNvPr id="112" name="Rationale_us_built"/>
          <p:cNvSpPr txBox="1"/>
          <p:nvPr/>
        </p:nvSpPr>
        <p:spPr>
          <a:xfrm>
            <a:off x="3802075" y="1596542"/>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Provides Jones Act protection or enables subsidy eligibility under pending legislation and potential expansion of other programs; required for certain export/import provisions</a:t>
            </a:r>
          </a:p>
        </p:txBody>
      </p:sp>
      <p:sp>
        <p:nvSpPr>
          <p:cNvPr id="113" name="Rationale_us_flagged"/>
          <p:cNvSpPr txBox="1"/>
          <p:nvPr/>
        </p:nvSpPr>
        <p:spPr>
          <a:xfrm>
            <a:off x="3802075" y="2214677"/>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sp>
        <p:nvSpPr>
          <p:cNvPr id="114" name="Rationale_commercially_viable"/>
          <p:cNvSpPr txBox="1"/>
          <p:nvPr/>
        </p:nvSpPr>
        <p:spPr>
          <a:xfrm>
            <a:off x="3802075" y="2831897"/>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Meets capabilities and tonnage required for participation in subsidized programs; priced to achieve revenue targets</a:t>
            </a:r>
          </a:p>
        </p:txBody>
      </p:sp>
      <p:sp>
        <p:nvSpPr>
          <p:cNvPr id="115" name="Rationale_oceangoing"/>
          <p:cNvSpPr txBox="1"/>
          <p:nvPr/>
        </p:nvSpPr>
        <p:spPr>
          <a:xfrm>
            <a:off x="3802075" y="345003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Drives national shipbuilding capacity with avg. gross tonnage 15x+ that of offshore vessels</a:t>
            </a:r>
          </a:p>
        </p:txBody>
      </p:sp>
      <p:sp>
        <p:nvSpPr>
          <p:cNvPr id="116" name="Rationale_high_volume_offshore"/>
          <p:cNvSpPr txBox="1"/>
          <p:nvPr/>
        </p:nvSpPr>
        <p:spPr>
          <a:xfrm>
            <a:off x="3802075" y="406725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Large fleet size enables serial production (5+ hulls/yr to achieve max labor efficiencies); viable if owner/operators conduct 1-for-1 replacement of expected retirements</a:t>
            </a:r>
          </a:p>
        </p:txBody>
      </p:sp>
      <p:sp>
        <p:nvSpPr>
          <p:cNvPr id="117" name="Rationale_great_lakes"/>
          <p:cNvSpPr txBox="1"/>
          <p:nvPr/>
        </p:nvSpPr>
        <p:spPr>
          <a:xfrm>
            <a:off x="3802075" y="468447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Unlikely to drive meaningful demand given small fleet size (~37 vessels) and low retirement rates</a:t>
            </a:r>
          </a:p>
        </p:txBody>
      </p:sp>
      <p:sp>
        <p:nvSpPr>
          <p:cNvPr id="118" name="Rationale_low_volume_offshore"/>
          <p:cNvSpPr txBox="1"/>
          <p:nvPr/>
        </p:nvSpPr>
        <p:spPr>
          <a:xfrm>
            <a:off x="3802075" y="5302606"/>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Small fleet size precludes serial production; low gross tonnage per vessel limits national security utility and pricing</a:t>
            </a:r>
          </a:p>
        </p:txBody>
      </p:sp>
      <p:sp>
        <p:nvSpPr>
          <p:cNvPr id="119" name="Rationale_other_categories"/>
          <p:cNvSpPr txBox="1"/>
          <p:nvPr/>
        </p:nvSpPr>
        <p:spPr>
          <a:xfrm>
            <a:off x="3802075" y="5929884"/>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graphicFrame>
        <p:nvGraphicFramePr>
          <p:cNvPr id="120" name="CriteriaColumnHeader"/>
          <p:cNvGraphicFramePr>
            <a:graphicFrameLocks noGrp="1"/>
          </p:cNvGraphicFramePr>
          <p:nvPr/>
        </p:nvGraphicFramePr>
        <p:xfrm>
          <a:off x="1638605" y="1257300"/>
          <a:ext cx="2011680" cy="274320"/>
        </p:xfrm>
        <a:graphic>
          <a:graphicData uri="http://schemas.openxmlformats.org/drawingml/2006/table">
            <a:tbl>
              <a:tblPr firstRow="1" firstCol="1" bandRow="0">
                <a:tableStyleId>{2D5ABB26-0587-4C30-8999-92F81FD0307C}</a:tableStyleId>
              </a:tblPr>
              <a:tblGrid>
                <a:gridCol w="2011680"/>
              </a:tblGrid>
              <a:tr h="0">
                <a:tc>
                  <a:txBody>
                    <a:bodyPr anchor="t"/>
                    <a:lstStyle/>
                    <a:p>
                      <a:pPr algn="l">
                        <a:lnSpc>
                          <a:spcPct val="100000"/>
                        </a:lnSpc>
                      </a:pPr>
                      <a:r>
                        <a:rPr lang="en-US" sz="1200" b="1" dirty="0">
                          <a:solidFill>
                            <a:srgbClr val="000000"/>
                          </a:solidFill>
                          <a:latin typeface="Arial"/>
                          <a:ea typeface="Arial"/>
                          <a:cs typeface="Arial"/>
                        </a:rPr>
                        <a:t>Criteria</a:t>
                      </a:r>
                    </a:p>
                  </a:txBody>
                  <a:tcPr marL="45720" marR="45720" marT="45720" marB="45720" anchor="t">
                    <a:lnL>
                      <a:noFill/>
                    </a:lnL>
                    <a:lnR>
                      <a:noFill/>
                    </a:lnR>
                    <a:lnT>
                      <a:noFill/>
                    </a:lnT>
                    <a:lnB w="12700" cap="flat" cmpd="sng" algn="ctr">
                      <a:solidFill>
                        <a:srgbClr val="000000"/>
                      </a:solidFill>
                      <a:prstDash val="solid"/>
                    </a:lnB>
                    <a:noFill/>
                  </a:tcPr>
                </a:tc>
              </a:tr>
            </a:tbl>
          </a:graphicData>
        </a:graphic>
      </p:graphicFrame>
      <p:graphicFrame>
        <p:nvGraphicFramePr>
          <p:cNvPr id="121" name="RationaleColumnHeader"/>
          <p:cNvGraphicFramePr>
            <a:graphicFrameLocks noGrp="1"/>
          </p:cNvGraphicFramePr>
          <p:nvPr/>
        </p:nvGraphicFramePr>
        <p:xfrm>
          <a:off x="3802075" y="1257300"/>
          <a:ext cx="7934249" cy="274320"/>
        </p:xfrm>
        <a:graphic>
          <a:graphicData uri="http://schemas.openxmlformats.org/drawingml/2006/table">
            <a:tbl>
              <a:tblPr firstRow="1" firstCol="1" bandRow="0">
                <a:tableStyleId>{2D5ABB26-0587-4C30-8999-92F81FD0307C}</a:tableStyleId>
              </a:tblPr>
              <a:tblGrid>
                <a:gridCol w="7934249"/>
              </a:tblGrid>
              <a:tr h="0">
                <a:tc>
                  <a:txBody>
                    <a:bodyPr anchor="t"/>
                    <a:lstStyle/>
                    <a:p>
                      <a:pPr algn="l">
                        <a:lnSpc>
                          <a:spcPct val="100000"/>
                        </a:lnSpc>
                      </a:pPr>
                      <a:r>
                        <a:rPr lang="en-US" sz="1200" b="1" dirty="0">
                          <a:solidFill>
                            <a:srgbClr val="000000"/>
                          </a:solidFill>
                          <a:latin typeface="Arial"/>
                          <a:ea typeface="Arial"/>
                          <a:cs typeface="Arial"/>
                        </a:rPr>
                        <a:t>Inclusion / Exclusion Rationale</a:t>
                      </a:r>
                    </a:p>
                  </a:txBody>
                  <a:tcPr marL="45720" marR="45720" marT="45720" marB="45720" anchor="t">
                    <a:lnL>
                      <a:noFill/>
                    </a:lnL>
                    <a:lnR>
                      <a:noFill/>
                    </a:lnR>
                    <a:lnT>
                      <a:noFill/>
                    </a:lnT>
                    <a:lnB w="12700" cap="flat" cmpd="sng" algn="ctr">
                      <a:solidFill>
                        <a:srgbClr val="000000"/>
                      </a:solidFill>
                      <a:prstDash val="solid"/>
                    </a:lnB>
                    <a:no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(Maritime Transport) | Shipbuilders capture the least value (2-6% EBIT margins); margin expansion likely requires vertical integration.</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ValueFlowPanel:cargo_moved_by_archetypes"/>
          <p:cNvSpPr txBox="1"/>
          <p:nvPr/>
        </p:nvSpPr>
        <p:spPr>
          <a:xfrm>
            <a:off x="4524451" y="3161081"/>
            <a:ext cx="7277710" cy="1691640"/>
          </a:xfrm>
          <a:prstGeom prst="rect">
            <a:avLst/>
          </a:prstGeom>
          <a:solidFill>
            <a:srgbClr val="F2F2F2">
              <a:alpha val="10196"/>
            </a:srgbClr>
          </a:solidFill>
          <a:ln w="12700">
            <a:solidFill>
              <a:srgbClr val="000000"/>
            </a:solidFill>
          </a:ln>
        </p:spPr>
        <p:txBody>
          <a:bodyPr wrap="square" anchor="t" lIns="91440" tIns="45720" rIns="91440" bIns="45720"/>
          <a:lstStyle/>
          <a:p>
            <a:pPr algn="l">
              <a:lnSpc>
                <a:spcPct val="100000"/>
              </a:lnSpc>
              <a:buNone/>
            </a:pPr>
            <a:r>
              <a:rPr lang="en-US" sz="800" i="1" dirty="0">
                <a:solidFill>
                  <a:srgbClr val="000000"/>
                </a:solidFill>
                <a:latin typeface="Arial"/>
                <a:ea typeface="Arial"/>
                <a:cs typeface="Arial"/>
              </a:rPr>
              <a:t>Cargo moved by one or more of the following maritime transport archetypes</a:t>
            </a:r>
          </a:p>
        </p:txBody>
      </p:sp>
      <p:sp>
        <p:nvSpPr>
          <p:cNvPr id="101" name="ValueFlowPanel:chartered_vessels"/>
          <p:cNvSpPr txBox="1"/>
          <p:nvPr/>
        </p:nvSpPr>
        <p:spPr>
          <a:xfrm>
            <a:off x="8362188" y="5451653"/>
            <a:ext cx="2250338" cy="914400"/>
          </a:xfrm>
          <a:prstGeom prst="rect">
            <a:avLst/>
          </a:prstGeom>
          <a:noFill/>
          <a:ln w="12700">
            <a:solidFill>
              <a:srgbClr val="00000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chartered vessels</a:t>
            </a:r>
          </a:p>
        </p:txBody>
      </p:sp>
      <p:sp>
        <p:nvSpPr>
          <p:cNvPr id="102" name="ValueFlowPanel:owned_vessels"/>
          <p:cNvSpPr txBox="1"/>
          <p:nvPr/>
        </p:nvSpPr>
        <p:spPr>
          <a:xfrm>
            <a:off x="3291840" y="5451653"/>
            <a:ext cx="4549140" cy="914400"/>
          </a:xfrm>
          <a:prstGeom prst="rect">
            <a:avLst/>
          </a:prstGeom>
          <a:solidFill>
            <a:srgbClr val="E2E9EF">
              <a:alpha val="10196"/>
            </a:srgbClr>
          </a:solidFill>
          <a:ln w="12700">
            <a:solidFill>
              <a:srgbClr val="80808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owned vessels</a:t>
            </a:r>
          </a:p>
        </p:txBody>
      </p:sp>
      <p:sp>
        <p:nvSpPr>
          <p:cNvPr id="103" name="ValueFlowPanel:charter_metric_frame"/>
          <p:cNvSpPr txBox="1"/>
          <p:nvPr/>
        </p:nvSpPr>
        <p:spPr>
          <a:xfrm>
            <a:off x="4652467" y="4524451"/>
            <a:ext cx="4437583" cy="251460"/>
          </a:xfrm>
          <a:prstGeom prst="rect">
            <a:avLst/>
          </a:prstGeom>
          <a:noFill/>
          <a:ln w="6350">
            <a:solidFill>
              <a:srgbClr val="000000"/>
            </a:solidFill>
            <a:prstDash val="dash"/>
          </a:ln>
        </p:spPr>
        <p:txBody>
          <a:bodyPr wrap="square" anchor="t" lIns="91440" tIns="45720" rIns="91440" bIns="45720"/>
          <a:lstStyle/>
          <a:p>
            <a:pPr algn="r">
              <a:lnSpc>
                <a:spcPct val="100000"/>
              </a:lnSpc>
              <a:buNone/>
            </a:pPr>
            <a:endParaRPr lang="en-US"/>
          </a:p>
        </p:txBody>
      </p:sp>
      <p:sp>
        <p:nvSpPr>
          <p:cNvPr id="104" name="StageHeader:Customer / Shipper Requires Cargo Shipment"/>
          <p:cNvSpPr txBox="1"/>
          <p:nvPr/>
        </p:nvSpPr>
        <p:spPr>
          <a:xfrm>
            <a:off x="2043684" y="1549908"/>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5" name="StageHeader:Coordination"/>
          <p:cNvSpPr txBox="1"/>
          <p:nvPr/>
        </p:nvSpPr>
        <p:spPr>
          <a:xfrm>
            <a:off x="3977640" y="1549908"/>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6" name="StageHeader:Origin Shoreside Logistics"/>
          <p:cNvSpPr txBox="1"/>
          <p:nvPr/>
        </p:nvSpPr>
        <p:spPr>
          <a:xfrm>
            <a:off x="5911596"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7" name="StageHeader:Maritime Transport"/>
          <p:cNvSpPr txBox="1"/>
          <p:nvPr/>
        </p:nvSpPr>
        <p:spPr>
          <a:xfrm>
            <a:off x="7845552" y="1549908"/>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08" name="StageHeader:Destination Shoreside Logistics"/>
          <p:cNvSpPr txBox="1"/>
          <p:nvPr/>
        </p:nvSpPr>
        <p:spPr>
          <a:xfrm>
            <a:off x="9779508"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sp>
        <p:nvSpPr>
          <p:cNvPr id="109" name="ArchetypeNode:Shipbuilders"/>
          <p:cNvSpPr txBox="1"/>
          <p:nvPr/>
        </p:nvSpPr>
        <p:spPr>
          <a:xfrm>
            <a:off x="3348533"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Shipbuilders</a:t>
            </a:r>
          </a:p>
        </p:txBody>
      </p:sp>
      <p:sp>
        <p:nvSpPr>
          <p:cNvPr id="110" name="ArchetypeNode:Vessel Operating Common Carriers"/>
          <p:cNvSpPr txBox="1"/>
          <p:nvPr/>
        </p:nvSpPr>
        <p:spPr>
          <a:xfrm>
            <a:off x="4652467"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Vessel Operating Common Carriers</a:t>
            </a:r>
          </a:p>
        </p:txBody>
      </p:sp>
      <p:sp>
        <p:nvSpPr>
          <p:cNvPr id="111" name="ArchetypeNode:Private Carriers"/>
          <p:cNvSpPr txBox="1"/>
          <p:nvPr/>
        </p:nvSpPr>
        <p:spPr>
          <a:xfrm>
            <a:off x="9870948"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Private Carriers</a:t>
            </a:r>
          </a:p>
        </p:txBody>
      </p:sp>
      <p:sp>
        <p:nvSpPr>
          <p:cNvPr id="112" name="ArchetypeNode:Charter Companies"/>
          <p:cNvSpPr txBox="1"/>
          <p:nvPr/>
        </p:nvSpPr>
        <p:spPr>
          <a:xfrm>
            <a:off x="8566099"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Charter Companies</a:t>
            </a:r>
          </a:p>
        </p:txBody>
      </p:sp>
      <p:sp>
        <p:nvSpPr>
          <p:cNvPr id="113" name="ArchetypeNode:Non-Vessel Operating Common Carriers"/>
          <p:cNvSpPr txBox="1"/>
          <p:nvPr/>
        </p:nvSpPr>
        <p:spPr>
          <a:xfrm>
            <a:off x="2043684"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Non-Vessel Operating Common Carriers</a:t>
            </a:r>
          </a:p>
        </p:txBody>
      </p:sp>
      <p:sp>
        <p:nvSpPr>
          <p:cNvPr id="114" name="ArchetypeNode:MRO"/>
          <p:cNvSpPr txBox="1"/>
          <p:nvPr/>
        </p:nvSpPr>
        <p:spPr>
          <a:xfrm>
            <a:off x="5957316" y="5711342"/>
            <a:ext cx="1828800" cy="366674"/>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MRO</a:t>
            </a:r>
          </a:p>
        </p:txBody>
      </p:sp>
      <p:sp>
        <p:nvSpPr>
          <p:cNvPr id="115" name="ArchetypeNode:Tramp Carriers"/>
          <p:cNvSpPr txBox="1"/>
          <p:nvPr/>
        </p:nvSpPr>
        <p:spPr>
          <a:xfrm>
            <a:off x="7262165"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Tramp Carriers</a:t>
            </a:r>
          </a:p>
        </p:txBody>
      </p:sp>
      <p:graphicFrame>
        <p:nvGraphicFramePr>
          <p:cNvPr id="116" name="RowLabel:ValueChainStep"/>
          <p:cNvGraphicFramePr>
            <a:graphicFrameLocks noGrp="1"/>
          </p:cNvGraphicFramePr>
          <p:nvPr/>
        </p:nvGraphicFramePr>
        <p:xfrm>
          <a:off x="452628" y="1549908"/>
          <a:ext cx="1463040" cy="1497787"/>
        </p:xfrm>
        <a:graphic>
          <a:graphicData uri="http://schemas.openxmlformats.org/drawingml/2006/table">
            <a:tbl>
              <a:tblPr firstRow="1" firstCol="1" bandRow="0">
                <a:tableStyleId>{2D5ABB26-0587-4C30-8999-92F81FD0307C}</a:tableStyleId>
              </a:tblPr>
              <a:tblGrid>
                <a:gridCol w="1463040"/>
              </a:tblGrid>
              <a:tr h="1497787">
                <a:tc>
                  <a:txBody>
                    <a:bodyPr anchor="t"/>
                    <a:lstStyle/>
                    <a:p>
                      <a:pPr algn="l" marL="0" indent="0">
                        <a:lnSpc>
                          <a:spcPct val="100000"/>
                        </a:lnSpc>
                      </a:pPr>
                      <a:r>
                        <a:rPr lang="en-US" sz="1000" b="1" dirty="0">
                          <a:solidFill>
                            <a:srgbClr val="000000"/>
                          </a:solidFill>
                          <a:latin typeface="Arial"/>
                          <a:ea typeface="Arial"/>
                          <a:cs typeface="Arial"/>
                        </a:rPr>
                        <a:t>Value Chain Step</a:t>
                      </a:r>
                      <a:br/>
                      <a:b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7" name="MetricHeader:RevenueEbit"/>
          <p:cNvGraphicFramePr>
            <a:graphicFrameLocks noGrp="1"/>
          </p:cNvGraphicFramePr>
          <p:nvPr/>
        </p:nvGraphicFramePr>
        <p:xfrm>
          <a:off x="8759038" y="1089050"/>
          <a:ext cx="2939796" cy="457200"/>
        </p:xfrm>
        <a:graphic>
          <a:graphicData uri="http://schemas.openxmlformats.org/drawingml/2006/table">
            <a:tbl>
              <a:tblPr firstRow="1" firstCol="1" bandRow="0">
                <a:tableStyleId>{2D5ABB26-0587-4C30-8999-92F81FD0307C}</a:tableStyleId>
              </a:tblPr>
              <a:tblGrid>
                <a:gridCol w="2939796"/>
              </a:tblGrid>
              <a:tr h="0">
                <a:tc>
                  <a:txBody>
                    <a:bodyPr anchor="t"/>
                    <a:lstStyle/>
                    <a:p>
                      <a:pPr algn="r" marL="0" indent="0">
                        <a:lnSpc>
                          <a:spcPct val="100000"/>
                        </a:lnSpc>
                      </a:pPr>
                      <a:r>
                        <a:rPr lang="en-US" sz="800" b="1" dirty="0">
                          <a:solidFill>
                            <a:srgbClr val="000000"/>
                          </a:solidFill>
                          <a:latin typeface="Arial"/>
                          <a:ea typeface="Arial"/>
                          <a:cs typeface="Arial"/>
                        </a:rPr>
                        <a:t>Revenue | </a:t>
                      </a:r>
                      <a:r>
                        <a:rPr lang="en-US" sz="800" b="1" i="1" dirty="0">
                          <a:solidFill>
                            <a:srgbClr val="000000"/>
                          </a:solidFill>
                          <a:latin typeface="Arial"/>
                          <a:ea typeface="Arial"/>
                          <a:cs typeface="Arial"/>
                        </a:rPr>
                        <a:t>EBIT margin %</a:t>
                      </a:r>
                      <a:br/>
                      <a:r>
                        <a:rPr lang="en-US" sz="800" i="1" dirty="0">
                          <a:solidFill>
                            <a:srgbClr val="000000"/>
                          </a:solidFill>
                          <a:latin typeface="Arial"/>
                          <a:ea typeface="Arial"/>
                          <a:cs typeface="Arial"/>
                        </a:rPr>
                        <a:t>(Revenue = total value chain rev. indexed to $100; EBIT margins for 2024)</a:t>
                      </a:r>
                    </a:p>
                  </a:txBody>
                  <a:tcPr marL="45720" marR="45720" marT="45720" marB="45720" anchor="t">
                    <a:lnL>
                      <a:noFill/>
                    </a:lnL>
                    <a:lnR>
                      <a:noFill/>
                    </a:lnR>
                    <a:lnT>
                      <a:noFill/>
                    </a:lnT>
                    <a:lnB>
                      <a:noFill/>
                    </a:lnB>
                    <a:noFill/>
                  </a:tcPr>
                </a:tc>
              </a:tr>
            </a:tbl>
          </a:graphicData>
        </a:graphic>
      </p:graphicFrame>
      <p:graphicFrame>
        <p:nvGraphicFramePr>
          <p:cNvPr id="118" name="RowLabel:Archetypes"/>
          <p:cNvGraphicFramePr>
            <a:graphicFrameLocks noGrp="1"/>
          </p:cNvGraphicFramePr>
          <p:nvPr/>
        </p:nvGraphicFramePr>
        <p:xfrm>
          <a:off x="452628" y="3161081"/>
          <a:ext cx="1463040" cy="3204972"/>
        </p:xfrm>
        <a:graphic>
          <a:graphicData uri="http://schemas.openxmlformats.org/drawingml/2006/table">
            <a:tbl>
              <a:tblPr firstRow="1" firstCol="1" bandRow="0">
                <a:tableStyleId>{2D5ABB26-0587-4C30-8999-92F81FD0307C}</a:tableStyleId>
              </a:tblPr>
              <a:tblGrid>
                <a:gridCol w="1463040"/>
              </a:tblGrid>
              <a:tr h="3204972">
                <a:tc>
                  <a:txBody>
                    <a:bodyPr anchor="t"/>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sp>
        <p:nvSpPr>
          <p:cNvPr id="119" name="Description:customer"/>
          <p:cNvSpPr txBox="1"/>
          <p:nvPr/>
        </p:nvSpPr>
        <p:spPr>
          <a:xfrm>
            <a:off x="2135124"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Initiation of transportation process by owner of goods (e.g., retailer, commodity trader, or manufacturer)</a:t>
            </a:r>
          </a:p>
        </p:txBody>
      </p:sp>
      <p:sp>
        <p:nvSpPr>
          <p:cNvPr id="120" name="Description:coordination"/>
          <p:cNvSpPr txBox="1"/>
          <p:nvPr/>
        </p:nvSpPr>
        <p:spPr>
          <a:xfrm>
            <a:off x="4069080"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Arrangement of transport modes, storage, and compliance by coordinating entities (e.g., BCOs, freight forwarders)</a:t>
            </a:r>
          </a:p>
        </p:txBody>
      </p:sp>
      <p:sp>
        <p:nvSpPr>
          <p:cNvPr id="121" name="Description:origin_shoreside"/>
          <p:cNvSpPr txBox="1"/>
          <p:nvPr/>
        </p:nvSpPr>
        <p:spPr>
          <a:xfrm>
            <a:off x="6003036"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originating site onto ocean vessel; includes various transport modes, terminal ops, and export customs clearance</a:t>
            </a:r>
          </a:p>
        </p:txBody>
      </p:sp>
      <p:sp>
        <p:nvSpPr>
          <p:cNvPr id="122" name="Description:maritime_transport"/>
          <p:cNvSpPr txBox="1"/>
          <p:nvPr/>
        </p:nvSpPr>
        <p:spPr>
          <a:xfrm>
            <a:off x="7936992"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Transport of cargo across ocean between ports of loading and discharge by common or private carriers on owned or chartered vessels</a:t>
            </a:r>
          </a:p>
        </p:txBody>
      </p:sp>
      <p:sp>
        <p:nvSpPr>
          <p:cNvPr id="123" name="Description:destination_shoreside"/>
          <p:cNvSpPr txBox="1"/>
          <p:nvPr/>
        </p:nvSpPr>
        <p:spPr>
          <a:xfrm>
            <a:off x="9870948"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ocean vessel to destination site; includes various transport modes, terminal ops, and import customs clearance </a:t>
            </a:r>
          </a:p>
        </p:txBody>
      </p:sp>
      <p:sp>
        <p:nvSpPr>
          <p:cNvPr id="124" name="Description:nvocc"/>
          <p:cNvSpPr txBox="1"/>
          <p:nvPr/>
        </p:nvSpPr>
        <p:spPr>
          <a:xfrm>
            <a:off x="2089404" y="3971239"/>
            <a:ext cx="1737360" cy="1114654"/>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Books space on operator vessels and resells to shippers without owning ships; NVOCC are a Coordination players that act like carriers by assuming legal liability for cargo</a:t>
            </a:r>
          </a:p>
        </p:txBody>
      </p:sp>
      <p:sp>
        <p:nvSpPr>
          <p:cNvPr id="125" name="Description:vocc"/>
          <p:cNvSpPr txBox="1"/>
          <p:nvPr/>
        </p:nvSpPr>
        <p:spPr>
          <a:xfrm>
            <a:off x="4698187"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fixed schedules for public use</a:t>
            </a:r>
          </a:p>
        </p:txBody>
      </p:sp>
      <p:sp>
        <p:nvSpPr>
          <p:cNvPr id="126" name="Description:private_carriers"/>
          <p:cNvSpPr txBox="1"/>
          <p:nvPr/>
        </p:nvSpPr>
        <p:spPr>
          <a:xfrm>
            <a:off x="9916668"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Shippers who own/lease and operate an internal fleet to move their own cargo</a:t>
            </a:r>
          </a:p>
        </p:txBody>
      </p:sp>
      <p:sp>
        <p:nvSpPr>
          <p:cNvPr id="127" name="Description:tramp"/>
          <p:cNvSpPr txBox="1"/>
          <p:nvPr/>
        </p:nvSpPr>
        <p:spPr>
          <a:xfrm>
            <a:off x="7307885"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demand for public use (no fixed schedule)</a:t>
            </a:r>
          </a:p>
        </p:txBody>
      </p:sp>
      <p:cxnSp>
        <p:nvCxnSpPr>
          <p:cNvPr id="128" name="nvocc_to_vocc"/>
          <p:cNvCxnSpPr/>
          <p:nvPr/>
        </p:nvCxnSpPr>
        <p:spPr>
          <a:xfrm rot="10800000" flipV="1">
            <a:off x="2958084" y="2884018"/>
            <a:ext cx="1258214" cy="715975"/>
          </a:xfrm>
          <a:prstGeom prst="bentConnector2">
            <a:avLst/>
          </a:prstGeom>
          <a:ln w="12700">
            <a:solidFill>
              <a:srgbClr val="000000"/>
            </a:solidFill>
            <a:tailEnd type="triangle" w="med" len="med"/>
          </a:ln>
        </p:spPr>
      </p:cxnSp>
      <p:cxnSp>
        <p:nvCxnSpPr>
          <p:cNvPr id="129" name="private_carrier_route"/>
          <p:cNvCxnSpPr/>
          <p:nvPr/>
        </p:nvCxnSpPr>
        <p:spPr>
          <a:xfrm rot="16200000" flipH="1">
            <a:off x="9518904" y="2334463"/>
            <a:ext cx="552298" cy="1979676"/>
          </a:xfrm>
          <a:prstGeom prst="bentConnector3">
            <a:avLst>
              <a:gd name="adj1" fmla="val 65164"/>
            </a:avLst>
          </a:prstGeom>
          <a:ln w="12700">
            <a:solidFill>
              <a:srgbClr val="000000"/>
            </a:solidFill>
            <a:tailEnd type="triangle" w="med" len="med"/>
          </a:ln>
        </p:spPr>
      </p:cxnSp>
      <p:cxnSp>
        <p:nvCxnSpPr>
          <p:cNvPr id="130" name="stage_to_tramp"/>
          <p:cNvCxnSpPr/>
          <p:nvPr/>
        </p:nvCxnSpPr>
        <p:spPr>
          <a:xfrm rot="5400000">
            <a:off x="6910121" y="1705356"/>
            <a:ext cx="552298" cy="3237890"/>
          </a:xfrm>
          <a:prstGeom prst="bentConnector3">
            <a:avLst>
              <a:gd name="adj1" fmla="val 65164"/>
            </a:avLst>
          </a:prstGeom>
          <a:ln w="12700">
            <a:solidFill>
              <a:srgbClr val="000000"/>
            </a:solidFill>
            <a:tailEnd type="triangle" w="med" len="med"/>
          </a:ln>
        </p:spPr>
      </p:cxnSp>
      <p:cxnSp>
        <p:nvCxnSpPr>
          <p:cNvPr id="131" name="tramp_elbow"/>
          <p:cNvCxnSpPr/>
          <p:nvPr/>
        </p:nvCxnSpPr>
        <p:spPr>
          <a:xfrm rot="5400000">
            <a:off x="8214970" y="3009290"/>
            <a:ext cx="552298" cy="629107"/>
          </a:xfrm>
          <a:prstGeom prst="bentConnector3">
            <a:avLst>
              <a:gd name="adj1" fmla="val 65251"/>
            </a:avLst>
          </a:prstGeom>
          <a:ln w="12700">
            <a:solidFill>
              <a:srgbClr val="000000"/>
            </a:solidFill>
            <a:tailEnd type="triangle" w="med" len="med"/>
          </a:ln>
        </p:spPr>
      </p:cxnSp>
      <p:cxnSp>
        <p:nvCxnSpPr>
          <p:cNvPr id="132" name="nvocc_leases_space"/>
          <p:cNvCxnSpPr/>
          <p:nvPr/>
        </p:nvCxnSpPr>
        <p:spPr>
          <a:xfrm>
            <a:off x="3872484" y="3783787"/>
            <a:ext cx="779983" cy="0"/>
          </a:xfrm>
          <a:prstGeom prst="line">
            <a:avLst/>
          </a:prstGeom>
          <a:ln w="12700">
            <a:solidFill>
              <a:srgbClr val="000000"/>
            </a:solidFill>
            <a:tailEnd type="triangle" w="med" len="med"/>
          </a:ln>
        </p:spPr>
      </p:cxnSp>
      <p:cxnSp>
        <p:nvCxnSpPr>
          <p:cNvPr id="133" name="chartered_value_flow"/>
          <p:cNvCxnSpPr/>
          <p:nvPr/>
        </p:nvCxnSpPr>
        <p:spPr>
          <a:xfrm rot="16200000" flipH="1">
            <a:off x="8525866" y="4489704"/>
            <a:ext cx="598932" cy="1324051"/>
          </a:xfrm>
          <a:prstGeom prst="bentConnector3">
            <a:avLst/>
          </a:prstGeom>
          <a:ln w="12700">
            <a:solidFill>
              <a:srgbClr val="000000"/>
            </a:solidFill>
            <a:tailEnd type="triangle" w="med" len="med"/>
          </a:ln>
        </p:spPr>
      </p:cxnSp>
      <p:cxnSp>
        <p:nvCxnSpPr>
          <p:cNvPr id="134" name="owned_value_flow"/>
          <p:cNvCxnSpPr/>
          <p:nvPr/>
        </p:nvCxnSpPr>
        <p:spPr>
          <a:xfrm rot="5400000">
            <a:off x="6565392" y="3853282"/>
            <a:ext cx="598932" cy="2596896"/>
          </a:xfrm>
          <a:prstGeom prst="bentConnector3">
            <a:avLst/>
          </a:prstGeom>
          <a:ln w="12700">
            <a:solidFill>
              <a:srgbClr val="000000"/>
            </a:solidFill>
            <a:tailEnd type="triangle" w="med" len="med"/>
          </a:ln>
        </p:spPr>
      </p:cxnSp>
      <p:cxnSp>
        <p:nvCxnSpPr>
          <p:cNvPr id="135" name="shipbuilder_to_charter"/>
          <p:cNvCxnSpPr/>
          <p:nvPr/>
        </p:nvCxnSpPr>
        <p:spPr>
          <a:xfrm flipH="1">
            <a:off x="7840980" y="5908853"/>
            <a:ext cx="522122" cy="0"/>
          </a:xfrm>
          <a:prstGeom prst="line">
            <a:avLst/>
          </a:prstGeom>
          <a:ln w="12700">
            <a:solidFill>
              <a:srgbClr val="000000"/>
            </a:solidFill>
            <a:tailEnd type="triangle" w="med" len="med"/>
          </a:ln>
        </p:spPr>
      </p:cxnSp>
      <p:cxnSp>
        <p:nvCxnSpPr>
          <p:cNvPr id="136" name="destination_terminal_rule"/>
          <p:cNvCxnSpPr/>
          <p:nvPr/>
        </p:nvCxnSpPr>
        <p:spPr>
          <a:xfrm>
            <a:off x="9479585" y="3229661"/>
            <a:ext cx="0" cy="1554480"/>
          </a:xfrm>
          <a:prstGeom prst="line">
            <a:avLst/>
          </a:prstGeom>
          <a:ln w="19050">
            <a:solidFill>
              <a:srgbClr val="808080"/>
            </a:solidFill>
            <a:prstDash val="dash"/>
          </a:ln>
        </p:spPr>
      </p:cxnSp>
      <p:sp>
        <p:nvSpPr>
          <p:cNvPr id="137" name="EdgeLabel:NVOCC leases space"/>
          <p:cNvSpPr txBox="1"/>
          <p:nvPr/>
        </p:nvSpPr>
        <p:spPr>
          <a:xfrm>
            <a:off x="3902659" y="3507638"/>
            <a:ext cx="720547"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NVOCC leases space</a:t>
            </a:r>
          </a:p>
        </p:txBody>
      </p:sp>
      <p:sp>
        <p:nvSpPr>
          <p:cNvPr id="138" name="EdgeLabel:VOCC provides space"/>
          <p:cNvSpPr txBox="1"/>
          <p:nvPr/>
        </p:nvSpPr>
        <p:spPr>
          <a:xfrm>
            <a:off x="3902659" y="3832250"/>
            <a:ext cx="720547" cy="245974"/>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VOCC provides space</a:t>
            </a:r>
          </a:p>
        </p:txBody>
      </p:sp>
      <p:sp>
        <p:nvSpPr>
          <p:cNvPr id="139" name="EdgeLabel:Terminal Operators shown"/>
          <p:cNvSpPr txBox="1"/>
          <p:nvPr/>
        </p:nvSpPr>
        <p:spPr>
          <a:xfrm>
            <a:off x="6167628"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0" name="EdgeLabel:Terminal Operators shown"/>
          <p:cNvSpPr txBox="1"/>
          <p:nvPr/>
        </p:nvSpPr>
        <p:spPr>
          <a:xfrm>
            <a:off x="10055657"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1" name="Metric:tramp_carriers"/>
          <p:cNvSpPr txBox="1"/>
          <p:nvPr/>
        </p:nvSpPr>
        <p:spPr>
          <a:xfrm>
            <a:off x="8085125" y="2781605"/>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2 - 42%</a:t>
            </a:r>
          </a:p>
        </p:txBody>
      </p:sp>
      <p:sp>
        <p:nvSpPr>
          <p:cNvPr id="142" name="Metric:shipbuilders"/>
          <p:cNvSpPr txBox="1"/>
          <p:nvPr/>
        </p:nvSpPr>
        <p:spPr>
          <a:xfrm>
            <a:off x="3541471" y="6117336"/>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2-6%</a:t>
            </a:r>
          </a:p>
        </p:txBody>
      </p:sp>
      <p:sp>
        <p:nvSpPr>
          <p:cNvPr id="143" name="Metric:mro"/>
          <p:cNvSpPr txBox="1"/>
          <p:nvPr/>
        </p:nvSpPr>
        <p:spPr>
          <a:xfrm>
            <a:off x="6151169" y="6116422"/>
            <a:ext cx="1441094" cy="206654"/>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4" name="Metric:coordination"/>
          <p:cNvSpPr txBox="1"/>
          <p:nvPr/>
        </p:nvSpPr>
        <p:spPr>
          <a:xfrm>
            <a:off x="4216298" y="2781605"/>
            <a:ext cx="1440180"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5" name="Metric:origin_shoreside"/>
          <p:cNvSpPr txBox="1"/>
          <p:nvPr/>
        </p:nvSpPr>
        <p:spPr>
          <a:xfrm>
            <a:off x="6151169"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6" name="Metric:destination_shoreside"/>
          <p:cNvSpPr txBox="1"/>
          <p:nvPr/>
        </p:nvSpPr>
        <p:spPr>
          <a:xfrm>
            <a:off x="10018166"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7" name="Metric:charter_companies_mid"/>
          <p:cNvSpPr txBox="1"/>
          <p:nvPr/>
        </p:nvSpPr>
        <p:spPr>
          <a:xfrm>
            <a:off x="7455103" y="4547311"/>
            <a:ext cx="1440180"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8" name="Metric:charter_companies"/>
          <p:cNvSpPr txBox="1"/>
          <p:nvPr/>
        </p:nvSpPr>
        <p:spPr>
          <a:xfrm>
            <a:off x="8759038" y="6117336"/>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22-53%</a:t>
            </a:r>
          </a:p>
        </p:txBody>
      </p:sp>
      <p:sp>
        <p:nvSpPr>
          <p:cNvPr id="149" name="Metric:vocc"/>
          <p:cNvSpPr txBox="1"/>
          <p:nvPr/>
        </p:nvSpPr>
        <p:spPr>
          <a:xfrm>
            <a:off x="4846320" y="4547311"/>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13-42%</a:t>
            </a:r>
          </a:p>
        </p:txBody>
      </p:sp>
      <p:sp>
        <p:nvSpPr>
          <p:cNvPr id="150" name="MetricNote:RevenueAssumption"/>
          <p:cNvSpPr txBox="1"/>
          <p:nvPr/>
        </p:nvSpPr>
        <p:spPr>
          <a:xfrm>
            <a:off x="6177686" y="4521708"/>
            <a:ext cx="1522476" cy="252374"/>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Revenue shown assumes one archetype moves goods</a:t>
            </a:r>
          </a:p>
        </p:txBody>
      </p:sp>
      <p:sp>
        <p:nvSpPr>
          <p:cNvPr id="151" name="MetricNote:CharterType"/>
          <p:cNvSpPr txBox="1"/>
          <p:nvPr/>
        </p:nvSpPr>
        <p:spPr>
          <a:xfrm>
            <a:off x="9275674" y="5163617"/>
            <a:ext cx="2250338"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Amount dependent on charter type </a:t>
            </a:r>
            <a:br/>
            <a:r>
              <a:rPr lang="en-US" sz="800" i="1" dirty="0">
                <a:solidFill>
                  <a:srgbClr val="000000"/>
                </a:solidFill>
                <a:latin typeface="Arial"/>
                <a:ea typeface="Arial"/>
                <a:cs typeface="Arial"/>
              </a:rPr>
              <a:t>(e.g., time or voyage) </a:t>
            </a:r>
          </a:p>
        </p:txBody>
      </p:sp>
      <p:sp>
        <p:nvSpPr>
          <p:cNvPr id="152" name="LegendSwatch"/>
          <p:cNvSpPr txBox="1"/>
          <p:nvPr/>
        </p:nvSpPr>
        <p:spPr>
          <a:xfrm>
            <a:off x="452628" y="1285646"/>
            <a:ext cx="182880" cy="182880"/>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3" name="LegendLabel:Maritime Transport archetypes considered in analysis"/>
          <p:cNvSpPr txBox="1"/>
          <p:nvPr/>
        </p:nvSpPr>
        <p:spPr>
          <a:xfrm>
            <a:off x="646481" y="1207922"/>
            <a:ext cx="1609344"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Maritime Transport archetypes </a:t>
            </a:r>
            <a:br/>
            <a:r>
              <a:rPr lang="en-US" sz="800" dirty="0">
                <a:solidFill>
                  <a:srgbClr val="000000"/>
                </a:solidFill>
                <a:latin typeface="Arial"/>
                <a:ea typeface="Arial"/>
                <a:cs typeface="Arial"/>
              </a:rPr>
              <a:t>considered in analysis</a:t>
            </a:r>
          </a:p>
        </p:txBody>
      </p:sp>
      <p:sp>
        <p:nvSpPr>
          <p:cNvPr id="154" name="LegendSwatch"/>
          <p:cNvSpPr txBox="1"/>
          <p:nvPr/>
        </p:nvSpPr>
        <p:spPr>
          <a:xfrm>
            <a:off x="2267712" y="1285646"/>
            <a:ext cx="182880" cy="182880"/>
          </a:xfrm>
          <a:prstGeom prst="rect">
            <a:avLst/>
          </a:prstGeom>
          <a:solidFill>
            <a:srgbClr val="447BB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Label:Other steps considered in analysis"/>
          <p:cNvSpPr txBox="1"/>
          <p:nvPr/>
        </p:nvSpPr>
        <p:spPr>
          <a:xfrm>
            <a:off x="2462479" y="1207922"/>
            <a:ext cx="1199693"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Other steps </a:t>
            </a:r>
            <a:br/>
            <a:r>
              <a:rPr lang="en-US" sz="800" dirty="0">
                <a:solidFill>
                  <a:srgbClr val="000000"/>
                </a:solidFill>
                <a:latin typeface="Arial"/>
                <a:ea typeface="Arial"/>
                <a:cs typeface="Arial"/>
              </a:rPr>
              <a:t>considered in analysis</a:t>
            </a:r>
          </a:p>
        </p:txBody>
      </p:sp>
      <p:sp>
        <p:nvSpPr>
          <p:cNvPr id="156" name="LegendSwatch"/>
          <p:cNvSpPr txBox="1"/>
          <p:nvPr/>
        </p:nvSpPr>
        <p:spPr>
          <a:xfrm>
            <a:off x="3673145" y="1285646"/>
            <a:ext cx="182880" cy="182880"/>
          </a:xfrm>
          <a:prstGeom prst="rect">
            <a:avLst/>
          </a:prstGeom>
          <a:solidFill>
            <a:srgbClr val="D9D9D9"/>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7" name="LegendLabel:Future effort"/>
          <p:cNvSpPr txBox="1"/>
          <p:nvPr/>
        </p:nvSpPr>
        <p:spPr>
          <a:xfrm>
            <a:off x="3866998" y="1269187"/>
            <a:ext cx="747065" cy="215798"/>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Definitions | Sizing breaks the market down into five levels</a:t>
            </a:r>
          </a:p>
        </p:txBody>
      </p:sp>
      <p:sp>
        <p:nvSpPr>
          <p:cNvPr id="100" name="FunnelLayer_total_funding"/>
          <p:cNvSpPr txBox="1"/>
          <p:nvPr/>
        </p:nvSpPr>
        <p:spPr>
          <a:xfrm>
            <a:off x="436169" y="1195121"/>
            <a:ext cx="5212080" cy="5212080"/>
          </a:xfrm>
          <a:prstGeom prst="ellipse">
            <a:avLst/>
          </a:prstGeom>
          <a:solidFill>
            <a:srgbClr val="E2E9EF"/>
          </a:solidFill>
          <a:ln w="3175">
            <a:solidFill>
              <a:srgbClr val="202223"/>
            </a:solidFill>
          </a:ln>
        </p:spPr>
        <p:txBody>
          <a:bodyPr wrap="square" anchor="t" lIns="91440" tIns="45720" rIns="91440" bIns="45720"/>
          <a:lstStyle/>
          <a:p>
            <a:pPr algn="ctr">
              <a:lnSpc>
                <a:spcPct val="100000"/>
              </a:lnSpc>
              <a:buNone/>
            </a:pPr>
            <a:endParaRPr lang="en-US"/>
          </a:p>
        </p:txBody>
      </p:sp>
      <p:sp>
        <p:nvSpPr>
          <p:cNvPr id="101" name="FunnelLayer_tam"/>
          <p:cNvSpPr txBox="1"/>
          <p:nvPr/>
        </p:nvSpPr>
        <p:spPr>
          <a:xfrm>
            <a:off x="847649" y="2018081"/>
            <a:ext cx="4389120" cy="4389120"/>
          </a:xfrm>
          <a:prstGeom prst="ellipse">
            <a:avLst/>
          </a:prstGeom>
          <a:solidFill>
            <a:srgbClr val="B6C8D8"/>
          </a:solidFill>
          <a:ln w="3175">
            <a:solidFill>
              <a:srgbClr val="202223"/>
            </a:solidFill>
          </a:ln>
        </p:spPr>
        <p:txBody>
          <a:bodyPr wrap="square" anchor="t" lIns="91440" tIns="45720" rIns="91440" bIns="45720"/>
          <a:lstStyle/>
          <a:p>
            <a:pPr algn="ctr">
              <a:lnSpc>
                <a:spcPct val="100000"/>
              </a:lnSpc>
              <a:buNone/>
            </a:pPr>
            <a:endParaRPr lang="en-US"/>
          </a:p>
        </p:txBody>
      </p:sp>
      <p:sp>
        <p:nvSpPr>
          <p:cNvPr id="102" name="FunnelLayer_sam"/>
          <p:cNvSpPr txBox="1"/>
          <p:nvPr/>
        </p:nvSpPr>
        <p:spPr>
          <a:xfrm>
            <a:off x="1259129" y="2841041"/>
            <a:ext cx="3566160" cy="3566160"/>
          </a:xfrm>
          <a:prstGeom prst="ellipse">
            <a:avLst/>
          </a:prstGeom>
          <a:solidFill>
            <a:srgbClr val="6E91B1"/>
          </a:solidFill>
          <a:ln w="3175">
            <a:solidFill>
              <a:srgbClr val="202223"/>
            </a:solidFill>
          </a:ln>
        </p:spPr>
        <p:txBody>
          <a:bodyPr wrap="square" anchor="t" lIns="91440" tIns="45720" rIns="91440" bIns="45720"/>
          <a:lstStyle/>
          <a:p>
            <a:pPr algn="ctr">
              <a:lnSpc>
                <a:spcPct val="100000"/>
              </a:lnSpc>
              <a:buNone/>
            </a:pPr>
            <a:endParaRPr lang="en-US"/>
          </a:p>
        </p:txBody>
      </p:sp>
      <p:sp>
        <p:nvSpPr>
          <p:cNvPr id="103" name="FunnelLayer_company_tcv"/>
          <p:cNvSpPr txBox="1"/>
          <p:nvPr/>
        </p:nvSpPr>
        <p:spPr>
          <a:xfrm>
            <a:off x="1624889" y="3664001"/>
            <a:ext cx="2834640" cy="2743200"/>
          </a:xfrm>
          <a:prstGeom prst="ellipse">
            <a:avLst/>
          </a:prstGeom>
          <a:solidFill>
            <a:srgbClr val="3D5972"/>
          </a:solidFill>
          <a:ln w="3175">
            <a:solidFill>
              <a:srgbClr val="202223"/>
            </a:solidFill>
          </a:ln>
        </p:spPr>
        <p:txBody>
          <a:bodyPr wrap="square" anchor="t" lIns="91440" tIns="45720" rIns="91440" bIns="45720"/>
          <a:lstStyle/>
          <a:p>
            <a:pPr algn="ctr">
              <a:lnSpc>
                <a:spcPct val="100000"/>
              </a:lnSpc>
              <a:buNone/>
            </a:pPr>
            <a:endParaRPr lang="en-US"/>
          </a:p>
        </p:txBody>
      </p:sp>
      <p:sp>
        <p:nvSpPr>
          <p:cNvPr id="104" name="FunnelLayer_company_acv"/>
          <p:cNvSpPr txBox="1"/>
          <p:nvPr/>
        </p:nvSpPr>
        <p:spPr>
          <a:xfrm>
            <a:off x="2082089" y="4486961"/>
            <a:ext cx="1920240" cy="1920240"/>
          </a:xfrm>
          <a:prstGeom prst="ellipse">
            <a:avLst/>
          </a:prstGeom>
          <a:solidFill>
            <a:srgbClr val="263746"/>
          </a:solidFill>
          <a:ln w="3175">
            <a:solidFill>
              <a:srgbClr val="202223"/>
            </a:solidFill>
          </a:ln>
        </p:spPr>
        <p:txBody>
          <a:bodyPr wrap="square" anchor="t" lIns="91440" tIns="45720" rIns="91440" bIns="45720"/>
          <a:lstStyle/>
          <a:p>
            <a:pPr algn="ctr">
              <a:lnSpc>
                <a:spcPct val="100000"/>
              </a:lnSpc>
              <a:buNone/>
            </a:pPr>
            <a:endParaRPr lang="en-US"/>
          </a:p>
        </p:txBody>
      </p:sp>
      <p:graphicFrame>
        <p:nvGraphicFramePr>
          <p:cNvPr id="105" name="MarketLevelDefinitionTable"/>
          <p:cNvGraphicFramePr>
            <a:graphicFrameLocks noGrp="1"/>
          </p:cNvGraphicFramePr>
          <p:nvPr/>
        </p:nvGraphicFramePr>
        <p:xfrm>
          <a:off x="6014009" y="1287475"/>
          <a:ext cx="5721401" cy="5222138"/>
        </p:xfrm>
        <a:graphic>
          <a:graphicData uri="http://schemas.openxmlformats.org/drawingml/2006/table">
            <a:tbl>
              <a:tblPr firstRow="1" firstCol="1" bandRow="0">
                <a:tableStyleId>{2D5ABB26-0587-4C30-8999-92F81FD0307C}</a:tableStyleId>
              </a:tblPr>
              <a:tblGrid>
                <a:gridCol w="1599286"/>
                <a:gridCol w="4123030"/>
              </a:tblGrid>
              <a:tr h="328270">
                <a:tc>
                  <a:txBody>
                    <a:bodyPr anchor="b"/>
                    <a:lstStyle/>
                    <a:p>
                      <a:pPr algn="l">
                        <a:lnSpc>
                          <a:spcPct val="100000"/>
                        </a:lnSpc>
                      </a:pPr>
                      <a:r>
                        <a:rPr lang="en-US" sz="1400" b="1" dirty="0">
                          <a:solidFill>
                            <a:srgbClr val="000000"/>
                          </a:solidFill>
                          <a:latin typeface="Arial"/>
                          <a:ea typeface="Arial"/>
                          <a:cs typeface="Arial"/>
                        </a:rPr>
                        <a:t>Level</a:t>
                      </a:r>
                    </a:p>
                  </a:txBody>
                  <a:tcPr marL="60960" marR="60960" marT="60960" marB="60960" anchor="b">
                    <a:lnL>
                      <a:noFill/>
                    </a:lnL>
                    <a:lnR>
                      <a:noFill/>
                    </a:lnR>
                    <a:lnT>
                      <a:noFill/>
                    </a:lnT>
                    <a:lnB w="12700" cap="flat" cmpd="sng" algn="ctr">
                      <a:solidFill>
                        <a:srgbClr val="162029"/>
                      </a:solidFill>
                      <a:prstDash val="solid"/>
                    </a:lnB>
                    <a:noFill/>
                  </a:tcPr>
                </a:tc>
                <a:tc>
                  <a:txBody>
                    <a:bodyPr anchor="b"/>
                    <a:lstStyle/>
                    <a:p>
                      <a:pPr algn="l">
                        <a:lnSpc>
                          <a:spcPct val="100000"/>
                        </a:lnSpc>
                      </a:pPr>
                      <a:r>
                        <a:rPr lang="en-US" sz="1400" b="1" dirty="0">
                          <a:solidFill>
                            <a:srgbClr val="000000"/>
                          </a:solidFill>
                          <a:latin typeface="Arial"/>
                          <a:ea typeface="Arial"/>
                          <a:cs typeface="Arial"/>
                        </a:rPr>
                        <a:t>Definition</a:t>
                      </a:r>
                    </a:p>
                  </a:txBody>
                  <a:tcPr marL="60960" marR="60960" marT="60960" marB="60960" anchor="b">
                    <a:lnL>
                      <a:noFill/>
                    </a:lnL>
                    <a:lnR>
                      <a:noFill/>
                    </a:lnR>
                    <a:lnT>
                      <a:noFill/>
                    </a:lnT>
                    <a:lnB w="12700" cap="flat" cmpd="sng" algn="ctr">
                      <a:solidFill>
                        <a:srgbClr val="162029"/>
                      </a:solidFill>
                      <a:prstDash val="solid"/>
                    </a:lnB>
                    <a:noFill/>
                  </a:tcPr>
                </a:tc>
              </a:tr>
              <a:tr h="874166">
                <a:tc>
                  <a:txBody>
                    <a:bodyPr anchor="t"/>
                    <a:lstStyle/>
                    <a:p>
                      <a:pPr algn="l" marL="0" indent="0">
                        <a:lnSpc>
                          <a:spcPct val="100000"/>
                        </a:lnSpc>
                      </a:pPr>
                      <a:r>
                        <a:rPr lang="en-US" sz="1400" dirty="0">
                          <a:solidFill>
                            <a:srgbClr val="000000"/>
                          </a:solidFill>
                          <a:latin typeface="Arial"/>
                          <a:ea typeface="Arial"/>
                          <a:cs typeface="Arial"/>
                        </a:rPr>
                        <a:t>Total Funding</a:t>
                      </a:r>
                    </a:p>
                  </a:txBody>
                  <a:tcPr marL="60960" marR="60960" marT="60960" marB="60960" anchor="t">
                    <a:lnL>
                      <a:noFill/>
                    </a:lnL>
                    <a:lnR>
                      <a:noFill/>
                    </a:lnR>
                    <a:lnT w="1270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All appropriations for relevant platforms, regardless of mission</a:t>
                      </a:r>
                    </a:p>
                  </a:txBody>
                  <a:tcPr marL="60960" marR="60960" marT="60960" marB="60960" anchor="t">
                    <a:lnL>
                      <a:noFill/>
                    </a:lnL>
                    <a:lnR>
                      <a:noFill/>
                    </a:lnR>
                    <a:lnT w="12700" cap="flat" cmpd="sng" algn="ctr">
                      <a:solidFill>
                        <a:srgbClr val="162029"/>
                      </a:solidFill>
                      <a:prstDash val="solid"/>
                    </a:lnT>
                    <a:lnB w="6350" cap="flat" cmpd="sng" algn="ctr">
                      <a:solidFill>
                        <a:srgbClr val="162029"/>
                      </a:solidFill>
                      <a:prstDash val="solid"/>
                    </a:lnB>
                    <a:noFill/>
                  </a:tcPr>
                </a:tc>
              </a:tr>
              <a:tr h="1163117">
                <a:tc>
                  <a:txBody>
                    <a:bodyPr anchor="t"/>
                    <a:lstStyle/>
                    <a:p>
                      <a:pPr algn="l" marL="0" indent="0">
                        <a:lnSpc>
                          <a:spcPct val="100000"/>
                        </a:lnSpc>
                      </a:pPr>
                      <a:r>
                        <a:rPr lang="en-US" sz="1400" dirty="0">
                          <a:solidFill>
                            <a:srgbClr val="000000"/>
                          </a:solidFill>
                          <a:latin typeface="Arial"/>
                          <a:ea typeface="Arial"/>
                          <a:cs typeface="Arial"/>
                        </a:rPr>
                        <a:t>Total Addressable Market (TAM)</a:t>
                      </a:r>
                      <a:br/>
                      <a:b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Funding for missions that </a:t>
                      </a:r>
                      <a:r>
                        <a:rPr lang="en-US" sz="1400" u="sng" dirty="0">
                          <a:solidFill>
                            <a:srgbClr val="000000"/>
                          </a:solidFill>
                          <a:latin typeface="Arial"/>
                          <a:ea typeface="Arial"/>
                          <a:cs typeface="Arial"/>
                        </a:rPr>
                        <a:t>could</a:t>
                      </a:r>
                      <a:r>
                        <a:rPr lang="en-US" sz="1400" dirty="0">
                          <a:solidFill>
                            <a:srgbClr val="000000"/>
                          </a:solidFill>
                          <a:latin typeface="Arial"/>
                          <a:ea typeface="Arial"/>
                          <a:cs typeface="Arial"/>
                        </a:rPr>
                        <a:t> be performed by unmanned platforms</a:t>
                      </a:r>
                      <a:br/>
                      <a:br/>
                      <a:r>
                        <a:rPr lang="en-US" sz="1400" dirty="0">
                          <a:solidFill>
                            <a:srgbClr val="000000"/>
                          </a:solidFill>
                          <a:latin typeface="Arial"/>
                          <a:ea typeface="Arial"/>
                          <a:cs typeface="Arial"/>
                        </a:rPr>
                        <a:t>Portion of Total Funding for platforms allocated to specific missions</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r>
              <a:tr h="954634">
                <a:tc>
                  <a:txBody>
                    <a:bodyPr anchor="t"/>
                    <a:lstStyle/>
                    <a:p>
                      <a:pPr algn="l" marL="0" indent="0">
                        <a:lnSpc>
                          <a:spcPct val="100000"/>
                        </a:lnSpc>
                      </a:pPr>
                      <a:r>
                        <a:rPr lang="en-US" sz="1400" dirty="0">
                          <a:solidFill>
                            <a:srgbClr val="000000"/>
                          </a:solidFill>
                          <a:latin typeface="Arial"/>
                          <a:ea typeface="Arial"/>
                          <a:cs typeface="Arial"/>
                        </a:rPr>
                        <a:t>Serviceable Addressable Market (SAM)</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Funding for missions </a:t>
                      </a:r>
                      <a:r>
                        <a:rPr lang="en-US" sz="1400" u="sng" dirty="0">
                          <a:solidFill>
                            <a:srgbClr val="000000"/>
                          </a:solidFill>
                          <a:latin typeface="Arial"/>
                          <a:ea typeface="Arial"/>
                          <a:cs typeface="Arial"/>
                        </a:rPr>
                        <a:t>performed</a:t>
                      </a:r>
                      <a:r>
                        <a:rPr lang="en-US" sz="1400" dirty="0">
                          <a:solidFill>
                            <a:srgbClr val="000000"/>
                          </a:solidFill>
                          <a:latin typeface="Arial"/>
                          <a:ea typeface="Arial"/>
                          <a:cs typeface="Arial"/>
                        </a:rPr>
                        <a:t> by unmanned platforms (i.e., adoption)</a:t>
                      </a:r>
                      <a:br/>
                    </a:p>
                    <a:p>
                      <a:pPr algn="l">
                        <a:lnSpc>
                          <a:spcPct val="100000"/>
                        </a:lnSpc>
                      </a:pPr>
                      <a:r>
                        <a:rPr lang="en-US" sz="1400" dirty="0">
                          <a:solidFill>
                            <a:srgbClr val="000000"/>
                          </a:solidFill>
                          <a:latin typeface="Arial"/>
                          <a:ea typeface="Arial"/>
                          <a:cs typeface="Arial"/>
                        </a:rPr>
                        <a:t>Portion of TAM that USVs can likely penetrate</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t"/>
                    <a:lstStyle/>
                    <a:p>
                      <a:pPr algn="l" marL="0" indent="0">
                        <a:lnSpc>
                          <a:spcPct val="100000"/>
                        </a:lnSpc>
                      </a:pPr>
                      <a:r>
                        <a:rPr lang="en-US" sz="1400" dirty="0">
                          <a:solidFill>
                            <a:srgbClr val="000000"/>
                          </a:solidFill>
                          <a:latin typeface="Arial"/>
                          <a:ea typeface="Arial"/>
                          <a:cs typeface="Arial"/>
                        </a:rPr>
                        <a:t>Company TCV</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Funding for </a:t>
                      </a:r>
                      <a:r>
                        <a:rPr lang="en-US" sz="1400" u="sng" dirty="0">
                          <a:solidFill>
                            <a:srgbClr val="000000"/>
                          </a:solidFill>
                          <a:latin typeface="Arial"/>
                          <a:ea typeface="Arial"/>
                          <a:cs typeface="Arial"/>
                        </a:rPr>
                        <a:t>Saronic</a:t>
                      </a:r>
                      <a:r>
                        <a:rPr lang="en-US" sz="1400" dirty="0">
                          <a:solidFill>
                            <a:srgbClr val="000000"/>
                          </a:solidFill>
                          <a:latin typeface="Arial"/>
                          <a:ea typeface="Arial"/>
                          <a:cs typeface="Arial"/>
                        </a:rPr>
                        <a:t> unmanned platforms (i.e., market share)</a:t>
                      </a:r>
                    </a:p>
                    <a:p>
                      <a:pPr algn="l">
                        <a:lnSpc>
                          <a:spcPct val="100000"/>
                        </a:lnSpc>
                      </a:pPr>
                      <a:endParaRPr lang="en-US" sz="1400"/>
                    </a:p>
                    <a:p>
                      <a:pPr algn="l">
                        <a:lnSpc>
                          <a:spcPct val="100000"/>
                        </a:lnSpc>
                      </a:pPr>
                      <a:r>
                        <a:rPr lang="en-US" sz="1400" dirty="0">
                          <a:solidFill>
                            <a:srgbClr val="000000"/>
                          </a:solidFill>
                          <a:latin typeface="Arial"/>
                          <a:ea typeface="Arial"/>
                          <a:cs typeface="Arial"/>
                        </a:rPr>
                        <a:t>Share of SAM that Saronic can likely capture</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t"/>
                    <a:lstStyle/>
                    <a:p>
                      <a:pPr algn="l" marL="0" indent="0">
                        <a:lnSpc>
                          <a:spcPct val="100000"/>
                        </a:lnSpc>
                      </a:pPr>
                      <a:r>
                        <a:rPr lang="en-US" sz="1400" dirty="0">
                          <a:solidFill>
                            <a:srgbClr val="000000"/>
                          </a:solidFill>
                          <a:latin typeface="Arial"/>
                          <a:ea typeface="Arial"/>
                          <a:cs typeface="Arial"/>
                        </a:rPr>
                        <a:t>Company ACV</a:t>
                      </a:r>
                    </a:p>
                  </a:txBody>
                  <a:tcPr marL="60960" marR="60960" marT="60960" marB="60960" anchor="t">
                    <a:lnL>
                      <a:noFill/>
                    </a:lnL>
                    <a:lnR>
                      <a:noFill/>
                    </a:lnR>
                    <a:lnT w="6350" cap="flat" cmpd="sng" algn="ctr">
                      <a:solidFill>
                        <a:srgbClr val="162029"/>
                      </a:solidFill>
                      <a:prstDash val="solid"/>
                    </a:lnT>
                    <a:lnB>
                      <a:noFill/>
                    </a:lnB>
                    <a:noFill/>
                  </a:tcPr>
                </a:tc>
                <a:tc>
                  <a:txBody>
                    <a:bodyPr anchor="t"/>
                    <a:lstStyle/>
                    <a:p>
                      <a:pPr algn="l">
                        <a:lnSpc>
                          <a:spcPct val="100000"/>
                        </a:lnSpc>
                      </a:pPr>
                      <a:r>
                        <a:rPr lang="en-US" sz="1400" dirty="0">
                          <a:solidFill>
                            <a:srgbClr val="000000"/>
                          </a:solidFill>
                          <a:latin typeface="Arial"/>
                          <a:ea typeface="Arial"/>
                          <a:cs typeface="Arial"/>
                        </a:rPr>
                        <a:t>Portion of TCV exercised through Growth and Programs action</a:t>
                      </a:r>
                    </a:p>
                  </a:txBody>
                  <a:tcPr marL="60960" marR="60960" marT="60960" marB="60960" anchor="t">
                    <a:lnL>
                      <a:noFill/>
                    </a:lnL>
                    <a:lnR>
                      <a:noFill/>
                    </a:lnR>
                    <a:lnT w="6350" cap="flat" cmpd="sng" algn="ctr">
                      <a:solidFill>
                        <a:srgbClr val="162029"/>
                      </a:solidFill>
                      <a:prstDash val="solid"/>
                    </a:lnT>
                    <a:lnB>
                      <a:noFill/>
                    </a:lnB>
                    <a:noFill/>
                  </a:tcPr>
                </a:tc>
              </a:tr>
            </a:tbl>
          </a:graphicData>
        </a:graphic>
      </p:graphicFrame>
      <p:sp>
        <p:nvSpPr>
          <p:cNvPr id="106" name="FunnelTag_total_funding"/>
          <p:cNvSpPr txBox="1"/>
          <p:nvPr/>
        </p:nvSpPr>
        <p:spPr>
          <a:xfrm>
            <a:off x="2150669" y="1430122"/>
            <a:ext cx="1782166" cy="352958"/>
          </a:xfrm>
          <a:prstGeom prst="rect">
            <a:avLst/>
          </a:prstGeom>
          <a:solidFill>
            <a:srgbClr val="E2E9EF"/>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Total Funding</a:t>
            </a:r>
          </a:p>
        </p:txBody>
      </p:sp>
      <p:sp>
        <p:nvSpPr>
          <p:cNvPr id="107" name="FunnelTag_tam"/>
          <p:cNvSpPr txBox="1"/>
          <p:nvPr/>
        </p:nvSpPr>
        <p:spPr>
          <a:xfrm>
            <a:off x="2150669" y="2253082"/>
            <a:ext cx="1782166" cy="352958"/>
          </a:xfrm>
          <a:prstGeom prst="rect">
            <a:avLst/>
          </a:prstGeom>
          <a:solidFill>
            <a:srgbClr val="B6C8D8"/>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TAM</a:t>
            </a:r>
          </a:p>
        </p:txBody>
      </p:sp>
      <p:sp>
        <p:nvSpPr>
          <p:cNvPr id="108" name="FunnelTag_sam"/>
          <p:cNvSpPr txBox="1"/>
          <p:nvPr/>
        </p:nvSpPr>
        <p:spPr>
          <a:xfrm>
            <a:off x="2150669" y="3161081"/>
            <a:ext cx="1782166" cy="352958"/>
          </a:xfrm>
          <a:prstGeom prst="rect">
            <a:avLst/>
          </a:prstGeom>
          <a:solidFill>
            <a:srgbClr val="6E91B1"/>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SAM</a:t>
            </a:r>
          </a:p>
        </p:txBody>
      </p:sp>
      <p:sp>
        <p:nvSpPr>
          <p:cNvPr id="109" name="FunnelTag_company_tcv"/>
          <p:cNvSpPr txBox="1"/>
          <p:nvPr/>
        </p:nvSpPr>
        <p:spPr>
          <a:xfrm>
            <a:off x="2150669" y="4069080"/>
            <a:ext cx="1782166" cy="352958"/>
          </a:xfrm>
          <a:prstGeom prst="rect">
            <a:avLst/>
          </a:prstGeom>
          <a:solidFill>
            <a:srgbClr val="3D5972"/>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TCV</a:t>
            </a:r>
          </a:p>
        </p:txBody>
      </p:sp>
      <p:sp>
        <p:nvSpPr>
          <p:cNvPr id="110" name="FunnelTag_company_acv"/>
          <p:cNvSpPr txBox="1"/>
          <p:nvPr/>
        </p:nvSpPr>
        <p:spPr>
          <a:xfrm>
            <a:off x="2150669" y="5303520"/>
            <a:ext cx="1782166" cy="352958"/>
          </a:xfrm>
          <a:prstGeom prst="rect">
            <a:avLst/>
          </a:prstGeom>
          <a:solidFill>
            <a:srgbClr val="263746"/>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ACV</a:t>
            </a:r>
          </a:p>
        </p:txBody>
      </p:sp>
      <p:pic>
        <p:nvPicPr>
          <p:cNvPr id="111" name="Program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Components | The following funding inputs, sources, and colors of money are considered for sizing the Navy (Surface) market</a:t>
            </a:r>
          </a:p>
        </p:txBody>
      </p:sp>
      <p:sp>
        <p:nvSpPr>
          <p:cNvPr id="100" name="funding_header:Unmanned-specified funding (USV)"/>
          <p:cNvSpPr txBox="1"/>
          <p:nvPr/>
        </p:nvSpPr>
        <p:spPr>
          <a:xfrm>
            <a:off x="552298" y="1727302"/>
            <a:ext cx="1652321" cy="304495"/>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Unmanned-specified funding (USV)</a:t>
            </a:r>
          </a:p>
        </p:txBody>
      </p:sp>
      <p:sp>
        <p:nvSpPr>
          <p:cNvPr id="101" name="funding_header:Currently manned capabilities (C"/>
          <p:cNvSpPr txBox="1"/>
          <p:nvPr/>
        </p:nvSpPr>
        <p:spPr>
          <a:xfrm>
            <a:off x="2272284" y="1727302"/>
            <a:ext cx="7743139" cy="304495"/>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Currently manned capabilities (CMC) funding </a:t>
            </a:r>
            <a:br/>
            <a:r>
              <a:rPr lang="en-US" sz="1100" i="1" dirty="0">
                <a:solidFill>
                  <a:srgbClr val="FFFFFF"/>
                </a:solidFill>
                <a:latin typeface="Arial"/>
                <a:ea typeface="Arial"/>
                <a:cs typeface="Arial"/>
              </a:rPr>
              <a:t>Surface missions</a:t>
            </a:r>
          </a:p>
        </p:txBody>
      </p:sp>
      <p:sp>
        <p:nvSpPr>
          <p:cNvPr id="102" name="funding_header:Kill chain roles"/>
          <p:cNvSpPr txBox="1"/>
          <p:nvPr/>
        </p:nvSpPr>
        <p:spPr>
          <a:xfrm>
            <a:off x="10082174" y="1727302"/>
            <a:ext cx="1652321" cy="304495"/>
          </a:xfrm>
          <a:prstGeom prst="rect">
            <a:avLst/>
          </a:prstGeom>
          <a:solidFill>
            <a:srgbClr val="0E1924"/>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Kill chain roles</a:t>
            </a:r>
          </a:p>
        </p:txBody>
      </p:sp>
      <p:sp>
        <p:nvSpPr>
          <p:cNvPr id="103" name="budget_source:FY26 PBR &amp; Congressional Committ"/>
          <p:cNvSpPr txBox="1"/>
          <p:nvPr/>
        </p:nvSpPr>
        <p:spPr>
          <a:xfrm>
            <a:off x="552298" y="3742639"/>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FY26 PBR &amp; Congressional Committee markups</a:t>
            </a:r>
          </a:p>
        </p:txBody>
      </p:sp>
      <p:sp>
        <p:nvSpPr>
          <p:cNvPr id="104" name="budget_source:OBBBA &amp; Congressional Committee "/>
          <p:cNvSpPr txBox="1"/>
          <p:nvPr/>
        </p:nvSpPr>
        <p:spPr>
          <a:xfrm>
            <a:off x="552298" y="4140403"/>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&amp; Congressional Committee intent</a:t>
            </a:r>
          </a:p>
        </p:txBody>
      </p:sp>
      <p:sp>
        <p:nvSpPr>
          <p:cNvPr id="105" name="budget_source:SHIELD IDIQ"/>
          <p:cNvSpPr txBox="1"/>
          <p:nvPr/>
        </p:nvSpPr>
        <p:spPr>
          <a:xfrm>
            <a:off x="8777326" y="4538167"/>
            <a:ext cx="294619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SHIELD IDIQ</a:t>
            </a:r>
          </a:p>
        </p:txBody>
      </p:sp>
      <p:sp>
        <p:nvSpPr>
          <p:cNvPr id="106" name="color_of_money:Procurement"/>
          <p:cNvSpPr txBox="1"/>
          <p:nvPr/>
        </p:nvSpPr>
        <p:spPr>
          <a:xfrm>
            <a:off x="552298" y="4936846"/>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Procurement</a:t>
            </a:r>
          </a:p>
        </p:txBody>
      </p:sp>
      <p:sp>
        <p:nvSpPr>
          <p:cNvPr id="107" name="color_of_money:RDT&amp;E"/>
          <p:cNvSpPr txBox="1"/>
          <p:nvPr/>
        </p:nvSpPr>
        <p:spPr>
          <a:xfrm>
            <a:off x="552298" y="5334610"/>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RDT&amp;E</a:t>
            </a:r>
          </a:p>
        </p:txBody>
      </p:sp>
      <p:sp>
        <p:nvSpPr>
          <p:cNvPr id="108" name="color_of_money:O&amp;M"/>
          <p:cNvSpPr txBox="1"/>
          <p:nvPr/>
        </p:nvSpPr>
        <p:spPr>
          <a:xfrm>
            <a:off x="552298" y="5732374"/>
            <a:ext cx="11182198"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O&amp;M</a:t>
            </a:r>
          </a:p>
        </p:txBody>
      </p:sp>
      <p:sp>
        <p:nvSpPr>
          <p:cNvPr id="109" name="usv:sUSV"/>
          <p:cNvSpPr txBox="1"/>
          <p:nvPr/>
        </p:nvSpPr>
        <p:spPr>
          <a:xfrm>
            <a:off x="824789"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a:t>
            </a:r>
          </a:p>
        </p:txBody>
      </p:sp>
      <p:sp>
        <p:nvSpPr>
          <p:cNvPr id="110" name="usv:mUSV"/>
          <p:cNvSpPr txBox="1"/>
          <p:nvPr/>
        </p:nvSpPr>
        <p:spPr>
          <a:xfrm>
            <a:off x="824789" y="2521915"/>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1" name="usv:USV Enabling Capabilities"/>
          <p:cNvSpPr txBox="1"/>
          <p:nvPr/>
        </p:nvSpPr>
        <p:spPr>
          <a:xfrm>
            <a:off x="824789" y="2916936"/>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2" name="cmc:Anti-Air Warfare (incl. cUAS)"/>
          <p:cNvSpPr txBox="1"/>
          <p:nvPr/>
        </p:nvSpPr>
        <p:spPr>
          <a:xfrm>
            <a:off x="2414930"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13" name="cmc:Electronic Warfare (Other)"/>
          <p:cNvSpPr txBox="1"/>
          <p:nvPr/>
        </p:nvSpPr>
        <p:spPr>
          <a:xfrm>
            <a:off x="241493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14" name="cmc:C4"/>
          <p:cNvSpPr txBox="1"/>
          <p:nvPr/>
        </p:nvSpPr>
        <p:spPr>
          <a:xfrm>
            <a:off x="2414930" y="2916936"/>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r>
              <a:rPr lang="en-US" sz="900" dirty="0">
                <a:solidFill>
                  <a:srgbClr val="FFFFFF"/>
                </a:solidFill>
                <a:latin typeface="Arial"/>
                <a:ea typeface="Arial"/>
                <a:cs typeface="Arial"/>
              </a:rPr>
              <a:t>4</a:t>
            </a:r>
          </a:p>
        </p:txBody>
      </p:sp>
      <p:sp>
        <p:nvSpPr>
          <p:cNvPr id="115" name="cmc:Anti-Surface Ship Warfare"/>
          <p:cNvSpPr txBox="1"/>
          <p:nvPr/>
        </p:nvSpPr>
        <p:spPr>
          <a:xfrm>
            <a:off x="368777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Warfare</a:t>
            </a:r>
            <a:r>
              <a:rPr lang="en-US" sz="900" dirty="0">
                <a:solidFill>
                  <a:srgbClr val="FFFFFF"/>
                </a:solidFill>
                <a:latin typeface="Arial"/>
                <a:ea typeface="Arial"/>
                <a:cs typeface="Arial"/>
              </a:rPr>
              <a:t>1</a:t>
            </a:r>
          </a:p>
        </p:txBody>
      </p:sp>
      <p:sp>
        <p:nvSpPr>
          <p:cNvPr id="116" name="cmc:ISR"/>
          <p:cNvSpPr txBox="1"/>
          <p:nvPr/>
        </p:nvSpPr>
        <p:spPr>
          <a:xfrm>
            <a:off x="3687775"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r>
              <a:rPr lang="en-US" sz="900" dirty="0">
                <a:solidFill>
                  <a:srgbClr val="FFFFFF"/>
                </a:solidFill>
                <a:latin typeface="Arial"/>
                <a:ea typeface="Arial"/>
                <a:cs typeface="Arial"/>
              </a:rPr>
              <a:t>1</a:t>
            </a:r>
          </a:p>
        </p:txBody>
      </p:sp>
      <p:sp>
        <p:nvSpPr>
          <p:cNvPr id="117" name="cmc:Special Operations"/>
          <p:cNvSpPr txBox="1"/>
          <p:nvPr/>
        </p:nvSpPr>
        <p:spPr>
          <a:xfrm>
            <a:off x="3687775"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r>
              <a:rPr lang="en-US" sz="900" dirty="0">
                <a:solidFill>
                  <a:srgbClr val="FFFFFF"/>
                </a:solidFill>
                <a:latin typeface="Arial"/>
                <a:ea typeface="Arial"/>
                <a:cs typeface="Arial"/>
              </a:rPr>
              <a:t>5</a:t>
            </a:r>
          </a:p>
        </p:txBody>
      </p:sp>
      <p:sp>
        <p:nvSpPr>
          <p:cNvPr id="118" name="cmc:Anti-Submarine Warfare"/>
          <p:cNvSpPr txBox="1"/>
          <p:nvPr/>
        </p:nvSpPr>
        <p:spPr>
          <a:xfrm>
            <a:off x="495970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r>
              <a:rPr lang="en-US" sz="900" dirty="0">
                <a:solidFill>
                  <a:srgbClr val="FFFFFF"/>
                </a:solidFill>
                <a:latin typeface="Arial"/>
                <a:ea typeface="Arial"/>
                <a:cs typeface="Arial"/>
              </a:rPr>
              <a:t>1</a:t>
            </a:r>
          </a:p>
        </p:txBody>
      </p:sp>
      <p:sp>
        <p:nvSpPr>
          <p:cNvPr id="119" name="cmc:Mine Warfare"/>
          <p:cNvSpPr txBox="1"/>
          <p:nvPr/>
        </p:nvSpPr>
        <p:spPr>
          <a:xfrm>
            <a:off x="495970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r>
              <a:rPr lang="en-US" sz="900" dirty="0">
                <a:solidFill>
                  <a:srgbClr val="FFFFFF"/>
                </a:solidFill>
                <a:latin typeface="Arial"/>
                <a:ea typeface="Arial"/>
                <a:cs typeface="Arial"/>
              </a:rPr>
              <a:t>1</a:t>
            </a:r>
          </a:p>
        </p:txBody>
      </p:sp>
      <p:sp>
        <p:nvSpPr>
          <p:cNvPr id="120" name="cmc:Sealift"/>
          <p:cNvSpPr txBox="1"/>
          <p:nvPr/>
        </p:nvSpPr>
        <p:spPr>
          <a:xfrm>
            <a:off x="4959706"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r>
              <a:rPr lang="en-US" sz="900" dirty="0">
                <a:solidFill>
                  <a:srgbClr val="FFFFFF"/>
                </a:solidFill>
                <a:latin typeface="Arial"/>
                <a:ea typeface="Arial"/>
                <a:cs typeface="Arial"/>
              </a:rPr>
              <a:t>3</a:t>
            </a:r>
          </a:p>
        </p:txBody>
      </p:sp>
      <p:sp>
        <p:nvSpPr>
          <p:cNvPr id="121" name="cmc:Ballistic Missile Defense"/>
          <p:cNvSpPr txBox="1"/>
          <p:nvPr/>
        </p:nvSpPr>
        <p:spPr>
          <a:xfrm>
            <a:off x="6233465"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r>
              <a:rPr lang="en-US" sz="900" dirty="0">
                <a:solidFill>
                  <a:srgbClr val="FFFFFF"/>
                </a:solidFill>
                <a:latin typeface="Arial"/>
                <a:ea typeface="Arial"/>
                <a:cs typeface="Arial"/>
              </a:rPr>
              <a:t>2</a:t>
            </a:r>
          </a:p>
        </p:txBody>
      </p:sp>
      <p:sp>
        <p:nvSpPr>
          <p:cNvPr id="122" name="cmc:Strike Warfare"/>
          <p:cNvSpPr txBox="1"/>
          <p:nvPr/>
        </p:nvSpPr>
        <p:spPr>
          <a:xfrm>
            <a:off x="623255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r>
              <a:rPr lang="en-US" sz="900" dirty="0">
                <a:solidFill>
                  <a:srgbClr val="FFFFFF"/>
                </a:solidFill>
                <a:latin typeface="Arial"/>
                <a:ea typeface="Arial"/>
                <a:cs typeface="Arial"/>
              </a:rPr>
              <a:t>1</a:t>
            </a:r>
          </a:p>
        </p:txBody>
      </p:sp>
      <p:sp>
        <p:nvSpPr>
          <p:cNvPr id="123" name="cmc:VBSS"/>
          <p:cNvSpPr txBox="1"/>
          <p:nvPr/>
        </p:nvSpPr>
        <p:spPr>
          <a:xfrm>
            <a:off x="6232550" y="2916936"/>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r>
              <a:rPr lang="en-US" sz="900" dirty="0">
                <a:solidFill>
                  <a:srgbClr val="BFBFBF"/>
                </a:solidFill>
                <a:latin typeface="Arial"/>
                <a:ea typeface="Arial"/>
                <a:cs typeface="Arial"/>
              </a:rPr>
              <a:t>6</a:t>
            </a:r>
          </a:p>
        </p:txBody>
      </p:sp>
      <p:sp>
        <p:nvSpPr>
          <p:cNvPr id="124" name="cmc_other_campaign:Electronic Warfare (D&amp;D)"/>
          <p:cNvSpPr txBox="1"/>
          <p:nvPr/>
        </p:nvSpPr>
        <p:spPr>
          <a:xfrm>
            <a:off x="750539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25" name="cmc_other_campaign:Amphibious Warfare"/>
          <p:cNvSpPr txBox="1"/>
          <p:nvPr/>
        </p:nvSpPr>
        <p:spPr>
          <a:xfrm>
            <a:off x="7505395" y="2521915"/>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r>
              <a:rPr lang="en-US" sz="900" dirty="0">
                <a:solidFill>
                  <a:srgbClr val="FFFFFF"/>
                </a:solidFill>
                <a:latin typeface="Arial"/>
                <a:ea typeface="Arial"/>
                <a:cs typeface="Arial"/>
              </a:rPr>
              <a:t>3</a:t>
            </a:r>
          </a:p>
        </p:txBody>
      </p:sp>
      <p:sp>
        <p:nvSpPr>
          <p:cNvPr id="126" name="iamd:IAMD (OBBBA)"/>
          <p:cNvSpPr txBox="1"/>
          <p:nvPr/>
        </p:nvSpPr>
        <p:spPr>
          <a:xfrm>
            <a:off x="877732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(OBBBA)</a:t>
            </a:r>
          </a:p>
        </p:txBody>
      </p:sp>
      <p:sp>
        <p:nvSpPr>
          <p:cNvPr id="127" name="iamd:IAMD (SHIELD)"/>
          <p:cNvSpPr txBox="1"/>
          <p:nvPr/>
        </p:nvSpPr>
        <p:spPr>
          <a:xfrm>
            <a:off x="877732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(SHIELD)</a:t>
            </a:r>
          </a:p>
        </p:txBody>
      </p:sp>
      <p:sp>
        <p:nvSpPr>
          <p:cNvPr id="128" name="kill_chain:Platforms"/>
          <p:cNvSpPr txBox="1"/>
          <p:nvPr/>
        </p:nvSpPr>
        <p:spPr>
          <a:xfrm>
            <a:off x="10100462" y="2124151"/>
            <a:ext cx="1615745"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29" name="kill_chain:Effectors"/>
          <p:cNvSpPr txBox="1"/>
          <p:nvPr/>
        </p:nvSpPr>
        <p:spPr>
          <a:xfrm>
            <a:off x="10099548" y="2521915"/>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30" name="kill_chain:Sensors"/>
          <p:cNvSpPr txBox="1"/>
          <p:nvPr/>
        </p:nvSpPr>
        <p:spPr>
          <a:xfrm>
            <a:off x="10100462" y="2916936"/>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31" name="kill_chain:Combat Systems Integration (incl"/>
          <p:cNvSpPr txBox="1"/>
          <p:nvPr/>
        </p:nvSpPr>
        <p:spPr>
          <a:xfrm>
            <a:off x="10099548" y="3311957"/>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32" name="LegendSwatch:Included in sizing"/>
          <p:cNvSpPr txBox="1"/>
          <p:nvPr/>
        </p:nvSpPr>
        <p:spPr>
          <a:xfrm>
            <a:off x="6962242" y="1429207"/>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3" name="LegendLabel:Included in sizing"/>
          <p:cNvSpPr txBox="1"/>
          <p:nvPr/>
        </p:nvSpPr>
        <p:spPr>
          <a:xfrm>
            <a:off x="7166153" y="1429207"/>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34" name="LegendSwatch:Sized in another campaign"/>
          <p:cNvSpPr txBox="1"/>
          <p:nvPr/>
        </p:nvSpPr>
        <p:spPr>
          <a:xfrm>
            <a:off x="8164678" y="1429207"/>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35" name="LegendLabel:Sized in another campaign"/>
          <p:cNvSpPr txBox="1"/>
          <p:nvPr/>
        </p:nvSpPr>
        <p:spPr>
          <a:xfrm>
            <a:off x="8368589" y="1429207"/>
            <a:ext cx="1324051"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Sized in another campaign</a:t>
            </a:r>
          </a:p>
        </p:txBody>
      </p:sp>
      <p:sp>
        <p:nvSpPr>
          <p:cNvPr id="136" name="LegendSwatch:Future effort"/>
          <p:cNvSpPr txBox="1"/>
          <p:nvPr/>
        </p:nvSpPr>
        <p:spPr>
          <a:xfrm>
            <a:off x="9713671" y="1429207"/>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37" name="LegendLabel:Future effort"/>
          <p:cNvSpPr txBox="1"/>
          <p:nvPr/>
        </p:nvSpPr>
        <p:spPr>
          <a:xfrm>
            <a:off x="9917582" y="1429207"/>
            <a:ext cx="747065"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
        <p:nvSpPr>
          <p:cNvPr id="138" name="LegendSwatch:Non-addressable"/>
          <p:cNvSpPr txBox="1"/>
          <p:nvPr/>
        </p:nvSpPr>
        <p:spPr>
          <a:xfrm>
            <a:off x="10686593" y="1429207"/>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39" name="LegendLabel:Non-addressable"/>
          <p:cNvSpPr txBox="1"/>
          <p:nvPr/>
        </p:nvSpPr>
        <p:spPr>
          <a:xfrm>
            <a:off x="10890504" y="1429207"/>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0" name="row_spine:Funding Inputs"/>
          <p:cNvSpPr txBox="1"/>
          <p:nvPr/>
        </p:nvSpPr>
        <p:spPr>
          <a:xfrm rot="16200000">
            <a:off x="-714146" y="2431390"/>
            <a:ext cx="1963217" cy="514807"/>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Funding Inputs</a:t>
            </a:r>
          </a:p>
        </p:txBody>
      </p:sp>
      <p:sp>
        <p:nvSpPr>
          <p:cNvPr id="141" name="row_spine:Budget Data Sources"/>
          <p:cNvSpPr txBox="1"/>
          <p:nvPr/>
        </p:nvSpPr>
        <p:spPr>
          <a:xfrm rot="16200000">
            <a:off x="-281635" y="4034333"/>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Budget Data Sources</a:t>
            </a:r>
          </a:p>
        </p:txBody>
      </p:sp>
      <p:sp>
        <p:nvSpPr>
          <p:cNvPr id="142" name="row_spine:Color of Money"/>
          <p:cNvSpPr txBox="1"/>
          <p:nvPr/>
        </p:nvSpPr>
        <p:spPr>
          <a:xfrm rot="16200000">
            <a:off x="-281635" y="5224882"/>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Color of Money</a:t>
            </a:r>
          </a:p>
        </p:txBody>
      </p:sp>
      <p:cxnSp>
        <p:nvCxnSpPr>
          <p:cNvPr id="143" name="left_spine_top"/>
          <p:cNvCxnSpPr/>
          <p:nvPr/>
        </p:nvCxnSpPr>
        <p:spPr>
          <a:xfrm>
            <a:off x="470916" y="1727302"/>
            <a:ext cx="0" cy="1920240"/>
          </a:xfrm>
          <a:prstGeom prst="line">
            <a:avLst/>
          </a:prstGeom>
          <a:ln w="12700">
            <a:solidFill>
              <a:srgbClr val="162029"/>
            </a:solidFill>
          </a:ln>
        </p:spPr>
      </p:cxnSp>
      <p:cxnSp>
        <p:nvCxnSpPr>
          <p:cNvPr id="144" name="funding_to_budget_divider"/>
          <p:cNvCxnSpPr/>
          <p:nvPr/>
        </p:nvCxnSpPr>
        <p:spPr>
          <a:xfrm flipH="1">
            <a:off x="444398" y="3695090"/>
            <a:ext cx="11216945" cy="0"/>
          </a:xfrm>
          <a:prstGeom prst="line">
            <a:avLst/>
          </a:prstGeom>
          <a:ln w="3175">
            <a:solidFill>
              <a:srgbClr val="88AABD"/>
            </a:solidFill>
            <a:prstDash val="dash"/>
          </a:ln>
        </p:spPr>
      </p:cxnSp>
      <p:cxnSp>
        <p:nvCxnSpPr>
          <p:cNvPr id="145" name="left_spine_budget"/>
          <p:cNvCxnSpPr/>
          <p:nvPr/>
        </p:nvCxnSpPr>
        <p:spPr>
          <a:xfrm>
            <a:off x="468173" y="3742639"/>
            <a:ext cx="1829" cy="1097280"/>
          </a:xfrm>
          <a:prstGeom prst="line">
            <a:avLst/>
          </a:prstGeom>
          <a:ln w="12700">
            <a:solidFill>
              <a:srgbClr val="162029"/>
            </a:solidFill>
          </a:ln>
        </p:spPr>
      </p:cxnSp>
      <p:cxnSp>
        <p:nvCxnSpPr>
          <p:cNvPr id="146" name="budget_to_color_divider"/>
          <p:cNvCxnSpPr/>
          <p:nvPr/>
        </p:nvCxnSpPr>
        <p:spPr>
          <a:xfrm flipH="1">
            <a:off x="444398" y="4884725"/>
            <a:ext cx="11216945" cy="0"/>
          </a:xfrm>
          <a:prstGeom prst="line">
            <a:avLst/>
          </a:prstGeom>
          <a:ln w="3175">
            <a:solidFill>
              <a:srgbClr val="88AABD"/>
            </a:solidFill>
            <a:prstDash val="dash"/>
          </a:ln>
        </p:spPr>
      </p:cxnSp>
      <p:cxnSp>
        <p:nvCxnSpPr>
          <p:cNvPr id="147" name="left_spine_color"/>
          <p:cNvCxnSpPr/>
          <p:nvPr/>
        </p:nvCxnSpPr>
        <p:spPr>
          <a:xfrm>
            <a:off x="468173" y="4932274"/>
            <a:ext cx="1829" cy="1097280"/>
          </a:xfrm>
          <a:prstGeom prst="line">
            <a:avLst/>
          </a:prstGeom>
          <a:ln w="12700">
            <a:solidFill>
              <a:srgbClr val="162029"/>
            </a:solidFill>
          </a:ln>
        </p:spPr>
      </p:cxnSp>
      <p:cxnSp>
        <p:nvCxnSpPr>
          <p:cNvPr id="148" name="kill_chain_divider"/>
          <p:cNvCxnSpPr/>
          <p:nvPr/>
        </p:nvCxnSpPr>
        <p:spPr>
          <a:xfrm flipV="1">
            <a:off x="10048342" y="1727302"/>
            <a:ext cx="0" cy="1889150"/>
          </a:xfrm>
          <a:prstGeom prst="line">
            <a:avLst/>
          </a:prstGeom>
          <a:ln w="3175">
            <a:solidFill>
              <a:srgbClr val="88AABD"/>
            </a:solidFill>
            <a:prstDash val="dash"/>
          </a:ln>
        </p:spPr>
      </p:cxnSp>
      <p:sp>
        <p:nvSpPr>
          <p:cNvPr id="149" name="approach_exception:Sizing approach different vs. ot"/>
          <p:cNvSpPr txBox="1"/>
          <p:nvPr/>
        </p:nvSpPr>
        <p:spPr>
          <a:xfrm>
            <a:off x="8649310" y="2056486"/>
            <a:ext cx="1365199" cy="1559966"/>
          </a:xfrm>
          <a:prstGeom prst="rect">
            <a:avLst/>
          </a:prstGeom>
          <a:noFill/>
          <a:ln w="3175">
            <a:solidFill>
              <a:srgbClr val="162029"/>
            </a:solidFill>
          </a:ln>
        </p:spPr>
        <p:txBody>
          <a:bodyPr wrap="square" anchor="b" lIns="91440" tIns="45720" rIns="91440" bIns="45720"/>
          <a:lstStyle/>
          <a:p>
            <a:pPr algn="ctr">
              <a:lnSpc>
                <a:spcPct val="100000"/>
              </a:lnSpc>
              <a:buNone/>
            </a:pPr>
            <a:r>
              <a:rPr lang="en-US" sz="900" i="1" dirty="0">
                <a:solidFill>
                  <a:srgbClr val="000000"/>
                </a:solidFill>
                <a:latin typeface="Arial"/>
                <a:ea typeface="Arial"/>
                <a:cs typeface="Arial"/>
              </a:rPr>
              <a:t>Sizing approach different vs. other CMC</a:t>
            </a:r>
          </a:p>
        </p:txBody>
      </p:sp>
      <p:sp>
        <p:nvSpPr>
          <p:cNvPr id="150" name="footnote:Note: (1) Only addressable by Su"/>
          <p:cNvSpPr txBox="1"/>
          <p:nvPr/>
        </p:nvSpPr>
        <p:spPr>
          <a:xfrm>
            <a:off x="452628" y="6073445"/>
            <a:ext cx="11308385" cy="323698"/>
          </a:xfrm>
          <a:prstGeom prst="rect">
            <a:avLst/>
          </a:prstGeom>
          <a:noFill/>
          <a:ln>
            <a:no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Note: (1) Only addressable by Surface materiel; (2) Current BMD mission; (3) Sized in USMC Campaign, with Sealift pertaining to Contested Logistics; (4) Undersea portion sized in Navy (Undersea) Campaign; (5) Sized in SOCOM Campaign; (6) Requires manned presence to fulfill mission</a:t>
            </a:r>
          </a:p>
        </p:txBody>
      </p:sp>
      <p:sp>
        <p:nvSpPr>
          <p:cNvPr id="151" name="Callout:sUSVCapabilities"/>
          <p:cNvSpPr txBox="1"/>
          <p:nvPr/>
        </p:nvSpPr>
        <p:spPr>
          <a:xfrm>
            <a:off x="503834" y="3268066"/>
            <a:ext cx="2546604" cy="372161"/>
          </a:xfrm>
          <a:prstGeom prst="wedgeRectCallout">
            <a:avLst>
              <a:gd name="adj1" fmla="val -48497"/>
              <a:gd name="adj2" fmla="val -3486"/>
            </a:avLst>
          </a:prstGeom>
          <a:no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sUSV expected to deliver counter-UAS, Deception &amp; Decoy, and ISR capabilities</a:t>
            </a:r>
          </a:p>
        </p:txBody>
      </p:sp>
      <p:pic>
        <p:nvPicPr>
          <p:cNvPr id="152" name="Logo:Saronic"/>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Participation | Shipbuilders largely not observed to vertically integrate beyond chartering, whereas large shippers and VOCCs integrate across the value chain.</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cxnSp>
        <p:nvCxnSpPr>
          <p:cNvPr id="100" name="StageDivider:4.291"/>
          <p:cNvCxnSpPr/>
          <p:nvPr/>
        </p:nvCxnSpPr>
        <p:spPr>
          <a:xfrm flipH="1">
            <a:off x="3923690" y="1908353"/>
            <a:ext cx="0" cy="4480560"/>
          </a:xfrm>
          <a:prstGeom prst="line">
            <a:avLst/>
          </a:prstGeom>
          <a:ln w="3175">
            <a:solidFill>
              <a:srgbClr val="808080"/>
            </a:solidFill>
            <a:prstDash val="dash"/>
          </a:ln>
        </p:spPr>
      </p:cxnSp>
      <p:cxnSp>
        <p:nvCxnSpPr>
          <p:cNvPr id="101" name="StageDivider:6.404"/>
          <p:cNvCxnSpPr/>
          <p:nvPr/>
        </p:nvCxnSpPr>
        <p:spPr>
          <a:xfrm flipH="1">
            <a:off x="5855818" y="1908353"/>
            <a:ext cx="0" cy="4480560"/>
          </a:xfrm>
          <a:prstGeom prst="line">
            <a:avLst/>
          </a:prstGeom>
          <a:ln w="3175">
            <a:solidFill>
              <a:srgbClr val="808080"/>
            </a:solidFill>
            <a:prstDash val="dash"/>
          </a:ln>
        </p:spPr>
      </p:cxnSp>
      <p:cxnSp>
        <p:nvCxnSpPr>
          <p:cNvPr id="102" name="StageDivider:8.526"/>
          <p:cNvCxnSpPr/>
          <p:nvPr/>
        </p:nvCxnSpPr>
        <p:spPr>
          <a:xfrm flipH="1">
            <a:off x="7796174" y="1908353"/>
            <a:ext cx="0" cy="4480560"/>
          </a:xfrm>
          <a:prstGeom prst="line">
            <a:avLst/>
          </a:prstGeom>
          <a:ln w="3175">
            <a:solidFill>
              <a:srgbClr val="808080"/>
            </a:solidFill>
            <a:prstDash val="dash"/>
          </a:ln>
        </p:spPr>
      </p:cxnSp>
      <p:cxnSp>
        <p:nvCxnSpPr>
          <p:cNvPr id="103" name="StageDivider:10.631"/>
          <p:cNvCxnSpPr/>
          <p:nvPr/>
        </p:nvCxnSpPr>
        <p:spPr>
          <a:xfrm flipH="1">
            <a:off x="9720986" y="1908353"/>
            <a:ext cx="0" cy="4480560"/>
          </a:xfrm>
          <a:prstGeom prst="line">
            <a:avLst/>
          </a:prstGeom>
          <a:ln w="3175">
            <a:solidFill>
              <a:srgbClr val="808080"/>
            </a:solidFill>
            <a:prstDash val="dash"/>
          </a:ln>
        </p:spPr>
      </p:cxnSp>
      <p:sp>
        <p:nvSpPr>
          <p:cNvPr id="104" name="IntegrationSpan:shippers_private_carriers"/>
          <p:cNvSpPr txBox="1"/>
          <p:nvPr/>
        </p:nvSpPr>
        <p:spPr>
          <a:xfrm>
            <a:off x="2276856" y="5877763"/>
            <a:ext cx="9422892" cy="503834"/>
          </a:xfrm>
          <a:prstGeom prst="rect">
            <a:avLst/>
          </a:prstGeom>
          <a:solidFill>
            <a:srgbClr val="FFFFFF"/>
          </a:solidFill>
          <a:ln w="19050">
            <a:solidFill>
              <a:srgbClr val="000000"/>
            </a:solidFill>
            <a:prstDash val="dash"/>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Shippers / Private Carriers – </a:t>
            </a:r>
            <a:r>
              <a:rPr lang="en-US" sz="1000" i="1" dirty="0">
                <a:solidFill>
                  <a:srgbClr val="000000"/>
                </a:solidFill>
                <a:latin typeface="Arial"/>
                <a:ea typeface="Arial"/>
                <a:cs typeface="Arial"/>
              </a:rPr>
              <a:t>Integrated across value chain steps</a:t>
            </a:r>
          </a:p>
        </p:txBody>
      </p:sp>
      <p:sp>
        <p:nvSpPr>
          <p:cNvPr id="105" name="IntegrationSpan:vocc"/>
          <p:cNvSpPr txBox="1"/>
          <p:nvPr/>
        </p:nvSpPr>
        <p:spPr>
          <a:xfrm>
            <a:off x="3977640" y="5275174"/>
            <a:ext cx="7722108" cy="548640"/>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Vessel Operating Common Carriers</a:t>
            </a:r>
            <a:r>
              <a:rPr lang="en-US" sz="1000" b="1" i="1" dirty="0">
                <a:solidFill>
                  <a:srgbClr val="000000"/>
                </a:solidFill>
                <a:latin typeface="Arial"/>
                <a:ea typeface="Arial"/>
                <a:cs typeface="Arial"/>
              </a:rPr>
              <a:t> – </a:t>
            </a:r>
            <a:r>
              <a:rPr lang="en-US" sz="1000" i="1" dirty="0">
                <a:solidFill>
                  <a:srgbClr val="000000"/>
                </a:solidFill>
                <a:latin typeface="Arial"/>
                <a:ea typeface="Arial"/>
                <a:cs typeface="Arial"/>
              </a:rPr>
              <a:t>Integrated across multiple value chain steps (largely Terminal Ops and/or Coordination)</a:t>
            </a:r>
          </a:p>
        </p:txBody>
      </p:sp>
      <p:sp>
        <p:nvSpPr>
          <p:cNvPr id="106" name="StageHeader:Customer / Shipper Requires Cargo Shipment"/>
          <p:cNvSpPr txBox="1"/>
          <p:nvPr/>
        </p:nvSpPr>
        <p:spPr>
          <a:xfrm>
            <a:off x="2043684" y="1500530"/>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7" name="StageHeader:Coordination"/>
          <p:cNvSpPr txBox="1"/>
          <p:nvPr/>
        </p:nvSpPr>
        <p:spPr>
          <a:xfrm>
            <a:off x="3977640" y="1500530"/>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8" name="StageHeader:Origin Shoreside Logistics"/>
          <p:cNvSpPr txBox="1"/>
          <p:nvPr/>
        </p:nvSpPr>
        <p:spPr>
          <a:xfrm>
            <a:off x="5911596"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9" name="StageHeader:Maritime Transport"/>
          <p:cNvSpPr txBox="1"/>
          <p:nvPr/>
        </p:nvSpPr>
        <p:spPr>
          <a:xfrm>
            <a:off x="7845552" y="1500530"/>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10" name="StageHeader:Destination Shoreside Logistics"/>
          <p:cNvSpPr txBox="1"/>
          <p:nvPr/>
        </p:nvSpPr>
        <p:spPr>
          <a:xfrm>
            <a:off x="9779508"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graphicFrame>
        <p:nvGraphicFramePr>
          <p:cNvPr id="111" name="RowLabel:Value Chain Step"/>
          <p:cNvGraphicFramePr>
            <a:graphicFrameLocks noGrp="1"/>
          </p:cNvGraphicFramePr>
          <p:nvPr/>
        </p:nvGraphicFramePr>
        <p:xfrm>
          <a:off x="452628" y="1500530"/>
          <a:ext cx="1463040" cy="365760"/>
        </p:xfrm>
        <a:graphic>
          <a:graphicData uri="http://schemas.openxmlformats.org/drawingml/2006/table">
            <a:tbl>
              <a:tblPr firstRow="1" firstCol="1" bandRow="0">
                <a:tableStyleId>{2D5ABB26-0587-4C30-8999-92F81FD0307C}</a:tableStyleId>
              </a:tblPr>
              <a:tblGrid>
                <a:gridCol w="1463040"/>
              </a:tblGrid>
              <a:tr h="365760">
                <a:tc>
                  <a:txBody>
                    <a:bodyPr anchor="t"/>
                    <a:lstStyle/>
                    <a:p>
                      <a:pPr algn="l" marL="0" indent="0">
                        <a:lnSpc>
                          <a:spcPct val="100000"/>
                        </a:lnSpc>
                      </a:pPr>
                      <a:r>
                        <a:rPr lang="en-US" sz="1000" b="1" dirty="0">
                          <a:solidFill>
                            <a:srgbClr val="000000"/>
                          </a:solidFill>
                          <a:latin typeface="Arial"/>
                          <a:ea typeface="Arial"/>
                          <a:cs typeface="Arial"/>
                        </a:rPr>
                        <a:t>Value Chain Step</a:t>
                      </a: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2" name="RowLabel:Representative players"/>
          <p:cNvGraphicFramePr>
            <a:graphicFrameLocks noGrp="1"/>
          </p:cNvGraphicFramePr>
          <p:nvPr/>
        </p:nvGraphicFramePr>
        <p:xfrm>
          <a:off x="452628" y="2005279"/>
          <a:ext cx="1463040" cy="4383634"/>
        </p:xfrm>
        <a:graphic>
          <a:graphicData uri="http://schemas.openxmlformats.org/drawingml/2006/table">
            <a:tbl>
              <a:tblPr firstRow="1" firstCol="1" bandRow="0">
                <a:tableStyleId>{2D5ABB26-0587-4C30-8999-92F81FD0307C}</a:tableStyleId>
              </a:tblPr>
              <a:tblGrid>
                <a:gridCol w="1463040"/>
              </a:tblGrid>
              <a:tr h="4383634">
                <a:tc>
                  <a:txBody>
                    <a:bodyPr anchor="t"/>
                    <a:lstStyle/>
                    <a:p>
                      <a:pPr algn="l" marL="0" indent="0">
                        <a:lnSpc>
                          <a:spcPct val="100000"/>
                        </a:lnSpc>
                      </a:pPr>
                      <a:r>
                        <a:rPr lang="en-US" sz="1000" b="1" dirty="0">
                          <a:solidFill>
                            <a:srgbClr val="000000"/>
                          </a:solidFill>
                          <a:latin typeface="Arial"/>
                          <a:ea typeface="Arial"/>
                          <a:cs typeface="Arial"/>
                        </a:rPr>
                        <a:t>Representative players</a:t>
                      </a: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sp>
        <p:nvSpPr>
          <p:cNvPr id="113" name="ParticipationCell:Terminal Operators"/>
          <p:cNvSpPr txBox="1"/>
          <p:nvPr/>
        </p:nvSpPr>
        <p:spPr>
          <a:xfrm>
            <a:off x="5968289"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4" name="ParticipationCell:Charter Companies"/>
          <p:cNvSpPr txBox="1"/>
          <p:nvPr/>
        </p:nvSpPr>
        <p:spPr>
          <a:xfrm>
            <a:off x="7903159" y="4372661"/>
            <a:ext cx="1716329" cy="84673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Charter Companies</a:t>
            </a:r>
          </a:p>
        </p:txBody>
      </p:sp>
      <p:sp>
        <p:nvSpPr>
          <p:cNvPr id="115" name="ParticipationCell:Pure-play Shipbuilders"/>
          <p:cNvSpPr txBox="1"/>
          <p:nvPr/>
        </p:nvSpPr>
        <p:spPr>
          <a:xfrm>
            <a:off x="7903159" y="2005279"/>
            <a:ext cx="1716329" cy="80924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Pure-play Shipbuilders</a:t>
            </a:r>
          </a:p>
        </p:txBody>
      </p:sp>
      <p:sp>
        <p:nvSpPr>
          <p:cNvPr id="116" name="ParticipationCell:Integrated Shipbuilders"/>
          <p:cNvSpPr txBox="1"/>
          <p:nvPr/>
        </p:nvSpPr>
        <p:spPr>
          <a:xfrm>
            <a:off x="7903159" y="2868473"/>
            <a:ext cx="1716329" cy="1450238"/>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Integrated Shipbuilders</a:t>
            </a:r>
          </a:p>
        </p:txBody>
      </p:sp>
      <p:sp>
        <p:nvSpPr>
          <p:cNvPr id="117" name="ParticipationCell:Terminal Operators"/>
          <p:cNvSpPr txBox="1"/>
          <p:nvPr/>
        </p:nvSpPr>
        <p:spPr>
          <a:xfrm>
            <a:off x="9881921"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8" name="Marker:primarily maritime transport"/>
          <p:cNvSpPr txBox="1"/>
          <p:nvPr/>
        </p:nvSpPr>
        <p:spPr>
          <a:xfrm>
            <a:off x="452628" y="1244498"/>
            <a:ext cx="182880" cy="182880"/>
          </a:xfrm>
          <a:prstGeom prst="rect">
            <a:avLst/>
          </a:prstGeom>
          <a:noFill/>
          <a:ln w="19050">
            <a:solidFill>
              <a:srgbClr val="0E1924"/>
            </a:solidFill>
          </a:ln>
        </p:spPr>
        <p:txBody>
          <a:bodyPr wrap="square" anchor="ctr" lIns="91440" tIns="45720" rIns="91440" bIns="45720"/>
          <a:lstStyle/>
          <a:p>
            <a:pPr algn="ctr">
              <a:lnSpc>
                <a:spcPct val="100000"/>
              </a:lnSpc>
              <a:buNone/>
            </a:pPr>
            <a:endParaRPr lang="en-US"/>
          </a:p>
        </p:txBody>
      </p:sp>
      <p:sp>
        <p:nvSpPr>
          <p:cNvPr id="119" name="Marker:integrated shippers"/>
          <p:cNvSpPr txBox="1"/>
          <p:nvPr/>
        </p:nvSpPr>
        <p:spPr>
          <a:xfrm>
            <a:off x="4075481" y="1244498"/>
            <a:ext cx="182880" cy="182880"/>
          </a:xfrm>
          <a:prstGeom prst="rect">
            <a:avLst/>
          </a:prstGeom>
          <a:solidFill>
            <a:srgbClr val="FFFFFF"/>
          </a:solidFill>
          <a:ln w="19050">
            <a:solidFill>
              <a:srgbClr val="000000"/>
            </a:solidFill>
            <a:prstDash val="dash"/>
          </a:ln>
        </p:spPr>
        <p:txBody>
          <a:bodyPr wrap="square" anchor="ctr" lIns="91440" tIns="45720" rIns="91440" bIns="45720"/>
          <a:lstStyle/>
          <a:p>
            <a:pPr algn="ctr">
              <a:lnSpc>
                <a:spcPct val="100000"/>
              </a:lnSpc>
              <a:buNone/>
            </a:pPr>
            <a:endParaRPr lang="en-US"/>
          </a:p>
        </p:txBody>
      </p:sp>
      <p:sp>
        <p:nvSpPr>
          <p:cNvPr id="120" name="Marker:shoreside logistics"/>
          <p:cNvSpPr txBox="1"/>
          <p:nvPr/>
        </p:nvSpPr>
        <p:spPr>
          <a:xfrm>
            <a:off x="2460650" y="1244498"/>
            <a:ext cx="182880" cy="182880"/>
          </a:xfrm>
          <a:prstGeom prst="rect">
            <a:avLst/>
          </a:prstGeom>
          <a:noFill/>
          <a:ln w="19050">
            <a:solidFill>
              <a:srgbClr val="447BB2"/>
            </a:solidFill>
          </a:ln>
        </p:spPr>
        <p:txBody>
          <a:bodyPr wrap="square" anchor="ctr" lIns="91440" tIns="45720" rIns="91440" bIns="45720"/>
          <a:lstStyle/>
          <a:p>
            <a:pPr algn="ctr">
              <a:lnSpc>
                <a:spcPct val="100000"/>
              </a:lnSpc>
              <a:buNone/>
            </a:pPr>
            <a:endParaRPr lang="en-US"/>
          </a:p>
        </p:txBody>
      </p:sp>
      <p:sp>
        <p:nvSpPr>
          <p:cNvPr id="121" name="GroupCaption:Primarily Maritime Transport Players"/>
          <p:cNvSpPr txBox="1"/>
          <p:nvPr/>
        </p:nvSpPr>
        <p:spPr>
          <a:xfrm>
            <a:off x="625450" y="1228954"/>
            <a:ext cx="1845259"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Primarily Maritime Transport Players</a:t>
            </a:r>
          </a:p>
        </p:txBody>
      </p:sp>
      <p:sp>
        <p:nvSpPr>
          <p:cNvPr id="122" name="GroupCaption:Shoreside Logistics Players"/>
          <p:cNvSpPr txBox="1"/>
          <p:nvPr/>
        </p:nvSpPr>
        <p:spPr>
          <a:xfrm>
            <a:off x="2634386" y="1228954"/>
            <a:ext cx="1451153"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Logistics Players</a:t>
            </a:r>
          </a:p>
        </p:txBody>
      </p:sp>
      <p:sp>
        <p:nvSpPr>
          <p:cNvPr id="123" name="GroupCaption:Integrated Shippers"/>
          <p:cNvSpPr txBox="1"/>
          <p:nvPr/>
        </p:nvSpPr>
        <p:spPr>
          <a:xfrm>
            <a:off x="4248302" y="1228954"/>
            <a:ext cx="1087222"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Integrated Shippers</a:t>
            </a:r>
          </a:p>
        </p:txBody>
      </p:sp>
      <p:pic>
        <p:nvPicPr>
          <p:cNvPr id="124" name="Logo:origin_terminal:origin_terminal_logo_1"/>
          <p:cNvPicPr>
            <a:picLocks noChangeAspect="1"/>
          </p:cNvPicPr>
          <p:nvPr/>
        </p:nvPicPr>
        <p:blipFill>
          <a:blip r:embed="rId2"/>
          <a:stretch>
            <a:fillRect/>
          </a:stretch>
        </p:blipFill>
        <p:spPr>
          <a:xfrm>
            <a:off x="6282842" y="4921301"/>
            <a:ext cx="1084478" cy="249631"/>
          </a:xfrm>
          <a:prstGeom prst="rect">
            <a:avLst/>
          </a:prstGeom>
        </p:spPr>
      </p:pic>
      <p:pic>
        <p:nvPicPr>
          <p:cNvPr id="125" name="Logo:origin_terminal:origin_terminal_logo_2"/>
          <p:cNvPicPr>
            <a:picLocks noChangeAspect="1"/>
          </p:cNvPicPr>
          <p:nvPr/>
        </p:nvPicPr>
        <p:blipFill>
          <a:blip r:embed="rId3"/>
          <a:srcRect t="39246" b="40454"/>
          <a:stretch>
            <a:fillRect/>
          </a:stretch>
        </p:blipFill>
        <p:spPr>
          <a:xfrm>
            <a:off x="6267298" y="4606747"/>
            <a:ext cx="1116482" cy="226771"/>
          </a:xfrm>
          <a:prstGeom prst="rect">
            <a:avLst/>
          </a:prstGeom>
        </p:spPr>
      </p:pic>
      <p:pic>
        <p:nvPicPr>
          <p:cNvPr id="126" name="Logo:coordination:coordination_logo_1"/>
          <p:cNvPicPr>
            <a:picLocks noChangeAspect="1"/>
          </p:cNvPicPr>
          <p:nvPr/>
        </p:nvPicPr>
        <p:blipFill>
          <a:blip r:embed="rId4"/>
          <a:stretch>
            <a:fillRect/>
          </a:stretch>
        </p:blipFill>
        <p:spPr>
          <a:xfrm>
            <a:off x="4369003" y="6134710"/>
            <a:ext cx="1133856" cy="206654"/>
          </a:xfrm>
          <a:prstGeom prst="rect">
            <a:avLst/>
          </a:prstGeom>
        </p:spPr>
      </p:pic>
      <p:pic>
        <p:nvPicPr>
          <p:cNvPr id="127" name="Logo:origin_terminal:origin_terminal_logo_3"/>
          <p:cNvPicPr>
            <a:picLocks noChangeAspect="1"/>
          </p:cNvPicPr>
          <p:nvPr/>
        </p:nvPicPr>
        <p:blipFill>
          <a:blip r:embed="rId5"/>
          <a:stretch>
            <a:fillRect/>
          </a:stretch>
        </p:blipFill>
        <p:spPr>
          <a:xfrm>
            <a:off x="6240780" y="6129223"/>
            <a:ext cx="680314" cy="216713"/>
          </a:xfrm>
          <a:prstGeom prst="rect">
            <a:avLst/>
          </a:prstGeom>
        </p:spPr>
      </p:pic>
      <p:pic>
        <p:nvPicPr>
          <p:cNvPr id="128" name="Logo:shipper_private:shipper_private_logo_1"/>
          <p:cNvPicPr>
            <a:picLocks noChangeAspect="1"/>
          </p:cNvPicPr>
          <p:nvPr/>
        </p:nvPicPr>
        <p:blipFill>
          <a:blip r:embed="rId6"/>
          <a:stretch>
            <a:fillRect/>
          </a:stretch>
        </p:blipFill>
        <p:spPr>
          <a:xfrm>
            <a:off x="2499055" y="6137453"/>
            <a:ext cx="1057961" cy="200254"/>
          </a:xfrm>
          <a:prstGeom prst="rect">
            <a:avLst/>
          </a:prstGeom>
        </p:spPr>
      </p:pic>
      <p:pic>
        <p:nvPicPr>
          <p:cNvPr id="129" name="Logo:destination_terminal:destination_terminal_logo_1"/>
          <p:cNvPicPr>
            <a:picLocks noChangeAspect="1"/>
          </p:cNvPicPr>
          <p:nvPr/>
        </p:nvPicPr>
        <p:blipFill>
          <a:blip r:embed="rId7"/>
          <a:stretch>
            <a:fillRect/>
          </a:stretch>
        </p:blipFill>
        <p:spPr>
          <a:xfrm>
            <a:off x="9324137" y="6124651"/>
            <a:ext cx="982066" cy="226771"/>
          </a:xfrm>
          <a:prstGeom prst="rect">
            <a:avLst/>
          </a:prstGeom>
        </p:spPr>
      </p:pic>
      <p:pic>
        <p:nvPicPr>
          <p:cNvPr id="130" name="Logo:destination_terminal:destination_terminal_logo_2"/>
          <p:cNvPicPr>
            <a:picLocks noChangeAspect="1"/>
          </p:cNvPicPr>
          <p:nvPr/>
        </p:nvPicPr>
        <p:blipFill>
          <a:blip r:embed="rId8"/>
          <a:stretch>
            <a:fillRect/>
          </a:stretch>
        </p:blipFill>
        <p:spPr>
          <a:xfrm>
            <a:off x="10883189" y="6102706"/>
            <a:ext cx="604418" cy="270662"/>
          </a:xfrm>
          <a:prstGeom prst="rect">
            <a:avLst/>
          </a:prstGeom>
        </p:spPr>
      </p:pic>
      <p:pic>
        <p:nvPicPr>
          <p:cNvPr id="131" name="Logo:vocc_span:vocc_logo_1"/>
          <p:cNvPicPr>
            <a:picLocks noChangeAspect="1"/>
          </p:cNvPicPr>
          <p:nvPr/>
        </p:nvPicPr>
        <p:blipFill>
          <a:blip r:embed="rId9"/>
          <a:srcRect t="1" b="30297"/>
          <a:stretch>
            <a:fillRect/>
          </a:stretch>
        </p:blipFill>
        <p:spPr>
          <a:xfrm>
            <a:off x="5078578" y="5525719"/>
            <a:ext cx="914400" cy="223114"/>
          </a:xfrm>
          <a:prstGeom prst="rect">
            <a:avLst/>
          </a:prstGeom>
        </p:spPr>
      </p:pic>
      <p:pic>
        <p:nvPicPr>
          <p:cNvPr id="132" name="Logo:vocc_span:vocc_logo_2"/>
          <p:cNvPicPr>
            <a:picLocks noChangeAspect="1"/>
          </p:cNvPicPr>
          <p:nvPr/>
        </p:nvPicPr>
        <p:blipFill>
          <a:blip r:embed="rId10"/>
          <a:stretch>
            <a:fillRect/>
          </a:stretch>
        </p:blipFill>
        <p:spPr>
          <a:xfrm>
            <a:off x="8506663" y="5532120"/>
            <a:ext cx="1371600" cy="211226"/>
          </a:xfrm>
          <a:prstGeom prst="rect">
            <a:avLst/>
          </a:prstGeom>
        </p:spPr>
      </p:pic>
      <p:pic>
        <p:nvPicPr>
          <p:cNvPr id="133" name="Logo:vocc_span:vocc_logo_3"/>
          <p:cNvPicPr>
            <a:picLocks noChangeAspect="1"/>
          </p:cNvPicPr>
          <p:nvPr/>
        </p:nvPicPr>
        <p:blipFill>
          <a:blip r:embed="rId11"/>
          <a:stretch>
            <a:fillRect/>
          </a:stretch>
        </p:blipFill>
        <p:spPr>
          <a:xfrm>
            <a:off x="10525658" y="5511089"/>
            <a:ext cx="1097280" cy="252374"/>
          </a:xfrm>
          <a:prstGeom prst="rect">
            <a:avLst/>
          </a:prstGeom>
        </p:spPr>
      </p:pic>
      <p:pic>
        <p:nvPicPr>
          <p:cNvPr id="134" name="Logo:vocc_span:vocc_logo_4"/>
          <p:cNvPicPr>
            <a:picLocks noChangeAspect="1"/>
          </p:cNvPicPr>
          <p:nvPr/>
        </p:nvPicPr>
        <p:blipFill>
          <a:blip r:embed="rId12"/>
          <a:srcRect l="16902" t="18159" r="16883" b="17525"/>
          <a:stretch>
            <a:fillRect/>
          </a:stretch>
        </p:blipFill>
        <p:spPr>
          <a:xfrm>
            <a:off x="4081882" y="5490058"/>
            <a:ext cx="302666" cy="293522"/>
          </a:xfrm>
          <a:prstGeom prst="rect">
            <a:avLst/>
          </a:prstGeom>
        </p:spPr>
      </p:pic>
      <p:pic>
        <p:nvPicPr>
          <p:cNvPr id="135" name="Logo:vocc_span:vocc_logo_5"/>
          <p:cNvPicPr>
            <a:picLocks noChangeAspect="1"/>
          </p:cNvPicPr>
          <p:nvPr/>
        </p:nvPicPr>
        <p:blipFill>
          <a:blip r:embed="rId13"/>
          <a:srcRect l="1136" t="2363" r="1895"/>
          <a:stretch>
            <a:fillRect/>
          </a:stretch>
        </p:blipFill>
        <p:spPr>
          <a:xfrm>
            <a:off x="6655918" y="5480914"/>
            <a:ext cx="1188720" cy="312725"/>
          </a:xfrm>
          <a:prstGeom prst="rect">
            <a:avLst/>
          </a:prstGeom>
        </p:spPr>
      </p:pic>
      <p:pic>
        <p:nvPicPr>
          <p:cNvPr id="136" name="Logo:charter_companies:charter_logo_1"/>
          <p:cNvPicPr>
            <a:picLocks noChangeAspect="1"/>
          </p:cNvPicPr>
          <p:nvPr/>
        </p:nvPicPr>
        <p:blipFill>
          <a:blip r:embed="rId14"/>
          <a:stretch>
            <a:fillRect/>
          </a:stretch>
        </p:blipFill>
        <p:spPr>
          <a:xfrm>
            <a:off x="7948879" y="4595774"/>
            <a:ext cx="1261872" cy="249631"/>
          </a:xfrm>
          <a:prstGeom prst="rect">
            <a:avLst/>
          </a:prstGeom>
        </p:spPr>
      </p:pic>
      <p:pic>
        <p:nvPicPr>
          <p:cNvPr id="137" name="Logo:charter_companies:charter_logo_2"/>
          <p:cNvPicPr>
            <a:picLocks noChangeAspect="1"/>
          </p:cNvPicPr>
          <p:nvPr/>
        </p:nvPicPr>
        <p:blipFill>
          <a:blip r:embed="rId15"/>
          <a:stretch>
            <a:fillRect/>
          </a:stretch>
        </p:blipFill>
        <p:spPr>
          <a:xfrm>
            <a:off x="8648395" y="4801514"/>
            <a:ext cx="914400" cy="186538"/>
          </a:xfrm>
          <a:prstGeom prst="rect">
            <a:avLst/>
          </a:prstGeom>
        </p:spPr>
      </p:pic>
      <p:pic>
        <p:nvPicPr>
          <p:cNvPr id="138" name="Logo:charter_companies:charter_logo_3"/>
          <p:cNvPicPr>
            <a:picLocks noChangeAspect="1"/>
          </p:cNvPicPr>
          <p:nvPr/>
        </p:nvPicPr>
        <p:blipFill>
          <a:blip r:embed="rId16"/>
          <a:stretch>
            <a:fillRect/>
          </a:stretch>
        </p:blipFill>
        <p:spPr>
          <a:xfrm>
            <a:off x="7959852" y="4998110"/>
            <a:ext cx="808330" cy="223114"/>
          </a:xfrm>
          <a:prstGeom prst="rect">
            <a:avLst/>
          </a:prstGeom>
        </p:spPr>
      </p:pic>
      <p:pic>
        <p:nvPicPr>
          <p:cNvPr id="139" name="Logo:pure_play_shipbuilder:pureplay_logo_1"/>
          <p:cNvPicPr>
            <a:picLocks noChangeAspect="1"/>
          </p:cNvPicPr>
          <p:nvPr/>
        </p:nvPicPr>
        <p:blipFill>
          <a:blip r:embed="rId17"/>
          <a:stretch>
            <a:fillRect/>
          </a:stretch>
        </p:blipFill>
        <p:spPr>
          <a:xfrm>
            <a:off x="8786470" y="2571293"/>
            <a:ext cx="731520" cy="185623"/>
          </a:xfrm>
          <a:prstGeom prst="rect">
            <a:avLst/>
          </a:prstGeom>
        </p:spPr>
      </p:pic>
      <p:pic>
        <p:nvPicPr>
          <p:cNvPr id="140" name="Logo:pure_play_shipbuilder:pureplay_logo_2"/>
          <p:cNvPicPr>
            <a:picLocks noChangeAspect="1"/>
          </p:cNvPicPr>
          <p:nvPr/>
        </p:nvPicPr>
        <p:blipFill>
          <a:blip r:embed="rId18"/>
          <a:stretch>
            <a:fillRect/>
          </a:stretch>
        </p:blipFill>
        <p:spPr>
          <a:xfrm>
            <a:off x="8740750" y="2345436"/>
            <a:ext cx="822960" cy="94183"/>
          </a:xfrm>
          <a:prstGeom prst="rect">
            <a:avLst/>
          </a:prstGeom>
        </p:spPr>
      </p:pic>
      <p:pic>
        <p:nvPicPr>
          <p:cNvPr id="141" name="Logo:pure_play_shipbuilder:pureplay_logo_3"/>
          <p:cNvPicPr>
            <a:picLocks noChangeAspect="1"/>
          </p:cNvPicPr>
          <p:nvPr/>
        </p:nvPicPr>
        <p:blipFill>
          <a:blip r:embed="rId19"/>
          <a:stretch>
            <a:fillRect/>
          </a:stretch>
        </p:blipFill>
        <p:spPr>
          <a:xfrm>
            <a:off x="8086039" y="2279599"/>
            <a:ext cx="457200" cy="226771"/>
          </a:xfrm>
          <a:prstGeom prst="rect">
            <a:avLst/>
          </a:prstGeom>
        </p:spPr>
      </p:pic>
      <p:pic>
        <p:nvPicPr>
          <p:cNvPr id="142" name="Logo:pure_play_shipbuilder:pureplay_logo_4"/>
          <p:cNvPicPr>
            <a:picLocks noChangeAspect="1"/>
          </p:cNvPicPr>
          <p:nvPr/>
        </p:nvPicPr>
        <p:blipFill>
          <a:blip r:embed="rId20"/>
          <a:srcRect l="6989" t="38971" r="6559" b="39290"/>
          <a:stretch>
            <a:fillRect/>
          </a:stretch>
        </p:blipFill>
        <p:spPr>
          <a:xfrm>
            <a:off x="7948879" y="2588666"/>
            <a:ext cx="731520" cy="183794"/>
          </a:xfrm>
          <a:prstGeom prst="rect">
            <a:avLst/>
          </a:prstGeom>
        </p:spPr>
      </p:pic>
      <p:pic>
        <p:nvPicPr>
          <p:cNvPr id="143" name="Logo:integrated_shipbuilder:integrated_logo_1"/>
          <p:cNvPicPr>
            <a:picLocks noChangeAspect="1"/>
          </p:cNvPicPr>
          <p:nvPr/>
        </p:nvPicPr>
        <p:blipFill>
          <a:blip r:embed="rId21"/>
          <a:stretch>
            <a:fillRect/>
          </a:stretch>
        </p:blipFill>
        <p:spPr>
          <a:xfrm>
            <a:off x="8304581" y="3087929"/>
            <a:ext cx="914400" cy="253289"/>
          </a:xfrm>
          <a:prstGeom prst="rect">
            <a:avLst/>
          </a:prstGeom>
        </p:spPr>
      </p:pic>
      <p:pic>
        <p:nvPicPr>
          <p:cNvPr id="144" name="Logo:integrated_shipbuilder:integrated_logo_2"/>
          <p:cNvPicPr>
            <a:picLocks noChangeAspect="1"/>
          </p:cNvPicPr>
          <p:nvPr/>
        </p:nvPicPr>
        <p:blipFill>
          <a:blip r:embed="rId22"/>
          <a:srcRect t="43928" b="43272"/>
          <a:stretch>
            <a:fillRect/>
          </a:stretch>
        </p:blipFill>
        <p:spPr>
          <a:xfrm>
            <a:off x="8028432" y="3628339"/>
            <a:ext cx="1466698" cy="187452"/>
          </a:xfrm>
          <a:prstGeom prst="rect">
            <a:avLst/>
          </a:prstGeom>
        </p:spPr>
      </p:pic>
      <p:pic>
        <p:nvPicPr>
          <p:cNvPr id="145" name="Logo:integrated_shipbuilder:integrated_logo_3"/>
          <p:cNvPicPr>
            <a:picLocks noChangeAspect="1"/>
          </p:cNvPicPr>
          <p:nvPr/>
        </p:nvPicPr>
        <p:blipFill>
          <a:blip r:embed="rId23"/>
          <a:srcRect t="44933" b="44796"/>
          <a:stretch>
            <a:fillRect/>
          </a:stretch>
        </p:blipFill>
        <p:spPr>
          <a:xfrm>
            <a:off x="8030261" y="3881628"/>
            <a:ext cx="1463040" cy="149962"/>
          </a:xfrm>
          <a:prstGeom prst="rect">
            <a:avLst/>
          </a:prstGeom>
        </p:spPr>
      </p:pic>
      <p:pic>
        <p:nvPicPr>
          <p:cNvPr id="146" name="Logo:destination_terminal:destination_terminal_reused_logo_1"/>
          <p:cNvPicPr>
            <a:picLocks noChangeAspect="1"/>
          </p:cNvPicPr>
          <p:nvPr/>
        </p:nvPicPr>
        <p:blipFill>
          <a:blip r:embed="rId2"/>
          <a:stretch>
            <a:fillRect/>
          </a:stretch>
        </p:blipFill>
        <p:spPr>
          <a:xfrm>
            <a:off x="10196474" y="4921301"/>
            <a:ext cx="1084478" cy="249631"/>
          </a:xfrm>
          <a:prstGeom prst="rect">
            <a:avLst/>
          </a:prstGeom>
        </p:spPr>
      </p:pic>
      <p:pic>
        <p:nvPicPr>
          <p:cNvPr id="147" name="Logo:destination_terminal:destination_terminal_reused_logo_2"/>
          <p:cNvPicPr>
            <a:picLocks noChangeAspect="1"/>
          </p:cNvPicPr>
          <p:nvPr/>
        </p:nvPicPr>
        <p:blipFill>
          <a:blip r:embed="rId3"/>
          <a:srcRect t="39246" b="40454"/>
          <a:stretch>
            <a:fillRect/>
          </a:stretch>
        </p:blipFill>
        <p:spPr>
          <a:xfrm>
            <a:off x="10180930" y="4606747"/>
            <a:ext cx="1116482" cy="226771"/>
          </a:xfrm>
          <a:prstGeom prst="rect">
            <a:avLst/>
          </a:prstGeom>
        </p:spPr>
      </p:pic>
      <p:cxnSp>
        <p:nvCxnSpPr>
          <p:cNvPr id="148" name="primarily_maritime_to_matrix"/>
          <p:cNvCxnSpPr/>
          <p:nvPr/>
        </p:nvCxnSpPr>
        <p:spPr>
          <a:xfrm rot="5400000">
            <a:off x="486461" y="3656686"/>
            <a:ext cx="4262933" cy="682142"/>
          </a:xfrm>
          <a:prstGeom prst="bentConnector4">
            <a:avLst>
              <a:gd name="adj1" fmla="val 47046"/>
              <a:gd name="adj2" fmla="val 133516"/>
            </a:avLst>
          </a:prstGeom>
          <a:ln w="12700">
            <a:solidFill>
              <a:srgbClr val="000000"/>
            </a:solidFill>
            <a:tailEnd type="triangle" w="med" len="med"/>
          </a:ln>
        </p:spPr>
      </p:cxnSp>
      <p:sp>
        <p:nvSpPr>
          <p:cNvPr id="149" name="Callout:ParticipationRead"/>
          <p:cNvSpPr txBox="1"/>
          <p:nvPr/>
        </p:nvSpPr>
        <p:spPr>
          <a:xfrm>
            <a:off x="2136953" y="2121408"/>
            <a:ext cx="1777594" cy="440741"/>
          </a:xfrm>
          <a:prstGeom prst="wedgeRectCallout">
            <a:avLst>
              <a:gd name="adj1" fmla="val 44715"/>
              <a:gd name="adj2" fmla="val -24439"/>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Players shown own and operate their own vessels and charter additional ships </a:t>
            </a:r>
          </a:p>
        </p:txBody>
      </p:sp>
      <p:sp>
        <p:nvSpPr>
          <p:cNvPr id="150" name="Callout:ParticipationRead"/>
          <p:cNvSpPr txBox="1"/>
          <p:nvPr/>
        </p:nvSpPr>
        <p:spPr>
          <a:xfrm>
            <a:off x="8026603" y="3407054"/>
            <a:ext cx="1469441" cy="154534"/>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Entered shipping in ‘24</a:t>
            </a:r>
          </a:p>
        </p:txBody>
      </p:sp>
      <p:sp>
        <p:nvSpPr>
          <p:cNvPr id="151" name="Callout:ParticipationRead"/>
          <p:cNvSpPr txBox="1"/>
          <p:nvPr/>
        </p:nvSpPr>
        <p:spPr>
          <a:xfrm>
            <a:off x="8026603" y="4098341"/>
            <a:ext cx="1469441" cy="153619"/>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Chartering</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itle 4"/>
          <p:cNvSpPr>
            <a:spLocks noGrp="1"/>
          </p:cNvSpPr>
          <p:nvPr>
            <p:ph type="title"/>
          </p:nvPr>
        </p:nvSpPr>
        <p:spPr/>
        <p:txBody>
          <a:bodyPr vert="horz"/>
          <a:lstStyle/>
          <a:p>
            <a:r>
              <a:rPr lang="en-US"/>
              <a:t>Overview</a:t>
            </a:r>
          </a:p>
        </p:txBody>
      </p:sp>
      <p:graphicFrame>
        <p:nvGraphicFramePr>
          <p:cNvPr id="100" name="ContextTable"/>
          <p:cNvGraphicFramePr>
            <a:graphicFrameLocks noGrp="1"/>
          </p:cNvGraphicFramePr>
          <p:nvPr/>
        </p:nvGraphicFramePr>
        <p:xfrm>
          <a:off x="455371" y="1511503"/>
          <a:ext cx="5212080" cy="2824582"/>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F2F2F2"/>
                          </a:solidFill>
                          <a:latin typeface="Arial"/>
                          <a:ea typeface="Arial"/>
                          <a:cs typeface="Arial"/>
                        </a:rPr>
                        <a:t>Context</a:t>
                      </a:r>
                    </a:p>
                  </a:txBody>
                  <a:tcPr marL="45720" marR="45720" marT="45720" marB="45720" anchor="ctr">
                    <a:lnL>
                      <a:noFill/>
                    </a:lnL>
                    <a:lnR>
                      <a:noFill/>
                    </a:lnR>
                    <a:lnT>
                      <a:noFill/>
                    </a:lnT>
                    <a:lnB w="12700" cap="flat" cmpd="sng" algn="ctr">
                      <a:solidFill>
                        <a:srgbClr val="F2F2F2"/>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These materials provide foundational analysis to inform two key decisions:</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Determine where Saronic should play in the maritime value chain</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Understand how Saronic will win</a:t>
                      </a:r>
                    </a:p>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Analysis leverages data providers (S&amp;P, Clarksons), US Government data and publications (EIA, FRED, GAO, MARAD, USACE), market participants (Saronic experts), public filings, published rate / tariff sheets, and other open-source research</a:t>
                      </a:r>
                    </a:p>
                  </a:txBody>
                  <a:tcPr marL="45720" marR="45720" marT="45720" marB="45720" anchor="ctr">
                    <a:lnL>
                      <a:noFill/>
                    </a:lnL>
                    <a:lnR>
                      <a:noFill/>
                    </a:lnR>
                    <a:lnT w="12700" cap="flat" cmpd="sng" algn="ctr">
                      <a:solidFill>
                        <a:srgbClr val="F2F2F2"/>
                      </a:solidFill>
                      <a:prstDash val="solid"/>
                    </a:lnT>
                    <a:lnB>
                      <a:noFill/>
                    </a:lnB>
                    <a:noFill/>
                  </a:tcPr>
                </a:tc>
              </a:tr>
            </a:tbl>
          </a:graphicData>
        </a:graphic>
      </p:graphicFrame>
      <p:graphicFrame>
        <p:nvGraphicFramePr>
          <p:cNvPr id="101" name="ObjectivesTable"/>
          <p:cNvGraphicFramePr>
            <a:graphicFrameLocks noGrp="1"/>
          </p:cNvGraphicFramePr>
          <p:nvPr/>
        </p:nvGraphicFramePr>
        <p:xfrm>
          <a:off x="6409030" y="1511503"/>
          <a:ext cx="5212080" cy="4134917"/>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000000"/>
                          </a:solidFill>
                          <a:latin typeface="Arial"/>
                          <a:ea typeface="Arial"/>
                          <a:cs typeface="Arial"/>
                        </a:rPr>
                        <a:t>Objectives of this document</a:t>
                      </a:r>
                    </a:p>
                  </a:txBody>
                  <a:tcPr marL="45720" marR="45720" marT="45720" marB="45720" anchor="ctr">
                    <a:lnL>
                      <a:noFill/>
                    </a:lnL>
                    <a:lnR>
                      <a:noFill/>
                    </a:lnR>
                    <a:lnT>
                      <a:noFill/>
                    </a:lnT>
                    <a:lnB w="12700" cap="flat" cmpd="sng" algn="ctr">
                      <a:solidFill>
                        <a:srgbClr val="162029"/>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Define the commercial strategy effort, including objectives, key questions, focus areas, and timeline</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Introduce and synthesize current economics for relevant archetypes across the maritime value chain</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Assess US built vessel demand under different industrial policy scenarios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 build cost competitiveness vs. Asian shipyards </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US-flagged and foreign-flagged vessel costs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Project BuildCo (Port Alpha) and OpCo financials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Delineate hypotheses for impact of automation on opex/fuel</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 </a:t>
                      </a:r>
                      <a:r>
                        <a:rPr lang="en-US" sz="1400" dirty="0">
                          <a:solidFill>
                            <a:srgbClr val="000000"/>
                          </a:solidFill>
                          <a:latin typeface="Arial"/>
                          <a:ea typeface="Arial"/>
                          <a:cs typeface="Arial"/>
                        </a:rPr>
                        <a:t>Determine attractive carrier entry points</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Assess attractiveness of alternative service models unlocked by automation</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Project ComboCo financials</a:t>
                      </a:r>
                    </a:p>
                  </a:txBody>
                  <a:tcPr marL="45720" marR="45720" marT="45720" marB="45720" anchor="ctr">
                    <a:lnL>
                      <a:noFill/>
                    </a:lnL>
                    <a:lnR>
                      <a:noFill/>
                    </a:lnR>
                    <a:lnT w="12700" cap="flat" cmpd="sng" algn="ctr">
                      <a:solidFill>
                        <a:srgbClr val="162029"/>
                      </a:solidFill>
                      <a:prstDash val="solid"/>
                    </a:lnT>
                    <a:lnB>
                      <a:noFill/>
                    </a:lnB>
                    <a:noFill/>
                  </a:tcPr>
                </a:tc>
              </a:tr>
            </a:tbl>
          </a:graphicData>
        </a:graphic>
      </p:graphicFrame>
      <p:sp>
        <p:nvSpPr>
          <p:cNvPr id="102" name="PreliminaryBanner"/>
          <p:cNvSpPr txBox="1"/>
          <p:nvPr/>
        </p:nvSpPr>
        <p:spPr>
          <a:xfrm>
            <a:off x="6409030" y="5875020"/>
            <a:ext cx="5212080" cy="482803"/>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i="1" dirty="0">
                <a:solidFill>
                  <a:srgbClr val="000000"/>
                </a:solidFill>
                <a:latin typeface="Arial"/>
                <a:ea typeface="Arial"/>
                <a:cs typeface="Arial"/>
              </a:rPr>
              <a:t>Answers shown are preliminary; fidelity and insights will increase with further analysis, additional data, and expert input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For Reference | Key Terms Glossary.</a:t>
            </a:r>
          </a:p>
        </p:txBody>
      </p:sp>
      <p:graphicFrame>
        <p:nvGraphicFramePr>
          <p:cNvPr id="100" name="IndustrialPolicyGlossary"/>
          <p:cNvGraphicFramePr>
            <a:graphicFrameLocks noGrp="1"/>
          </p:cNvGraphicFramePr>
          <p:nvPr/>
        </p:nvGraphicFramePr>
        <p:xfrm>
          <a:off x="452628" y="1363370"/>
          <a:ext cx="5486400" cy="30175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000000"/>
                          </a:solidFill>
                          <a:latin typeface="Arial"/>
                          <a:ea typeface="Arial"/>
                          <a:cs typeface="Arial"/>
                        </a:rPr>
                        <a:t>Industrial Policy Terms</a:t>
                      </a:r>
                    </a:p>
                  </a:txBody>
                  <a:tcPr marL="45720" marR="45720" marT="45720" marB="45720" anchor="ctr">
                    <a:lnL>
                      <a:noFill/>
                    </a:lnL>
                    <a:lnR>
                      <a:noFill/>
                    </a:lnR>
                    <a:lnT>
                      <a:noFill/>
                    </a:lnT>
                    <a:lnB>
                      <a:noFill/>
                    </a:lnB>
                    <a:solidFill>
                      <a:srgbClr val="D9D9D9"/>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ITC</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Investment Tax Credit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MAP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Action Plan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MSTF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Trust Fund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NDRF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National Defense Reserve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OBBBA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One Big Beautiful Bill Act (Reconciliation)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SCF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Strategic Commercial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TSP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Tanker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USTR</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200" dirty="0">
                          <a:solidFill>
                            <a:srgbClr val="000000"/>
                          </a:solidFill>
                          <a:latin typeface="Arial"/>
                          <a:ea typeface="Arial"/>
                          <a:cs typeface="Arial"/>
                        </a:rPr>
                        <a:t>US Trade Representative</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1" name="MarketTermsGlossary"/>
          <p:cNvGraphicFramePr>
            <a:graphicFrameLocks noGrp="1"/>
          </p:cNvGraphicFramePr>
          <p:nvPr/>
        </p:nvGraphicFramePr>
        <p:xfrm>
          <a:off x="6249924" y="1363370"/>
          <a:ext cx="5486400" cy="3840480"/>
        </p:xfrm>
        <a:graphic>
          <a:graphicData uri="http://schemas.openxmlformats.org/drawingml/2006/table">
            <a:tbl>
              <a:tblPr firstRow="1" firstCol="1" bandRow="0">
                <a:tableStyleId>{2D5ABB26-0587-4C30-8999-92F81FD0307C}</a:tableStyleId>
              </a:tblPr>
              <a:tblGrid>
                <a:gridCol w="1554480"/>
                <a:gridCol w="3931920"/>
              </a:tblGrid>
              <a:tr h="195682">
                <a:tc gridSpan="2">
                  <a:txBody>
                    <a:bodyPr anchor="ctr"/>
                    <a:lstStyle/>
                    <a:p>
                      <a:pPr algn="ctr">
                        <a:lnSpc>
                          <a:spcPct val="100000"/>
                        </a:lnSpc>
                      </a:pPr>
                      <a:r>
                        <a:rPr lang="en-US" sz="1200" b="1" dirty="0">
                          <a:solidFill>
                            <a:srgbClr val="000000"/>
                          </a:solidFill>
                          <a:latin typeface="Arial"/>
                          <a:ea typeface="Arial"/>
                          <a:cs typeface="Arial"/>
                        </a:rPr>
                        <a:t>Market Terms</a:t>
                      </a:r>
                    </a:p>
                  </a:txBody>
                  <a:tcPr marL="45720" marR="45720" marT="45720" marB="45720" anchor="ctr">
                    <a:lnL>
                      <a:noFill/>
                    </a:lnL>
                    <a:lnR>
                      <a:noFill/>
                    </a:lnR>
                    <a:lnT>
                      <a:noFill/>
                    </a:lnT>
                    <a:lnB>
                      <a:noFill/>
                    </a:lnB>
                    <a:solidFill>
                      <a:srgbClr val="BFBFBF"/>
                    </a:solidFill>
                  </a:tcPr>
                </a:tc>
                <a:tc hMerge="1">
                  <a:txBody>
                    <a:bodyPr/>
                    <a:lstStyle/>
                    <a:p>
                      <a:endParaRPr lang="en-US"/>
                    </a:p>
                  </a:txBody>
                  <a:tcPr/>
                </a:tc>
              </a:tr>
              <a:tr h="195682">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CGT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Compensated Gross Ton</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DWT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Deadweight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Forty-Foot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Fast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GT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Gross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OSV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Offshore Support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Platform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Roll-on, Roll-off ship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Twenty-Foot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THC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Terminal Handling Charges </a:t>
                      </a:r>
                      <a:r>
                        <a:rPr lang="en-US" sz="1200" i="1" dirty="0">
                          <a:solidFill>
                            <a:srgbClr val="000000"/>
                          </a:solidFill>
                          <a:latin typeface="Arial"/>
                          <a:ea typeface="Arial"/>
                          <a:cs typeface="Arial"/>
                        </a:rPr>
                        <a:t>(Incl. stevedoring)</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VOCC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Vessel Operating Common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WTI</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000000"/>
                          </a:solidFill>
                          <a:latin typeface="Arial"/>
                          <a:ea typeface="Arial"/>
                          <a:cs typeface="Arial"/>
                        </a:rPr>
                        <a:t>West Texas Intermediate </a:t>
                      </a:r>
                      <a:r>
                        <a:rPr lang="en-US" sz="1200" i="1" dirty="0">
                          <a:solidFill>
                            <a:srgbClr val="000000"/>
                          </a:solidFill>
                          <a:latin typeface="Arial"/>
                          <a:ea typeface="Arial"/>
                          <a:cs typeface="Arial"/>
                        </a:rPr>
                        <a:t>(Crude prices, $ / barrel)</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2" name="AnalysisTermsGlossary"/>
          <p:cNvGraphicFramePr>
            <a:graphicFrameLocks noGrp="1"/>
          </p:cNvGraphicFramePr>
          <p:nvPr/>
        </p:nvGraphicFramePr>
        <p:xfrm>
          <a:off x="452628" y="4573829"/>
          <a:ext cx="5486400" cy="16459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FFFFFF"/>
                          </a:solidFill>
                          <a:latin typeface="Arial"/>
                          <a:ea typeface="Arial"/>
                          <a:cs typeface="Arial"/>
                        </a:rPr>
                        <a:t>Analysis Terms</a:t>
                      </a:r>
                    </a:p>
                  </a:txBody>
                  <a:tcPr marL="45720" marR="45720" marT="45720" marB="45720" anchor="ctr">
                    <a:lnL>
                      <a:noFill/>
                    </a:lnL>
                    <a:lnR>
                      <a:noFill/>
                    </a:lnR>
                    <a:lnT>
                      <a:noFill/>
                    </a:lnT>
                    <a:lnB>
                      <a:noFill/>
                    </a:lnB>
                    <a:solidFill>
                      <a:srgbClr val="447BB2"/>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Term</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Definition</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Reference Vessel</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~900’ 3,600 TEU containership, Panamax size</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BuildCo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Port Alpha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OpCo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Saronic as owner/operator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ComboCo </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BuildCo</a:t>
                      </a:r>
                      <a:r>
                        <a:rPr lang="en-US" sz="1200" dirty="0">
                          <a:solidFill>
                            <a:srgbClr val="162029"/>
                          </a:solidFill>
                          <a:latin typeface="Arial"/>
                          <a:ea typeface="Arial"/>
                          <a:cs typeface="Arial"/>
                        </a:rPr>
                        <a:t> &amp; </a:t>
                      </a:r>
                      <a:r>
                        <a:rPr lang="en-US" sz="1200" dirty="0">
                          <a:solidFill>
                            <a:srgbClr val="162029"/>
                          </a:solidFill>
                          <a:latin typeface="Arial"/>
                          <a:ea typeface="Arial"/>
                          <a:cs typeface="Arial"/>
                        </a:rPr>
                        <a:t>OpCo</a:t>
                      </a:r>
                      <a:r>
                        <a:rPr lang="en-US" sz="1200" dirty="0">
                          <a:solidFill>
                            <a:srgbClr val="162029"/>
                          </a:solidFill>
                          <a:latin typeface="Arial"/>
                          <a:ea typeface="Arial"/>
                          <a:cs typeface="Arial"/>
                        </a:rPr>
                        <a:t> combined (excl. Tech/</a:t>
                      </a:r>
                      <a:r>
                        <a:rPr lang="en-US" sz="1200" dirty="0">
                          <a:solidFill>
                            <a:srgbClr val="162029"/>
                          </a:solidFill>
                          <a:latin typeface="Arial"/>
                          <a:ea typeface="Arial"/>
                          <a:cs typeface="Arial"/>
                        </a:rPr>
                        <a:t>ParentCo</a:t>
                      </a:r>
                      <a:r>
                        <a:rPr lang="en-US" sz="1200" dirty="0">
                          <a:solidFill>
                            <a:srgbClr val="162029"/>
                          </a:solidFill>
                          <a:latin typeface="Arial"/>
                          <a:ea typeface="Arial"/>
                          <a:cs typeface="Arial"/>
                        </a:rPr>
                        <a:t>)</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(1/3) | Demand, build cost, and vessel economics.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FindingsNarrativeTable"/>
          <p:cNvGraphicFramePr>
            <a:graphicFrameLocks noGrp="1"/>
          </p:cNvGraphicFramePr>
          <p:nvPr/>
        </p:nvGraphicFramePr>
        <p:xfrm>
          <a:off x="452628" y="974750"/>
          <a:ext cx="11247120" cy="539496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is the addressable demand for US-built ships?</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We evaluated four scenarios for oceangoing commercial ships assuming Port Alpha buildout to Phase 5: (1) Jones Act status quo, (2) SHIPS Act as written, (3) SHIPS Act “Plus” with key bill revisions and expansion of existing programs, and (4) SHIPS Act “Plus” with Heritage Foundation target fleet; </a:t>
                      </a:r>
                      <a:r>
                        <a:rPr lang="en-US" sz="1200" b="1" dirty="0">
                          <a:solidFill>
                            <a:srgbClr val="000000"/>
                          </a:solidFill>
                          <a:latin typeface="Arial"/>
                          <a:ea typeface="Arial"/>
                          <a:cs typeface="Arial"/>
                        </a:rPr>
                        <a:t>these scenarios suggest path to Port Alpha Phase</a:t>
                      </a:r>
                      <a:r>
                        <a:rPr lang="en-US" sz="1200" b="1" dirty="0">
                          <a:solidFill>
                            <a:srgbClr val="FF0000"/>
                          </a:solidFill>
                          <a:latin typeface="Arial"/>
                          <a:ea typeface="Arial"/>
                          <a:cs typeface="Arial"/>
                        </a:rPr>
                        <a:t> </a:t>
                      </a:r>
                      <a:r>
                        <a:rPr lang="en-US" sz="1200" b="1" dirty="0">
                          <a:solidFill>
                            <a:srgbClr val="162029"/>
                          </a:solidFill>
                          <a:latin typeface="Arial"/>
                          <a:ea typeface="Arial"/>
                          <a:cs typeface="Arial"/>
                        </a:rPr>
                        <a:t>2+</a:t>
                      </a:r>
                      <a:r>
                        <a:rPr lang="en-US" sz="1200" b="1" dirty="0">
                          <a:solidFill>
                            <a:srgbClr val="FF0000"/>
                          </a:solidFill>
                          <a:latin typeface="Arial"/>
                          <a:ea typeface="Arial"/>
                          <a:cs typeface="Arial"/>
                        </a:rPr>
                        <a:t> </a:t>
                      </a:r>
                      <a:r>
                        <a:rPr lang="en-US" sz="1200" b="1" dirty="0">
                          <a:solidFill>
                            <a:srgbClr val="000000"/>
                          </a:solidFill>
                          <a:latin typeface="Arial"/>
                          <a:ea typeface="Arial"/>
                          <a:cs typeface="Arial"/>
                        </a:rPr>
                        <a:t>requires additional demand signals</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does demand imply for Port Alpha’s orderbook?</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’28-’38 demand as percentage of Port Alpha Phase 2 capacity </a:t>
                      </a:r>
                      <a:r>
                        <a:rPr lang="en-US" sz="1200" i="1" dirty="0">
                          <a:solidFill>
                            <a:srgbClr val="000000"/>
                          </a:solidFill>
                          <a:latin typeface="Arial"/>
                          <a:ea typeface="Arial"/>
                          <a:cs typeface="Arial"/>
                        </a:rPr>
                        <a:t>(25 deliveries / year; containerships and tankers) </a:t>
                      </a:r>
                      <a:r>
                        <a:rPr lang="en-US" sz="1200" dirty="0">
                          <a:solidFill>
                            <a:srgbClr val="000000"/>
                          </a:solidFill>
                          <a:latin typeface="Arial"/>
                          <a:ea typeface="Arial"/>
                          <a:cs typeface="Arial"/>
                        </a:rPr>
                        <a:t>by scenario:</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(1) Status Quo accounts for an avg. of ~5% of capacity; </a:t>
                      </a:r>
                      <a:r>
                        <a:rPr lang="en-US" sz="1200" dirty="0">
                          <a:solidFill>
                            <a:srgbClr val="000000"/>
                          </a:solidFill>
                          <a:latin typeface="Arial"/>
                          <a:ea typeface="Arial"/>
                          <a:cs typeface="Arial"/>
                        </a:rPr>
                        <a:t>outlook contingent upon Jones Act fleet recapitalization</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(2) SHIPS Act as written accounts for ~45%;</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requires passage of both SHIPS Act and Building Ships in America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(3) SHIPS Act “Plus”</a:t>
                      </a:r>
                      <a:r>
                        <a:rPr lang="en-US" sz="1200" b="1" dirty="0">
                          <a:solidFill>
                            <a:srgbClr val="000000"/>
                          </a:solidFill>
                          <a:latin typeface="Arial"/>
                          <a:ea typeface="Arial"/>
                          <a:cs typeface="Arial"/>
                        </a:rPr>
                        <a:t>1</a:t>
                      </a:r>
                      <a:r>
                        <a:rPr lang="en-US" sz="1200" b="1" dirty="0">
                          <a:solidFill>
                            <a:srgbClr val="000000"/>
                          </a:solidFill>
                          <a:latin typeface="Arial"/>
                          <a:ea typeface="Arial"/>
                          <a:cs typeface="Arial"/>
                        </a:rPr>
                        <a:t> accounts for ~95%, </a:t>
                      </a:r>
                      <a:r>
                        <a:rPr lang="en-US" sz="1200" dirty="0">
                          <a:solidFill>
                            <a:srgbClr val="000000"/>
                          </a:solidFill>
                          <a:latin typeface="Arial"/>
                          <a:ea typeface="Arial"/>
                          <a:cs typeface="Arial"/>
                        </a:rPr>
                        <a:t>with demand</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declining by the mid-’30s and remaining low through ‘50; requires </a:t>
                      </a:r>
                      <a:r>
                        <a:rPr lang="en-US" sz="1200" b="1" dirty="0">
                          <a:solidFill>
                            <a:srgbClr val="000000"/>
                          </a:solidFill>
                          <a:latin typeface="Arial"/>
                          <a:ea typeface="Arial"/>
                          <a:cs typeface="Arial"/>
                        </a:rPr>
                        <a:t>USG to subsidize full opex and D&amp;A differential </a:t>
                      </a:r>
                      <a:r>
                        <a:rPr lang="en-US" sz="1200" dirty="0">
                          <a:solidFill>
                            <a:srgbClr val="000000"/>
                          </a:solidFill>
                          <a:latin typeface="Arial"/>
                          <a:ea typeface="Arial"/>
                          <a:cs typeface="Arial"/>
                        </a:rPr>
                        <a:t>vs. foreign ships, supported by </a:t>
                      </a:r>
                      <a:r>
                        <a:rPr lang="en-US" sz="1200" b="1" dirty="0">
                          <a:solidFill>
                            <a:srgbClr val="000000"/>
                          </a:solidFill>
                          <a:latin typeface="Arial"/>
                          <a:ea typeface="Arial"/>
                          <a:cs typeface="Arial"/>
                        </a:rPr>
                        <a:t>universal cargo fees </a:t>
                      </a:r>
                      <a:r>
                        <a:rPr lang="en-US" sz="1200" dirty="0">
                          <a:solidFill>
                            <a:srgbClr val="000000"/>
                          </a:solidFill>
                          <a:latin typeface="Arial"/>
                          <a:ea typeface="Arial"/>
                          <a:cs typeface="Arial"/>
                        </a:rPr>
                        <a:t>($0.01+ per kg imported by foreign-built ships) and other revisions to pending legislation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Headwinds are currently impacting the legislative path for the SHIPS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(4) SHIPS Act “Plus” with Heritage accounts for ~230%</a:t>
                      </a:r>
                      <a:r>
                        <a:rPr lang="en-US" sz="1200" dirty="0">
                          <a:solidFill>
                            <a:srgbClr val="000000"/>
                          </a:solidFill>
                          <a:latin typeface="Arial"/>
                          <a:ea typeface="Arial"/>
                          <a:cs typeface="Arial"/>
                        </a:rPr>
                        <a:t>, with demand declining by the early ‘40s and remaining low through 50; </a:t>
                      </a:r>
                      <a:r>
                        <a:rPr lang="en-US" sz="1200" dirty="0">
                          <a:solidFill>
                            <a:srgbClr val="000000"/>
                          </a:solidFill>
                          <a:latin typeface="Arial"/>
                          <a:ea typeface="Arial"/>
                          <a:cs typeface="Arial"/>
                        </a:rPr>
                        <a:t>requires </a:t>
                      </a:r>
                      <a:r>
                        <a:rPr lang="en-US" sz="1200" b="1" dirty="0">
                          <a:solidFill>
                            <a:srgbClr val="000000"/>
                          </a:solidFill>
                          <a:latin typeface="Arial"/>
                          <a:ea typeface="Arial"/>
                          <a:cs typeface="Arial"/>
                        </a:rPr>
                        <a:t>universal cargo fees of $0.07+ </a:t>
                      </a:r>
                      <a:r>
                        <a:rPr lang="en-US" sz="1200" dirty="0">
                          <a:solidFill>
                            <a:srgbClr val="000000"/>
                          </a:solidFill>
                          <a:latin typeface="Arial"/>
                          <a:ea typeface="Arial"/>
                          <a:cs typeface="Arial"/>
                        </a:rPr>
                        <a:t>per kg by 2050 and Maritime Security Trust Fund balance cap increase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Pending legislation supports &lt;20% of Heritage Foundation’s target fleet; funding required likely challenges demand materialization</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are the impacts on US newbuild prices vs. those of major international shipbuilders?</a:t>
                      </a:r>
                      <a:r>
                        <a:rPr lang="en-US" sz="1200" dirty="0">
                          <a:solidFill>
                            <a:srgbClr val="000000"/>
                          </a:solidFill>
                          <a:latin typeface="Arial"/>
                          <a:ea typeface="Arial"/>
                          <a:cs typeface="Arial"/>
                        </a:rPr>
                        <a:t> </a:t>
                      </a:r>
                      <a:r>
                        <a:rPr lang="en-US" sz="1200" dirty="0">
                          <a:solidFill>
                            <a:srgbClr val="000000"/>
                          </a:solidFill>
                          <a:latin typeface="Arial"/>
                          <a:ea typeface="Arial"/>
                          <a:cs typeface="Arial"/>
                        </a:rPr>
                        <a:t>With yard automation, SHIPS Act demand, and vessel investment tax credits, expected </a:t>
                      </a:r>
                      <a:r>
                        <a:rPr lang="en-US" sz="1200" b="1" dirty="0">
                          <a:solidFill>
                            <a:srgbClr val="000000"/>
                          </a:solidFill>
                          <a:latin typeface="Arial"/>
                          <a:ea typeface="Arial"/>
                          <a:cs typeface="Arial"/>
                        </a:rPr>
                        <a:t>Port Alpha newbuild prices remain ~1.4-2.2x above </a:t>
                      </a:r>
                      <a:r>
                        <a:rPr lang="en-US" sz="1200" dirty="0">
                          <a:solidFill>
                            <a:srgbClr val="000000"/>
                          </a:solidFill>
                          <a:latin typeface="Arial"/>
                          <a:ea typeface="Arial"/>
                          <a:cs typeface="Arial"/>
                        </a:rPr>
                        <a:t>those of Asian shipyards, down from ~4-6x today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Government capital subsidies required </a:t>
                      </a:r>
                      <a:r>
                        <a:rPr lang="en-US" sz="1200" dirty="0">
                          <a:solidFill>
                            <a:srgbClr val="000000"/>
                          </a:solidFill>
                          <a:latin typeface="Arial"/>
                          <a:ea typeface="Arial"/>
                          <a:cs typeface="Arial"/>
                        </a:rPr>
                        <a:t>to achieve prices below Asian yards in the </a:t>
                      </a:r>
                      <a:r>
                        <a:rPr lang="en-US" sz="1200" b="1" dirty="0">
                          <a:solidFill>
                            <a:srgbClr val="000000"/>
                          </a:solidFill>
                          <a:latin typeface="Arial"/>
                          <a:ea typeface="Arial"/>
                          <a:cs typeface="Arial"/>
                        </a:rPr>
                        <a:t>absence of vessel ITCs </a:t>
                      </a:r>
                      <a:r>
                        <a:rPr lang="en-US" sz="1200" dirty="0">
                          <a:solidFill>
                            <a:srgbClr val="000000"/>
                          </a:solidFill>
                          <a:latin typeface="Arial"/>
                          <a:ea typeface="Arial"/>
                          <a:cs typeface="Arial"/>
                        </a:rPr>
                        <a:t>(US-flag &amp; foreign trade required for ITC eligibility)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Labor hour reduction and volume discounts primarily drive build price reductions</a:t>
                      </a:r>
                      <a:r>
                        <a:rPr lang="en-US" sz="1200" dirty="0">
                          <a:solidFill>
                            <a:srgbClr val="000000"/>
                          </a:solidFill>
                          <a:latin typeface="Arial"/>
                          <a:ea typeface="Arial"/>
                          <a:cs typeface="Arial"/>
                        </a:rPr>
                        <a:t>; shipyard ITCs may reduce prices by ~0-1% given capex scale and D&amp;A mechanics; however, Shipyard ITCs meaningfully de-risk yard capacity expansion </a:t>
                      </a:r>
                      <a:r>
                        <a:rPr lang="en-US" sz="1200" i="1" dirty="0">
                          <a:solidFill>
                            <a:srgbClr val="000000"/>
                          </a:solidFill>
                          <a:latin typeface="Arial"/>
                          <a:ea typeface="Arial"/>
                          <a:cs typeface="Arial"/>
                        </a:rPr>
                        <a:t>(discussed on subsequent page)</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How do US-flagged vessel economics compare to foreign-flagged today? How do industrial policy and automation change the gap?</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 SHIPS </a:t>
                      </a:r>
                      <a:r>
                        <a:rPr lang="en-US" sz="1200" dirty="0">
                          <a:solidFill>
                            <a:srgbClr val="000000"/>
                          </a:solidFill>
                          <a:latin typeface="Arial"/>
                          <a:ea typeface="Arial"/>
                          <a:cs typeface="Arial"/>
                        </a:rPr>
                        <a:t>Act as written unlikely to make US-built, US-flagged vessels attractive enough to realize full potential of SCF given estimated </a:t>
                      </a:r>
                      <a:r>
                        <a:rPr lang="en-US" sz="1200" dirty="0">
                          <a:solidFill>
                            <a:srgbClr val="000000"/>
                          </a:solidFill>
                          <a:latin typeface="Arial"/>
                          <a:ea typeface="Arial"/>
                          <a:cs typeface="Arial"/>
                        </a:rPr>
                        <a:t>US opex and D&amp;A gap vs. foreign of ~$10M after subsidies and ITCs; (3) SHIPS Act “Plus” may result in US-built and flagged vessels being cheaper to own and operate</a:t>
                      </a:r>
                    </a:p>
                    <a:p>
                      <a:pPr algn="l" lvl="1" marL="339725" indent="-112713">
                        <a:lnSpc>
                          <a:spcPct val="100000"/>
                        </a:lnSpc>
                        <a:spcAft>
                          <a:spcPts val="600"/>
                        </a:spcAft>
                        <a:buFont typeface="Arial" panose="020B0604020202020204" pitchFamily="34" charset="0"/>
                        <a:buChar char="•"/>
                      </a:pPr>
                      <a:r>
                        <a:rPr lang="en-US" sz="1200" dirty="0">
                          <a:solidFill>
                            <a:srgbClr val="000000"/>
                          </a:solidFill>
                          <a:latin typeface="Arial"/>
                          <a:ea typeface="Arial"/>
                          <a:cs typeface="Arial"/>
                        </a:rPr>
                        <a:t>With automation, </a:t>
                      </a:r>
                      <a:r>
                        <a:rPr lang="en-US" sz="1200" dirty="0">
                          <a:solidFill>
                            <a:srgbClr val="000000"/>
                          </a:solidFill>
                          <a:latin typeface="Arial"/>
                          <a:ea typeface="Arial"/>
                          <a:cs typeface="Arial"/>
                        </a:rPr>
                        <a:t>US-flagged opex likely </a:t>
                      </a:r>
                      <a:r>
                        <a:rPr lang="en-US" sz="1200" b="1" dirty="0">
                          <a:solidFill>
                            <a:srgbClr val="000000"/>
                          </a:solidFill>
                          <a:latin typeface="Arial"/>
                          <a:ea typeface="Arial"/>
                          <a:cs typeface="Arial"/>
                        </a:rPr>
                        <a:t>remains more expensive than foreign-flagged </a:t>
                      </a:r>
                      <a:r>
                        <a:rPr lang="en-US" sz="1200" dirty="0">
                          <a:solidFill>
                            <a:srgbClr val="000000"/>
                          </a:solidFill>
                          <a:latin typeface="Arial"/>
                          <a:ea typeface="Arial"/>
                          <a:cs typeface="Arial"/>
                        </a:rPr>
                        <a:t>given new autonomy-related expenses offsetting reduction in other opex categories</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Saronic may see lower opex than other Jones Act players when operating autonomous vessels, with cost advantage driven by vertical integration as ComboCo </a:t>
                      </a:r>
                    </a:p>
                  </a:txBody>
                  <a:tcPr marL="41564" marR="41564" marT="45720" marB="45720" anchor="ctr">
                    <a:lnL>
                      <a:noFill/>
                    </a:lnL>
                    <a:lnR>
                      <a:noFill/>
                    </a:lnR>
                    <a:lnT>
                      <a:noFill/>
                    </a:lnT>
                    <a:lnB>
                      <a:noFill/>
                    </a:lnB>
                    <a:noFill/>
                  </a:tcPr>
                </a:tc>
              </a:tr>
            </a:tbl>
          </a:graphicData>
        </a:graphic>
      </p:graphicFrame>
      <p:sp>
        <p:nvSpPr>
          <p:cNvPr id="101" name="SourceNote"/>
          <p:cNvSpPr txBox="1"/>
          <p:nvPr/>
        </p:nvSpPr>
        <p:spPr>
          <a:xfrm>
            <a:off x="452628" y="6402629"/>
            <a:ext cx="4278478" cy="274320"/>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Refer to pg. 12 for full description of modifications to SHIPS Act and other relevant USG programs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(2/3) | ComboCo financial outlook.</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FinancialOutlookTable"/>
          <p:cNvGraphicFramePr>
            <a:graphicFrameLocks noGrp="1"/>
          </p:cNvGraphicFramePr>
          <p:nvPr/>
        </p:nvGraphicFramePr>
        <p:xfrm>
          <a:off x="452628" y="974750"/>
          <a:ext cx="11247120" cy="544068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8600" indent="-228600">
                        <a:lnSpc>
                          <a:spcPct val="100000"/>
                        </a:lnSpc>
                        <a:spcBef>
                          <a:spcPts val="300"/>
                        </a:spcBef>
                        <a:spcAft>
                          <a:spcPts val="300"/>
                        </a:spcAft>
                        <a:buAutoNum type="arabicPeriod"/>
                      </a:pPr>
                      <a:r>
                        <a:rPr lang="en-US" sz="1200" b="1" i="1" u="sng" dirty="0">
                          <a:solidFill>
                            <a:srgbClr val="1D4D68"/>
                          </a:solidFill>
                          <a:latin typeface="Arial"/>
                          <a:ea typeface="Arial"/>
                          <a:cs typeface="Arial"/>
                        </a:rPr>
                        <a:t>What do these findings imply for ComboCo financials?</a:t>
                      </a:r>
                      <a:r>
                        <a:rPr lang="en-US" sz="1200" i="1" dirty="0">
                          <a:solidFill>
                            <a:srgbClr val="000000"/>
                          </a:solidFill>
                          <a:latin typeface="Arial"/>
                          <a:ea typeface="Arial"/>
                          <a:cs typeface="Arial"/>
                        </a:rPr>
                        <a:t> </a:t>
                      </a:r>
                      <a:r>
                        <a:rPr lang="en-US" sz="1200" b="1" dirty="0">
                          <a:solidFill>
                            <a:srgbClr val="000000"/>
                          </a:solidFill>
                          <a:latin typeface="Arial"/>
                          <a:ea typeface="Arial"/>
                          <a:cs typeface="Arial"/>
                        </a:rPr>
                        <a:t>Projections were created from 2026-2038 </a:t>
                      </a:r>
                      <a:r>
                        <a:rPr lang="en-US" sz="1200" dirty="0">
                          <a:solidFill>
                            <a:srgbClr val="000000"/>
                          </a:solidFill>
                          <a:latin typeface="Arial"/>
                          <a:ea typeface="Arial"/>
                          <a:cs typeface="Arial"/>
                        </a:rPr>
                        <a:t>after alignment with </a:t>
                      </a:r>
                      <a:r>
                        <a:rPr lang="en-US" sz="1200" dirty="0">
                          <a:solidFill>
                            <a:srgbClr val="000000"/>
                          </a:solidFill>
                          <a:latin typeface="Arial"/>
                          <a:ea typeface="Arial"/>
                          <a:cs typeface="Arial"/>
                        </a:rPr>
                        <a:t>Finance and Port Alpha teams on starting assumptions (i.e., initial sale price, labor hours, CAPEX, vessel profiles)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BuildCo (i.e., Saronic):</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Port Alpha build-out modeled to Phase 2 for $3.5B total CAPEX</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Two ships were modelled </a:t>
                      </a:r>
                      <a:r>
                        <a:rPr lang="en-US" sz="1200" dirty="0">
                          <a:solidFill>
                            <a:srgbClr val="000000"/>
                          </a:solidFill>
                          <a:latin typeface="Arial"/>
                          <a:ea typeface="Arial"/>
                          <a:cs typeface="Arial"/>
                        </a:rPr>
                        <a:t>– a Panamax containership and an Aframax / Suezmax Tanker; a</a:t>
                      </a:r>
                      <a:r>
                        <a:rPr lang="en-US" sz="1200" dirty="0">
                          <a:solidFill>
                            <a:srgbClr val="000000"/>
                          </a:solidFill>
                          <a:latin typeface="Arial"/>
                          <a:ea typeface="Arial"/>
                          <a:cs typeface="Arial"/>
                        </a:rPr>
                        <a:t>ssumes</a:t>
                      </a:r>
                      <a:r>
                        <a:rPr lang="en-US" sz="1200" b="1" dirty="0">
                          <a:solidFill>
                            <a:srgbClr val="000000"/>
                          </a:solidFill>
                          <a:latin typeface="Arial"/>
                          <a:ea typeface="Arial"/>
                          <a:cs typeface="Arial"/>
                        </a:rPr>
                        <a:t> 182 containerships and 39 tankers </a:t>
                      </a:r>
                      <a:r>
                        <a:rPr lang="en-US" sz="1200" dirty="0">
                          <a:solidFill>
                            <a:srgbClr val="000000"/>
                          </a:solidFill>
                          <a:latin typeface="Arial"/>
                          <a:ea typeface="Arial"/>
                          <a:cs typeface="Arial"/>
                        </a:rPr>
                        <a:t>are delivered during this period; n</a:t>
                      </a:r>
                      <a:r>
                        <a:rPr lang="en-US" sz="1200" dirty="0">
                          <a:solidFill>
                            <a:srgbClr val="000000"/>
                          </a:solidFill>
                          <a:latin typeface="Arial"/>
                          <a:ea typeface="Arial"/>
                          <a:cs typeface="Arial"/>
                        </a:rPr>
                        <a:t>umber of deliveries were based off (</a:t>
                      </a:r>
                      <a:r>
                        <a:rPr lang="en-US" sz="1200" dirty="0">
                          <a:solidFill>
                            <a:srgbClr val="000000"/>
                          </a:solidFill>
                          <a:latin typeface="Arial"/>
                          <a:ea typeface="Arial"/>
                          <a:cs typeface="Arial"/>
                        </a:rPr>
                        <a:t>i</a:t>
                      </a:r>
                      <a:r>
                        <a:rPr lang="en-US" sz="1200" dirty="0">
                          <a:solidFill>
                            <a:srgbClr val="000000"/>
                          </a:solidFill>
                          <a:latin typeface="Arial"/>
                          <a:ea typeface="Arial"/>
                          <a:cs typeface="Arial"/>
                        </a:rPr>
                        <a:t>) SHIPS Act “Plus” and (ii) Port Alpha capacity (25 deliveries / year)</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Gross Margins set at 44% in 2028, declining to ~40% by 2038</a:t>
                      </a:r>
                      <a:r>
                        <a:rPr lang="en-US" sz="1200" dirty="0">
                          <a:solidFill>
                            <a:srgbClr val="000000"/>
                          </a:solidFill>
                          <a:latin typeface="Arial"/>
                          <a:ea typeface="Arial"/>
                          <a:cs typeface="Arial"/>
                        </a:rPr>
                        <a:t> given increased domestic competition; overall domestic prices supported by USG subsidies for vessel owners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margins vary, largely staying within 5-10% range in 2032+</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Shipyard ITCs soften impact of capex on FCF in early years, while also reducing outside capital needs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OpCo (Saronic as owner/operator):</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a:t>
                      </a:r>
                      <a:r>
                        <a:rPr lang="en-US" sz="1200" dirty="0">
                          <a:solidFill>
                            <a:srgbClr val="000000"/>
                          </a:solidFill>
                          <a:latin typeface="Arial"/>
                          <a:ea typeface="Arial"/>
                          <a:cs typeface="Arial"/>
                        </a:rPr>
                        <a:t>urchases </a:t>
                      </a:r>
                      <a:r>
                        <a:rPr lang="en-US" sz="1200" b="1" dirty="0">
                          <a:solidFill>
                            <a:srgbClr val="000000"/>
                          </a:solidFill>
                          <a:latin typeface="Arial"/>
                          <a:ea typeface="Arial"/>
                          <a:cs typeface="Arial"/>
                        </a:rPr>
                        <a:t>25 total container ships for $4.2B </a:t>
                      </a:r>
                      <a:r>
                        <a:rPr lang="en-US" sz="1200" dirty="0">
                          <a:solidFill>
                            <a:srgbClr val="000000"/>
                          </a:solidFill>
                          <a:latin typeface="Arial"/>
                          <a:ea typeface="Arial"/>
                          <a:cs typeface="Arial"/>
                        </a:rPr>
                        <a:t>in ‘33 and ‘34 that enter service the following year in the Strategic Commercial Fleet, operating on US Atlantic / Gulf Coast &lt;&gt; Europe / S. America routes </a:t>
                      </a:r>
                      <a:r>
                        <a:rPr lang="en-US" sz="1200" i="1" dirty="0">
                          <a:solidFill>
                            <a:srgbClr val="000000"/>
                          </a:solidFill>
                          <a:latin typeface="Arial"/>
                          <a:ea typeface="Arial"/>
                          <a:cs typeface="Arial"/>
                        </a:rPr>
                        <a:t>(to consider Jones Act Marine Highway / OCONUS in future efforts)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Service starts in 2034, which softens cash outlay frequency; </a:t>
                      </a:r>
                      <a:r>
                        <a:rPr lang="en-US" sz="1200" dirty="0">
                          <a:solidFill>
                            <a:srgbClr val="000000"/>
                          </a:solidFill>
                          <a:latin typeface="Arial"/>
                          <a:ea typeface="Arial"/>
                          <a:cs typeface="Arial"/>
                        </a:rPr>
                        <a:t>earlier service start would require more equity financing and prevents potentially antagonistic messaging of immediate competition with BuildCo customers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BuildCo sells vessels to OpCo under favorable pricing (10% gross margin)</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EBIT margins (inclusive of operating and capital subsidies) of ~25%</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ComboCo (BuildCo + OpCo)</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Financing: </a:t>
                      </a:r>
                      <a:r>
                        <a:rPr lang="en-US" sz="1200" dirty="0">
                          <a:solidFill>
                            <a:srgbClr val="000000"/>
                          </a:solidFill>
                          <a:latin typeface="Arial"/>
                          <a:ea typeface="Arial"/>
                          <a:cs typeface="Arial"/>
                        </a:rPr>
                        <a:t>$2.8B OSC Loan / $500M Revolver / $2.25B in Equity + $500M in Cash; assumes only BuildCo qualifies for shipyard ITCs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 reach 12-14% </a:t>
                      </a:r>
                      <a:r>
                        <a:rPr lang="en-US" sz="1200" dirty="0">
                          <a:solidFill>
                            <a:srgbClr val="000000"/>
                          </a:solidFill>
                          <a:latin typeface="Arial"/>
                          <a:ea typeface="Arial"/>
                          <a:cs typeface="Arial"/>
                        </a:rPr>
                        <a:t>in the 2030s, in between traditional shipbuilders (~4-6%) and ship owners (15-20%)</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Consistent Cash Flow positive in 2034 onwards </a:t>
                      </a:r>
                      <a:r>
                        <a:rPr lang="en-US" sz="1200" dirty="0">
                          <a:solidFill>
                            <a:srgbClr val="000000"/>
                          </a:solidFill>
                          <a:latin typeface="Arial"/>
                          <a:ea typeface="Arial"/>
                          <a:cs typeface="Arial"/>
                        </a:rPr>
                        <a:t>after conclusion of BuildCo capex and OpCo vessel procurement</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FCF NPV of (~$2.5B); primarily driven by frontloaded CAPEX timing, intersegment transfers, and absence of vessel ITCs </a:t>
                      </a:r>
                      <a:r>
                        <a:rPr lang="en-US" sz="1200" i="1" dirty="0">
                          <a:solidFill>
                            <a:srgbClr val="000000"/>
                          </a:solidFill>
                          <a:latin typeface="Arial"/>
                          <a:ea typeface="Arial"/>
                          <a:cs typeface="Arial"/>
                        </a:rPr>
                        <a:t>(given current bill language)</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Preliminary analysis suggests key determinants of Saronic’s commercial market success include pursuing new business models enabled by autonomy (i.e., marine highway), competing in Jones Act, developing incremental revenue streams (e.g., selling marine / cargo data), and ensuring ComboCo vessel ITC eligibility</a:t>
                      </a:r>
                    </a:p>
                  </a:txBody>
                  <a:tcPr marL="41564" marR="41564" marT="45720" marB="45720" anchor="ctr">
                    <a:lnL>
                      <a:noFill/>
                    </a:lnL>
                    <a:lnR>
                      <a:noFill/>
                    </a:lnR>
                    <a:lnT>
                      <a:noFill/>
                    </a:lnT>
                    <a:lnB>
                      <a:noFill/>
                    </a:lnB>
                    <a:noFill/>
                  </a:tcPr>
                </a:tc>
              </a:tr>
            </a:tbl>
          </a:graphicData>
        </a:graphic>
      </p:graphicFrame>
      <p:sp>
        <p:nvSpPr>
          <p:cNvPr id="101" name="ContingenciesCallout"/>
          <p:cNvSpPr txBox="1"/>
          <p:nvPr/>
        </p:nvSpPr>
        <p:spPr>
          <a:xfrm>
            <a:off x="7256678" y="3844138"/>
            <a:ext cx="4283964" cy="834847"/>
          </a:xfrm>
          <a:prstGeom prst="rect">
            <a:avLst/>
          </a:prstGeom>
          <a:solidFill>
            <a:srgbClr val="CEDDEC"/>
          </a:solidFill>
          <a:ln w="12700">
            <a:solidFill>
              <a:srgbClr val="162029"/>
            </a:solidFill>
            <a:prstDash val="dash"/>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Results detailed contingent 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Implementation of proposed legislation, subsidies, tax credits &amp; additional future policy action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High degree of automation and efficiency at Port Alpha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(3/3) | What must be true to succeed (commercial oceangoing focus).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MarketConditionsMatrix"/>
          <p:cNvGraphicFramePr>
            <a:graphicFrameLocks noGrp="1"/>
          </p:cNvGraphicFramePr>
          <p:nvPr/>
        </p:nvGraphicFramePr>
        <p:xfrm>
          <a:off x="451714" y="1367028"/>
          <a:ext cx="11247120" cy="4572000"/>
        </p:xfrm>
        <a:graphic>
          <a:graphicData uri="http://schemas.openxmlformats.org/drawingml/2006/table">
            <a:tbl>
              <a:tblPr firstRow="1" firstCol="1" bandRow="0">
                <a:tableStyleId>{2D5ABB26-0587-4C30-8999-92F81FD0307C}</a:tableStyleId>
              </a:tblPr>
              <a:tblGrid>
                <a:gridCol w="189281"/>
                <a:gridCol w="735178"/>
                <a:gridCol w="2580437"/>
                <a:gridCol w="2580437"/>
                <a:gridCol w="2580437"/>
                <a:gridCol w="2580437"/>
              </a:tblGrid>
              <a:tr h="0">
                <a:tc gridSpan="2">
                  <a:txBody>
                    <a:bodyPr anchor="t"/>
                    <a:lstStyle/>
                    <a:p>
                      <a:pPr algn="r">
                        <a:lnSpc>
                          <a:spcPct val="100000"/>
                        </a:lnSpc>
                      </a:pPr>
                      <a:r>
                        <a:rPr lang="en-US" sz="1000" i="1" dirty="0">
                          <a:solidFill>
                            <a:srgbClr val="000000"/>
                          </a:solidFill>
                          <a:latin typeface="Arial"/>
                          <a:ea typeface="Arial"/>
                          <a:cs typeface="Arial"/>
                        </a:rPr>
                        <a:t>Market:</a:t>
                      </a:r>
                    </a:p>
                  </a:txBody>
                  <a:tcPr marL="45720" marR="45720" marT="45720" marB="45720" anchor="t">
                    <a:lnL>
                      <a:noFill/>
                    </a:lnL>
                    <a:lnR>
                      <a:noFill/>
                    </a:lnR>
                    <a:lnT>
                      <a:noFill/>
                    </a:lnT>
                    <a:lnB>
                      <a:noFill/>
                    </a:lnB>
                    <a:noFill/>
                  </a:tcPr>
                </a:tc>
                <a:tc hMerge="1">
                  <a:txBody>
                    <a:bodyPr/>
                    <a:lstStyle/>
                    <a:p>
                      <a:endParaRPr lang="en-US"/>
                    </a:p>
                  </a:txBody>
                  <a:tcPr/>
                </a:tc>
                <a:tc>
                  <a:txBody>
                    <a:bodyPr anchor="b"/>
                    <a:lstStyle/>
                    <a:p>
                      <a:pPr algn="ctr">
                        <a:lnSpc>
                          <a:spcPct val="100000"/>
                        </a:lnSpc>
                      </a:pPr>
                      <a:r>
                        <a:rPr lang="en-US" sz="1000" b="1" dirty="0">
                          <a:solidFill>
                            <a:srgbClr val="000000"/>
                          </a:solidFill>
                          <a:latin typeface="Arial"/>
                          <a:ea typeface="Arial"/>
                          <a:cs typeface="Arial"/>
                        </a:rPr>
                        <a:t>1. Marine Highway</a:t>
                      </a:r>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solidFill>
                      <a:srgbClr val="CEDDEC"/>
                    </a:solidFill>
                  </a:tcPr>
                </a:tc>
                <a:tc>
                  <a:txBody>
                    <a:bodyPr anchor="b"/>
                    <a:lstStyle/>
                    <a:p>
                      <a:pPr algn="ctr">
                        <a:lnSpc>
                          <a:spcPct val="100000"/>
                        </a:lnSpc>
                      </a:pPr>
                      <a:r>
                        <a:rPr lang="en-US" sz="1000" b="1" dirty="0">
                          <a:solidFill>
                            <a:srgbClr val="000000"/>
                          </a:solidFill>
                          <a:latin typeface="Arial"/>
                          <a:ea typeface="Arial"/>
                          <a:cs typeface="Arial"/>
                        </a:rPr>
                        <a:t>2. Existing Jones Act Routes</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99B9D8"/>
                    </a:solidFill>
                  </a:tcPr>
                </a:tc>
                <a:tc>
                  <a:txBody>
                    <a:bodyPr anchor="b"/>
                    <a:lstStyle/>
                    <a:p>
                      <a:pPr algn="ctr" marL="0" indent="0">
                        <a:lnSpc>
                          <a:spcPct val="100000"/>
                        </a:lnSpc>
                      </a:pPr>
                      <a:r>
                        <a:rPr lang="en-US" sz="1000" b="1" dirty="0">
                          <a:solidFill>
                            <a:srgbClr val="F2F2F2"/>
                          </a:solidFill>
                          <a:latin typeface="Arial"/>
                          <a:ea typeface="Arial"/>
                          <a:cs typeface="Arial"/>
                        </a:rPr>
                        <a:t>3. US-Built &amp; Flagged International Trade</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447BB2"/>
                    </a:solidFill>
                  </a:tcPr>
                </a:tc>
                <a:tc>
                  <a:txBody>
                    <a:bodyPr anchor="b"/>
                    <a:lstStyle/>
                    <a:p>
                      <a:pPr algn="ctr" marL="0" indent="0">
                        <a:lnSpc>
                          <a:spcPct val="100000"/>
                        </a:lnSpc>
                      </a:pPr>
                      <a:r>
                        <a:rPr lang="en-US" sz="1000" b="1" dirty="0">
                          <a:solidFill>
                            <a:srgbClr val="F2F2F2"/>
                          </a:solidFill>
                          <a:latin typeface="Arial"/>
                          <a:ea typeface="Arial"/>
                          <a:cs typeface="Arial"/>
                        </a:rPr>
                        <a:t>4. Foreign-Flagged International Trade</a:t>
                      </a:r>
                    </a:p>
                  </a:txBody>
                  <a:tcPr marL="45720" marR="45720" marT="45720" marB="45720" anchor="b">
                    <a:lnL w="12700" cap="flat" cmpd="sng" algn="ctr">
                      <a:solidFill>
                        <a:srgbClr val="FFFFFF"/>
                      </a:solidFill>
                      <a:prstDash val="solid"/>
                    </a:lnL>
                    <a:lnR>
                      <a:noFill/>
                    </a:lnR>
                    <a:lnT>
                      <a:noFill/>
                    </a:lnT>
                    <a:lnB w="12700" cap="flat" cmpd="sng" algn="ctr">
                      <a:solidFill>
                        <a:srgbClr val="FFFFFF"/>
                      </a:solidFill>
                      <a:prstDash val="solid"/>
                    </a:lnB>
                    <a:solidFill>
                      <a:srgbClr val="223E59"/>
                    </a:solidFill>
                  </a:tcPr>
                </a:tc>
              </a:tr>
              <a:tr h="0">
                <a:tc gridSpan="2">
                  <a:txBody>
                    <a:bodyPr anchor="t"/>
                    <a:lstStyle/>
                    <a:p>
                      <a:pPr algn="r">
                        <a:lnSpc>
                          <a:spcPct val="100000"/>
                        </a:lnSpc>
                      </a:pPr>
                      <a:r>
                        <a:rPr lang="en-US" sz="1000" i="1" dirty="0">
                          <a:solidFill>
                            <a:srgbClr val="000000"/>
                          </a:solidFill>
                          <a:latin typeface="Arial"/>
                          <a:ea typeface="Arial"/>
                          <a:cs typeface="Arial"/>
                        </a:rPr>
                        <a:t>Description:</a:t>
                      </a:r>
                    </a:p>
                  </a:txBody>
                  <a:tcPr marL="45720" marR="45720" marT="45720" marB="45720" anchor="t">
                    <a:lnL>
                      <a:noFill/>
                    </a:lnL>
                    <a:lnR>
                      <a:noFill/>
                    </a:lnR>
                    <a:lnT>
                      <a:noFill/>
                    </a:lnT>
                    <a:lnB w="12700" cap="flat" cmpd="sng" algn="ctr">
                      <a:solidFill>
                        <a:srgbClr val="000000"/>
                      </a:solidFill>
                      <a:prstDash val="solid"/>
                    </a:lnB>
                    <a:noFill/>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Displaces domestic truck / rail</a:t>
                      </a:r>
                    </a:p>
                  </a:txBody>
                  <a:tcPr marL="45720" marR="45720" marT="45720" marB="45720" anchor="ctr">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CEDDEC"/>
                    </a:solidFill>
                  </a:tcPr>
                </a:tc>
                <a:tc>
                  <a:txBody>
                    <a:bodyPr anchor="ctr"/>
                    <a:lstStyle/>
                    <a:p>
                      <a:pPr algn="ctr">
                        <a:lnSpc>
                          <a:spcPct val="100000"/>
                        </a:lnSpc>
                      </a:pPr>
                      <a:r>
                        <a:rPr lang="en-US" sz="1000" i="1" dirty="0">
                          <a:solidFill>
                            <a:srgbClr val="000000"/>
                          </a:solidFill>
                          <a:latin typeface="Arial"/>
                          <a:ea typeface="Arial"/>
                          <a:cs typeface="Arial"/>
                        </a:rPr>
                        <a:t>Current OCONUS routes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99B9D8"/>
                    </a:solidFill>
                  </a:tcPr>
                </a:tc>
                <a:tc>
                  <a:txBody>
                    <a:bodyPr anchor="ctr"/>
                    <a:lstStyle/>
                    <a:p>
                      <a:pPr algn="ctr" marL="0" indent="0">
                        <a:lnSpc>
                          <a:spcPct val="100000"/>
                        </a:lnSpc>
                      </a:pPr>
                      <a:r>
                        <a:rPr lang="en-US" sz="1000" i="1" dirty="0">
                          <a:solidFill>
                            <a:srgbClr val="FFFFFF"/>
                          </a:solidFill>
                          <a:latin typeface="Arial"/>
                          <a:ea typeface="Arial"/>
                          <a:cs typeface="Arial"/>
                        </a:rPr>
                        <a:t>SCF &amp; other USG programs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447BB2"/>
                    </a:solidFill>
                  </a:tcPr>
                </a:tc>
                <a:tc>
                  <a:txBody>
                    <a:bodyPr anchor="ctr"/>
                    <a:lstStyle/>
                    <a:p>
                      <a:pPr algn="ctr" marL="0" indent="0">
                        <a:lnSpc>
                          <a:spcPct val="100000"/>
                        </a:lnSpc>
                      </a:pPr>
                      <a:r>
                        <a:rPr lang="en-US" sz="1000" i="1" dirty="0">
                          <a:solidFill>
                            <a:srgbClr val="F2F2F2"/>
                          </a:solidFill>
                          <a:latin typeface="Arial"/>
                          <a:ea typeface="Arial"/>
                          <a:cs typeface="Arial"/>
                        </a:rPr>
                        <a:t>Ex-SCF foreign trade</a:t>
                      </a:r>
                    </a:p>
                  </a:txBody>
                  <a:tcPr marL="45720" marR="45720" marT="45720" marB="45720" anchor="ctr">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000000"/>
                      </a:solidFill>
                      <a:prstDash val="solid"/>
                    </a:lnB>
                    <a:solidFill>
                      <a:srgbClr val="223E59"/>
                    </a:solidFill>
                  </a:tcPr>
                </a:tc>
              </a:tr>
              <a:tr h="0">
                <a:tc gridSpan="2">
                  <a:txBody>
                    <a:bodyPr anchor="ctr"/>
                    <a:lstStyle/>
                    <a:p>
                      <a:pPr algn="l" marL="0" indent="0">
                        <a:lnSpc>
                          <a:spcPct val="100000"/>
                        </a:lnSpc>
                      </a:pPr>
                      <a:r>
                        <a:rPr lang="en-US" sz="1000" b="1" dirty="0">
                          <a:solidFill>
                            <a:srgbClr val="000000"/>
                          </a:solidFill>
                          <a:latin typeface="Arial"/>
                          <a:ea typeface="Arial"/>
                          <a:cs typeface="Arial"/>
                        </a:rPr>
                        <a:t>All Vessels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gridSpan="3">
                  <a:txBody>
                    <a:bodyPr anchor="ctr"/>
                    <a:lstStyle/>
                    <a:p>
                      <a:pPr algn="ctr" marL="0" indent="0">
                        <a:lnSpc>
                          <a:spcPct val="100000"/>
                        </a:lnSpc>
                      </a:pPr>
                      <a:r>
                        <a:rPr lang="en-US" sz="1000" dirty="0">
                          <a:solidFill>
                            <a:srgbClr val="000000"/>
                          </a:solidFill>
                          <a:latin typeface="Arial"/>
                          <a:ea typeface="Arial"/>
                          <a:cs typeface="Arial"/>
                        </a:rPr>
                        <a:t>Port Alpha drives 30-40%+ lower newbuild costs vs. US-based incumbents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PA prices challenge competitiveness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2F2F2"/>
                    </a:solidFill>
                  </a:tcPr>
                </a:tc>
              </a:tr>
              <a:tr h="571500">
                <a:tc rowSpan="2">
                  <a:txBody>
                    <a:bodyPr anchor="ctr"/>
                    <a:lstStyle/>
                    <a:p>
                      <a:pPr algn="ctr" marL="0" indent="0">
                        <a:lnSpc>
                          <a:spcPct val="100000"/>
                        </a:lnSpc>
                      </a:pPr>
                      <a:r>
                        <a:rPr lang="en-US" sz="1000" b="1" dirty="0">
                          <a:solidFill>
                            <a:srgbClr val="000000"/>
                          </a:solidFill>
                          <a:latin typeface="Arial"/>
                          <a:ea typeface="Arial"/>
                          <a:cs typeface="Arial"/>
                        </a:rPr>
                        <a:t>Container</a:t>
                      </a:r>
                    </a:p>
                  </a:txBody>
                  <a:tcPr marL="45720" marR="45720" marT="45720" marB="45720" anchor="ctr" vert="vert270">
                    <a:lnL>
                      <a:noFill/>
                    </a:lnL>
                    <a:lnR>
                      <a:noFill/>
                    </a:lnR>
                    <a:lnT w="6350" cap="flat" cmpd="sng" algn="ctr">
                      <a:solidFill>
                        <a:srgbClr val="808080"/>
                      </a:solidFill>
                      <a:prstDash val="solid"/>
                    </a:lnT>
                    <a:lnB w="6350" cap="flat" cmpd="sng" algn="ctr">
                      <a:solidFill>
                        <a:srgbClr val="808080"/>
                      </a:solidFill>
                      <a:prstDash val="solid"/>
                    </a:lnB>
                    <a:solidFill>
                      <a:srgbClr val="BFBFBF"/>
                    </a:solidFill>
                  </a:tcPr>
                </a:tc>
                <a:tc>
                  <a:txBody>
                    <a:bodyPr anchor="ctr"/>
                    <a:lstStyle/>
                    <a:p>
                      <a:pPr algn="l" marL="0" indent="0">
                        <a:lnSpc>
                          <a:spcPct val="100000"/>
                        </a:lnSpc>
                      </a:pPr>
                      <a:r>
                        <a:rPr lang="en-US" sz="1000" b="1" dirty="0">
                          <a:solidFill>
                            <a:srgbClr val="000000"/>
                          </a:solidFill>
                          <a:latin typeface="Arial"/>
                          <a:ea typeface="Arial"/>
                          <a:cs typeface="Arial"/>
                        </a:rPr>
                        <a:t>350’ Feeder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Jones Act remains in place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Regulatory environment supports autonomy</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Vessel ITC eligibility extends to domestic</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Marine transport achieves lower end-to-end costs vs. onshore modes</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Terminal access ensures requisite service level (e.g., rapid turns for fast deliveries)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3">
                  <a:txBody>
                    <a:bodyPr anchor="ctr"/>
                    <a:lstStyle/>
                    <a:p>
                      <a:pPr algn="ctr" lvl="2" marL="112713" indent="0">
                        <a:lnSpc>
                          <a:spcPct val="100000"/>
                        </a:lnSpc>
                      </a:pPr>
                      <a:r>
                        <a:rPr lang="en-US" sz="1000" i="1" dirty="0">
                          <a:solidFill>
                            <a:srgbClr val="000000"/>
                          </a:solidFill>
                          <a:latin typeface="Arial"/>
                          <a:ea typeface="Arial"/>
                          <a:cs typeface="Arial"/>
                        </a:rPr>
                        <a:t>Size limits TEU capacity, challenging competitiveness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2F2F2"/>
                    </a:solidFill>
                  </a:tcPr>
                </a:tc>
                <a:tc hMerge="1">
                  <a:txBody>
                    <a:bodyPr/>
                    <a:lstStyle/>
                    <a:p>
                      <a:endParaRPr lang="en-US"/>
                    </a:p>
                  </a:txBody>
                  <a:tcPr/>
                </a:tc>
                <a:tc hMerge="1">
                  <a:txBody>
                    <a:bodyPr/>
                    <a:lstStyle/>
                    <a:p>
                      <a:endParaRPr lang="en-US"/>
                    </a:p>
                  </a:txBody>
                  <a:tcPr/>
                </a:tc>
              </a:tr>
              <a:tr h="128016">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900’ Panamax</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ctr" marL="0" indent="0">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solidFill>
                      <a:srgbClr val="F2F2F2"/>
                    </a:solidFill>
                  </a:tcPr>
                </a:tc>
                <a:tc>
                  <a:txBody>
                    <a:bodyPr anchor="ctr"/>
                    <a:lstStyle/>
                    <a:p>
                      <a:pPr algn="ctr" marL="0" indent="0">
                        <a:lnSpc>
                          <a:spcPct val="100000"/>
                        </a:lnSpc>
                      </a:pPr>
                      <a:r>
                        <a:rPr lang="en-US" sz="1000" dirty="0">
                          <a:solidFill>
                            <a:srgbClr val="162029"/>
                          </a:solidFill>
                          <a:latin typeface="Arial"/>
                          <a:ea typeface="Arial"/>
                          <a:cs typeface="Arial"/>
                        </a:rPr>
                        <a:t>Same considerations as 350’ Maritime Highway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t"/>
                    <a:lstStyle/>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SHIPS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Universal fee imposed on all cargo imported by foreign-built ships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Building Ships in America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ITC eligibility increases beyond ‘32 </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Tanker Security Program expands: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Fleet cap increases to 30 vessels with US-built requirement</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txBody>
                  <a:tcPr marL="45720" marR="45720" marT="45720" marB="45720" anchor="t">
                    <a:lnL>
                      <a:noFill/>
                    </a:lnL>
                    <a:lnR>
                      <a:noFill/>
                    </a:lnR>
                    <a:lnT w="6350" cap="flat" cmpd="sng" algn="ctr">
                      <a:solidFill>
                        <a:srgbClr val="808080"/>
                      </a:solidFill>
                      <a:prstDash val="solid"/>
                    </a:lnT>
                    <a:lnB>
                      <a:noFill/>
                    </a:lnB>
                    <a:noFill/>
                  </a:tcPr>
                </a:tc>
                <a:tc rowSpan="3">
                  <a:txBody>
                    <a:bodyPr anchor="t"/>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ROK / Japan yards build vessels </a:t>
                      </a:r>
                      <a:r>
                        <a:rPr lang="en-US" sz="1000" i="1" dirty="0">
                          <a:solidFill>
                            <a:srgbClr val="000000"/>
                          </a:solidFill>
                          <a:latin typeface="Arial"/>
                          <a:ea typeface="Arial"/>
                          <a:cs typeface="Arial"/>
                        </a:rPr>
                        <a:t>(to confirm price)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txBody>
                  <a:tcPr marL="45720" marR="45720" marT="45720" marB="45720" anchor="t">
                    <a:lnL>
                      <a:noFill/>
                    </a:lnL>
                    <a:lnR>
                      <a:noFill/>
                    </a:lnR>
                    <a:lnT w="6350" cap="flat" cmpd="sng" algn="ctr">
                      <a:solidFill>
                        <a:srgbClr val="808080"/>
                      </a:solidFill>
                      <a:prstDash val="solid"/>
                    </a:lnT>
                    <a:lnB>
                      <a:noFill/>
                    </a:lnB>
                    <a:noFill/>
                  </a:tcPr>
                </a:tc>
              </a:tr>
              <a:tr h="0">
                <a:tc rowSpan="2">
                  <a:txBody>
                    <a:bodyPr anchor="ctr"/>
                    <a:lstStyle/>
                    <a:p>
                      <a:pPr algn="ctr" marL="0" indent="0">
                        <a:lnSpc>
                          <a:spcPct val="100000"/>
                        </a:lnSpc>
                      </a:pPr>
                      <a:r>
                        <a:rPr lang="en-US" sz="1000" b="1" dirty="0">
                          <a:solidFill>
                            <a:srgbClr val="FFFFFF"/>
                          </a:solidFill>
                          <a:latin typeface="Arial"/>
                          <a:ea typeface="Arial"/>
                          <a:cs typeface="Arial"/>
                        </a:rPr>
                        <a:t>Tanker</a:t>
                      </a:r>
                    </a:p>
                  </a:txBody>
                  <a:tcPr marL="45720" marR="45720" marT="45720" marB="45720" anchor="ctr" vert="vert270">
                    <a:lnL>
                      <a:noFill/>
                    </a:lnL>
                    <a:lnR>
                      <a:noFill/>
                    </a:lnR>
                    <a:lnT w="6350" cap="flat" cmpd="sng" algn="ctr">
                      <a:solidFill>
                        <a:srgbClr val="808080"/>
                      </a:solidFill>
                      <a:prstDash val="solid"/>
                    </a:lnT>
                    <a:lnB>
                      <a:noFill/>
                    </a:lnB>
                    <a:solidFill>
                      <a:srgbClr val="808080"/>
                    </a:solidFill>
                  </a:tcPr>
                </a:tc>
                <a:tc>
                  <a:txBody>
                    <a:bodyPr anchor="ctr"/>
                    <a:lstStyle/>
                    <a:p>
                      <a:pPr algn="l" marL="0" indent="0">
                        <a:lnSpc>
                          <a:spcPct val="100000"/>
                        </a:lnSpc>
                      </a:pPr>
                      <a:r>
                        <a:rPr lang="en-US" sz="1000" b="1" dirty="0">
                          <a:solidFill>
                            <a:srgbClr val="000000"/>
                          </a:solidFill>
                          <a:latin typeface="Arial"/>
                          <a:ea typeface="Arial"/>
                          <a:cs typeface="Arial"/>
                        </a:rPr>
                        <a:t>Product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vMerge="1">
                  <a:txBody>
                    <a:bodyPr/>
                    <a:lstStyle/>
                    <a:p>
                      <a:endParaRPr lang="en-US"/>
                    </a:p>
                  </a:txBody>
                  <a:tcPr/>
                </a:tc>
                <a:tc rowSpan="2">
                  <a:txBody>
                    <a:bodyPr anchor="ctr"/>
                    <a:lstStyle/>
                    <a:p>
                      <a:pPr algn="ctr" marL="0" indent="0">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solidFill>
                      <a:srgbClr val="F2F2F2"/>
                    </a:solidFill>
                  </a:tcPr>
                </a:tc>
                <a:tc vMerge="1">
                  <a:txBody>
                    <a:bodyPr/>
                    <a:lstStyle/>
                    <a:p>
                      <a:endParaRPr lang="en-US"/>
                    </a:p>
                  </a:txBody>
                  <a:tcPr/>
                </a:tc>
                <a:tc vMerge="1">
                  <a:txBody>
                    <a:bodyPr/>
                    <a:lstStyle/>
                    <a:p>
                      <a:endParaRPr lang="en-US"/>
                    </a:p>
                  </a:txBody>
                  <a:tcPr/>
                </a:tc>
              </a:tr>
              <a:tr h="758952">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Crude</a:t>
                      </a:r>
                    </a:p>
                  </a:txBody>
                  <a:tcPr marL="45720" marR="45720" marT="45720" marB="45720" anchor="ctr">
                    <a:lnL>
                      <a:noFill/>
                    </a:lnL>
                    <a:lnR>
                      <a:noFill/>
                    </a:lnR>
                    <a:lnT w="6350" cap="flat" cmpd="sng" algn="ctr">
                      <a:solidFill>
                        <a:srgbClr val="808080"/>
                      </a:solidFill>
                      <a:prstDash val="solid"/>
                    </a:lnT>
                    <a:lnB>
                      <a:noFill/>
                    </a:lnB>
                    <a:noFill/>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tr>
            </a:tbl>
          </a:graphicData>
        </a:graphic>
      </p:graphicFrame>
      <p:sp>
        <p:nvSpPr>
          <p:cNvPr id="101" name="AddressabilityNote"/>
          <p:cNvSpPr txBox="1"/>
          <p:nvPr/>
        </p:nvSpPr>
        <p:spPr>
          <a:xfrm>
            <a:off x="2814523" y="4976165"/>
            <a:ext cx="2845613" cy="245974"/>
          </a:xfrm>
          <a:prstGeom prst="rect">
            <a:avLst/>
          </a:prstGeom>
          <a:noFill/>
          <a:ln>
            <a:noFill/>
          </a:ln>
        </p:spPr>
        <p:txBody>
          <a:bodyPr wrap="square" anchor="t" lIns="91440" tIns="45720" rIns="91440" bIns="45720"/>
          <a:lstStyle/>
          <a:p>
            <a:pPr algn="ctr" marL="0" indent="0">
              <a:lnSpc>
                <a:spcPct val="100000"/>
              </a:lnSpc>
              <a:buNone/>
            </a:pPr>
            <a:r>
              <a:rPr lang="en-US" sz="1000" i="1" dirty="0">
                <a:solidFill>
                  <a:srgbClr val="162029"/>
                </a:solidFill>
                <a:latin typeface="Arial"/>
                <a:ea typeface="Arial"/>
                <a:cs typeface="Arial"/>
              </a:rPr>
              <a:t>To determine market addressability</a:t>
            </a:r>
          </a:p>
        </p:txBody>
      </p:sp>
      <p:sp>
        <p:nvSpPr>
          <p:cNvPr id="102" name="FurtherAnalysisCallout"/>
          <p:cNvSpPr txBox="1"/>
          <p:nvPr/>
        </p:nvSpPr>
        <p:spPr>
          <a:xfrm>
            <a:off x="6531559" y="3497580"/>
            <a:ext cx="2564892" cy="2441448"/>
          </a:xfrm>
          <a:prstGeom prst="rect">
            <a:avLst/>
          </a:prstGeom>
          <a:noFill/>
          <a:ln w="12700">
            <a:solidFill>
              <a:srgbClr val="00000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Further analysis required to determine attractiveness for OpCo</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(3/3) | Shipbuilder margin profile holds across geographies and vessel types.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SourceNote"/>
          <p:cNvSpPr txBox="1"/>
          <p:nvPr/>
        </p:nvSpPr>
        <p:spPr>
          <a:xfrm>
            <a:off x="452628" y="6406286"/>
            <a:ext cx="4665269" cy="319126"/>
          </a:xfrm>
          <a:prstGeom prst="rect">
            <a:avLst/>
          </a:prstGeom>
          <a:noFill/>
          <a:ln>
            <a:noFill/>
          </a:ln>
        </p:spPr>
        <p:txBody>
          <a:bodyPr wrap="square" anchor="ctr" lIns="91440" tIns="45720" rIns="91440" bIns="45720"/>
          <a:lstStyle/>
          <a:p>
            <a:pPr>
              <a:lnSpc>
                <a:spcPct val="100000"/>
              </a:lnSpc>
              <a:buNone/>
            </a:pPr>
            <a:r>
              <a:rPr lang="en-US" sz="800" dirty="0">
                <a:solidFill>
                  <a:srgbClr val="000000"/>
                </a:solidFill>
                <a:latin typeface="Arial"/>
                <a:ea typeface="Arial"/>
                <a:cs typeface="Arial"/>
              </a:rPr>
              <a:t>Source: Company filings</a:t>
            </a:r>
          </a:p>
        </p:txBody>
      </p:sp>
      <p:graphicFrame>
        <p:nvGraphicFramePr>
          <p:cNvPr id="101" name="Chart"/>
          <p:cNvGraphicFramePr/>
          <p:nvPr/>
        </p:nvGraphicFramePr>
        <p:xfrm>
          <a:off x="776326" y="4946904"/>
          <a:ext cx="11263579" cy="107442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2" name="Chart"/>
          <p:cNvGraphicFramePr/>
          <p:nvPr/>
        </p:nvGraphicFramePr>
        <p:xfrm>
          <a:off x="776326" y="4003243"/>
          <a:ext cx="11263579" cy="10744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3" name="Chart"/>
          <p:cNvGraphicFramePr/>
          <p:nvPr/>
        </p:nvGraphicFramePr>
        <p:xfrm>
          <a:off x="776326" y="3060497"/>
          <a:ext cx="11263579" cy="107442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04" name="Chart"/>
          <p:cNvGraphicFramePr/>
          <p:nvPr/>
        </p:nvGraphicFramePr>
        <p:xfrm>
          <a:off x="776326" y="2117750"/>
          <a:ext cx="11263579" cy="107442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05" name="Chart"/>
          <p:cNvGraphicFramePr/>
          <p:nvPr/>
        </p:nvGraphicFramePr>
        <p:xfrm>
          <a:off x="776326" y="1175004"/>
          <a:ext cx="11263579" cy="1074420"/>
        </p:xfrm>
        <a:graphic>
          <a:graphicData uri="http://schemas.openxmlformats.org/drawingml/2006/chart">
            <c:chart xmlns:c="http://schemas.openxmlformats.org/drawingml/2006/chart" xmlns:r="http://schemas.openxmlformats.org/officeDocument/2006/relationships" r:id="rId6"/>
          </a:graphicData>
        </a:graphic>
      </p:graphicFrame>
      <p:cxnSp>
        <p:nvCxnSpPr>
          <p:cNvPr id="106" name="PanelBaseline_2024"/>
          <p:cNvCxnSpPr/>
          <p:nvPr/>
        </p:nvCxnSpPr>
        <p:spPr>
          <a:xfrm>
            <a:off x="858622" y="1848002"/>
            <a:ext cx="10819181" cy="0"/>
          </a:xfrm>
          <a:prstGeom prst="line">
            <a:avLst/>
          </a:prstGeom>
          <a:ln w="9525">
            <a:solidFill>
              <a:srgbClr val="162029"/>
            </a:solidFill>
            <a:prstDash val="lgDash"/>
          </a:ln>
        </p:spPr>
      </p:cxnSp>
      <p:cxnSp>
        <p:nvCxnSpPr>
          <p:cNvPr id="107" name="PanelBaseline_2023"/>
          <p:cNvCxnSpPr/>
          <p:nvPr/>
        </p:nvCxnSpPr>
        <p:spPr>
          <a:xfrm>
            <a:off x="858622" y="2790749"/>
            <a:ext cx="10819181" cy="0"/>
          </a:xfrm>
          <a:prstGeom prst="line">
            <a:avLst/>
          </a:prstGeom>
          <a:ln w="9525">
            <a:solidFill>
              <a:srgbClr val="162029"/>
            </a:solidFill>
            <a:prstDash val="lgDash"/>
          </a:ln>
        </p:spPr>
      </p:cxnSp>
      <p:cxnSp>
        <p:nvCxnSpPr>
          <p:cNvPr id="108" name="PanelBaseline_2022_Left"/>
          <p:cNvCxnSpPr/>
          <p:nvPr/>
        </p:nvCxnSpPr>
        <p:spPr>
          <a:xfrm>
            <a:off x="858622" y="3733495"/>
            <a:ext cx="936346" cy="0"/>
          </a:xfrm>
          <a:prstGeom prst="line">
            <a:avLst/>
          </a:prstGeom>
          <a:ln w="9525">
            <a:solidFill>
              <a:srgbClr val="162029"/>
            </a:solidFill>
            <a:prstDash val="lgDash"/>
          </a:ln>
        </p:spPr>
      </p:cxnSp>
      <p:cxnSp>
        <p:nvCxnSpPr>
          <p:cNvPr id="109" name="PanelBaseline_2022_Mid"/>
          <p:cNvCxnSpPr/>
          <p:nvPr/>
        </p:nvCxnSpPr>
        <p:spPr>
          <a:xfrm>
            <a:off x="2084832" y="3733495"/>
            <a:ext cx="4821631" cy="0"/>
          </a:xfrm>
          <a:prstGeom prst="line">
            <a:avLst/>
          </a:prstGeom>
          <a:ln w="9525">
            <a:solidFill>
              <a:srgbClr val="162029"/>
            </a:solidFill>
            <a:prstDash val="lgDash"/>
          </a:ln>
        </p:spPr>
      </p:cxnSp>
      <p:cxnSp>
        <p:nvCxnSpPr>
          <p:cNvPr id="110" name="PanelBaseline_2022_Right"/>
          <p:cNvCxnSpPr/>
          <p:nvPr/>
        </p:nvCxnSpPr>
        <p:spPr>
          <a:xfrm>
            <a:off x="7071055" y="3733495"/>
            <a:ext cx="4606747" cy="0"/>
          </a:xfrm>
          <a:prstGeom prst="line">
            <a:avLst/>
          </a:prstGeom>
          <a:ln w="9525">
            <a:solidFill>
              <a:srgbClr val="162029"/>
            </a:solidFill>
            <a:prstDash val="lgDash"/>
          </a:ln>
        </p:spPr>
      </p:cxnSp>
      <p:cxnSp>
        <p:nvCxnSpPr>
          <p:cNvPr id="111" name="PanelBaseline_2021_Left"/>
          <p:cNvCxnSpPr/>
          <p:nvPr/>
        </p:nvCxnSpPr>
        <p:spPr>
          <a:xfrm>
            <a:off x="858622" y="4677156"/>
            <a:ext cx="936346" cy="0"/>
          </a:xfrm>
          <a:prstGeom prst="line">
            <a:avLst/>
          </a:prstGeom>
          <a:ln w="9525">
            <a:solidFill>
              <a:srgbClr val="162029"/>
            </a:solidFill>
            <a:prstDash val="lgDash"/>
          </a:ln>
        </p:spPr>
      </p:cxnSp>
      <p:cxnSp>
        <p:nvCxnSpPr>
          <p:cNvPr id="112" name="PanelBaseline_2021_Mid"/>
          <p:cNvCxnSpPr/>
          <p:nvPr/>
        </p:nvCxnSpPr>
        <p:spPr>
          <a:xfrm>
            <a:off x="2084832" y="4677156"/>
            <a:ext cx="4821631" cy="0"/>
          </a:xfrm>
          <a:prstGeom prst="line">
            <a:avLst/>
          </a:prstGeom>
          <a:ln w="9525">
            <a:solidFill>
              <a:srgbClr val="162029"/>
            </a:solidFill>
            <a:prstDash val="lgDash"/>
          </a:ln>
        </p:spPr>
      </p:cxnSp>
      <p:cxnSp>
        <p:nvCxnSpPr>
          <p:cNvPr id="113" name="PanelBaseline_2021_Right"/>
          <p:cNvCxnSpPr/>
          <p:nvPr/>
        </p:nvCxnSpPr>
        <p:spPr>
          <a:xfrm>
            <a:off x="7071055" y="4677156"/>
            <a:ext cx="4606747" cy="0"/>
          </a:xfrm>
          <a:prstGeom prst="line">
            <a:avLst/>
          </a:prstGeom>
          <a:ln w="9525">
            <a:solidFill>
              <a:srgbClr val="162029"/>
            </a:solidFill>
            <a:prstDash val="lgDash"/>
          </a:ln>
        </p:spPr>
      </p:cxnSp>
      <p:cxnSp>
        <p:nvCxnSpPr>
          <p:cNvPr id="114" name="PanelDivider_2021"/>
          <p:cNvCxnSpPr/>
          <p:nvPr/>
        </p:nvCxnSpPr>
        <p:spPr>
          <a:xfrm>
            <a:off x="1940357" y="4759452"/>
            <a:ext cx="0" cy="2743"/>
          </a:xfrm>
          <a:prstGeom prst="line">
            <a:avLst/>
          </a:prstGeom>
          <a:ln w="6350">
            <a:solidFill>
              <a:srgbClr val="44505C"/>
            </a:solidFill>
          </a:ln>
        </p:spPr>
      </p:cxnSp>
      <p:cxnSp>
        <p:nvCxnSpPr>
          <p:cNvPr id="115" name="PanelBaseline_2020"/>
          <p:cNvCxnSpPr/>
          <p:nvPr/>
        </p:nvCxnSpPr>
        <p:spPr>
          <a:xfrm>
            <a:off x="858622" y="5619902"/>
            <a:ext cx="10819181" cy="0"/>
          </a:xfrm>
          <a:prstGeom prst="line">
            <a:avLst/>
          </a:prstGeom>
          <a:ln w="9525">
            <a:solidFill>
              <a:srgbClr val="162029"/>
            </a:solidFill>
            <a:prstDash val="lgDash"/>
          </a:ln>
        </p:spPr>
      </p:cxnSp>
      <p:sp>
        <p:nvSpPr>
          <p:cNvPr id="116" name="RevenueAxisTick"/>
          <p:cNvSpPr txBox="1"/>
          <p:nvPr/>
        </p:nvSpPr>
        <p:spPr>
          <a:xfrm>
            <a:off x="735178" y="58320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17" name="RevenueAxisTick"/>
          <p:cNvSpPr txBox="1"/>
          <p:nvPr/>
        </p:nvSpPr>
        <p:spPr>
          <a:xfrm>
            <a:off x="677570" y="56281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18" name="RevenueAxisTick"/>
          <p:cNvSpPr txBox="1"/>
          <p:nvPr/>
        </p:nvSpPr>
        <p:spPr>
          <a:xfrm>
            <a:off x="677570" y="54233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19" name="RevenueAxisTick"/>
          <p:cNvSpPr txBox="1"/>
          <p:nvPr/>
        </p:nvSpPr>
        <p:spPr>
          <a:xfrm>
            <a:off x="677570" y="52184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0" name="RevenueAxisTick"/>
          <p:cNvSpPr txBox="1"/>
          <p:nvPr/>
        </p:nvSpPr>
        <p:spPr>
          <a:xfrm>
            <a:off x="677570" y="50136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21" name="RevenueAxisTick"/>
          <p:cNvSpPr txBox="1"/>
          <p:nvPr/>
        </p:nvSpPr>
        <p:spPr>
          <a:xfrm>
            <a:off x="677570" y="468447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22" name="RevenueAxisTick"/>
          <p:cNvSpPr txBox="1"/>
          <p:nvPr/>
        </p:nvSpPr>
        <p:spPr>
          <a:xfrm>
            <a:off x="677570" y="447964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23" name="RevenueAxisTick"/>
          <p:cNvSpPr txBox="1"/>
          <p:nvPr/>
        </p:nvSpPr>
        <p:spPr>
          <a:xfrm>
            <a:off x="677570" y="4274820"/>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4" name="RevenueAxisTick"/>
          <p:cNvSpPr txBox="1"/>
          <p:nvPr/>
        </p:nvSpPr>
        <p:spPr>
          <a:xfrm>
            <a:off x="677570" y="406999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25" name="RevenueAxisTick"/>
          <p:cNvSpPr txBox="1"/>
          <p:nvPr/>
        </p:nvSpPr>
        <p:spPr>
          <a:xfrm>
            <a:off x="735178" y="4889297"/>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26" name="RevenueAxisTick"/>
          <p:cNvSpPr txBox="1"/>
          <p:nvPr/>
        </p:nvSpPr>
        <p:spPr>
          <a:xfrm>
            <a:off x="677570" y="374172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27" name="RevenueAxisTick"/>
          <p:cNvSpPr txBox="1"/>
          <p:nvPr/>
        </p:nvSpPr>
        <p:spPr>
          <a:xfrm>
            <a:off x="677570" y="3536899"/>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28" name="RevenueAxisTick"/>
          <p:cNvSpPr txBox="1"/>
          <p:nvPr/>
        </p:nvSpPr>
        <p:spPr>
          <a:xfrm>
            <a:off x="677570" y="333207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9" name="RevenueAxisTick"/>
          <p:cNvSpPr txBox="1"/>
          <p:nvPr/>
        </p:nvSpPr>
        <p:spPr>
          <a:xfrm>
            <a:off x="677570" y="312724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30" name="RevenueAxisTick"/>
          <p:cNvSpPr txBox="1"/>
          <p:nvPr/>
        </p:nvSpPr>
        <p:spPr>
          <a:xfrm>
            <a:off x="735178" y="3946550"/>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31" name="RevenueAxisTick"/>
          <p:cNvSpPr txBox="1"/>
          <p:nvPr/>
        </p:nvSpPr>
        <p:spPr>
          <a:xfrm>
            <a:off x="677570" y="279897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32" name="RevenueAxisTick"/>
          <p:cNvSpPr txBox="1"/>
          <p:nvPr/>
        </p:nvSpPr>
        <p:spPr>
          <a:xfrm>
            <a:off x="677570" y="2594153"/>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33" name="RevenueAxisTick"/>
          <p:cNvSpPr txBox="1"/>
          <p:nvPr/>
        </p:nvSpPr>
        <p:spPr>
          <a:xfrm>
            <a:off x="677570" y="2389327"/>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34" name="RevenueAxisTick"/>
          <p:cNvSpPr txBox="1"/>
          <p:nvPr/>
        </p:nvSpPr>
        <p:spPr>
          <a:xfrm>
            <a:off x="677570" y="218450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35" name="RevenueAxisTick"/>
          <p:cNvSpPr txBox="1"/>
          <p:nvPr/>
        </p:nvSpPr>
        <p:spPr>
          <a:xfrm>
            <a:off x="735178" y="3003804"/>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36" name="RevenueAxisTick"/>
          <p:cNvSpPr txBox="1"/>
          <p:nvPr/>
        </p:nvSpPr>
        <p:spPr>
          <a:xfrm>
            <a:off x="677570" y="18562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37" name="RevenueAxisTick"/>
          <p:cNvSpPr txBox="1"/>
          <p:nvPr/>
        </p:nvSpPr>
        <p:spPr>
          <a:xfrm>
            <a:off x="677570" y="16514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38" name="RevenueAxisTick"/>
          <p:cNvSpPr txBox="1"/>
          <p:nvPr/>
        </p:nvSpPr>
        <p:spPr>
          <a:xfrm>
            <a:off x="677570" y="14465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39" name="RevenueAxisTick"/>
          <p:cNvSpPr txBox="1"/>
          <p:nvPr/>
        </p:nvSpPr>
        <p:spPr>
          <a:xfrm>
            <a:off x="677570" y="12417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40" name="RevenueAxisTick"/>
          <p:cNvSpPr txBox="1"/>
          <p:nvPr/>
        </p:nvSpPr>
        <p:spPr>
          <a:xfrm>
            <a:off x="735178" y="20601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41" name="CompanyTickLabel"/>
          <p:cNvSpPr txBox="1"/>
          <p:nvPr/>
        </p:nvSpPr>
        <p:spPr>
          <a:xfrm>
            <a:off x="1069848" y="5984748"/>
            <a:ext cx="29718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Austal</a:t>
            </a:r>
          </a:p>
        </p:txBody>
      </p:sp>
      <p:sp>
        <p:nvSpPr>
          <p:cNvPr id="142" name="CompanyTickLabel"/>
          <p:cNvSpPr txBox="1"/>
          <p:nvPr/>
        </p:nvSpPr>
        <p:spPr>
          <a:xfrm>
            <a:off x="1580998" y="5984748"/>
            <a:ext cx="717804"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Hanwha Ocean</a:t>
            </a:r>
          </a:p>
        </p:txBody>
      </p:sp>
      <p:sp>
        <p:nvSpPr>
          <p:cNvPr id="143" name="CompanyTickLabel"/>
          <p:cNvSpPr txBox="1"/>
          <p:nvPr/>
        </p:nvSpPr>
        <p:spPr>
          <a:xfrm>
            <a:off x="2419502" y="5984748"/>
            <a:ext cx="48280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Fincantieri</a:t>
            </a:r>
          </a:p>
        </p:txBody>
      </p:sp>
      <p:sp>
        <p:nvSpPr>
          <p:cNvPr id="144" name="CompanyTickLabel"/>
          <p:cNvSpPr txBox="1"/>
          <p:nvPr/>
        </p:nvSpPr>
        <p:spPr>
          <a:xfrm>
            <a:off x="4532681" y="5984748"/>
            <a:ext cx="58430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Matson (OT)</a:t>
            </a:r>
          </a:p>
        </p:txBody>
      </p:sp>
      <p:sp>
        <p:nvSpPr>
          <p:cNvPr id="145" name="CompanyTickLabel"/>
          <p:cNvSpPr txBox="1"/>
          <p:nvPr/>
        </p:nvSpPr>
        <p:spPr>
          <a:xfrm>
            <a:off x="5451653" y="5984748"/>
            <a:ext cx="18745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ZIM</a:t>
            </a:r>
          </a:p>
        </p:txBody>
      </p:sp>
      <p:sp>
        <p:nvSpPr>
          <p:cNvPr id="146" name="CompanyTickLabel"/>
          <p:cNvSpPr txBox="1"/>
          <p:nvPr/>
        </p:nvSpPr>
        <p:spPr>
          <a:xfrm>
            <a:off x="5973775" y="5984748"/>
            <a:ext cx="5870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Hapag Lloyd</a:t>
            </a:r>
          </a:p>
        </p:txBody>
      </p:sp>
      <p:sp>
        <p:nvSpPr>
          <p:cNvPr id="147" name="CompanyTickLabel"/>
          <p:cNvSpPr txBox="1"/>
          <p:nvPr/>
        </p:nvSpPr>
        <p:spPr>
          <a:xfrm>
            <a:off x="6697980" y="5984748"/>
            <a:ext cx="58247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Maersk (OT)</a:t>
            </a:r>
          </a:p>
        </p:txBody>
      </p:sp>
      <p:sp>
        <p:nvSpPr>
          <p:cNvPr id="148" name="CompanyTickLabel"/>
          <p:cNvSpPr txBox="1"/>
          <p:nvPr/>
        </p:nvSpPr>
        <p:spPr>
          <a:xfrm>
            <a:off x="7526426" y="5984748"/>
            <a:ext cx="364846"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Danaos</a:t>
            </a:r>
          </a:p>
        </p:txBody>
      </p:sp>
      <p:sp>
        <p:nvSpPr>
          <p:cNvPr id="149" name="CompanyTickLabel"/>
          <p:cNvSpPr txBox="1"/>
          <p:nvPr/>
        </p:nvSpPr>
        <p:spPr>
          <a:xfrm>
            <a:off x="8175650" y="5984748"/>
            <a:ext cx="5111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Costamare</a:t>
            </a:r>
          </a:p>
        </p:txBody>
      </p:sp>
      <p:sp>
        <p:nvSpPr>
          <p:cNvPr id="150" name="CompanyTickLabel"/>
          <p:cNvSpPr txBox="1"/>
          <p:nvPr/>
        </p:nvSpPr>
        <p:spPr>
          <a:xfrm>
            <a:off x="8943746" y="5984748"/>
            <a:ext cx="417881"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Seaspan</a:t>
            </a:r>
          </a:p>
        </p:txBody>
      </p:sp>
      <p:sp>
        <p:nvSpPr>
          <p:cNvPr id="151" name="CompanyTickLabel"/>
          <p:cNvSpPr txBox="1"/>
          <p:nvPr/>
        </p:nvSpPr>
        <p:spPr>
          <a:xfrm>
            <a:off x="10450678" y="5984748"/>
            <a:ext cx="2889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HPHT</a:t>
            </a:r>
          </a:p>
        </p:txBody>
      </p:sp>
      <p:sp>
        <p:nvSpPr>
          <p:cNvPr id="152" name="CompanyTickLabel"/>
          <p:cNvSpPr txBox="1"/>
          <p:nvPr/>
        </p:nvSpPr>
        <p:spPr>
          <a:xfrm>
            <a:off x="11193170" y="5984748"/>
            <a:ext cx="2441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ICTS</a:t>
            </a:r>
          </a:p>
        </p:txBody>
      </p:sp>
      <p:sp>
        <p:nvSpPr>
          <p:cNvPr id="153" name="CompanyTickLabel"/>
          <p:cNvSpPr txBox="1"/>
          <p:nvPr/>
        </p:nvSpPr>
        <p:spPr>
          <a:xfrm>
            <a:off x="3100730" y="5984748"/>
            <a:ext cx="562356"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HD Hyundai KSOE</a:t>
            </a:r>
          </a:p>
        </p:txBody>
      </p:sp>
      <p:sp>
        <p:nvSpPr>
          <p:cNvPr id="154" name="CompanyTickLabel"/>
          <p:cNvSpPr txBox="1"/>
          <p:nvPr/>
        </p:nvSpPr>
        <p:spPr>
          <a:xfrm>
            <a:off x="3881628" y="5984748"/>
            <a:ext cx="444398"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Samsung Heavy</a:t>
            </a:r>
          </a:p>
        </p:txBody>
      </p:sp>
      <p:sp>
        <p:nvSpPr>
          <p:cNvPr id="155" name="CompanyTickLabel"/>
          <p:cNvSpPr txBox="1"/>
          <p:nvPr/>
        </p:nvSpPr>
        <p:spPr>
          <a:xfrm>
            <a:off x="9610344" y="5984748"/>
            <a:ext cx="525780"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Maersk (Terminals)</a:t>
            </a:r>
          </a:p>
        </p:txBody>
      </p:sp>
      <p:sp>
        <p:nvSpPr>
          <p:cNvPr id="156" name="MarginPointLabel"/>
          <p:cNvSpPr txBox="1"/>
          <p:nvPr/>
        </p:nvSpPr>
        <p:spPr>
          <a:xfrm>
            <a:off x="1852574" y="53547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157" name="MarginPointLabel"/>
          <p:cNvSpPr txBox="1"/>
          <p:nvPr/>
        </p:nvSpPr>
        <p:spPr>
          <a:xfrm>
            <a:off x="2574950" y="53528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58" name="MarginPointLabel"/>
          <p:cNvSpPr txBox="1"/>
          <p:nvPr/>
        </p:nvSpPr>
        <p:spPr>
          <a:xfrm>
            <a:off x="3998671" y="5410505"/>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159" name="MarginPointLabel"/>
          <p:cNvSpPr txBox="1"/>
          <p:nvPr/>
        </p:nvSpPr>
        <p:spPr>
          <a:xfrm>
            <a:off x="471007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160" name="MarginPointLabel"/>
          <p:cNvSpPr txBox="1"/>
          <p:nvPr/>
        </p:nvSpPr>
        <p:spPr>
          <a:xfrm>
            <a:off x="5430622" y="526694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161" name="MarginPointLabel"/>
          <p:cNvSpPr txBox="1"/>
          <p:nvPr/>
        </p:nvSpPr>
        <p:spPr>
          <a:xfrm>
            <a:off x="6151169" y="53117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10%</a:t>
            </a:r>
          </a:p>
        </p:txBody>
      </p:sp>
      <p:sp>
        <p:nvSpPr>
          <p:cNvPr id="162" name="MarginPointLabel"/>
          <p:cNvSpPr txBox="1"/>
          <p:nvPr/>
        </p:nvSpPr>
        <p:spPr>
          <a:xfrm>
            <a:off x="6873545" y="5307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11%</a:t>
            </a:r>
          </a:p>
        </p:txBody>
      </p:sp>
      <p:sp>
        <p:nvSpPr>
          <p:cNvPr id="163" name="MarginPointLabel"/>
          <p:cNvSpPr txBox="1"/>
          <p:nvPr/>
        </p:nvSpPr>
        <p:spPr>
          <a:xfrm>
            <a:off x="7595006" y="513069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164" name="MarginPointLabel"/>
          <p:cNvSpPr txBox="1"/>
          <p:nvPr/>
        </p:nvSpPr>
        <p:spPr>
          <a:xfrm>
            <a:off x="831555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165" name="MarginPointLabel"/>
          <p:cNvSpPr txBox="1"/>
          <p:nvPr/>
        </p:nvSpPr>
        <p:spPr>
          <a:xfrm>
            <a:off x="9037930" y="51352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166" name="MarginPointLabel"/>
          <p:cNvSpPr txBox="1"/>
          <p:nvPr/>
        </p:nvSpPr>
        <p:spPr>
          <a:xfrm>
            <a:off x="1132027" y="533095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167" name="MarginPointLabel"/>
          <p:cNvSpPr txBox="1"/>
          <p:nvPr/>
        </p:nvSpPr>
        <p:spPr>
          <a:xfrm>
            <a:off x="9758477" y="51947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32%</a:t>
            </a:r>
          </a:p>
        </p:txBody>
      </p:sp>
      <p:sp>
        <p:nvSpPr>
          <p:cNvPr id="168" name="MarginPointLabel"/>
          <p:cNvSpPr txBox="1"/>
          <p:nvPr/>
        </p:nvSpPr>
        <p:spPr>
          <a:xfrm>
            <a:off x="10479024" y="51883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169" name="MarginPointLabel"/>
          <p:cNvSpPr txBox="1"/>
          <p:nvPr/>
        </p:nvSpPr>
        <p:spPr>
          <a:xfrm>
            <a:off x="11201400" y="51325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170" name="MarginPointLabel"/>
          <p:cNvSpPr txBox="1"/>
          <p:nvPr/>
        </p:nvSpPr>
        <p:spPr>
          <a:xfrm>
            <a:off x="1132027" y="438180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171" name="MarginPointLabel"/>
          <p:cNvSpPr txBox="1"/>
          <p:nvPr/>
        </p:nvSpPr>
        <p:spPr>
          <a:xfrm>
            <a:off x="1806854" y="463692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-39%</a:t>
            </a:r>
          </a:p>
        </p:txBody>
      </p:sp>
      <p:sp>
        <p:nvSpPr>
          <p:cNvPr id="172" name="MarginPointLabel"/>
          <p:cNvSpPr txBox="1"/>
          <p:nvPr/>
        </p:nvSpPr>
        <p:spPr>
          <a:xfrm>
            <a:off x="2574950" y="440192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173" name="MarginPointLabel"/>
          <p:cNvSpPr txBox="1"/>
          <p:nvPr/>
        </p:nvSpPr>
        <p:spPr>
          <a:xfrm>
            <a:off x="3998671" y="4440326"/>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74" name="MarginPointLabel"/>
          <p:cNvSpPr txBox="1"/>
          <p:nvPr/>
        </p:nvSpPr>
        <p:spPr>
          <a:xfrm>
            <a:off x="4710074" y="422635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175" name="MarginPointLabel"/>
          <p:cNvSpPr txBox="1"/>
          <p:nvPr/>
        </p:nvSpPr>
        <p:spPr>
          <a:xfrm>
            <a:off x="5430622" y="41294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176" name="MarginPointLabel"/>
          <p:cNvSpPr txBox="1"/>
          <p:nvPr/>
        </p:nvSpPr>
        <p:spPr>
          <a:xfrm>
            <a:off x="6151169" y="419435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177" name="MarginPointLabel"/>
          <p:cNvSpPr txBox="1"/>
          <p:nvPr/>
        </p:nvSpPr>
        <p:spPr>
          <a:xfrm>
            <a:off x="6873545" y="42208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37%</a:t>
            </a:r>
          </a:p>
        </p:txBody>
      </p:sp>
      <p:sp>
        <p:nvSpPr>
          <p:cNvPr id="178" name="MarginPointLabel"/>
          <p:cNvSpPr txBox="1"/>
          <p:nvPr/>
        </p:nvSpPr>
        <p:spPr>
          <a:xfrm>
            <a:off x="7595006" y="414040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52%</a:t>
            </a:r>
          </a:p>
        </p:txBody>
      </p:sp>
      <p:sp>
        <p:nvSpPr>
          <p:cNvPr id="179" name="MarginPointLabel"/>
          <p:cNvSpPr txBox="1"/>
          <p:nvPr/>
        </p:nvSpPr>
        <p:spPr>
          <a:xfrm>
            <a:off x="8315554" y="412120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56%</a:t>
            </a:r>
          </a:p>
        </p:txBody>
      </p:sp>
      <p:sp>
        <p:nvSpPr>
          <p:cNvPr id="180" name="MarginPointLabel"/>
          <p:cNvSpPr txBox="1"/>
          <p:nvPr/>
        </p:nvSpPr>
        <p:spPr>
          <a:xfrm>
            <a:off x="9037930" y="41623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181" name="MarginPointLabel"/>
          <p:cNvSpPr txBox="1"/>
          <p:nvPr/>
        </p:nvSpPr>
        <p:spPr>
          <a:xfrm>
            <a:off x="9758477" y="426384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29%</a:t>
            </a:r>
          </a:p>
        </p:txBody>
      </p:sp>
      <p:sp>
        <p:nvSpPr>
          <p:cNvPr id="182" name="MarginPointLabel"/>
          <p:cNvSpPr txBox="1"/>
          <p:nvPr/>
        </p:nvSpPr>
        <p:spPr>
          <a:xfrm>
            <a:off x="10479024" y="420166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41%</a:t>
            </a:r>
          </a:p>
        </p:txBody>
      </p:sp>
      <p:sp>
        <p:nvSpPr>
          <p:cNvPr id="183" name="MarginPointLabel"/>
          <p:cNvSpPr txBox="1"/>
          <p:nvPr/>
        </p:nvSpPr>
        <p:spPr>
          <a:xfrm>
            <a:off x="11201400" y="4164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184" name="MarginPointLabel"/>
          <p:cNvSpPr txBox="1"/>
          <p:nvPr/>
        </p:nvSpPr>
        <p:spPr>
          <a:xfrm>
            <a:off x="2574950" y="348112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185" name="MarginPointLabel"/>
          <p:cNvSpPr txBox="1"/>
          <p:nvPr/>
        </p:nvSpPr>
        <p:spPr>
          <a:xfrm>
            <a:off x="3295498" y="348020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186" name="MarginPointLabel"/>
          <p:cNvSpPr txBox="1"/>
          <p:nvPr/>
        </p:nvSpPr>
        <p:spPr>
          <a:xfrm>
            <a:off x="4016045" y="347014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187" name="MarginPointLabel"/>
          <p:cNvSpPr txBox="1"/>
          <p:nvPr/>
        </p:nvSpPr>
        <p:spPr>
          <a:xfrm>
            <a:off x="4710074" y="328452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188" name="MarginPointLabel"/>
          <p:cNvSpPr txBox="1"/>
          <p:nvPr/>
        </p:nvSpPr>
        <p:spPr>
          <a:xfrm>
            <a:off x="5430622" y="32150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49%</a:t>
            </a:r>
          </a:p>
        </p:txBody>
      </p:sp>
      <p:sp>
        <p:nvSpPr>
          <p:cNvPr id="189" name="MarginPointLabel"/>
          <p:cNvSpPr txBox="1"/>
          <p:nvPr/>
        </p:nvSpPr>
        <p:spPr>
          <a:xfrm>
            <a:off x="6873545" y="323331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45%</a:t>
            </a:r>
          </a:p>
        </p:txBody>
      </p:sp>
      <p:sp>
        <p:nvSpPr>
          <p:cNvPr id="190" name="MarginPointLabel"/>
          <p:cNvSpPr txBox="1"/>
          <p:nvPr/>
        </p:nvSpPr>
        <p:spPr>
          <a:xfrm>
            <a:off x="7595006" y="31226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66%</a:t>
            </a:r>
          </a:p>
        </p:txBody>
      </p:sp>
      <p:sp>
        <p:nvSpPr>
          <p:cNvPr id="191" name="MarginPointLabel"/>
          <p:cNvSpPr txBox="1"/>
          <p:nvPr/>
        </p:nvSpPr>
        <p:spPr>
          <a:xfrm>
            <a:off x="8315554" y="31555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192" name="MarginPointLabel"/>
          <p:cNvSpPr txBox="1"/>
          <p:nvPr/>
        </p:nvSpPr>
        <p:spPr>
          <a:xfrm>
            <a:off x="9037930" y="34033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193" name="MarginPointLabel"/>
          <p:cNvSpPr txBox="1"/>
          <p:nvPr/>
        </p:nvSpPr>
        <p:spPr>
          <a:xfrm>
            <a:off x="9758477" y="33777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19%</a:t>
            </a:r>
          </a:p>
        </p:txBody>
      </p:sp>
      <p:sp>
        <p:nvSpPr>
          <p:cNvPr id="194" name="MarginPointLabel"/>
          <p:cNvSpPr txBox="1"/>
          <p:nvPr/>
        </p:nvSpPr>
        <p:spPr>
          <a:xfrm>
            <a:off x="10479024" y="32890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35%</a:t>
            </a:r>
          </a:p>
        </p:txBody>
      </p:sp>
      <p:sp>
        <p:nvSpPr>
          <p:cNvPr id="195" name="MarginPointLabel"/>
          <p:cNvSpPr txBox="1"/>
          <p:nvPr/>
        </p:nvSpPr>
        <p:spPr>
          <a:xfrm>
            <a:off x="11201400" y="320314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196" name="MarginPointLabel"/>
          <p:cNvSpPr txBox="1"/>
          <p:nvPr/>
        </p:nvSpPr>
        <p:spPr>
          <a:xfrm>
            <a:off x="1132027" y="346100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197" name="MarginPointLabel"/>
          <p:cNvSpPr txBox="1"/>
          <p:nvPr/>
        </p:nvSpPr>
        <p:spPr>
          <a:xfrm>
            <a:off x="1806854" y="366217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198" name="MarginPointLabel"/>
          <p:cNvSpPr txBox="1"/>
          <p:nvPr/>
        </p:nvSpPr>
        <p:spPr>
          <a:xfrm>
            <a:off x="6151169" y="320497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199" name="MarginPointLabel"/>
          <p:cNvSpPr txBox="1"/>
          <p:nvPr/>
        </p:nvSpPr>
        <p:spPr>
          <a:xfrm>
            <a:off x="1132027" y="2529230"/>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00" name="MarginPointLabel"/>
          <p:cNvSpPr txBox="1"/>
          <p:nvPr/>
        </p:nvSpPr>
        <p:spPr>
          <a:xfrm>
            <a:off x="1852574" y="252374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01" name="MarginPointLabel"/>
          <p:cNvSpPr txBox="1"/>
          <p:nvPr/>
        </p:nvSpPr>
        <p:spPr>
          <a:xfrm>
            <a:off x="2574950"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02" name="MarginPointLabel"/>
          <p:cNvSpPr txBox="1"/>
          <p:nvPr/>
        </p:nvSpPr>
        <p:spPr>
          <a:xfrm>
            <a:off x="3295498" y="253197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a:t>
            </a:r>
          </a:p>
        </p:txBody>
      </p:sp>
      <p:sp>
        <p:nvSpPr>
          <p:cNvPr id="203" name="MarginPointLabel"/>
          <p:cNvSpPr txBox="1"/>
          <p:nvPr/>
        </p:nvSpPr>
        <p:spPr>
          <a:xfrm>
            <a:off x="4016045"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04" name="MarginPointLabel"/>
          <p:cNvSpPr txBox="1"/>
          <p:nvPr/>
        </p:nvSpPr>
        <p:spPr>
          <a:xfrm>
            <a:off x="4710074" y="247345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12%</a:t>
            </a:r>
          </a:p>
        </p:txBody>
      </p:sp>
      <p:sp>
        <p:nvSpPr>
          <p:cNvPr id="205" name="MarginPointLabel"/>
          <p:cNvSpPr txBox="1"/>
          <p:nvPr/>
        </p:nvSpPr>
        <p:spPr>
          <a:xfrm>
            <a:off x="5441594" y="2583180"/>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06" name="MarginPointLabel"/>
          <p:cNvSpPr txBox="1"/>
          <p:nvPr/>
        </p:nvSpPr>
        <p:spPr>
          <a:xfrm>
            <a:off x="6151169" y="24606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07" name="MarginPointLabel"/>
          <p:cNvSpPr txBox="1"/>
          <p:nvPr/>
        </p:nvSpPr>
        <p:spPr>
          <a:xfrm>
            <a:off x="6902806" y="25017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08" name="MarginPointLabel"/>
          <p:cNvSpPr txBox="1"/>
          <p:nvPr/>
        </p:nvSpPr>
        <p:spPr>
          <a:xfrm>
            <a:off x="7595006" y="221284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09" name="MarginPointLabel"/>
          <p:cNvSpPr txBox="1"/>
          <p:nvPr/>
        </p:nvSpPr>
        <p:spPr>
          <a:xfrm>
            <a:off x="831555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10" name="MarginPointLabel"/>
          <p:cNvSpPr txBox="1"/>
          <p:nvPr/>
        </p:nvSpPr>
        <p:spPr>
          <a:xfrm>
            <a:off x="9037930" y="242224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21%</a:t>
            </a:r>
          </a:p>
        </p:txBody>
      </p:sp>
      <p:sp>
        <p:nvSpPr>
          <p:cNvPr id="211" name="MarginPointLabel"/>
          <p:cNvSpPr txBox="1"/>
          <p:nvPr/>
        </p:nvSpPr>
        <p:spPr>
          <a:xfrm>
            <a:off x="9758477" y="239847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26%</a:t>
            </a:r>
          </a:p>
        </p:txBody>
      </p:sp>
      <p:sp>
        <p:nvSpPr>
          <p:cNvPr id="212" name="MarginPointLabel"/>
          <p:cNvSpPr txBox="1"/>
          <p:nvPr/>
        </p:nvSpPr>
        <p:spPr>
          <a:xfrm>
            <a:off x="1047902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13" name="MarginPointLabel"/>
          <p:cNvSpPr txBox="1"/>
          <p:nvPr/>
        </p:nvSpPr>
        <p:spPr>
          <a:xfrm>
            <a:off x="11201400" y="226222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14" name="MarginPointLabel"/>
          <p:cNvSpPr txBox="1"/>
          <p:nvPr/>
        </p:nvSpPr>
        <p:spPr>
          <a:xfrm>
            <a:off x="1132027" y="156728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a:t>
            </a:r>
          </a:p>
        </p:txBody>
      </p:sp>
      <p:sp>
        <p:nvSpPr>
          <p:cNvPr id="215" name="MarginPointLabel"/>
          <p:cNvSpPr txBox="1"/>
          <p:nvPr/>
        </p:nvSpPr>
        <p:spPr>
          <a:xfrm>
            <a:off x="1852574"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16" name="MarginPointLabel"/>
          <p:cNvSpPr txBox="1"/>
          <p:nvPr/>
        </p:nvSpPr>
        <p:spPr>
          <a:xfrm>
            <a:off x="2574950" y="158465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17" name="MarginPointLabel"/>
          <p:cNvSpPr txBox="1"/>
          <p:nvPr/>
        </p:nvSpPr>
        <p:spPr>
          <a:xfrm>
            <a:off x="3295498" y="1565453"/>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a:t>
            </a:r>
          </a:p>
        </p:txBody>
      </p:sp>
      <p:sp>
        <p:nvSpPr>
          <p:cNvPr id="218" name="MarginPointLabel"/>
          <p:cNvSpPr txBox="1"/>
          <p:nvPr/>
        </p:nvSpPr>
        <p:spPr>
          <a:xfrm>
            <a:off x="4016045"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19" name="MarginPointLabel"/>
          <p:cNvSpPr txBox="1"/>
          <p:nvPr/>
        </p:nvSpPr>
        <p:spPr>
          <a:xfrm>
            <a:off x="4710074" y="149870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20" name="MarginPointLabel"/>
          <p:cNvSpPr txBox="1"/>
          <p:nvPr/>
        </p:nvSpPr>
        <p:spPr>
          <a:xfrm>
            <a:off x="6151169" y="15224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21" name="MarginPointLabel"/>
          <p:cNvSpPr txBox="1"/>
          <p:nvPr/>
        </p:nvSpPr>
        <p:spPr>
          <a:xfrm>
            <a:off x="6873545" y="152521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22" name="MarginPointLabel"/>
          <p:cNvSpPr txBox="1"/>
          <p:nvPr/>
        </p:nvSpPr>
        <p:spPr>
          <a:xfrm>
            <a:off x="7595006" y="13048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53%</a:t>
            </a:r>
          </a:p>
        </p:txBody>
      </p:sp>
      <p:sp>
        <p:nvSpPr>
          <p:cNvPr id="223" name="MarginPointLabel"/>
          <p:cNvSpPr txBox="1"/>
          <p:nvPr/>
        </p:nvSpPr>
        <p:spPr>
          <a:xfrm>
            <a:off x="8315554" y="14749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22%</a:t>
            </a:r>
          </a:p>
        </p:txBody>
      </p:sp>
      <p:sp>
        <p:nvSpPr>
          <p:cNvPr id="224" name="MarginPointLabel"/>
          <p:cNvSpPr txBox="1"/>
          <p:nvPr/>
        </p:nvSpPr>
        <p:spPr>
          <a:xfrm>
            <a:off x="9037930" y="144658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27%</a:t>
            </a:r>
          </a:p>
        </p:txBody>
      </p:sp>
      <p:sp>
        <p:nvSpPr>
          <p:cNvPr id="225" name="MarginPointLabel"/>
          <p:cNvSpPr txBox="1"/>
          <p:nvPr/>
        </p:nvSpPr>
        <p:spPr>
          <a:xfrm>
            <a:off x="9758477" y="14319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30%</a:t>
            </a:r>
          </a:p>
        </p:txBody>
      </p:sp>
      <p:sp>
        <p:nvSpPr>
          <p:cNvPr id="226" name="MarginPointLabel"/>
          <p:cNvSpPr txBox="1"/>
          <p:nvPr/>
        </p:nvSpPr>
        <p:spPr>
          <a:xfrm>
            <a:off x="10479024" y="138897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38%</a:t>
            </a:r>
          </a:p>
        </p:txBody>
      </p:sp>
      <p:sp>
        <p:nvSpPr>
          <p:cNvPr id="227" name="MarginPointLabel"/>
          <p:cNvSpPr txBox="1"/>
          <p:nvPr/>
        </p:nvSpPr>
        <p:spPr>
          <a:xfrm>
            <a:off x="11201400" y="130027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228" name="MarginPointLabel"/>
          <p:cNvSpPr txBox="1"/>
          <p:nvPr/>
        </p:nvSpPr>
        <p:spPr>
          <a:xfrm>
            <a:off x="5430622" y="136519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29" name="RevenueChip"/>
          <p:cNvSpPr txBox="1"/>
          <p:nvPr/>
        </p:nvSpPr>
        <p:spPr>
          <a:xfrm>
            <a:off x="1897380" y="5799125"/>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230" name="RevenueChip"/>
          <p:cNvSpPr txBox="1"/>
          <p:nvPr/>
        </p:nvSpPr>
        <p:spPr>
          <a:xfrm>
            <a:off x="2617927" y="579638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231" name="RevenueChip"/>
          <p:cNvSpPr txBox="1"/>
          <p:nvPr/>
        </p:nvSpPr>
        <p:spPr>
          <a:xfrm>
            <a:off x="4032504" y="5723230"/>
            <a:ext cx="142646"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232" name="RevenueChip"/>
          <p:cNvSpPr txBox="1"/>
          <p:nvPr/>
        </p:nvSpPr>
        <p:spPr>
          <a:xfrm>
            <a:off x="4781398" y="5822899"/>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33" name="RevenueChip"/>
          <p:cNvSpPr txBox="1"/>
          <p:nvPr/>
        </p:nvSpPr>
        <p:spPr>
          <a:xfrm>
            <a:off x="5501945" y="5811926"/>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34" name="RevenueChip"/>
          <p:cNvSpPr txBox="1"/>
          <p:nvPr/>
        </p:nvSpPr>
        <p:spPr>
          <a:xfrm>
            <a:off x="6195974" y="575797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15</a:t>
            </a:r>
          </a:p>
        </p:txBody>
      </p:sp>
      <p:sp>
        <p:nvSpPr>
          <p:cNvPr id="235" name="RevenueChip"/>
          <p:cNvSpPr txBox="1"/>
          <p:nvPr/>
        </p:nvSpPr>
        <p:spPr>
          <a:xfrm>
            <a:off x="6916522" y="568299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29</a:t>
            </a:r>
          </a:p>
        </p:txBody>
      </p:sp>
      <p:sp>
        <p:nvSpPr>
          <p:cNvPr id="236" name="RevenueChip"/>
          <p:cNvSpPr txBox="1"/>
          <p:nvPr/>
        </p:nvSpPr>
        <p:spPr>
          <a:xfrm>
            <a:off x="7666330"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237" name="RevenueChip"/>
          <p:cNvSpPr txBox="1"/>
          <p:nvPr/>
        </p:nvSpPr>
        <p:spPr>
          <a:xfrm>
            <a:off x="8388706"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238" name="RevenueChip"/>
          <p:cNvSpPr txBox="1"/>
          <p:nvPr/>
        </p:nvSpPr>
        <p:spPr>
          <a:xfrm>
            <a:off x="9829800" y="5811926"/>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39" name="RevenueChip"/>
          <p:cNvSpPr txBox="1"/>
          <p:nvPr/>
        </p:nvSpPr>
        <p:spPr>
          <a:xfrm>
            <a:off x="9109253" y="58265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0" name="RevenueChip"/>
          <p:cNvSpPr txBox="1"/>
          <p:nvPr/>
        </p:nvSpPr>
        <p:spPr>
          <a:xfrm>
            <a:off x="11272723"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41" name="RevenueChip"/>
          <p:cNvSpPr txBox="1"/>
          <p:nvPr/>
        </p:nvSpPr>
        <p:spPr>
          <a:xfrm>
            <a:off x="1175004" y="582472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2" name="RevenueChip"/>
          <p:cNvSpPr txBox="1"/>
          <p:nvPr/>
        </p:nvSpPr>
        <p:spPr>
          <a:xfrm>
            <a:off x="10552176"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3" name="RevenueChip"/>
          <p:cNvSpPr txBox="1"/>
          <p:nvPr/>
        </p:nvSpPr>
        <p:spPr>
          <a:xfrm>
            <a:off x="1175004" y="4882896"/>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4" name="RevenueChip"/>
          <p:cNvSpPr txBox="1"/>
          <p:nvPr/>
        </p:nvSpPr>
        <p:spPr>
          <a:xfrm>
            <a:off x="1897380" y="4870094"/>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45" name="RevenueChip"/>
          <p:cNvSpPr txBox="1"/>
          <p:nvPr/>
        </p:nvSpPr>
        <p:spPr>
          <a:xfrm>
            <a:off x="2617927" y="484997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46" name="RevenueChip"/>
          <p:cNvSpPr txBox="1"/>
          <p:nvPr/>
        </p:nvSpPr>
        <p:spPr>
          <a:xfrm>
            <a:off x="4032504" y="47877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247" name="RevenueChip"/>
          <p:cNvSpPr txBox="1"/>
          <p:nvPr/>
        </p:nvSpPr>
        <p:spPr>
          <a:xfrm>
            <a:off x="4781398" y="487375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248" name="RevenueChip"/>
          <p:cNvSpPr txBox="1"/>
          <p:nvPr/>
        </p:nvSpPr>
        <p:spPr>
          <a:xfrm>
            <a:off x="5473598" y="483351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11</a:t>
            </a:r>
          </a:p>
        </p:txBody>
      </p:sp>
      <p:sp>
        <p:nvSpPr>
          <p:cNvPr id="249" name="RevenueChip"/>
          <p:cNvSpPr txBox="1"/>
          <p:nvPr/>
        </p:nvSpPr>
        <p:spPr>
          <a:xfrm>
            <a:off x="6916522" y="464149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48</a:t>
            </a:r>
          </a:p>
        </p:txBody>
      </p:sp>
      <p:sp>
        <p:nvSpPr>
          <p:cNvPr id="250" name="RevenueChip"/>
          <p:cNvSpPr txBox="1"/>
          <p:nvPr/>
        </p:nvSpPr>
        <p:spPr>
          <a:xfrm>
            <a:off x="7666330" y="488655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1" name="RevenueChip"/>
          <p:cNvSpPr txBox="1"/>
          <p:nvPr/>
        </p:nvSpPr>
        <p:spPr>
          <a:xfrm>
            <a:off x="8388706" y="4884725"/>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2" name="RevenueChip"/>
          <p:cNvSpPr txBox="1"/>
          <p:nvPr/>
        </p:nvSpPr>
        <p:spPr>
          <a:xfrm>
            <a:off x="9109253" y="488198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3" name="RevenueChip"/>
          <p:cNvSpPr txBox="1"/>
          <p:nvPr/>
        </p:nvSpPr>
        <p:spPr>
          <a:xfrm>
            <a:off x="9829800" y="4869180"/>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54" name="RevenueChip"/>
          <p:cNvSpPr txBox="1"/>
          <p:nvPr/>
        </p:nvSpPr>
        <p:spPr>
          <a:xfrm>
            <a:off x="10552176"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55" name="RevenueChip"/>
          <p:cNvSpPr txBox="1"/>
          <p:nvPr/>
        </p:nvSpPr>
        <p:spPr>
          <a:xfrm>
            <a:off x="11272723"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56" name="RevenueChip"/>
          <p:cNvSpPr txBox="1"/>
          <p:nvPr/>
        </p:nvSpPr>
        <p:spPr>
          <a:xfrm>
            <a:off x="6195974" y="47548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26</a:t>
            </a:r>
          </a:p>
        </p:txBody>
      </p:sp>
      <p:sp>
        <p:nvSpPr>
          <p:cNvPr id="257" name="RevenueChip"/>
          <p:cNvSpPr txBox="1"/>
          <p:nvPr/>
        </p:nvSpPr>
        <p:spPr>
          <a:xfrm>
            <a:off x="1897380" y="392551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58" name="RevenueChip"/>
          <p:cNvSpPr txBox="1"/>
          <p:nvPr/>
        </p:nvSpPr>
        <p:spPr>
          <a:xfrm>
            <a:off x="2617927" y="390540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59" name="RevenueChip"/>
          <p:cNvSpPr txBox="1"/>
          <p:nvPr/>
        </p:nvSpPr>
        <p:spPr>
          <a:xfrm>
            <a:off x="3310128" y="388620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12</a:t>
            </a:r>
          </a:p>
        </p:txBody>
      </p:sp>
      <p:sp>
        <p:nvSpPr>
          <p:cNvPr id="260" name="RevenueChip"/>
          <p:cNvSpPr txBox="1"/>
          <p:nvPr/>
        </p:nvSpPr>
        <p:spPr>
          <a:xfrm>
            <a:off x="4032504" y="38404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261" name="RevenueChip"/>
          <p:cNvSpPr txBox="1"/>
          <p:nvPr/>
        </p:nvSpPr>
        <p:spPr>
          <a:xfrm>
            <a:off x="4781398" y="3927348"/>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62" name="RevenueChip"/>
          <p:cNvSpPr txBox="1"/>
          <p:nvPr/>
        </p:nvSpPr>
        <p:spPr>
          <a:xfrm>
            <a:off x="5473598" y="388162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13</a:t>
            </a:r>
          </a:p>
        </p:txBody>
      </p:sp>
      <p:sp>
        <p:nvSpPr>
          <p:cNvPr id="263" name="RevenueChip"/>
          <p:cNvSpPr txBox="1"/>
          <p:nvPr/>
        </p:nvSpPr>
        <p:spPr>
          <a:xfrm>
            <a:off x="6195974" y="37590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36</a:t>
            </a:r>
          </a:p>
        </p:txBody>
      </p:sp>
      <p:sp>
        <p:nvSpPr>
          <p:cNvPr id="264" name="RevenueChip"/>
          <p:cNvSpPr txBox="1"/>
          <p:nvPr/>
        </p:nvSpPr>
        <p:spPr>
          <a:xfrm>
            <a:off x="6916522" y="361645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64</a:t>
            </a:r>
          </a:p>
        </p:txBody>
      </p:sp>
      <p:sp>
        <p:nvSpPr>
          <p:cNvPr id="265" name="RevenueChip"/>
          <p:cNvSpPr txBox="1"/>
          <p:nvPr/>
        </p:nvSpPr>
        <p:spPr>
          <a:xfrm>
            <a:off x="7666330" y="3941978"/>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66" name="RevenueChip"/>
          <p:cNvSpPr txBox="1"/>
          <p:nvPr/>
        </p:nvSpPr>
        <p:spPr>
          <a:xfrm>
            <a:off x="8388706" y="394015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67" name="RevenueChip"/>
          <p:cNvSpPr txBox="1"/>
          <p:nvPr/>
        </p:nvSpPr>
        <p:spPr>
          <a:xfrm>
            <a:off x="9109253" y="3938321"/>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68" name="RevenueChip"/>
          <p:cNvSpPr txBox="1"/>
          <p:nvPr/>
        </p:nvSpPr>
        <p:spPr>
          <a:xfrm>
            <a:off x="9829800" y="3924605"/>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69" name="RevenueChip"/>
          <p:cNvSpPr txBox="1"/>
          <p:nvPr/>
        </p:nvSpPr>
        <p:spPr>
          <a:xfrm>
            <a:off x="10552176" y="3938321"/>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70" name="RevenueChip"/>
          <p:cNvSpPr txBox="1"/>
          <p:nvPr/>
        </p:nvSpPr>
        <p:spPr>
          <a:xfrm>
            <a:off x="11272723" y="393557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71" name="RevenueChip"/>
          <p:cNvSpPr txBox="1"/>
          <p:nvPr/>
        </p:nvSpPr>
        <p:spPr>
          <a:xfrm>
            <a:off x="1175004" y="3940150"/>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72" name="RevenueChip"/>
          <p:cNvSpPr txBox="1"/>
          <p:nvPr/>
        </p:nvSpPr>
        <p:spPr>
          <a:xfrm>
            <a:off x="1175004" y="299740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73" name="RevenueChip"/>
          <p:cNvSpPr txBox="1"/>
          <p:nvPr/>
        </p:nvSpPr>
        <p:spPr>
          <a:xfrm>
            <a:off x="1897380" y="297362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274" name="RevenueChip"/>
          <p:cNvSpPr txBox="1"/>
          <p:nvPr/>
        </p:nvSpPr>
        <p:spPr>
          <a:xfrm>
            <a:off x="2617927" y="295899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75" name="RevenueChip"/>
          <p:cNvSpPr txBox="1"/>
          <p:nvPr/>
        </p:nvSpPr>
        <p:spPr>
          <a:xfrm>
            <a:off x="3310128" y="291967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16</a:t>
            </a:r>
          </a:p>
        </p:txBody>
      </p:sp>
      <p:sp>
        <p:nvSpPr>
          <p:cNvPr id="276" name="RevenueChip"/>
          <p:cNvSpPr txBox="1"/>
          <p:nvPr/>
        </p:nvSpPr>
        <p:spPr>
          <a:xfrm>
            <a:off x="4032504" y="287487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25</a:t>
            </a:r>
          </a:p>
        </p:txBody>
      </p:sp>
      <p:sp>
        <p:nvSpPr>
          <p:cNvPr id="277" name="RevenueChip"/>
          <p:cNvSpPr txBox="1"/>
          <p:nvPr/>
        </p:nvSpPr>
        <p:spPr>
          <a:xfrm>
            <a:off x="4781398" y="299100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78" name="RevenueChip"/>
          <p:cNvSpPr txBox="1"/>
          <p:nvPr/>
        </p:nvSpPr>
        <p:spPr>
          <a:xfrm>
            <a:off x="6195974" y="290504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19</a:t>
            </a:r>
          </a:p>
        </p:txBody>
      </p:sp>
      <p:sp>
        <p:nvSpPr>
          <p:cNvPr id="279" name="RevenueChip"/>
          <p:cNvSpPr txBox="1"/>
          <p:nvPr/>
        </p:nvSpPr>
        <p:spPr>
          <a:xfrm>
            <a:off x="6916522" y="283006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34</a:t>
            </a:r>
          </a:p>
        </p:txBody>
      </p:sp>
      <p:sp>
        <p:nvSpPr>
          <p:cNvPr id="280" name="RevenueChip"/>
          <p:cNvSpPr txBox="1"/>
          <p:nvPr/>
        </p:nvSpPr>
        <p:spPr>
          <a:xfrm>
            <a:off x="7666330" y="299923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1" name="RevenueChip"/>
          <p:cNvSpPr txBox="1"/>
          <p:nvPr/>
        </p:nvSpPr>
        <p:spPr>
          <a:xfrm>
            <a:off x="8388706" y="299557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2" name="RevenueChip"/>
          <p:cNvSpPr txBox="1"/>
          <p:nvPr/>
        </p:nvSpPr>
        <p:spPr>
          <a:xfrm>
            <a:off x="9109253" y="299374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3" name="RevenueChip"/>
          <p:cNvSpPr txBox="1"/>
          <p:nvPr/>
        </p:nvSpPr>
        <p:spPr>
          <a:xfrm>
            <a:off x="9829800" y="298277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84" name="RevenueChip"/>
          <p:cNvSpPr txBox="1"/>
          <p:nvPr/>
        </p:nvSpPr>
        <p:spPr>
          <a:xfrm>
            <a:off x="10552176" y="2995574"/>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5" name="RevenueChip"/>
          <p:cNvSpPr txBox="1"/>
          <p:nvPr/>
        </p:nvSpPr>
        <p:spPr>
          <a:xfrm>
            <a:off x="11272723" y="2991002"/>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6" name="RevenueChip"/>
          <p:cNvSpPr txBox="1"/>
          <p:nvPr/>
        </p:nvSpPr>
        <p:spPr>
          <a:xfrm>
            <a:off x="5501945" y="297637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5</a:t>
            </a:r>
          </a:p>
        </p:txBody>
      </p:sp>
      <p:sp>
        <p:nvSpPr>
          <p:cNvPr id="287" name="RevenueChip"/>
          <p:cNvSpPr txBox="1"/>
          <p:nvPr/>
        </p:nvSpPr>
        <p:spPr>
          <a:xfrm>
            <a:off x="1175004" y="2054657"/>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8" name="RevenueChip"/>
          <p:cNvSpPr txBox="1"/>
          <p:nvPr/>
        </p:nvSpPr>
        <p:spPr>
          <a:xfrm>
            <a:off x="1897380" y="202265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289" name="RevenueChip"/>
          <p:cNvSpPr txBox="1"/>
          <p:nvPr/>
        </p:nvSpPr>
        <p:spPr>
          <a:xfrm>
            <a:off x="2617927" y="2018081"/>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90" name="RevenueChip"/>
          <p:cNvSpPr txBox="1"/>
          <p:nvPr/>
        </p:nvSpPr>
        <p:spPr>
          <a:xfrm>
            <a:off x="3310128" y="197144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17</a:t>
            </a:r>
          </a:p>
        </p:txBody>
      </p:sp>
      <p:sp>
        <p:nvSpPr>
          <p:cNvPr id="291" name="RevenueChip"/>
          <p:cNvSpPr txBox="1"/>
          <p:nvPr/>
        </p:nvSpPr>
        <p:spPr>
          <a:xfrm>
            <a:off x="4032504" y="194035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23</a:t>
            </a:r>
          </a:p>
        </p:txBody>
      </p:sp>
      <p:sp>
        <p:nvSpPr>
          <p:cNvPr id="292" name="RevenueChip"/>
          <p:cNvSpPr txBox="1"/>
          <p:nvPr/>
        </p:nvSpPr>
        <p:spPr>
          <a:xfrm>
            <a:off x="4781398" y="2046427"/>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293" name="RevenueChip"/>
          <p:cNvSpPr txBox="1"/>
          <p:nvPr/>
        </p:nvSpPr>
        <p:spPr>
          <a:xfrm>
            <a:off x="5501945" y="2018081"/>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94" name="RevenueChip"/>
          <p:cNvSpPr txBox="1"/>
          <p:nvPr/>
        </p:nvSpPr>
        <p:spPr>
          <a:xfrm>
            <a:off x="6195974" y="195590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295" name="RevenueChip"/>
          <p:cNvSpPr txBox="1"/>
          <p:nvPr/>
        </p:nvSpPr>
        <p:spPr>
          <a:xfrm>
            <a:off x="6916522" y="186811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37</a:t>
            </a:r>
          </a:p>
        </p:txBody>
      </p:sp>
      <p:sp>
        <p:nvSpPr>
          <p:cNvPr id="296" name="RevenueChip"/>
          <p:cNvSpPr txBox="1"/>
          <p:nvPr/>
        </p:nvSpPr>
        <p:spPr>
          <a:xfrm>
            <a:off x="7666330" y="20546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97" name="RevenueChip"/>
          <p:cNvSpPr txBox="1"/>
          <p:nvPr/>
        </p:nvSpPr>
        <p:spPr>
          <a:xfrm>
            <a:off x="8388706" y="204917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98" name="RevenueChip"/>
          <p:cNvSpPr txBox="1"/>
          <p:nvPr/>
        </p:nvSpPr>
        <p:spPr>
          <a:xfrm>
            <a:off x="9109253" y="204825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99" name="RevenueChip"/>
          <p:cNvSpPr txBox="1"/>
          <p:nvPr/>
        </p:nvSpPr>
        <p:spPr>
          <a:xfrm>
            <a:off x="9829800" y="2036369"/>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00" name="RevenueChip"/>
          <p:cNvSpPr txBox="1"/>
          <p:nvPr/>
        </p:nvSpPr>
        <p:spPr>
          <a:xfrm>
            <a:off x="10552176" y="20528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01" name="RevenueChip"/>
          <p:cNvSpPr txBox="1"/>
          <p:nvPr/>
        </p:nvSpPr>
        <p:spPr>
          <a:xfrm>
            <a:off x="11272723" y="2046427"/>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02" name="SegmentHeader"/>
          <p:cNvSpPr txBox="1"/>
          <p:nvPr/>
        </p:nvSpPr>
        <p:spPr>
          <a:xfrm>
            <a:off x="1058875" y="6238037"/>
            <a:ext cx="3340303" cy="141732"/>
          </a:xfrm>
          <a:prstGeom prst="rect">
            <a:avLst/>
          </a:prstGeom>
          <a:solidFill>
            <a:srgbClr val="C30C3E"/>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Shipbuilders</a:t>
            </a:r>
          </a:p>
        </p:txBody>
      </p:sp>
      <p:sp>
        <p:nvSpPr>
          <p:cNvPr id="303" name="SegmentHeader"/>
          <p:cNvSpPr txBox="1"/>
          <p:nvPr/>
        </p:nvSpPr>
        <p:spPr>
          <a:xfrm>
            <a:off x="7507224" y="6238037"/>
            <a:ext cx="1922069" cy="141732"/>
          </a:xfrm>
          <a:prstGeom prst="rect">
            <a:avLst/>
          </a:prstGeom>
          <a:solidFill>
            <a:srgbClr val="20734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Charter Companies</a:t>
            </a:r>
          </a:p>
        </p:txBody>
      </p:sp>
      <p:sp>
        <p:nvSpPr>
          <p:cNvPr id="304" name="SegmentHeader"/>
          <p:cNvSpPr txBox="1"/>
          <p:nvPr/>
        </p:nvSpPr>
        <p:spPr>
          <a:xfrm>
            <a:off x="9708185" y="6238037"/>
            <a:ext cx="1922069" cy="141732"/>
          </a:xfrm>
          <a:prstGeom prst="rect">
            <a:avLst/>
          </a:prstGeom>
          <a:solidFill>
            <a:srgbClr val="6F8DB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Terminal Operators</a:t>
            </a:r>
          </a:p>
        </p:txBody>
      </p:sp>
      <p:sp>
        <p:nvSpPr>
          <p:cNvPr id="305" name="CarrierSegmentHeader"/>
          <p:cNvSpPr txBox="1"/>
          <p:nvPr/>
        </p:nvSpPr>
        <p:spPr>
          <a:xfrm>
            <a:off x="4634179" y="6238037"/>
            <a:ext cx="2590495" cy="141732"/>
          </a:xfrm>
          <a:prstGeom prst="rect">
            <a:avLst/>
          </a:prstGeom>
          <a:solidFill>
            <a:srgbClr val="364D6E"/>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Owner/Operator </a:t>
            </a:r>
            <a:r>
              <a:rPr lang="en-US" sz="1000" i="1" dirty="0">
                <a:solidFill>
                  <a:srgbClr val="FFFFFF"/>
                </a:solidFill>
                <a:latin typeface="Arial"/>
                <a:ea typeface="Arial"/>
                <a:cs typeface="Arial"/>
              </a:rPr>
              <a:t>(Carrier Segment)</a:t>
            </a:r>
          </a:p>
        </p:txBody>
      </p:sp>
      <p:sp>
        <p:nvSpPr>
          <p:cNvPr id="306" name="YearLabel"/>
          <p:cNvSpPr txBox="1"/>
          <p:nvPr/>
        </p:nvSpPr>
        <p:spPr>
          <a:xfrm>
            <a:off x="52121" y="2262226"/>
            <a:ext cx="556870" cy="784555"/>
          </a:xfrm>
          <a:prstGeom prst="rect">
            <a:avLst/>
          </a:prstGeom>
          <a:solidFill>
            <a:srgbClr val="A6A6A6"/>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2023</a:t>
            </a:r>
          </a:p>
        </p:txBody>
      </p:sp>
      <p:sp>
        <p:nvSpPr>
          <p:cNvPr id="307" name="YearLabel"/>
          <p:cNvSpPr txBox="1"/>
          <p:nvPr/>
        </p:nvSpPr>
        <p:spPr>
          <a:xfrm>
            <a:off x="52121" y="1319479"/>
            <a:ext cx="556870" cy="784555"/>
          </a:xfrm>
          <a:prstGeom prst="rect">
            <a:avLst/>
          </a:prstGeom>
          <a:solidFill>
            <a:srgbClr val="808080"/>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2024</a:t>
            </a:r>
          </a:p>
        </p:txBody>
      </p:sp>
      <p:sp>
        <p:nvSpPr>
          <p:cNvPr id="308" name="YearLabel"/>
          <p:cNvSpPr txBox="1"/>
          <p:nvPr/>
        </p:nvSpPr>
        <p:spPr>
          <a:xfrm>
            <a:off x="52121" y="5078578"/>
            <a:ext cx="556870" cy="784555"/>
          </a:xfrm>
          <a:prstGeom prst="rect">
            <a:avLst/>
          </a:prstGeom>
          <a:solidFill>
            <a:srgbClr val="F2F2F2"/>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2020</a:t>
            </a:r>
          </a:p>
        </p:txBody>
      </p:sp>
      <p:sp>
        <p:nvSpPr>
          <p:cNvPr id="309" name="YearLabel"/>
          <p:cNvSpPr txBox="1"/>
          <p:nvPr/>
        </p:nvSpPr>
        <p:spPr>
          <a:xfrm>
            <a:off x="52121" y="4075481"/>
            <a:ext cx="556870" cy="784555"/>
          </a:xfrm>
          <a:prstGeom prst="rect">
            <a:avLst/>
          </a:prstGeom>
          <a:solidFill>
            <a:srgbClr val="D9D9D9"/>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2021</a:t>
            </a:r>
          </a:p>
        </p:txBody>
      </p:sp>
      <p:sp>
        <p:nvSpPr>
          <p:cNvPr id="310" name="YearLabel"/>
          <p:cNvSpPr txBox="1"/>
          <p:nvPr/>
        </p:nvSpPr>
        <p:spPr>
          <a:xfrm>
            <a:off x="52121" y="3144622"/>
            <a:ext cx="556870" cy="784555"/>
          </a:xfrm>
          <a:prstGeom prst="rect">
            <a:avLst/>
          </a:prstGeom>
          <a:solidFill>
            <a:srgbClr val="BFBFBF"/>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2022</a:t>
            </a:r>
          </a:p>
        </p:txBody>
      </p:sp>
      <p:sp>
        <p:nvSpPr>
          <p:cNvPr id="311" name="EbitMarginAxisTitle"/>
          <p:cNvSpPr txBox="1"/>
          <p:nvPr/>
        </p:nvSpPr>
        <p:spPr>
          <a:xfrm>
            <a:off x="10879531" y="1037844"/>
            <a:ext cx="1069848" cy="122530"/>
          </a:xfrm>
          <a:prstGeom prst="rect">
            <a:avLst/>
          </a:prstGeom>
          <a:noFill/>
          <a:ln>
            <a:noFill/>
          </a:ln>
        </p:spPr>
        <p:txBody>
          <a:bodyPr wrap="none" anchor="b" lIns="0" tIns="0" rIns="0" bIns="0"/>
          <a:lstStyle/>
          <a:p>
            <a:pPr algn="r" marL="0" indent="0">
              <a:lnSpc>
                <a:spcPct val="100000"/>
              </a:lnSpc>
              <a:buNone/>
            </a:pPr>
            <a:r>
              <a:rPr lang="en-US" sz="800" b="1" dirty="0">
                <a:solidFill>
                  <a:srgbClr val="000000"/>
                </a:solidFill>
                <a:latin typeface="Arial"/>
                <a:ea typeface="Arial"/>
                <a:cs typeface="Arial"/>
              </a:rPr>
              <a:t>EBIT Margin (%, lines)</a:t>
            </a:r>
          </a:p>
        </p:txBody>
      </p:sp>
      <p:sp>
        <p:nvSpPr>
          <p:cNvPr id="312" name="RevenueAxisTitle"/>
          <p:cNvSpPr txBox="1"/>
          <p:nvPr/>
        </p:nvSpPr>
        <p:spPr>
          <a:xfrm>
            <a:off x="677570" y="1037844"/>
            <a:ext cx="923544" cy="122530"/>
          </a:xfrm>
          <a:prstGeom prst="rect">
            <a:avLst/>
          </a:prstGeom>
          <a:noFill/>
          <a:ln>
            <a:noFill/>
          </a:ln>
        </p:spPr>
        <p:txBody>
          <a:bodyPr wrap="none" anchor="b" lIns="0" tIns="0" rIns="0" bIns="0"/>
          <a:lstStyle/>
          <a:p>
            <a:pPr marL="0" indent="0">
              <a:lnSpc>
                <a:spcPct val="100000"/>
              </a:lnSpc>
              <a:buNone/>
            </a:pPr>
            <a:r>
              <a:rPr lang="en-US" sz="800" b="1" dirty="0">
                <a:solidFill>
                  <a:srgbClr val="000000"/>
                </a:solidFill>
                <a:latin typeface="Arial"/>
                <a:ea typeface="Arial"/>
                <a:cs typeface="Arial"/>
              </a:rPr>
              <a:t>Revenue ($B, bars)</a:t>
            </a:r>
          </a:p>
        </p:txBody>
      </p:sp>
      <p:cxnSp>
        <p:nvCxnSpPr>
          <p:cNvPr id="313" name="SegmentDivider_Shipbuilders"/>
          <p:cNvCxnSpPr/>
          <p:nvPr/>
        </p:nvCxnSpPr>
        <p:spPr>
          <a:xfrm>
            <a:off x="4516222" y="1259129"/>
            <a:ext cx="0" cy="5120640"/>
          </a:xfrm>
          <a:prstGeom prst="line">
            <a:avLst/>
          </a:prstGeom>
          <a:ln w="12700">
            <a:solidFill>
              <a:srgbClr val="808080"/>
            </a:solidFill>
          </a:ln>
        </p:spPr>
      </p:cxnSp>
      <p:cxnSp>
        <p:nvCxnSpPr>
          <p:cNvPr id="314" name="SegmentDivider_OwnerOperator"/>
          <p:cNvCxnSpPr/>
          <p:nvPr/>
        </p:nvCxnSpPr>
        <p:spPr>
          <a:xfrm>
            <a:off x="7366406" y="1259129"/>
            <a:ext cx="0" cy="5120640"/>
          </a:xfrm>
          <a:prstGeom prst="line">
            <a:avLst/>
          </a:prstGeom>
          <a:ln w="12700">
            <a:solidFill>
              <a:srgbClr val="808080"/>
            </a:solidFill>
          </a:ln>
        </p:spPr>
      </p:cxnSp>
      <p:cxnSp>
        <p:nvCxnSpPr>
          <p:cNvPr id="315" name="SegmentDivider_CharterCompanies"/>
          <p:cNvCxnSpPr/>
          <p:nvPr/>
        </p:nvCxnSpPr>
        <p:spPr>
          <a:xfrm>
            <a:off x="9569196" y="1259129"/>
            <a:ext cx="0" cy="5120640"/>
          </a:xfrm>
          <a:prstGeom prst="line">
            <a:avLst/>
          </a:prstGeom>
          <a:ln w="12700">
            <a:solidFill>
              <a:srgbClr val="808080"/>
            </a:solidFill>
          </a:ln>
        </p:spPr>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Without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(Oceangoing Commercial) | Replacing retirements unlikely to support serial production, preventing meaningful newbuild cost reductions.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OrderbookDataBand"/>
          <p:cNvSpPr txBox="1"/>
          <p:nvPr/>
        </p:nvSpPr>
        <p:spPr>
          <a:xfrm>
            <a:off x="715975" y="1923898"/>
            <a:ext cx="1238098" cy="3909974"/>
          </a:xfrm>
          <a:prstGeom prst="rect">
            <a:avLst/>
          </a:prstGeom>
          <a:solidFill>
            <a:srgbClr val="F2F2F2"/>
          </a:solidFill>
          <a:ln>
            <a:noFill/>
          </a:ln>
        </p:spPr>
        <p:txBody>
          <a:bodyPr wrap="square" anchor="b" lIns="91440" tIns="45720" rIns="91440" bIns="45720"/>
          <a:lstStyle/>
          <a:p>
            <a:pPr algn="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br/>
            <a:br/>
            <a:br/>
          </a:p>
        </p:txBody>
      </p:sp>
      <p:graphicFrame>
        <p:nvGraphicFramePr>
          <p:cNvPr id="101" name="Chart"/>
          <p:cNvGraphicFramePr/>
          <p:nvPr/>
        </p:nvGraphicFramePr>
        <p:xfrm>
          <a:off x="297180" y="1706270"/>
          <a:ext cx="6729070" cy="3808476"/>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TickLabel"/>
          <p:cNvSpPr txBox="1"/>
          <p:nvPr/>
        </p:nvSpPr>
        <p:spPr>
          <a:xfrm>
            <a:off x="758952"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2026</a:t>
            </a:r>
          </a:p>
        </p:txBody>
      </p:sp>
      <p:sp>
        <p:nvSpPr>
          <p:cNvPr id="103" name="YearTickLabel"/>
          <p:cNvSpPr txBox="1"/>
          <p:nvPr/>
        </p:nvSpPr>
        <p:spPr>
          <a:xfrm>
            <a:off x="1007669"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2027</a:t>
            </a:r>
          </a:p>
        </p:txBody>
      </p:sp>
      <p:sp>
        <p:nvSpPr>
          <p:cNvPr id="104" name="YearTickLabel"/>
          <p:cNvSpPr txBox="1"/>
          <p:nvPr/>
        </p:nvSpPr>
        <p:spPr>
          <a:xfrm>
            <a:off x="1257300"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2028</a:t>
            </a:r>
          </a:p>
        </p:txBody>
      </p:sp>
      <p:sp>
        <p:nvSpPr>
          <p:cNvPr id="105" name="YearTickLabel"/>
          <p:cNvSpPr txBox="1"/>
          <p:nvPr/>
        </p:nvSpPr>
        <p:spPr>
          <a:xfrm>
            <a:off x="1506931"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2029</a:t>
            </a:r>
          </a:p>
        </p:txBody>
      </p:sp>
      <p:sp>
        <p:nvSpPr>
          <p:cNvPr id="106" name="YearTickLabel"/>
          <p:cNvSpPr txBox="1"/>
          <p:nvPr/>
        </p:nvSpPr>
        <p:spPr>
          <a:xfrm>
            <a:off x="1755648"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2030</a:t>
            </a:r>
          </a:p>
        </p:txBody>
      </p:sp>
      <p:sp>
        <p:nvSpPr>
          <p:cNvPr id="107" name="YearTickLabel"/>
          <p:cNvSpPr txBox="1"/>
          <p:nvPr/>
        </p:nvSpPr>
        <p:spPr>
          <a:xfrm>
            <a:off x="2005279"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2031</a:t>
            </a:r>
          </a:p>
        </p:txBody>
      </p:sp>
      <p:sp>
        <p:nvSpPr>
          <p:cNvPr id="108" name="YearTickLabel"/>
          <p:cNvSpPr txBox="1"/>
          <p:nvPr/>
        </p:nvSpPr>
        <p:spPr>
          <a:xfrm>
            <a:off x="225399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2032</a:t>
            </a:r>
          </a:p>
        </p:txBody>
      </p:sp>
      <p:sp>
        <p:nvSpPr>
          <p:cNvPr id="109" name="YearTickLabel"/>
          <p:cNvSpPr txBox="1"/>
          <p:nvPr/>
        </p:nvSpPr>
        <p:spPr>
          <a:xfrm>
            <a:off x="2503627"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2033</a:t>
            </a:r>
          </a:p>
        </p:txBody>
      </p:sp>
      <p:sp>
        <p:nvSpPr>
          <p:cNvPr id="110" name="YearTickLabel"/>
          <p:cNvSpPr txBox="1"/>
          <p:nvPr/>
        </p:nvSpPr>
        <p:spPr>
          <a:xfrm>
            <a:off x="275234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2034</a:t>
            </a:r>
          </a:p>
        </p:txBody>
      </p:sp>
      <p:sp>
        <p:nvSpPr>
          <p:cNvPr id="111" name="YearTickLabel"/>
          <p:cNvSpPr txBox="1"/>
          <p:nvPr/>
        </p:nvSpPr>
        <p:spPr>
          <a:xfrm>
            <a:off x="3001975"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2035</a:t>
            </a:r>
          </a:p>
        </p:txBody>
      </p:sp>
      <p:sp>
        <p:nvSpPr>
          <p:cNvPr id="112" name="YearTickLabel"/>
          <p:cNvSpPr txBox="1"/>
          <p:nvPr/>
        </p:nvSpPr>
        <p:spPr>
          <a:xfrm>
            <a:off x="325160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2036</a:t>
            </a:r>
          </a:p>
        </p:txBody>
      </p:sp>
      <p:sp>
        <p:nvSpPr>
          <p:cNvPr id="113" name="YearTickLabel"/>
          <p:cNvSpPr txBox="1"/>
          <p:nvPr/>
        </p:nvSpPr>
        <p:spPr>
          <a:xfrm>
            <a:off x="3500323"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2037</a:t>
            </a:r>
          </a:p>
        </p:txBody>
      </p:sp>
      <p:sp>
        <p:nvSpPr>
          <p:cNvPr id="114" name="YearTickLabel"/>
          <p:cNvSpPr txBox="1"/>
          <p:nvPr/>
        </p:nvSpPr>
        <p:spPr>
          <a:xfrm>
            <a:off x="374995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2038</a:t>
            </a:r>
          </a:p>
        </p:txBody>
      </p:sp>
      <p:sp>
        <p:nvSpPr>
          <p:cNvPr id="115" name="YearTickLabel"/>
          <p:cNvSpPr txBox="1"/>
          <p:nvPr/>
        </p:nvSpPr>
        <p:spPr>
          <a:xfrm>
            <a:off x="4000500"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2039</a:t>
            </a:r>
          </a:p>
        </p:txBody>
      </p:sp>
      <p:sp>
        <p:nvSpPr>
          <p:cNvPr id="116" name="YearTickLabel"/>
          <p:cNvSpPr txBox="1"/>
          <p:nvPr/>
        </p:nvSpPr>
        <p:spPr>
          <a:xfrm>
            <a:off x="4250131"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2040</a:t>
            </a:r>
          </a:p>
        </p:txBody>
      </p:sp>
      <p:sp>
        <p:nvSpPr>
          <p:cNvPr id="117" name="YearTickLabel"/>
          <p:cNvSpPr txBox="1"/>
          <p:nvPr/>
        </p:nvSpPr>
        <p:spPr>
          <a:xfrm>
            <a:off x="4498848"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2041</a:t>
            </a:r>
          </a:p>
        </p:txBody>
      </p:sp>
      <p:sp>
        <p:nvSpPr>
          <p:cNvPr id="118" name="YearTickLabel"/>
          <p:cNvSpPr txBox="1"/>
          <p:nvPr/>
        </p:nvSpPr>
        <p:spPr>
          <a:xfrm>
            <a:off x="4748479"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2042</a:t>
            </a:r>
          </a:p>
        </p:txBody>
      </p:sp>
      <p:sp>
        <p:nvSpPr>
          <p:cNvPr id="119" name="YearTickLabel"/>
          <p:cNvSpPr txBox="1"/>
          <p:nvPr/>
        </p:nvSpPr>
        <p:spPr>
          <a:xfrm>
            <a:off x="499719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2043</a:t>
            </a:r>
          </a:p>
        </p:txBody>
      </p:sp>
      <p:sp>
        <p:nvSpPr>
          <p:cNvPr id="120" name="YearTickLabel"/>
          <p:cNvSpPr txBox="1"/>
          <p:nvPr/>
        </p:nvSpPr>
        <p:spPr>
          <a:xfrm>
            <a:off x="549554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2045</a:t>
            </a:r>
          </a:p>
        </p:txBody>
      </p:sp>
      <p:sp>
        <p:nvSpPr>
          <p:cNvPr id="121" name="YearTickLabel"/>
          <p:cNvSpPr txBox="1"/>
          <p:nvPr/>
        </p:nvSpPr>
        <p:spPr>
          <a:xfrm>
            <a:off x="5745175"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2046</a:t>
            </a:r>
          </a:p>
        </p:txBody>
      </p:sp>
      <p:sp>
        <p:nvSpPr>
          <p:cNvPr id="122" name="YearTickLabel"/>
          <p:cNvSpPr txBox="1"/>
          <p:nvPr/>
        </p:nvSpPr>
        <p:spPr>
          <a:xfrm>
            <a:off x="599480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2047</a:t>
            </a:r>
          </a:p>
        </p:txBody>
      </p:sp>
      <p:sp>
        <p:nvSpPr>
          <p:cNvPr id="123" name="YearTickLabel"/>
          <p:cNvSpPr txBox="1"/>
          <p:nvPr/>
        </p:nvSpPr>
        <p:spPr>
          <a:xfrm>
            <a:off x="6243523"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2048</a:t>
            </a:r>
          </a:p>
        </p:txBody>
      </p:sp>
      <p:sp>
        <p:nvSpPr>
          <p:cNvPr id="124" name="YearTickLabel"/>
          <p:cNvSpPr txBox="1"/>
          <p:nvPr/>
        </p:nvSpPr>
        <p:spPr>
          <a:xfrm>
            <a:off x="649315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2049</a:t>
            </a:r>
          </a:p>
        </p:txBody>
      </p:sp>
      <p:sp>
        <p:nvSpPr>
          <p:cNvPr id="125" name="YearTickLabel"/>
          <p:cNvSpPr txBox="1"/>
          <p:nvPr/>
        </p:nvSpPr>
        <p:spPr>
          <a:xfrm>
            <a:off x="6741871"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2050</a:t>
            </a:r>
          </a:p>
        </p:txBody>
      </p:sp>
      <p:sp>
        <p:nvSpPr>
          <p:cNvPr id="126" name="YearTickLabel"/>
          <p:cNvSpPr txBox="1"/>
          <p:nvPr/>
        </p:nvSpPr>
        <p:spPr>
          <a:xfrm>
            <a:off x="5246827"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2044</a:t>
            </a:r>
          </a:p>
        </p:txBody>
      </p:sp>
      <p:sp>
        <p:nvSpPr>
          <p:cNvPr id="127" name="ChartTitle"/>
          <p:cNvSpPr txBox="1"/>
          <p:nvPr/>
        </p:nvSpPr>
        <p:spPr>
          <a:xfrm>
            <a:off x="442570" y="1602029"/>
            <a:ext cx="613288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Oceangoing Commercial Vessels (# Hulls)</a:t>
            </a:r>
          </a:p>
        </p:txBody>
      </p:sp>
      <p:sp>
        <p:nvSpPr>
          <p:cNvPr id="128" name="BarTotalLabel"/>
          <p:cNvSpPr txBox="1"/>
          <p:nvPr/>
        </p:nvSpPr>
        <p:spPr>
          <a:xfrm>
            <a:off x="761695" y="531449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-9</a:t>
            </a:r>
          </a:p>
        </p:txBody>
      </p:sp>
      <p:sp>
        <p:nvSpPr>
          <p:cNvPr id="129" name="BarTotalLabel"/>
          <p:cNvSpPr txBox="1"/>
          <p:nvPr/>
        </p:nvSpPr>
        <p:spPr>
          <a:xfrm>
            <a:off x="1011326"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0" name="BarTotalLabel"/>
          <p:cNvSpPr txBox="1"/>
          <p:nvPr/>
        </p:nvSpPr>
        <p:spPr>
          <a:xfrm>
            <a:off x="2257654"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1" name="BarTotalLabel"/>
          <p:cNvSpPr txBox="1"/>
          <p:nvPr/>
        </p:nvSpPr>
        <p:spPr>
          <a:xfrm>
            <a:off x="375269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2" name="BarTotalLabel"/>
          <p:cNvSpPr txBox="1"/>
          <p:nvPr/>
        </p:nvSpPr>
        <p:spPr>
          <a:xfrm>
            <a:off x="4252874"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33" name="BarTotalLabel"/>
          <p:cNvSpPr txBox="1"/>
          <p:nvPr/>
        </p:nvSpPr>
        <p:spPr>
          <a:xfrm>
            <a:off x="5000854" y="447507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-5</a:t>
            </a:r>
          </a:p>
        </p:txBody>
      </p:sp>
      <p:sp>
        <p:nvSpPr>
          <p:cNvPr id="134" name="BarTotalLabel"/>
          <p:cNvSpPr txBox="1"/>
          <p:nvPr/>
        </p:nvSpPr>
        <p:spPr>
          <a:xfrm>
            <a:off x="5249570"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5" name="BarTotalLabel"/>
          <p:cNvSpPr txBox="1"/>
          <p:nvPr/>
        </p:nvSpPr>
        <p:spPr>
          <a:xfrm>
            <a:off x="5499202"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6" name="BarTotalLabel"/>
          <p:cNvSpPr txBox="1"/>
          <p:nvPr/>
        </p:nvSpPr>
        <p:spPr>
          <a:xfrm>
            <a:off x="574791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7" name="ManualizedChartXmlLabel"/>
          <p:cNvSpPr txBox="1"/>
          <p:nvPr/>
        </p:nvSpPr>
        <p:spPr>
          <a:xfrm>
            <a:off x="1260043" y="2930652"/>
            <a:ext cx="105156"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8" name="ManualizedChartXmlLabel"/>
          <p:cNvSpPr txBox="1"/>
          <p:nvPr/>
        </p:nvSpPr>
        <p:spPr>
          <a:xfrm>
            <a:off x="2008022"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9" name="ManualizedChartXmlLabel"/>
          <p:cNvSpPr txBox="1"/>
          <p:nvPr/>
        </p:nvSpPr>
        <p:spPr>
          <a:xfrm>
            <a:off x="2506370"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0" name="ManualizedChartXmlLabel"/>
          <p:cNvSpPr txBox="1"/>
          <p:nvPr/>
        </p:nvSpPr>
        <p:spPr>
          <a:xfrm>
            <a:off x="2755087"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1" name="ManualizedChartXmlLabel"/>
          <p:cNvSpPr txBox="1"/>
          <p:nvPr/>
        </p:nvSpPr>
        <p:spPr>
          <a:xfrm>
            <a:off x="3254350"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2" name="ManualizedChartXmlLabel"/>
          <p:cNvSpPr txBox="1"/>
          <p:nvPr/>
        </p:nvSpPr>
        <p:spPr>
          <a:xfrm>
            <a:off x="35030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3" name="ManualizedChartXmlLabel"/>
          <p:cNvSpPr txBox="1"/>
          <p:nvPr/>
        </p:nvSpPr>
        <p:spPr>
          <a:xfrm>
            <a:off x="4003243"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4" name="ManualizedChartXmlLabel"/>
          <p:cNvSpPr txBox="1"/>
          <p:nvPr/>
        </p:nvSpPr>
        <p:spPr>
          <a:xfrm>
            <a:off x="4501591"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5" name="ManualizedChartXmlLabel"/>
          <p:cNvSpPr txBox="1"/>
          <p:nvPr/>
        </p:nvSpPr>
        <p:spPr>
          <a:xfrm>
            <a:off x="4751222"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6" name="ManualizedChartXmlLabel"/>
          <p:cNvSpPr txBox="1"/>
          <p:nvPr/>
        </p:nvSpPr>
        <p:spPr>
          <a:xfrm>
            <a:off x="5997550"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7" name="ManualizedChartXmlLabel"/>
          <p:cNvSpPr txBox="1"/>
          <p:nvPr/>
        </p:nvSpPr>
        <p:spPr>
          <a:xfrm>
            <a:off x="62462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8" name="ManualizedChartXmlLabel"/>
          <p:cNvSpPr txBox="1"/>
          <p:nvPr/>
        </p:nvSpPr>
        <p:spPr>
          <a:xfrm>
            <a:off x="6495898"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9" name="ManualizedChartXmlLabel"/>
          <p:cNvSpPr txBox="1"/>
          <p:nvPr/>
        </p:nvSpPr>
        <p:spPr>
          <a:xfrm>
            <a:off x="6744614" y="430682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-4</a:t>
            </a:r>
          </a:p>
        </p:txBody>
      </p:sp>
      <p:sp>
        <p:nvSpPr>
          <p:cNvPr id="150" name="OrderbookValueLabel"/>
          <p:cNvSpPr txBox="1"/>
          <p:nvPr/>
        </p:nvSpPr>
        <p:spPr>
          <a:xfrm>
            <a:off x="1530706"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151" name="OrderbookValueLabel"/>
          <p:cNvSpPr txBox="1"/>
          <p:nvPr/>
        </p:nvSpPr>
        <p:spPr>
          <a:xfrm>
            <a:off x="1779422"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graphicFrame>
        <p:nvGraphicFramePr>
          <p:cNvPr id="152" name="RetirementReplacementTable"/>
          <p:cNvGraphicFramePr>
            <a:graphicFrameLocks noGrp="1"/>
          </p:cNvGraphicFramePr>
          <p:nvPr/>
        </p:nvGraphicFramePr>
        <p:xfrm>
          <a:off x="7083857" y="1540764"/>
          <a:ext cx="4616806" cy="353598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Container</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C30C3E"/>
                          </a:solidFill>
                          <a:latin typeface="Arial"/>
                          <a:ea typeface="Arial"/>
                          <a:cs typeface="Arial"/>
                        </a:rPr>
                        <a:t>~0.6</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~0.4</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General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6F8DB9"/>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364D6E"/>
                    </a:solidFill>
                  </a:tcPr>
                </a:tc>
                <a:tc>
                  <a:txBody>
                    <a:bodyPr anchor="ctr"/>
                    <a:lstStyle/>
                    <a:p>
                      <a:pPr algn="ctr">
                        <a:lnSpc>
                          <a:spcPct val="100000"/>
                        </a:lnSpc>
                      </a:pPr>
                      <a:r>
                        <a:rPr lang="en-US" sz="1600" b="1" dirty="0">
                          <a:solidFill>
                            <a:srgbClr val="C30C3E"/>
                          </a:solidFill>
                          <a:latin typeface="Arial"/>
                          <a:ea typeface="Arial"/>
                          <a:cs typeface="Arial"/>
                        </a:rPr>
                        <a:t>~1.7</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~1.2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Assumes owners replace retirements 1-for-1 and at the end of estimated service life</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Tanker figures include multiple types, including product, chemical &amp; oil, crude, and shuttle</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53" name="RetirementsLegendFrame"/>
          <p:cNvSpPr txBox="1"/>
          <p:nvPr/>
        </p:nvSpPr>
        <p:spPr>
          <a:xfrm>
            <a:off x="4830775"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4873752" y="2393899"/>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4873752" y="2596896"/>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4873752" y="2799893"/>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4873752" y="3003804"/>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5753405" y="2393899"/>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5753405" y="259689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5753405" y="2799893"/>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61" name="LegendSwatch"/>
          <p:cNvSpPr txBox="1"/>
          <p:nvPr/>
        </p:nvSpPr>
        <p:spPr>
          <a:xfrm>
            <a:off x="5753405" y="3003804"/>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62" name="LegendLabel"/>
          <p:cNvSpPr txBox="1"/>
          <p:nvPr/>
        </p:nvSpPr>
        <p:spPr>
          <a:xfrm>
            <a:off x="5104181"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3" name="LegendLabel"/>
          <p:cNvSpPr txBox="1"/>
          <p:nvPr/>
        </p:nvSpPr>
        <p:spPr>
          <a:xfrm>
            <a:off x="5104181"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4" name="LegendLabel"/>
          <p:cNvSpPr txBox="1"/>
          <p:nvPr/>
        </p:nvSpPr>
        <p:spPr>
          <a:xfrm>
            <a:off x="5104181"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5" name="LegendLabel"/>
          <p:cNvSpPr txBox="1"/>
          <p:nvPr/>
        </p:nvSpPr>
        <p:spPr>
          <a:xfrm>
            <a:off x="5104181"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66" name="LegendLabel"/>
          <p:cNvSpPr txBox="1"/>
          <p:nvPr/>
        </p:nvSpPr>
        <p:spPr>
          <a:xfrm>
            <a:off x="5982919"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7" name="LegendLabel"/>
          <p:cNvSpPr txBox="1"/>
          <p:nvPr/>
        </p:nvSpPr>
        <p:spPr>
          <a:xfrm>
            <a:off x="5982919"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8" name="LegendLabel"/>
          <p:cNvSpPr txBox="1"/>
          <p:nvPr/>
        </p:nvSpPr>
        <p:spPr>
          <a:xfrm>
            <a:off x="5982919"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9" name="LegendLabel"/>
          <p:cNvSpPr txBox="1"/>
          <p:nvPr/>
        </p:nvSpPr>
        <p:spPr>
          <a:xfrm>
            <a:off x="5982919"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70" name="BarTotalCallout"/>
          <p:cNvSpPr txBox="1"/>
          <p:nvPr/>
        </p:nvSpPr>
        <p:spPr>
          <a:xfrm>
            <a:off x="4748479" y="1796796"/>
            <a:ext cx="2178101"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71" name="RetirementsLegendCaption"/>
          <p:cNvSpPr txBox="1"/>
          <p:nvPr/>
        </p:nvSpPr>
        <p:spPr>
          <a:xfrm>
            <a:off x="4869180"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Retirements</a:t>
            </a:r>
            <a:r>
              <a:rPr lang="en-US" sz="800" i="1" baseline="30000" dirty="0">
                <a:solidFill>
                  <a:srgbClr val="000000"/>
                </a:solidFill>
                <a:latin typeface="Arial"/>
                <a:ea typeface="Arial"/>
                <a:cs typeface="Arial"/>
              </a:rPr>
              <a:t>1</a:t>
            </a:r>
          </a:p>
        </p:txBody>
      </p:sp>
      <p:sp>
        <p:nvSpPr>
          <p:cNvPr id="172" name="OrderbookLegendFrame"/>
          <p:cNvSpPr txBox="1"/>
          <p:nvPr/>
        </p:nvSpPr>
        <p:spPr>
          <a:xfrm>
            <a:off x="5712257"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73" name="OrderbookLegendCaption"/>
          <p:cNvSpPr txBox="1"/>
          <p:nvPr/>
        </p:nvSpPr>
        <p:spPr>
          <a:xfrm>
            <a:off x="5749747"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Orderbook</a:t>
            </a:r>
            <a:r>
              <a:rPr lang="en-US" sz="800" i="1" baseline="30000" dirty="0">
                <a:solidFill>
                  <a:srgbClr val="000000"/>
                </a:solidFill>
                <a:latin typeface="Arial"/>
                <a:ea typeface="Arial"/>
                <a:cs typeface="Arial"/>
              </a:rPr>
              <a:t>2</a:t>
            </a:r>
          </a:p>
        </p:txBody>
      </p:sp>
      <p:sp>
        <p:nvSpPr>
          <p:cNvPr id="174" name="TakeawayBanner"/>
          <p:cNvSpPr txBox="1"/>
          <p:nvPr/>
        </p:nvSpPr>
        <p:spPr>
          <a:xfrm>
            <a:off x="7123176" y="5168189"/>
            <a:ext cx="4657954" cy="621792"/>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~0.2-1.2 vessels per year is insufficient for serial production </a:t>
            </a:r>
            <a:r>
              <a:rPr lang="en-US" sz="1200" i="1" dirty="0">
                <a:solidFill>
                  <a:srgbClr val="000000"/>
                </a:solidFill>
                <a:latin typeface="Arial"/>
                <a:ea typeface="Arial"/>
                <a:cs typeface="Arial"/>
              </a:rPr>
              <a:t>(5+ hulls/yr. to achieve max labor efficiencies by end of year 2)</a:t>
            </a:r>
          </a:p>
        </p:txBody>
      </p:sp>
      <p:sp>
        <p:nvSpPr>
          <p:cNvPr id="175" name="SourceNote"/>
          <p:cNvSpPr txBox="1"/>
          <p:nvPr/>
        </p:nvSpPr>
        <p:spPr>
          <a:xfrm>
            <a:off x="452628" y="6108192"/>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Service life assumptions – 40 years for Bulk, Container, General Cargo, and RORO, 35 years for Tankers, 30 years for PSVs, and 25 years for Crew/FSVs; (2) All Oceangoing Commercial vessels in orderbook are built at Hanwha Philly, including containerships purchased by Matson and 12x tankers (10x Chemical &amp; Oil and 2x LNG) purchased by Hanwha Shipping | Source: Clarksons (US fleet size and GT data)</a:t>
            </a:r>
          </a:p>
        </p:txBody>
      </p:sp>
      <p:sp>
        <p:nvSpPr>
          <p:cNvPr id="176" name="SerialProductionGlyph"/>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C30C3E"/>
                </a:solidFill>
                <a:latin typeface="Arial"/>
                <a:ea typeface="Arial"/>
                <a:cs typeface="Arial"/>
              </a:rPr>
              <a:t>#</a:t>
            </a:r>
          </a:p>
        </p:txBody>
      </p:sp>
      <p:sp>
        <p:nvSpPr>
          <p:cNvPr id="177" name="SerialProductionLabel"/>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Does not support serial production</a:t>
            </a:r>
          </a:p>
        </p:txBody>
      </p:sp>
      <p:sp>
        <p:nvSpPr>
          <p:cNvPr id="178" name="SerialProductionGlyph"/>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79" name="SerialProductionLabel"/>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180" name="HanwhaPurchaseCallout"/>
          <p:cNvSpPr txBox="1"/>
          <p:nvPr/>
        </p:nvSpPr>
        <p:spPr>
          <a:xfrm>
            <a:off x="2047342" y="2894990"/>
            <a:ext cx="1372514" cy="380390"/>
          </a:xfrm>
          <a:prstGeom prst="wedgeRectCallout">
            <a:avLst>
              <a:gd name="adj1" fmla="val -59329"/>
              <a:gd name="adj2" fmla="val -21373"/>
            </a:avLst>
          </a:prstGeom>
          <a:no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12x purchased by Hanwha Shipping</a:t>
            </a:r>
          </a:p>
        </p:txBody>
      </p:sp>
      <p:sp>
        <p:nvSpPr>
          <p:cNvPr id="181"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Volume | Current bill language specifying total funding for subsidies limits annual fleet additions to single digits by mid-2030s; revisions required to increase demand.</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marL="0" indent="0">
              <a:lnSpc>
                <a:spcPct val="100000"/>
              </a:lnSpc>
              <a:buNone/>
            </a:pPr>
            <a:r>
              <a:rPr lang="en-US" sz="1200" b="1" dirty="0">
                <a:solidFill>
                  <a:srgbClr val="000000"/>
                </a:solidFill>
                <a:latin typeface="Arial"/>
                <a:ea typeface="Arial"/>
                <a:cs typeface="Arial"/>
              </a:rPr>
              <a:t>Preliminary</a:t>
            </a:r>
          </a:p>
        </p:txBody>
      </p:sp>
      <p:sp>
        <p:nvSpPr>
          <p:cNvPr id="100" name="ScenarioChip"/>
          <p:cNvSpPr txBox="1"/>
          <p:nvPr/>
        </p:nvSpPr>
        <p:spPr>
          <a:xfrm>
            <a:off x="7378294" y="158191"/>
            <a:ext cx="2722169" cy="199339"/>
          </a:xfrm>
          <a:prstGeom prst="rect">
            <a:avLst/>
          </a:prstGeom>
          <a:solidFill>
            <a:srgbClr val="447BB2"/>
          </a:solidFill>
          <a:ln w="19050">
            <a:solidFill>
              <a:srgbClr val="000000"/>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(2) SHIPS Act Scenario</a:t>
            </a:r>
          </a:p>
        </p:txBody>
      </p:sp>
      <p:graphicFrame>
        <p:nvGraphicFramePr>
          <p:cNvPr id="101"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2"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7"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8" name="PhaseCapacityRuleAnchor"/>
          <p:cNvCxnSpPr/>
          <p:nvPr/>
        </p:nvCxnSpPr>
        <p:spPr>
          <a:xfrm>
            <a:off x="833018" y="2803550"/>
            <a:ext cx="9829800" cy="0"/>
          </a:xfrm>
          <a:prstGeom prst="line">
            <a:avLst/>
          </a:prstGeom>
          <a:ln w="9525">
            <a:noFill/>
            <a:prstDash val="lgDash"/>
          </a:ln>
        </p:spPr>
      </p:cxnSp>
      <p:cxnSp>
        <p:nvCxnSpPr>
          <p:cNvPr id="109" name="PhaseCapacityRuleAnchor"/>
          <p:cNvCxnSpPr/>
          <p:nvPr/>
        </p:nvCxnSpPr>
        <p:spPr>
          <a:xfrm>
            <a:off x="833018" y="2003450"/>
            <a:ext cx="9829800" cy="0"/>
          </a:xfrm>
          <a:prstGeom prst="line">
            <a:avLst/>
          </a:prstGeom>
          <a:ln w="9525">
            <a:noFill/>
            <a:prstDash val="lgDash"/>
          </a:ln>
        </p:spPr>
      </p:cxnSp>
      <p:cxnSp>
        <p:nvCxnSpPr>
          <p:cNvPr id="110" name="PhaseCapacityRuleAnchor"/>
          <p:cNvCxnSpPr/>
          <p:nvPr/>
        </p:nvCxnSpPr>
        <p:spPr>
          <a:xfrm>
            <a:off x="833018" y="2506370"/>
            <a:ext cx="9829800" cy="0"/>
          </a:xfrm>
          <a:prstGeom prst="line">
            <a:avLst/>
          </a:prstGeom>
          <a:ln w="9525">
            <a:noFill/>
            <a:prstDash val="lgDash"/>
          </a:ln>
        </p:spPr>
      </p:cxnSp>
      <p:cxnSp>
        <p:nvCxnSpPr>
          <p:cNvPr id="111" name="PhaseCapacityRuleAnchor"/>
          <p:cNvCxnSpPr/>
          <p:nvPr/>
        </p:nvCxnSpPr>
        <p:spPr>
          <a:xfrm>
            <a:off x="833018" y="3396082"/>
            <a:ext cx="9829800" cy="0"/>
          </a:xfrm>
          <a:prstGeom prst="line">
            <a:avLst/>
          </a:prstGeom>
          <a:ln w="9525">
            <a:noFill/>
            <a:prstDash val="lgDash"/>
          </a:ln>
        </p:spPr>
      </p:cxnSp>
      <p:cxnSp>
        <p:nvCxnSpPr>
          <p:cNvPr id="112" name="PhaseCapacityRuleAnchor"/>
          <p:cNvCxnSpPr/>
          <p:nvPr/>
        </p:nvCxnSpPr>
        <p:spPr>
          <a:xfrm>
            <a:off x="833018" y="3989527"/>
            <a:ext cx="9829800" cy="0"/>
          </a:xfrm>
          <a:prstGeom prst="line">
            <a:avLst/>
          </a:prstGeom>
          <a:ln w="9525">
            <a:noFill/>
            <a:prstDash val="lgDash"/>
          </a:ln>
        </p:spPr>
      </p:cxnSp>
      <p:cxnSp>
        <p:nvCxnSpPr>
          <p:cNvPr id="113" name="PhaseCapacityRuleAnchor"/>
          <p:cNvCxnSpPr/>
          <p:nvPr/>
        </p:nvCxnSpPr>
        <p:spPr>
          <a:xfrm>
            <a:off x="833018" y="4270248"/>
            <a:ext cx="9829800" cy="0"/>
          </a:xfrm>
          <a:prstGeom prst="line">
            <a:avLst/>
          </a:prstGeom>
          <a:ln w="9525">
            <a:noFill/>
            <a:prstDash val="lgDash"/>
          </a:ln>
        </p:spPr>
      </p:cxnSp>
      <p:sp>
        <p:nvSpPr>
          <p:cNvPr id="114" name="YearLabel"/>
          <p:cNvSpPr txBox="1"/>
          <p:nvPr/>
        </p:nvSpPr>
        <p:spPr>
          <a:xfrm>
            <a:off x="52623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2037</a:t>
            </a:r>
          </a:p>
        </p:txBody>
      </p:sp>
      <p:sp>
        <p:nvSpPr>
          <p:cNvPr id="115" name="YearLabel"/>
          <p:cNvSpPr txBox="1"/>
          <p:nvPr/>
        </p:nvSpPr>
        <p:spPr>
          <a:xfrm>
            <a:off x="56720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2038</a:t>
            </a:r>
          </a:p>
        </p:txBody>
      </p:sp>
      <p:sp>
        <p:nvSpPr>
          <p:cNvPr id="116" name="YearLabel"/>
          <p:cNvSpPr txBox="1"/>
          <p:nvPr/>
        </p:nvSpPr>
        <p:spPr>
          <a:xfrm>
            <a:off x="60816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2039</a:t>
            </a:r>
          </a:p>
        </p:txBody>
      </p:sp>
      <p:sp>
        <p:nvSpPr>
          <p:cNvPr id="117" name="YearLabel"/>
          <p:cNvSpPr txBox="1"/>
          <p:nvPr/>
        </p:nvSpPr>
        <p:spPr>
          <a:xfrm>
            <a:off x="64913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2040</a:t>
            </a:r>
          </a:p>
        </p:txBody>
      </p:sp>
      <p:sp>
        <p:nvSpPr>
          <p:cNvPr id="118" name="YearLabel"/>
          <p:cNvSpPr txBox="1"/>
          <p:nvPr/>
        </p:nvSpPr>
        <p:spPr>
          <a:xfrm>
            <a:off x="69009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2041</a:t>
            </a:r>
          </a:p>
        </p:txBody>
      </p:sp>
      <p:sp>
        <p:nvSpPr>
          <p:cNvPr id="119" name="YearLabel"/>
          <p:cNvSpPr txBox="1"/>
          <p:nvPr/>
        </p:nvSpPr>
        <p:spPr>
          <a:xfrm>
            <a:off x="77202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2043</a:t>
            </a:r>
          </a:p>
        </p:txBody>
      </p:sp>
      <p:sp>
        <p:nvSpPr>
          <p:cNvPr id="120" name="YearLabel"/>
          <p:cNvSpPr txBox="1"/>
          <p:nvPr/>
        </p:nvSpPr>
        <p:spPr>
          <a:xfrm>
            <a:off x="81299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2044</a:t>
            </a:r>
          </a:p>
        </p:txBody>
      </p:sp>
      <p:sp>
        <p:nvSpPr>
          <p:cNvPr id="121" name="YearLabel"/>
          <p:cNvSpPr txBox="1"/>
          <p:nvPr/>
        </p:nvSpPr>
        <p:spPr>
          <a:xfrm>
            <a:off x="85395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2045</a:t>
            </a:r>
          </a:p>
        </p:txBody>
      </p:sp>
      <p:sp>
        <p:nvSpPr>
          <p:cNvPr id="122" name="YearLabel"/>
          <p:cNvSpPr txBox="1"/>
          <p:nvPr/>
        </p:nvSpPr>
        <p:spPr>
          <a:xfrm>
            <a:off x="89483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2046</a:t>
            </a:r>
          </a:p>
        </p:txBody>
      </p:sp>
      <p:sp>
        <p:nvSpPr>
          <p:cNvPr id="123" name="YearLabel"/>
          <p:cNvSpPr txBox="1"/>
          <p:nvPr/>
        </p:nvSpPr>
        <p:spPr>
          <a:xfrm>
            <a:off x="23957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2030</a:t>
            </a:r>
          </a:p>
        </p:txBody>
      </p:sp>
      <p:sp>
        <p:nvSpPr>
          <p:cNvPr id="124" name="YearLabel"/>
          <p:cNvSpPr txBox="1"/>
          <p:nvPr/>
        </p:nvSpPr>
        <p:spPr>
          <a:xfrm>
            <a:off x="97676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2048</a:t>
            </a:r>
          </a:p>
        </p:txBody>
      </p:sp>
      <p:sp>
        <p:nvSpPr>
          <p:cNvPr id="125" name="YearLabel"/>
          <p:cNvSpPr txBox="1"/>
          <p:nvPr/>
        </p:nvSpPr>
        <p:spPr>
          <a:xfrm>
            <a:off x="101772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2049</a:t>
            </a:r>
          </a:p>
        </p:txBody>
      </p:sp>
      <p:sp>
        <p:nvSpPr>
          <p:cNvPr id="126" name="YearLabel"/>
          <p:cNvSpPr txBox="1"/>
          <p:nvPr/>
        </p:nvSpPr>
        <p:spPr>
          <a:xfrm>
            <a:off x="105869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2050</a:t>
            </a:r>
          </a:p>
        </p:txBody>
      </p:sp>
      <p:sp>
        <p:nvSpPr>
          <p:cNvPr id="127" name="YearLabel"/>
          <p:cNvSpPr txBox="1"/>
          <p:nvPr/>
        </p:nvSpPr>
        <p:spPr>
          <a:xfrm>
            <a:off x="93579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2047</a:t>
            </a:r>
          </a:p>
        </p:txBody>
      </p:sp>
      <p:sp>
        <p:nvSpPr>
          <p:cNvPr id="128" name="YearLabel"/>
          <p:cNvSpPr txBox="1"/>
          <p:nvPr/>
        </p:nvSpPr>
        <p:spPr>
          <a:xfrm>
            <a:off x="7571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2026</a:t>
            </a:r>
          </a:p>
        </p:txBody>
      </p:sp>
      <p:sp>
        <p:nvSpPr>
          <p:cNvPr id="129" name="YearLabel"/>
          <p:cNvSpPr txBox="1"/>
          <p:nvPr/>
        </p:nvSpPr>
        <p:spPr>
          <a:xfrm>
            <a:off x="11667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2027</a:t>
            </a:r>
          </a:p>
        </p:txBody>
      </p:sp>
      <p:sp>
        <p:nvSpPr>
          <p:cNvPr id="130" name="YearLabel"/>
          <p:cNvSpPr txBox="1"/>
          <p:nvPr/>
        </p:nvSpPr>
        <p:spPr>
          <a:xfrm>
            <a:off x="15764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2028</a:t>
            </a:r>
          </a:p>
        </p:txBody>
      </p:sp>
      <p:sp>
        <p:nvSpPr>
          <p:cNvPr id="131" name="YearLabel"/>
          <p:cNvSpPr txBox="1"/>
          <p:nvPr/>
        </p:nvSpPr>
        <p:spPr>
          <a:xfrm>
            <a:off x="19860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2029</a:t>
            </a:r>
          </a:p>
        </p:txBody>
      </p:sp>
      <p:sp>
        <p:nvSpPr>
          <p:cNvPr id="132" name="YearLabel"/>
          <p:cNvSpPr txBox="1"/>
          <p:nvPr/>
        </p:nvSpPr>
        <p:spPr>
          <a:xfrm>
            <a:off x="28053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2031</a:t>
            </a:r>
          </a:p>
        </p:txBody>
      </p:sp>
      <p:sp>
        <p:nvSpPr>
          <p:cNvPr id="133" name="YearLabel"/>
          <p:cNvSpPr txBox="1"/>
          <p:nvPr/>
        </p:nvSpPr>
        <p:spPr>
          <a:xfrm>
            <a:off x="32150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2032</a:t>
            </a:r>
          </a:p>
        </p:txBody>
      </p:sp>
      <p:sp>
        <p:nvSpPr>
          <p:cNvPr id="134" name="YearLabel"/>
          <p:cNvSpPr txBox="1"/>
          <p:nvPr/>
        </p:nvSpPr>
        <p:spPr>
          <a:xfrm>
            <a:off x="73106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2042</a:t>
            </a:r>
          </a:p>
        </p:txBody>
      </p:sp>
      <p:sp>
        <p:nvSpPr>
          <p:cNvPr id="135" name="YearLabel"/>
          <p:cNvSpPr txBox="1"/>
          <p:nvPr/>
        </p:nvSpPr>
        <p:spPr>
          <a:xfrm>
            <a:off x="36246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2033</a:t>
            </a:r>
          </a:p>
        </p:txBody>
      </p:sp>
      <p:sp>
        <p:nvSpPr>
          <p:cNvPr id="136" name="YearLabel"/>
          <p:cNvSpPr txBox="1"/>
          <p:nvPr/>
        </p:nvSpPr>
        <p:spPr>
          <a:xfrm>
            <a:off x="40334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2034</a:t>
            </a:r>
          </a:p>
        </p:txBody>
      </p:sp>
      <p:sp>
        <p:nvSpPr>
          <p:cNvPr id="137" name="YearLabel"/>
          <p:cNvSpPr txBox="1"/>
          <p:nvPr/>
        </p:nvSpPr>
        <p:spPr>
          <a:xfrm>
            <a:off x="44430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2035</a:t>
            </a:r>
          </a:p>
        </p:txBody>
      </p:sp>
      <p:sp>
        <p:nvSpPr>
          <p:cNvPr id="138" name="YearLabel"/>
          <p:cNvSpPr txBox="1"/>
          <p:nvPr/>
        </p:nvSpPr>
        <p:spPr>
          <a:xfrm>
            <a:off x="48527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2036</a:t>
            </a:r>
          </a:p>
        </p:txBody>
      </p:sp>
      <p:sp>
        <p:nvSpPr>
          <p:cNvPr id="139" name="RightAxisCapLabel"/>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40" name="ChartAxisTitle"/>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1" name="Referenc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2" name="Referenc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3" name="Referenc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4" name="Referenc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5" name="Referenc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cxnSp>
        <p:nvCxnSpPr>
          <p:cNvPr id="146" name="PhaseCapacityRule"/>
          <p:cNvCxnSpPr/>
          <p:nvPr/>
        </p:nvCxnSpPr>
        <p:spPr>
          <a:xfrm>
            <a:off x="834847" y="2495398"/>
            <a:ext cx="9966960" cy="7315"/>
          </a:xfrm>
          <a:prstGeom prst="line">
            <a:avLst/>
          </a:prstGeom>
          <a:ln w="9525">
            <a:solidFill>
              <a:srgbClr val="000000"/>
            </a:solidFill>
            <a:prstDash val="dash"/>
          </a:ln>
        </p:spPr>
      </p:cxnSp>
      <p:cxnSp>
        <p:nvCxnSpPr>
          <p:cNvPr id="147" name="PhaseCapacityRule"/>
          <p:cNvCxnSpPr/>
          <p:nvPr/>
        </p:nvCxnSpPr>
        <p:spPr>
          <a:xfrm>
            <a:off x="834847" y="1996135"/>
            <a:ext cx="9966960" cy="7315"/>
          </a:xfrm>
          <a:prstGeom prst="line">
            <a:avLst/>
          </a:prstGeom>
          <a:ln w="9525">
            <a:solidFill>
              <a:srgbClr val="000000"/>
            </a:solidFill>
            <a:prstDash val="dash"/>
          </a:ln>
        </p:spPr>
      </p:cxnSp>
      <p:sp>
        <p:nvSpPr>
          <p:cNvPr id="148"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49"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0"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1"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2"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HeritageTargetPatternSwatch"/>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54" name="Legend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55" name="Legend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56" name="LegendLabel"/>
          <p:cNvSpPr txBox="1"/>
          <p:nvPr/>
        </p:nvSpPr>
        <p:spPr>
          <a:xfrm>
            <a:off x="1227125" y="2163470"/>
            <a:ext cx="11301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Scenario</a:t>
            </a:r>
          </a:p>
        </p:txBody>
      </p:sp>
      <p:sp>
        <p:nvSpPr>
          <p:cNvPr id="157" name="Legend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58" name="Legend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9" name="PhaseCapacityRule"/>
          <p:cNvCxnSpPr/>
          <p:nvPr/>
        </p:nvCxnSpPr>
        <p:spPr>
          <a:xfrm>
            <a:off x="834847" y="2790749"/>
            <a:ext cx="9966960" cy="7315"/>
          </a:xfrm>
          <a:prstGeom prst="line">
            <a:avLst/>
          </a:prstGeom>
          <a:ln w="9525">
            <a:solidFill>
              <a:srgbClr val="000000"/>
            </a:solidFill>
            <a:prstDash val="dash"/>
          </a:ln>
        </p:spPr>
      </p:cxnSp>
      <p:cxnSp>
        <p:nvCxnSpPr>
          <p:cNvPr id="160" name="PhaseCapacityRule"/>
          <p:cNvCxnSpPr/>
          <p:nvPr/>
        </p:nvCxnSpPr>
        <p:spPr>
          <a:xfrm>
            <a:off x="834847" y="3394253"/>
            <a:ext cx="9966960" cy="7315"/>
          </a:xfrm>
          <a:prstGeom prst="line">
            <a:avLst/>
          </a:prstGeom>
          <a:ln w="9525">
            <a:solidFill>
              <a:srgbClr val="000000"/>
            </a:solidFill>
            <a:prstDash val="dash"/>
          </a:ln>
        </p:spPr>
      </p:cxnSp>
      <p:cxnSp>
        <p:nvCxnSpPr>
          <p:cNvPr id="161" name="PhaseCapacityRule"/>
          <p:cNvCxnSpPr/>
          <p:nvPr/>
        </p:nvCxnSpPr>
        <p:spPr>
          <a:xfrm>
            <a:off x="834847" y="3976726"/>
            <a:ext cx="9966960" cy="7315"/>
          </a:xfrm>
          <a:prstGeom prst="line">
            <a:avLst/>
          </a:prstGeom>
          <a:ln w="9525">
            <a:solidFill>
              <a:srgbClr val="000000"/>
            </a:solidFill>
            <a:prstDash val="dash"/>
          </a:ln>
        </p:spPr>
      </p:cxnSp>
      <p:cxnSp>
        <p:nvCxnSpPr>
          <p:cNvPr id="162" name="ConfidenceScaleArrow"/>
          <p:cNvCxnSpPr/>
          <p:nvPr/>
        </p:nvCxnSpPr>
        <p:spPr>
          <a:xfrm>
            <a:off x="4015130" y="1985162"/>
            <a:ext cx="0" cy="677570"/>
          </a:xfrm>
          <a:prstGeom prst="line">
            <a:avLst/>
          </a:prstGeom>
          <a:ln w="28575">
            <a:gradFill flip="none" rotWithShape="1">
              <a:gsLst>
                <a:gs pos="0">
                  <a:srgbClr val="C30C3E"/>
                </a:gs>
                <a:gs pos="100000">
                  <a:srgbClr val="008600"/>
                </a:gs>
              </a:gsLst>
              <a:lin ang="5400000" scaled="1"/>
            </a:gradFill>
            <a:headEnd type="triangle" w="med" len="med"/>
            <a:tailEnd type="triangle" w="med" len="med"/>
          </a:ln>
        </p:spPr>
      </p:cxnSp>
      <p:sp>
        <p:nvSpPr>
          <p:cNvPr id="163" name="ConfidenceScal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4" name="ConfidenceScal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65" name="ConfidenceScal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66" name="PhaseCapacityRule"/>
          <p:cNvCxnSpPr/>
          <p:nvPr/>
        </p:nvCxnSpPr>
        <p:spPr>
          <a:xfrm>
            <a:off x="833018" y="4257446"/>
            <a:ext cx="9966960" cy="7315"/>
          </a:xfrm>
          <a:prstGeom prst="line">
            <a:avLst/>
          </a:prstGeom>
          <a:ln w="9525">
            <a:solidFill>
              <a:srgbClr val="000000"/>
            </a:solidFill>
            <a:prstDash val="dash"/>
          </a:ln>
        </p:spPr>
      </p:cxnSp>
      <p:sp>
        <p:nvSpPr>
          <p:cNvPr id="167" name="DemandCapacityCaption"/>
          <p:cNvSpPr txBox="1"/>
          <p:nvPr/>
        </p:nvSpPr>
        <p:spPr>
          <a:xfrm>
            <a:off x="4693615" y="1370686"/>
            <a:ext cx="4817059" cy="399593"/>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68" name="SummaryCaption"/>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69"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70"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71"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72"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3"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4" name="ContingencyCallout"/>
          <p:cNvSpPr txBox="1"/>
          <p:nvPr/>
        </p:nvSpPr>
        <p:spPr>
          <a:xfrm>
            <a:off x="2742286" y="4511650"/>
            <a:ext cx="1098194" cy="254203"/>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SHIPS Act passing</a:t>
            </a:r>
          </a:p>
        </p:txBody>
      </p:sp>
      <p:sp>
        <p:nvSpPr>
          <p:cNvPr id="175" name="TotalCapacityCallout"/>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FundingCallout"/>
          <p:cNvSpPr txBox="1"/>
          <p:nvPr/>
        </p:nvSpPr>
        <p:spPr>
          <a:xfrm>
            <a:off x="4817974" y="4511650"/>
            <a:ext cx="2139696"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177" name="SourceHotspot MAP">
            <a:hlinkClick r:id="rId3"/>
          </p:cNvPr>
          <p:cNvSpPr txBox="1"/>
          <p:nvPr/>
        </p:nvSpPr>
        <p:spPr>
          <a:xfrm>
            <a:off x="8229600" y="6044184"/>
            <a:ext cx="237744" cy="96012"/>
          </a:xfrm>
          <a:prstGeom prst="rect">
            <a:avLst/>
          </a:prstGeom>
          <a:noFill/>
          <a:ln>
            <a:noFill/>
          </a:ln>
        </p:spPr>
        <p:txBody>
          <a:bodyPr/>
          <a:lstStyle/>
          <a:p>
            <a:endParaRPr lang="en-US"/>
          </a:p>
        </p:txBody>
      </p:sp>
      <p:sp>
        <p:nvSpPr>
          <p:cNvPr id="178" name="SourceHotspot SHIPS Act">
            <a:hlinkClick r:id="rId4"/>
          </p:cNvPr>
          <p:cNvSpPr txBox="1"/>
          <p:nvPr/>
        </p:nvSpPr>
        <p:spPr>
          <a:xfrm>
            <a:off x="8458200" y="6044184"/>
            <a:ext cx="484632" cy="96012"/>
          </a:xfrm>
          <a:prstGeom prst="rect">
            <a:avLst/>
          </a:prstGeom>
          <a:noFill/>
          <a:ln>
            <a:noFill/>
          </a:ln>
        </p:spPr>
        <p:txBody>
          <a:bodyPr/>
          <a:lstStyle/>
          <a:p>
            <a:endParaRPr lang="en-US"/>
          </a:p>
        </p:txBody>
      </p:sp>
      <p:sp>
        <p:nvSpPr>
          <p:cNvPr id="179" name="SourceHotspot Building Ships in America">
            <a:hlinkClick r:id="rId5"/>
          </p:cNvPr>
          <p:cNvSpPr txBox="1"/>
          <p:nvPr/>
        </p:nvSpPr>
        <p:spPr>
          <a:xfrm>
            <a:off x="8933688" y="6044184"/>
            <a:ext cx="1078992" cy="96012"/>
          </a:xfrm>
          <a:prstGeom prst="rect">
            <a:avLst/>
          </a:prstGeom>
          <a:noFill/>
          <a:ln>
            <a:noFill/>
          </a:ln>
        </p:spPr>
        <p:txBody>
          <a:bodyPr/>
          <a:lstStyle/>
          <a:p>
            <a:endParaRPr lang="en-US"/>
          </a:p>
        </p:txBody>
      </p:sp>
      <p:sp>
        <p:nvSpPr>
          <p:cNvPr id="180" name="SourceHotspot MSP">
            <a:hlinkClick r:id="rId6"/>
          </p:cNvPr>
          <p:cNvSpPr txBox="1"/>
          <p:nvPr/>
        </p:nvSpPr>
        <p:spPr>
          <a:xfrm>
            <a:off x="9994392" y="6044184"/>
            <a:ext cx="713232" cy="96012"/>
          </a:xfrm>
          <a:prstGeom prst="rect">
            <a:avLst/>
          </a:prstGeom>
          <a:noFill/>
          <a:ln>
            <a:noFill/>
          </a:ln>
        </p:spPr>
        <p:txBody>
          <a:bodyPr/>
          <a:lstStyle/>
          <a:p>
            <a:endParaRPr lang="en-US"/>
          </a:p>
        </p:txBody>
      </p:sp>
      <p:sp>
        <p:nvSpPr>
          <p:cNvPr id="181" name="SourceHotspot TSP">
            <a:hlinkClick r:id="rId7"/>
          </p:cNvPr>
          <p:cNvSpPr txBox="1"/>
          <p:nvPr/>
        </p:nvSpPr>
        <p:spPr>
          <a:xfrm>
            <a:off x="457200" y="6158484"/>
            <a:ext cx="1024128" cy="96012"/>
          </a:xfrm>
          <a:prstGeom prst="rect">
            <a:avLst/>
          </a:prstGeom>
          <a:noFill/>
          <a:ln>
            <a:noFill/>
          </a:ln>
        </p:spPr>
        <p:txBody>
          <a:bodyPr/>
          <a:lstStyle/>
          <a:p>
            <a:endParaRPr lang="en-US"/>
          </a:p>
        </p:txBody>
      </p:sp>
      <p:sp>
        <p:nvSpPr>
          <p:cNvPr id="182" name="SourceHotspot MARAD MSP TSP">
            <a:hlinkClick r:id="rId8"/>
          </p:cNvPr>
          <p:cNvSpPr txBox="1"/>
          <p:nvPr/>
        </p:nvSpPr>
        <p:spPr>
          <a:xfrm>
            <a:off x="1472184" y="6158484"/>
            <a:ext cx="1316736" cy="96012"/>
          </a:xfrm>
          <a:prstGeom prst="rect">
            <a:avLst/>
          </a:prstGeom>
          <a:noFill/>
          <a:ln>
            <a:noFill/>
          </a:ln>
        </p:spPr>
        <p:txBody>
          <a:bodyPr/>
          <a:lstStyle/>
          <a:p>
            <a:endParaRPr lang="en-US"/>
          </a:p>
        </p:txBody>
      </p:sp>
      <p:sp>
        <p:nvSpPr>
          <p:cNvPr id="183" name="SourceHotspot MARAD characteristics">
            <a:hlinkClick r:id="rId9"/>
          </p:cNvPr>
          <p:cNvSpPr txBox="1"/>
          <p:nvPr/>
        </p:nvSpPr>
        <p:spPr>
          <a:xfrm>
            <a:off x="2779776" y="6158484"/>
            <a:ext cx="1252728" cy="96012"/>
          </a:xfrm>
          <a:prstGeom prst="rect">
            <a:avLst/>
          </a:prstGeom>
          <a:noFill/>
          <a:ln>
            <a:noFill/>
          </a:ln>
        </p:spPr>
        <p:txBody>
          <a:bodyPr/>
          <a:lstStyle/>
          <a:p>
            <a:endParaRPr lang="en-US"/>
          </a:p>
        </p:txBody>
      </p:sp>
      <p:sp>
        <p:nvSpPr>
          <p:cNvPr id="184" name="SourceHotspot MARAD opex">
            <a:hlinkClick r:id="rId10"/>
          </p:cNvPr>
          <p:cNvSpPr txBox="1"/>
          <p:nvPr/>
        </p:nvSpPr>
        <p:spPr>
          <a:xfrm>
            <a:off x="4023360" y="6158484"/>
            <a:ext cx="1691640" cy="96012"/>
          </a:xfrm>
          <a:prstGeom prst="rect">
            <a:avLst/>
          </a:prstGeom>
          <a:noFill/>
          <a:ln>
            <a:noFill/>
          </a:ln>
        </p:spPr>
        <p:txBody>
          <a:bodyPr/>
          <a:lstStyle/>
          <a:p>
            <a:endParaRPr lang="en-US"/>
          </a:p>
        </p:txBody>
      </p:sp>
      <p:sp>
        <p:nvSpPr>
          <p:cNvPr id="185" name="SourceHotspot GAO Maritime">
            <a:hlinkClick r:id="rId11"/>
          </p:cNvPr>
          <p:cNvSpPr txBox="1"/>
          <p:nvPr/>
        </p:nvSpPr>
        <p:spPr>
          <a:xfrm>
            <a:off x="5705856" y="6158484"/>
            <a:ext cx="1591056" cy="96012"/>
          </a:xfrm>
          <a:prstGeom prst="rect">
            <a:avLst/>
          </a:prstGeom>
          <a:noFill/>
          <a:ln>
            <a:noFill/>
          </a:ln>
        </p:spPr>
        <p:txBody>
          <a:bodyPr/>
          <a:lstStyle/>
          <a:p>
            <a:endParaRPr lang="en-US"/>
          </a:p>
        </p:txBody>
      </p:sp>
      <p:sp>
        <p:nvSpPr>
          <p:cNvPr id="186" name="SourceHotspot FRED">
            <a:hlinkClick r:id="rId12"/>
          </p:cNvPr>
          <p:cNvSpPr txBox="1"/>
          <p:nvPr/>
        </p:nvSpPr>
        <p:spPr>
          <a:xfrm>
            <a:off x="7287768" y="6158484"/>
            <a:ext cx="1097280" cy="96012"/>
          </a:xfrm>
          <a:prstGeom prst="rect">
            <a:avLst/>
          </a:prstGeom>
          <a:noFill/>
          <a:ln>
            <a:noFill/>
          </a:ln>
        </p:spPr>
        <p:txBody>
          <a:bodyPr/>
          <a:lstStyle/>
          <a:p>
            <a:endParaRPr lang="en-US"/>
          </a:p>
        </p:txBody>
      </p:sp>
      <p:sp>
        <p:nvSpPr>
          <p:cNvPr id="187" name="SourceHotspot EIA AEO">
            <a:hlinkClick r:id="rId13"/>
          </p:cNvPr>
          <p:cNvSpPr txBox="1"/>
          <p:nvPr/>
        </p:nvSpPr>
        <p:spPr>
          <a:xfrm>
            <a:off x="8385048" y="6158484"/>
            <a:ext cx="1581912" cy="96012"/>
          </a:xfrm>
          <a:prstGeom prst="rect">
            <a:avLst/>
          </a:prstGeom>
          <a:noFill/>
          <a:ln>
            <a:noFill/>
          </a:ln>
        </p:spPr>
        <p:txBody>
          <a:bodyPr/>
          <a:lstStyle/>
          <a:p>
            <a:endParaRPr lang="en-US"/>
          </a:p>
        </p:txBody>
      </p:sp>
      <p:sp>
        <p:nvSpPr>
          <p:cNvPr id="188" name="SourceHotspot BP conversions">
            <a:hlinkClick r:id="rId14"/>
          </p:cNvPr>
          <p:cNvSpPr txBox="1"/>
          <p:nvPr/>
        </p:nvSpPr>
        <p:spPr>
          <a:xfrm>
            <a:off x="9948672" y="6158484"/>
            <a:ext cx="621792" cy="96012"/>
          </a:xfrm>
          <a:prstGeom prst="rect">
            <a:avLst/>
          </a:prstGeom>
          <a:noFill/>
          <a:ln>
            <a:noFill/>
          </a:ln>
        </p:spPr>
        <p:txBody>
          <a:bodyPr/>
          <a:lstStyle/>
          <a:p>
            <a:endParaRPr lang="en-US"/>
          </a:p>
        </p:txBody>
      </p:sp>
      <p:sp>
        <p:nvSpPr>
          <p:cNvPr id="189" name="SourceHotspot USTR 301">
            <a:hlinkClick r:id="rId15"/>
          </p:cNvPr>
          <p:cNvSpPr txBox="1"/>
          <p:nvPr/>
        </p:nvSpPr>
        <p:spPr>
          <a:xfrm>
            <a:off x="10561320" y="6158484"/>
            <a:ext cx="1005840" cy="96012"/>
          </a:xfrm>
          <a:prstGeom prst="rect">
            <a:avLst/>
          </a:prstGeom>
          <a:noFill/>
          <a:ln>
            <a:noFill/>
          </a:ln>
        </p:spPr>
        <p:txBody>
          <a:bodyPr/>
          <a:lstStyle/>
          <a:p>
            <a:endParaRPr lang="en-US"/>
          </a:p>
        </p:txBody>
      </p:sp>
      <p:sp>
        <p:nvSpPr>
          <p:cNvPr id="190" name="SourceHotspot USTR modifications">
            <a:hlinkClick r:id="rId16"/>
          </p:cNvPr>
          <p:cNvSpPr txBox="1"/>
          <p:nvPr/>
        </p:nvSpPr>
        <p:spPr>
          <a:xfrm>
            <a:off x="457200" y="6272784"/>
            <a:ext cx="1618488" cy="96012"/>
          </a:xfrm>
          <a:prstGeom prst="rect">
            <a:avLst/>
          </a:prstGeom>
          <a:noFill/>
          <a:ln>
            <a:noFill/>
          </a:ln>
        </p:spPr>
        <p:txBody>
          <a:bodyPr/>
          <a:lstStyle/>
          <a:p>
            <a:endParaRPr lang="en-US"/>
          </a:p>
        </p:txBody>
      </p:sp>
      <p:sp>
        <p:nvSpPr>
          <p:cNvPr id="191" name="SourceHotspot GAO volume">
            <a:hlinkClick r:id="rId17"/>
          </p:cNvPr>
          <p:cNvSpPr txBox="1"/>
          <p:nvPr/>
        </p:nvSpPr>
        <p:spPr>
          <a:xfrm>
            <a:off x="2066544" y="6272784"/>
            <a:ext cx="1051560" cy="96012"/>
          </a:xfrm>
          <a:prstGeom prst="rect">
            <a:avLst/>
          </a:prstGeom>
          <a:noFill/>
          <a:ln>
            <a:noFill/>
          </a:ln>
        </p:spPr>
        <p:txBody>
          <a:bodyPr/>
          <a:lstStyle/>
          <a:p>
            <a:endParaRPr lang="en-US"/>
          </a:p>
        </p:txBody>
      </p:sp>
      <p:sp>
        <p:nvSpPr>
          <p:cNvPr id="192" name="SourceHotspot IMF">
            <a:hlinkClick r:id="rId18"/>
          </p:cNvPr>
          <p:cNvSpPr txBox="1"/>
          <p:nvPr/>
        </p:nvSpPr>
        <p:spPr>
          <a:xfrm>
            <a:off x="3108960" y="6272784"/>
            <a:ext cx="960120" cy="96012"/>
          </a:xfrm>
          <a:prstGeom prst="rect">
            <a:avLst/>
          </a:prstGeom>
          <a:noFill/>
          <a:ln>
            <a:noFill/>
          </a:ln>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“Plus” Volume | Demand declines after mid-2030s as SCF and other programs reach fleet caps; path to Phase 2 and beyond requires additional demand signals.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1"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2"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7" name="PhaseCapacityRuleAnchor"/>
          <p:cNvCxnSpPr/>
          <p:nvPr/>
        </p:nvCxnSpPr>
        <p:spPr>
          <a:xfrm>
            <a:off x="833018" y="2803550"/>
            <a:ext cx="9829800" cy="0"/>
          </a:xfrm>
          <a:prstGeom prst="line">
            <a:avLst/>
          </a:prstGeom>
          <a:ln w="9525">
            <a:noFill/>
            <a:prstDash val="lgDash"/>
          </a:ln>
        </p:spPr>
      </p:cxnSp>
      <p:cxnSp>
        <p:nvCxnSpPr>
          <p:cNvPr id="108" name="PhaseCapacityRuleAnchor"/>
          <p:cNvCxnSpPr/>
          <p:nvPr/>
        </p:nvCxnSpPr>
        <p:spPr>
          <a:xfrm>
            <a:off x="833018" y="2003450"/>
            <a:ext cx="9829800" cy="0"/>
          </a:xfrm>
          <a:prstGeom prst="line">
            <a:avLst/>
          </a:prstGeom>
          <a:ln w="9525">
            <a:noFill/>
            <a:prstDash val="lgDash"/>
          </a:ln>
        </p:spPr>
      </p:cxnSp>
      <p:cxnSp>
        <p:nvCxnSpPr>
          <p:cNvPr id="109" name="PhaseCapacityRuleAnchor"/>
          <p:cNvCxnSpPr/>
          <p:nvPr/>
        </p:nvCxnSpPr>
        <p:spPr>
          <a:xfrm>
            <a:off x="833018" y="2506370"/>
            <a:ext cx="9829800" cy="0"/>
          </a:xfrm>
          <a:prstGeom prst="line">
            <a:avLst/>
          </a:prstGeom>
          <a:ln w="9525">
            <a:noFill/>
            <a:prstDash val="lgDash"/>
          </a:ln>
        </p:spPr>
      </p:cxnSp>
      <p:cxnSp>
        <p:nvCxnSpPr>
          <p:cNvPr id="110" name="PhaseCapacityRuleAnchor"/>
          <p:cNvCxnSpPr/>
          <p:nvPr/>
        </p:nvCxnSpPr>
        <p:spPr>
          <a:xfrm>
            <a:off x="833018" y="3396082"/>
            <a:ext cx="9829800" cy="0"/>
          </a:xfrm>
          <a:prstGeom prst="line">
            <a:avLst/>
          </a:prstGeom>
          <a:ln w="9525">
            <a:noFill/>
            <a:prstDash val="lgDash"/>
          </a:ln>
        </p:spPr>
      </p:cxnSp>
      <p:cxnSp>
        <p:nvCxnSpPr>
          <p:cNvPr id="111" name="PhaseCapacityRuleAnchor"/>
          <p:cNvCxnSpPr/>
          <p:nvPr/>
        </p:nvCxnSpPr>
        <p:spPr>
          <a:xfrm>
            <a:off x="833018" y="3989527"/>
            <a:ext cx="9829800" cy="0"/>
          </a:xfrm>
          <a:prstGeom prst="line">
            <a:avLst/>
          </a:prstGeom>
          <a:ln w="9525">
            <a:noFill/>
            <a:prstDash val="lgDash"/>
          </a:ln>
        </p:spPr>
      </p:cxnSp>
      <p:cxnSp>
        <p:nvCxnSpPr>
          <p:cNvPr id="112" name="PhaseCapacityRuleAnchor"/>
          <p:cNvCxnSpPr/>
          <p:nvPr/>
        </p:nvCxnSpPr>
        <p:spPr>
          <a:xfrm>
            <a:off x="833018" y="4270248"/>
            <a:ext cx="9829800" cy="0"/>
          </a:xfrm>
          <a:prstGeom prst="line">
            <a:avLst/>
          </a:prstGeom>
          <a:ln w="9525">
            <a:noFill/>
            <a:prstDash val="lgDash"/>
          </a:ln>
        </p:spPr>
      </p:cxnSp>
      <p:sp>
        <p:nvSpPr>
          <p:cNvPr id="113" name="YearLabel"/>
          <p:cNvSpPr txBox="1"/>
          <p:nvPr/>
        </p:nvSpPr>
        <p:spPr>
          <a:xfrm>
            <a:off x="52623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2037</a:t>
            </a:r>
          </a:p>
        </p:txBody>
      </p:sp>
      <p:sp>
        <p:nvSpPr>
          <p:cNvPr id="114" name="YearLabel"/>
          <p:cNvSpPr txBox="1"/>
          <p:nvPr/>
        </p:nvSpPr>
        <p:spPr>
          <a:xfrm>
            <a:off x="56720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2038</a:t>
            </a:r>
          </a:p>
        </p:txBody>
      </p:sp>
      <p:sp>
        <p:nvSpPr>
          <p:cNvPr id="115" name="YearLabel"/>
          <p:cNvSpPr txBox="1"/>
          <p:nvPr/>
        </p:nvSpPr>
        <p:spPr>
          <a:xfrm>
            <a:off x="60816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2039</a:t>
            </a:r>
          </a:p>
        </p:txBody>
      </p:sp>
      <p:sp>
        <p:nvSpPr>
          <p:cNvPr id="116" name="YearLabel"/>
          <p:cNvSpPr txBox="1"/>
          <p:nvPr/>
        </p:nvSpPr>
        <p:spPr>
          <a:xfrm>
            <a:off x="64913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2040</a:t>
            </a:r>
          </a:p>
        </p:txBody>
      </p:sp>
      <p:sp>
        <p:nvSpPr>
          <p:cNvPr id="117" name="YearLabel"/>
          <p:cNvSpPr txBox="1"/>
          <p:nvPr/>
        </p:nvSpPr>
        <p:spPr>
          <a:xfrm>
            <a:off x="69009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2041</a:t>
            </a:r>
          </a:p>
        </p:txBody>
      </p:sp>
      <p:sp>
        <p:nvSpPr>
          <p:cNvPr id="118" name="YearLabel"/>
          <p:cNvSpPr txBox="1"/>
          <p:nvPr/>
        </p:nvSpPr>
        <p:spPr>
          <a:xfrm>
            <a:off x="77202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2043</a:t>
            </a:r>
          </a:p>
        </p:txBody>
      </p:sp>
      <p:sp>
        <p:nvSpPr>
          <p:cNvPr id="119" name="YearLabel"/>
          <p:cNvSpPr txBox="1"/>
          <p:nvPr/>
        </p:nvSpPr>
        <p:spPr>
          <a:xfrm>
            <a:off x="81299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2044</a:t>
            </a:r>
          </a:p>
        </p:txBody>
      </p:sp>
      <p:sp>
        <p:nvSpPr>
          <p:cNvPr id="120" name="YearLabel"/>
          <p:cNvSpPr txBox="1"/>
          <p:nvPr/>
        </p:nvSpPr>
        <p:spPr>
          <a:xfrm>
            <a:off x="85395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2045</a:t>
            </a:r>
          </a:p>
        </p:txBody>
      </p:sp>
      <p:sp>
        <p:nvSpPr>
          <p:cNvPr id="121" name="YearLabel"/>
          <p:cNvSpPr txBox="1"/>
          <p:nvPr/>
        </p:nvSpPr>
        <p:spPr>
          <a:xfrm>
            <a:off x="89483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2046</a:t>
            </a:r>
          </a:p>
        </p:txBody>
      </p:sp>
      <p:sp>
        <p:nvSpPr>
          <p:cNvPr id="122" name="YearLabel"/>
          <p:cNvSpPr txBox="1"/>
          <p:nvPr/>
        </p:nvSpPr>
        <p:spPr>
          <a:xfrm>
            <a:off x="23957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2030</a:t>
            </a:r>
          </a:p>
        </p:txBody>
      </p:sp>
      <p:sp>
        <p:nvSpPr>
          <p:cNvPr id="123" name="YearLabel"/>
          <p:cNvSpPr txBox="1"/>
          <p:nvPr/>
        </p:nvSpPr>
        <p:spPr>
          <a:xfrm>
            <a:off x="97676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2048</a:t>
            </a:r>
          </a:p>
        </p:txBody>
      </p:sp>
      <p:sp>
        <p:nvSpPr>
          <p:cNvPr id="124" name="YearLabel"/>
          <p:cNvSpPr txBox="1"/>
          <p:nvPr/>
        </p:nvSpPr>
        <p:spPr>
          <a:xfrm>
            <a:off x="101772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2049</a:t>
            </a:r>
          </a:p>
        </p:txBody>
      </p:sp>
      <p:sp>
        <p:nvSpPr>
          <p:cNvPr id="125" name="YearLabel"/>
          <p:cNvSpPr txBox="1"/>
          <p:nvPr/>
        </p:nvSpPr>
        <p:spPr>
          <a:xfrm>
            <a:off x="105869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2050</a:t>
            </a:r>
          </a:p>
        </p:txBody>
      </p:sp>
      <p:sp>
        <p:nvSpPr>
          <p:cNvPr id="126" name="YearLabel"/>
          <p:cNvSpPr txBox="1"/>
          <p:nvPr/>
        </p:nvSpPr>
        <p:spPr>
          <a:xfrm>
            <a:off x="93579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2047</a:t>
            </a:r>
          </a:p>
        </p:txBody>
      </p:sp>
      <p:sp>
        <p:nvSpPr>
          <p:cNvPr id="127" name="YearLabel"/>
          <p:cNvSpPr txBox="1"/>
          <p:nvPr/>
        </p:nvSpPr>
        <p:spPr>
          <a:xfrm>
            <a:off x="7571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2026</a:t>
            </a:r>
          </a:p>
        </p:txBody>
      </p:sp>
      <p:sp>
        <p:nvSpPr>
          <p:cNvPr id="128" name="YearLabel"/>
          <p:cNvSpPr txBox="1"/>
          <p:nvPr/>
        </p:nvSpPr>
        <p:spPr>
          <a:xfrm>
            <a:off x="11667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2027</a:t>
            </a:r>
          </a:p>
        </p:txBody>
      </p:sp>
      <p:sp>
        <p:nvSpPr>
          <p:cNvPr id="129" name="YearLabel"/>
          <p:cNvSpPr txBox="1"/>
          <p:nvPr/>
        </p:nvSpPr>
        <p:spPr>
          <a:xfrm>
            <a:off x="15764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2028</a:t>
            </a:r>
          </a:p>
        </p:txBody>
      </p:sp>
      <p:sp>
        <p:nvSpPr>
          <p:cNvPr id="130" name="YearLabel"/>
          <p:cNvSpPr txBox="1"/>
          <p:nvPr/>
        </p:nvSpPr>
        <p:spPr>
          <a:xfrm>
            <a:off x="19860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2029</a:t>
            </a:r>
          </a:p>
        </p:txBody>
      </p:sp>
      <p:sp>
        <p:nvSpPr>
          <p:cNvPr id="131" name="YearLabel"/>
          <p:cNvSpPr txBox="1"/>
          <p:nvPr/>
        </p:nvSpPr>
        <p:spPr>
          <a:xfrm>
            <a:off x="28053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2031</a:t>
            </a:r>
          </a:p>
        </p:txBody>
      </p:sp>
      <p:sp>
        <p:nvSpPr>
          <p:cNvPr id="132" name="YearLabel"/>
          <p:cNvSpPr txBox="1"/>
          <p:nvPr/>
        </p:nvSpPr>
        <p:spPr>
          <a:xfrm>
            <a:off x="32150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2032</a:t>
            </a:r>
          </a:p>
        </p:txBody>
      </p:sp>
      <p:sp>
        <p:nvSpPr>
          <p:cNvPr id="133" name="YearLabel"/>
          <p:cNvSpPr txBox="1"/>
          <p:nvPr/>
        </p:nvSpPr>
        <p:spPr>
          <a:xfrm>
            <a:off x="73106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2042</a:t>
            </a:r>
          </a:p>
        </p:txBody>
      </p:sp>
      <p:sp>
        <p:nvSpPr>
          <p:cNvPr id="134" name="YearLabel"/>
          <p:cNvSpPr txBox="1"/>
          <p:nvPr/>
        </p:nvSpPr>
        <p:spPr>
          <a:xfrm>
            <a:off x="36246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2033</a:t>
            </a:r>
          </a:p>
        </p:txBody>
      </p:sp>
      <p:sp>
        <p:nvSpPr>
          <p:cNvPr id="135" name="YearLabel"/>
          <p:cNvSpPr txBox="1"/>
          <p:nvPr/>
        </p:nvSpPr>
        <p:spPr>
          <a:xfrm>
            <a:off x="40334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2034</a:t>
            </a:r>
          </a:p>
        </p:txBody>
      </p:sp>
      <p:sp>
        <p:nvSpPr>
          <p:cNvPr id="136" name="YearLabel"/>
          <p:cNvSpPr txBox="1"/>
          <p:nvPr/>
        </p:nvSpPr>
        <p:spPr>
          <a:xfrm>
            <a:off x="44430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2035</a:t>
            </a:r>
          </a:p>
        </p:txBody>
      </p:sp>
      <p:sp>
        <p:nvSpPr>
          <p:cNvPr id="137" name="YearLabel"/>
          <p:cNvSpPr txBox="1"/>
          <p:nvPr/>
        </p:nvSpPr>
        <p:spPr>
          <a:xfrm>
            <a:off x="48527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2036</a:t>
            </a:r>
          </a:p>
        </p:txBody>
      </p:sp>
      <p:sp>
        <p:nvSpPr>
          <p:cNvPr id="138" name="RightAxisCapLabel"/>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39" name="ChartAxisTitle"/>
          <p:cNvSpPr txBox="1"/>
          <p:nvPr/>
        </p:nvSpPr>
        <p:spPr>
          <a:xfrm>
            <a:off x="495605" y="1376172"/>
            <a:ext cx="3974897" cy="152705"/>
          </a:xfrm>
          <a:prstGeom prst="rect">
            <a:avLst/>
          </a:prstGeom>
          <a:noFill/>
          <a:ln>
            <a:noFill/>
          </a:ln>
        </p:spPr>
        <p:txBody>
          <a:bodyPr wrap="none" anchor="b" lIns="0" tIns="0" rIns="0" bIns="0" vert="horz"/>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0" name="ReferenceLabel"/>
          <p:cNvSpPr txBox="1"/>
          <p:nvPr/>
        </p:nvSpPr>
        <p:spPr>
          <a:xfrm>
            <a:off x="10893247" y="2430475"/>
            <a:ext cx="1171346"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5 (125/yr.)</a:t>
            </a:r>
          </a:p>
        </p:txBody>
      </p:sp>
      <p:sp>
        <p:nvSpPr>
          <p:cNvPr id="141" name="ReferenceLabel"/>
          <p:cNvSpPr txBox="1"/>
          <p:nvPr/>
        </p:nvSpPr>
        <p:spPr>
          <a:xfrm>
            <a:off x="10893247" y="2727655"/>
            <a:ext cx="1171346"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4 (105/yr.)</a:t>
            </a:r>
          </a:p>
        </p:txBody>
      </p:sp>
      <p:sp>
        <p:nvSpPr>
          <p:cNvPr id="142" name="ReferenceLabel"/>
          <p:cNvSpPr txBox="1"/>
          <p:nvPr/>
        </p:nvSpPr>
        <p:spPr>
          <a:xfrm>
            <a:off x="10893247" y="3319272"/>
            <a:ext cx="1101852"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3 (65/yr.)</a:t>
            </a:r>
          </a:p>
        </p:txBody>
      </p:sp>
      <p:sp>
        <p:nvSpPr>
          <p:cNvPr id="143" name="ReferenceLabel"/>
          <p:cNvSpPr txBox="1"/>
          <p:nvPr/>
        </p:nvSpPr>
        <p:spPr>
          <a:xfrm>
            <a:off x="10893247" y="3913632"/>
            <a:ext cx="1101852"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2 (25/yr.)</a:t>
            </a:r>
          </a:p>
        </p:txBody>
      </p:sp>
      <p:sp>
        <p:nvSpPr>
          <p:cNvPr id="144" name="ReferenceLabel"/>
          <p:cNvSpPr txBox="1"/>
          <p:nvPr/>
        </p:nvSpPr>
        <p:spPr>
          <a:xfrm>
            <a:off x="10893247" y="4194353"/>
            <a:ext cx="1031443"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1 (6/yr.)</a:t>
            </a:r>
          </a:p>
        </p:txBody>
      </p:sp>
      <p:cxnSp>
        <p:nvCxnSpPr>
          <p:cNvPr id="145" name="PhaseCapacityRule"/>
          <p:cNvCxnSpPr/>
          <p:nvPr/>
        </p:nvCxnSpPr>
        <p:spPr>
          <a:xfrm>
            <a:off x="834847" y="2495398"/>
            <a:ext cx="9966960" cy="7315"/>
          </a:xfrm>
          <a:prstGeom prst="line">
            <a:avLst/>
          </a:prstGeom>
          <a:ln w="9525">
            <a:solidFill>
              <a:srgbClr val="000000"/>
            </a:solidFill>
            <a:prstDash val="dash"/>
          </a:ln>
        </p:spPr>
      </p:cxnSp>
      <p:cxnSp>
        <p:nvCxnSpPr>
          <p:cNvPr id="146" name="PhaseCapacityRule"/>
          <p:cNvCxnSpPr/>
          <p:nvPr/>
        </p:nvCxnSpPr>
        <p:spPr>
          <a:xfrm>
            <a:off x="834847" y="1996135"/>
            <a:ext cx="9966960" cy="7315"/>
          </a:xfrm>
          <a:prstGeom prst="line">
            <a:avLst/>
          </a:prstGeom>
          <a:ln w="9525">
            <a:solidFill>
              <a:srgbClr val="000000"/>
            </a:solidFill>
            <a:prstDash val="dash"/>
          </a:ln>
        </p:spPr>
      </p:cxnSp>
      <p:sp>
        <p:nvSpPr>
          <p:cNvPr id="147"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48"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49"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0"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1"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2" name="SummaryCaption"/>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53"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54"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55"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56"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57"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58" name="HeritageTargetPatternSwatch"/>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59" name="LegendLabel"/>
          <p:cNvSpPr txBox="1"/>
          <p:nvPr/>
        </p:nvSpPr>
        <p:spPr>
          <a:xfrm>
            <a:off x="1227125" y="1757477"/>
            <a:ext cx="1117397"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Excess US capacity</a:t>
            </a:r>
          </a:p>
        </p:txBody>
      </p:sp>
      <p:sp>
        <p:nvSpPr>
          <p:cNvPr id="160" name="LegendLabel"/>
          <p:cNvSpPr txBox="1"/>
          <p:nvPr/>
        </p:nvSpPr>
        <p:spPr>
          <a:xfrm>
            <a:off x="1227125" y="1960474"/>
            <a:ext cx="2275027"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61" name="LegendLabel"/>
          <p:cNvSpPr txBox="1"/>
          <p:nvPr/>
        </p:nvSpPr>
        <p:spPr>
          <a:xfrm>
            <a:off x="1227125" y="2163470"/>
            <a:ext cx="1500530"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SHIPS Act "Plus" Scenario</a:t>
            </a:r>
          </a:p>
        </p:txBody>
      </p:sp>
      <p:sp>
        <p:nvSpPr>
          <p:cNvPr id="162" name="LegendLabel"/>
          <p:cNvSpPr txBox="1"/>
          <p:nvPr/>
        </p:nvSpPr>
        <p:spPr>
          <a:xfrm>
            <a:off x="1227125" y="2367382"/>
            <a:ext cx="1412748"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63" name="LegendLabel"/>
          <p:cNvSpPr txBox="1"/>
          <p:nvPr/>
        </p:nvSpPr>
        <p:spPr>
          <a:xfrm>
            <a:off x="1227125" y="2570378"/>
            <a:ext cx="597103"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Orderbook</a:t>
            </a:r>
          </a:p>
        </p:txBody>
      </p:sp>
      <p:sp>
        <p:nvSpPr>
          <p:cNvPr id="164" name="ScenarioChip"/>
          <p:cNvSpPr txBox="1"/>
          <p:nvPr/>
        </p:nvSpPr>
        <p:spPr>
          <a:xfrm>
            <a:off x="7378294" y="158191"/>
            <a:ext cx="2722169" cy="199339"/>
          </a:xfrm>
          <a:prstGeom prst="rect">
            <a:avLst/>
          </a:prstGeom>
          <a:solidFill>
            <a:srgbClr val="0E1924"/>
          </a:solidFill>
          <a:ln w="19050">
            <a:solidFill>
              <a:srgbClr val="000000"/>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(3) SHIPS Act “Plus” Scenario</a:t>
            </a:r>
          </a:p>
        </p:txBody>
      </p:sp>
      <p:cxnSp>
        <p:nvCxnSpPr>
          <p:cNvPr id="165" name="PhaseCapacityRule"/>
          <p:cNvCxnSpPr/>
          <p:nvPr/>
        </p:nvCxnSpPr>
        <p:spPr>
          <a:xfrm>
            <a:off x="834847" y="2790749"/>
            <a:ext cx="9966960" cy="7315"/>
          </a:xfrm>
          <a:prstGeom prst="line">
            <a:avLst/>
          </a:prstGeom>
          <a:ln w="9525">
            <a:solidFill>
              <a:srgbClr val="000000"/>
            </a:solidFill>
            <a:prstDash val="dash"/>
          </a:ln>
        </p:spPr>
      </p:cxnSp>
      <p:cxnSp>
        <p:nvCxnSpPr>
          <p:cNvPr id="166" name="PhaseCapacityRule"/>
          <p:cNvCxnSpPr/>
          <p:nvPr/>
        </p:nvCxnSpPr>
        <p:spPr>
          <a:xfrm>
            <a:off x="834847" y="3394253"/>
            <a:ext cx="9966960" cy="7315"/>
          </a:xfrm>
          <a:prstGeom prst="line">
            <a:avLst/>
          </a:prstGeom>
          <a:ln w="9525">
            <a:solidFill>
              <a:srgbClr val="000000"/>
            </a:solidFill>
            <a:prstDash val="dash"/>
          </a:ln>
        </p:spPr>
      </p:cxnSp>
      <p:cxnSp>
        <p:nvCxnSpPr>
          <p:cNvPr id="167" name="PhaseCapacityRule"/>
          <p:cNvCxnSpPr/>
          <p:nvPr/>
        </p:nvCxnSpPr>
        <p:spPr>
          <a:xfrm>
            <a:off x="833018" y="3977640"/>
            <a:ext cx="9966960" cy="7315"/>
          </a:xfrm>
          <a:prstGeom prst="line">
            <a:avLst/>
          </a:prstGeom>
          <a:ln w="9525">
            <a:solidFill>
              <a:srgbClr val="000000"/>
            </a:solidFill>
            <a:prstDash val="dash"/>
          </a:ln>
        </p:spPr>
      </p:cxnSp>
      <p:cxnSp>
        <p:nvCxnSpPr>
          <p:cNvPr id="168" name="ConfidenceScaleArrow"/>
          <p:cNvCxnSpPr/>
          <p:nvPr/>
        </p:nvCxnSpPr>
        <p:spPr>
          <a:xfrm>
            <a:off x="4015130" y="1985162"/>
            <a:ext cx="0" cy="677570"/>
          </a:xfrm>
          <a:prstGeom prst="line">
            <a:avLst/>
          </a:prstGeom>
          <a:ln w="28575">
            <a:gradFill flip="none" rotWithShape="1">
              <a:gsLst>
                <a:gs pos="0">
                  <a:srgbClr val="C30C3E"/>
                </a:gs>
                <a:gs pos="100000">
                  <a:srgbClr val="008600"/>
                </a:gs>
              </a:gsLst>
              <a:lin ang="5400000" scaled="1"/>
            </a:gradFill>
            <a:headEnd type="triangle" w="med" len="med"/>
            <a:tailEnd type="triangle" w="med" len="med"/>
          </a:ln>
        </p:spPr>
      </p:cxnSp>
      <p:sp>
        <p:nvSpPr>
          <p:cNvPr id="169" name="ConfidenceScal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70" name="ConfidenceScal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71" name="ConfidenceScal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72" name="PhaseCapacityRule"/>
          <p:cNvCxnSpPr/>
          <p:nvPr/>
        </p:nvCxnSpPr>
        <p:spPr>
          <a:xfrm>
            <a:off x="833018" y="4254703"/>
            <a:ext cx="9966960" cy="7315"/>
          </a:xfrm>
          <a:prstGeom prst="line">
            <a:avLst/>
          </a:prstGeom>
          <a:ln w="9525">
            <a:solidFill>
              <a:srgbClr val="000000"/>
            </a:solidFill>
            <a:prstDash val="dash"/>
          </a:ln>
        </p:spPr>
      </p:cxnSp>
      <p:sp>
        <p:nvSpPr>
          <p:cNvPr id="173" name="ContingencyCallout"/>
          <p:cNvSpPr txBox="1"/>
          <p:nvPr/>
        </p:nvSpPr>
        <p:spPr>
          <a:xfrm>
            <a:off x="2914193" y="4402836"/>
            <a:ext cx="1846174" cy="409651"/>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revisions to SHIPS Act, Building Ships in America Act, and existing programs</a:t>
            </a:r>
          </a:p>
        </p:txBody>
      </p:sp>
      <p:sp>
        <p:nvSpPr>
          <p:cNvPr id="174" name="DemandCapacityCaption"/>
          <p:cNvSpPr txBox="1"/>
          <p:nvPr/>
        </p:nvSpPr>
        <p:spPr>
          <a:xfrm>
            <a:off x="4693615" y="1370686"/>
            <a:ext cx="4817059" cy="399593"/>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75" name="TotalCapacityCallout"/>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FundingCallout"/>
          <p:cNvSpPr txBox="1"/>
          <p:nvPr/>
        </p:nvSpPr>
        <p:spPr>
          <a:xfrm>
            <a:off x="5184648" y="4481474"/>
            <a:ext cx="1997964"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pPr>
              <a:lnSpc>
                <a:spcPct val="100000"/>
              </a:lnSpc>
              <a:buNone/>
            </a:pPr>
            <a:r>
              <a:rPr lang="en-US" sz="800" u="none"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177" name="SourceLink:MAP">
            <a:hlinkClick r:id="rId3"/>
          </p:cNvPr>
          <p:cNvSpPr txBox="1"/>
          <p:nvPr/>
        </p:nvSpPr>
        <p:spPr>
          <a:xfrm>
            <a:off x="7872984" y="5925312"/>
            <a:ext cx="228600" cy="109728"/>
          </a:xfrm>
          <a:prstGeom prst="rect">
            <a:avLst/>
          </a:prstGeom>
          <a:solidFill>
            <a:srgbClr val="FFFFFF">
              <a:alpha val="0"/>
            </a:srgbClr>
          </a:solidFill>
          <a:ln>
            <a:noFill/>
          </a:ln>
        </p:spPr>
        <p:txBody>
          <a:bodyPr wrap="none" anchor="ctr" lIns="0" tIns="0" rIns="0" bIns="0"/>
          <a:lstStyle/>
          <a:p>
            <a:endParaRPr lang="en-US" sz="100"/>
          </a:p>
        </p:txBody>
      </p:sp>
      <p:sp>
        <p:nvSpPr>
          <p:cNvPr id="178" name="SourceLink:SHIPS Act">
            <a:hlinkClick r:id="rId4"/>
          </p:cNvPr>
          <p:cNvSpPr txBox="1"/>
          <p:nvPr/>
        </p:nvSpPr>
        <p:spPr>
          <a:xfrm>
            <a:off x="8110728" y="5925312"/>
            <a:ext cx="502920" cy="109728"/>
          </a:xfrm>
          <a:prstGeom prst="rect">
            <a:avLst/>
          </a:prstGeom>
          <a:solidFill>
            <a:srgbClr val="FFFFFF">
              <a:alpha val="0"/>
            </a:srgbClr>
          </a:solidFill>
          <a:ln>
            <a:noFill/>
          </a:ln>
        </p:spPr>
        <p:txBody>
          <a:bodyPr wrap="none" anchor="ctr" lIns="0" tIns="0" rIns="0" bIns="0"/>
          <a:lstStyle/>
          <a:p>
            <a:endParaRPr lang="en-US" sz="100"/>
          </a:p>
        </p:txBody>
      </p:sp>
      <p:sp>
        <p:nvSpPr>
          <p:cNvPr id="179" name="SourceLink:Building Ships in America">
            <a:hlinkClick r:id="rId5"/>
          </p:cNvPr>
          <p:cNvSpPr txBox="1"/>
          <p:nvPr/>
        </p:nvSpPr>
        <p:spPr>
          <a:xfrm>
            <a:off x="8622792" y="5925312"/>
            <a:ext cx="1051560" cy="109728"/>
          </a:xfrm>
          <a:prstGeom prst="rect">
            <a:avLst/>
          </a:prstGeom>
          <a:solidFill>
            <a:srgbClr val="FFFFFF">
              <a:alpha val="0"/>
            </a:srgbClr>
          </a:solidFill>
          <a:ln>
            <a:noFill/>
          </a:ln>
        </p:spPr>
        <p:txBody>
          <a:bodyPr wrap="none" anchor="ctr" lIns="0" tIns="0" rIns="0" bIns="0"/>
          <a:lstStyle/>
          <a:p>
            <a:endParaRPr lang="en-US" sz="100"/>
          </a:p>
        </p:txBody>
      </p:sp>
      <p:sp>
        <p:nvSpPr>
          <p:cNvPr id="180" name="SourceLink:46 USC 53106 (MSP subsidy)">
            <a:hlinkClick r:id="rId6"/>
          </p:cNvPr>
          <p:cNvSpPr txBox="1"/>
          <p:nvPr/>
        </p:nvSpPr>
        <p:spPr>
          <a:xfrm>
            <a:off x="9692640" y="5925312"/>
            <a:ext cx="841248" cy="109728"/>
          </a:xfrm>
          <a:prstGeom prst="rect">
            <a:avLst/>
          </a:prstGeom>
          <a:solidFill>
            <a:srgbClr val="FFFFFF">
              <a:alpha val="0"/>
            </a:srgbClr>
          </a:solidFill>
          <a:ln>
            <a:noFill/>
          </a:ln>
        </p:spPr>
        <p:txBody>
          <a:bodyPr wrap="none" anchor="ctr" lIns="0" tIns="0" rIns="0" bIns="0"/>
          <a:lstStyle/>
          <a:p>
            <a:endParaRPr lang="en-US" sz="100"/>
          </a:p>
        </p:txBody>
      </p:sp>
      <p:sp>
        <p:nvSpPr>
          <p:cNvPr id="181" name="SourceLink:46 USC 53406 (TSP subsidy)">
            <a:hlinkClick r:id="rId7"/>
          </p:cNvPr>
          <p:cNvSpPr txBox="1"/>
          <p:nvPr/>
        </p:nvSpPr>
        <p:spPr>
          <a:xfrm>
            <a:off x="10552176" y="5925312"/>
            <a:ext cx="841248" cy="109728"/>
          </a:xfrm>
          <a:prstGeom prst="rect">
            <a:avLst/>
          </a:prstGeom>
          <a:solidFill>
            <a:srgbClr val="FFFFFF">
              <a:alpha val="0"/>
            </a:srgbClr>
          </a:solidFill>
          <a:ln>
            <a:noFill/>
          </a:ln>
        </p:spPr>
        <p:txBody>
          <a:bodyPr wrap="none" anchor="ctr" lIns="0" tIns="0" rIns="0" bIns="0"/>
          <a:lstStyle/>
          <a:p>
            <a:endParaRPr lang="en-US" sz="100"/>
          </a:p>
        </p:txBody>
      </p:sp>
      <p:sp>
        <p:nvSpPr>
          <p:cNvPr id="182" name="SourceLink:MARAD (MSP / TSP participation)">
            <a:hlinkClick r:id="rId8"/>
          </p:cNvPr>
          <p:cNvSpPr txBox="1"/>
          <p:nvPr/>
        </p:nvSpPr>
        <p:spPr>
          <a:xfrm>
            <a:off x="457200" y="6053328"/>
            <a:ext cx="1143000" cy="109728"/>
          </a:xfrm>
          <a:prstGeom prst="rect">
            <a:avLst/>
          </a:prstGeom>
          <a:solidFill>
            <a:srgbClr val="FFFFFF">
              <a:alpha val="0"/>
            </a:srgbClr>
          </a:solidFill>
          <a:ln>
            <a:noFill/>
          </a:ln>
        </p:spPr>
        <p:txBody>
          <a:bodyPr wrap="none" anchor="ctr" lIns="0" tIns="0" rIns="0" bIns="0"/>
          <a:lstStyle/>
          <a:p>
            <a:endParaRPr lang="en-US" sz="100"/>
          </a:p>
        </p:txBody>
      </p:sp>
      <p:sp>
        <p:nvSpPr>
          <p:cNvPr id="183" name="SourceLink:MARAD (vessel characteristics)">
            <a:hlinkClick r:id="rId9"/>
          </p:cNvPr>
          <p:cNvSpPr txBox="1"/>
          <p:nvPr/>
        </p:nvSpPr>
        <p:spPr>
          <a:xfrm>
            <a:off x="1618488" y="6053328"/>
            <a:ext cx="1417320" cy="109728"/>
          </a:xfrm>
          <a:prstGeom prst="rect">
            <a:avLst/>
          </a:prstGeom>
          <a:solidFill>
            <a:srgbClr val="FFFFFF">
              <a:alpha val="0"/>
            </a:srgbClr>
          </a:solidFill>
          <a:ln>
            <a:noFill/>
          </a:ln>
        </p:spPr>
        <p:txBody>
          <a:bodyPr wrap="none" anchor="ctr" lIns="0" tIns="0" rIns="0" bIns="0"/>
          <a:lstStyle/>
          <a:p>
            <a:endParaRPr lang="en-US" sz="100"/>
          </a:p>
        </p:txBody>
      </p:sp>
      <p:sp>
        <p:nvSpPr>
          <p:cNvPr id="184" name="SourceLink:MARAD (US vs. foreign-flag operating costs)">
            <a:hlinkClick r:id="rId10"/>
          </p:cNvPr>
          <p:cNvSpPr txBox="1"/>
          <p:nvPr/>
        </p:nvSpPr>
        <p:spPr>
          <a:xfrm>
            <a:off x="3054096" y="6053328"/>
            <a:ext cx="1600200" cy="109728"/>
          </a:xfrm>
          <a:prstGeom prst="rect">
            <a:avLst/>
          </a:prstGeom>
          <a:solidFill>
            <a:srgbClr val="FFFFFF">
              <a:alpha val="0"/>
            </a:srgbClr>
          </a:solidFill>
          <a:ln>
            <a:noFill/>
          </a:ln>
        </p:spPr>
        <p:txBody>
          <a:bodyPr wrap="none" anchor="ctr" lIns="0" tIns="0" rIns="0" bIns="0"/>
          <a:lstStyle/>
          <a:p>
            <a:endParaRPr lang="en-US" sz="100"/>
          </a:p>
        </p:txBody>
      </p:sp>
      <p:sp>
        <p:nvSpPr>
          <p:cNvPr id="185" name="SourceLink:GAO report on Maritime Security">
            <a:hlinkClick r:id="rId11"/>
          </p:cNvPr>
          <p:cNvSpPr txBox="1"/>
          <p:nvPr/>
        </p:nvSpPr>
        <p:spPr>
          <a:xfrm>
            <a:off x="4672584" y="6053328"/>
            <a:ext cx="1325880" cy="109728"/>
          </a:xfrm>
          <a:prstGeom prst="rect">
            <a:avLst/>
          </a:prstGeom>
          <a:solidFill>
            <a:srgbClr val="FFFFFF">
              <a:alpha val="0"/>
            </a:srgbClr>
          </a:solidFill>
          <a:ln>
            <a:noFill/>
          </a:ln>
        </p:spPr>
        <p:txBody>
          <a:bodyPr wrap="none" anchor="ctr" lIns="0" tIns="0" rIns="0" bIns="0"/>
          <a:lstStyle/>
          <a:p>
            <a:endParaRPr lang="en-US" sz="100"/>
          </a:p>
        </p:txBody>
      </p:sp>
      <p:sp>
        <p:nvSpPr>
          <p:cNvPr id="186" name="SourceLink:FRED (PPI, BE Inflation)">
            <a:hlinkClick r:id="rId12"/>
          </p:cNvPr>
          <p:cNvSpPr txBox="1"/>
          <p:nvPr/>
        </p:nvSpPr>
        <p:spPr>
          <a:xfrm>
            <a:off x="6016752" y="6053328"/>
            <a:ext cx="1051560" cy="109728"/>
          </a:xfrm>
          <a:prstGeom prst="rect">
            <a:avLst/>
          </a:prstGeom>
          <a:solidFill>
            <a:srgbClr val="FFFFFF">
              <a:alpha val="0"/>
            </a:srgbClr>
          </a:solidFill>
          <a:ln>
            <a:noFill/>
          </a:ln>
        </p:spPr>
        <p:txBody>
          <a:bodyPr wrap="none" anchor="ctr" lIns="0" tIns="0" rIns="0" bIns="0"/>
          <a:lstStyle/>
          <a:p>
            <a:endParaRPr lang="en-US" sz="100"/>
          </a:p>
        </p:txBody>
      </p:sp>
      <p:sp>
        <p:nvSpPr>
          <p:cNvPr id="187" name="SourceLink:EIA AEO (Crude &amp; LNG exports)">
            <a:hlinkClick r:id="rId13"/>
          </p:cNvPr>
          <p:cNvSpPr txBox="1"/>
          <p:nvPr/>
        </p:nvSpPr>
        <p:spPr>
          <a:xfrm>
            <a:off x="7086600" y="6053328"/>
            <a:ext cx="1325880" cy="109728"/>
          </a:xfrm>
          <a:prstGeom prst="rect">
            <a:avLst/>
          </a:prstGeom>
          <a:solidFill>
            <a:srgbClr val="FFFFFF">
              <a:alpha val="0"/>
            </a:srgbClr>
          </a:solidFill>
          <a:ln>
            <a:noFill/>
          </a:ln>
        </p:spPr>
        <p:txBody>
          <a:bodyPr wrap="none" anchor="ctr" lIns="0" tIns="0" rIns="0" bIns="0"/>
          <a:lstStyle/>
          <a:p>
            <a:endParaRPr lang="en-US" sz="100"/>
          </a:p>
        </p:txBody>
      </p:sp>
      <p:sp>
        <p:nvSpPr>
          <p:cNvPr id="188" name="SourceLink:BP (conversions)">
            <a:hlinkClick r:id="rId14"/>
          </p:cNvPr>
          <p:cNvSpPr txBox="1"/>
          <p:nvPr/>
        </p:nvSpPr>
        <p:spPr>
          <a:xfrm>
            <a:off x="8430768" y="6053328"/>
            <a:ext cx="731520" cy="109728"/>
          </a:xfrm>
          <a:prstGeom prst="rect">
            <a:avLst/>
          </a:prstGeom>
          <a:solidFill>
            <a:srgbClr val="FFFFFF">
              <a:alpha val="0"/>
            </a:srgbClr>
          </a:solidFill>
          <a:ln>
            <a:noFill/>
          </a:ln>
        </p:spPr>
        <p:txBody>
          <a:bodyPr wrap="none" anchor="ctr" lIns="0" tIns="0" rIns="0" bIns="0"/>
          <a:lstStyle/>
          <a:p>
            <a:endParaRPr lang="en-US" sz="100"/>
          </a:p>
        </p:txBody>
      </p:sp>
      <p:sp>
        <p:nvSpPr>
          <p:cNvPr id="189" name="SourceLink:USTR (Section 301 Actions)">
            <a:hlinkClick r:id="rId15"/>
          </p:cNvPr>
          <p:cNvSpPr txBox="1"/>
          <p:nvPr/>
        </p:nvSpPr>
        <p:spPr>
          <a:xfrm>
            <a:off x="9180576" y="6053328"/>
            <a:ext cx="1051560" cy="109728"/>
          </a:xfrm>
          <a:prstGeom prst="rect">
            <a:avLst/>
          </a:prstGeom>
          <a:solidFill>
            <a:srgbClr val="FFFFFF">
              <a:alpha val="0"/>
            </a:srgbClr>
          </a:solidFill>
          <a:ln>
            <a:noFill/>
          </a:ln>
        </p:spPr>
        <p:txBody>
          <a:bodyPr wrap="none" anchor="ctr" lIns="0" tIns="0" rIns="0" bIns="0"/>
          <a:lstStyle/>
          <a:p>
            <a:endParaRPr lang="en-US" sz="100"/>
          </a:p>
        </p:txBody>
      </p:sp>
      <p:sp>
        <p:nvSpPr>
          <p:cNvPr id="190" name="SourceLink:USTR (Section 301 Action modifications)">
            <a:hlinkClick r:id="rId16"/>
          </p:cNvPr>
          <p:cNvSpPr txBox="1"/>
          <p:nvPr/>
        </p:nvSpPr>
        <p:spPr>
          <a:xfrm>
            <a:off x="10250424" y="6053328"/>
            <a:ext cx="1325880" cy="109728"/>
          </a:xfrm>
          <a:prstGeom prst="rect">
            <a:avLst/>
          </a:prstGeom>
          <a:solidFill>
            <a:srgbClr val="FFFFFF">
              <a:alpha val="0"/>
            </a:srgbClr>
          </a:solidFill>
          <a:ln>
            <a:noFill/>
          </a:ln>
        </p:spPr>
        <p:txBody>
          <a:bodyPr wrap="none" anchor="ctr" lIns="0" tIns="0" rIns="0" bIns="0"/>
          <a:lstStyle/>
          <a:p>
            <a:endParaRPr lang="en-US" sz="100"/>
          </a:p>
        </p:txBody>
      </p:sp>
      <p:sp>
        <p:nvSpPr>
          <p:cNvPr id="191" name="SourceLink:GAO (USG/USDA volume)">
            <a:hlinkClick r:id="rId17"/>
          </p:cNvPr>
          <p:cNvSpPr txBox="1"/>
          <p:nvPr/>
        </p:nvSpPr>
        <p:spPr>
          <a:xfrm>
            <a:off x="457200" y="6181344"/>
            <a:ext cx="1097280" cy="109728"/>
          </a:xfrm>
          <a:prstGeom prst="rect">
            <a:avLst/>
          </a:prstGeom>
          <a:solidFill>
            <a:srgbClr val="FFFFFF">
              <a:alpha val="0"/>
            </a:srgbClr>
          </a:solidFill>
          <a:ln>
            <a:noFill/>
          </a:ln>
        </p:spPr>
        <p:txBody>
          <a:bodyPr wrap="none" anchor="ctr" lIns="0" tIns="0" rIns="0" bIns="0"/>
          <a:lstStyle/>
          <a:p>
            <a:endParaRPr lang="en-US" sz="100"/>
          </a:p>
        </p:txBody>
      </p:sp>
      <p:sp>
        <p:nvSpPr>
          <p:cNvPr id="192" name="SourceLink:IMF (Import forecast)">
            <a:hlinkClick r:id="rId18"/>
          </p:cNvPr>
          <p:cNvSpPr txBox="1"/>
          <p:nvPr/>
        </p:nvSpPr>
        <p:spPr>
          <a:xfrm>
            <a:off x="1572768" y="6181344"/>
            <a:ext cx="960120" cy="109728"/>
          </a:xfrm>
          <a:prstGeom prst="rect">
            <a:avLst/>
          </a:prstGeom>
          <a:solidFill>
            <a:srgbClr val="FFFFFF">
              <a:alpha val="0"/>
            </a:srgbClr>
          </a:solidFill>
          <a:ln>
            <a:noFill/>
          </a:ln>
        </p:spPr>
        <p:txBody>
          <a:bodyPr wrap="none" anchor="ctr" lIns="0" tIns="0" rIns="0" bIns="0"/>
          <a:lstStyle/>
          <a:p>
            <a:endParaRPr lang="en-US" sz="1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Captive Demand | MSTF can support ~100 more vessels than legally mandated demand for SHIPS Act.</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Captive demand considers current cargo volumes, growth rates, and annual vessel capacity (driven by number of trips / year, cargo capacity, and utilization)</a:t>
            </a:r>
            <a:br/>
            <a:r>
              <a:rPr lang="en-US" sz="800" dirty="0">
                <a:solidFill>
                  <a:srgbClr val="000000"/>
                </a:solidFill>
                <a:latin typeface="Arial"/>
                <a:ea typeface="Arial"/>
                <a:cs typeface="Arial"/>
              </a:rPr>
              <a:t>Source: S&amp;P Panjiva; Clarksons; </a:t>
            </a:r>
            <a:r>
              <a:rPr lang="en-US" sz="800" dirty="0">
                <a:solidFill>
                  <a:srgbClr val="000000"/>
                </a:solidFill>
                <a:latin typeface="Arial"/>
                <a:ea typeface="Arial"/>
                <a:cs typeface="Arial"/>
                <a:hlinkClick r:id="rId3"/>
              </a:rPr>
              <a:t>SHIPS Act text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4"/>
              </a:rPr>
              <a:t>EIA AEO LNG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5"/>
              </a:rPr>
              <a:t>EIA AEO Crude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6"/>
              </a:rPr>
              <a:t>EIA Crude Tanker Descriptions</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7"/>
              </a:rPr>
              <a:t>GAO Report on Government Preference Cargo</a:t>
            </a:r>
          </a:p>
        </p:txBody>
      </p:sp>
      <p:graphicFrame>
        <p:nvGraphicFramePr>
          <p:cNvPr id="101" name="MandateTable"/>
          <p:cNvGraphicFramePr>
            <a:graphicFrameLocks noGrp="1"/>
          </p:cNvGraphicFramePr>
          <p:nvPr/>
        </p:nvGraphicFramePr>
        <p:xfrm>
          <a:off x="5214823" y="1356055"/>
          <a:ext cx="6482182" cy="3664001"/>
        </p:xfrm>
        <a:graphic>
          <a:graphicData uri="http://schemas.openxmlformats.org/drawingml/2006/table">
            <a:tbl>
              <a:tblPr firstRow="1" firstCol="1" bandRow="0">
                <a:tableStyleId>{2D5ABB26-0587-4C30-8999-92F81FD0307C}</a:tableStyleId>
              </a:tblPr>
              <a:tblGrid>
                <a:gridCol w="2567635"/>
                <a:gridCol w="1645006"/>
                <a:gridCol w="1134770"/>
                <a:gridCol w="1134770"/>
              </a:tblGrid>
              <a:tr h="0">
                <a:tc gridSpan="4">
                  <a:txBody>
                    <a:bodyPr anchor="b"/>
                    <a:lstStyle/>
                    <a:p>
                      <a:pPr algn="ctr">
                        <a:lnSpc>
                          <a:spcPct val="100000"/>
                        </a:lnSpc>
                      </a:pPr>
                      <a:r>
                        <a:rPr lang="en-US" sz="1000" b="1" dirty="0">
                          <a:solidFill>
                            <a:srgbClr val="000000"/>
                          </a:solidFill>
                          <a:latin typeface="Arial"/>
                          <a:ea typeface="Arial"/>
                          <a:cs typeface="Arial"/>
                        </a:rPr>
                        <a:t>Legally mandated demand from SHIPS Act Provisions</a:t>
                      </a:r>
                    </a:p>
                  </a:txBody>
                  <a:tcPr marL="45720" marR="45720" marT="45720" marB="45720" anchor="b">
                    <a:lnL>
                      <a:noFill/>
                    </a:lnL>
                    <a:lnR>
                      <a:noFill/>
                    </a:lnR>
                    <a:lnT>
                      <a:noFill/>
                    </a:lnT>
                    <a:lnB>
                      <a:noFill/>
                    </a:lnB>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tr>
              <a:tr h="0">
                <a:tc>
                  <a:txBody>
                    <a:bodyPr anchor="b"/>
                    <a:lstStyle/>
                    <a:p>
                      <a:pPr algn="l">
                        <a:lnSpc>
                          <a:spcPct val="100000"/>
                        </a:lnSpc>
                      </a:pPr>
                      <a:r>
                        <a:rPr lang="en-US" sz="1000" b="1" dirty="0">
                          <a:solidFill>
                            <a:srgbClr val="000000"/>
                          </a:solidFill>
                          <a:latin typeface="Arial"/>
                          <a:ea typeface="Arial"/>
                          <a:cs typeface="Arial"/>
                        </a:rPr>
                        <a:t>Provision </a:t>
                      </a:r>
                      <a:r>
                        <a:rPr lang="en-US" sz="1000" i="1" dirty="0">
                          <a:solidFill>
                            <a:srgbClr val="000000"/>
                          </a:solidFill>
                          <a:latin typeface="Arial"/>
                          <a:ea typeface="Arial"/>
                          <a:cs typeface="Arial"/>
                        </a:rPr>
                        <a:t>(Bill Section)</a:t>
                      </a:r>
                      <a:br/>
                      <a:r>
                        <a:rPr lang="en-US" sz="1000" dirty="0">
                          <a:solidFill>
                            <a:srgbClr val="000000"/>
                          </a:solidFill>
                          <a:latin typeface="Arial"/>
                          <a:ea typeface="Arial"/>
                          <a:cs typeface="Arial"/>
                        </a:rPr>
                        <a:t>Vessel Type Impacted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 of Cargo</a:t>
                      </a:r>
                      <a:br/>
                      <a:r>
                        <a:rPr lang="en-US" sz="1000" i="1" dirty="0">
                          <a:solidFill>
                            <a:srgbClr val="000000"/>
                          </a:solidFill>
                          <a:latin typeface="Arial"/>
                          <a:ea typeface="Arial"/>
                          <a:cs typeface="Arial"/>
                        </a:rPr>
                        <a:t>(Start – ramp end)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US-Built</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US-Flagged</a:t>
                      </a:r>
                    </a:p>
                  </a:txBody>
                  <a:tcPr marL="45720" marR="45720" marT="45720" marB="45720" anchor="b">
                    <a:lnL>
                      <a:noFill/>
                    </a:lnL>
                    <a:lnR>
                      <a:noFill/>
                    </a:lnR>
                    <a:lnT>
                      <a:noFill/>
                    </a:lnT>
                    <a:lnB w="12700" cap="flat" cmpd="sng" algn="ctr">
                      <a:solidFill>
                        <a:srgbClr val="000000"/>
                      </a:solidFill>
                      <a:prstDash val="solid"/>
                    </a:lnB>
                    <a:noFill/>
                  </a:tcPr>
                </a:tc>
              </a:tr>
              <a:tr h="604418">
                <a:tc>
                  <a:txBody>
                    <a:bodyPr anchor="ctr"/>
                    <a:lstStyle/>
                    <a:p>
                      <a:pPr algn="l">
                        <a:lnSpc>
                          <a:spcPct val="100000"/>
                        </a:lnSpc>
                      </a:pPr>
                      <a:r>
                        <a:rPr lang="en-US" sz="1000" b="1" dirty="0">
                          <a:solidFill>
                            <a:srgbClr val="FFFFFF"/>
                          </a:solidFill>
                          <a:latin typeface="Arial"/>
                          <a:ea typeface="Arial"/>
                          <a:cs typeface="Arial"/>
                        </a:rPr>
                        <a:t>Crude Exports from the US</a:t>
                      </a:r>
                    </a:p>
                    <a:p>
                      <a:pPr algn="l">
                        <a:lnSpc>
                          <a:spcPct val="100000"/>
                        </a:lnSpc>
                      </a:pPr>
                      <a:r>
                        <a:rPr lang="en-US" sz="1000" i="1" dirty="0">
                          <a:solidFill>
                            <a:srgbClr val="FFFFFF"/>
                          </a:solidFill>
                          <a:latin typeface="Arial"/>
                          <a:ea typeface="Arial"/>
                          <a:cs typeface="Arial"/>
                        </a:rPr>
                        <a:t>SEC. 420</a:t>
                      </a:r>
                      <a:br/>
                      <a:r>
                        <a:rPr lang="en-US" sz="1000" dirty="0">
                          <a:solidFill>
                            <a:srgbClr val="FFFFFF"/>
                          </a:solidFill>
                          <a:latin typeface="Arial"/>
                          <a:ea typeface="Arial"/>
                          <a:cs typeface="Arial"/>
                        </a:rPr>
                        <a:t>Crude Tankers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1D4D68"/>
                    </a:solidFill>
                  </a:tcPr>
                </a:tc>
                <a:tc>
                  <a:txBody>
                    <a:bodyPr anchor="ctr"/>
                    <a:lstStyle/>
                    <a:p>
                      <a:pPr algn="ctr">
                        <a:lnSpc>
                          <a:spcPct val="100000"/>
                        </a:lnSpc>
                      </a:pPr>
                      <a:r>
                        <a:rPr lang="en-US" sz="1000" b="1" dirty="0">
                          <a:solidFill>
                            <a:srgbClr val="000000"/>
                          </a:solidFill>
                          <a:latin typeface="Arial"/>
                          <a:ea typeface="Arial"/>
                          <a:cs typeface="Arial"/>
                        </a:rPr>
                        <a:t>3% to 10%</a:t>
                      </a:r>
                      <a:br/>
                      <a:r>
                        <a:rPr lang="en-US" sz="1000" i="1" dirty="0">
                          <a:solidFill>
                            <a:srgbClr val="000000"/>
                          </a:solidFill>
                          <a:latin typeface="Arial"/>
                          <a:ea typeface="Arial"/>
                          <a:cs typeface="Arial"/>
                        </a:rPr>
                        <a:t>2027-2040</a:t>
                      </a:r>
                      <a:r>
                        <a:rPr lang="en-US" sz="1000" b="1" dirty="0">
                          <a:solidFill>
                            <a:srgbClr val="000000"/>
                          </a:solidFill>
                          <a:latin typeface="Arial"/>
                          <a:ea typeface="Arial"/>
                          <a:cs typeface="Arial"/>
                        </a:rPr>
                        <a:t>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000000"/>
                          </a:solidFill>
                          <a:latin typeface="Arial"/>
                          <a:ea typeface="Arial"/>
                          <a:cs typeface="Arial"/>
                        </a:rPr>
                        <a:t>LNG Exports from the US</a:t>
                      </a:r>
                      <a:br/>
                      <a:r>
                        <a:rPr lang="en-US" sz="1000" i="1" dirty="0">
                          <a:solidFill>
                            <a:srgbClr val="000000"/>
                          </a:solidFill>
                          <a:latin typeface="Arial"/>
                          <a:ea typeface="Arial"/>
                          <a:cs typeface="Arial"/>
                        </a:rPr>
                        <a:t>SEC. 420</a:t>
                      </a:r>
                      <a:br/>
                      <a:r>
                        <a:rPr lang="en-US" sz="1000" dirty="0">
                          <a:solidFill>
                            <a:srgbClr val="000000"/>
                          </a:solidFill>
                          <a:latin typeface="Arial"/>
                          <a:ea typeface="Arial"/>
                          <a:cs typeface="Arial"/>
                        </a:rPr>
                        <a:t>LNG 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r>
                        <a:rPr lang="en-US" sz="1000" b="1" dirty="0">
                          <a:solidFill>
                            <a:srgbClr val="000000"/>
                          </a:solidFill>
                          <a:latin typeface="Arial"/>
                          <a:ea typeface="Arial"/>
                          <a:cs typeface="Arial"/>
                        </a:rPr>
                        <a:t>2% to 15%</a:t>
                      </a:r>
                      <a:br/>
                      <a:r>
                        <a:rPr lang="en-US" sz="1000" i="1" dirty="0">
                          <a:solidFill>
                            <a:srgbClr val="000000"/>
                          </a:solidFill>
                          <a:latin typeface="Arial"/>
                          <a:ea typeface="Arial"/>
                          <a:cs typeface="Arial"/>
                        </a:rPr>
                        <a:t>2027-2047</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China Imports to the US</a:t>
                      </a:r>
                      <a:br/>
                      <a:r>
                        <a:rPr lang="en-US" sz="1000" i="1" dirty="0">
                          <a:solidFill>
                            <a:srgbClr val="FFFFFF"/>
                          </a:solidFill>
                          <a:latin typeface="Arial"/>
                          <a:ea typeface="Arial"/>
                          <a:cs typeface="Arial"/>
                        </a:rPr>
                        <a:t>SEC. 415</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a:txBody>
                    <a:bodyPr anchor="ctr"/>
                    <a:lstStyle/>
                    <a:p>
                      <a:pPr algn="ctr">
                        <a:lnSpc>
                          <a:spcPct val="100000"/>
                        </a:lnSpc>
                      </a:pPr>
                      <a:r>
                        <a:rPr lang="en-US" sz="1000" b="1" dirty="0">
                          <a:solidFill>
                            <a:srgbClr val="000000"/>
                          </a:solidFill>
                          <a:latin typeface="Arial"/>
                          <a:ea typeface="Arial"/>
                          <a:cs typeface="Arial"/>
                        </a:rPr>
                        <a:t>1% to 10%</a:t>
                      </a:r>
                      <a:br/>
                      <a:r>
                        <a:rPr lang="en-US" sz="1000" i="1" dirty="0">
                          <a:solidFill>
                            <a:srgbClr val="000000"/>
                          </a:solidFill>
                          <a:latin typeface="Arial"/>
                          <a:ea typeface="Arial"/>
                          <a:cs typeface="Arial"/>
                        </a:rPr>
                        <a:t>2031-2040</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 Government Cargo Preference</a:t>
                      </a:r>
                      <a:br/>
                      <a:r>
                        <a:rPr lang="en-US" sz="1000" i="1" dirty="0">
                          <a:solidFill>
                            <a:srgbClr val="FFFFFF"/>
                          </a:solidFill>
                          <a:latin typeface="Arial"/>
                          <a:ea typeface="Arial"/>
                          <a:cs typeface="Arial"/>
                        </a:rPr>
                        <a:t>SEC. 411</a:t>
                      </a:r>
                      <a:br/>
                      <a:r>
                        <a:rPr lang="en-US" sz="1000" dirty="0">
                          <a:solidFill>
                            <a:srgbClr val="FFFFFF"/>
                          </a:solidFill>
                          <a:latin typeface="Arial"/>
                          <a:ea typeface="Arial"/>
                          <a:cs typeface="Arial"/>
                        </a:rPr>
                        <a:t>Containerships &amp; Bulk</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rowSpan="2">
                  <a:txBody>
                    <a:bodyPr anchor="ctr"/>
                    <a:lstStyle/>
                    <a:p>
                      <a:pPr algn="ctr">
                        <a:lnSpc>
                          <a:spcPct val="100000"/>
                        </a:lnSpc>
                      </a:pPr>
                      <a:r>
                        <a:rPr lang="en-US" sz="1000" b="1" dirty="0">
                          <a:solidFill>
                            <a:srgbClr val="000000"/>
                          </a:solidFill>
                          <a:latin typeface="Arial"/>
                          <a:ea typeface="Arial"/>
                          <a:cs typeface="Arial"/>
                        </a:rPr>
                        <a:t>50% to 100%</a:t>
                      </a:r>
                      <a:r>
                        <a:rPr lang="en-US" sz="1000" dirty="0">
                          <a:solidFill>
                            <a:srgbClr val="000000"/>
                          </a:solidFill>
                          <a:latin typeface="Arial"/>
                          <a:ea typeface="Arial"/>
                          <a:cs typeface="Arial"/>
                        </a:rPr>
                        <a:t> </a:t>
                      </a:r>
                      <a:br/>
                      <a:r>
                        <a:rPr lang="en-US" sz="1000" i="1" dirty="0">
                          <a:solidFill>
                            <a:srgbClr val="000000"/>
                          </a:solidFill>
                          <a:latin typeface="Arial"/>
                          <a:ea typeface="Arial"/>
                          <a:cs typeface="Arial"/>
                        </a:rPr>
                        <a:t>180 days after bill passage</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USDA Program Exports</a:t>
                      </a:r>
                      <a:br/>
                      <a:r>
                        <a:rPr lang="en-US" sz="1000" i="1" dirty="0">
                          <a:solidFill>
                            <a:srgbClr val="FFFFFF"/>
                          </a:solidFill>
                          <a:latin typeface="Arial"/>
                          <a:ea typeface="Arial"/>
                          <a:cs typeface="Arial"/>
                        </a:rPr>
                        <a:t>SEC. 418</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a:noFill/>
                    </a:lnB>
                    <a:solidFill>
                      <a:srgbClr val="007770"/>
                    </a:solidFill>
                  </a:tcPr>
                </a:tc>
                <a:tc vMerge="1">
                  <a:txBody>
                    <a:bodyPr/>
                    <a:lstStyle/>
                    <a:p>
                      <a:endParaRPr lang="en-US"/>
                    </a:p>
                  </a:txBody>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r>
            </a:tbl>
          </a:graphicData>
        </a:graphic>
      </p:graphicFrame>
      <p:graphicFrame>
        <p:nvGraphicFramePr>
          <p:cNvPr id="102" name="CaptiveDemandChart"/>
          <p:cNvGraphicFramePr/>
          <p:nvPr/>
        </p:nvGraphicFramePr>
        <p:xfrm>
          <a:off x="392278" y="1481328"/>
          <a:ext cx="4684471" cy="4273906"/>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SegmentLabelLeader"/>
          <p:cNvCxnSpPr/>
          <p:nvPr/>
        </p:nvCxnSpPr>
        <p:spPr>
          <a:xfrm flipH="1" flipV="1">
            <a:off x="2376526" y="2079346"/>
            <a:ext cx="92354" cy="63094"/>
          </a:xfrm>
          <a:prstGeom prst="line">
            <a:avLst/>
          </a:prstGeom>
          <a:ln w="6350">
            <a:solidFill>
              <a:srgbClr val="44505C"/>
            </a:solidFill>
          </a:ln>
        </p:spPr>
      </p:cxnSp>
      <p:cxnSp>
        <p:nvCxnSpPr>
          <p:cNvPr id="104" name="SegmentLabelLeader"/>
          <p:cNvCxnSpPr/>
          <p:nvPr/>
        </p:nvCxnSpPr>
        <p:spPr>
          <a:xfrm flipH="1">
            <a:off x="2376526" y="1990649"/>
            <a:ext cx="92354" cy="63094"/>
          </a:xfrm>
          <a:prstGeom prst="line">
            <a:avLst/>
          </a:prstGeom>
          <a:ln w="6350">
            <a:solidFill>
              <a:srgbClr val="44505C"/>
            </a:solidFill>
          </a:ln>
        </p:spPr>
      </p:cxnSp>
      <p:sp>
        <p:nvSpPr>
          <p:cNvPr id="105" name="ChartTitle"/>
          <p:cNvSpPr txBox="1"/>
          <p:nvPr/>
        </p:nvSpPr>
        <p:spPr>
          <a:xfrm>
            <a:off x="495605" y="1376172"/>
            <a:ext cx="4008730"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SCF Supported by MSTF vs. Legally Mandated Demand (# vessels)</a:t>
            </a:r>
          </a:p>
        </p:txBody>
      </p:sp>
      <p:sp>
        <p:nvSpPr>
          <p:cNvPr id="106" name="ValueLabel"/>
          <p:cNvSpPr txBox="1"/>
          <p:nvPr/>
        </p:nvSpPr>
        <p:spPr>
          <a:xfrm>
            <a:off x="2111350" y="2020824"/>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7" name="ValueLabel"/>
          <p:cNvSpPr txBox="1"/>
          <p:nvPr/>
        </p:nvSpPr>
        <p:spPr>
          <a:xfrm>
            <a:off x="4190695" y="3654857"/>
            <a:ext cx="105156" cy="152705"/>
          </a:xfrm>
          <a:prstGeom prst="rect">
            <a:avLst/>
          </a:prstGeom>
          <a:solidFill>
            <a:srgbClr val="000000"/>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8" name="ValueLabel"/>
          <p:cNvSpPr txBox="1"/>
          <p:nvPr/>
        </p:nvSpPr>
        <p:spPr>
          <a:xfrm>
            <a:off x="3612794" y="3672230"/>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9" name="SCFCategoryLabel"/>
          <p:cNvSpPr txBox="1"/>
          <p:nvPr/>
        </p:nvSpPr>
        <p:spPr>
          <a:xfrm>
            <a:off x="1110996" y="5572354"/>
            <a:ext cx="1524305" cy="304495"/>
          </a:xfrm>
          <a:prstGeom prst="rect">
            <a:avLst/>
          </a:prstGeom>
          <a:noFill/>
          <a:ln>
            <a:noFill/>
          </a:ln>
        </p:spPr>
        <p:txBody>
          <a:bodyPr wrap="square" anchor="t" lIns="0" tIns="0" rIns="0" bIns="0"/>
          <a:lstStyle/>
          <a:p>
            <a:pPr algn="ctr" marL="0" indent="0">
              <a:lnSpc>
                <a:spcPct val="100000"/>
              </a:lnSpc>
              <a:buNone/>
            </a:pPr>
            <a:r>
              <a:rPr lang="en-US" sz="1000" dirty="0">
                <a:solidFill>
                  <a:srgbClr val="000000"/>
                </a:solidFill>
                <a:latin typeface="Arial"/>
                <a:ea typeface="Arial"/>
                <a:cs typeface="Arial"/>
              </a:rPr>
              <a:t>Strategic Commercial Fleet (supported by MSTF)</a:t>
            </a:r>
          </a:p>
        </p:txBody>
      </p:sp>
      <p:sp>
        <p:nvSpPr>
          <p:cNvPr id="110" name="MandatedDemandCategoryLabel"/>
          <p:cNvSpPr txBox="1"/>
          <p:nvPr/>
        </p:nvSpPr>
        <p:spPr>
          <a:xfrm>
            <a:off x="3193999" y="5572354"/>
            <a:ext cx="1520647"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Legally Mandated Demand</a:t>
            </a:r>
          </a:p>
        </p:txBody>
      </p:sp>
      <p:sp>
        <p:nvSpPr>
          <p:cNvPr id="111" name="SCFTotalLabel"/>
          <p:cNvSpPr txBox="1"/>
          <p:nvPr/>
        </p:nvSpPr>
        <p:spPr>
          <a:xfrm>
            <a:off x="1751076" y="185897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201</a:t>
            </a:r>
          </a:p>
        </p:txBody>
      </p:sp>
      <p:sp>
        <p:nvSpPr>
          <p:cNvPr id="112" name="MandatedDemandTotalLabel"/>
          <p:cNvSpPr txBox="1"/>
          <p:nvPr/>
        </p:nvSpPr>
        <p:spPr>
          <a:xfrm>
            <a:off x="3832250" y="350215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104</a:t>
            </a:r>
          </a:p>
        </p:txBody>
      </p:sp>
      <p:sp>
        <p:nvSpPr>
          <p:cNvPr id="113" name="OtherPatternSwatch"/>
          <p:cNvSpPr txBox="1"/>
          <p:nvPr/>
        </p:nvSpPr>
        <p:spPr>
          <a:xfrm>
            <a:off x="3554273" y="1762049"/>
            <a:ext cx="179222" cy="133502"/>
          </a:xfrm>
          <a:prstGeom prst="rect">
            <a:avLst/>
          </a:prstGeom>
          <a:pattFill prst="ltDn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3554273" y="196504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3554273" y="2168957"/>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3554273" y="2371954"/>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3554273" y="2574950"/>
            <a:ext cx="179222" cy="133502"/>
          </a:xfrm>
          <a:prstGeom prst="rect">
            <a:avLst/>
          </a:prstGeom>
          <a:solidFill>
            <a:srgbClr val="1D4D68"/>
          </a:solidFill>
          <a:ln>
            <a:no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3554273" y="2777947"/>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19" name="LegendSwatch"/>
          <p:cNvSpPr txBox="1"/>
          <p:nvPr/>
        </p:nvSpPr>
        <p:spPr>
          <a:xfrm>
            <a:off x="3554273"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0" name="LegendLabel"/>
          <p:cNvSpPr txBox="1"/>
          <p:nvPr/>
        </p:nvSpPr>
        <p:spPr>
          <a:xfrm>
            <a:off x="3784702" y="1757477"/>
            <a:ext cx="3154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a:t>
            </a:r>
          </a:p>
        </p:txBody>
      </p:sp>
      <p:sp>
        <p:nvSpPr>
          <p:cNvPr id="121" name="LegendLabel"/>
          <p:cNvSpPr txBox="1"/>
          <p:nvPr/>
        </p:nvSpPr>
        <p:spPr>
          <a:xfrm>
            <a:off x="3784702" y="1960474"/>
            <a:ext cx="3666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22" name="LegendLabel"/>
          <p:cNvSpPr txBox="1"/>
          <p:nvPr/>
        </p:nvSpPr>
        <p:spPr>
          <a:xfrm>
            <a:off x="3784702" y="2163470"/>
            <a:ext cx="2459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Bulk</a:t>
            </a:r>
          </a:p>
        </p:txBody>
      </p:sp>
      <p:sp>
        <p:nvSpPr>
          <p:cNvPr id="123" name="LegendLabel"/>
          <p:cNvSpPr txBox="1"/>
          <p:nvPr/>
        </p:nvSpPr>
        <p:spPr>
          <a:xfrm>
            <a:off x="3784702" y="2367382"/>
            <a:ext cx="8631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Product Tanker</a:t>
            </a:r>
          </a:p>
        </p:txBody>
      </p:sp>
      <p:sp>
        <p:nvSpPr>
          <p:cNvPr id="124" name="LegendLabel"/>
          <p:cNvSpPr txBox="1"/>
          <p:nvPr/>
        </p:nvSpPr>
        <p:spPr>
          <a:xfrm>
            <a:off x="3784702" y="2570378"/>
            <a:ext cx="7726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Crude Tanker</a:t>
            </a:r>
          </a:p>
        </p:txBody>
      </p:sp>
      <p:sp>
        <p:nvSpPr>
          <p:cNvPr id="125" name="LegendLabel"/>
          <p:cNvSpPr txBox="1"/>
          <p:nvPr/>
        </p:nvSpPr>
        <p:spPr>
          <a:xfrm>
            <a:off x="3784702" y="2773375"/>
            <a:ext cx="26060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LNG</a:t>
            </a:r>
          </a:p>
        </p:txBody>
      </p:sp>
      <p:sp>
        <p:nvSpPr>
          <p:cNvPr id="126" name="LegendLabel"/>
          <p:cNvSpPr txBox="1"/>
          <p:nvPr/>
        </p:nvSpPr>
        <p:spPr>
          <a:xfrm>
            <a:off x="3784702" y="2976372"/>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27" name="OpexDnaCaveat"/>
          <p:cNvSpPr txBox="1"/>
          <p:nvPr/>
        </p:nvSpPr>
        <p:spPr>
          <a:xfrm>
            <a:off x="5214823" y="5084064"/>
            <a:ext cx="6482182" cy="792785"/>
          </a:xfrm>
          <a:prstGeom prst="rect">
            <a:avLst/>
          </a:prstGeom>
          <a:solidFill>
            <a:srgbClr val="CEDDEC"/>
          </a:solidFill>
          <a:ln w="12700">
            <a:solidFill>
              <a:srgbClr val="000000"/>
            </a:solid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Reaching ~200 vessels assumes owners accept Opex and D&amp;A differential of operating US-built and flagged vessels vs. foreign-built and flagged</a:t>
            </a:r>
          </a:p>
        </p:txBody>
      </p:sp>
      <p:sp>
        <p:nvSpPr>
          <p:cNvPr id="128" name="ScenarioChip"/>
          <p:cNvSpPr txBox="1"/>
          <p:nvPr/>
        </p:nvSpPr>
        <p:spPr>
          <a:xfrm>
            <a:off x="7378294" y="158191"/>
            <a:ext cx="2722169" cy="199339"/>
          </a:xfrm>
          <a:prstGeom prst="rect">
            <a:avLst/>
          </a:prstGeom>
          <a:solidFill>
            <a:srgbClr val="447BB2"/>
          </a:solidFill>
          <a:ln w="19050">
            <a:solidFill>
              <a:srgbClr val="000000"/>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(2) SHIPS Act Scenario</a:t>
            </a:r>
          </a:p>
        </p:txBody>
      </p:sp>
      <p:cxnSp>
        <p:nvCxnSpPr>
          <p:cNvPr id="129" name="SegmentLabelLeader"/>
          <p:cNvCxnSpPr/>
          <p:nvPr/>
        </p:nvCxnSpPr>
        <p:spPr>
          <a:xfrm flipV="1">
            <a:off x="4533595" y="2000707"/>
            <a:ext cx="681228" cy="1762049"/>
          </a:xfrm>
          <a:prstGeom prst="line">
            <a:avLst/>
          </a:prstGeom>
          <a:ln w="6350">
            <a:solidFill>
              <a:srgbClr val="808080"/>
            </a:solidFill>
            <a:prstDash val="dash"/>
          </a:ln>
        </p:spPr>
      </p:cxnSp>
      <p:cxnSp>
        <p:nvCxnSpPr>
          <p:cNvPr id="130" name="SegmentLabelLeader"/>
          <p:cNvCxnSpPr/>
          <p:nvPr/>
        </p:nvCxnSpPr>
        <p:spPr>
          <a:xfrm flipV="1">
            <a:off x="4533595" y="2609698"/>
            <a:ext cx="681228" cy="1404518"/>
          </a:xfrm>
          <a:prstGeom prst="line">
            <a:avLst/>
          </a:prstGeom>
          <a:ln w="6350">
            <a:solidFill>
              <a:srgbClr val="808080"/>
            </a:solidFill>
            <a:prstDash val="dash"/>
          </a:ln>
        </p:spPr>
      </p:cxnSp>
      <p:cxnSp>
        <p:nvCxnSpPr>
          <p:cNvPr id="131" name="SegmentLabelLeader"/>
          <p:cNvCxnSpPr/>
          <p:nvPr/>
        </p:nvCxnSpPr>
        <p:spPr>
          <a:xfrm flipV="1">
            <a:off x="4533595" y="3188513"/>
            <a:ext cx="681228" cy="1538935"/>
          </a:xfrm>
          <a:prstGeom prst="line">
            <a:avLst/>
          </a:prstGeom>
          <a:ln w="6350">
            <a:solidFill>
              <a:srgbClr val="808080"/>
            </a:solidFill>
            <a:prstDash val="dash"/>
          </a:ln>
        </p:spPr>
      </p:cxnSp>
      <p:sp>
        <p:nvSpPr>
          <p:cNvPr id="132" name="PortAlphaMarker"/>
          <p:cNvSpPr txBox="1"/>
          <p:nvPr/>
        </p:nvSpPr>
        <p:spPr>
          <a:xfrm>
            <a:off x="9724644" y="1089050"/>
            <a:ext cx="91440" cy="21397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3" name="PortAlphaProductionModeledLabel"/>
          <p:cNvSpPr txBox="1"/>
          <p:nvPr/>
        </p:nvSpPr>
        <p:spPr>
          <a:xfrm>
            <a:off x="9775850" y="1089050"/>
            <a:ext cx="1921154" cy="213970"/>
          </a:xfrm>
          <a:prstGeom prst="rect">
            <a:avLst/>
          </a:prstGeom>
          <a:noFill/>
          <a:ln>
            <a:noFill/>
          </a:ln>
        </p:spPr>
        <p:txBody>
          <a:bodyPr wrap="none" anchor="ctr" lIns="91440" tIns="45720" rIns="91440" bIns="45720"/>
          <a:lstStyle/>
          <a:p>
            <a:pPr>
              <a:lnSpc>
                <a:spcPct val="100000"/>
              </a:lnSpc>
              <a:buNone/>
            </a:pPr>
            <a:r>
              <a:rPr lang="en-US" sz="1000" dirty="0">
                <a:solidFill>
                  <a:srgbClr val="000000"/>
                </a:solidFill>
                <a:latin typeface="Arial"/>
                <a:ea typeface="Arial"/>
                <a:cs typeface="Arial"/>
              </a:rPr>
              <a:t>Port Alpha production modeled</a:t>
            </a:r>
          </a:p>
        </p:txBody>
      </p:sp>
      <p:sp>
        <p:nvSpPr>
          <p:cNvPr id="134" name="PortAlphaChartOutline1"/>
          <p:cNvSpPr txBox="1"/>
          <p:nvPr/>
        </p:nvSpPr>
        <p:spPr>
          <a:xfrm>
            <a:off x="3506724" y="2349094"/>
            <a:ext cx="1188720" cy="389534"/>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
        <p:nvSpPr>
          <p:cNvPr id="135" name="PortAlphaChartOutline2"/>
          <p:cNvSpPr txBox="1"/>
          <p:nvPr/>
        </p:nvSpPr>
        <p:spPr>
          <a:xfrm>
            <a:off x="3506724" y="2958998"/>
            <a:ext cx="1188720" cy="189281"/>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BuildCo Financial Projections</a:t>
            </a:r>
            <a:r>
              <a:rPr lang="en-US" sz="1000" kern="1200" dirty="0">
                <a:solidFill>
                  <a:srgbClr val="44505C"/>
                </a:solidFill>
                <a:latin typeface="Arial"/>
                <a:ea typeface="Arial"/>
                <a:cs typeface="Arial"/>
              </a:rPr>
              <a:t> / Assumptions &amp; Methodology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Assumptions &amp; Methodology | Income Statement (1/2).</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IncomeStatementMethodologyTable"/>
          <p:cNvGraphicFramePr>
            <a:graphicFrameLocks noGrp="1"/>
          </p:cNvGraphicFramePr>
          <p:nvPr/>
        </p:nvGraphicFramePr>
        <p:xfrm>
          <a:off x="431597" y="1019556"/>
          <a:ext cx="11281867" cy="3342132"/>
        </p:xfrm>
        <a:graphic>
          <a:graphicData uri="http://schemas.openxmlformats.org/drawingml/2006/table">
            <a:tbl>
              <a:tblPr firstRow="1" firstCol="1" bandRow="0">
                <a:tableStyleId>{2D5ABB26-0587-4C30-8999-92F81FD0307C}</a:tableStyleId>
              </a:tblPr>
              <a:tblGrid>
                <a:gridCol w="1650492"/>
                <a:gridCol w="2940710"/>
                <a:gridCol w="6691579"/>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 – </a:t>
                      </a:r>
                      <a:r>
                        <a:rPr lang="en-US" sz="1200" i="1" dirty="0">
                          <a:solidFill>
                            <a:srgbClr val="162029"/>
                          </a:solidFill>
                          <a:latin typeface="Arial"/>
                          <a:ea typeface="Arial"/>
                          <a:cs typeface="Arial"/>
                        </a:rPr>
                        <a:t>Revenue and Direct Costs recognized on POC basis</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73990">
                <a:tc>
                  <a:txBody>
                    <a:bodyPr anchor="ctr"/>
                    <a:lstStyle/>
                    <a:p>
                      <a:pPr algn="l" marL="0" indent="0">
                        <a:lnSpc>
                          <a:spcPct val="100000"/>
                        </a:lnSpc>
                      </a:pPr>
                      <a:r>
                        <a:rPr lang="en-US" sz="1200" b="1" dirty="0">
                          <a:solidFill>
                            <a:srgbClr val="162029"/>
                          </a:solidFill>
                          <a:latin typeface="Arial"/>
                          <a:ea typeface="Arial"/>
                          <a:cs typeface="Arial"/>
                        </a:rPr>
                        <a:t>Revenue (POC)</a:t>
                      </a:r>
                    </a:p>
                  </a:txBody>
                  <a:tcPr marL="45720" marR="45720" marT="45720" marB="45720" anchor="ctr">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Vessel Sale Price</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Container: ~40-44% Gross Margin applied to Direct Costs to set sale price</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162029"/>
                      </a:solidFill>
                      <a:prstDash val="solid"/>
                    </a:lnB>
                    <a:noFill/>
                  </a:tcPr>
                </a:tc>
              </a:tr>
              <a:tr h="623621">
                <a:tc>
                  <a:txBody>
                    <a:bodyPr anchor="ctr"/>
                    <a:lstStyle/>
                    <a:p>
                      <a:pPr algn="l" marL="0" indent="0">
                        <a:lnSpc>
                          <a:spcPct val="100000"/>
                        </a:lnSpc>
                      </a:pPr>
                      <a:r>
                        <a:rPr lang="en-US" sz="1200" b="1" dirty="0">
                          <a:solidFill>
                            <a:srgbClr val="162029"/>
                          </a:solidFill>
                          <a:latin typeface="Arial"/>
                          <a:ea typeface="Arial"/>
                          <a:cs typeface="Arial"/>
                        </a:rPr>
                        <a:t>Direct Costs (POC)</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Assumed to be ~65-75% of Total Equipment + Raw Materials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3% YoY increase in equipment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equipment</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623621">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Production tech labor rate * hours required to build vessel </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labor rate ’26-’30; 3% ’31+</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73990">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 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Direct Labor</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873252">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Raw Materials (Steel)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Steel portion of hull estimated from LWT in units of MT. Multiplied with $1,200 / MT rate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YoY price changes indexed to S&amp;P steel price forecast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raw materials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MethodologyBanner"/>
          <p:cNvSpPr txBox="1"/>
          <p:nvPr/>
        </p:nvSpPr>
        <p:spPr>
          <a:xfrm>
            <a:off x="431597" y="4506163"/>
            <a:ext cx="11303813" cy="754380"/>
          </a:xfrm>
          <a:prstGeom prst="rect">
            <a:avLst/>
          </a:prstGeom>
          <a:solidFill>
            <a:srgbClr val="E2E9EF"/>
          </a:solidFill>
          <a:ln w="12700">
            <a:solidFill>
              <a:srgbClr val="000000"/>
            </a:solidFill>
          </a:ln>
        </p:spPr>
        <p:txBody>
          <a:bodyPr wrap="square" anchor="ctr" lIns="91440" tIns="0" rIns="91440" bIns="0"/>
          <a:lstStyle/>
          <a:p>
            <a:pPr algn="ctr">
              <a:lnSpc>
                <a:spcPct val="100000"/>
              </a:lnSpc>
              <a:buNone/>
            </a:pPr>
            <a:r>
              <a:rPr lang="en-US" sz="1200" b="1" i="1" dirty="0">
                <a:solidFill>
                  <a:srgbClr val="000000"/>
                </a:solidFill>
                <a:latin typeface="Arial"/>
                <a:ea typeface="Arial"/>
                <a:cs typeface="Arial"/>
              </a:rPr>
              <a:t>Revenue and Direct Costs are recognized on the Income Statement on a Percentage of Completion (POC) basis. Recognition is allocated ratably based on Build Time </a:t>
            </a:r>
          </a:p>
          <a:p>
            <a:pPr algn="ctr">
              <a:lnSpc>
                <a:spcPct val="100000"/>
              </a:lnSpc>
              <a:buNone/>
            </a:pPr>
            <a:r>
              <a:rPr lang="en-US" sz="1200" b="1" i="1" dirty="0">
                <a:solidFill>
                  <a:srgbClr val="000000"/>
                </a:solidFill>
                <a:latin typeface="Arial"/>
                <a:ea typeface="Arial"/>
                <a:cs typeface="Arial"/>
              </a:rPr>
              <a:t>(e.g., Build Time = 12 Months, Price = $120M, Monthly Revenue = $10M)</a:t>
            </a:r>
          </a:p>
        </p:txBody>
      </p:sp>
      <p:sp>
        <p:nvSpPr>
          <p:cNvPr id="102" name="SourceNote"/>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S&amp;P Intelligence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BuildCo Financial Projections</a:t>
            </a:r>
            <a:r>
              <a:rPr lang="en-US" sz="1000" kern="1200" dirty="0">
                <a:solidFill>
                  <a:srgbClr val="44505C"/>
                </a:solidFill>
                <a:latin typeface="Arial"/>
                <a:ea typeface="Arial"/>
                <a:cs typeface="Arial"/>
              </a:rPr>
              <a:t> / Assumptions &amp; Methodology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Assumptions &amp; Methodology | Income Statement (2/2).</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OperatingExpenseAssumptionsTable"/>
          <p:cNvGraphicFramePr>
            <a:graphicFrameLocks noGrp="1"/>
          </p:cNvGraphicFramePr>
          <p:nvPr/>
        </p:nvGraphicFramePr>
        <p:xfrm>
          <a:off x="355702" y="1047902"/>
          <a:ext cx="11281867" cy="4933188"/>
        </p:xfrm>
        <a:graphic>
          <a:graphicData uri="http://schemas.openxmlformats.org/drawingml/2006/table">
            <a:tbl>
              <a:tblPr firstRow="1" firstCol="1" bandRow="0">
                <a:tableStyleId>{2D5ABB26-0587-4C30-8999-92F81FD0307C}</a:tableStyleId>
              </a:tblPr>
              <a:tblGrid>
                <a:gridCol w="1650492"/>
                <a:gridCol w="2940710"/>
                <a:gridCol w="6690665"/>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89534">
                <a:tc>
                  <a:txBody>
                    <a:bodyPr anchor="ctr"/>
                    <a:lstStyle/>
                    <a:p>
                      <a:pPr algn="l" marL="0" indent="0">
                        <a:lnSpc>
                          <a:spcPct val="100000"/>
                        </a:lnSpc>
                      </a:pPr>
                      <a:r>
                        <a:rPr lang="en-US" sz="1200" b="1" dirty="0">
                          <a:solidFill>
                            <a:srgbClr val="162029"/>
                          </a:solidFill>
                          <a:latin typeface="Arial"/>
                          <a:ea typeface="Arial"/>
                          <a:cs typeface="Arial"/>
                        </a:rPr>
                        <a:t>Operating Expenses</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Compensation</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Bucketed across R&amp;D Engineers, Manufacturing OH, G&amp;A, and S&amp;M</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rates</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Professional Services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6-7% of revenue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Compensation</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Legal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IT &amp; Software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$25K / head in R&amp;D.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D&amp;A</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Construction depreciated over 40-yr. useful life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Equipment depreciated over 15-yr. useful life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SBC</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10% rate applied to Compensation – extra incentives for hiring. Added back in Cash Flows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Travel &amp; Entertainment</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$12K / head in R&amp;D and G&amp;A. $60K / head in S&amp;M.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&amp; Material Maintenance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 of cumulative Capex</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Facilities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Utilities, Building Maintenance, Janitorial, Property Taxes, Other rates applied on a per sqft. Basis. Collectively $17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(except Property Taxes - ~1%)</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Land Lease also included in cost at $7,500 / acre (rate kept constant YoY)</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Marketing, PR, Events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Insurance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Applied on a per sqft basis - $1.20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SourceNote"/>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Internal Saronic data and estimates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(1/2) | Determining unit economics requires normalizing annual operating expenses and per-voyage cost of sales to a per-unit of cargo basis ($ / TEU).</a:t>
            </a:r>
          </a:p>
        </p:txBody>
      </p:sp>
      <p:graphicFrame>
        <p:nvGraphicFramePr>
          <p:cNvPr id="100" name="UnitEconomicsCostMatrix"/>
          <p:cNvGraphicFramePr>
            <a:graphicFrameLocks noGrp="1"/>
          </p:cNvGraphicFramePr>
          <p:nvPr/>
        </p:nvGraphicFramePr>
        <p:xfrm>
          <a:off x="472745" y="1286561"/>
          <a:ext cx="11247120" cy="5074920"/>
        </p:xfrm>
        <a:graphic>
          <a:graphicData uri="http://schemas.openxmlformats.org/drawingml/2006/table">
            <a:tbl>
              <a:tblPr firstRow="1" firstCol="1" bandRow="0">
                <a:tableStyleId>{2D5ABB26-0587-4C30-8999-92F81FD0307C}</a:tableStyleId>
              </a:tblPr>
              <a:tblGrid>
                <a:gridCol w="1371600"/>
                <a:gridCol w="274320"/>
                <a:gridCol w="3017520"/>
                <a:gridCol w="274320"/>
                <a:gridCol w="3017520"/>
                <a:gridCol w="274320"/>
                <a:gridCol w="3017520"/>
              </a:tblGrid>
              <a:tr h="117958">
                <a:tc rowSpan="2">
                  <a:txBody>
                    <a:bodyPr anchor="b"/>
                    <a:lstStyle/>
                    <a:p>
                      <a:pPr algn="l" marL="0" indent="0">
                        <a:lnSpc>
                          <a:spcPct val="100000"/>
                        </a:lnSpc>
                      </a:pPr>
                      <a:r>
                        <a:rPr lang="en-US" sz="900" i="1" dirty="0">
                          <a:solidFill>
                            <a:srgbClr val="000000"/>
                          </a:solidFill>
                          <a:latin typeface="Arial"/>
                          <a:ea typeface="Arial"/>
                          <a:cs typeface="Arial"/>
                        </a:rPr>
                        <a:t>For each route and vessel size / type</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gridSpan="5">
                  <a:txBody>
                    <a:bodyPr anchor="b"/>
                    <a:lstStyle/>
                    <a:p>
                      <a:pPr algn="ctr" marL="0" indent="0">
                        <a:lnSpc>
                          <a:spcPct val="100000"/>
                        </a:lnSpc>
                      </a:pPr>
                      <a:r>
                        <a:rPr lang="en-US" sz="900" b="1" dirty="0">
                          <a:solidFill>
                            <a:srgbClr val="000000"/>
                          </a:solidFill>
                          <a:latin typeface="Arial"/>
                          <a:ea typeface="Arial"/>
                          <a:cs typeface="Arial"/>
                        </a:rPr>
                        <a:t>Price / cost categories by frequency (reported or incurred)</a:t>
                      </a:r>
                    </a:p>
                  </a:txBody>
                  <a:tcPr marL="45720" marR="45720" marT="45720" marB="4572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Annual</a:t>
                      </a:r>
                    </a:p>
                  </a:txBody>
                  <a:tcPr marL="45720" marR="45720" marT="45720" marB="45720" anchor="b">
                    <a:lnL>
                      <a:noFill/>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Voyage</a:t>
                      </a:r>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Unit (TEU)</a:t>
                      </a:r>
                    </a:p>
                  </a:txBody>
                  <a:tcPr marL="60960" marR="60960" marT="60960" marB="60960" anchor="b">
                    <a:lnL w="12700" cap="flat" cmpd="sng" algn="ctr">
                      <a:solidFill>
                        <a:srgbClr val="FFFFFF"/>
                      </a:solidFill>
                      <a:prstDash val="solid"/>
                    </a:lnL>
                    <a:lnR>
                      <a:noFill/>
                    </a:lnR>
                    <a:lnT w="12700" cap="flat" cmpd="sng" algn="ctr">
                      <a:solidFill>
                        <a:srgbClr val="162029"/>
                      </a:solidFill>
                      <a:prstDash val="solid"/>
                    </a:lnT>
                    <a:lnB w="12700" cap="flat" cmpd="sng" algn="ctr">
                      <a:solidFill>
                        <a:srgbClr val="000000"/>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000000"/>
                      </a:solidFill>
                      <a:prstDash val="solid"/>
                    </a:lnT>
                    <a:lnB>
                      <a:noFill/>
                    </a:lnB>
                    <a:noFill/>
                  </a:tcPr>
                </a:tc>
              </a:tr>
              <a:tr h="0">
                <a:tc>
                  <a:txBody>
                    <a:bodyPr anchor="t"/>
                    <a:lstStyle/>
                    <a:p>
                      <a:pPr algn="l" marL="0" indent="0">
                        <a:lnSpc>
                          <a:spcPct val="100000"/>
                        </a:lnSpc>
                      </a:pPr>
                      <a:r>
                        <a:rPr lang="en-US" sz="900" b="1" dirty="0">
                          <a:solidFill>
                            <a:srgbClr val="000000"/>
                          </a:solidFill>
                          <a:latin typeface="Arial"/>
                          <a:ea typeface="Arial"/>
                          <a:cs typeface="Arial"/>
                        </a:rPr>
                        <a:t>Price</a:t>
                      </a:r>
                    </a:p>
                  </a:txBody>
                  <a:tcPr marL="45720" marR="45720" marT="45720" marB="45720" anchor="t">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Basic Ocean Rate</a:t>
                      </a:r>
                    </a:p>
                  </a:txBody>
                  <a:tcPr marL="60960" marR="60960" marT="60960" marB="60960" anchor="b">
                    <a:lnL w="12700" cap="flat" cmpd="sng" algn="ctr">
                      <a:solidFill>
                        <a:srgbClr val="FFFFFF"/>
                      </a:solidFill>
                      <a:prstDash val="solid"/>
                    </a:lnL>
                    <a:lnR>
                      <a:noFill/>
                    </a:lnR>
                    <a:lnT>
                      <a:noFill/>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Fuel Adjustment Factor</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635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6350" cap="flat" cmpd="sng" algn="ctr">
                      <a:solidFill>
                        <a:srgbClr val="FFFFFF"/>
                      </a:solidFill>
                      <a:prstDash val="solid"/>
                    </a:lnT>
                    <a:lnB w="12700" cap="flat" cmpd="sng" algn="ctr">
                      <a:solidFill>
                        <a:srgbClr val="FFFFFF"/>
                      </a:solidFill>
                      <a:prstDash val="solid"/>
                    </a:lnB>
                    <a:noFill/>
                  </a:tcPr>
                </a:tc>
              </a:tr>
              <a:tr h="0">
                <a:tc rowSpan="2">
                  <a:txBody>
                    <a:bodyPr anchor="t"/>
                    <a:lstStyle/>
                    <a:p>
                      <a:pPr algn="l" marL="0" indent="0">
                        <a:lnSpc>
                          <a:spcPct val="100000"/>
                        </a:lnSpc>
                      </a:pPr>
                      <a:r>
                        <a:rPr lang="en-US" sz="900" b="1" dirty="0">
                          <a:solidFill>
                            <a:srgbClr val="000000"/>
                          </a:solidFill>
                          <a:latin typeface="Arial"/>
                          <a:ea typeface="Arial"/>
                          <a:cs typeface="Arial"/>
                        </a:rPr>
                        <a:t>Variable Costs </a:t>
                      </a:r>
                    </a:p>
                  </a:txBody>
                  <a:tcPr marL="45720" marR="45720" marT="45720" marB="45720" anchor="t">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Pilotage &amp; Tugboats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&amp;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Bunker fuel</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&amp;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Dockage &amp; Other Usage Fees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263746"/>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BFBFBF"/>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rowSpan="8">
                  <a:txBody>
                    <a:bodyPr anchor="t"/>
                    <a:lstStyle/>
                    <a:p>
                      <a:pPr algn="l" marL="0" indent="0">
                        <a:lnSpc>
                          <a:spcPct val="100000"/>
                        </a:lnSpc>
                      </a:pPr>
                      <a:r>
                        <a:rPr lang="en-US" sz="900" b="1" dirty="0">
                          <a:solidFill>
                            <a:srgbClr val="000000"/>
                          </a:solidFill>
                          <a:latin typeface="Arial"/>
                          <a:ea typeface="Arial"/>
                          <a:cs typeface="Arial"/>
                        </a:rPr>
                        <a:t>Operating Expenses</a:t>
                      </a:r>
                    </a:p>
                  </a:txBody>
                  <a:tcPr marL="45720" marR="45720" marT="45720" marB="45720" anchor="t">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Crew</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Insurance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Stores &amp; Spares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Lubricating Oils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Repair &amp; Maintenance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Dry-dock</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Management &amp; Administration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Depreciation &amp; Amortization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Other (e.g., Travel)</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bl>
          </a:graphicData>
        </a:graphic>
      </p:graphicFrame>
      <p:sp>
        <p:nvSpPr>
          <p:cNvPr id="101" name="CostOfSalesNormalizationCallout"/>
          <p:cNvSpPr txBox="1"/>
          <p:nvPr/>
        </p:nvSpPr>
        <p:spPr>
          <a:xfrm>
            <a:off x="5328209" y="3032150"/>
            <a:ext cx="3157423" cy="1205179"/>
          </a:xfrm>
          <a:prstGeom prst="rect">
            <a:avLst/>
          </a:prstGeom>
          <a:noFill/>
          <a:ln w="12700">
            <a:solidFill>
              <a:srgbClr val="000000"/>
            </a:solidFill>
            <a:prstDash val="dash"/>
          </a:ln>
        </p:spPr>
        <p:txBody>
          <a:bodyPr wrap="square" anchor="b" lIns="0" tIns="45720" rIns="0" bIns="45720"/>
          <a:lstStyle/>
          <a:p>
            <a:pPr algn="ctr">
              <a:lnSpc>
                <a:spcPct val="100000"/>
              </a:lnSpc>
              <a:buNone/>
            </a:pPr>
            <a:r>
              <a:rPr lang="en-US" sz="900" i="1" dirty="0">
                <a:solidFill>
                  <a:srgbClr val="000000"/>
                </a:solidFill>
                <a:latin typeface="Arial"/>
                <a:ea typeface="Arial"/>
                <a:cs typeface="Arial"/>
              </a:rPr>
              <a:t>To find Normalized Cost of Sales: Divide by </a:t>
            </a:r>
            <a:r>
              <a:rPr lang="en-US" sz="900" i="1" u="sng"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p>
        </p:txBody>
      </p:sp>
      <p:sp>
        <p:nvSpPr>
          <p:cNvPr id="102" name="VariableCostNormalizationFrame"/>
          <p:cNvSpPr txBox="1"/>
          <p:nvPr/>
        </p:nvSpPr>
        <p:spPr>
          <a:xfrm>
            <a:off x="2057400" y="3981298"/>
            <a:ext cx="3157423" cy="2392070"/>
          </a:xfrm>
          <a:prstGeom prst="rect">
            <a:avLst/>
          </a:prstGeom>
          <a:noFill/>
          <a:ln w="12700">
            <a:solidFill>
              <a:srgbClr val="000000"/>
            </a:solidFill>
            <a:prstDash val="dash"/>
          </a:ln>
        </p:spPr>
        <p:txBody>
          <a:bodyPr wrap="square" anchor="b" lIns="91440" tIns="45720" rIns="91440" bIns="45720"/>
          <a:lstStyle/>
          <a:p>
            <a:pPr algn="ctr">
              <a:lnSpc>
                <a:spcPct val="100000"/>
              </a:lnSpc>
              <a:buNone/>
            </a:pPr>
            <a:endParaRPr lang="en-US"/>
          </a:p>
        </p:txBody>
      </p:sp>
      <p:cxnSp>
        <p:nvCxnSpPr>
          <p:cNvPr id="103" name="NormalizedVariableCostLeader"/>
          <p:cNvCxnSpPr/>
          <p:nvPr/>
        </p:nvCxnSpPr>
        <p:spPr>
          <a:xfrm>
            <a:off x="8485632" y="3634740"/>
            <a:ext cx="205740" cy="113386"/>
          </a:xfrm>
          <a:prstGeom prst="bentConnector3">
            <a:avLst/>
          </a:prstGeom>
          <a:ln w="12700">
            <a:solidFill>
              <a:srgbClr val="000000"/>
            </a:solidFill>
            <a:tailEnd type="triangle" w="med" len="med"/>
          </a:ln>
        </p:spPr>
      </p:cxnSp>
      <p:sp>
        <p:nvSpPr>
          <p:cNvPr id="104" name="NormalizedVariableCostLabel"/>
          <p:cNvSpPr txBox="1"/>
          <p:nvPr/>
        </p:nvSpPr>
        <p:spPr>
          <a:xfrm>
            <a:off x="8691372" y="3623767"/>
            <a:ext cx="3007462" cy="249631"/>
          </a:xfrm>
          <a:prstGeom prst="rect">
            <a:avLst/>
          </a:prstGeom>
          <a:no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Normalized (per unit) Variable Costs</a:t>
            </a:r>
          </a:p>
        </p:txBody>
      </p:sp>
      <p:sp>
        <p:nvSpPr>
          <p:cNvPr id="105" name="NormalizedOpexPanel"/>
          <p:cNvSpPr txBox="1"/>
          <p:nvPr/>
        </p:nvSpPr>
        <p:spPr>
          <a:xfrm>
            <a:off x="8714232" y="4033418"/>
            <a:ext cx="3007462" cy="2146097"/>
          </a:xfrm>
          <a:prstGeom prst="rect">
            <a:avLst/>
          </a:prstGeom>
          <a:solidFill>
            <a:srgbClr val="808080"/>
          </a:solid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Normalized (per unit) Opex</a:t>
            </a:r>
          </a:p>
        </p:txBody>
      </p:sp>
      <p:sp>
        <p:nvSpPr>
          <p:cNvPr id="106" name="OpexNormalizationNarrative"/>
          <p:cNvSpPr txBox="1"/>
          <p:nvPr/>
        </p:nvSpPr>
        <p:spPr>
          <a:xfrm>
            <a:off x="5209337" y="5188306"/>
            <a:ext cx="3507638" cy="1200607"/>
          </a:xfrm>
          <a:prstGeom prst="rect">
            <a:avLst/>
          </a:prstGeom>
          <a:noFill/>
          <a:ln>
            <a:noFill/>
          </a:ln>
        </p:spPr>
        <p:txBody>
          <a:bodyPr wrap="square" anchor="ctr" lIns="0" tIns="45720" rIns="0" bIns="45720"/>
          <a:lstStyle/>
          <a:p>
            <a:pPr algn="ctr">
              <a:lnSpc>
                <a:spcPct val="100000"/>
              </a:lnSpc>
              <a:buNone/>
            </a:pPr>
            <a:r>
              <a:rPr lang="en-US" sz="900" i="1" dirty="0">
                <a:solidFill>
                  <a:srgbClr val="000000"/>
                </a:solidFill>
                <a:latin typeface="Arial"/>
                <a:ea typeface="Arial"/>
                <a:cs typeface="Arial"/>
              </a:rPr>
              <a:t>To find Normalized Opex:</a:t>
            </a:r>
          </a:p>
          <a:p>
            <a:pPr algn="ctr">
              <a:lnSpc>
                <a:spcPct val="100000"/>
              </a:lnSpc>
              <a:buNone/>
            </a:pPr>
            <a:r>
              <a:rPr lang="en-US" sz="900" i="1" dirty="0">
                <a:solidFill>
                  <a:srgbClr val="000000"/>
                </a:solidFill>
                <a:latin typeface="Arial"/>
                <a:ea typeface="Arial"/>
                <a:cs typeface="Arial"/>
              </a:rPr>
              <a:t>Multiply </a:t>
            </a:r>
            <a:r>
              <a:rPr lang="en-US" sz="900" i="1" u="sng" dirty="0">
                <a:solidFill>
                  <a:srgbClr val="000000"/>
                </a:solidFill>
                <a:latin typeface="Arial"/>
                <a:ea typeface="Arial"/>
                <a:cs typeface="Arial"/>
              </a:rPr>
              <a:t>annual Opex</a:t>
            </a:r>
            <a:r>
              <a:rPr lang="en-US" sz="900" i="1" dirty="0">
                <a:solidFill>
                  <a:srgbClr val="000000"/>
                </a:solidFill>
                <a:latin typeface="Arial"/>
                <a:ea typeface="Arial"/>
                <a:cs typeface="Arial"/>
              </a:rPr>
              <a:t> by </a:t>
            </a:r>
            <a:r>
              <a:rPr lang="en-US" sz="900" i="1" u="sng" dirty="0">
                <a:solidFill>
                  <a:srgbClr val="000000"/>
                </a:solidFill>
                <a:latin typeface="Arial"/>
                <a:ea typeface="Arial"/>
                <a:cs typeface="Arial"/>
              </a:rPr>
              <a:t>proportion of relevant days</a:t>
            </a:r>
            <a:r>
              <a:rPr lang="en-US" sz="900" i="1" dirty="0">
                <a:solidFill>
                  <a:srgbClr val="000000"/>
                </a:solidFill>
                <a:latin typeface="Arial"/>
                <a:ea typeface="Arial"/>
                <a:cs typeface="Arial"/>
              </a:rPr>
              <a:t> to find annual Opex per route, then divide by </a:t>
            </a:r>
            <a:r>
              <a:rPr lang="en-US" sz="900" i="1" u="sng" dirty="0">
                <a:solidFill>
                  <a:srgbClr val="000000"/>
                </a:solidFill>
                <a:latin typeface="Arial"/>
                <a:ea typeface="Arial"/>
                <a:cs typeface="Arial"/>
              </a:rPr>
              <a:t>annual relevant voyages</a:t>
            </a:r>
            <a:r>
              <a:rPr lang="en-US" sz="900" i="1" dirty="0">
                <a:solidFill>
                  <a:srgbClr val="000000"/>
                </a:solidFill>
                <a:latin typeface="Arial"/>
                <a:ea typeface="Arial"/>
                <a:cs typeface="Arial"/>
              </a:rPr>
              <a:t> to find Opex per voyage, then divide by </a:t>
            </a:r>
            <a:r>
              <a:rPr lang="en-US" sz="900" i="1" u="sng"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br/>
            <a:br/>
            <a:r>
              <a:rPr lang="en-US" sz="900" i="1" dirty="0">
                <a:solidFill>
                  <a:srgbClr val="000000"/>
                </a:solidFill>
                <a:latin typeface="Arial"/>
                <a:ea typeface="Arial"/>
                <a:cs typeface="Arial"/>
              </a:rPr>
              <a:t>To find proportion of relevant days: Days on route + days idle (loiter, maintenance, in port) attributable to a given route / 365 days</a:t>
            </a:r>
          </a:p>
        </p:txBody>
      </p:sp>
      <p:cxnSp>
        <p:nvCxnSpPr>
          <p:cNvPr id="107" name="OpexNormalizationLeader"/>
          <p:cNvCxnSpPr/>
          <p:nvPr/>
        </p:nvCxnSpPr>
        <p:spPr>
          <a:xfrm flipV="1">
            <a:off x="5214823" y="5106924"/>
            <a:ext cx="3499409" cy="70409"/>
          </a:xfrm>
          <a:prstGeom prst="bentConnector3">
            <a:avLst/>
          </a:prstGeom>
          <a:ln w="12700">
            <a:solidFill>
              <a:srgbClr val="000000"/>
            </a:solidFill>
            <a:tailEnd type="triangle" w="med" len="med"/>
          </a:ln>
        </p:spPr>
      </p:cxnSp>
      <p:sp>
        <p:nvSpPr>
          <p:cNvPr id="108" name="PriceComponentsLegendLabel"/>
          <p:cNvSpPr txBox="1"/>
          <p:nvPr/>
        </p:nvSpPr>
        <p:spPr>
          <a:xfrm>
            <a:off x="8321040" y="1064362"/>
            <a:ext cx="73152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Price</a:t>
            </a:r>
            <a:br/>
            <a:r>
              <a:rPr lang="en-US" sz="800" dirty="0">
                <a:solidFill>
                  <a:srgbClr val="000000"/>
                </a:solidFill>
                <a:latin typeface="Arial"/>
                <a:ea typeface="Arial"/>
                <a:cs typeface="Arial"/>
              </a:rPr>
              <a:t>Components</a:t>
            </a:r>
          </a:p>
        </p:txBody>
      </p:sp>
      <p:sp>
        <p:nvSpPr>
          <p:cNvPr id="109" name="LegendSwatch"/>
          <p:cNvSpPr txBox="1"/>
          <p:nvPr/>
        </p:nvSpPr>
        <p:spPr>
          <a:xfrm>
            <a:off x="9069934" y="1064362"/>
            <a:ext cx="182880" cy="18288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0" name="LegendSwatch"/>
          <p:cNvSpPr txBox="1"/>
          <p:nvPr/>
        </p:nvSpPr>
        <p:spPr>
          <a:xfrm>
            <a:off x="8119872" y="1064362"/>
            <a:ext cx="182880" cy="18288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1" name="LegendSwatch"/>
          <p:cNvSpPr txBox="1"/>
          <p:nvPr/>
        </p:nvSpPr>
        <p:spPr>
          <a:xfrm>
            <a:off x="10111435" y="1064362"/>
            <a:ext cx="182880" cy="182880"/>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11152937" y="1064362"/>
            <a:ext cx="182880" cy="182880"/>
          </a:xfrm>
          <a:prstGeom prst="rect">
            <a:avLst/>
          </a:prstGeom>
          <a:solidFill>
            <a:srgbClr val="7F7F7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3" name="ShoresideVariableCostLegendLabel"/>
          <p:cNvSpPr txBox="1"/>
          <p:nvPr/>
        </p:nvSpPr>
        <p:spPr>
          <a:xfrm>
            <a:off x="9271102" y="1064362"/>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a:t>
            </a:r>
            <a:br/>
            <a:r>
              <a:rPr lang="en-US" sz="800" dirty="0">
                <a:solidFill>
                  <a:srgbClr val="000000"/>
                </a:solidFill>
                <a:latin typeface="Arial"/>
                <a:ea typeface="Arial"/>
                <a:cs typeface="Arial"/>
              </a:rPr>
              <a:t>variable costs</a:t>
            </a:r>
          </a:p>
        </p:txBody>
      </p:sp>
      <p:sp>
        <p:nvSpPr>
          <p:cNvPr id="114" name="VesselVariableCostLegendLabel"/>
          <p:cNvSpPr txBox="1"/>
          <p:nvPr/>
        </p:nvSpPr>
        <p:spPr>
          <a:xfrm>
            <a:off x="10312603" y="1065276"/>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Vessel-related </a:t>
            </a:r>
            <a:br/>
            <a:r>
              <a:rPr lang="en-US" sz="800" dirty="0">
                <a:solidFill>
                  <a:srgbClr val="000000"/>
                </a:solidFill>
                <a:latin typeface="Arial"/>
                <a:ea typeface="Arial"/>
                <a:cs typeface="Arial"/>
              </a:rPr>
              <a:t>variable costs</a:t>
            </a:r>
          </a:p>
        </p:txBody>
      </p:sp>
      <p:sp>
        <p:nvSpPr>
          <p:cNvPr id="115" name="OpexLegendLabel"/>
          <p:cNvSpPr txBox="1"/>
          <p:nvPr/>
        </p:nvSpPr>
        <p:spPr>
          <a:xfrm>
            <a:off x="11354105" y="1064362"/>
            <a:ext cx="3657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Opex</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Freight Charges | ~70% of westbound freight charges are directly related to vessel operations; other charges pertain to shoreside activities.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401422" y="1885493"/>
          <a:ext cx="5091379" cy="3757270"/>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484632" y="1709928"/>
            <a:ext cx="4051706"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Weighted avg. freight charges, normalized on TEU basis ($K, CY25)</a:t>
            </a:r>
          </a:p>
        </p:txBody>
      </p:sp>
      <p:sp>
        <p:nvSpPr>
          <p:cNvPr id="102" name="BarValueLabel"/>
          <p:cNvSpPr txBox="1"/>
          <p:nvPr/>
        </p:nvSpPr>
        <p:spPr>
          <a:xfrm>
            <a:off x="2841955" y="4550969"/>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2.8</a:t>
            </a:r>
          </a:p>
        </p:txBody>
      </p:sp>
      <p:sp>
        <p:nvSpPr>
          <p:cNvPr id="103" name="BarValueLabel"/>
          <p:cNvSpPr txBox="1"/>
          <p:nvPr/>
        </p:nvSpPr>
        <p:spPr>
          <a:xfrm>
            <a:off x="2841955" y="3450946"/>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4" name="BarValueLabel"/>
          <p:cNvSpPr txBox="1"/>
          <p:nvPr/>
        </p:nvSpPr>
        <p:spPr>
          <a:xfrm>
            <a:off x="2841955" y="301752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0.8</a:t>
            </a:r>
          </a:p>
        </p:txBody>
      </p:sp>
      <p:sp>
        <p:nvSpPr>
          <p:cNvPr id="105" name="BarValueLabel"/>
          <p:cNvSpPr txBox="1"/>
          <p:nvPr/>
        </p:nvSpPr>
        <p:spPr>
          <a:xfrm>
            <a:off x="2841955" y="2585923"/>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6" name="BarValueLabel"/>
          <p:cNvSpPr txBox="1"/>
          <p:nvPr/>
        </p:nvSpPr>
        <p:spPr>
          <a:xfrm>
            <a:off x="2490826" y="2385670"/>
            <a:ext cx="209398" cy="152705"/>
          </a:xfrm>
          <a:prstGeom prst="rect">
            <a:avLst/>
          </a:prstGeom>
          <a:solidFill>
            <a:srgbClr val="C0C0C0"/>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0.1</a:t>
            </a:r>
          </a:p>
        </p:txBody>
      </p:sp>
      <p:sp>
        <p:nvSpPr>
          <p:cNvPr id="107" name="BarValueLabel"/>
          <p:cNvSpPr txBox="1"/>
          <p:nvPr/>
        </p:nvSpPr>
        <p:spPr>
          <a:xfrm>
            <a:off x="3193999" y="228600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latin typeface="Arial"/>
                <a:ea typeface="Arial"/>
                <a:cs typeface="Arial"/>
              </a:rPr>
              <a:t>0.2</a:t>
            </a:r>
          </a:p>
        </p:txBody>
      </p:sp>
      <p:sp>
        <p:nvSpPr>
          <p:cNvPr id="108" name="BarValueLabel"/>
          <p:cNvSpPr txBox="1"/>
          <p:nvPr/>
        </p:nvSpPr>
        <p:spPr>
          <a:xfrm>
            <a:off x="2454250" y="2219249"/>
            <a:ext cx="284378" cy="152705"/>
          </a:xfrm>
          <a:prstGeom prst="rect">
            <a:avLst/>
          </a:prstGeom>
          <a:solidFill>
            <a:srgbClr val="FFFFFF"/>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&lt;0.1</a:t>
            </a:r>
          </a:p>
        </p:txBody>
      </p:sp>
      <p:sp>
        <p:nvSpPr>
          <p:cNvPr id="109" name="TotalFreightChargeLabel"/>
          <p:cNvSpPr txBox="1"/>
          <p:nvPr/>
        </p:nvSpPr>
        <p:spPr>
          <a:xfrm>
            <a:off x="2841955" y="2066544"/>
            <a:ext cx="209398"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4.9</a:t>
            </a:r>
          </a:p>
        </p:txBody>
      </p:sp>
      <p:sp>
        <p:nvSpPr>
          <p:cNvPr id="110" name="RouteLabel"/>
          <p:cNvSpPr txBox="1"/>
          <p:nvPr/>
        </p:nvSpPr>
        <p:spPr>
          <a:xfrm>
            <a:off x="2268626" y="5603443"/>
            <a:ext cx="1356970"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Long Beach to Honolulu</a:t>
            </a:r>
          </a:p>
        </p:txBody>
      </p:sp>
      <p:sp>
        <p:nvSpPr>
          <p:cNvPr id="111" name="VesselOperationsBracket"/>
          <p:cNvSpPr txBox="1"/>
          <p:nvPr/>
        </p:nvSpPr>
        <p:spPr>
          <a:xfrm>
            <a:off x="401422" y="4843577"/>
            <a:ext cx="1796796" cy="555955"/>
          </a:xfrm>
          <a:prstGeom prst="rect">
            <a:avLst/>
          </a:prstGeom>
          <a:solidFill>
            <a:srgbClr val="FFFFFF"/>
          </a:solidFill>
          <a:ln w="12700">
            <a:solidFill>
              <a:srgbClr val="364D6E"/>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534924" y="3841394"/>
            <a:ext cx="179222" cy="133502"/>
          </a:xfrm>
          <a:prstGeom prst="rect">
            <a:avLst/>
          </a:prstGeom>
          <a:solidFill>
            <a:srgbClr val="FFFFFF"/>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Swatch"/>
          <p:cNvSpPr txBox="1"/>
          <p:nvPr/>
        </p:nvSpPr>
        <p:spPr>
          <a:xfrm>
            <a:off x="534924" y="4045306"/>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534924" y="4248302"/>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534924" y="4451299"/>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534924" y="4654296"/>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534924" y="4857293"/>
            <a:ext cx="179222" cy="133502"/>
          </a:xfrm>
          <a:prstGeom prst="rect">
            <a:avLst/>
          </a:prstGeom>
          <a:solidFill>
            <a:srgbClr val="4C6C9C"/>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534924" y="5061204"/>
            <a:ext cx="179222" cy="133502"/>
          </a:xfrm>
          <a:prstGeom prst="rect">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9" name="LegendLabel"/>
          <p:cNvSpPr txBox="1"/>
          <p:nvPr/>
        </p:nvSpPr>
        <p:spPr>
          <a:xfrm>
            <a:off x="765353" y="3836822"/>
            <a:ext cx="5888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fees</a:t>
            </a:r>
          </a:p>
        </p:txBody>
      </p:sp>
      <p:sp>
        <p:nvSpPr>
          <p:cNvPr id="120" name="LegendLabel"/>
          <p:cNvSpPr txBox="1"/>
          <p:nvPr/>
        </p:nvSpPr>
        <p:spPr>
          <a:xfrm>
            <a:off x="765353" y="4039819"/>
            <a:ext cx="115854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Honolulu</a:t>
            </a:r>
          </a:p>
        </p:txBody>
      </p:sp>
      <p:sp>
        <p:nvSpPr>
          <p:cNvPr id="121" name="LegendLabel"/>
          <p:cNvSpPr txBox="1"/>
          <p:nvPr/>
        </p:nvSpPr>
        <p:spPr>
          <a:xfrm>
            <a:off x="765353" y="4243730"/>
            <a:ext cx="13322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Long Beach</a:t>
            </a:r>
          </a:p>
        </p:txBody>
      </p:sp>
      <p:sp>
        <p:nvSpPr>
          <p:cNvPr id="122" name="LegendLabel"/>
          <p:cNvSpPr txBox="1"/>
          <p:nvPr/>
        </p:nvSpPr>
        <p:spPr>
          <a:xfrm>
            <a:off x="765353" y="4446727"/>
            <a:ext cx="110459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Honolulu</a:t>
            </a:r>
          </a:p>
        </p:txBody>
      </p:sp>
      <p:sp>
        <p:nvSpPr>
          <p:cNvPr id="123" name="LegendLabel"/>
          <p:cNvSpPr txBox="1"/>
          <p:nvPr/>
        </p:nvSpPr>
        <p:spPr>
          <a:xfrm>
            <a:off x="765353" y="4649724"/>
            <a:ext cx="127833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Long Beach</a:t>
            </a:r>
          </a:p>
        </p:txBody>
      </p:sp>
      <p:sp>
        <p:nvSpPr>
          <p:cNvPr id="124" name="LegendLabel"/>
          <p:cNvSpPr txBox="1"/>
          <p:nvPr/>
        </p:nvSpPr>
        <p:spPr>
          <a:xfrm>
            <a:off x="765353" y="5056632"/>
            <a:ext cx="10177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Basic Ocean Rate</a:t>
            </a:r>
          </a:p>
        </p:txBody>
      </p:sp>
      <p:sp>
        <p:nvSpPr>
          <p:cNvPr id="125" name="LegendLabel"/>
          <p:cNvSpPr txBox="1"/>
          <p:nvPr/>
        </p:nvSpPr>
        <p:spPr>
          <a:xfrm>
            <a:off x="765353" y="4852721"/>
            <a:ext cx="91165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Fuel Surcharge</a:t>
            </a:r>
            <a:r>
              <a:rPr lang="en-US" sz="1000" dirty="0">
                <a:solidFill>
                  <a:srgbClr val="000000"/>
                </a:solidFill>
                <a:latin typeface="Arial"/>
                <a:ea typeface="Arial"/>
                <a:cs typeface="Arial"/>
              </a:rPr>
              <a:t>1</a:t>
            </a:r>
          </a:p>
        </p:txBody>
      </p:sp>
      <p:graphicFrame>
        <p:nvGraphicFramePr>
          <p:cNvPr id="126" name="ChargeComponentTable"/>
          <p:cNvGraphicFramePr>
            <a:graphicFrameLocks noGrp="1"/>
          </p:cNvGraphicFramePr>
          <p:nvPr/>
        </p:nvGraphicFramePr>
        <p:xfrm>
          <a:off x="5634533" y="1604772"/>
          <a:ext cx="6066130" cy="3886200"/>
        </p:xfrm>
        <a:graphic>
          <a:graphicData uri="http://schemas.openxmlformats.org/drawingml/2006/table">
            <a:tbl>
              <a:tblPr firstRow="1" firstCol="1" bandRow="0">
                <a:tableStyleId>{2D5ABB26-0587-4C30-8999-92F81FD0307C}</a:tableStyleId>
              </a:tblPr>
              <a:tblGrid>
                <a:gridCol w="1524305"/>
                <a:gridCol w="1114654"/>
                <a:gridCol w="2633472"/>
                <a:gridCol w="793699"/>
              </a:tblGrid>
              <a:tr h="294437">
                <a:tc>
                  <a:txBody>
                    <a:bodyPr anchor="ctr"/>
                    <a:lstStyle/>
                    <a:p>
                      <a:pPr algn="ctr">
                        <a:lnSpc>
                          <a:spcPct val="100000"/>
                        </a:lnSpc>
                      </a:pPr>
                      <a:r>
                        <a:rPr lang="en-US" sz="1000" b="1" dirty="0">
                          <a:solidFill>
                            <a:srgbClr val="000000"/>
                          </a:solidFill>
                          <a:latin typeface="Arial"/>
                          <a:ea typeface="Arial"/>
                          <a:cs typeface="Arial"/>
                        </a:rPr>
                        <a:t>Freight Charges</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ASV Addressability</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 of total</a:t>
                      </a:r>
                    </a:p>
                  </a:txBody>
                  <a:tcPr marL="45720" marR="45720" marT="45720" marB="45720" anchor="ctr">
                    <a:lnL>
                      <a:noFill/>
                    </a:lnL>
                    <a:lnR>
                      <a:noFill/>
                    </a:lnR>
                    <a:lnT>
                      <a:noFill/>
                    </a:lnT>
                    <a:lnB w="12700" cap="flat" cmpd="sng" algn="ctr">
                      <a:solidFill>
                        <a:srgbClr val="162029"/>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Other Fees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endParaRPr lang="en-US" sz="1000"/>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Port security fees and Hawaii State Invasive Species tax; passed-through to customers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&lt;1%</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Wharfage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162029"/>
                          </a:solidFill>
                          <a:latin typeface="Arial"/>
                          <a:ea typeface="Arial"/>
                          <a:cs typeface="Arial"/>
                        </a:rPr>
                        <a:t>Pier usage fee charged by Ports of Long Beach and Honolulu; passed-through to customers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Terminal Charges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80808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Handling and stevedoring fees for loading in Long Beach and unloading in Honolulu; likely passed-through but collected by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~26%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Fuel Surcharge </a:t>
                      </a:r>
                      <a:br/>
                      <a:r>
                        <a:rPr lang="en-US" sz="1000" i="1" dirty="0">
                          <a:solidFill>
                            <a:srgbClr val="FFFFFF"/>
                          </a:solidFill>
                          <a:latin typeface="Arial"/>
                          <a:ea typeface="Arial"/>
                          <a:cs typeface="Arial"/>
                        </a:rPr>
                        <a:t>(or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Floating fee to protect carrier from fuel price volatility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~10%</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Basic Ocean Rate</a:t>
                      </a:r>
                    </a:p>
                  </a:txBody>
                  <a:tcPr marL="45720" marR="45720" marT="45720" marB="45720" anchor="ctr">
                    <a:lnL>
                      <a:noFill/>
                    </a:lnL>
                    <a:lnR>
                      <a:noFill/>
                    </a:lnR>
                    <a:lnT w="6350" cap="flat" cmpd="sng" algn="ctr">
                      <a:solidFill>
                        <a:srgbClr val="808080"/>
                      </a:solidFill>
                      <a:prstDash val="solid"/>
                    </a:lnT>
                    <a:lnB>
                      <a:noFill/>
                    </a:lnB>
                    <a:solidFill>
                      <a:srgbClr val="364D6E"/>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000" dirty="0">
                          <a:solidFill>
                            <a:srgbClr val="000000"/>
                          </a:solidFill>
                          <a:latin typeface="Arial"/>
                          <a:ea typeface="Arial"/>
                          <a:cs typeface="Arial"/>
                        </a:rPr>
                        <a:t>Core charge for ocean transport; spot rate shown (discounts likely given to high-volume shippers)</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ctr">
                        <a:lnSpc>
                          <a:spcPct val="100000"/>
                        </a:lnSpc>
                      </a:pPr>
                      <a:r>
                        <a:rPr lang="en-US" sz="1000" b="1" dirty="0">
                          <a:solidFill>
                            <a:srgbClr val="000000"/>
                          </a:solidFill>
                          <a:latin typeface="Arial"/>
                          <a:ea typeface="Arial"/>
                          <a:cs typeface="Arial"/>
                        </a:rPr>
                        <a:t>~58%</a:t>
                      </a:r>
                    </a:p>
                  </a:txBody>
                  <a:tcPr marL="45720" marR="45720" marT="45720" marB="45720" anchor="ctr">
                    <a:lnL>
                      <a:noFill/>
                    </a:lnL>
                    <a:lnR>
                      <a:noFill/>
                    </a:lnR>
                    <a:lnT w="6350" cap="flat" cmpd="sng" algn="ctr">
                      <a:solidFill>
                        <a:srgbClr val="808080"/>
                      </a:solidFill>
                      <a:prstDash val="solid"/>
                    </a:lnT>
                    <a:lnB>
                      <a:noFill/>
                    </a:lnB>
                    <a:noFill/>
                  </a:tcPr>
                </a:tc>
              </a:tr>
              <a:tr h="581558">
                <a:tc gridSpan="4">
                  <a:txBody>
                    <a:bodyPr anchor="ctr"/>
                    <a:lstStyle/>
                    <a:p>
                      <a:pPr algn="ctr">
                        <a:lnSpc>
                          <a:spcPct val="100000"/>
                        </a:lnSpc>
                      </a:pPr>
                      <a:r>
                        <a:rPr lang="en-US" sz="1000" b="1" i="1" dirty="0">
                          <a:solidFill>
                            <a:srgbClr val="000000"/>
                          </a:solidFill>
                          <a:latin typeface="Arial"/>
                          <a:ea typeface="Arial"/>
                          <a:cs typeface="Arial"/>
                        </a:rPr>
                        <a:t>Pasha’s rates calculator breaks out each charge, allowing for isolation of Basic Ocean Rate and Fuel Adjustment Factor</a:t>
                      </a:r>
                    </a:p>
                  </a:txBody>
                  <a:tcPr marL="45720" marR="45720" marT="45720" marB="45720"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r>
            </a:tbl>
          </a:graphicData>
        </a:graphic>
      </p:graphicFrame>
      <p:sp>
        <p:nvSpPr>
          <p:cNvPr id="127" name="Cross, kreuz"/>
          <p:cNvSpPr/>
          <p:nvPr/>
        </p:nvSpPr>
        <p:spPr>
          <a:xfrm>
            <a:off x="7591349" y="2164385"/>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28" name="Cross, kreuz"/>
          <p:cNvSpPr/>
          <p:nvPr/>
        </p:nvSpPr>
        <p:spPr>
          <a:xfrm>
            <a:off x="7591349" y="2738628"/>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29" name="Cross, kreuz"/>
          <p:cNvSpPr/>
          <p:nvPr/>
        </p:nvSpPr>
        <p:spPr>
          <a:xfrm>
            <a:off x="7591349" y="3325673"/>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0" name="Haken, check"/>
          <p:cNvSpPr/>
          <p:nvPr/>
        </p:nvSpPr>
        <p:spPr>
          <a:xfrm>
            <a:off x="7591349" y="3899002"/>
            <a:ext cx="274320" cy="274320"/>
          </a:xfrm>
          <a:custGeom>
            <a:avLst/>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31" name="Haken, check"/>
          <p:cNvSpPr/>
          <p:nvPr/>
        </p:nvSpPr>
        <p:spPr>
          <a:xfrm>
            <a:off x="7591349" y="4490618"/>
            <a:ext cx="274320" cy="274320"/>
          </a:xfrm>
          <a:custGeom>
            <a:avLst/>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32" name="VesselOperationsGroupCaption"/>
          <p:cNvSpPr txBox="1"/>
          <p:nvPr/>
        </p:nvSpPr>
        <p:spPr>
          <a:xfrm>
            <a:off x="649224" y="5252314"/>
            <a:ext cx="1250899" cy="2807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Directly related to vessel operations</a:t>
            </a:r>
          </a:p>
        </p:txBody>
      </p:sp>
      <p:sp>
        <p:nvSpPr>
          <p:cNvPr id="133" name="ShoresideChargesBracket"/>
          <p:cNvSpPr txBox="1"/>
          <p:nvPr/>
        </p:nvSpPr>
        <p:spPr>
          <a:xfrm>
            <a:off x="401422" y="3665830"/>
            <a:ext cx="1796796" cy="1155802"/>
          </a:xfrm>
          <a:prstGeom prst="rect">
            <a:avLst/>
          </a:prstGeom>
          <a:noFill/>
          <a:ln w="12700">
            <a:solidFill>
              <a:srgbClr val="969696"/>
            </a:solidFill>
          </a:ln>
        </p:spPr>
        <p:txBody>
          <a:bodyPr wrap="square" anchor="ctr" lIns="91440" tIns="45720" rIns="91440" bIns="45720"/>
          <a:lstStyle/>
          <a:p>
            <a:pPr algn="ctr">
              <a:lnSpc>
                <a:spcPct val="100000"/>
              </a:lnSpc>
              <a:buNone/>
            </a:pPr>
            <a:endParaRPr lang="en-US"/>
          </a:p>
        </p:txBody>
      </p:sp>
      <p:sp>
        <p:nvSpPr>
          <p:cNvPr id="134" name="AnalysisStatusNote"/>
          <p:cNvSpPr txBox="1"/>
          <p:nvPr/>
        </p:nvSpPr>
        <p:spPr>
          <a:xfrm>
            <a:off x="6580022" y="111557"/>
            <a:ext cx="3566160" cy="265176"/>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Jan. ’26 analysis; Matson reported ’25 results end of Feb ‘26</a:t>
            </a:r>
          </a:p>
        </p:txBody>
      </p:sp>
      <p:sp>
        <p:nvSpPr>
          <p:cNvPr id="135" name="SourceNote"/>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Matson and Pasha charge a Fuel Surcharge of 16.5% as of September 2025; Basic Ocean Rates largely derived from Pasha Hawaii, whereas Terminal Charges are specific to Matson</a:t>
            </a:r>
            <a:br/>
            <a:r>
              <a:rPr lang="en-US" sz="800" dirty="0">
                <a:solidFill>
                  <a:srgbClr val="000000"/>
                </a:solidFill>
                <a:latin typeface="Arial"/>
                <a:ea typeface="Arial"/>
                <a:cs typeface="Arial"/>
              </a:rPr>
              <a:t>Source: </a:t>
            </a:r>
            <a:r>
              <a:rPr lang="en-US" sz="800" dirty="0">
                <a:solidFill>
                  <a:srgbClr val="000000"/>
                </a:solidFill>
                <a:latin typeface="Arial"/>
                <a:ea typeface="Arial"/>
                <a:cs typeface="Arial"/>
                <a:hlinkClick r:id="rId3"/>
              </a:rPr>
              <a:t>Pasha Hawaii</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4"/>
              </a:rPr>
              <a:t>Aloha Freight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5"/>
              </a:rPr>
              <a:t>Hawaii Department of Transportation</a:t>
            </a:r>
          </a:p>
        </p:txBody>
      </p:sp>
      <p:sp>
        <p:nvSpPr>
          <p:cNvPr id="136" name="ChargeComponentHighlight"/>
          <p:cNvSpPr txBox="1"/>
          <p:nvPr/>
        </p:nvSpPr>
        <p:spPr>
          <a:xfrm>
            <a:off x="5626303" y="3743554"/>
            <a:ext cx="6074359" cy="179131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7" name="VesselOperationsCallout"/>
          <p:cNvSpPr txBox="1"/>
          <p:nvPr/>
        </p:nvSpPr>
        <p:spPr>
          <a:xfrm>
            <a:off x="6901891" y="5403190"/>
            <a:ext cx="4621378" cy="267919"/>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FB6B3C"/>
                </a:solidFill>
                <a:latin typeface="Arial"/>
                <a:ea typeface="Arial"/>
                <a:cs typeface="Arial"/>
              </a:rPr>
              <a:t>Directly related to vessel operations; percentage varies based on basic ocean rate, fuel surcharge, discounts, and other factors </a:t>
            </a:r>
          </a:p>
        </p:txBody>
      </p:sp>
      <p:cxnSp>
        <p:nvCxnSpPr>
          <p:cNvPr id="138" name="ChargeLeader_TerminalCharges"/>
          <p:cNvCxnSpPr/>
          <p:nvPr/>
        </p:nvCxnSpPr>
        <p:spPr>
          <a:xfrm>
            <a:off x="3648456" y="3705149"/>
            <a:ext cx="1976933" cy="636422"/>
          </a:xfrm>
          <a:prstGeom prst="line">
            <a:avLst/>
          </a:prstGeom>
          <a:ln w="12700">
            <a:solidFill>
              <a:srgbClr val="808080"/>
            </a:solidFill>
            <a:prstDash val="dash"/>
          </a:ln>
        </p:spPr>
      </p:cxnSp>
      <p:cxnSp>
        <p:nvCxnSpPr>
          <p:cNvPr id="139" name="ChargeLeader_WharfageHNL"/>
          <p:cNvCxnSpPr/>
          <p:nvPr/>
        </p:nvCxnSpPr>
        <p:spPr>
          <a:xfrm>
            <a:off x="3648456" y="3375050"/>
            <a:ext cx="1985162" cy="389534"/>
          </a:xfrm>
          <a:prstGeom prst="line">
            <a:avLst/>
          </a:prstGeom>
          <a:ln w="12700">
            <a:solidFill>
              <a:srgbClr val="808080"/>
            </a:solidFill>
            <a:prstDash val="dash"/>
          </a:ln>
        </p:spPr>
      </p:cxnSp>
      <p:cxnSp>
        <p:nvCxnSpPr>
          <p:cNvPr id="140" name="ChargeLeader_WharfageLB"/>
          <p:cNvCxnSpPr/>
          <p:nvPr/>
        </p:nvCxnSpPr>
        <p:spPr>
          <a:xfrm>
            <a:off x="3648456" y="2495398"/>
            <a:ext cx="1976933" cy="643738"/>
          </a:xfrm>
          <a:prstGeom prst="line">
            <a:avLst/>
          </a:prstGeom>
          <a:ln w="12700">
            <a:solidFill>
              <a:srgbClr val="808080"/>
            </a:solidFill>
            <a:prstDash val="dash"/>
          </a:ln>
        </p:spPr>
      </p:cxnSp>
      <p:cxnSp>
        <p:nvCxnSpPr>
          <p:cNvPr id="141" name="ChargeLeader_TerminalHNL"/>
          <p:cNvCxnSpPr/>
          <p:nvPr/>
        </p:nvCxnSpPr>
        <p:spPr>
          <a:xfrm>
            <a:off x="3648456" y="2311603"/>
            <a:ext cx="1985162" cy="281635"/>
          </a:xfrm>
          <a:prstGeom prst="line">
            <a:avLst/>
          </a:prstGeom>
          <a:ln w="12700">
            <a:solidFill>
              <a:srgbClr val="808080"/>
            </a:solidFill>
            <a:prstDash val="dash"/>
          </a:ln>
        </p:spPr>
      </p:cxnSp>
      <p:cxnSp>
        <p:nvCxnSpPr>
          <p:cNvPr id="142" name="ChargeLeader_OtherFees"/>
          <p:cNvCxnSpPr/>
          <p:nvPr/>
        </p:nvCxnSpPr>
        <p:spPr>
          <a:xfrm flipV="1">
            <a:off x="3648456" y="2011680"/>
            <a:ext cx="1952244" cy="274320"/>
          </a:xfrm>
          <a:prstGeom prst="line">
            <a:avLst/>
          </a:prstGeom>
          <a:ln w="12700">
            <a:solidFill>
              <a:srgbClr val="808080"/>
            </a:solidFill>
            <a:prstDash val="dash"/>
          </a:ln>
        </p:spPr>
      </p:cxnSp>
      <p:sp>
        <p:nvSpPr>
          <p:cNvPr id="143" name="ShoresideChargesGroupCaption"/>
          <p:cNvSpPr txBox="1"/>
          <p:nvPr/>
        </p:nvSpPr>
        <p:spPr>
          <a:xfrm>
            <a:off x="647395" y="3584448"/>
            <a:ext cx="1252728" cy="1591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Shoreside charges</a:t>
            </a:r>
          </a:p>
        </p:txBody>
      </p:sp>
      <p:sp>
        <p:nvSpPr>
          <p:cNvPr id="144" name="SpotRateCallout"/>
          <p:cNvSpPr txBox="1"/>
          <p:nvPr/>
        </p:nvSpPr>
        <p:spPr>
          <a:xfrm>
            <a:off x="484632" y="1323137"/>
            <a:ext cx="2926080" cy="223114"/>
          </a:xfrm>
          <a:prstGeom prst="rect">
            <a:avLst/>
          </a:prstGeom>
          <a:solidFill>
            <a:srgbClr val="CEDDEC"/>
          </a:solidFill>
          <a:ln>
            <a:noFill/>
          </a:ln>
        </p:spPr>
        <p:txBody>
          <a:bodyPr wrap="square" anchor="ctr" lIns="91440" tIns="45720" rIns="91440" bIns="45720"/>
          <a:lstStyle/>
          <a:p>
            <a:pPr algn="ctr">
              <a:lnSpc>
                <a:spcPct val="100000"/>
              </a:lnSpc>
              <a:buNone/>
            </a:pPr>
            <a:r>
              <a:rPr lang="en-US" sz="1100" b="1" i="1" dirty="0">
                <a:solidFill>
                  <a:srgbClr val="000000"/>
                </a:solidFill>
                <a:latin typeface="Arial"/>
                <a:ea typeface="Arial"/>
                <a:cs typeface="Arial"/>
              </a:rPr>
              <a:t>Spot Rate from CONUS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Coordination Archetypes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Coordination Archetypes | Numerous entities play in the Coordination step of the value chain.</a:t>
            </a:r>
          </a:p>
        </p:txBody>
      </p:sp>
      <p:graphicFrame>
        <p:nvGraphicFramePr>
          <p:cNvPr id="100" name="CoordinationArchetypeTable"/>
          <p:cNvGraphicFramePr>
            <a:graphicFrameLocks noGrp="1"/>
          </p:cNvGraphicFramePr>
          <p:nvPr/>
        </p:nvGraphicFramePr>
        <p:xfrm>
          <a:off x="452628" y="1500530"/>
          <a:ext cx="11247120" cy="4389120"/>
        </p:xfrm>
        <a:graphic>
          <a:graphicData uri="http://schemas.openxmlformats.org/drawingml/2006/table">
            <a:tbl>
              <a:tblPr firstRow="1" firstCol="1" bandRow="0">
                <a:tableStyleId>{2D5ABB26-0587-4C30-8999-92F81FD0307C}</a:tableStyleId>
              </a:tblPr>
              <a:tblGrid>
                <a:gridCol w="1413662"/>
                <a:gridCol w="2366467"/>
                <a:gridCol w="7467905"/>
              </a:tblGrid>
              <a:tr h="0">
                <a:tc>
                  <a:txBody>
                    <a:bodyPr anchor="b"/>
                    <a:lstStyle/>
                    <a:p>
                      <a:pPr algn="l" marL="0" indent="0">
                        <a:lnSpc>
                          <a:spcPct val="100000"/>
                        </a:lnSpc>
                      </a:pPr>
                      <a:r>
                        <a:rPr lang="en-US" sz="1000" b="1" dirty="0">
                          <a:solidFill>
                            <a:srgbClr val="000000"/>
                          </a:solidFill>
                          <a:latin typeface="Arial"/>
                          <a:ea typeface="Arial"/>
                          <a:cs typeface="Arial"/>
                        </a:rPr>
                        <a:t>Categories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Responsibilities</a:t>
                      </a:r>
                    </a:p>
                  </a:txBody>
                  <a:tcPr marL="45720" marR="45720" marT="45720" marB="45720" anchor="b">
                    <a:lnL>
                      <a:noFill/>
                    </a:lnL>
                    <a:lnR w="12700" cap="flat" cmpd="sng" algn="ctr">
                      <a:solidFill>
                        <a:srgbClr val="FFFFFF"/>
                      </a:solidFill>
                      <a:prstDash val="solid"/>
                    </a:lnR>
                    <a:lnT>
                      <a:noFill/>
                    </a:lnT>
                    <a:lnB w="12700" cap="flat" cmpd="sng" algn="ctr">
                      <a:solidFill>
                        <a:srgbClr val="000000"/>
                      </a:solidFill>
                      <a:prstDash val="solid"/>
                    </a:lnB>
                    <a:solidFill>
                      <a:srgbClr val="FFFFFF"/>
                    </a:solidFill>
                  </a:tcPr>
                </a:tc>
              </a:tr>
              <a:tr h="0">
                <a:tc rowSpan="2">
                  <a:txBody>
                    <a:bodyPr anchor="ctr"/>
                    <a:lstStyle/>
                    <a:p>
                      <a:pPr algn="l">
                        <a:lnSpc>
                          <a:spcPct val="100000"/>
                        </a:lnSpc>
                      </a:pPr>
                      <a:r>
                        <a:rPr lang="en-US" sz="1000" dirty="0">
                          <a:solidFill>
                            <a:srgbClr val="000000"/>
                          </a:solidFill>
                          <a:latin typeface="Arial"/>
                          <a:ea typeface="Arial"/>
                          <a:cs typeface="Arial"/>
                        </a:rPr>
                        <a:t>Strategic &amp; Integrated Coordinators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Beneficial Cargo Owner (BCO)</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cargo and manages logistics using internal staff and direct carrier contracts</a:t>
                      </a:r>
                    </a:p>
                  </a:txBody>
                  <a:tcPr marL="45720" marR="45720" marT="45720" marB="45720" anchor="ctr">
                    <a:lnL>
                      <a:noFill/>
                    </a:lnL>
                    <a:lnR w="12700" cap="flat" cmpd="sng" algn="ctr">
                      <a:solidFill>
                        <a:srgbClr val="FFFFFF"/>
                      </a:solidFill>
                      <a:prstDash val="solid"/>
                    </a:lnR>
                    <a:lnT w="12700" cap="flat" cmpd="sng" algn="ctr">
                      <a:solidFill>
                        <a:srgbClr val="00000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Fourth-Party Logistics (4PL)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and optimizes entire supply chain for shippers; </a:t>
                      </a:r>
                      <a:r>
                        <a:rPr lang="en-US" sz="1000" dirty="0">
                          <a:solidFill>
                            <a:srgbClr val="000000"/>
                          </a:solidFill>
                          <a:latin typeface="Arial"/>
                          <a:ea typeface="Arial"/>
                          <a:cs typeface="Arial"/>
                        </a:rPr>
                        <a:t>does not own assets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5">
                  <a:txBody>
                    <a:bodyPr anchor="ctr"/>
                    <a:lstStyle/>
                    <a:p>
                      <a:pPr algn="l">
                        <a:lnSpc>
                          <a:spcPct val="100000"/>
                        </a:lnSpc>
                      </a:pPr>
                      <a:r>
                        <a:rPr lang="en-US" sz="1000" dirty="0">
                          <a:solidFill>
                            <a:srgbClr val="000000"/>
                          </a:solidFill>
                          <a:latin typeface="Arial"/>
                          <a:ea typeface="Arial"/>
                          <a:cs typeface="Arial"/>
                        </a:rPr>
                        <a:t>Operational &amp; Execution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Third-Party Logistics (3PL)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functional tasks such as warehousing, fulfillment, picking/packing, and regional distribution for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Freight Forwarders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Orchestrates multimodal transport and manages documentation; acts on behalf of shippers but does not assume liability of carriers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Intermodal Marketing Company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Secures rail capacity by purchasing slots in bulk to provide inland rail transport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Domestic Freight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domestic trucking capacity, matching independent drivers or small fleets with the inland needs of 3PLs or BCOs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Origin &amp; Destination Drayage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Moves containers between factories, rail ramps, and port terminals via truck</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4">
                  <a:txBody>
                    <a:bodyPr anchor="ctr"/>
                    <a:lstStyle/>
                    <a:p>
                      <a:pPr algn="l">
                        <a:lnSpc>
                          <a:spcPct val="100000"/>
                        </a:lnSpc>
                      </a:pPr>
                      <a:r>
                        <a:rPr lang="en-US" sz="1000" dirty="0">
                          <a:solidFill>
                            <a:srgbClr val="000000"/>
                          </a:solidFill>
                          <a:latin typeface="Arial"/>
                          <a:ea typeface="Arial"/>
                          <a:cs typeface="Arial"/>
                        </a:rPr>
                        <a:t>Legal &amp; Contractual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Non-Vessel Operating Common Carrier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marL="0" indent="0">
                        <a:lnSpc>
                          <a:spcPct val="100000"/>
                        </a:lnSpc>
                      </a:pPr>
                      <a:r>
                        <a:rPr lang="en-US" sz="1000" dirty="0">
                          <a:solidFill>
                            <a:srgbClr val="000000"/>
                          </a:solidFill>
                          <a:latin typeface="Arial"/>
                          <a:ea typeface="Arial"/>
                          <a:cs typeface="Arial"/>
                        </a:rPr>
                        <a:t>Books space on operator vessels and resells to shippers without owning ships; a</a:t>
                      </a:r>
                      <a:r>
                        <a:rPr lang="en-US" sz="1000" dirty="0">
                          <a:solidFill>
                            <a:srgbClr val="000000"/>
                          </a:solidFill>
                          <a:latin typeface="Arial"/>
                          <a:ea typeface="Arial"/>
                          <a:cs typeface="Arial"/>
                        </a:rPr>
                        <a:t>ssumes direct legal liability for cargo</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Customs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import/export customs and compliance</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Slot Charterer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Purchases container space on another carrier’s vessel to expand network without capital risk of operating an entire ship</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Shipbroker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Negotiates "Charter Parties" (leasing contracts) and vessel sale-and-purchase transactions between owners and operators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3">
                  <a:txBody>
                    <a:bodyPr anchor="ctr"/>
                    <a:lstStyle/>
                    <a:p>
                      <a:pPr algn="l">
                        <a:lnSpc>
                          <a:spcPct val="100000"/>
                        </a:lnSpc>
                      </a:pPr>
                      <a:r>
                        <a:rPr lang="en-US" sz="1000" dirty="0">
                          <a:solidFill>
                            <a:srgbClr val="000000"/>
                          </a:solidFill>
                          <a:latin typeface="Arial"/>
                          <a:ea typeface="Arial"/>
                          <a:cs typeface="Arial"/>
                        </a:rPr>
                        <a:t>Asset &amp; Equipment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IEP (Intermodal Equipment Provider)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and distributes chassis (trailers required to transport containers by road)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Container Leasing Companies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Leases containers to ocean liners and NVOCCs, managing global inventory and repositioning of equipment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Empty Container Depots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storage, inspection, and repositioning of empty boxes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rowSpan="3">
                  <a:txBody>
                    <a:bodyPr anchor="ctr"/>
                    <a:lstStyle/>
                    <a:p>
                      <a:pPr algn="l">
                        <a:lnSpc>
                          <a:spcPct val="100000"/>
                        </a:lnSpc>
                      </a:pPr>
                      <a:r>
                        <a:rPr lang="en-US" sz="1000" dirty="0">
                          <a:solidFill>
                            <a:srgbClr val="000000"/>
                          </a:solidFill>
                          <a:latin typeface="Arial"/>
                          <a:ea typeface="Arial"/>
                          <a:cs typeface="Arial"/>
                        </a:rPr>
                        <a:t>Financia &amp; Risk Coordinators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Commercial Banks &amp; Trade Finance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Facilitates movement of money via Letters of Credit (LC), ensuring payment only when proof of shipment (Bill of Lading) is provided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P&amp;I Clubs / Marine Insurers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Provides liability coverage for global ocean tonnage, managing the "legal safety net" for cargo loss or ship collisions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Marine Cargo Surveyor</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Verifies cargo condition and proper stowage, providing data needed to coordinate insurance claims between carriers and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a:noFill/>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Inputs | </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KeyInputsReferenceTable"/>
          <p:cNvGraphicFramePr>
            <a:graphicFrameLocks noGrp="1"/>
          </p:cNvGraphicFramePr>
          <p:nvPr/>
        </p:nvGraphicFramePr>
        <p:xfrm>
          <a:off x="442570" y="968350"/>
          <a:ext cx="11247120" cy="5425135"/>
        </p:xfrm>
        <a:graphic>
          <a:graphicData uri="http://schemas.openxmlformats.org/drawingml/2006/table">
            <a:tbl>
              <a:tblPr firstRow="1" firstCol="1" bandRow="0">
                <a:tableStyleId>{2D5ABB26-0587-4C30-8999-92F81FD0307C}</a:tableStyleId>
              </a:tblPr>
              <a:tblGrid>
                <a:gridCol w="1376172"/>
                <a:gridCol w="2713939"/>
                <a:gridCol w="2713939"/>
                <a:gridCol w="4443984"/>
              </a:tblGrid>
              <a:tr h="0">
                <a:tc>
                  <a:txBody>
                    <a:bodyPr anchor="ctr"/>
                    <a:lstStyle/>
                    <a:p>
                      <a:pPr algn="ctr" marL="0" indent="0">
                        <a:lnSpc>
                          <a:spcPct val="100000"/>
                        </a:lnSpc>
                      </a:pPr>
                      <a:r>
                        <a:rPr lang="en-US" sz="1000" b="1" dirty="0">
                          <a:solidFill>
                            <a:srgbClr val="000000"/>
                          </a:solidFill>
                          <a:latin typeface="Arial"/>
                          <a:ea typeface="Arial"/>
                          <a:cs typeface="Arial"/>
                        </a:rPr>
                        <a:t>Category</a:t>
                      </a:r>
                    </a:p>
                  </a:txBody>
                  <a:tcPr marL="45720" marR="45720" marT="45720" marB="45720" anchor="ctr">
                    <a:lnL>
                      <a:noFill/>
                    </a:lnL>
                    <a:lnR>
                      <a:noFill/>
                    </a:lnR>
                    <a:lnT>
                      <a:noFill/>
                    </a:lnT>
                    <a:lnB w="12700" cap="flat" cmpd="sng" algn="ctr">
                      <a:solidFill>
                        <a:srgbClr val="162029"/>
                      </a:solidFill>
                      <a:prstDash val="solid"/>
                    </a:lnB>
                    <a:noFill/>
                  </a:tcPr>
                </a:tc>
                <a:tc gridSpan="2">
                  <a:txBody>
                    <a:bodyPr anchor="ctr"/>
                    <a:lstStyle/>
                    <a:p>
                      <a:pPr algn="ctr" marL="0" indent="0">
                        <a:lnSpc>
                          <a:spcPct val="100000"/>
                        </a:lnSpc>
                      </a:pPr>
                      <a:r>
                        <a:rPr lang="en-US" sz="1000" b="1" dirty="0">
                          <a:solidFill>
                            <a:srgbClr val="000000"/>
                          </a:solidFill>
                          <a:latin typeface="Arial"/>
                          <a:ea typeface="Arial"/>
                          <a:cs typeface="Arial"/>
                        </a:rPr>
                        <a:t>Inputs</a:t>
                      </a:r>
                    </a:p>
                  </a:txBody>
                  <a:tcPr marL="45720" marR="45720" marT="45720" marB="45720" anchor="ctr">
                    <a:lnL>
                      <a:noFill/>
                    </a:lnL>
                    <a:lnR>
                      <a:noFill/>
                    </a:lnR>
                    <a:lnT>
                      <a:noFill/>
                    </a:lnT>
                    <a:lnB w="12700" cap="flat" cmpd="sng" algn="ctr">
                      <a:solidFill>
                        <a:srgbClr val="162029"/>
                      </a:solidFill>
                      <a:prstDash val="solid"/>
                    </a:lnB>
                    <a:noFill/>
                  </a:tcPr>
                </a:tc>
                <a:tc hMerge="1">
                  <a:txBody>
                    <a:bodyPr/>
                    <a:lstStyle/>
                    <a:p>
                      <a:endParaRPr lang="en-US"/>
                    </a:p>
                  </a:txBody>
                  <a:tcPr/>
                </a:tc>
                <a:tc>
                  <a:txBody>
                    <a:bodyPr anchor="ctr"/>
                    <a:lstStyle/>
                    <a:p>
                      <a:pPr algn="ctr" marL="0" indent="0">
                        <a:lnSpc>
                          <a:spcPct val="100000"/>
                        </a:lnSpc>
                      </a:pPr>
                      <a:r>
                        <a:rPr lang="en-US" sz="1000" b="1" dirty="0">
                          <a:solidFill>
                            <a:srgbClr val="000000"/>
                          </a:solidFill>
                          <a:latin typeface="Arial"/>
                          <a:ea typeface="Arial"/>
                          <a:cs typeface="Arial"/>
                        </a:rPr>
                        <a:t>Source</a:t>
                      </a:r>
                    </a:p>
                  </a:txBody>
                  <a:tcPr marL="45720" marR="45720" marT="45720" marB="45720" anchor="ctr">
                    <a:lnL>
                      <a:noFill/>
                    </a:lnL>
                    <a:lnR>
                      <a:noFill/>
                    </a:lnR>
                    <a:lnT>
                      <a:noFill/>
                    </a:lnT>
                    <a:lnB w="12700" cap="flat" cmpd="sng" algn="ctr">
                      <a:solidFill>
                        <a:srgbClr val="162029"/>
                      </a:solidFill>
                      <a:prstDash val="solid"/>
                    </a:lnB>
                    <a:noFill/>
                  </a:tcPr>
                </a:tc>
              </a:tr>
              <a:tr h="0">
                <a:tc rowSpan="7">
                  <a:txBody>
                    <a:bodyPr anchor="ctr"/>
                    <a:lstStyle/>
                    <a:p>
                      <a:pPr algn="l" marL="0" indent="0">
                        <a:lnSpc>
                          <a:spcPct val="100000"/>
                        </a:lnSpc>
                      </a:pPr>
                      <a:r>
                        <a:rPr lang="en-US" sz="1000" dirty="0">
                          <a:solidFill>
                            <a:srgbClr val="000000"/>
                          </a:solidFill>
                          <a:latin typeface="Arial"/>
                          <a:ea typeface="Arial"/>
                          <a:cs typeface="Arial"/>
                        </a:rPr>
                        <a:t>Volume</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Number of voyages per vessel</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Cargo capacity by vessel (TEUs, Reefer, and Autos)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Matson public filings</a:t>
                      </a:r>
                      <a:br/>
                      <a:r>
                        <a:rPr lang="en-US" sz="1000" dirty="0">
                          <a:solidFill>
                            <a:srgbClr val="000000"/>
                          </a:solidFill>
                          <a:latin typeface="Arial"/>
                          <a:ea typeface="Arial"/>
                          <a:cs typeface="Arial"/>
                        </a:rPr>
                        <a:t>Matson investor presentations</a:t>
                      </a:r>
                      <a:br/>
                      <a:r>
                        <a:rPr lang="en-US" sz="1000" dirty="0">
                          <a:solidFill>
                            <a:srgbClr val="000000"/>
                          </a:solidFill>
                          <a:latin typeface="Arial"/>
                          <a:ea typeface="Arial"/>
                          <a:cs typeface="Arial"/>
                        </a:rPr>
                        <a:t>Internal estimates (utilization levels and Q4 ’25 volume)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Utilization levels by cargo type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Matson Hawaii and Guam service volumes (2024 and 2025)</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Proportion of loaded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2">
                  <a:txBody>
                    <a:bodyPr anchor="ctr"/>
                    <a:lstStyle/>
                    <a:p>
                      <a:pPr algn="l" marL="0" indent="0">
                        <a:lnSpc>
                          <a:spcPct val="100000"/>
                        </a:lnSpc>
                      </a:pPr>
                      <a:r>
                        <a:rPr lang="en-US" sz="1000" dirty="0">
                          <a:solidFill>
                            <a:srgbClr val="000000"/>
                          </a:solidFill>
                          <a:latin typeface="Arial"/>
                          <a:ea typeface="Arial"/>
                          <a:cs typeface="Arial"/>
                        </a:rPr>
                        <a:t>Reeve &amp; Associates</a:t>
                      </a:r>
                      <a:br/>
                      <a:r>
                        <a:rPr lang="en-US" sz="1000" dirty="0">
                          <a:solidFill>
                            <a:srgbClr val="000000"/>
                          </a:solidFill>
                          <a:latin typeface="Arial"/>
                          <a:ea typeface="Arial"/>
                          <a:cs typeface="Arial"/>
                        </a:rPr>
                        <a:t>US Army Corps of Engineers (proportion of loaded cargo)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Composition of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TEU / FEU mix by cargo type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Hapag-Lloyd (container payload);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3">
                  <a:txBody>
                    <a:bodyPr anchor="ctr"/>
                    <a:lstStyle/>
                    <a:p>
                      <a:pPr algn="l" marL="0" indent="0">
                        <a:lnSpc>
                          <a:spcPct val="100000"/>
                        </a:lnSpc>
                      </a:pPr>
                      <a:r>
                        <a:rPr lang="en-US" sz="1000" dirty="0">
                          <a:solidFill>
                            <a:srgbClr val="162029"/>
                          </a:solidFill>
                          <a:latin typeface="Arial"/>
                          <a:ea typeface="Arial"/>
                          <a:cs typeface="Arial"/>
                        </a:rPr>
                        <a:t>Price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Commodity-level TEU / FEU rates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Pasha Hawaii</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Fuel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(handling/stevedoring, wharfage, and other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rowSpan="3">
                  <a:txBody>
                    <a:bodyPr anchor="ctr"/>
                    <a:lstStyle/>
                    <a:p>
                      <a:pPr algn="l" marL="0" indent="0">
                        <a:lnSpc>
                          <a:spcPct val="100000"/>
                        </a:lnSpc>
                      </a:pPr>
                      <a:r>
                        <a:rPr lang="en-US" sz="1000" dirty="0">
                          <a:solidFill>
                            <a:srgbClr val="162029"/>
                          </a:solidFill>
                          <a:latin typeface="Arial"/>
                          <a:ea typeface="Arial"/>
                          <a:cs typeface="Arial"/>
                        </a:rPr>
                        <a:t>Variable Costs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162029"/>
                          </a:solidFill>
                          <a:latin typeface="Arial"/>
                          <a:ea typeface="Arial"/>
                          <a:cs typeface="Arial"/>
                        </a:rPr>
                        <a:t>Fuel Costs: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Distance traveled by vessel and route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Transit speeds by vessel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Fuel type used (scrubber presence)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Other fuel burn / engine parameters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Bunker fuel prices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r>
                        <a:rPr lang="en-US" sz="1000" dirty="0">
                          <a:solidFill>
                            <a:srgbClr val="000000"/>
                          </a:solidFill>
                          <a:latin typeface="Arial"/>
                          <a:ea typeface="Arial"/>
                          <a:cs typeface="Arial"/>
                        </a:rPr>
                        <a:t>; Open-source research;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Pilotage, dockage, tugboat, and port due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Open-source research</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a:t>
                      </a:r>
                      <a:r>
                        <a:rPr lang="en-US" sz="1000" i="1" dirty="0">
                          <a:solidFill>
                            <a:srgbClr val="162029"/>
                          </a:solidFill>
                          <a:latin typeface="Arial"/>
                          <a:ea typeface="Arial"/>
                          <a:cs typeface="Arial"/>
                        </a:rPr>
                        <a:t>(same as above)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Pasha Hawaii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7">
                  <a:txBody>
                    <a:bodyPr anchor="ctr"/>
                    <a:lstStyle/>
                    <a:p>
                      <a:pPr algn="l" marL="0" indent="0">
                        <a:lnSpc>
                          <a:spcPct val="100000"/>
                        </a:lnSpc>
                      </a:pPr>
                      <a:r>
                        <a:rPr lang="en-US" sz="1000" dirty="0">
                          <a:solidFill>
                            <a:srgbClr val="162029"/>
                          </a:solidFill>
                          <a:latin typeface="Arial"/>
                          <a:ea typeface="Arial"/>
                          <a:cs typeface="Arial"/>
                        </a:rPr>
                        <a:t>Operating Expenses</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0" indent="0">
                        <a:lnSpc>
                          <a:spcPct val="100000"/>
                        </a:lnSpc>
                      </a:pPr>
                      <a:r>
                        <a:rPr lang="en-US" sz="1000" dirty="0">
                          <a:solidFill>
                            <a:srgbClr val="162029"/>
                          </a:solidFill>
                          <a:latin typeface="Arial"/>
                          <a:ea typeface="Arial"/>
                          <a:cs typeface="Arial"/>
                        </a:rPr>
                        <a:t>Crew</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7">
                  <a:txBody>
                    <a:bodyPr anchor="ctr"/>
                    <a:lstStyle/>
                    <a:p>
                      <a:pPr algn="l" marL="0" indent="0">
                        <a:lnSpc>
                          <a:spcPct val="100000"/>
                        </a:lnSpc>
                      </a:pPr>
                      <a:r>
                        <a:rPr lang="en-US" sz="1000" dirty="0">
                          <a:solidFill>
                            <a:srgbClr val="000000"/>
                          </a:solidFill>
                          <a:latin typeface="Arial"/>
                          <a:ea typeface="Arial"/>
                          <a:cs typeface="Arial"/>
                        </a:rPr>
                        <a:t>Open-source research</a:t>
                      </a:r>
                      <a:br/>
                      <a:r>
                        <a:rPr lang="en-US" sz="1000" dirty="0">
                          <a:solidFill>
                            <a:srgbClr val="000000"/>
                          </a:solidFill>
                          <a:latin typeface="Arial"/>
                          <a:ea typeface="Arial"/>
                          <a:cs typeface="Arial"/>
                        </a:rPr>
                        <a:t>Internal estimates (based on industry experience)</a:t>
                      </a:r>
                    </a:p>
                  </a:txBody>
                  <a:tcPr marL="45720" marR="45720" marT="45720" marB="45720" anchor="ctr">
                    <a:lnL>
                      <a:noFill/>
                    </a:lnL>
                    <a:lnR>
                      <a:noFill/>
                    </a:lnR>
                    <a:lnT w="6350" cap="flat" cmpd="sng" algn="ctr">
                      <a:solidFill>
                        <a:srgbClr val="808080"/>
                      </a:solidFill>
                      <a:prstDash val="solid"/>
                    </a:lnT>
                    <a:lnB>
                      <a:noFill/>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Insurance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Stores &amp; spares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R&amp;M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Dry-dock (annualized)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Management &amp; administrative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Depreciation &amp; amortization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c vMerge="1">
                  <a:txBody>
                    <a:bodyPr/>
                    <a:lstStyle/>
                    <a:p>
                      <a:endParaRPr lang="en-US"/>
                    </a:p>
                  </a:txBody>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Platform Quantities</a:t>
            </a:r>
          </a:p>
        </p:txBody>
      </p:sp>
      <p:sp>
        <p:nvSpPr>
          <p:cNvPr id="3" name="Title"/>
          <p:cNvSpPr>
            <a:spLocks noGrp="1"/>
          </p:cNvSpPr>
          <p:nvPr>
            <p:ph type="title"/>
          </p:nvPr>
        </p:nvSpPr>
        <p:spPr>
          <a:xfrm>
            <a:off x="453079" y="554500"/>
            <a:ext cx="10149840" cy="640080"/>
          </a:xfrm>
        </p:spPr>
        <p:txBody>
          <a:bodyPr rIns="0"/>
          <a:lstStyle/>
          <a:p>
            <a:r>
              <a:rPr lang="en-US" sz="2000" kern="1200" dirty="0">
                <a:solidFill>
                  <a:srgbClr val="162029"/>
                </a:solidFill>
                <a:latin typeface="Arial"/>
                <a:ea typeface="Arial"/>
                <a:cs typeface="Arial"/>
              </a:rPr>
              <a:t>Comparison vs. DDGs | Total GD MR procurement cost is roughly the same as four Arleigh Burke-class destroyers while delivering 10x+ the interceptor capacity</a:t>
            </a:r>
          </a:p>
        </p:txBody>
      </p:sp>
      <p:pic>
        <p:nvPicPr>
          <p:cNvPr id="100" name="NavyLogo"/>
          <p:cNvPicPr>
            <a:picLocks noChangeAspect="1"/>
          </p:cNvPicPr>
          <p:nvPr/>
        </p:nvPicPr>
        <p:blipFill>
          <a:blip r:embed="rId3"/>
          <a:stretch>
            <a:fillRect/>
          </a:stretch>
        </p:blipFill>
        <p:spPr>
          <a:xfrm>
            <a:off x="10452506" y="43891"/>
            <a:ext cx="843077" cy="843077"/>
          </a:xfrm>
          <a:prstGeom prst="rect">
            <a:avLst/>
          </a:prstGeom>
        </p:spPr>
      </p:pic>
      <p:pic>
        <p:nvPicPr>
          <p:cNvPr id="101" name="MissileDefenseAgencyLogo"/>
          <p:cNvPicPr>
            <a:picLocks noChangeAspect="1"/>
          </p:cNvPicPr>
          <p:nvPr/>
        </p:nvPicPr>
        <p:blipFill>
          <a:blip r:embed="rId4"/>
          <a:stretch>
            <a:fillRect/>
          </a:stretch>
        </p:blipFill>
        <p:spPr>
          <a:xfrm>
            <a:off x="11312957" y="43891"/>
            <a:ext cx="843077" cy="843077"/>
          </a:xfrm>
          <a:prstGeom prst="rect">
            <a:avLst/>
          </a:prstGeom>
        </p:spPr>
      </p:pic>
      <p:graphicFrame>
        <p:nvGraphicFramePr>
          <p:cNvPr id="102" name="ProcurementCostChart"/>
          <p:cNvGraphicFramePr/>
          <p:nvPr/>
        </p:nvGraphicFramePr>
        <p:xfrm>
          <a:off x="382219" y="2468880"/>
          <a:ext cx="5548579" cy="3343046"/>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AxisTitle"/>
          <p:cNvSpPr txBox="1"/>
          <p:nvPr/>
        </p:nvSpPr>
        <p:spPr>
          <a:xfrm>
            <a:off x="485546" y="2294230"/>
            <a:ext cx="1373429"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Procurement cost ($M)</a:t>
            </a:r>
          </a:p>
        </p:txBody>
      </p:sp>
      <p:sp>
        <p:nvSpPr>
          <p:cNvPr id="104" name="DDGBarLabel"/>
          <p:cNvSpPr txBox="1"/>
          <p:nvPr/>
        </p:nvSpPr>
        <p:spPr>
          <a:xfrm>
            <a:off x="1964131" y="5206594"/>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#1</a:t>
            </a:r>
          </a:p>
        </p:txBody>
      </p:sp>
      <p:sp>
        <p:nvSpPr>
          <p:cNvPr id="105" name="DDGBarLabel"/>
          <p:cNvSpPr txBox="1"/>
          <p:nvPr/>
        </p:nvSpPr>
        <p:spPr>
          <a:xfrm>
            <a:off x="1964131" y="4462272"/>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#2</a:t>
            </a:r>
          </a:p>
        </p:txBody>
      </p:sp>
      <p:sp>
        <p:nvSpPr>
          <p:cNvPr id="106" name="DDGBarLabel"/>
          <p:cNvSpPr txBox="1"/>
          <p:nvPr/>
        </p:nvSpPr>
        <p:spPr>
          <a:xfrm>
            <a:off x="1964131" y="3719779"/>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#4</a:t>
            </a:r>
          </a:p>
        </p:txBody>
      </p:sp>
      <p:sp>
        <p:nvSpPr>
          <p:cNvPr id="107" name="DDGTopSegmentLabel"/>
          <p:cNvSpPr txBox="1"/>
          <p:nvPr/>
        </p:nvSpPr>
        <p:spPr>
          <a:xfrm>
            <a:off x="1964131" y="2974543"/>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DDG #4</a:t>
            </a:r>
          </a:p>
        </p:txBody>
      </p:sp>
      <p:sp>
        <p:nvSpPr>
          <p:cNvPr id="108" name="DDGCategoryLabel"/>
          <p:cNvSpPr txBox="1"/>
          <p:nvPr/>
        </p:nvSpPr>
        <p:spPr>
          <a:xfrm>
            <a:off x="1322222" y="5699455"/>
            <a:ext cx="177667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Arleigh Burke-class destroyers</a:t>
            </a:r>
            <a:r>
              <a:rPr lang="en-US" sz="1000" baseline="30000" dirty="0">
                <a:solidFill>
                  <a:srgbClr val="000000"/>
                </a:solidFill>
                <a:latin typeface="Arial"/>
                <a:ea typeface="Arial"/>
                <a:cs typeface="Arial"/>
              </a:rPr>
              <a:t>1</a:t>
            </a:r>
          </a:p>
        </p:txBody>
      </p:sp>
      <p:sp>
        <p:nvSpPr>
          <p:cNvPr id="109" name="MarauderCoLocatedLabel"/>
          <p:cNvSpPr txBox="1"/>
          <p:nvPr/>
        </p:nvSpPr>
        <p:spPr>
          <a:xfrm>
            <a:off x="4052621" y="4732020"/>
            <a:ext cx="1166774" cy="457200"/>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MR #1-#120</a:t>
            </a:r>
            <a:br/>
            <a:r>
              <a:rPr lang="en-US" sz="1000" dirty="0">
                <a:solidFill>
                  <a:srgbClr val="FFFFFF"/>
                </a:solidFill>
                <a:latin typeface="Arial"/>
                <a:ea typeface="Arial"/>
                <a:cs typeface="Arial"/>
              </a:rPr>
              <a:t>(Co-located sensors</a:t>
            </a:r>
            <a:br/>
            <a:r>
              <a:rPr lang="en-US" sz="1000" dirty="0">
                <a:solidFill>
                  <a:srgbClr val="FFFFFF"/>
                </a:solidFill>
                <a:latin typeface="Arial"/>
                <a:ea typeface="Arial"/>
                <a:cs typeface="Arial"/>
              </a:rPr>
              <a:t>and interceptors)</a:t>
            </a:r>
          </a:p>
        </p:txBody>
      </p:sp>
      <p:sp>
        <p:nvSpPr>
          <p:cNvPr id="110" name="MarauderCategoryLabel"/>
          <p:cNvSpPr txBox="1"/>
          <p:nvPr/>
        </p:nvSpPr>
        <p:spPr>
          <a:xfrm>
            <a:off x="3895344" y="5699455"/>
            <a:ext cx="147949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Golden Dome Marauders</a:t>
            </a:r>
            <a:r>
              <a:rPr lang="en-US" sz="1000" baseline="30000" dirty="0">
                <a:solidFill>
                  <a:srgbClr val="000000"/>
                </a:solidFill>
                <a:latin typeface="Arial"/>
                <a:ea typeface="Arial"/>
                <a:cs typeface="Arial"/>
              </a:rPr>
              <a:t>2</a:t>
            </a:r>
          </a:p>
        </p:txBody>
      </p:sp>
      <p:sp>
        <p:nvSpPr>
          <p:cNvPr id="111" name="DDGTotalLabel"/>
          <p:cNvSpPr txBox="1"/>
          <p:nvPr/>
        </p:nvSpPr>
        <p:spPr>
          <a:xfrm>
            <a:off x="2000707" y="2501798"/>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10,800</a:t>
            </a:r>
          </a:p>
        </p:txBody>
      </p:sp>
      <p:sp>
        <p:nvSpPr>
          <p:cNvPr id="112" name="MarauderTotalLabel"/>
          <p:cNvSpPr txBox="1"/>
          <p:nvPr/>
        </p:nvSpPr>
        <p:spPr>
          <a:xfrm>
            <a:off x="4425696" y="2700223"/>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10,080</a:t>
            </a:r>
          </a:p>
        </p:txBody>
      </p:sp>
      <p:sp>
        <p:nvSpPr>
          <p:cNvPr id="113" name="MarauderSeparatePlatformsLabel"/>
          <p:cNvSpPr txBox="1"/>
          <p:nvPr/>
        </p:nvSpPr>
        <p:spPr>
          <a:xfrm>
            <a:off x="4041648" y="3419856"/>
            <a:ext cx="1187806" cy="30449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MR #121-#240 </a:t>
            </a:r>
            <a:br/>
            <a:r>
              <a:rPr lang="en-US" sz="1000" dirty="0">
                <a:solidFill>
                  <a:srgbClr val="000000"/>
                </a:solidFill>
                <a:latin typeface="Arial"/>
                <a:ea typeface="Arial"/>
                <a:cs typeface="Arial"/>
              </a:rPr>
              <a:t>(Separate platforms)</a:t>
            </a:r>
          </a:p>
        </p:txBody>
      </p:sp>
      <p:graphicFrame>
        <p:nvGraphicFramePr>
          <p:cNvPr id="114" name="CostComparisonTitleBar"/>
          <p:cNvGraphicFramePr>
            <a:graphicFrameLocks noGrp="1"/>
          </p:cNvGraphicFramePr>
          <p:nvPr/>
        </p:nvGraphicFramePr>
        <p:xfrm>
          <a:off x="452628" y="1548994"/>
          <a:ext cx="5395874" cy="304495"/>
        </p:xfrm>
        <a:graphic>
          <a:graphicData uri="http://schemas.openxmlformats.org/drawingml/2006/table">
            <a:tbl>
              <a:tblPr firstRow="1" firstCol="1" bandRow="0">
                <a:tableStyleId>{2D5ABB26-0587-4C30-8999-92F81FD0307C}</a:tableStyleId>
              </a:tblPr>
              <a:tblGrid>
                <a:gridCol w="5395874"/>
              </a:tblGrid>
              <a:tr h="0">
                <a:tc>
                  <a:txBody>
                    <a:bodyPr anchor="b"/>
                    <a:lstStyle/>
                    <a:p>
                      <a:pPr algn="l">
                        <a:lnSpc>
                          <a:spcPct val="100000"/>
                        </a:lnSpc>
                      </a:pPr>
                      <a:r>
                        <a:rPr lang="en-US" sz="1200" b="1" dirty="0">
                          <a:solidFill>
                            <a:srgbClr val="000000"/>
                          </a:solidFill>
                          <a:latin typeface="Arial"/>
                          <a:ea typeface="Arial"/>
                          <a:cs typeface="Arial"/>
                        </a:rPr>
                        <a:t>Cost comparison – </a:t>
                      </a:r>
                      <a:r>
                        <a:rPr lang="en-US" sz="1200" b="1" i="1" dirty="0">
                          <a:solidFill>
                            <a:srgbClr val="000000"/>
                          </a:solidFill>
                          <a:latin typeface="Arial"/>
                          <a:ea typeface="Arial"/>
                          <a:cs typeface="Arial"/>
                        </a:rPr>
                        <a:t>Arleigh Burke</a:t>
                      </a:r>
                      <a:r>
                        <a:rPr lang="en-US" sz="1200" b="1" dirty="0">
                          <a:solidFill>
                            <a:srgbClr val="000000"/>
                          </a:solidFill>
                          <a:latin typeface="Arial"/>
                          <a:ea typeface="Arial"/>
                          <a:cs typeface="Arial"/>
                        </a:rPr>
                        <a:t>-class destroyers </a:t>
                      </a:r>
                      <a:r>
                        <a:rPr lang="en-US" sz="1200" b="1" dirty="0">
                          <a:solidFill>
                            <a:srgbClr val="000000"/>
                          </a:solidFill>
                          <a:latin typeface="Arial"/>
                          <a:ea typeface="Arial"/>
                          <a:cs typeface="Arial"/>
                        </a:rPr>
                        <a:t>vs. GD Marauders</a:t>
                      </a:r>
                    </a:p>
                  </a:txBody>
                  <a:tcPr marL="60960" marR="60960" marT="60960" marB="60960" anchor="b">
                    <a:lnL>
                      <a:noFill/>
                    </a:lnL>
                    <a:lnR>
                      <a:noFill/>
                    </a:lnR>
                    <a:lnT>
                      <a:noFill/>
                    </a:lnT>
                    <a:lnB w="12700" cap="flat" cmpd="sng" algn="ctr">
                      <a:solidFill>
                        <a:srgbClr val="162029"/>
                      </a:solidFill>
                      <a:prstDash val="solid"/>
                    </a:lnB>
                    <a:noFill/>
                  </a:tcPr>
                </a:tc>
              </a:tr>
            </a:tbl>
          </a:graphicData>
        </a:graphic>
      </p:graphicFrame>
      <p:graphicFrame>
        <p:nvGraphicFramePr>
          <p:cNvPr id="115" name="CapabilityComparisonTable"/>
          <p:cNvGraphicFramePr>
            <a:graphicFrameLocks noGrp="1"/>
          </p:cNvGraphicFramePr>
          <p:nvPr/>
        </p:nvGraphicFramePr>
        <p:xfrm>
          <a:off x="6366053" y="1548994"/>
          <a:ext cx="5486400" cy="4114800"/>
        </p:xfrm>
        <a:graphic>
          <a:graphicData uri="http://schemas.openxmlformats.org/drawingml/2006/table">
            <a:tbl>
              <a:tblPr firstRow="1" firstCol="1" bandRow="0">
                <a:tableStyleId>{2D5ABB26-0587-4C30-8999-92F81FD0307C}</a:tableStyleId>
              </a:tblPr>
              <a:tblGrid>
                <a:gridCol w="2550262"/>
                <a:gridCol w="386791"/>
                <a:gridCol w="2550262"/>
              </a:tblGrid>
              <a:tr h="309067">
                <a:tc gridSpan="3">
                  <a:txBody>
                    <a:bodyPr anchor="b"/>
                    <a:lstStyle/>
                    <a:p>
                      <a:pPr algn="l">
                        <a:lnSpc>
                          <a:spcPct val="100000"/>
                        </a:lnSpc>
                      </a:pPr>
                      <a:r>
                        <a:rPr lang="en-US" sz="1200" b="1" dirty="0">
                          <a:solidFill>
                            <a:srgbClr val="000000"/>
                          </a:solidFill>
                          <a:latin typeface="Arial"/>
                          <a:ea typeface="Arial"/>
                          <a:cs typeface="Arial"/>
                        </a:rPr>
                        <a:t>Capability comparison – Strike munitions capacity</a:t>
                      </a:r>
                    </a:p>
                  </a:txBody>
                  <a:tcPr marL="60960" marR="60960" marT="60960" marB="6096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r>
              <a:tr h="201168">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r>
              <a:tr h="493776">
                <a:tc>
                  <a:txBody>
                    <a:bodyPr anchor="ctr"/>
                    <a:lstStyle/>
                    <a:p>
                      <a:pPr algn="ctr">
                        <a:lnSpc>
                          <a:spcPct val="100000"/>
                        </a:lnSpc>
                      </a:pPr>
                      <a:r>
                        <a:rPr lang="en-US" sz="1200" b="1" dirty="0">
                          <a:solidFill>
                            <a:srgbClr val="FFFFFF"/>
                          </a:solidFill>
                          <a:latin typeface="Arial"/>
                          <a:ea typeface="Arial"/>
                          <a:cs typeface="Arial"/>
                        </a:rPr>
                        <a:t>4x </a:t>
                      </a:r>
                      <a:r>
                        <a:rPr lang="en-US" sz="1200" b="1" i="1" dirty="0">
                          <a:solidFill>
                            <a:srgbClr val="FFFFFF"/>
                          </a:solidFill>
                          <a:latin typeface="Arial"/>
                          <a:ea typeface="Arial"/>
                          <a:cs typeface="Arial"/>
                        </a:rPr>
                        <a:t>Arleigh Burke-</a:t>
                      </a:r>
                      <a:r>
                        <a:rPr lang="en-US" sz="1200" b="1" dirty="0">
                          <a:solidFill>
                            <a:srgbClr val="FFFFFF"/>
                          </a:solidFill>
                          <a:latin typeface="Arial"/>
                          <a:ea typeface="Arial"/>
                          <a:cs typeface="Arial"/>
                        </a:rPr>
                        <a:t>class</a:t>
                      </a:r>
                      <a:r>
                        <a:rPr lang="en-US" sz="1200" b="1" i="1" dirty="0">
                          <a:solidFill>
                            <a:srgbClr val="FFFFFF"/>
                          </a:solidFill>
                          <a:latin typeface="Arial"/>
                          <a:ea typeface="Arial"/>
                          <a:cs typeface="Arial"/>
                        </a:rPr>
                        <a:t> </a:t>
                      </a:r>
                      <a:r>
                        <a:rPr lang="en-US" sz="1200" b="1" dirty="0">
                          <a:solidFill>
                            <a:srgbClr val="FFFFFF"/>
                          </a:solidFill>
                          <a:latin typeface="Arial"/>
                          <a:ea typeface="Arial"/>
                          <a:cs typeface="Arial"/>
                        </a:rPr>
                        <a:t>destroyers</a:t>
                      </a:r>
                      <a:r>
                        <a:rPr lang="en-US" sz="1200" b="1" baseline="30000" dirty="0">
                          <a:solidFill>
                            <a:srgbClr val="FFFFFF"/>
                          </a:solidFill>
                          <a:latin typeface="Arial"/>
                          <a:ea typeface="Arial"/>
                          <a:cs typeface="Arial"/>
                        </a:rPr>
                        <a:t>1</a:t>
                      </a:r>
                    </a:p>
                  </a:txBody>
                  <a:tcPr marL="60960" marR="60960" marT="60960" marB="60960" anchor="ctr">
                    <a:lnL>
                      <a:noFill/>
                    </a:lnL>
                    <a:lnR>
                      <a:noFill/>
                    </a:lnR>
                    <a:lnT>
                      <a:noFill/>
                    </a:lnT>
                    <a:lnB>
                      <a:noFill/>
                    </a:lnB>
                    <a:solidFill>
                      <a:srgbClr val="808080"/>
                    </a:solidFill>
                  </a:tcPr>
                </a:tc>
                <a:tc>
                  <a:txBody>
                    <a:bodyPr anchor="ctr"/>
                    <a:lstStyle/>
                    <a:p>
                      <a:pPr algn="ctr">
                        <a:lnSpc>
                          <a:spcPct val="100000"/>
                        </a:lnSpc>
                      </a:pPr>
                      <a:endParaRPr lang="en-US" sz="1200"/>
                    </a:p>
                  </a:txBody>
                  <a:tcPr marL="60960" marR="60960" marT="60960" marB="60960" anchor="ctr">
                    <a:lnL>
                      <a:noFill/>
                    </a:lnL>
                    <a:lnR>
                      <a:noFill/>
                    </a:lnR>
                    <a:lnT>
                      <a:noFill/>
                    </a:lnT>
                    <a:lnB>
                      <a:noFill/>
                    </a:lnB>
                    <a:noFill/>
                  </a:tcPr>
                </a:tc>
                <a:tc>
                  <a:txBody>
                    <a:bodyPr anchor="ctr"/>
                    <a:lstStyle/>
                    <a:p>
                      <a:pPr algn="ctr">
                        <a:lnSpc>
                          <a:spcPct val="100000"/>
                        </a:lnSpc>
                      </a:pPr>
                      <a:r>
                        <a:rPr lang="en-US" sz="1200" b="1" dirty="0">
                          <a:solidFill>
                            <a:srgbClr val="FFFFFF"/>
                          </a:solidFill>
                          <a:latin typeface="Arial"/>
                          <a:ea typeface="Arial"/>
                          <a:cs typeface="Arial"/>
                        </a:rPr>
                        <a:t>240x Marauders</a:t>
                      </a:r>
                      <a:r>
                        <a:rPr lang="en-US" sz="1200" b="1" baseline="30000" dirty="0">
                          <a:solidFill>
                            <a:srgbClr val="FFFFFF"/>
                          </a:solidFill>
                          <a:latin typeface="Arial"/>
                          <a:ea typeface="Arial"/>
                          <a:cs typeface="Arial"/>
                        </a:rPr>
                        <a:t>3</a:t>
                      </a:r>
                    </a:p>
                  </a:txBody>
                  <a:tcPr marL="60960" marR="60960" marT="60960" marB="60960" anchor="ctr">
                    <a:lnL>
                      <a:noFill/>
                    </a:lnL>
                    <a:lnR>
                      <a:noFill/>
                    </a:lnR>
                    <a:lnT>
                      <a:noFill/>
                    </a:lnT>
                    <a:lnB>
                      <a:noFill/>
                    </a:lnB>
                    <a:solidFill>
                      <a:srgbClr val="4C6C9C"/>
                    </a:solidFill>
                  </a:tcPr>
                </a:tc>
              </a:tr>
              <a:tr h="175565">
                <a:tc>
                  <a:txBody>
                    <a:bodyPr anchor="ctr"/>
                    <a:lstStyle/>
                    <a:p>
                      <a:pPr algn="ctr" marL="0" indent="0">
                        <a:lnSpc>
                          <a:spcPct val="100000"/>
                        </a:lnSpc>
                      </a:pPr>
                      <a:endParaRPr lang="en-US" sz="100"/>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sz="100"/>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sz="100"/>
                    </a:p>
                  </a:txBody>
                  <a:tcPr marL="60960" marR="60960" marT="60960" marB="60960" anchor="ctr">
                    <a:lnL>
                      <a:noFill/>
                    </a:lnL>
                    <a:lnR>
                      <a:noFill/>
                    </a:lnR>
                    <a:lnT>
                      <a:noFill/>
                    </a:lnT>
                    <a:lnB>
                      <a:noFill/>
                    </a:lnB>
                    <a:noFill/>
                  </a:tcPr>
                </a:tc>
              </a:tr>
              <a:tr h="669341">
                <a:tc rowSpan="5">
                  <a:txBody>
                    <a:bodyPr anchor="ctr"/>
                    <a:lstStyle/>
                    <a:p>
                      <a:pPr algn="ctr" marL="0" indent="0">
                        <a:lnSpc>
                          <a:spcPct val="100000"/>
                        </a:lnSpc>
                      </a:pPr>
                      <a:r>
                        <a:rPr lang="en-US" sz="2000" b="1" dirty="0">
                          <a:solidFill>
                            <a:srgbClr val="000000"/>
                          </a:solidFill>
                          <a:latin typeface="Arial"/>
                          <a:ea typeface="Arial"/>
                          <a:cs typeface="Arial"/>
                        </a:rPr>
                        <a:t>Up to 384</a:t>
                      </a:r>
                      <a:br/>
                      <a:r>
                        <a:rPr lang="en-US" sz="1200" dirty="0">
                          <a:solidFill>
                            <a:srgbClr val="000000"/>
                          </a:solidFill>
                          <a:latin typeface="Arial"/>
                          <a:ea typeface="Arial"/>
                          <a:cs typeface="Arial"/>
                        </a:rPr>
                        <a:t>SM-3 / SM-6</a:t>
                      </a:r>
                      <a:br/>
                      <a:br/>
                      <a:r>
                        <a:rPr lang="en-US" sz="1200" i="1" dirty="0">
                          <a:solidFill>
                            <a:srgbClr val="000000"/>
                          </a:solidFill>
                          <a:latin typeface="Arial"/>
                          <a:ea typeface="Arial"/>
                          <a:cs typeface="Arial"/>
                        </a:rPr>
                        <a:t>(384 represents total VLS capacity; actual interceptor quantity dependent on mission) </a:t>
                      </a:r>
                    </a:p>
                  </a:txBody>
                  <a:tcPr marL="60960" marR="60960" marT="60960" marB="60960" anchor="ctr">
                    <a:lnL>
                      <a:noFill/>
                    </a:lnL>
                    <a:lnR>
                      <a:noFill/>
                    </a:lnR>
                    <a:lnT>
                      <a:noFill/>
                    </a:lnT>
                    <a:lnB>
                      <a:noFill/>
                    </a:lnB>
                    <a:solidFill>
                      <a:srgbClr val="F2F2F2"/>
                    </a:solidFill>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rowSpan="5">
                  <a:txBody>
                    <a:bodyPr anchor="ctr"/>
                    <a:lstStyle/>
                    <a:p>
                      <a:pPr algn="ctr" marL="0" indent="0">
                        <a:lnSpc>
                          <a:spcPct val="100000"/>
                        </a:lnSpc>
                      </a:pPr>
                      <a:r>
                        <a:rPr lang="en-US" sz="2000" b="1" dirty="0">
                          <a:solidFill>
                            <a:srgbClr val="000000"/>
                          </a:solidFill>
                          <a:latin typeface="Arial"/>
                          <a:ea typeface="Arial"/>
                          <a:cs typeface="Arial"/>
                        </a:rPr>
                        <a:t>3,840 </a:t>
                      </a:r>
                      <a:br/>
                      <a:r>
                        <a:rPr lang="en-US" sz="1200" dirty="0">
                          <a:solidFill>
                            <a:srgbClr val="000000"/>
                          </a:solidFill>
                          <a:latin typeface="Arial"/>
                          <a:ea typeface="Arial"/>
                          <a:cs typeface="Arial"/>
                        </a:rPr>
                        <a:t>SM-3 / SM-6</a:t>
                      </a:r>
                      <a:br/>
                      <a:br/>
                      <a:r>
                        <a:rPr lang="en-US" sz="1200" u="sng" dirty="0">
                          <a:solidFill>
                            <a:srgbClr val="000000"/>
                          </a:solidFill>
                          <a:latin typeface="Arial"/>
                          <a:ea typeface="Arial"/>
                          <a:cs typeface="Arial"/>
                        </a:rPr>
                        <a:t>10x+ </a:t>
                      </a:r>
                      <a:r>
                        <a:rPr lang="en-US" sz="1200" i="1" u="sng" dirty="0">
                          <a:solidFill>
                            <a:srgbClr val="000000"/>
                          </a:solidFill>
                          <a:latin typeface="Arial"/>
                          <a:ea typeface="Arial"/>
                          <a:cs typeface="Arial"/>
                        </a:rPr>
                        <a:t>Arleigh Burke</a:t>
                      </a:r>
                      <a:r>
                        <a:rPr lang="en-US" sz="1200" u="sng" dirty="0">
                          <a:solidFill>
                            <a:srgbClr val="000000"/>
                          </a:solidFill>
                          <a:latin typeface="Arial"/>
                          <a:ea typeface="Arial"/>
                          <a:cs typeface="Arial"/>
                        </a:rPr>
                        <a:t> capacity</a:t>
                      </a:r>
                    </a:p>
                  </a:txBody>
                  <a:tcPr marL="60960" marR="60960" marT="60960" marB="60960" anchor="ctr">
                    <a:lnL>
                      <a:noFill/>
                    </a:lnL>
                    <a:lnR>
                      <a:noFill/>
                    </a:lnR>
                    <a:lnT>
                      <a:noFill/>
                    </a:lnT>
                    <a:lnB>
                      <a:noFill/>
                    </a:lnB>
                    <a:solidFill>
                      <a:srgbClr val="CEDDEC"/>
                    </a:solidFill>
                  </a:tcPr>
                </a:tc>
              </a:tr>
              <a:tr h="334670">
                <a:tc vMerge="1">
                  <a:txBody>
                    <a:bodyPr/>
                    <a:lstStyle/>
                    <a:p>
                      <a:endParaRPr lang="en-US"/>
                    </a:p>
                  </a:txBody>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vMerge="1">
                  <a:txBody>
                    <a:bodyPr/>
                    <a:lstStyle/>
                    <a:p>
                      <a:endParaRPr lang="en-US"/>
                    </a:p>
                  </a:txBody>
                  <a:tcPr/>
                </a:tc>
              </a:tr>
              <a:tr h="669341">
                <a:tc vMerge="1">
                  <a:txBody>
                    <a:bodyPr/>
                    <a:lstStyle/>
                    <a:p>
                      <a:endParaRPr lang="en-US"/>
                    </a:p>
                  </a:txBody>
                  <a:tcPr/>
                </a:tc>
                <a:tc>
                  <a:txBody>
                    <a:bodyPr anchor="ctr"/>
                    <a:lstStyle/>
                    <a:p>
                      <a:pPr algn="ctr" marL="0" indent="0">
                        <a:lnSpc>
                          <a:spcPct val="100000"/>
                        </a:lnSpc>
                      </a:pPr>
                      <a:r>
                        <a:rPr lang="en-US" sz="1200" dirty="0">
                          <a:solidFill>
                            <a:srgbClr val="000000"/>
                          </a:solidFill>
                          <a:latin typeface="Arial"/>
                          <a:ea typeface="Arial"/>
                          <a:cs typeface="Arial"/>
                        </a:rPr>
                        <a:t>Vs.</a:t>
                      </a:r>
                    </a:p>
                  </a:txBody>
                  <a:tcPr marL="60960" marR="60960" marT="60960" marB="60960" anchor="ctr">
                    <a:lnL>
                      <a:noFill/>
                    </a:lnL>
                    <a:lnR>
                      <a:noFill/>
                    </a:lnR>
                    <a:lnT>
                      <a:noFill/>
                    </a:lnT>
                    <a:lnB>
                      <a:noFill/>
                    </a:lnB>
                    <a:noFill/>
                  </a:tcPr>
                </a:tc>
                <a:tc vMerge="1">
                  <a:txBody>
                    <a:bodyPr/>
                    <a:lstStyle/>
                    <a:p>
                      <a:endParaRPr lang="en-US"/>
                    </a:p>
                  </a:txBody>
                  <a:tcPr/>
                </a:tc>
              </a:tr>
              <a:tr h="334670">
                <a:tc vMerge="1">
                  <a:txBody>
                    <a:bodyPr/>
                    <a:lstStyle/>
                    <a:p>
                      <a:endParaRPr lang="en-US"/>
                    </a:p>
                  </a:txBody>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vMerge="1">
                  <a:txBody>
                    <a:bodyPr/>
                    <a:lstStyle/>
                    <a:p>
                      <a:endParaRPr lang="en-US"/>
                    </a:p>
                  </a:txBody>
                  <a:tcPr/>
                </a:tc>
              </a:tr>
              <a:tr h="926287">
                <a:tc vMerge="1">
                  <a:txBody>
                    <a:bodyPr/>
                    <a:lstStyle/>
                    <a:p>
                      <a:endParaRPr lang="en-US"/>
                    </a:p>
                  </a:txBody>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vMerge="1">
                  <a:txBody>
                    <a:bodyPr/>
                    <a:lstStyle/>
                    <a:p>
                      <a:endParaRPr lang="en-US"/>
                    </a:p>
                  </a:txBody>
                  <a:tcPr/>
                </a:tc>
              </a:tr>
            </a:tbl>
          </a:graphicData>
        </a:graphic>
      </p:graphicFrame>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Flight III destroyers; Assumes $2.7B unit price based on OBBBA ($5.4B for 2x), CRS estimate ($2.7B apiece), and FY26 Shipbuilding and Conversion, Navy Justification Book Exhibit P-5c, Ship Cost Analysis ($5.5B for 2x in FY24, $7.86B for 3x in FY25); (2) Marauder priced at $42M / unit excluding launcher costs; (3) 4x SM-3 or SM-6 per MK-70, with 4x MK-70 per Marauder for total of 16x SM-3 or SM-6 per Marauder</a:t>
            </a:r>
            <a:r>
              <a:rPr lang="en-US" sz="800" kern="1200" dirty="0">
                <a:solidFill>
                  <a:srgbClr val="162029"/>
                </a:solidFill>
                <a:latin typeface="Arial"/>
                <a:ea typeface="Arial"/>
                <a:cs typeface="Arial"/>
              </a:rPr>
              <a:t> | </a:t>
            </a:r>
            <a:r>
              <a:rPr lang="en-US" sz="800" kern="1200" dirty="0">
                <a:solidFill>
                  <a:srgbClr val="162029"/>
                </a:solidFill>
                <a:latin typeface="Arial"/>
                <a:ea typeface="Arial"/>
                <a:cs typeface="Arial"/>
              </a:rPr>
              <a:t>Source: </a:t>
            </a:r>
            <a:r>
              <a:rPr lang="en-US" sz="800" kern="1200" dirty="0">
                <a:solidFill>
                  <a:srgbClr val="162029"/>
                </a:solidFill>
                <a:latin typeface="Arial"/>
                <a:ea typeface="Arial"/>
                <a:cs typeface="Arial"/>
                <a:hlinkClick r:id="rId5"/>
              </a:rPr>
              <a:t>Congressional Research Service</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hlinkClick r:id="rId6"/>
              </a:rPr>
              <a:t>OBBBA text</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rPr>
              <a:t>FY26 Budget Estimate</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hlinkClick r:id="rId7"/>
              </a:rPr>
              <a:t>Lockheed Martin MK 70 Product Card</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hlinkClick r:id="rId8"/>
              </a:rPr>
              <a:t>Lockheed Martin MK 41 Product Card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(co-located sensors and interceptors) | All Phase 1 vessels started by FY30, Phase 2 by FY31, and Phase 3 by FY32</a:t>
            </a:r>
          </a:p>
        </p:txBody>
      </p:sp>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04"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05"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06"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07"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08"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09"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0"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11"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12"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13"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14"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15"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16"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17" name="SourceChartValueLabel"/>
          <p:cNvSpPr txBox="1"/>
          <p:nvPr/>
        </p:nvSpPr>
        <p:spPr>
          <a:xfrm>
            <a:off x="5598871" y="435254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17</a:t>
            </a:r>
          </a:p>
        </p:txBody>
      </p:sp>
      <p:sp>
        <p:nvSpPr>
          <p:cNvPr id="118" name="SourceChartValueLabel"/>
          <p:cNvSpPr txBox="1"/>
          <p:nvPr/>
        </p:nvSpPr>
        <p:spPr>
          <a:xfrm>
            <a:off x="6698894" y="43132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19</a:t>
            </a:r>
          </a:p>
        </p:txBody>
      </p:sp>
      <p:sp>
        <p:nvSpPr>
          <p:cNvPr id="119" name="SourceChartValueLabel"/>
          <p:cNvSpPr txBox="1"/>
          <p:nvPr/>
        </p:nvSpPr>
        <p:spPr>
          <a:xfrm>
            <a:off x="7798918" y="379658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20" name="SourceChartValueLabel"/>
          <p:cNvSpPr txBox="1"/>
          <p:nvPr/>
        </p:nvSpPr>
        <p:spPr>
          <a:xfrm>
            <a:off x="5598871" y="383682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162029"/>
                </a:solidFill>
                <a:latin typeface="Arial"/>
                <a:ea typeface="Arial"/>
                <a:cs typeface="Arial"/>
              </a:rPr>
              <a:t>9</a:t>
            </a:r>
          </a:p>
        </p:txBody>
      </p:sp>
      <p:sp>
        <p:nvSpPr>
          <p:cNvPr id="121" name="SourceChartValueLabel"/>
          <p:cNvSpPr txBox="1"/>
          <p:nvPr/>
        </p:nvSpPr>
        <p:spPr>
          <a:xfrm>
            <a:off x="6698894" y="379750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7</a:t>
            </a:r>
          </a:p>
        </p:txBody>
      </p:sp>
      <p:sp>
        <p:nvSpPr>
          <p:cNvPr id="122" name="AnnualStartLabel"/>
          <p:cNvSpPr txBox="1"/>
          <p:nvPr/>
        </p:nvSpPr>
        <p:spPr>
          <a:xfrm>
            <a:off x="5597957"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3" name="AnnualStartLabel"/>
          <p:cNvSpPr txBox="1"/>
          <p:nvPr/>
        </p:nvSpPr>
        <p:spPr>
          <a:xfrm>
            <a:off x="6697980"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pic>
        <p:nvPicPr>
          <p:cNvPr id="124" name="NavyLogo"/>
          <p:cNvPicPr>
            <a:picLocks noChangeAspect="1"/>
          </p:cNvPicPr>
          <p:nvPr/>
        </p:nvPicPr>
        <p:blipFill>
          <a:blip r:embed="rId3"/>
          <a:stretch>
            <a:fillRect/>
          </a:stretch>
        </p:blipFill>
        <p:spPr>
          <a:xfrm>
            <a:off x="10452506" y="43891"/>
            <a:ext cx="843077" cy="843077"/>
          </a:xfrm>
          <a:prstGeom prst="rect">
            <a:avLst/>
          </a:prstGeom>
        </p:spPr>
      </p:pic>
      <p:pic>
        <p:nvPicPr>
          <p:cNvPr id="125" name="MissileDefenseAgencyLogo"/>
          <p:cNvPicPr>
            <a:picLocks noChangeAspect="1"/>
          </p:cNvPicPr>
          <p:nvPr/>
        </p:nvPicPr>
        <p:blipFill>
          <a:blip r:embed="rId4"/>
          <a:stretch>
            <a:fillRect/>
          </a:stretch>
        </p:blipFill>
        <p:spPr>
          <a:xfrm>
            <a:off x="11312957" y="43891"/>
            <a:ext cx="843077" cy="843077"/>
          </a:xfrm>
          <a:prstGeom prst="rect">
            <a:avLst/>
          </a:prstGeom>
        </p:spPr>
      </p:pic>
      <p:sp>
        <p:nvSpPr>
          <p:cNvPr id="126"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27"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28"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29" name="FranklinCapacityLegendMark"/>
          <p:cNvCxnSpPr/>
          <p:nvPr/>
        </p:nvCxnSpPr>
        <p:spPr>
          <a:xfrm>
            <a:off x="9691726" y="1722730"/>
            <a:ext cx="160020" cy="0"/>
          </a:xfrm>
          <a:prstGeom prst="line">
            <a:avLst/>
          </a:prstGeom>
          <a:ln w="19050">
            <a:solidFill>
              <a:srgbClr val="000000"/>
            </a:solidFill>
          </a:ln>
        </p:spPr>
      </p:cxnSp>
      <p:sp>
        <p:nvSpPr>
          <p:cNvPr id="130"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31"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32"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33"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34"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35"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36"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37"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3"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4"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48"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49"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0"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1"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52"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53"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54"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55"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56"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57"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
        <p:nvSpPr>
          <p:cNvPr id="158" name="RequirementMetCallout"/>
          <p:cNvSpPr txBox="1"/>
          <p:nvPr/>
        </p:nvSpPr>
        <p:spPr>
          <a:xfrm>
            <a:off x="8538667" y="2048256"/>
            <a:ext cx="3079699" cy="634594"/>
          </a:xfrm>
          <a:prstGeom prst="rect">
            <a:avLst/>
          </a:prstGeom>
          <a:noFill/>
          <a:ln w="12700">
            <a:solidFill>
              <a:srgbClr val="162029"/>
            </a:solidFill>
          </a:ln>
        </p:spPr>
        <p:txBody>
          <a:bodyPr wrap="square" anchor="t" lIns="91440" tIns="45720" rIns="91440" bIns="45720"/>
          <a:lstStyle/>
          <a:p>
            <a:pPr algn="ctr" marL="0" indent="0">
              <a:lnSpc>
                <a:spcPct val="100000"/>
              </a:lnSpc>
              <a:buNone/>
            </a:pPr>
            <a:r>
              <a:rPr lang="en-US" sz="1000" i="1" dirty="0">
                <a:solidFill>
                  <a:srgbClr val="000000"/>
                </a:solidFill>
                <a:latin typeface="Arial"/>
                <a:ea typeface="Arial"/>
                <a:cs typeface="Arial"/>
              </a:rPr>
              <a:t>Est. requirement of 120x MR met in FY32</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9966960" cy="640080"/>
          </a:xfrm>
        </p:spPr>
        <p:txBody>
          <a:bodyPr rIns="0"/>
          <a:lstStyle/>
          <a:p>
            <a:r>
              <a:rPr lang="en-US" sz="2000" kern="1200" dirty="0">
                <a:solidFill>
                  <a:srgbClr val="162029"/>
                </a:solidFill>
                <a:latin typeface="Arial"/>
                <a:ea typeface="Arial"/>
                <a:cs typeface="Arial"/>
              </a:rPr>
              <a:t>Production Outlook (separate platforms) | All Phase 1 vessels started by FY32, Phase 2 by FY33, and Phase 3 by FY35</a:t>
            </a:r>
          </a:p>
        </p:txBody>
      </p:sp>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04"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05"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06"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07"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08"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09"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0"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11"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12"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13"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14"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15"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16"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17" name="SourceChartValueLabel"/>
          <p:cNvSpPr txBox="1"/>
          <p:nvPr/>
        </p:nvSpPr>
        <p:spPr>
          <a:xfrm>
            <a:off x="5598871"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18" name="SourceChartValueLabel"/>
          <p:cNvSpPr txBox="1"/>
          <p:nvPr/>
        </p:nvSpPr>
        <p:spPr>
          <a:xfrm>
            <a:off x="6698894"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19" name="SourceChartValueLabel"/>
          <p:cNvSpPr txBox="1"/>
          <p:nvPr/>
        </p:nvSpPr>
        <p:spPr>
          <a:xfrm>
            <a:off x="7798918" y="427482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21</a:t>
            </a:r>
          </a:p>
        </p:txBody>
      </p:sp>
      <p:sp>
        <p:nvSpPr>
          <p:cNvPr id="120" name="SourceChartValueLabel"/>
          <p:cNvSpPr txBox="1"/>
          <p:nvPr/>
        </p:nvSpPr>
        <p:spPr>
          <a:xfrm>
            <a:off x="7798918" y="358079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21" name="SourceChartValueLabel"/>
          <p:cNvSpPr txBox="1"/>
          <p:nvPr/>
        </p:nvSpPr>
        <p:spPr>
          <a:xfrm>
            <a:off x="8898026" y="4532681"/>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8</a:t>
            </a:r>
          </a:p>
        </p:txBody>
      </p:sp>
      <p:sp>
        <p:nvSpPr>
          <p:cNvPr id="122" name="SourceChartValueLabel"/>
          <p:cNvSpPr txBox="1"/>
          <p:nvPr/>
        </p:nvSpPr>
        <p:spPr>
          <a:xfrm>
            <a:off x="8898026" y="3838651"/>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27</a:t>
            </a:r>
          </a:p>
        </p:txBody>
      </p:sp>
      <p:sp>
        <p:nvSpPr>
          <p:cNvPr id="123" name="SourceChartValueLabel"/>
          <p:cNvSpPr txBox="1"/>
          <p:nvPr/>
        </p:nvSpPr>
        <p:spPr>
          <a:xfrm>
            <a:off x="9999878"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24" name="SourceChartValueLabel"/>
          <p:cNvSpPr txBox="1"/>
          <p:nvPr/>
        </p:nvSpPr>
        <p:spPr>
          <a:xfrm>
            <a:off x="11099902"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25" name="AnnualStartLabel"/>
          <p:cNvSpPr txBox="1"/>
          <p:nvPr/>
        </p:nvSpPr>
        <p:spPr>
          <a:xfrm>
            <a:off x="7798003"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26" name="AnnualStartLabel"/>
          <p:cNvSpPr txBox="1"/>
          <p:nvPr/>
        </p:nvSpPr>
        <p:spPr>
          <a:xfrm>
            <a:off x="8898026"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pic>
        <p:nvPicPr>
          <p:cNvPr id="127" name="NavyLogo"/>
          <p:cNvPicPr>
            <a:picLocks noChangeAspect="1"/>
          </p:cNvPicPr>
          <p:nvPr/>
        </p:nvPicPr>
        <p:blipFill>
          <a:blip r:embed="rId3"/>
          <a:stretch>
            <a:fillRect/>
          </a:stretch>
        </p:blipFill>
        <p:spPr>
          <a:xfrm>
            <a:off x="10452506" y="43891"/>
            <a:ext cx="843077" cy="843077"/>
          </a:xfrm>
          <a:prstGeom prst="rect">
            <a:avLst/>
          </a:prstGeom>
        </p:spPr>
      </p:pic>
      <p:pic>
        <p:nvPicPr>
          <p:cNvPr id="128" name="MissileDefenseAgencyLogo"/>
          <p:cNvPicPr>
            <a:picLocks noChangeAspect="1"/>
          </p:cNvPicPr>
          <p:nvPr/>
        </p:nvPicPr>
        <p:blipFill>
          <a:blip r:embed="rId4"/>
          <a:stretch>
            <a:fillRect/>
          </a:stretch>
        </p:blipFill>
        <p:spPr>
          <a:xfrm>
            <a:off x="11312957" y="43891"/>
            <a:ext cx="843077" cy="843077"/>
          </a:xfrm>
          <a:prstGeom prst="rect">
            <a:avLst/>
          </a:prstGeom>
        </p:spPr>
      </p:pic>
      <p:sp>
        <p:nvSpPr>
          <p:cNvPr id="129"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0"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1"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2" name="FranklinCapacityLegendMark"/>
          <p:cNvCxnSpPr/>
          <p:nvPr/>
        </p:nvCxnSpPr>
        <p:spPr>
          <a:xfrm>
            <a:off x="9691726" y="1722730"/>
            <a:ext cx="160020" cy="0"/>
          </a:xfrm>
          <a:prstGeom prst="line">
            <a:avLst/>
          </a:prstGeom>
          <a:ln w="19050">
            <a:solidFill>
              <a:srgbClr val="000000"/>
            </a:solidFill>
          </a:ln>
        </p:spPr>
      </p:cxnSp>
      <p:sp>
        <p:nvSpPr>
          <p:cNvPr id="133"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34"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35"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36"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37"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38"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39"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0"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3"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4"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135</a:t>
            </a:r>
          </a:p>
        </p:txBody>
      </p:sp>
      <p:sp>
        <p:nvSpPr>
          <p:cNvPr id="151"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240</a:t>
            </a:r>
          </a:p>
        </p:txBody>
      </p:sp>
      <p:sp>
        <p:nvSpPr>
          <p:cNvPr id="152"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170</a:t>
            </a:r>
          </a:p>
        </p:txBody>
      </p:sp>
      <p:sp>
        <p:nvSpPr>
          <p:cNvPr id="153"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205</a:t>
            </a:r>
          </a:p>
        </p:txBody>
      </p:sp>
      <p:sp>
        <p:nvSpPr>
          <p:cNvPr id="154"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55"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56"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57"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58"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59"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0"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aronic Theme">
  <a:themeElements>
    <a:clrScheme name="Saronic">
      <a:dk1>
        <a:srgbClr val="162029"/>
      </a:dk1>
      <a:lt1>
        <a:srgbClr val="FFFFFF"/>
      </a:lt1>
      <a:dk2>
        <a:srgbClr val="44505C"/>
      </a:dk2>
      <a:lt2>
        <a:srgbClr val="F2F6FA"/>
      </a:lt2>
      <a:accent1>
        <a:srgbClr val="79838F"/>
      </a:accent1>
      <a:accent2>
        <a:srgbClr val="1D4D68"/>
      </a:accent2>
      <a:accent3>
        <a:srgbClr val="486D82"/>
      </a:accent3>
      <a:accent4>
        <a:srgbClr val="89A2B0"/>
      </a:accent4>
      <a:accent5>
        <a:srgbClr val="AFC2CC"/>
      </a:accent5>
      <a:accent6>
        <a:srgbClr val="D8E3EB"/>
      </a:accent6>
      <a:hlink>
        <a:srgbClr val="1D4D68"/>
      </a:hlink>
      <a:folHlink>
        <a:srgbClr val="89A2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7799b1f-9a79-4131-92f4-d7e1a1e8fbf9}" enabled="0" method="" siteId="{97799b1f-9a79-4131-92f4-d7e1a1e8fbf9}" removed="1"/>
</clbl:labelList>
</file>

<file path=docProps/app.xml><?xml version="1.0" encoding="utf-8"?>
<Properties xmlns="http://schemas.openxmlformats.org/officeDocument/2006/extended-properties" xmlns:vt="http://schemas.openxmlformats.org/officeDocument/2006/docPropsVTypes">
  <Application>library</Application>
  <PresentationFormat>Widescreen</PresentationFormat>
  <Slides>40</Slides>
  <Notes>0</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library</dc:title>
  <dc:creator>library build_deck.py</dc:creator>
  <cp:lastModifiedBy>library build_deck.py</cp:lastModifiedBy>
  <cp:revision>1</cp:revision>
  <dcterms:created xsi:type="dcterms:W3CDTF">2026-06-28T19:38:02Z</dcterms:created>
  <dcterms:modified xsi:type="dcterms:W3CDTF">2026-06-28T19:38:02Z</dcterms:modified>
</cp:coreProperties>
</file>