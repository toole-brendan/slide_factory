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Source bucket 1</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catAx>
        <c:axId val="333333333"/>
        <c:scaling>
          <c:orientation val="minMax"/>
        </c:scaling>
        <c:delete val="0"/>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PSV retirements</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Crew/Fast Supply retirements</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
          <c:y val="0.03"/>
          <c:w val="0.955"/>
          <c:h val="0.925"/>
        </c:manualLayout>
      </c:layout>
      <c:barChart>
        <c:barDir val="bar"/>
        <c:grouping val="cluster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95"/>
        <c:overlap val="0"/>
        <c:axId val="111111111"/>
        <c:axId val="222222222"/>
      </c:barChart>
      <c:catAx>
        <c:axId val="111111111"/>
        <c:scaling>
          <c:orientation val="maxMin"/>
        </c:scaling>
        <c:delete val="0"/>
        <c:axPos val="l"/>
        <c:numFmt formatCode="General" sourceLinked="1"/>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w="3175" cap="flat">
            <a:solidFill>
              <a:srgbClr val="FFFFFF"/>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25"/>
          <c:y val="0.015"/>
          <c:w val="0.95"/>
          <c:h val="0.93"/>
        </c:manualLayout>
      </c:layout>
      <c:barChart>
        <c:barDir val="col"/>
        <c:grouping val="stacked"/>
        <c:varyColors val="0"/>
        <c:ser>
          <c:idx val="0"/>
          <c:order val="0"/>
          <c:tx>
            <c:strRef>
              <c:f>Sheet1!$B$1</c:f>
              <c:strCache>
                <c:ptCount val="1"/>
                <c:pt idx="0">
                  <c:v>Addressable Commercial Orderbook / Retirements</c:v>
                </c:pt>
              </c:strCache>
            </c:strRef>
          </c:tx>
          <c:spPr>
            <a:solidFill>
              <a:srgbClr val="00777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Addressable Offshore Retirements</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Addressable Offshore Orderbook</c:v>
                </c:pt>
              </c:strCache>
            </c:strRef>
          </c:tx>
          <c:spPr>
            <a:solidFill>
              <a:srgbClr val="FFC000"/>
            </a:solidFill>
            <a:ln w="6350">
              <a:solidFill>
                <a:srgbClr val="FFFFFF"/>
              </a:solid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88"/>
        <c:overlap val="100"/>
        <c:axId val="111111111"/>
        <c:axId val="222222222"/>
      </c:barChart>
      <c:catAx>
        <c:axId val="111111111"/>
        <c:scaling>
          <c:orientation val="minMax"/>
        </c:scaling>
        <c:delete val="0"/>
        <c:axPos val="b"/>
        <c:numFmt formatCode="General" sourceLinked="1"/>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majorGridlines>
          <c:spPr>
            <a:ln w="3175" cap="flat">
              <a:solidFill>
                <a:srgbClr val="D9D9D9"/>
              </a:solidFill>
              <a:prstDash val="solid"/>
            </a:ln>
          </c:spPr>
        </c:majorGridlines>
        <c:numFmt formatCode="0" sourceLinked="0"/>
        <c:majorTickMark val="none"/>
        <c:minorTickMark val="none"/>
        <c:tickLblPos val="none"/>
        <c:spPr>
          <a:ln w="6350"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2000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prstDash val="dash"/>
            <a:tailEnd type="triangle" w="med" len="med"/>
          </a:ln>
        </p:spPr>
      </p:cxnSp>
      <p:cxnSp>
        <p:nvCxnSpPr>
          <p:cNvPr id="118" name="LegendLineRule"/>
          <p:cNvCxnSpPr/>
          <p:nvPr/>
        </p:nvCxnSpPr>
        <p:spPr>
          <a:xfrm>
            <a:off x="1000354" y="2460650"/>
            <a:ext cx="150876" cy="0"/>
          </a:xfrm>
          <a:prstGeom prst="line">
            <a:avLst/>
          </a:prstGeom>
          <a:ln w="28575">
            <a:solidFill>
              <a:srgbClr val="007770"/>
            </a:solidFill>
            <a:prstDash val="dash"/>
            <a:tailEnd type="triangle" w="med" len="med"/>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FRED (PCE)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3"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29"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0"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1"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2"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3"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4"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5"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6"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7"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8"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39"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0"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1"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2"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3"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4"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5"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graphicFrame>
        <p:nvGraphicFramePr>
          <p:cNvPr id="146"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47"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48"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0"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1"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53"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54"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55"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5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5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58" name="TakeawayBanner"/>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59"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cenarioChip"/>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sp>
        <p:nvSpPr>
          <p:cNvPr id="132"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sp>
        <p:nvSpPr>
          <p:cNvPr id="133"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4"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5"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36"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7" name="Connector: Elbow 137"/>
          <p:cNvCxnSpPr/>
          <p:nvPr/>
        </p:nvCxnSpPr>
        <p:spPr>
          <a:xfrm flipV="1">
            <a:off x="4760366" y="2509114"/>
            <a:ext cx="3237890" cy="261518"/>
          </a:xfrm>
          <a:prstGeom prst="bentConnector3">
            <a:avLst/>
          </a:prstGeom>
          <a:ln w="12700">
            <a:solidFill>
              <a:srgbClr val="000000"/>
            </a:solidFill>
            <a:tailEnd type="triangle" w="med" len="med"/>
          </a:ln>
        </p:spPr>
      </p:cxnSp>
      <p:cxnSp>
        <p:nvCxnSpPr>
          <p:cNvPr id="138" name="Straight Arrow Connector 147"/>
          <p:cNvCxnSpPr/>
          <p:nvPr/>
        </p:nvCxnSpPr>
        <p:spPr>
          <a:xfrm flipV="1">
            <a:off x="1747418" y="2393899"/>
            <a:ext cx="0" cy="230429"/>
          </a:xfrm>
          <a:prstGeom prst="line">
            <a:avLst/>
          </a:prstGeom>
          <a:ln w="12700">
            <a:solidFill>
              <a:srgbClr val="000000"/>
            </a:solidFill>
            <a:tailEnd type="triangle" w="med" len="med"/>
          </a:ln>
        </p:spPr>
      </p:cxnSp>
      <p:cxnSp>
        <p:nvCxnSpPr>
          <p:cNvPr id="139" name="Straight Arrow Connector 189"/>
          <p:cNvCxnSpPr/>
          <p:nvPr/>
        </p:nvCxnSpPr>
        <p:spPr>
          <a:xfrm flipV="1">
            <a:off x="5253228" y="5565953"/>
            <a:ext cx="0" cy="516636"/>
          </a:xfrm>
          <a:prstGeom prst="line">
            <a:avLst/>
          </a:prstGeom>
          <a:ln w="12700">
            <a:solidFill>
              <a:srgbClr val="000000"/>
            </a:solidFill>
            <a:tailEnd type="triangle" w="med" len="med"/>
          </a:ln>
        </p:spPr>
      </p:cxnSp>
      <p:cxnSp>
        <p:nvCxnSpPr>
          <p:cNvPr id="140"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1"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sp>
        <p:nvSpPr>
          <p:cNvPr id="142"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3" name="Connector: Elbow 204"/>
          <p:cNvCxnSpPr/>
          <p:nvPr/>
        </p:nvCxnSpPr>
        <p:spPr>
          <a:xfrm flipV="1">
            <a:off x="9908438" y="5565953"/>
            <a:ext cx="914400" cy="640080"/>
          </a:xfrm>
          <a:prstGeom prst="bentConnector2">
            <a:avLst/>
          </a:prstGeom>
          <a:ln w="12700">
            <a:solidFill>
              <a:srgbClr val="000000"/>
            </a:solidFill>
            <a:tailEnd type="triangle" w="med" len="med"/>
          </a:ln>
        </p:spPr>
      </p:cxn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Approach to find TCV | </a:t>
            </a:r>
            <a:r>
              <a:rPr lang="en" dirty="0">
                <a:solidFill>
                  <a:srgbClr val="000000"/>
                </a:solidFill>
              </a:rPr>
              <a:t>IAMD (OBBBA and SHIELD)</a:t>
            </a:r>
            <a:endParaRPr lang="en-US" dirty="0">
              <a:solidFill>
                <a:srgbClr val="000000"/>
              </a:solidFill>
            </a:endParaRP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dash"/>
            <a:tailEnd type="triangle" w="med" len="med"/>
          </a:ln>
        </p:spPr>
      </p:cxnSp>
      <p:cxnSp>
        <p:nvCxnSpPr>
          <p:cNvPr id="105" name="DashedExerciseArrow"/>
          <p:cNvCxnSpPr/>
          <p:nvPr/>
        </p:nvCxnSpPr>
        <p:spPr>
          <a:xfrm>
            <a:off x="2706624" y="3419856"/>
            <a:ext cx="563270" cy="0"/>
          </a:xfrm>
          <a:prstGeom prst="line">
            <a:avLst/>
          </a:prstGeom>
          <a:ln w="3175">
            <a:solidFill>
              <a:srgbClr val="162029"/>
            </a:solidFill>
            <a:prstDash val="dash"/>
            <a:tailEnd type="triangle" w="med" len="med"/>
          </a:ln>
        </p:spPr>
      </p:cxnSp>
      <p:cxnSp>
        <p:nvCxnSpPr>
          <p:cNvPr id="106" name="DashedExerciseArrow"/>
          <p:cNvCxnSpPr/>
          <p:nvPr/>
        </p:nvCxnSpPr>
        <p:spPr>
          <a:xfrm>
            <a:off x="3974897" y="3419856"/>
            <a:ext cx="563270" cy="0"/>
          </a:xfrm>
          <a:prstGeom prst="line">
            <a:avLst/>
          </a:prstGeom>
          <a:ln w="3175">
            <a:solidFill>
              <a:srgbClr val="162029"/>
            </a:solidFill>
            <a:prstDash val="dash"/>
            <a:tailEnd type="triangle" w="med" len="med"/>
          </a:ln>
        </p:spPr>
      </p:cxnSp>
      <p:cxnSp>
        <p:nvCxnSpPr>
          <p:cNvPr id="107" name="DashedExerciseArrow"/>
          <p:cNvCxnSpPr/>
          <p:nvPr/>
        </p:nvCxnSpPr>
        <p:spPr>
          <a:xfrm>
            <a:off x="5243170" y="3769157"/>
            <a:ext cx="563270" cy="0"/>
          </a:xfrm>
          <a:prstGeom prst="line">
            <a:avLst/>
          </a:prstGeom>
          <a:ln w="3175">
            <a:solidFill>
              <a:srgbClr val="162029"/>
            </a:solidFill>
            <a:prstDash val="dash"/>
            <a:tailEnd type="triangle" w="med" len="med"/>
          </a:ln>
        </p:spPr>
      </p:cxnSp>
      <p:cxnSp>
        <p:nvCxnSpPr>
          <p:cNvPr id="108" name="DashedExerciseArrow"/>
          <p:cNvCxnSpPr/>
          <p:nvPr/>
        </p:nvCxnSpPr>
        <p:spPr>
          <a:xfrm>
            <a:off x="6512357" y="4013302"/>
            <a:ext cx="56235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0000"/>
                          </a:solidFill>
                          <a:latin typeface="Arial"/>
                          <a:ea typeface="Arial"/>
                          <a:cs typeface="Arial"/>
                        </a:rPr>
                        <a:t>Table Stakes</a:t>
                      </a:r>
                    </a:p>
                  </a:txBody>
                  <a:tcPr marL="45720" marR="45720" marT="45720" marB="45720" anchor="ctr">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ctr"/>
                    <a:lstStyle/>
                    <a:p>
                      <a:pPr algn="l" marL="0" indent="0">
                        <a:lnSpc>
                          <a:spcPct val="100000"/>
                        </a:lnSpc>
                      </a:pPr>
                      <a:r>
                        <a:rPr lang="en-US" sz="1200" dirty="0">
                          <a:solidFill>
                            <a:srgbClr val="007770"/>
                          </a:solidFill>
                          <a:latin typeface="Arial"/>
                          <a:ea typeface="Arial"/>
                          <a:cs typeface="Arial"/>
                        </a:rPr>
                        <a:t>Addressable</a:t>
                      </a:r>
                    </a:p>
                    <a:p>
                      <a:pPr algn="l" marL="0" indent="0">
                        <a:lnSpc>
                          <a:spcPct val="100000"/>
                        </a:lnSpc>
                      </a:pPr>
                      <a:r>
                        <a:rPr lang="en-US" sz="1200" dirty="0">
                          <a:solidFill>
                            <a:srgbClr val="007770"/>
                          </a:solidFill>
                          <a:latin typeface="Arial"/>
                          <a:ea typeface="Arial"/>
                          <a:cs typeface="Arial"/>
                        </a:rPr>
                        <a:t>Commercial</a:t>
                      </a:r>
                    </a:p>
                  </a:txBody>
                  <a:tcPr marL="45720" marR="45720" marT="45720" marB="45720" anchor="ctr">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ctr"/>
                    <a:lstStyle/>
                    <a:p>
                      <a:pPr algn="l" marL="0" indent="0">
                        <a:lnSpc>
                          <a:spcPct val="100000"/>
                        </a:lnSpc>
                      </a:pPr>
                      <a:r>
                        <a:rPr lang="en-US" sz="1200" dirty="0">
                          <a:solidFill>
                            <a:srgbClr val="FFC000"/>
                          </a:solidFill>
                          <a:latin typeface="Arial"/>
                          <a:ea typeface="Arial"/>
                          <a:cs typeface="Arial"/>
                        </a:rPr>
                        <a:t>Addressable Offshore</a:t>
                      </a:r>
                    </a:p>
                  </a:txBody>
                  <a:tcPr marL="45720" marR="45720" marT="45720" marB="45720" anchor="ctr">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ctr"/>
                    <a:lstStyle/>
                    <a:p>
                      <a:pPr algn="l" marL="0" indent="0">
                        <a:lnSpc>
                          <a:spcPct val="100000"/>
                        </a:lnSpc>
                      </a:pPr>
                      <a:r>
                        <a:rPr lang="en-US" sz="1200" dirty="0">
                          <a:solidFill>
                            <a:srgbClr val="969696"/>
                          </a:solidFill>
                          <a:latin typeface="Arial"/>
                          <a:ea typeface="Arial"/>
                          <a:cs typeface="Arial"/>
                        </a:rPr>
                        <a:t>Non-Addressable</a:t>
                      </a:r>
                    </a:p>
                  </a:txBody>
                  <a:tcPr marL="45720" marR="45720" marT="45720" marB="45720" anchor="ctr">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ctr"/>
                    <a:lstStyle/>
                    <a:p>
                      <a:pPr algn="l">
                        <a:lnSpc>
                          <a:spcPct val="100000"/>
                        </a:lnSpc>
                      </a:pPr>
                      <a:r>
                        <a:rPr lang="en-US" sz="1200" dirty="0">
                          <a:solidFill>
                            <a:srgbClr val="000000"/>
                          </a:solidFill>
                          <a:latin typeface="Arial"/>
                          <a:ea typeface="Arial"/>
                          <a:cs typeface="Arial"/>
                        </a:rPr>
                        <a:t>Criteria</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ctr"/>
                    <a:lstStyle/>
                    <a:p>
                      <a:pPr algn="l">
                        <a:lnSpc>
                          <a:spcPct val="100000"/>
                        </a:lnSpc>
                      </a:pPr>
                      <a:r>
                        <a:rPr lang="en-US" sz="1200" dirty="0">
                          <a:solidFill>
                            <a:srgbClr val="000000"/>
                          </a:solidFill>
                          <a:latin typeface="Arial"/>
                          <a:ea typeface="Arial"/>
                          <a:cs typeface="Arial"/>
                        </a:rPr>
                        <a:t>Inclusion / Exclusion Rationale</a:t>
                      </a:r>
                    </a:p>
                  </a:txBody>
                  <a:tcPr marL="45720" marR="45720" marT="45720" marB="45720" anchor="ctr">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ValueFlowPanel:cargo_moved_by_archetypes"/>
          <p:cNvSpPr txBox="1"/>
          <p:nvPr/>
        </p:nvSpPr>
        <p:spPr>
          <a:xfrm>
            <a:off x="4524451" y="3161081"/>
            <a:ext cx="7277710" cy="1691640"/>
          </a:xfrm>
          <a:prstGeom prst="rect">
            <a:avLst/>
          </a:prstGeom>
          <a:solidFill>
            <a:srgbClr val="F2F2F2"/>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ctr"/>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ctr"/>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ctr">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ctr"/>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2000" name="Title 3"/>
          <p:cNvSpPr>
            <a:spLocks noGrp="1"/>
          </p:cNvSpPr>
          <p:nvPr>
            <p:ph type="title"/>
          </p:nvPr>
        </p:nvSpPr>
        <p:spPr/>
        <p:txBody>
          <a:bodyPr vert="horz"/>
          <a:lstStyle/>
          <a:p>
            <a:pPr marL="0"/>
            <a:r>
              <a:rPr lang="en-US" dirty="0">
                <a:solidFill>
                  <a:srgbClr val="000000"/>
                </a:solidFill>
              </a:rPr>
              <a:t>Definitions | Sizing breaks the market down into five levels </a:t>
            </a:r>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ctr">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ctr"/>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that could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ctr"/>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missions performed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ctr"/>
                    <a:lstStyle/>
                    <a:p>
                      <a:pPr algn="l">
                        <a:lnSpc>
                          <a:spcPct val="100000"/>
                        </a:lnSpc>
                      </a:pPr>
                      <a:r>
                        <a:rPr lang="en-US" sz="1400" dirty="0">
                          <a:solidFill>
                            <a:srgbClr val="000000"/>
                          </a:solidFill>
                          <a:latin typeface="Arial"/>
                          <a:ea typeface="Arial"/>
                          <a:cs typeface="Arial"/>
                        </a:rPr>
                        <a:t>Funding for Saronic unmanned platforms (i.e., market share)</a:t>
                      </a:r>
                    </a:p>
                    <a:p>
                      <a:pPr algn="l">
                        <a:lnSpc>
                          <a:spcPct val="100000"/>
                        </a:lnSpc>
                      </a:pPr>
                      <a:endParaRPr lang="en-US"/>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ctr">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ctr"/>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ctr">
                    <a:lnL>
                      <a:noFill/>
                    </a:lnL>
                    <a:lnR>
                      <a:noFill/>
                    </a:lnR>
                    <a:lnT w="6350" cap="flat" cmpd="sng" algn="ctr">
                      <a:solidFill>
                        <a:srgbClr val="162029"/>
                      </a:solidFill>
                      <a:prstDash val="solid"/>
                    </a:lnT>
                    <a:lnB>
                      <a:noFill/>
                    </a:lnB>
                    <a:noFill/>
                  </a:tcPr>
                </a:tc>
                <a:tc>
                  <a:txBody>
                    <a:bodyPr anchor="ctr"/>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ctr">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ctr"/>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ctr"/>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ctr">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ctr"/>
                    <a:lstStyle/>
                    <a:p>
                      <a:pPr algn="r">
                        <a:lnSpc>
                          <a:spcPct val="100000"/>
                        </a:lnSpc>
                      </a:pPr>
                      <a:r>
                        <a:rPr lang="en-US" sz="1000" i="1" dirty="0">
                          <a:solidFill>
                            <a:srgbClr val="000000"/>
                          </a:solidFill>
                          <a:latin typeface="Arial"/>
                          <a:ea typeface="Arial"/>
                          <a:cs typeface="Arial"/>
                        </a:rPr>
                        <a:t>Market:</a:t>
                      </a:r>
                    </a:p>
                  </a:txBody>
                  <a:tcPr marL="45720" marR="45720" marT="45720" marB="45720" anchor="ctr">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ctr"/>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ctr">
                    <a:lnL>
                      <a:noFill/>
                    </a:lnL>
                    <a:lnR>
                      <a:noFill/>
                    </a:lnR>
                    <a:lnT w="6350" cap="flat" cmpd="sng" algn="ctr">
                      <a:solidFill>
                        <a:srgbClr val="808080"/>
                      </a:solidFill>
                      <a:prstDash val="solid"/>
                    </a:lnT>
                    <a:lnB>
                      <a:noFill/>
                    </a:lnB>
                    <a:noFill/>
                  </a:tcPr>
                </a:tc>
                <a:tc rowSpan="3">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ctr">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100" name="Rectangle 1964"/>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Straight Connector 2230"/>
          <p:cNvCxnSpPr/>
          <p:nvPr/>
        </p:nvCxnSpPr>
        <p:spPr>
          <a:xfrm>
            <a:off x="858622" y="1848002"/>
            <a:ext cx="10819181" cy="0"/>
          </a:xfrm>
          <a:prstGeom prst="line">
            <a:avLst/>
          </a:prstGeom>
          <a:ln w="9525">
            <a:solidFill>
              <a:srgbClr val="162029"/>
            </a:solidFill>
            <a:prstDash val="dash"/>
            <a:tailEnd type="triangle" w="med" len="med"/>
          </a:ln>
        </p:spPr>
      </p:cxnSp>
      <p:cxnSp>
        <p:nvCxnSpPr>
          <p:cNvPr id="107" name="Straight Connector 2205"/>
          <p:cNvCxnSpPr/>
          <p:nvPr/>
        </p:nvCxnSpPr>
        <p:spPr>
          <a:xfrm>
            <a:off x="858622" y="2790749"/>
            <a:ext cx="10819181" cy="0"/>
          </a:xfrm>
          <a:prstGeom prst="line">
            <a:avLst/>
          </a:prstGeom>
          <a:ln w="9525">
            <a:solidFill>
              <a:srgbClr val="162029"/>
            </a:solidFill>
            <a:prstDash val="dash"/>
            <a:tailEnd type="triangle" w="med" len="med"/>
          </a:ln>
        </p:spPr>
      </p:cxnSp>
      <p:cxnSp>
        <p:nvCxnSpPr>
          <p:cNvPr id="108" name="Straight Connector 2180"/>
          <p:cNvCxnSpPr/>
          <p:nvPr/>
        </p:nvCxnSpPr>
        <p:spPr>
          <a:xfrm>
            <a:off x="858622" y="3733495"/>
            <a:ext cx="936346" cy="0"/>
          </a:xfrm>
          <a:prstGeom prst="line">
            <a:avLst/>
          </a:prstGeom>
          <a:ln w="9525">
            <a:solidFill>
              <a:srgbClr val="162029"/>
            </a:solidFill>
            <a:prstDash val="dash"/>
            <a:tailEnd type="triangle" w="med" len="med"/>
          </a:ln>
        </p:spPr>
      </p:cxnSp>
      <p:cxnSp>
        <p:nvCxnSpPr>
          <p:cNvPr id="109" name="Straight Connector 2484"/>
          <p:cNvCxnSpPr/>
          <p:nvPr/>
        </p:nvCxnSpPr>
        <p:spPr>
          <a:xfrm>
            <a:off x="2084832" y="3733495"/>
            <a:ext cx="4821631" cy="0"/>
          </a:xfrm>
          <a:prstGeom prst="line">
            <a:avLst/>
          </a:prstGeom>
          <a:ln w="9525">
            <a:solidFill>
              <a:srgbClr val="162029"/>
            </a:solidFill>
            <a:prstDash val="dash"/>
            <a:tailEnd type="triangle" w="med" len="med"/>
          </a:ln>
        </p:spPr>
      </p:cxnSp>
      <p:cxnSp>
        <p:nvCxnSpPr>
          <p:cNvPr id="110" name="Straight Connector 2485"/>
          <p:cNvCxnSpPr/>
          <p:nvPr/>
        </p:nvCxnSpPr>
        <p:spPr>
          <a:xfrm>
            <a:off x="7071055" y="3733495"/>
            <a:ext cx="4606747" cy="0"/>
          </a:xfrm>
          <a:prstGeom prst="line">
            <a:avLst/>
          </a:prstGeom>
          <a:ln w="9525">
            <a:solidFill>
              <a:srgbClr val="162029"/>
            </a:solidFill>
            <a:prstDash val="dash"/>
            <a:tailEnd type="triangle" w="med" len="med"/>
          </a:ln>
        </p:spPr>
      </p:cxnSp>
      <p:cxnSp>
        <p:nvCxnSpPr>
          <p:cNvPr id="111" name="Straight Connector 384"/>
          <p:cNvCxnSpPr/>
          <p:nvPr/>
        </p:nvCxnSpPr>
        <p:spPr>
          <a:xfrm>
            <a:off x="858622" y="4677156"/>
            <a:ext cx="936346" cy="0"/>
          </a:xfrm>
          <a:prstGeom prst="line">
            <a:avLst/>
          </a:prstGeom>
          <a:ln w="9525">
            <a:solidFill>
              <a:srgbClr val="162029"/>
            </a:solidFill>
            <a:prstDash val="dash"/>
            <a:tailEnd type="triangle" w="med" len="med"/>
          </a:ln>
        </p:spPr>
      </p:cxnSp>
      <p:cxnSp>
        <p:nvCxnSpPr>
          <p:cNvPr id="112" name="Straight Connector 2529"/>
          <p:cNvCxnSpPr/>
          <p:nvPr/>
        </p:nvCxnSpPr>
        <p:spPr>
          <a:xfrm>
            <a:off x="2084832" y="4677156"/>
            <a:ext cx="4821631" cy="0"/>
          </a:xfrm>
          <a:prstGeom prst="line">
            <a:avLst/>
          </a:prstGeom>
          <a:ln w="9525">
            <a:solidFill>
              <a:srgbClr val="162029"/>
            </a:solidFill>
            <a:prstDash val="dash"/>
            <a:tailEnd type="triangle" w="med" len="med"/>
          </a:ln>
        </p:spPr>
      </p:cxnSp>
      <p:cxnSp>
        <p:nvCxnSpPr>
          <p:cNvPr id="113" name="Straight Connector 2530"/>
          <p:cNvCxnSpPr/>
          <p:nvPr/>
        </p:nvCxnSpPr>
        <p:spPr>
          <a:xfrm>
            <a:off x="7071055" y="4677156"/>
            <a:ext cx="4606747" cy="0"/>
          </a:xfrm>
          <a:prstGeom prst="line">
            <a:avLst/>
          </a:prstGeom>
          <a:ln w="9525">
            <a:solidFill>
              <a:srgbClr val="162029"/>
            </a:solidFill>
            <a:prstDash val="dash"/>
            <a:tailEnd type="triangle" w="med" len="med"/>
          </a:ln>
        </p:spPr>
      </p:cxnSp>
      <p:cxnSp>
        <p:nvCxnSpPr>
          <p:cNvPr id="114" name="Straight Connector 2528"/>
          <p:cNvCxnSpPr/>
          <p:nvPr/>
        </p:nvCxnSpPr>
        <p:spPr>
          <a:xfrm>
            <a:off x="1940357" y="4759452"/>
            <a:ext cx="0" cy="2743"/>
          </a:xfrm>
          <a:prstGeom prst="line">
            <a:avLst/>
          </a:prstGeom>
          <a:ln w="6350">
            <a:solidFill>
              <a:srgbClr val="44505C"/>
            </a:solidFill>
            <a:prstDash val="dash"/>
            <a:tailEnd type="triangle" w="med" len="med"/>
          </a:ln>
        </p:spPr>
      </p:cxnSp>
      <p:cxnSp>
        <p:nvCxnSpPr>
          <p:cNvPr id="115" name="Straight Connector 2020"/>
          <p:cNvCxnSpPr/>
          <p:nvPr/>
        </p:nvCxnSpPr>
        <p:spPr>
          <a:xfrm>
            <a:off x="858622" y="5619902"/>
            <a:ext cx="10819181" cy="0"/>
          </a:xfrm>
          <a:prstGeom prst="line">
            <a:avLst/>
          </a:prstGeom>
          <a:ln w="9525">
            <a:solidFill>
              <a:srgbClr val="162029"/>
            </a:solidFill>
            <a:prstDash val="dash"/>
            <a:tailEnd type="triangle" w="med" len="med"/>
          </a:ln>
        </p:spPr>
      </p:cxnSp>
      <p:cxnSp>
        <p:nvCxnSpPr>
          <p:cNvPr id="116" name="EBIT margin dash marker"/>
          <p:cNvCxnSpPr/>
          <p:nvPr/>
        </p:nvCxnSpPr>
        <p:spPr>
          <a:xfrm>
            <a:off x="1164649" y="5583227"/>
            <a:ext cx="109728" cy="0"/>
          </a:xfrm>
          <a:prstGeom prst="line">
            <a:avLst/>
          </a:prstGeom>
          <a:ln w="9525">
            <a:solidFill>
              <a:srgbClr val="FFC000"/>
            </a:solidFill>
          </a:ln>
        </p:spPr>
      </p:cxnSp>
      <p:cxnSp>
        <p:nvCxnSpPr>
          <p:cNvPr id="117" name="EBIT margin dash marker"/>
          <p:cNvCxnSpPr/>
          <p:nvPr/>
        </p:nvCxnSpPr>
        <p:spPr>
          <a:xfrm>
            <a:off x="1885920" y="5607795"/>
            <a:ext cx="109728" cy="0"/>
          </a:xfrm>
          <a:prstGeom prst="line">
            <a:avLst/>
          </a:prstGeom>
          <a:ln w="9525">
            <a:solidFill>
              <a:srgbClr val="FFC000"/>
            </a:solidFill>
          </a:ln>
        </p:spPr>
      </p:cxnSp>
      <p:cxnSp>
        <p:nvCxnSpPr>
          <p:cNvPr id="118" name="EBIT margin dash marker"/>
          <p:cNvCxnSpPr/>
          <p:nvPr/>
        </p:nvCxnSpPr>
        <p:spPr>
          <a:xfrm>
            <a:off x="2607192" y="5606157"/>
            <a:ext cx="109728" cy="0"/>
          </a:xfrm>
          <a:prstGeom prst="line">
            <a:avLst/>
          </a:prstGeom>
          <a:ln w="9525">
            <a:solidFill>
              <a:srgbClr val="FFC000"/>
            </a:solidFill>
          </a:ln>
        </p:spPr>
      </p:cxnSp>
      <p:cxnSp>
        <p:nvCxnSpPr>
          <p:cNvPr id="119" name="EBIT margin dash marker"/>
          <p:cNvCxnSpPr/>
          <p:nvPr/>
        </p:nvCxnSpPr>
        <p:spPr>
          <a:xfrm>
            <a:off x="4049734" y="5662388"/>
            <a:ext cx="109728" cy="0"/>
          </a:xfrm>
          <a:prstGeom prst="line">
            <a:avLst/>
          </a:prstGeom>
          <a:ln w="9525">
            <a:solidFill>
              <a:srgbClr val="FFC000"/>
            </a:solidFill>
          </a:ln>
        </p:spPr>
      </p:cxnSp>
      <p:cxnSp>
        <p:nvCxnSpPr>
          <p:cNvPr id="120" name="EBIT margin dash marker"/>
          <p:cNvCxnSpPr/>
          <p:nvPr/>
        </p:nvCxnSpPr>
        <p:spPr>
          <a:xfrm>
            <a:off x="4771005" y="5547741"/>
            <a:ext cx="109728" cy="0"/>
          </a:xfrm>
          <a:prstGeom prst="line">
            <a:avLst/>
          </a:prstGeom>
          <a:ln w="9525">
            <a:solidFill>
              <a:srgbClr val="FFC000"/>
            </a:solidFill>
          </a:ln>
        </p:spPr>
      </p:cxnSp>
      <p:cxnSp>
        <p:nvCxnSpPr>
          <p:cNvPr id="121" name="EBIT margin dash marker"/>
          <p:cNvCxnSpPr/>
          <p:nvPr/>
        </p:nvCxnSpPr>
        <p:spPr>
          <a:xfrm>
            <a:off x="5492277" y="5519898"/>
            <a:ext cx="109728" cy="0"/>
          </a:xfrm>
          <a:prstGeom prst="line">
            <a:avLst/>
          </a:prstGeom>
          <a:ln w="9525">
            <a:solidFill>
              <a:srgbClr val="FFC000"/>
            </a:solidFill>
          </a:ln>
        </p:spPr>
      </p:cxnSp>
      <p:cxnSp>
        <p:nvCxnSpPr>
          <p:cNvPr id="122" name="EBIT margin dash marker"/>
          <p:cNvCxnSpPr/>
          <p:nvPr/>
        </p:nvCxnSpPr>
        <p:spPr>
          <a:xfrm>
            <a:off x="6213548" y="5563573"/>
            <a:ext cx="109728" cy="0"/>
          </a:xfrm>
          <a:prstGeom prst="line">
            <a:avLst/>
          </a:prstGeom>
          <a:ln w="9525">
            <a:solidFill>
              <a:srgbClr val="FFC000"/>
            </a:solidFill>
          </a:ln>
        </p:spPr>
      </p:cxnSp>
      <p:cxnSp>
        <p:nvCxnSpPr>
          <p:cNvPr id="123" name="EBIT margin dash marker"/>
          <p:cNvCxnSpPr/>
          <p:nvPr/>
        </p:nvCxnSpPr>
        <p:spPr>
          <a:xfrm>
            <a:off x="6934819" y="5559752"/>
            <a:ext cx="109728" cy="0"/>
          </a:xfrm>
          <a:prstGeom prst="line">
            <a:avLst/>
          </a:prstGeom>
          <a:ln w="9525">
            <a:solidFill>
              <a:srgbClr val="FFC000"/>
            </a:solidFill>
          </a:ln>
        </p:spPr>
      </p:cxnSp>
      <p:cxnSp>
        <p:nvCxnSpPr>
          <p:cNvPr id="124" name="EBIT margin dash marker"/>
          <p:cNvCxnSpPr/>
          <p:nvPr/>
        </p:nvCxnSpPr>
        <p:spPr>
          <a:xfrm>
            <a:off x="7656090" y="5383960"/>
            <a:ext cx="109728" cy="0"/>
          </a:xfrm>
          <a:prstGeom prst="line">
            <a:avLst/>
          </a:prstGeom>
          <a:ln w="9525">
            <a:solidFill>
              <a:srgbClr val="FFC000"/>
            </a:solidFill>
          </a:ln>
        </p:spPr>
      </p:cxnSp>
      <p:cxnSp>
        <p:nvCxnSpPr>
          <p:cNvPr id="125" name="EBIT margin dash marker"/>
          <p:cNvCxnSpPr/>
          <p:nvPr/>
        </p:nvCxnSpPr>
        <p:spPr>
          <a:xfrm>
            <a:off x="8377362" y="5548287"/>
            <a:ext cx="109728" cy="0"/>
          </a:xfrm>
          <a:prstGeom prst="line">
            <a:avLst/>
          </a:prstGeom>
          <a:ln w="9525">
            <a:solidFill>
              <a:srgbClr val="FFC000"/>
            </a:solidFill>
          </a:ln>
        </p:spPr>
      </p:cxnSp>
      <p:cxnSp>
        <p:nvCxnSpPr>
          <p:cNvPr id="126" name="EBIT margin dash marker"/>
          <p:cNvCxnSpPr/>
          <p:nvPr/>
        </p:nvCxnSpPr>
        <p:spPr>
          <a:xfrm>
            <a:off x="9098633" y="5388327"/>
            <a:ext cx="109728" cy="0"/>
          </a:xfrm>
          <a:prstGeom prst="line">
            <a:avLst/>
          </a:prstGeom>
          <a:ln w="9525">
            <a:solidFill>
              <a:srgbClr val="FFC000"/>
            </a:solidFill>
          </a:ln>
        </p:spPr>
      </p:cxnSp>
      <p:cxnSp>
        <p:nvCxnSpPr>
          <p:cNvPr id="127" name="EBIT margin dash marker"/>
          <p:cNvCxnSpPr/>
          <p:nvPr/>
        </p:nvCxnSpPr>
        <p:spPr>
          <a:xfrm>
            <a:off x="9819904" y="5446743"/>
            <a:ext cx="109728" cy="0"/>
          </a:xfrm>
          <a:prstGeom prst="line">
            <a:avLst/>
          </a:prstGeom>
          <a:ln w="9525">
            <a:solidFill>
              <a:srgbClr val="FFC000"/>
            </a:solidFill>
          </a:ln>
        </p:spPr>
      </p:cxnSp>
      <p:cxnSp>
        <p:nvCxnSpPr>
          <p:cNvPr id="128" name="EBIT margin dash marker"/>
          <p:cNvCxnSpPr/>
          <p:nvPr/>
        </p:nvCxnSpPr>
        <p:spPr>
          <a:xfrm>
            <a:off x="10541175" y="5440737"/>
            <a:ext cx="109728" cy="0"/>
          </a:xfrm>
          <a:prstGeom prst="line">
            <a:avLst/>
          </a:prstGeom>
          <a:ln w="9525">
            <a:solidFill>
              <a:srgbClr val="FFC000"/>
            </a:solidFill>
          </a:ln>
        </p:spPr>
      </p:cxnSp>
      <p:cxnSp>
        <p:nvCxnSpPr>
          <p:cNvPr id="129" name="EBIT margin dash marker"/>
          <p:cNvCxnSpPr/>
          <p:nvPr/>
        </p:nvCxnSpPr>
        <p:spPr>
          <a:xfrm>
            <a:off x="11262447" y="5385052"/>
            <a:ext cx="109728" cy="0"/>
          </a:xfrm>
          <a:prstGeom prst="line">
            <a:avLst/>
          </a:prstGeom>
          <a:ln w="9525">
            <a:solidFill>
              <a:srgbClr val="FFC000"/>
            </a:solidFill>
          </a:ln>
        </p:spPr>
      </p:cxnSp>
      <p:cxnSp>
        <p:nvCxnSpPr>
          <p:cNvPr id="130" name="EBIT margin dash marker"/>
          <p:cNvCxnSpPr/>
          <p:nvPr/>
        </p:nvCxnSpPr>
        <p:spPr>
          <a:xfrm>
            <a:off x="1164649" y="4633561"/>
            <a:ext cx="109728" cy="0"/>
          </a:xfrm>
          <a:prstGeom prst="line">
            <a:avLst/>
          </a:prstGeom>
          <a:ln w="9525">
            <a:solidFill>
              <a:srgbClr val="FFC000"/>
            </a:solidFill>
          </a:ln>
        </p:spPr>
      </p:cxnSp>
      <p:cxnSp>
        <p:nvCxnSpPr>
          <p:cNvPr id="131" name="EBIT margin dash marker"/>
          <p:cNvCxnSpPr/>
          <p:nvPr/>
        </p:nvCxnSpPr>
        <p:spPr>
          <a:xfrm>
            <a:off x="1885920" y="4889060"/>
            <a:ext cx="109728" cy="0"/>
          </a:xfrm>
          <a:prstGeom prst="line">
            <a:avLst/>
          </a:prstGeom>
          <a:ln w="9525">
            <a:solidFill>
              <a:srgbClr val="FFC000"/>
            </a:solidFill>
          </a:ln>
        </p:spPr>
      </p:cxnSp>
      <p:cxnSp>
        <p:nvCxnSpPr>
          <p:cNvPr id="132" name="EBIT margin dash marker"/>
          <p:cNvCxnSpPr/>
          <p:nvPr/>
        </p:nvCxnSpPr>
        <p:spPr>
          <a:xfrm>
            <a:off x="2607192" y="4653215"/>
            <a:ext cx="109728" cy="0"/>
          </a:xfrm>
          <a:prstGeom prst="line">
            <a:avLst/>
          </a:prstGeom>
          <a:ln w="9525">
            <a:solidFill>
              <a:srgbClr val="FFC000"/>
            </a:solidFill>
          </a:ln>
        </p:spPr>
      </p:cxnSp>
      <p:cxnSp>
        <p:nvCxnSpPr>
          <p:cNvPr id="133" name="EBIT margin dash marker"/>
          <p:cNvCxnSpPr/>
          <p:nvPr/>
        </p:nvCxnSpPr>
        <p:spPr>
          <a:xfrm>
            <a:off x="4049734" y="4692523"/>
            <a:ext cx="109728" cy="0"/>
          </a:xfrm>
          <a:prstGeom prst="line">
            <a:avLst/>
          </a:prstGeom>
          <a:ln w="9525">
            <a:solidFill>
              <a:srgbClr val="FFC000"/>
            </a:solidFill>
          </a:ln>
        </p:spPr>
      </p:cxnSp>
      <p:cxnSp>
        <p:nvCxnSpPr>
          <p:cNvPr id="134" name="EBIT margin dash marker"/>
          <p:cNvCxnSpPr/>
          <p:nvPr/>
        </p:nvCxnSpPr>
        <p:spPr>
          <a:xfrm>
            <a:off x="4771005" y="4477969"/>
            <a:ext cx="109728" cy="0"/>
          </a:xfrm>
          <a:prstGeom prst="line">
            <a:avLst/>
          </a:prstGeom>
          <a:ln w="9525">
            <a:solidFill>
              <a:srgbClr val="FFC000"/>
            </a:solidFill>
          </a:ln>
        </p:spPr>
      </p:cxnSp>
      <p:cxnSp>
        <p:nvCxnSpPr>
          <p:cNvPr id="135" name="EBIT margin dash marker"/>
          <p:cNvCxnSpPr/>
          <p:nvPr/>
        </p:nvCxnSpPr>
        <p:spPr>
          <a:xfrm>
            <a:off x="5492277" y="4380246"/>
            <a:ext cx="109728" cy="0"/>
          </a:xfrm>
          <a:prstGeom prst="line">
            <a:avLst/>
          </a:prstGeom>
          <a:ln w="9525">
            <a:solidFill>
              <a:srgbClr val="FFC000"/>
            </a:solidFill>
          </a:ln>
        </p:spPr>
      </p:cxnSp>
      <p:cxnSp>
        <p:nvCxnSpPr>
          <p:cNvPr id="136" name="EBIT margin dash marker"/>
          <p:cNvCxnSpPr/>
          <p:nvPr/>
        </p:nvCxnSpPr>
        <p:spPr>
          <a:xfrm>
            <a:off x="6213548" y="4445758"/>
            <a:ext cx="109728" cy="0"/>
          </a:xfrm>
          <a:prstGeom prst="line">
            <a:avLst/>
          </a:prstGeom>
          <a:ln w="9525">
            <a:solidFill>
              <a:srgbClr val="FFC000"/>
            </a:solidFill>
          </a:ln>
        </p:spPr>
      </p:cxnSp>
      <p:cxnSp>
        <p:nvCxnSpPr>
          <p:cNvPr id="137" name="EBIT margin dash marker"/>
          <p:cNvCxnSpPr/>
          <p:nvPr/>
        </p:nvCxnSpPr>
        <p:spPr>
          <a:xfrm>
            <a:off x="6934819" y="4473055"/>
            <a:ext cx="109728" cy="0"/>
          </a:xfrm>
          <a:prstGeom prst="line">
            <a:avLst/>
          </a:prstGeom>
          <a:ln w="9525">
            <a:solidFill>
              <a:srgbClr val="FFC000"/>
            </a:solidFill>
          </a:ln>
        </p:spPr>
      </p:cxnSp>
      <p:cxnSp>
        <p:nvCxnSpPr>
          <p:cNvPr id="138" name="EBIT margin dash marker"/>
          <p:cNvCxnSpPr/>
          <p:nvPr/>
        </p:nvCxnSpPr>
        <p:spPr>
          <a:xfrm>
            <a:off x="7656090" y="4392802"/>
            <a:ext cx="109728" cy="0"/>
          </a:xfrm>
          <a:prstGeom prst="line">
            <a:avLst/>
          </a:prstGeom>
          <a:ln w="9525">
            <a:solidFill>
              <a:srgbClr val="FFC000"/>
            </a:solidFill>
          </a:ln>
        </p:spPr>
      </p:cxnSp>
      <p:cxnSp>
        <p:nvCxnSpPr>
          <p:cNvPr id="139" name="EBIT margin dash marker"/>
          <p:cNvCxnSpPr/>
          <p:nvPr/>
        </p:nvCxnSpPr>
        <p:spPr>
          <a:xfrm>
            <a:off x="8377362" y="4372602"/>
            <a:ext cx="109728" cy="0"/>
          </a:xfrm>
          <a:prstGeom prst="line">
            <a:avLst/>
          </a:prstGeom>
          <a:ln w="9525">
            <a:solidFill>
              <a:srgbClr val="FFC000"/>
            </a:solidFill>
          </a:ln>
        </p:spPr>
      </p:cxnSp>
      <p:cxnSp>
        <p:nvCxnSpPr>
          <p:cNvPr id="140" name="EBIT margin dash marker"/>
          <p:cNvCxnSpPr/>
          <p:nvPr/>
        </p:nvCxnSpPr>
        <p:spPr>
          <a:xfrm>
            <a:off x="9098633" y="4414640"/>
            <a:ext cx="109728" cy="0"/>
          </a:xfrm>
          <a:prstGeom prst="line">
            <a:avLst/>
          </a:prstGeom>
          <a:ln w="9525">
            <a:solidFill>
              <a:srgbClr val="FFC000"/>
            </a:solidFill>
          </a:ln>
        </p:spPr>
      </p:cxnSp>
      <p:cxnSp>
        <p:nvCxnSpPr>
          <p:cNvPr id="141" name="EBIT margin dash marker"/>
          <p:cNvCxnSpPr/>
          <p:nvPr/>
        </p:nvCxnSpPr>
        <p:spPr>
          <a:xfrm>
            <a:off x="9819904" y="4516184"/>
            <a:ext cx="109728" cy="0"/>
          </a:xfrm>
          <a:prstGeom prst="line">
            <a:avLst/>
          </a:prstGeom>
          <a:ln w="9525">
            <a:solidFill>
              <a:srgbClr val="FFC000"/>
            </a:solidFill>
          </a:ln>
        </p:spPr>
      </p:cxnSp>
      <p:cxnSp>
        <p:nvCxnSpPr>
          <p:cNvPr id="142" name="EBIT margin dash marker"/>
          <p:cNvCxnSpPr/>
          <p:nvPr/>
        </p:nvCxnSpPr>
        <p:spPr>
          <a:xfrm>
            <a:off x="10541175" y="4454493"/>
            <a:ext cx="109728" cy="0"/>
          </a:xfrm>
          <a:prstGeom prst="line">
            <a:avLst/>
          </a:prstGeom>
          <a:ln w="9525">
            <a:solidFill>
              <a:srgbClr val="FFC000"/>
            </a:solidFill>
          </a:ln>
        </p:spPr>
      </p:cxnSp>
      <p:cxnSp>
        <p:nvCxnSpPr>
          <p:cNvPr id="143" name="EBIT margin dash marker"/>
          <p:cNvCxnSpPr/>
          <p:nvPr/>
        </p:nvCxnSpPr>
        <p:spPr>
          <a:xfrm>
            <a:off x="11262447" y="4415186"/>
            <a:ext cx="109728" cy="0"/>
          </a:xfrm>
          <a:prstGeom prst="line">
            <a:avLst/>
          </a:prstGeom>
          <a:ln w="9525">
            <a:solidFill>
              <a:srgbClr val="FFC000"/>
            </a:solidFill>
          </a:ln>
        </p:spPr>
      </p:cxnSp>
      <p:cxnSp>
        <p:nvCxnSpPr>
          <p:cNvPr id="144" name="EBIT margin dash marker"/>
          <p:cNvCxnSpPr/>
          <p:nvPr/>
        </p:nvCxnSpPr>
        <p:spPr>
          <a:xfrm>
            <a:off x="1164649" y="3712652"/>
            <a:ext cx="109728" cy="0"/>
          </a:xfrm>
          <a:prstGeom prst="line">
            <a:avLst/>
          </a:prstGeom>
          <a:ln w="9525">
            <a:solidFill>
              <a:srgbClr val="FFC000"/>
            </a:solidFill>
          </a:ln>
        </p:spPr>
      </p:cxnSp>
      <p:cxnSp>
        <p:nvCxnSpPr>
          <p:cNvPr id="145" name="EBIT margin dash marker"/>
          <p:cNvCxnSpPr/>
          <p:nvPr/>
        </p:nvCxnSpPr>
        <p:spPr>
          <a:xfrm>
            <a:off x="1885920" y="3914650"/>
            <a:ext cx="109728" cy="0"/>
          </a:xfrm>
          <a:prstGeom prst="line">
            <a:avLst/>
          </a:prstGeom>
          <a:ln w="9525">
            <a:solidFill>
              <a:srgbClr val="FFC000"/>
            </a:solidFill>
          </a:ln>
        </p:spPr>
      </p:cxnSp>
      <p:cxnSp>
        <p:nvCxnSpPr>
          <p:cNvPr id="146" name="EBIT margin dash marker"/>
          <p:cNvCxnSpPr/>
          <p:nvPr/>
        </p:nvCxnSpPr>
        <p:spPr>
          <a:xfrm>
            <a:off x="2607192" y="3733944"/>
            <a:ext cx="109728" cy="0"/>
          </a:xfrm>
          <a:prstGeom prst="line">
            <a:avLst/>
          </a:prstGeom>
          <a:ln w="9525">
            <a:solidFill>
              <a:srgbClr val="FFC000"/>
            </a:solidFill>
          </a:ln>
        </p:spPr>
      </p:cxnSp>
      <p:cxnSp>
        <p:nvCxnSpPr>
          <p:cNvPr id="147" name="EBIT margin dash marker"/>
          <p:cNvCxnSpPr/>
          <p:nvPr/>
        </p:nvCxnSpPr>
        <p:spPr>
          <a:xfrm>
            <a:off x="3328463" y="3731760"/>
            <a:ext cx="109728" cy="0"/>
          </a:xfrm>
          <a:prstGeom prst="line">
            <a:avLst/>
          </a:prstGeom>
          <a:ln w="9525">
            <a:solidFill>
              <a:srgbClr val="FFC000"/>
            </a:solidFill>
          </a:ln>
        </p:spPr>
      </p:cxnSp>
      <p:cxnSp>
        <p:nvCxnSpPr>
          <p:cNvPr id="148" name="EBIT margin dash marker"/>
          <p:cNvCxnSpPr/>
          <p:nvPr/>
        </p:nvCxnSpPr>
        <p:spPr>
          <a:xfrm>
            <a:off x="4049734" y="3723025"/>
            <a:ext cx="109728" cy="0"/>
          </a:xfrm>
          <a:prstGeom prst="line">
            <a:avLst/>
          </a:prstGeom>
          <a:ln w="9525">
            <a:solidFill>
              <a:srgbClr val="FFC000"/>
            </a:solidFill>
          </a:ln>
        </p:spPr>
      </p:cxnSp>
      <p:cxnSp>
        <p:nvCxnSpPr>
          <p:cNvPr id="149" name="EBIT margin dash marker"/>
          <p:cNvCxnSpPr/>
          <p:nvPr/>
        </p:nvCxnSpPr>
        <p:spPr>
          <a:xfrm>
            <a:off x="4771005" y="3536314"/>
            <a:ext cx="109728" cy="0"/>
          </a:xfrm>
          <a:prstGeom prst="line">
            <a:avLst/>
          </a:prstGeom>
          <a:ln w="9525">
            <a:solidFill>
              <a:srgbClr val="FFC000"/>
            </a:solidFill>
          </a:ln>
        </p:spPr>
      </p:cxnSp>
      <p:cxnSp>
        <p:nvCxnSpPr>
          <p:cNvPr id="150" name="EBIT margin dash marker"/>
          <p:cNvCxnSpPr/>
          <p:nvPr/>
        </p:nvCxnSpPr>
        <p:spPr>
          <a:xfrm>
            <a:off x="5492277" y="3466434"/>
            <a:ext cx="109728" cy="0"/>
          </a:xfrm>
          <a:prstGeom prst="line">
            <a:avLst/>
          </a:prstGeom>
          <a:ln w="9525">
            <a:solidFill>
              <a:srgbClr val="FFC000"/>
            </a:solidFill>
          </a:ln>
        </p:spPr>
      </p:cxnSp>
      <p:cxnSp>
        <p:nvCxnSpPr>
          <p:cNvPr id="151" name="EBIT margin dash marker"/>
          <p:cNvCxnSpPr/>
          <p:nvPr/>
        </p:nvCxnSpPr>
        <p:spPr>
          <a:xfrm>
            <a:off x="6213548" y="3456607"/>
            <a:ext cx="109728" cy="0"/>
          </a:xfrm>
          <a:prstGeom prst="line">
            <a:avLst/>
          </a:prstGeom>
          <a:ln w="9525">
            <a:solidFill>
              <a:srgbClr val="FFC000"/>
            </a:solidFill>
          </a:ln>
        </p:spPr>
      </p:cxnSp>
      <p:cxnSp>
        <p:nvCxnSpPr>
          <p:cNvPr id="152" name="EBIT margin dash marker"/>
          <p:cNvCxnSpPr/>
          <p:nvPr/>
        </p:nvCxnSpPr>
        <p:spPr>
          <a:xfrm>
            <a:off x="6934819" y="3486088"/>
            <a:ext cx="109728" cy="0"/>
          </a:xfrm>
          <a:prstGeom prst="line">
            <a:avLst/>
          </a:prstGeom>
          <a:ln w="9525">
            <a:solidFill>
              <a:srgbClr val="FFC000"/>
            </a:solidFill>
          </a:ln>
        </p:spPr>
      </p:cxnSp>
      <p:cxnSp>
        <p:nvCxnSpPr>
          <p:cNvPr id="153" name="EBIT margin dash marker"/>
          <p:cNvCxnSpPr/>
          <p:nvPr/>
        </p:nvCxnSpPr>
        <p:spPr>
          <a:xfrm>
            <a:off x="7656090" y="3374170"/>
            <a:ext cx="109728" cy="0"/>
          </a:xfrm>
          <a:prstGeom prst="line">
            <a:avLst/>
          </a:prstGeom>
          <a:ln w="9525">
            <a:solidFill>
              <a:srgbClr val="FFC000"/>
            </a:solidFill>
          </a:ln>
        </p:spPr>
      </p:cxnSp>
      <p:cxnSp>
        <p:nvCxnSpPr>
          <p:cNvPr id="154" name="EBIT margin dash marker"/>
          <p:cNvCxnSpPr/>
          <p:nvPr/>
        </p:nvCxnSpPr>
        <p:spPr>
          <a:xfrm>
            <a:off x="8377362" y="3408564"/>
            <a:ext cx="109728" cy="0"/>
          </a:xfrm>
          <a:prstGeom prst="line">
            <a:avLst/>
          </a:prstGeom>
          <a:ln w="9525">
            <a:solidFill>
              <a:srgbClr val="FFC000"/>
            </a:solidFill>
          </a:ln>
        </p:spPr>
      </p:cxnSp>
      <p:cxnSp>
        <p:nvCxnSpPr>
          <p:cNvPr id="155" name="EBIT margin dash marker"/>
          <p:cNvCxnSpPr/>
          <p:nvPr/>
        </p:nvCxnSpPr>
        <p:spPr>
          <a:xfrm>
            <a:off x="9098633" y="3656421"/>
            <a:ext cx="109728" cy="0"/>
          </a:xfrm>
          <a:prstGeom prst="line">
            <a:avLst/>
          </a:prstGeom>
          <a:ln w="9525">
            <a:solidFill>
              <a:srgbClr val="FFC000"/>
            </a:solidFill>
          </a:ln>
        </p:spPr>
      </p:cxnSp>
      <p:cxnSp>
        <p:nvCxnSpPr>
          <p:cNvPr id="156" name="EBIT margin dash marker"/>
          <p:cNvCxnSpPr/>
          <p:nvPr/>
        </p:nvCxnSpPr>
        <p:spPr>
          <a:xfrm>
            <a:off x="9819904" y="3629670"/>
            <a:ext cx="109728" cy="0"/>
          </a:xfrm>
          <a:prstGeom prst="line">
            <a:avLst/>
          </a:prstGeom>
          <a:ln w="9525">
            <a:solidFill>
              <a:srgbClr val="FFC000"/>
            </a:solidFill>
          </a:ln>
        </p:spPr>
      </p:cxnSp>
      <p:cxnSp>
        <p:nvCxnSpPr>
          <p:cNvPr id="157" name="EBIT margin dash marker"/>
          <p:cNvCxnSpPr/>
          <p:nvPr/>
        </p:nvCxnSpPr>
        <p:spPr>
          <a:xfrm>
            <a:off x="10541175" y="3541228"/>
            <a:ext cx="109728" cy="0"/>
          </a:xfrm>
          <a:prstGeom prst="line">
            <a:avLst/>
          </a:prstGeom>
          <a:ln w="9525">
            <a:solidFill>
              <a:srgbClr val="FFC000"/>
            </a:solidFill>
          </a:ln>
        </p:spPr>
      </p:cxnSp>
      <p:cxnSp>
        <p:nvCxnSpPr>
          <p:cNvPr id="158" name="EBIT margin dash marker"/>
          <p:cNvCxnSpPr/>
          <p:nvPr/>
        </p:nvCxnSpPr>
        <p:spPr>
          <a:xfrm>
            <a:off x="11262447" y="3455515"/>
            <a:ext cx="109728" cy="0"/>
          </a:xfrm>
          <a:prstGeom prst="line">
            <a:avLst/>
          </a:prstGeom>
          <a:ln w="9525">
            <a:solidFill>
              <a:srgbClr val="FFC000"/>
            </a:solidFill>
          </a:ln>
        </p:spPr>
      </p:cxnSp>
      <p:cxnSp>
        <p:nvCxnSpPr>
          <p:cNvPr id="159" name="EBIT margin dash marker"/>
          <p:cNvCxnSpPr/>
          <p:nvPr/>
        </p:nvCxnSpPr>
        <p:spPr>
          <a:xfrm>
            <a:off x="1164649" y="2780825"/>
            <a:ext cx="109728" cy="0"/>
          </a:xfrm>
          <a:prstGeom prst="line">
            <a:avLst/>
          </a:prstGeom>
          <a:ln w="9525">
            <a:solidFill>
              <a:srgbClr val="FFC000"/>
            </a:solidFill>
          </a:ln>
        </p:spPr>
      </p:cxnSp>
      <p:cxnSp>
        <p:nvCxnSpPr>
          <p:cNvPr id="160" name="EBIT margin dash marker"/>
          <p:cNvCxnSpPr/>
          <p:nvPr/>
        </p:nvCxnSpPr>
        <p:spPr>
          <a:xfrm>
            <a:off x="1885920" y="2775911"/>
            <a:ext cx="109728" cy="0"/>
          </a:xfrm>
          <a:prstGeom prst="line">
            <a:avLst/>
          </a:prstGeom>
          <a:ln w="9525">
            <a:solidFill>
              <a:srgbClr val="FFC000"/>
            </a:solidFill>
          </a:ln>
        </p:spPr>
      </p:cxnSp>
      <p:cxnSp>
        <p:nvCxnSpPr>
          <p:cNvPr id="161" name="EBIT margin dash marker"/>
          <p:cNvCxnSpPr/>
          <p:nvPr/>
        </p:nvCxnSpPr>
        <p:spPr>
          <a:xfrm>
            <a:off x="2607192" y="2773182"/>
            <a:ext cx="109728" cy="0"/>
          </a:xfrm>
          <a:prstGeom prst="line">
            <a:avLst/>
          </a:prstGeom>
          <a:ln w="9525">
            <a:solidFill>
              <a:srgbClr val="FFC000"/>
            </a:solidFill>
          </a:ln>
        </p:spPr>
      </p:cxnSp>
      <p:cxnSp>
        <p:nvCxnSpPr>
          <p:cNvPr id="162" name="EBIT margin dash marker"/>
          <p:cNvCxnSpPr/>
          <p:nvPr/>
        </p:nvCxnSpPr>
        <p:spPr>
          <a:xfrm>
            <a:off x="3328463" y="2783554"/>
            <a:ext cx="109728" cy="0"/>
          </a:xfrm>
          <a:prstGeom prst="line">
            <a:avLst/>
          </a:prstGeom>
          <a:ln w="9525">
            <a:solidFill>
              <a:srgbClr val="FFC000"/>
            </a:solidFill>
          </a:ln>
        </p:spPr>
      </p:cxnSp>
      <p:cxnSp>
        <p:nvCxnSpPr>
          <p:cNvPr id="163" name="EBIT margin dash marker"/>
          <p:cNvCxnSpPr/>
          <p:nvPr/>
        </p:nvCxnSpPr>
        <p:spPr>
          <a:xfrm>
            <a:off x="4049734" y="2773727"/>
            <a:ext cx="109728" cy="0"/>
          </a:xfrm>
          <a:prstGeom prst="line">
            <a:avLst/>
          </a:prstGeom>
          <a:ln w="9525">
            <a:solidFill>
              <a:srgbClr val="FFC000"/>
            </a:solidFill>
          </a:ln>
        </p:spPr>
      </p:cxnSp>
      <p:cxnSp>
        <p:nvCxnSpPr>
          <p:cNvPr id="164" name="EBIT margin dash marker"/>
          <p:cNvCxnSpPr/>
          <p:nvPr/>
        </p:nvCxnSpPr>
        <p:spPr>
          <a:xfrm>
            <a:off x="4771005" y="2725685"/>
            <a:ext cx="109728" cy="0"/>
          </a:xfrm>
          <a:prstGeom prst="line">
            <a:avLst/>
          </a:prstGeom>
          <a:ln w="9525">
            <a:solidFill>
              <a:srgbClr val="FFC000"/>
            </a:solidFill>
          </a:ln>
        </p:spPr>
      </p:cxnSp>
      <p:cxnSp>
        <p:nvCxnSpPr>
          <p:cNvPr id="165" name="EBIT margin dash marker"/>
          <p:cNvCxnSpPr/>
          <p:nvPr/>
        </p:nvCxnSpPr>
        <p:spPr>
          <a:xfrm>
            <a:off x="5492277" y="2835419"/>
            <a:ext cx="109728" cy="0"/>
          </a:xfrm>
          <a:prstGeom prst="line">
            <a:avLst/>
          </a:prstGeom>
          <a:ln w="9525">
            <a:solidFill>
              <a:srgbClr val="FFC000"/>
            </a:solidFill>
          </a:ln>
        </p:spPr>
      </p:cxnSp>
      <p:cxnSp>
        <p:nvCxnSpPr>
          <p:cNvPr id="166" name="EBIT margin dash marker"/>
          <p:cNvCxnSpPr/>
          <p:nvPr/>
        </p:nvCxnSpPr>
        <p:spPr>
          <a:xfrm>
            <a:off x="6213548" y="2713674"/>
            <a:ext cx="109728" cy="0"/>
          </a:xfrm>
          <a:prstGeom prst="line">
            <a:avLst/>
          </a:prstGeom>
          <a:ln w="9525">
            <a:solidFill>
              <a:srgbClr val="FFC000"/>
            </a:solidFill>
          </a:ln>
        </p:spPr>
      </p:cxnSp>
      <p:cxnSp>
        <p:nvCxnSpPr>
          <p:cNvPr id="167" name="EBIT margin dash marker"/>
          <p:cNvCxnSpPr/>
          <p:nvPr/>
        </p:nvCxnSpPr>
        <p:spPr>
          <a:xfrm>
            <a:off x="6934819" y="2754620"/>
            <a:ext cx="109728" cy="0"/>
          </a:xfrm>
          <a:prstGeom prst="line">
            <a:avLst/>
          </a:prstGeom>
          <a:ln w="9525">
            <a:solidFill>
              <a:srgbClr val="FFC000"/>
            </a:solidFill>
          </a:ln>
        </p:spPr>
      </p:cxnSp>
      <p:cxnSp>
        <p:nvCxnSpPr>
          <p:cNvPr id="168" name="EBIT margin dash marker"/>
          <p:cNvCxnSpPr/>
          <p:nvPr/>
        </p:nvCxnSpPr>
        <p:spPr>
          <a:xfrm>
            <a:off x="7656090" y="2465272"/>
            <a:ext cx="109728" cy="0"/>
          </a:xfrm>
          <a:prstGeom prst="line">
            <a:avLst/>
          </a:prstGeom>
          <a:ln w="9525">
            <a:solidFill>
              <a:srgbClr val="FFC000"/>
            </a:solidFill>
          </a:ln>
        </p:spPr>
      </p:cxnSp>
      <p:cxnSp>
        <p:nvCxnSpPr>
          <p:cNvPr id="169" name="EBIT margin dash marker"/>
          <p:cNvCxnSpPr/>
          <p:nvPr/>
        </p:nvCxnSpPr>
        <p:spPr>
          <a:xfrm>
            <a:off x="8377362" y="2621411"/>
            <a:ext cx="109728" cy="0"/>
          </a:xfrm>
          <a:prstGeom prst="line">
            <a:avLst/>
          </a:prstGeom>
          <a:ln w="9525">
            <a:solidFill>
              <a:srgbClr val="FFC000"/>
            </a:solidFill>
          </a:ln>
        </p:spPr>
      </p:cxnSp>
      <p:cxnSp>
        <p:nvCxnSpPr>
          <p:cNvPr id="170" name="EBIT margin dash marker"/>
          <p:cNvCxnSpPr/>
          <p:nvPr/>
        </p:nvCxnSpPr>
        <p:spPr>
          <a:xfrm>
            <a:off x="9098633" y="2674367"/>
            <a:ext cx="109728" cy="0"/>
          </a:xfrm>
          <a:prstGeom prst="line">
            <a:avLst/>
          </a:prstGeom>
          <a:ln w="9525">
            <a:solidFill>
              <a:srgbClr val="FFC000"/>
            </a:solidFill>
          </a:ln>
        </p:spPr>
      </p:cxnSp>
      <p:cxnSp>
        <p:nvCxnSpPr>
          <p:cNvPr id="171" name="EBIT margin dash marker"/>
          <p:cNvCxnSpPr/>
          <p:nvPr/>
        </p:nvCxnSpPr>
        <p:spPr>
          <a:xfrm>
            <a:off x="9819904" y="2651437"/>
            <a:ext cx="109728" cy="0"/>
          </a:xfrm>
          <a:prstGeom prst="line">
            <a:avLst/>
          </a:prstGeom>
          <a:ln w="9525">
            <a:solidFill>
              <a:srgbClr val="FFC000"/>
            </a:solidFill>
          </a:ln>
        </p:spPr>
      </p:cxnSp>
      <p:cxnSp>
        <p:nvCxnSpPr>
          <p:cNvPr id="172" name="EBIT margin dash marker"/>
          <p:cNvCxnSpPr/>
          <p:nvPr/>
        </p:nvCxnSpPr>
        <p:spPr>
          <a:xfrm>
            <a:off x="10541175" y="2620319"/>
            <a:ext cx="109728" cy="0"/>
          </a:xfrm>
          <a:prstGeom prst="line">
            <a:avLst/>
          </a:prstGeom>
          <a:ln w="9525">
            <a:solidFill>
              <a:srgbClr val="FFC000"/>
            </a:solidFill>
          </a:ln>
        </p:spPr>
      </p:cxnSp>
      <p:cxnSp>
        <p:nvCxnSpPr>
          <p:cNvPr id="173" name="EBIT margin dash marker"/>
          <p:cNvCxnSpPr/>
          <p:nvPr/>
        </p:nvCxnSpPr>
        <p:spPr>
          <a:xfrm>
            <a:off x="11262447" y="2513861"/>
            <a:ext cx="109728" cy="0"/>
          </a:xfrm>
          <a:prstGeom prst="line">
            <a:avLst/>
          </a:prstGeom>
          <a:ln w="9525">
            <a:solidFill>
              <a:srgbClr val="FFC000"/>
            </a:solidFill>
          </a:ln>
        </p:spPr>
      </p:cxnSp>
      <p:cxnSp>
        <p:nvCxnSpPr>
          <p:cNvPr id="174" name="EBIT margin dash marker"/>
          <p:cNvCxnSpPr/>
          <p:nvPr/>
        </p:nvCxnSpPr>
        <p:spPr>
          <a:xfrm>
            <a:off x="1164649" y="1819516"/>
            <a:ext cx="109728" cy="0"/>
          </a:xfrm>
          <a:prstGeom prst="line">
            <a:avLst/>
          </a:prstGeom>
          <a:ln w="9525">
            <a:solidFill>
              <a:srgbClr val="FFC000"/>
            </a:solidFill>
          </a:ln>
        </p:spPr>
      </p:cxnSp>
      <p:cxnSp>
        <p:nvCxnSpPr>
          <p:cNvPr id="175" name="EBIT margin dash marker"/>
          <p:cNvCxnSpPr/>
          <p:nvPr/>
        </p:nvCxnSpPr>
        <p:spPr>
          <a:xfrm>
            <a:off x="1885920" y="1835895"/>
            <a:ext cx="109728" cy="0"/>
          </a:xfrm>
          <a:prstGeom prst="line">
            <a:avLst/>
          </a:prstGeom>
          <a:ln w="9525">
            <a:solidFill>
              <a:srgbClr val="FFC000"/>
            </a:solidFill>
          </a:ln>
        </p:spPr>
      </p:cxnSp>
      <p:cxnSp>
        <p:nvCxnSpPr>
          <p:cNvPr id="176" name="EBIT margin dash marker"/>
          <p:cNvCxnSpPr/>
          <p:nvPr/>
        </p:nvCxnSpPr>
        <p:spPr>
          <a:xfrm>
            <a:off x="2607192" y="1836986"/>
            <a:ext cx="109728" cy="0"/>
          </a:xfrm>
          <a:prstGeom prst="line">
            <a:avLst/>
          </a:prstGeom>
          <a:ln w="9525">
            <a:solidFill>
              <a:srgbClr val="FFC000"/>
            </a:solidFill>
          </a:ln>
        </p:spPr>
      </p:cxnSp>
      <p:cxnSp>
        <p:nvCxnSpPr>
          <p:cNvPr id="177" name="EBIT margin dash marker"/>
          <p:cNvCxnSpPr/>
          <p:nvPr/>
        </p:nvCxnSpPr>
        <p:spPr>
          <a:xfrm>
            <a:off x="3328463" y="1817333"/>
            <a:ext cx="109728" cy="0"/>
          </a:xfrm>
          <a:prstGeom prst="line">
            <a:avLst/>
          </a:prstGeom>
          <a:ln w="9525">
            <a:solidFill>
              <a:srgbClr val="FFC000"/>
            </a:solidFill>
          </a:ln>
        </p:spPr>
      </p:cxnSp>
      <p:cxnSp>
        <p:nvCxnSpPr>
          <p:cNvPr id="178" name="EBIT margin dash marker"/>
          <p:cNvCxnSpPr/>
          <p:nvPr/>
        </p:nvCxnSpPr>
        <p:spPr>
          <a:xfrm>
            <a:off x="4049734" y="1835349"/>
            <a:ext cx="109728" cy="0"/>
          </a:xfrm>
          <a:prstGeom prst="line">
            <a:avLst/>
          </a:prstGeom>
          <a:ln w="9525">
            <a:solidFill>
              <a:srgbClr val="FFC000"/>
            </a:solidFill>
          </a:ln>
        </p:spPr>
      </p:cxnSp>
      <p:cxnSp>
        <p:nvCxnSpPr>
          <p:cNvPr id="179" name="EBIT margin dash marker"/>
          <p:cNvCxnSpPr/>
          <p:nvPr/>
        </p:nvCxnSpPr>
        <p:spPr>
          <a:xfrm>
            <a:off x="4771005" y="1750728"/>
            <a:ext cx="109728" cy="0"/>
          </a:xfrm>
          <a:prstGeom prst="line">
            <a:avLst/>
          </a:prstGeom>
          <a:ln w="9525">
            <a:solidFill>
              <a:srgbClr val="FFC000"/>
            </a:solidFill>
          </a:ln>
        </p:spPr>
      </p:cxnSp>
      <p:cxnSp>
        <p:nvCxnSpPr>
          <p:cNvPr id="180" name="EBIT margin dash marker"/>
          <p:cNvCxnSpPr/>
          <p:nvPr/>
        </p:nvCxnSpPr>
        <p:spPr>
          <a:xfrm>
            <a:off x="5492277" y="1618065"/>
            <a:ext cx="109728" cy="0"/>
          </a:xfrm>
          <a:prstGeom prst="line">
            <a:avLst/>
          </a:prstGeom>
          <a:ln w="9525">
            <a:solidFill>
              <a:srgbClr val="FFC000"/>
            </a:solidFill>
          </a:ln>
        </p:spPr>
      </p:cxnSp>
      <p:cxnSp>
        <p:nvCxnSpPr>
          <p:cNvPr id="181" name="EBIT margin dash marker"/>
          <p:cNvCxnSpPr/>
          <p:nvPr/>
        </p:nvCxnSpPr>
        <p:spPr>
          <a:xfrm>
            <a:off x="6213548" y="1774749"/>
            <a:ext cx="109728" cy="0"/>
          </a:xfrm>
          <a:prstGeom prst="line">
            <a:avLst/>
          </a:prstGeom>
          <a:ln w="9525">
            <a:solidFill>
              <a:srgbClr val="FFC000"/>
            </a:solidFill>
          </a:ln>
        </p:spPr>
      </p:cxnSp>
      <p:cxnSp>
        <p:nvCxnSpPr>
          <p:cNvPr id="182" name="EBIT margin dash marker"/>
          <p:cNvCxnSpPr/>
          <p:nvPr/>
        </p:nvCxnSpPr>
        <p:spPr>
          <a:xfrm>
            <a:off x="6934819" y="1778571"/>
            <a:ext cx="109728" cy="0"/>
          </a:xfrm>
          <a:prstGeom prst="line">
            <a:avLst/>
          </a:prstGeom>
          <a:ln w="9525">
            <a:solidFill>
              <a:srgbClr val="FFC000"/>
            </a:solidFill>
          </a:ln>
        </p:spPr>
      </p:cxnSp>
      <p:cxnSp>
        <p:nvCxnSpPr>
          <p:cNvPr id="183" name="EBIT margin dash marker"/>
          <p:cNvCxnSpPr/>
          <p:nvPr/>
        </p:nvCxnSpPr>
        <p:spPr>
          <a:xfrm>
            <a:off x="7656090" y="1556920"/>
            <a:ext cx="109728" cy="0"/>
          </a:xfrm>
          <a:prstGeom prst="line">
            <a:avLst/>
          </a:prstGeom>
          <a:ln w="9525">
            <a:solidFill>
              <a:srgbClr val="FFC000"/>
            </a:solidFill>
          </a:ln>
        </p:spPr>
      </p:cxnSp>
      <p:cxnSp>
        <p:nvCxnSpPr>
          <p:cNvPr id="184" name="EBIT margin dash marker"/>
          <p:cNvCxnSpPr/>
          <p:nvPr/>
        </p:nvCxnSpPr>
        <p:spPr>
          <a:xfrm>
            <a:off x="8377362" y="1726707"/>
            <a:ext cx="109728" cy="0"/>
          </a:xfrm>
          <a:prstGeom prst="line">
            <a:avLst/>
          </a:prstGeom>
          <a:ln w="9525">
            <a:solidFill>
              <a:srgbClr val="FFC000"/>
            </a:solidFill>
          </a:ln>
        </p:spPr>
      </p:cxnSp>
      <p:cxnSp>
        <p:nvCxnSpPr>
          <p:cNvPr id="185" name="EBIT margin dash marker"/>
          <p:cNvCxnSpPr/>
          <p:nvPr/>
        </p:nvCxnSpPr>
        <p:spPr>
          <a:xfrm>
            <a:off x="9098633" y="1698318"/>
            <a:ext cx="109728" cy="0"/>
          </a:xfrm>
          <a:prstGeom prst="line">
            <a:avLst/>
          </a:prstGeom>
          <a:ln w="9525">
            <a:solidFill>
              <a:srgbClr val="FFC000"/>
            </a:solidFill>
          </a:ln>
        </p:spPr>
      </p:cxnSp>
      <p:cxnSp>
        <p:nvCxnSpPr>
          <p:cNvPr id="186" name="EBIT margin dash marker"/>
          <p:cNvCxnSpPr/>
          <p:nvPr/>
        </p:nvCxnSpPr>
        <p:spPr>
          <a:xfrm>
            <a:off x="9819904" y="1685215"/>
            <a:ext cx="109728" cy="0"/>
          </a:xfrm>
          <a:prstGeom prst="line">
            <a:avLst/>
          </a:prstGeom>
          <a:ln w="9525">
            <a:solidFill>
              <a:srgbClr val="FFC000"/>
            </a:solidFill>
          </a:ln>
        </p:spPr>
      </p:cxnSp>
      <p:cxnSp>
        <p:nvCxnSpPr>
          <p:cNvPr id="187" name="EBIT margin dash marker"/>
          <p:cNvCxnSpPr/>
          <p:nvPr/>
        </p:nvCxnSpPr>
        <p:spPr>
          <a:xfrm>
            <a:off x="10541175" y="1641540"/>
            <a:ext cx="109728" cy="0"/>
          </a:xfrm>
          <a:prstGeom prst="line">
            <a:avLst/>
          </a:prstGeom>
          <a:ln w="9525">
            <a:solidFill>
              <a:srgbClr val="FFC000"/>
            </a:solidFill>
          </a:ln>
        </p:spPr>
      </p:cxnSp>
      <p:cxnSp>
        <p:nvCxnSpPr>
          <p:cNvPr id="188" name="EBIT margin dash marker"/>
          <p:cNvCxnSpPr/>
          <p:nvPr/>
        </p:nvCxnSpPr>
        <p:spPr>
          <a:xfrm>
            <a:off x="11262447" y="1553098"/>
            <a:ext cx="109728" cy="0"/>
          </a:xfrm>
          <a:prstGeom prst="line">
            <a:avLst/>
          </a:prstGeom>
          <a:ln w="9525">
            <a:solidFill>
              <a:srgbClr val="FFC000"/>
            </a:solidFill>
          </a:ln>
        </p:spPr>
      </p:cxnSp>
      <p:sp>
        <p:nvSpPr>
          <p:cNvPr id="189" name="ValueLabel"/>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0" name="ValueLabel"/>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1" name="ValueLabel"/>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2" name="ValueLabel"/>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3" name="ValueLabel"/>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4" name="ValueLabel"/>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95" name="ValueLabel"/>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96" name="ValueLabel"/>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97" name="ValueLabel"/>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98" name="ValueLabel"/>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99" name="ValueLabel"/>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0" name="ValueLabel"/>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1" name="ValueLabel"/>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2" name="ValueLabel"/>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3" name="ValueLabel"/>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4" name="ValueLabel"/>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05" name="ValueLabel"/>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06" name="ValueLabel"/>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07" name="ValueLabel"/>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08" name="ValueLabel"/>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09" name="ValueLabel"/>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210" name="ValueLabel"/>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211" name="ValueLabel"/>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212" name="ValueLabel"/>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213" name="ValueLabel"/>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214" name="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215" name="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216" name="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217" name="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218" name="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219" name="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220" name="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221" name="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222" name="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223" name="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224" name="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225" name="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226" name="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227" name="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228" name="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229" name="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30" name="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31" name="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32" name="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3" name="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34" name="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235" name="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236" name="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37" name="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38" name="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39" name="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40" name="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241" name="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42" name="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243" name="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44" name="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245" name="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46" name="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47" name="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48" name="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49" name="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50" name="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251" name="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252" name="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253" name="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4" name="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255" name="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256" name="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257" name="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8" name="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259" name="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60" name="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261" name="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262" name="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263" name="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264" name="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65" name="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66" name="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267" name="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268" name="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69" name="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270" name="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271" name="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72" name="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73" name="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4" name="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5" name="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76" name="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77" name="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78" name="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79" name="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80" name="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81" name="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82" name="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3" name="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84" name="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85" name="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86" name="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87" name="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88" name="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89" name="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0" name="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91" name="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92" name="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93" name="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4" name="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95" name="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96" name="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97" name="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98" name="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99" name="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300" name="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301" name="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302" name="ValueLabel"/>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03" name="ValueLabel"/>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04" name="ValueLabel"/>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05" name="ValueLabel"/>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06" name="ValueLabel"/>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7" name="ValueLabel"/>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308" name="ValueLabel"/>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309" name="ValueLabel"/>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0" name="ValueLabel"/>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311" name="ValueLabel"/>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2" name="ValueLabel"/>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3" name="ValueLabel"/>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14" name="ValueLabel"/>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5" name="ValueLabel"/>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6" name="ValueLabel"/>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17" name="ValueLabel"/>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18" name="ValueLabel"/>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19" name="ValueLabel"/>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20" name="ValueLabel"/>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21" name="ValueLabel"/>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322" name="ValueLabel"/>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323" name="ValueLabel"/>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4" name="ValueLabel"/>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5" name="ValueLabel"/>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26" name="ValueLabel"/>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27" name="ValueLabel"/>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8" name="ValueLabel"/>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29" name="ValueLabel"/>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330" name="ValueLabel"/>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1" name="ValueLabel"/>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32" name="ValueLabel"/>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333" name="ValueLabel"/>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334" name="ValueLabel"/>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35" name="ValueLabel"/>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336" name="ValueLabel"/>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337" name="ValueLabel"/>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338" name="ValueLabel"/>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39" name="ValueLabel"/>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0" name="ValueLabel"/>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1" name="ValueLabel"/>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42" name="ValueLabel"/>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3" name="ValueLabel"/>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44" name="ValueLabel"/>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5" name="ValueLabel"/>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46" name="ValueLabel"/>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347" name="ValueLabel"/>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48" name="ValueLabel"/>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349" name="ValueLabel"/>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350" name="ValueLabel"/>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1" name="ValueLabel"/>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352" name="ValueLabel"/>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353" name="ValueLabel"/>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4" name="ValueLabel"/>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5" name="ValueLabel"/>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6" name="ValueLabel"/>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57" name="ValueLabel"/>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58" name="ValueLabel"/>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59" name="ValueLabel"/>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360" name="ValueLabel"/>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61" name="ValueLabel"/>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362" name="ValueLabel"/>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3" name="ValueLabel"/>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364" name="ValueLabel"/>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365" name="ValueLabel"/>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66" name="ValueLabel"/>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367" name="ValueLabel"/>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368" name="ValueLabel"/>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369" name="ValueLabel"/>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0" name="ValueLabel"/>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1" name="ValueLabel"/>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372" name="ValueLabel"/>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73" name="ValueLabel"/>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74" name="ValueLabel"/>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75" name="Label"/>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76" name="Label"/>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77" name="Label"/>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78" name="Rectangle 2147"/>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79" name="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80" name="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81"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82"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83"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84" name="Text Placeholder 25"/>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85" name="Text Placeholder 25"/>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86" name="Straight Arrow Connector 2596"/>
          <p:cNvCxnSpPr/>
          <p:nvPr/>
        </p:nvCxnSpPr>
        <p:spPr>
          <a:xfrm>
            <a:off x="4516222" y="1259129"/>
            <a:ext cx="0" cy="5120640"/>
          </a:xfrm>
          <a:prstGeom prst="line">
            <a:avLst/>
          </a:prstGeom>
          <a:ln w="12700">
            <a:solidFill>
              <a:srgbClr val="808080"/>
            </a:solidFill>
          </a:ln>
        </p:spPr>
      </p:cxnSp>
      <p:cxnSp>
        <p:nvCxnSpPr>
          <p:cNvPr id="387" name="Straight Arrow Connector 2598"/>
          <p:cNvCxnSpPr/>
          <p:nvPr/>
        </p:nvCxnSpPr>
        <p:spPr>
          <a:xfrm>
            <a:off x="7366406" y="1259129"/>
            <a:ext cx="0" cy="5120640"/>
          </a:xfrm>
          <a:prstGeom prst="line">
            <a:avLst/>
          </a:prstGeom>
          <a:ln w="12700">
            <a:solidFill>
              <a:srgbClr val="808080"/>
            </a:solidFill>
          </a:ln>
        </p:spPr>
      </p:cxnSp>
      <p:cxnSp>
        <p:nvCxnSpPr>
          <p:cNvPr id="388" name="Straight Arrow Connector 2602"/>
          <p:cNvCxnSpPr/>
          <p:nvPr/>
        </p:nvCxnSpPr>
        <p:spPr>
          <a:xfrm>
            <a:off x="9569196" y="1259129"/>
            <a:ext cx="0" cy="5120640"/>
          </a:xfrm>
          <a:prstGeom prst="line">
            <a:avLst/>
          </a:prstGeom>
          <a:ln w="12700">
            <a:solidFill>
              <a:srgbClr val="808080"/>
            </a:solidFill>
          </a:ln>
        </p:spPr>
      </p:cxn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Rectangle 30"/>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Label"/>
          <p:cNvSpPr txBox="1"/>
          <p:nvPr/>
        </p:nvSpPr>
        <p:spPr>
          <a:xfrm>
            <a:off x="758952"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2026</a:t>
            </a:r>
          </a:p>
        </p:txBody>
      </p:sp>
      <p:sp>
        <p:nvSpPr>
          <p:cNvPr id="103" name="YearLabel"/>
          <p:cNvSpPr txBox="1"/>
          <p:nvPr/>
        </p:nvSpPr>
        <p:spPr>
          <a:xfrm>
            <a:off x="100766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2027</a:t>
            </a:r>
          </a:p>
        </p:txBody>
      </p:sp>
      <p:sp>
        <p:nvSpPr>
          <p:cNvPr id="104" name="YearLabel"/>
          <p:cNvSpPr txBox="1"/>
          <p:nvPr/>
        </p:nvSpPr>
        <p:spPr>
          <a:xfrm>
            <a:off x="12573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2028</a:t>
            </a:r>
          </a:p>
        </p:txBody>
      </p:sp>
      <p:sp>
        <p:nvSpPr>
          <p:cNvPr id="105" name="YearLabel"/>
          <p:cNvSpPr txBox="1"/>
          <p:nvPr/>
        </p:nvSpPr>
        <p:spPr>
          <a:xfrm>
            <a:off x="15069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2029</a:t>
            </a:r>
          </a:p>
        </p:txBody>
      </p:sp>
      <p:sp>
        <p:nvSpPr>
          <p:cNvPr id="106" name="YearLabel"/>
          <p:cNvSpPr txBox="1"/>
          <p:nvPr/>
        </p:nvSpPr>
        <p:spPr>
          <a:xfrm>
            <a:off x="17556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2030</a:t>
            </a:r>
          </a:p>
        </p:txBody>
      </p:sp>
      <p:sp>
        <p:nvSpPr>
          <p:cNvPr id="107" name="YearLabel"/>
          <p:cNvSpPr txBox="1"/>
          <p:nvPr/>
        </p:nvSpPr>
        <p:spPr>
          <a:xfrm>
            <a:off x="20052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2031</a:t>
            </a:r>
          </a:p>
        </p:txBody>
      </p:sp>
      <p:sp>
        <p:nvSpPr>
          <p:cNvPr id="108" name="YearLabel"/>
          <p:cNvSpPr txBox="1"/>
          <p:nvPr/>
        </p:nvSpPr>
        <p:spPr>
          <a:xfrm>
            <a:off x="22539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2032</a:t>
            </a:r>
          </a:p>
        </p:txBody>
      </p:sp>
      <p:sp>
        <p:nvSpPr>
          <p:cNvPr id="109" name="YearLabel"/>
          <p:cNvSpPr txBox="1"/>
          <p:nvPr/>
        </p:nvSpPr>
        <p:spPr>
          <a:xfrm>
            <a:off x="25036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2033</a:t>
            </a:r>
          </a:p>
        </p:txBody>
      </p:sp>
      <p:sp>
        <p:nvSpPr>
          <p:cNvPr id="110" name="YearLabel"/>
          <p:cNvSpPr txBox="1"/>
          <p:nvPr/>
        </p:nvSpPr>
        <p:spPr>
          <a:xfrm>
            <a:off x="27523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2034</a:t>
            </a:r>
          </a:p>
        </p:txBody>
      </p:sp>
      <p:sp>
        <p:nvSpPr>
          <p:cNvPr id="111" name="YearLabel"/>
          <p:cNvSpPr txBox="1"/>
          <p:nvPr/>
        </p:nvSpPr>
        <p:spPr>
          <a:xfrm>
            <a:off x="30019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2035</a:t>
            </a:r>
          </a:p>
        </p:txBody>
      </p:sp>
      <p:sp>
        <p:nvSpPr>
          <p:cNvPr id="112" name="YearLabel"/>
          <p:cNvSpPr txBox="1"/>
          <p:nvPr/>
        </p:nvSpPr>
        <p:spPr>
          <a:xfrm>
            <a:off x="32516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2036</a:t>
            </a:r>
          </a:p>
        </p:txBody>
      </p:sp>
      <p:sp>
        <p:nvSpPr>
          <p:cNvPr id="113" name="YearLabel"/>
          <p:cNvSpPr txBox="1"/>
          <p:nvPr/>
        </p:nvSpPr>
        <p:spPr>
          <a:xfrm>
            <a:off x="35003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2037</a:t>
            </a:r>
          </a:p>
        </p:txBody>
      </p:sp>
      <p:sp>
        <p:nvSpPr>
          <p:cNvPr id="114" name="YearLabel"/>
          <p:cNvSpPr txBox="1"/>
          <p:nvPr/>
        </p:nvSpPr>
        <p:spPr>
          <a:xfrm>
            <a:off x="37499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2038</a:t>
            </a:r>
          </a:p>
        </p:txBody>
      </p:sp>
      <p:sp>
        <p:nvSpPr>
          <p:cNvPr id="115" name="YearLabel"/>
          <p:cNvSpPr txBox="1"/>
          <p:nvPr/>
        </p:nvSpPr>
        <p:spPr>
          <a:xfrm>
            <a:off x="4000500"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2039</a:t>
            </a:r>
          </a:p>
        </p:txBody>
      </p:sp>
      <p:sp>
        <p:nvSpPr>
          <p:cNvPr id="116" name="YearLabel"/>
          <p:cNvSpPr txBox="1"/>
          <p:nvPr/>
        </p:nvSpPr>
        <p:spPr>
          <a:xfrm>
            <a:off x="425013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2040</a:t>
            </a:r>
          </a:p>
        </p:txBody>
      </p:sp>
      <p:sp>
        <p:nvSpPr>
          <p:cNvPr id="117" name="YearLabel"/>
          <p:cNvSpPr txBox="1"/>
          <p:nvPr/>
        </p:nvSpPr>
        <p:spPr>
          <a:xfrm>
            <a:off x="4498848"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2041</a:t>
            </a:r>
          </a:p>
        </p:txBody>
      </p:sp>
      <p:sp>
        <p:nvSpPr>
          <p:cNvPr id="118" name="YearLabel"/>
          <p:cNvSpPr txBox="1"/>
          <p:nvPr/>
        </p:nvSpPr>
        <p:spPr>
          <a:xfrm>
            <a:off x="4748479"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2042</a:t>
            </a:r>
          </a:p>
        </p:txBody>
      </p:sp>
      <p:sp>
        <p:nvSpPr>
          <p:cNvPr id="119" name="YearLabel"/>
          <p:cNvSpPr txBox="1"/>
          <p:nvPr/>
        </p:nvSpPr>
        <p:spPr>
          <a:xfrm>
            <a:off x="499719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2043</a:t>
            </a:r>
          </a:p>
        </p:txBody>
      </p:sp>
      <p:sp>
        <p:nvSpPr>
          <p:cNvPr id="120" name="YearLabel"/>
          <p:cNvSpPr txBox="1"/>
          <p:nvPr/>
        </p:nvSpPr>
        <p:spPr>
          <a:xfrm>
            <a:off x="549554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2045</a:t>
            </a:r>
          </a:p>
        </p:txBody>
      </p:sp>
      <p:sp>
        <p:nvSpPr>
          <p:cNvPr id="121" name="YearLabel"/>
          <p:cNvSpPr txBox="1"/>
          <p:nvPr/>
        </p:nvSpPr>
        <p:spPr>
          <a:xfrm>
            <a:off x="5745175"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2046</a:t>
            </a:r>
          </a:p>
        </p:txBody>
      </p:sp>
      <p:sp>
        <p:nvSpPr>
          <p:cNvPr id="122" name="YearLabel"/>
          <p:cNvSpPr txBox="1"/>
          <p:nvPr/>
        </p:nvSpPr>
        <p:spPr>
          <a:xfrm>
            <a:off x="5994806"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2047</a:t>
            </a:r>
          </a:p>
        </p:txBody>
      </p:sp>
      <p:sp>
        <p:nvSpPr>
          <p:cNvPr id="123" name="YearLabel"/>
          <p:cNvSpPr txBox="1"/>
          <p:nvPr/>
        </p:nvSpPr>
        <p:spPr>
          <a:xfrm>
            <a:off x="6243523"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2048</a:t>
            </a:r>
          </a:p>
        </p:txBody>
      </p:sp>
      <p:sp>
        <p:nvSpPr>
          <p:cNvPr id="124" name="YearLabel"/>
          <p:cNvSpPr txBox="1"/>
          <p:nvPr/>
        </p:nvSpPr>
        <p:spPr>
          <a:xfrm>
            <a:off x="6493154"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2049</a:t>
            </a:r>
          </a:p>
        </p:txBody>
      </p:sp>
      <p:sp>
        <p:nvSpPr>
          <p:cNvPr id="125" name="YearLabel"/>
          <p:cNvSpPr txBox="1"/>
          <p:nvPr/>
        </p:nvSpPr>
        <p:spPr>
          <a:xfrm>
            <a:off x="6741871"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2050</a:t>
            </a:r>
          </a:p>
        </p:txBody>
      </p:sp>
      <p:sp>
        <p:nvSpPr>
          <p:cNvPr id="126" name="YearLabel"/>
          <p:cNvSpPr txBox="1"/>
          <p:nvPr/>
        </p:nvSpPr>
        <p:spPr>
          <a:xfrm>
            <a:off x="5246827" y="5510174"/>
            <a:ext cx="152705" cy="279806"/>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2044</a:t>
            </a:r>
          </a:p>
        </p:txBody>
      </p:sp>
      <p:sp>
        <p:nvSpPr>
          <p:cNvPr id="127" name="Text Placeholder 25"/>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Text Placeholder 25"/>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Text Placeholder 25"/>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ctangle 840"/>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Speech Bubble: Rectangle 645"/>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ctangle 839"/>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dirty="0">
                <a:solidFill>
                  <a:srgbClr val="000000"/>
                </a:solidFill>
                <a:latin typeface="Arial"/>
                <a:ea typeface="Arial"/>
                <a:cs typeface="Arial"/>
              </a:rPr>
              <a:t>1</a:t>
            </a:r>
          </a:p>
        </p:txBody>
      </p:sp>
      <p:sp>
        <p:nvSpPr>
          <p:cNvPr id="172" name="Rectangle 688"/>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Rectangle 689"/>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dirty="0">
                <a:solidFill>
                  <a:srgbClr val="000000"/>
                </a:solidFill>
                <a:latin typeface="Arial"/>
                <a:ea typeface="Arial"/>
                <a:cs typeface="Arial"/>
              </a:rPr>
              <a:t>2</a:t>
            </a:r>
          </a:p>
        </p:txBody>
      </p:sp>
      <p:sp>
        <p:nvSpPr>
          <p:cNvPr id="174" name="Rectangle 690"/>
          <p:cNvSpPr txBox="1"/>
          <p:nvPr/>
        </p:nvSpPr>
        <p:spPr>
          <a:xfrm>
            <a:off x="7123176" y="5168189"/>
            <a:ext cx="4657954" cy="621792"/>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Rectangle 694"/>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Rectangle 715"/>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TextBox 716"/>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Rectangle 717"/>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TextBox 718"/>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80" name="Speech Bubble: Rectangle 2"/>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Rectangle 4"/>
          <p:cNvSpPr txBox="1"/>
          <p:nvPr/>
        </p:nvSpPr>
        <p:spPr>
          <a:xfrm>
            <a:off x="7378294" y="159106"/>
            <a:ext cx="2722169" cy="19842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Rectangle 724"/>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Straight Connector 734"/>
          <p:cNvCxnSpPr/>
          <p:nvPr/>
        </p:nvCxnSpPr>
        <p:spPr>
          <a:xfrm>
            <a:off x="833018" y="2803550"/>
            <a:ext cx="9829800" cy="0"/>
          </a:xfrm>
          <a:prstGeom prst="line">
            <a:avLst/>
          </a:prstGeom>
          <a:ln w="9525">
            <a:solidFill>
              <a:srgbClr val="000000"/>
            </a:solidFill>
            <a:prstDash val="dash"/>
            <a:tailEnd type="triangle" w="med" len="med"/>
          </a:ln>
        </p:spPr>
      </p:cxnSp>
      <p:cxnSp>
        <p:nvCxnSpPr>
          <p:cNvPr id="109" name="Straight Connector 735"/>
          <p:cNvCxnSpPr/>
          <p:nvPr/>
        </p:nvCxnSpPr>
        <p:spPr>
          <a:xfrm>
            <a:off x="833018" y="2003450"/>
            <a:ext cx="9829800" cy="0"/>
          </a:xfrm>
          <a:prstGeom prst="line">
            <a:avLst/>
          </a:prstGeom>
          <a:ln w="9525">
            <a:solidFill>
              <a:srgbClr val="000000"/>
            </a:solidFill>
            <a:prstDash val="dash"/>
            <a:tailEnd type="triangle" w="med" len="med"/>
          </a:ln>
        </p:spPr>
      </p:cxnSp>
      <p:cxnSp>
        <p:nvCxnSpPr>
          <p:cNvPr id="110" name="Straight Connector 737"/>
          <p:cNvCxnSpPr/>
          <p:nvPr/>
        </p:nvCxnSpPr>
        <p:spPr>
          <a:xfrm>
            <a:off x="833018" y="2506370"/>
            <a:ext cx="9829800" cy="0"/>
          </a:xfrm>
          <a:prstGeom prst="line">
            <a:avLst/>
          </a:prstGeom>
          <a:ln w="9525">
            <a:solidFill>
              <a:srgbClr val="000000"/>
            </a:solidFill>
            <a:prstDash val="dash"/>
            <a:tailEnd type="triangle" w="med" len="med"/>
          </a:ln>
        </p:spPr>
      </p:cxnSp>
      <p:cxnSp>
        <p:nvCxnSpPr>
          <p:cNvPr id="111" name="Straight Connector 740"/>
          <p:cNvCxnSpPr/>
          <p:nvPr/>
        </p:nvCxnSpPr>
        <p:spPr>
          <a:xfrm>
            <a:off x="833018" y="3396082"/>
            <a:ext cx="9829800" cy="0"/>
          </a:xfrm>
          <a:prstGeom prst="line">
            <a:avLst/>
          </a:prstGeom>
          <a:ln w="9525">
            <a:solidFill>
              <a:srgbClr val="000000"/>
            </a:solidFill>
            <a:prstDash val="dash"/>
            <a:tailEnd type="triangle" w="med" len="med"/>
          </a:ln>
        </p:spPr>
      </p:cxnSp>
      <p:cxnSp>
        <p:nvCxnSpPr>
          <p:cNvPr id="112" name="Straight Connector 741"/>
          <p:cNvCxnSpPr/>
          <p:nvPr/>
        </p:nvCxnSpPr>
        <p:spPr>
          <a:xfrm>
            <a:off x="833018" y="3989527"/>
            <a:ext cx="9829800" cy="0"/>
          </a:xfrm>
          <a:prstGeom prst="line">
            <a:avLst/>
          </a:prstGeom>
          <a:ln w="9525">
            <a:solidFill>
              <a:srgbClr val="000000"/>
            </a:solidFill>
            <a:prstDash val="dash"/>
            <a:tailEnd type="triangle" w="med" len="med"/>
          </a:ln>
        </p:spPr>
      </p:cxnSp>
      <p:cxnSp>
        <p:nvCxnSpPr>
          <p:cNvPr id="113" name="Straight Connector 743"/>
          <p:cNvCxnSpPr/>
          <p:nvPr/>
        </p:nvCxnSpPr>
        <p:spPr>
          <a:xfrm>
            <a:off x="833018" y="4270248"/>
            <a:ext cx="9829800" cy="0"/>
          </a:xfrm>
          <a:prstGeom prst="line">
            <a:avLst/>
          </a:prstGeom>
          <a:ln w="9525">
            <a:solidFill>
              <a:srgbClr val="000000"/>
            </a:solidFill>
            <a:prstDash val="dash"/>
            <a:tailEnd type="triangle" w="med" len="med"/>
          </a:ln>
        </p:spPr>
      </p:cxnSp>
      <p:sp>
        <p:nvSpPr>
          <p:cNvPr id="114"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9"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6"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7"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8" name="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49"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0"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1" name="Straight Arrow Connector 777"/>
          <p:cNvCxnSpPr/>
          <p:nvPr/>
        </p:nvCxnSpPr>
        <p:spPr>
          <a:xfrm>
            <a:off x="834847" y="2495398"/>
            <a:ext cx="9966960" cy="7315"/>
          </a:xfrm>
          <a:prstGeom prst="line">
            <a:avLst/>
          </a:prstGeom>
          <a:ln w="9525">
            <a:solidFill>
              <a:srgbClr val="000000"/>
            </a:solidFill>
            <a:prstDash val="dash"/>
          </a:ln>
        </p:spPr>
      </p:cxnSp>
      <p:cxnSp>
        <p:nvCxnSpPr>
          <p:cNvPr id="152" name="Straight Arrow Connector 778"/>
          <p:cNvCxnSpPr/>
          <p:nvPr/>
        </p:nvCxnSpPr>
        <p:spPr>
          <a:xfrm>
            <a:off x="834847" y="1996135"/>
            <a:ext cx="9966960" cy="7315"/>
          </a:xfrm>
          <a:prstGeom prst="line">
            <a:avLst/>
          </a:prstGeom>
          <a:ln w="9525">
            <a:solidFill>
              <a:srgbClr val="000000"/>
            </a:solidFill>
            <a:prstDash val="dash"/>
          </a:ln>
        </p:spPr>
      </p:cxnSp>
      <p:sp>
        <p:nvSpPr>
          <p:cNvPr id="153"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8" name="Rectangle 787"/>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cxnSp>
        <p:nvCxnSpPr>
          <p:cNvPr id="159" name="Straight Arrow Connector 796"/>
          <p:cNvCxnSpPr/>
          <p:nvPr/>
        </p:nvCxnSpPr>
        <p:spPr>
          <a:xfrm>
            <a:off x="834847" y="2790749"/>
            <a:ext cx="9966960" cy="7315"/>
          </a:xfrm>
          <a:prstGeom prst="line">
            <a:avLst/>
          </a:prstGeom>
          <a:ln w="9525">
            <a:solidFill>
              <a:srgbClr val="000000"/>
            </a:solidFill>
            <a:prstDash val="dash"/>
          </a:ln>
        </p:spPr>
      </p:cxnSp>
      <p:cxnSp>
        <p:nvCxnSpPr>
          <p:cNvPr id="160" name="Straight Arrow Connector 797"/>
          <p:cNvCxnSpPr/>
          <p:nvPr/>
        </p:nvCxnSpPr>
        <p:spPr>
          <a:xfrm>
            <a:off x="834847" y="3394253"/>
            <a:ext cx="9966960" cy="7315"/>
          </a:xfrm>
          <a:prstGeom prst="line">
            <a:avLst/>
          </a:prstGeom>
          <a:ln w="9525">
            <a:solidFill>
              <a:srgbClr val="000000"/>
            </a:solidFill>
            <a:prstDash val="dash"/>
          </a:ln>
        </p:spPr>
      </p:cxnSp>
      <p:cxnSp>
        <p:nvCxnSpPr>
          <p:cNvPr id="161" name="Straight Arrow Connector 798"/>
          <p:cNvCxnSpPr/>
          <p:nvPr/>
        </p:nvCxnSpPr>
        <p:spPr>
          <a:xfrm>
            <a:off x="834847" y="3976726"/>
            <a:ext cx="9966960" cy="7315"/>
          </a:xfrm>
          <a:prstGeom prst="line">
            <a:avLst/>
          </a:prstGeom>
          <a:ln w="9525">
            <a:solidFill>
              <a:srgbClr val="000000"/>
            </a:solidFill>
            <a:prstDash val="dash"/>
          </a:ln>
        </p:spPr>
      </p:cxnSp>
      <p:sp>
        <p:nvSpPr>
          <p:cNvPr id="162"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3"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4"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5" name="Straight Arrow Connector 800"/>
          <p:cNvCxnSpPr/>
          <p:nvPr/>
        </p:nvCxnSpPr>
        <p:spPr>
          <a:xfrm>
            <a:off x="4015130" y="1985162"/>
            <a:ext cx="0" cy="677570"/>
          </a:xfrm>
          <a:prstGeom prst="line">
            <a:avLst/>
          </a:prstGeom>
          <a:ln w="28575">
            <a:solidFill>
              <a:srgbClr val="000000"/>
            </a:solidFill>
            <a:tailEnd type="triangle" w="med" len="med"/>
          </a:ln>
        </p:spPr>
      </p:cxnSp>
      <p:cxnSp>
        <p:nvCxnSpPr>
          <p:cNvPr id="166" name="Straight Arrow Connector 803"/>
          <p:cNvCxnSpPr/>
          <p:nvPr/>
        </p:nvCxnSpPr>
        <p:spPr>
          <a:xfrm>
            <a:off x="833018" y="4257446"/>
            <a:ext cx="9966960" cy="7315"/>
          </a:xfrm>
          <a:prstGeom prst="line">
            <a:avLst/>
          </a:prstGeom>
          <a:ln w="9525">
            <a:solidFill>
              <a:srgbClr val="000000"/>
            </a:solidFill>
            <a:prstDash val="dash"/>
          </a:ln>
        </p:spPr>
      </p:cxnSp>
      <p:sp>
        <p:nvSpPr>
          <p:cNvPr id="167" name="Rectangle 804"/>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Rectangle 6"/>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Speech Bubble: Rectangle 9"/>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Rectangle 70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851"/>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Straight Connector 451"/>
          <p:cNvCxnSpPr/>
          <p:nvPr/>
        </p:nvCxnSpPr>
        <p:spPr>
          <a:xfrm>
            <a:off x="833018" y="2803550"/>
            <a:ext cx="9829800" cy="0"/>
          </a:xfrm>
          <a:prstGeom prst="line">
            <a:avLst/>
          </a:prstGeom>
          <a:ln w="9525">
            <a:solidFill>
              <a:srgbClr val="000000"/>
            </a:solidFill>
            <a:prstDash val="dash"/>
            <a:tailEnd type="triangle" w="med" len="med"/>
          </a:ln>
        </p:spPr>
      </p:cxnSp>
      <p:cxnSp>
        <p:nvCxnSpPr>
          <p:cNvPr id="108" name="Straight Connector 33"/>
          <p:cNvCxnSpPr/>
          <p:nvPr/>
        </p:nvCxnSpPr>
        <p:spPr>
          <a:xfrm>
            <a:off x="833018" y="2003450"/>
            <a:ext cx="9829800" cy="0"/>
          </a:xfrm>
          <a:prstGeom prst="line">
            <a:avLst/>
          </a:prstGeom>
          <a:ln w="9525">
            <a:solidFill>
              <a:srgbClr val="000000"/>
            </a:solidFill>
            <a:prstDash val="dash"/>
            <a:tailEnd type="triangle" w="med" len="med"/>
          </a:ln>
        </p:spPr>
      </p:cxnSp>
      <p:cxnSp>
        <p:nvCxnSpPr>
          <p:cNvPr id="109" name="Straight Connector 50"/>
          <p:cNvCxnSpPr/>
          <p:nvPr/>
        </p:nvCxnSpPr>
        <p:spPr>
          <a:xfrm>
            <a:off x="833018" y="2506370"/>
            <a:ext cx="9829800" cy="0"/>
          </a:xfrm>
          <a:prstGeom prst="line">
            <a:avLst/>
          </a:prstGeom>
          <a:ln w="9525">
            <a:solidFill>
              <a:srgbClr val="000000"/>
            </a:solidFill>
            <a:prstDash val="dash"/>
            <a:tailEnd type="triangle" w="med" len="med"/>
          </a:ln>
        </p:spPr>
      </p:cxnSp>
      <p:cxnSp>
        <p:nvCxnSpPr>
          <p:cNvPr id="110" name="Straight Connector 462"/>
          <p:cNvCxnSpPr/>
          <p:nvPr/>
        </p:nvCxnSpPr>
        <p:spPr>
          <a:xfrm>
            <a:off x="833018" y="3396082"/>
            <a:ext cx="9829800" cy="0"/>
          </a:xfrm>
          <a:prstGeom prst="line">
            <a:avLst/>
          </a:prstGeom>
          <a:ln w="9525">
            <a:solidFill>
              <a:srgbClr val="000000"/>
            </a:solidFill>
            <a:prstDash val="dash"/>
            <a:tailEnd type="triangle" w="med" len="med"/>
          </a:ln>
        </p:spPr>
      </p:cxnSp>
      <p:cxnSp>
        <p:nvCxnSpPr>
          <p:cNvPr id="111" name="Straight Connector 473"/>
          <p:cNvCxnSpPr/>
          <p:nvPr/>
        </p:nvCxnSpPr>
        <p:spPr>
          <a:xfrm>
            <a:off x="833018" y="3989527"/>
            <a:ext cx="9829800" cy="0"/>
          </a:xfrm>
          <a:prstGeom prst="line">
            <a:avLst/>
          </a:prstGeom>
          <a:ln w="9525">
            <a:solidFill>
              <a:srgbClr val="000000"/>
            </a:solidFill>
            <a:prstDash val="dash"/>
            <a:tailEnd type="triangle" w="med" len="med"/>
          </a:ln>
        </p:spPr>
      </p:cxnSp>
      <p:cxnSp>
        <p:nvCxnSpPr>
          <p:cNvPr id="112" name="Straight Connector 486"/>
          <p:cNvCxnSpPr/>
          <p:nvPr/>
        </p:nvCxnSpPr>
        <p:spPr>
          <a:xfrm>
            <a:off x="833018" y="4270248"/>
            <a:ext cx="9829800" cy="0"/>
          </a:xfrm>
          <a:prstGeom prst="line">
            <a:avLst/>
          </a:prstGeom>
          <a:ln w="9525">
            <a:solidFill>
              <a:srgbClr val="000000"/>
            </a:solidFill>
            <a:prstDash val="dash"/>
            <a:tailEnd type="triangle" w="med" len="med"/>
          </a:ln>
        </p:spPr>
      </p:cxnSp>
      <p:sp>
        <p:nvSpPr>
          <p:cNvPr id="113" name="YearLabel"/>
          <p:cNvSpPr txBox="1"/>
          <p:nvPr/>
        </p:nvSpPr>
        <p:spPr>
          <a:xfrm>
            <a:off x="52623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38" name="Text Placeholder 25"/>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Text Placeholder 25"/>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3" nam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4" nam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sp>
        <p:nvSpPr>
          <p:cNvPr id="145" name="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46" name="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47" name="Label"/>
          <p:cNvSpPr txBox="1"/>
          <p:nvPr/>
        </p:nvSpPr>
        <p:spPr>
          <a:xfrm>
            <a:off x="1227125" y="2163470"/>
            <a:ext cx="150053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48" name="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49" name="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0" name="Straight Arrow Connector 556"/>
          <p:cNvCxnSpPr/>
          <p:nvPr/>
        </p:nvCxnSpPr>
        <p:spPr>
          <a:xfrm>
            <a:off x="834847" y="2495398"/>
            <a:ext cx="9966960" cy="7315"/>
          </a:xfrm>
          <a:prstGeom prst="line">
            <a:avLst/>
          </a:prstGeom>
          <a:ln w="9525">
            <a:solidFill>
              <a:srgbClr val="000000"/>
            </a:solidFill>
            <a:prstDash val="dash"/>
          </a:ln>
        </p:spPr>
      </p:cxnSp>
      <p:cxnSp>
        <p:nvCxnSpPr>
          <p:cNvPr id="151" name="Straight Arrow Connector 531"/>
          <p:cNvCxnSpPr/>
          <p:nvPr/>
        </p:nvCxnSpPr>
        <p:spPr>
          <a:xfrm>
            <a:off x="834847" y="1996135"/>
            <a:ext cx="9966960" cy="7315"/>
          </a:xfrm>
          <a:prstGeom prst="line">
            <a:avLst/>
          </a:prstGeom>
          <a:ln w="9525">
            <a:solidFill>
              <a:srgbClr val="000000"/>
            </a:solidFill>
            <a:prstDash val="dash"/>
          </a:ln>
        </p:spPr>
      </p:cxnSp>
      <p:sp>
        <p:nvSpPr>
          <p:cNvPr id="152"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157" name="Rectangle 394"/>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8"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9"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60"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61"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2"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63" name="Rectangle 413"/>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64" name="Rectangle 23"/>
          <p:cNvSpPr txBox="1"/>
          <p:nvPr/>
        </p:nvSpPr>
        <p:spPr>
          <a:xfrm>
            <a:off x="7378294" y="158191"/>
            <a:ext cx="2722169" cy="199339"/>
          </a:xfrm>
          <a:prstGeom prst="rect">
            <a:avLst/>
          </a:prstGeom>
          <a:solidFill>
            <a:srgbClr val="0E1924"/>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(3) SHIPS Act “Plus” Scenario</a:t>
            </a:r>
          </a:p>
        </p:txBody>
      </p:sp>
      <p:cxnSp>
        <p:nvCxnSpPr>
          <p:cNvPr id="165" name="Straight Arrow Connector 559"/>
          <p:cNvCxnSpPr/>
          <p:nvPr/>
        </p:nvCxnSpPr>
        <p:spPr>
          <a:xfrm>
            <a:off x="834847" y="2790749"/>
            <a:ext cx="9966960" cy="7315"/>
          </a:xfrm>
          <a:prstGeom prst="line">
            <a:avLst/>
          </a:prstGeom>
          <a:ln w="9525">
            <a:solidFill>
              <a:srgbClr val="000000"/>
            </a:solidFill>
            <a:prstDash val="dash"/>
          </a:ln>
        </p:spPr>
      </p:cxnSp>
      <p:cxnSp>
        <p:nvCxnSpPr>
          <p:cNvPr id="166" name="Straight Arrow Connector 562"/>
          <p:cNvCxnSpPr/>
          <p:nvPr/>
        </p:nvCxnSpPr>
        <p:spPr>
          <a:xfrm>
            <a:off x="834847" y="3394253"/>
            <a:ext cx="9966960" cy="7315"/>
          </a:xfrm>
          <a:prstGeom prst="line">
            <a:avLst/>
          </a:prstGeom>
          <a:ln w="9525">
            <a:solidFill>
              <a:srgbClr val="000000"/>
            </a:solidFill>
            <a:prstDash val="dash"/>
          </a:ln>
        </p:spPr>
      </p:cxnSp>
      <p:cxnSp>
        <p:nvCxnSpPr>
          <p:cNvPr id="167" name="Straight Arrow Connector 566"/>
          <p:cNvCxnSpPr/>
          <p:nvPr/>
        </p:nvCxnSpPr>
        <p:spPr>
          <a:xfrm>
            <a:off x="833018" y="3977640"/>
            <a:ext cx="9966960" cy="7315"/>
          </a:xfrm>
          <a:prstGeom prst="line">
            <a:avLst/>
          </a:prstGeom>
          <a:ln w="9525">
            <a:solidFill>
              <a:srgbClr val="000000"/>
            </a:solidFill>
            <a:prstDash val="dash"/>
          </a:ln>
        </p:spPr>
      </p:cxnSp>
      <p:sp>
        <p:nvSpPr>
          <p:cNvPr id="168" nam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9" nam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0" nam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1" name="Straight Arrow Connector 568"/>
          <p:cNvCxnSpPr/>
          <p:nvPr/>
        </p:nvCxnSpPr>
        <p:spPr>
          <a:xfrm>
            <a:off x="4015130" y="1985162"/>
            <a:ext cx="0" cy="677570"/>
          </a:xfrm>
          <a:prstGeom prst="line">
            <a:avLst/>
          </a:prstGeom>
          <a:ln w="28575">
            <a:solidFill>
              <a:srgbClr val="000000"/>
            </a:solidFill>
            <a:tailEnd type="triangle" w="med" len="med"/>
          </a:ln>
        </p:spPr>
      </p:cxnSp>
      <p:cxnSp>
        <p:nvCxnSpPr>
          <p:cNvPr id="172" name="Straight Arrow Connector 63"/>
          <p:cNvCxnSpPr/>
          <p:nvPr/>
        </p:nvCxnSpPr>
        <p:spPr>
          <a:xfrm>
            <a:off x="833018" y="4254703"/>
            <a:ext cx="9966960" cy="7315"/>
          </a:xfrm>
          <a:prstGeom prst="line">
            <a:avLst/>
          </a:prstGeom>
          <a:ln w="9525">
            <a:solidFill>
              <a:srgbClr val="000000"/>
            </a:solidFill>
            <a:prstDash val="dash"/>
          </a:ln>
        </p:spPr>
      </p:cxn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3" name="Speech Bubble: Rectangle 8"/>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Rectangle 7"/>
          <p:cNvSpPr txBox="1"/>
          <p:nvPr/>
        </p:nvSpPr>
        <p:spPr>
          <a:xfrm>
            <a:off x="4693615" y="1370686"/>
            <a:ext cx="4817059" cy="399593"/>
          </a:xfrm>
          <a:prstGeom prst="rect">
            <a:avLst/>
          </a:prstGeom>
          <a:solidFill>
            <a:srgbClr val="CEDDEC"/>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Rectangle 9"/>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Speech Bubble: Rectangle 12"/>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GAO Report on Government Preference Cargo</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prstDash val="dash"/>
            <a:tailEnd type="triangle" w="med" len="med"/>
          </a:ln>
        </p:spPr>
      </p:cxnSp>
      <p:cxnSp>
        <p:nvCxnSpPr>
          <p:cNvPr id="104" name="Straight Connector 75"/>
          <p:cNvCxnSpPr/>
          <p:nvPr/>
        </p:nvCxnSpPr>
        <p:spPr>
          <a:xfrm flipH="1">
            <a:off x="2376526" y="1990649"/>
            <a:ext cx="92354" cy="63094"/>
          </a:xfrm>
          <a:prstGeom prst="line">
            <a:avLst/>
          </a:prstGeom>
          <a:ln w="6350">
            <a:solidFill>
              <a:srgbClr val="44505C"/>
            </a:solidFill>
            <a:prstDash val="dash"/>
            <a:tailEnd type="triangle" w="med" len="med"/>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28" name="ScenarioChip"/>
          <p:cNvSpPr txBox="1"/>
          <p:nvPr/>
        </p:nvSpPr>
        <p:spPr>
          <a:xfrm>
            <a:off x="7378294" y="158191"/>
            <a:ext cx="2722169" cy="199339"/>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b="1" dirty="0">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(1/2).</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ext Placeholder 1"/>
          <p:cNvSpPr>
            <a:spLocks noGrp="1"/>
          </p:cNvSpPr>
          <p:nvPr>
            <p:ph type="body" sz="quarter" idx="10"/>
          </p:nvPr>
        </p:nvSpPr>
        <p:spPr/>
        <p:txBody>
          <a:bodyPr/>
          <a:lstStyle/>
          <a:p>
            <a:r>
              <a:rPr lang="en-US" b="1"/>
              <a:t>BuildCo Financial Projections </a:t>
            </a:r>
            <a:r>
              <a:rPr lang="en-US"/>
              <a:t>/ Assumptions &amp; Methodology</a:t>
            </a:r>
          </a:p>
        </p:txBody>
      </p:sp>
      <p:sp>
        <p:nvSpPr>
          <p:cNvPr id="2001" name="Title 2"/>
          <p:cNvSpPr>
            <a:spLocks noGrp="1"/>
          </p:cNvSpPr>
          <p:nvPr>
            <p:ph type="title"/>
          </p:nvPr>
        </p:nvSpPr>
        <p:spPr/>
        <p:txBody>
          <a:bodyPr vert="horz" rIns="0">
            <a:normAutofit/>
          </a:bodyPr>
          <a:lstStyle/>
          <a:p>
            <a:r>
              <a:rPr lang="en-US"/>
              <a:t>Assumptions &amp; Methodology | Income Statement (2/2).</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Table 8"/>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ctr"/>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ctr"/>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ctr"/>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Rectangle 19"/>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Rectangle 20"/>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Connector: Elbow 22"/>
          <p:cNvCxnSpPr/>
          <p:nvPr/>
        </p:nvCxnSpPr>
        <p:spPr>
          <a:xfrm>
            <a:off x="8485632" y="3634740"/>
            <a:ext cx="205740" cy="113386"/>
          </a:xfrm>
          <a:prstGeom prst="bentConnector3">
            <a:avLst/>
          </a:prstGeom>
          <a:ln w="12700">
            <a:solidFill>
              <a:srgbClr val="000000"/>
            </a:solidFill>
            <a:tailEnd type="triangle" w="med" len="med"/>
          </a:ln>
        </p:spPr>
      </p:cxnSp>
      <p:sp>
        <p:nvSpPr>
          <p:cNvPr id="104" name="Rectangle 25"/>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Rectangle 32"/>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TextBox 41"/>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Connector: Elbow 42"/>
          <p:cNvCxnSpPr/>
          <p:nvPr/>
        </p:nvCxnSpPr>
        <p:spPr>
          <a:xfrm flipV="1">
            <a:off x="5214823" y="5106924"/>
            <a:ext cx="3499409" cy="70409"/>
          </a:xfrm>
          <a:prstGeom prst="bentConnector3">
            <a:avLst/>
          </a:prstGeom>
          <a:ln w="12700">
            <a:solidFill>
              <a:srgbClr val="000000"/>
            </a:solidFill>
            <a:tailEnd type="triangle" w="med" len="med"/>
          </a:ln>
        </p:spPr>
      </p:cxnSp>
      <p:sp>
        <p:nvSpPr>
          <p:cNvPr id="108" name="TextBox 46"/>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TextBox 48"/>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TextBox 51"/>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TextBox 53"/>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Text Placeholder 25"/>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ext Placeholder 25"/>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Text Placeholder 25"/>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Rectangle 304"/>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Text Placeholder 25"/>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graphicFrame>
        <p:nvGraphicFramePr>
          <p:cNvPr id="126" name="Table 238"/>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Haken, check"/>
          <p:cNvSpPr/>
          <p:nvPr/>
        </p:nvSpPr>
        <p:spPr>
          <a:xfrm>
            <a:off x="7591349" y="3899002"/>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8" name="Haken, check"/>
          <p:cNvSpPr/>
          <p:nvPr/>
        </p:nvSpPr>
        <p:spPr>
          <a:xfrm>
            <a:off x="7591349" y="4490618"/>
            <a:ext cx="274320" cy="274320"/>
          </a:xfrm>
          <a:custGeom>
            <a:avLst/>
            <a:gdLst>
              <a:gd name="T0" fmla="*/ 4549 w 4878"/>
              <a:gd name="T1" fmla="*/ 3658 h 4877"/>
              <a:gd name="T2" fmla="*/ 3659 w 4878"/>
              <a:gd name="T3" fmla="*/ 4548 h 4877"/>
              <a:gd name="T4" fmla="*/ 2439 w 4878"/>
              <a:gd name="T5" fmla="*/ 4877 h 4877"/>
              <a:gd name="T6" fmla="*/ 1220 w 4878"/>
              <a:gd name="T7" fmla="*/ 4548 h 4877"/>
              <a:gd name="T8" fmla="*/ 330 w 4878"/>
              <a:gd name="T9" fmla="*/ 3658 h 4877"/>
              <a:gd name="T10" fmla="*/ 0 w 4878"/>
              <a:gd name="T11" fmla="*/ 2439 h 4877"/>
              <a:gd name="T12" fmla="*/ 330 w 4878"/>
              <a:gd name="T13" fmla="*/ 1219 h 4877"/>
              <a:gd name="T14" fmla="*/ 1220 w 4878"/>
              <a:gd name="T15" fmla="*/ 329 h 4877"/>
              <a:gd name="T16" fmla="*/ 2439 w 4878"/>
              <a:gd name="T17" fmla="*/ 0 h 4877"/>
              <a:gd name="T18" fmla="*/ 3659 w 4878"/>
              <a:gd name="T19" fmla="*/ 329 h 4877"/>
              <a:gd name="T20" fmla="*/ 4549 w 4878"/>
              <a:gd name="T21" fmla="*/ 1219 h 4877"/>
              <a:gd name="T22" fmla="*/ 4878 w 4878"/>
              <a:gd name="T23" fmla="*/ 2439 h 4877"/>
              <a:gd name="T24" fmla="*/ 4549 w 4878"/>
              <a:gd name="T25" fmla="*/ 3658 h 4877"/>
              <a:gd name="T26" fmla="*/ 3963 w 4878"/>
              <a:gd name="T27" fmla="*/ 1917 h 4877"/>
              <a:gd name="T28" fmla="*/ 4013 w 4878"/>
              <a:gd name="T29" fmla="*/ 1809 h 4877"/>
              <a:gd name="T30" fmla="*/ 3963 w 4878"/>
              <a:gd name="T31" fmla="*/ 1701 h 4877"/>
              <a:gd name="T32" fmla="*/ 3747 w 4878"/>
              <a:gd name="T33" fmla="*/ 1475 h 4877"/>
              <a:gd name="T34" fmla="*/ 3634 w 4878"/>
              <a:gd name="T35" fmla="*/ 1426 h 4877"/>
              <a:gd name="T36" fmla="*/ 3521 w 4878"/>
              <a:gd name="T37" fmla="*/ 1475 h 4877"/>
              <a:gd name="T38" fmla="*/ 2046 w 4878"/>
              <a:gd name="T39" fmla="*/ 2950 h 4877"/>
              <a:gd name="T40" fmla="*/ 1358 w 4878"/>
              <a:gd name="T41" fmla="*/ 2262 h 4877"/>
              <a:gd name="T42" fmla="*/ 1244 w 4878"/>
              <a:gd name="T43" fmla="*/ 2212 h 4877"/>
              <a:gd name="T44" fmla="*/ 1131 w 4878"/>
              <a:gd name="T45" fmla="*/ 2262 h 4877"/>
              <a:gd name="T46" fmla="*/ 915 w 4878"/>
              <a:gd name="T47" fmla="*/ 2488 h 4877"/>
              <a:gd name="T48" fmla="*/ 866 w 4878"/>
              <a:gd name="T49" fmla="*/ 2596 h 4877"/>
              <a:gd name="T50" fmla="*/ 915 w 4878"/>
              <a:gd name="T51" fmla="*/ 2704 h 4877"/>
              <a:gd name="T52" fmla="*/ 1938 w 4878"/>
              <a:gd name="T53" fmla="*/ 3727 h 4877"/>
              <a:gd name="T54" fmla="*/ 2046 w 4878"/>
              <a:gd name="T55" fmla="*/ 3776 h 4877"/>
              <a:gd name="T56" fmla="*/ 2154 w 4878"/>
              <a:gd name="T57" fmla="*/ 3727 h 4877"/>
              <a:gd name="T58" fmla="*/ 3963 w 4878"/>
              <a:gd name="T59" fmla="*/ 1917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29" name="Cross, kreuz"/>
          <p:cNvSpPr/>
          <p:nvPr/>
        </p:nvSpPr>
        <p:spPr>
          <a:xfrm>
            <a:off x="7591349" y="2164385"/>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Cross, kreuz"/>
          <p:cNvSpPr/>
          <p:nvPr/>
        </p:nvSpPr>
        <p:spPr>
          <a:xfrm>
            <a:off x="7591349" y="2738628"/>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1" name="Cross, kreuz"/>
          <p:cNvSpPr/>
          <p:nvPr/>
        </p:nvSpPr>
        <p:spPr>
          <a:xfrm>
            <a:off x="7591349" y="3325673"/>
            <a:ext cx="274320" cy="274320"/>
          </a:xfrm>
          <a:custGeom>
            <a:avLst/>
            <a:gdLst>
              <a:gd name="T0" fmla="*/ 2438 w 4877"/>
              <a:gd name="T1" fmla="*/ 0 h 4877"/>
              <a:gd name="T2" fmla="*/ 3658 w 4877"/>
              <a:gd name="T3" fmla="*/ 329 h 4877"/>
              <a:gd name="T4" fmla="*/ 4548 w 4877"/>
              <a:gd name="T5" fmla="*/ 1219 h 4877"/>
              <a:gd name="T6" fmla="*/ 4877 w 4877"/>
              <a:gd name="T7" fmla="*/ 2439 h 4877"/>
              <a:gd name="T8" fmla="*/ 4548 w 4877"/>
              <a:gd name="T9" fmla="*/ 3658 h 4877"/>
              <a:gd name="T10" fmla="*/ 3658 w 4877"/>
              <a:gd name="T11" fmla="*/ 4548 h 4877"/>
              <a:gd name="T12" fmla="*/ 2438 w 4877"/>
              <a:gd name="T13" fmla="*/ 4877 h 4877"/>
              <a:gd name="T14" fmla="*/ 1219 w 4877"/>
              <a:gd name="T15" fmla="*/ 4548 h 4877"/>
              <a:gd name="T16" fmla="*/ 329 w 4877"/>
              <a:gd name="T17" fmla="*/ 3658 h 4877"/>
              <a:gd name="T18" fmla="*/ 0 w 4877"/>
              <a:gd name="T19" fmla="*/ 2439 h 4877"/>
              <a:gd name="T20" fmla="*/ 329 w 4877"/>
              <a:gd name="T21" fmla="*/ 1219 h 4877"/>
              <a:gd name="T22" fmla="*/ 1219 w 4877"/>
              <a:gd name="T23" fmla="*/ 329 h 4877"/>
              <a:gd name="T24" fmla="*/ 2438 w 4877"/>
              <a:gd name="T25" fmla="*/ 0 h 4877"/>
              <a:gd name="T26" fmla="*/ 3638 w 4877"/>
              <a:gd name="T27" fmla="*/ 3078 h 4877"/>
              <a:gd name="T28" fmla="*/ 2989 w 4877"/>
              <a:gd name="T29" fmla="*/ 2439 h 4877"/>
              <a:gd name="T30" fmla="*/ 3638 w 4877"/>
              <a:gd name="T31" fmla="*/ 1799 h 4877"/>
              <a:gd name="T32" fmla="*/ 3668 w 4877"/>
              <a:gd name="T33" fmla="*/ 1716 h 4877"/>
              <a:gd name="T34" fmla="*/ 3638 w 4877"/>
              <a:gd name="T35" fmla="*/ 1632 h 4877"/>
              <a:gd name="T36" fmla="*/ 3245 w 4877"/>
              <a:gd name="T37" fmla="*/ 1239 h 4877"/>
              <a:gd name="T38" fmla="*/ 3166 w 4877"/>
              <a:gd name="T39" fmla="*/ 1209 h 4877"/>
              <a:gd name="T40" fmla="*/ 3078 w 4877"/>
              <a:gd name="T41" fmla="*/ 1239 h 4877"/>
              <a:gd name="T42" fmla="*/ 2438 w 4877"/>
              <a:gd name="T43" fmla="*/ 1888 h 4877"/>
              <a:gd name="T44" fmla="*/ 1799 w 4877"/>
              <a:gd name="T45" fmla="*/ 1239 h 4877"/>
              <a:gd name="T46" fmla="*/ 1716 w 4877"/>
              <a:gd name="T47" fmla="*/ 1209 h 4877"/>
              <a:gd name="T48" fmla="*/ 1632 w 4877"/>
              <a:gd name="T49" fmla="*/ 1239 h 4877"/>
              <a:gd name="T50" fmla="*/ 1239 w 4877"/>
              <a:gd name="T51" fmla="*/ 1632 h 4877"/>
              <a:gd name="T52" fmla="*/ 1209 w 4877"/>
              <a:gd name="T53" fmla="*/ 1711 h 4877"/>
              <a:gd name="T54" fmla="*/ 1239 w 4877"/>
              <a:gd name="T55" fmla="*/ 1799 h 4877"/>
              <a:gd name="T56" fmla="*/ 1888 w 4877"/>
              <a:gd name="T57" fmla="*/ 2439 h 4877"/>
              <a:gd name="T58" fmla="*/ 1239 w 4877"/>
              <a:gd name="T59" fmla="*/ 3078 h 4877"/>
              <a:gd name="T60" fmla="*/ 1209 w 4877"/>
              <a:gd name="T61" fmla="*/ 3161 h 4877"/>
              <a:gd name="T62" fmla="*/ 1239 w 4877"/>
              <a:gd name="T63" fmla="*/ 3245 h 4877"/>
              <a:gd name="T64" fmla="*/ 1632 w 4877"/>
              <a:gd name="T65" fmla="*/ 3638 h 4877"/>
              <a:gd name="T66" fmla="*/ 1711 w 4877"/>
              <a:gd name="T67" fmla="*/ 3668 h 4877"/>
              <a:gd name="T68" fmla="*/ 1799 w 4877"/>
              <a:gd name="T69" fmla="*/ 3638 h 4877"/>
              <a:gd name="T70" fmla="*/ 2438 w 4877"/>
              <a:gd name="T71" fmla="*/ 2989 h 4877"/>
              <a:gd name="T72" fmla="*/ 3078 w 4877"/>
              <a:gd name="T73" fmla="*/ 3638 h 4877"/>
              <a:gd name="T74" fmla="*/ 3161 w 4877"/>
              <a:gd name="T75" fmla="*/ 3668 h 4877"/>
              <a:gd name="T76" fmla="*/ 3245 w 4877"/>
              <a:gd name="T77" fmla="*/ 3638 h 4877"/>
              <a:gd name="T78" fmla="*/ 3638 w 4877"/>
              <a:gd name="T79" fmla="*/ 3245 h 4877"/>
              <a:gd name="T80" fmla="*/ 3668 w 4877"/>
              <a:gd name="T81" fmla="*/ 3166 h 4877"/>
              <a:gd name="T82" fmla="*/ 3638 w 4877"/>
              <a:gd name="T83" fmla="*/ 3078 h 4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2" name="Label"/>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Label"/>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34" name="Label"/>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Rectangle 326"/>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36" name="Rectangle 407"/>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Hawaii Department of Transportation</a:t>
            </a:r>
          </a:p>
        </p:txBody>
      </p:sp>
      <p:sp>
        <p:nvSpPr>
          <p:cNvPr id="137" name="Rectangle 453"/>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8" name="Rectangle 465"/>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9" name="Straight Arrow Connector 597"/>
          <p:cNvCxnSpPr/>
          <p:nvPr/>
        </p:nvCxnSpPr>
        <p:spPr>
          <a:xfrm>
            <a:off x="3648456" y="3705149"/>
            <a:ext cx="1976933" cy="636422"/>
          </a:xfrm>
          <a:prstGeom prst="line">
            <a:avLst/>
          </a:prstGeom>
          <a:ln w="12700">
            <a:solidFill>
              <a:srgbClr val="808080"/>
            </a:solidFill>
            <a:prstDash val="dash"/>
          </a:ln>
        </p:spPr>
      </p:cxnSp>
      <p:cxnSp>
        <p:nvCxnSpPr>
          <p:cNvPr id="140" name="Straight Arrow Connector 637"/>
          <p:cNvCxnSpPr/>
          <p:nvPr/>
        </p:nvCxnSpPr>
        <p:spPr>
          <a:xfrm>
            <a:off x="3648456" y="3375050"/>
            <a:ext cx="1985162" cy="389534"/>
          </a:xfrm>
          <a:prstGeom prst="line">
            <a:avLst/>
          </a:prstGeom>
          <a:ln w="12700">
            <a:solidFill>
              <a:srgbClr val="808080"/>
            </a:solidFill>
            <a:prstDash val="dash"/>
          </a:ln>
        </p:spPr>
      </p:cxnSp>
      <p:cxnSp>
        <p:nvCxnSpPr>
          <p:cNvPr id="141" name="Straight Arrow Connector 640"/>
          <p:cNvCxnSpPr/>
          <p:nvPr/>
        </p:nvCxnSpPr>
        <p:spPr>
          <a:xfrm>
            <a:off x="3648456" y="2495398"/>
            <a:ext cx="1976933" cy="643738"/>
          </a:xfrm>
          <a:prstGeom prst="line">
            <a:avLst/>
          </a:prstGeom>
          <a:ln w="12700">
            <a:solidFill>
              <a:srgbClr val="808080"/>
            </a:solidFill>
            <a:prstDash val="dash"/>
          </a:ln>
        </p:spPr>
      </p:cxnSp>
      <p:cxnSp>
        <p:nvCxnSpPr>
          <p:cNvPr id="142" name="Straight Arrow Connector 646"/>
          <p:cNvCxnSpPr/>
          <p:nvPr/>
        </p:nvCxnSpPr>
        <p:spPr>
          <a:xfrm>
            <a:off x="3648456" y="2311603"/>
            <a:ext cx="1985162" cy="281635"/>
          </a:xfrm>
          <a:prstGeom prst="line">
            <a:avLst/>
          </a:prstGeom>
          <a:ln w="12700">
            <a:solidFill>
              <a:srgbClr val="808080"/>
            </a:solidFill>
            <a:prstDash val="dash"/>
          </a:ln>
        </p:spPr>
      </p:cxnSp>
      <p:cxnSp>
        <p:nvCxnSpPr>
          <p:cNvPr id="143" name="Straight Arrow Connector 471"/>
          <p:cNvCxnSpPr/>
          <p:nvPr/>
        </p:nvCxnSpPr>
        <p:spPr>
          <a:xfrm flipV="1">
            <a:off x="3648456" y="2011680"/>
            <a:ext cx="1952244" cy="274320"/>
          </a:xfrm>
          <a:prstGeom prst="line">
            <a:avLst/>
          </a:prstGeom>
          <a:ln w="12700">
            <a:solidFill>
              <a:srgbClr val="808080"/>
            </a:solidFill>
            <a:prstDash val="dash"/>
          </a:ln>
        </p:spPr>
      </p:cxnSp>
      <p:sp>
        <p:nvSpPr>
          <p:cNvPr id="144" name="Rectangle 36"/>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dirty="0">
                          <a:solidFill>
                            <a:srgbClr val="000000"/>
                          </a:solidFill>
                          <a:latin typeface="Arial"/>
                          <a:ea typeface="Arial"/>
                          <a:cs typeface="Arial"/>
                        </a:rPr>
                        <a:t>10x+ </a:t>
                      </a:r>
                      <a:r>
                        <a:rPr lang="en-US" sz="1200" i="1" dirty="0">
                          <a:solidFill>
                            <a:srgbClr val="000000"/>
                          </a:solidFill>
                          <a:latin typeface="Arial"/>
                          <a:ea typeface="Arial"/>
                          <a:cs typeface="Arial"/>
                        </a:rPr>
                        <a:t>Arleigh Burke</a:t>
                      </a:r>
                      <a:r>
                        <a:rPr lang="en-US" sz="1200"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 | Source: Congressional Research Service; OBBBA text; FY26 Budget Estimate; Lockheed Martin MK 70 Product Card; 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27"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28"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9"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30"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31"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32"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67"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FranklinCapacityReferenceLine"/>
          <p:cNvCxnSpPr/>
          <p:nvPr/>
        </p:nvCxnSpPr>
        <p:spPr>
          <a:xfrm flipV="1">
            <a:off x="1285491" y="4093687"/>
            <a:ext cx="1100157" cy="357033"/>
          </a:xfrm>
          <a:prstGeom prst="line">
            <a:avLst/>
          </a:prstGeom>
          <a:ln w="19050">
            <a:solidFill>
              <a:srgbClr val="000000"/>
            </a:solidFill>
          </a:ln>
        </p:spPr>
      </p:cxnSp>
      <p:cxnSp>
        <p:nvCxnSpPr>
          <p:cNvPr id="104" name="FranklinCapacityReferenceLine"/>
          <p:cNvCxnSpPr/>
          <p:nvPr/>
        </p:nvCxnSpPr>
        <p:spPr>
          <a:xfrm flipV="1">
            <a:off x="2385648" y="3657315"/>
            <a:ext cx="1100157" cy="436373"/>
          </a:xfrm>
          <a:prstGeom prst="line">
            <a:avLst/>
          </a:prstGeom>
          <a:ln w="19050">
            <a:solidFill>
              <a:srgbClr val="000000"/>
            </a:solidFill>
          </a:ln>
        </p:spPr>
      </p:cxnSp>
      <p:cxnSp>
        <p:nvCxnSpPr>
          <p:cNvPr id="105" name="FranklinCapacityReferenceLine"/>
          <p:cNvCxnSpPr/>
          <p:nvPr/>
        </p:nvCxnSpPr>
        <p:spPr>
          <a:xfrm flipV="1">
            <a:off x="3485805" y="2784568"/>
            <a:ext cx="1100157" cy="872746"/>
          </a:xfrm>
          <a:prstGeom prst="line">
            <a:avLst/>
          </a:prstGeom>
          <a:ln w="19050">
            <a:solidFill>
              <a:srgbClr val="000000"/>
            </a:solidFill>
          </a:ln>
        </p:spPr>
      </p:cxnSp>
      <p:cxnSp>
        <p:nvCxnSpPr>
          <p:cNvPr id="106" name="FranklinCapacityReferenceLine"/>
          <p:cNvCxnSpPr/>
          <p:nvPr/>
        </p:nvCxnSpPr>
        <p:spPr>
          <a:xfrm>
            <a:off x="4585962" y="2784568"/>
            <a:ext cx="1100157" cy="0"/>
          </a:xfrm>
          <a:prstGeom prst="line">
            <a:avLst/>
          </a:prstGeom>
          <a:ln w="19050">
            <a:solidFill>
              <a:srgbClr val="000000"/>
            </a:solidFill>
          </a:ln>
        </p:spPr>
      </p:cxnSp>
      <p:cxnSp>
        <p:nvCxnSpPr>
          <p:cNvPr id="107" name="FranklinCapacityReferenceLine"/>
          <p:cNvCxnSpPr/>
          <p:nvPr/>
        </p:nvCxnSpPr>
        <p:spPr>
          <a:xfrm>
            <a:off x="5686119" y="2784568"/>
            <a:ext cx="1100157" cy="0"/>
          </a:xfrm>
          <a:prstGeom prst="line">
            <a:avLst/>
          </a:prstGeom>
          <a:ln w="19050">
            <a:solidFill>
              <a:srgbClr val="000000"/>
            </a:solidFill>
          </a:ln>
        </p:spPr>
      </p:cxnSp>
      <p:cxnSp>
        <p:nvCxnSpPr>
          <p:cNvPr id="108" name="FranklinCapacityReferenceLine"/>
          <p:cNvCxnSpPr/>
          <p:nvPr/>
        </p:nvCxnSpPr>
        <p:spPr>
          <a:xfrm>
            <a:off x="6786276" y="2784568"/>
            <a:ext cx="1100157" cy="0"/>
          </a:xfrm>
          <a:prstGeom prst="line">
            <a:avLst/>
          </a:prstGeom>
          <a:ln w="19050">
            <a:solidFill>
              <a:srgbClr val="000000"/>
            </a:solidFill>
          </a:ln>
        </p:spPr>
      </p:cxnSp>
      <p:cxnSp>
        <p:nvCxnSpPr>
          <p:cNvPr id="109" name="FranklinCapacityReferenceLine"/>
          <p:cNvCxnSpPr/>
          <p:nvPr/>
        </p:nvCxnSpPr>
        <p:spPr>
          <a:xfrm>
            <a:off x="7886433" y="2784568"/>
            <a:ext cx="1100157" cy="0"/>
          </a:xfrm>
          <a:prstGeom prst="line">
            <a:avLst/>
          </a:prstGeom>
          <a:ln w="19050">
            <a:solidFill>
              <a:srgbClr val="000000"/>
            </a:solidFill>
          </a:ln>
        </p:spPr>
      </p:cxnSp>
      <p:cxnSp>
        <p:nvCxnSpPr>
          <p:cNvPr id="110" name="FranklinCapacityReferenceLine"/>
          <p:cNvCxnSpPr/>
          <p:nvPr/>
        </p:nvCxnSpPr>
        <p:spPr>
          <a:xfrm>
            <a:off x="8986590" y="2784568"/>
            <a:ext cx="1100157" cy="0"/>
          </a:xfrm>
          <a:prstGeom prst="line">
            <a:avLst/>
          </a:prstGeom>
          <a:ln w="19050">
            <a:solidFill>
              <a:srgbClr val="000000"/>
            </a:solidFill>
          </a:ln>
        </p:spPr>
      </p:cxnSp>
      <p:cxnSp>
        <p:nvCxnSpPr>
          <p:cNvPr id="111" name="FranklinCapacityReferenceLine"/>
          <p:cNvCxnSpPr/>
          <p:nvPr/>
        </p:nvCxnSpPr>
        <p:spPr>
          <a:xfrm>
            <a:off x="10086747" y="2784568"/>
            <a:ext cx="1100157" cy="0"/>
          </a:xfrm>
          <a:prstGeom prst="line">
            <a:avLst/>
          </a:prstGeom>
          <a:ln w="19050">
            <a:solidFill>
              <a:srgbClr val="000000"/>
            </a:solidFill>
          </a:ln>
        </p:spPr>
      </p:cxnSp>
      <p:sp>
        <p:nvSpPr>
          <p:cNvPr id="112"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13"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14"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15"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16"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17"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18"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9"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20"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21"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22"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23"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24"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25"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26"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7"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8"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9"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0"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1"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32"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pic>
        <p:nvPicPr>
          <p:cNvPr id="133" name="Picture 2"/>
          <p:cNvPicPr>
            <a:picLocks noChangeAspect="1"/>
          </p:cNvPicPr>
          <p:nvPr/>
        </p:nvPicPr>
        <p:blipFill>
          <a:blip r:embed="rId3"/>
          <a:stretch>
            <a:fillRect/>
          </a:stretch>
        </p:blipFill>
        <p:spPr>
          <a:xfrm>
            <a:off x="10452506" y="43891"/>
            <a:ext cx="843077" cy="843077"/>
          </a:xfrm>
          <a:prstGeom prst="rect">
            <a:avLst/>
          </a:prstGeom>
        </p:spPr>
      </p:pic>
      <p:pic>
        <p:nvPicPr>
          <p:cNvPr id="134" name="Picture 8"/>
          <p:cNvPicPr>
            <a:picLocks noChangeAspect="1"/>
          </p:cNvPicPr>
          <p:nvPr/>
        </p:nvPicPr>
        <p:blipFill>
          <a:blip r:embed="rId4"/>
          <a:stretch>
            <a:fillRect/>
          </a:stretch>
        </p:blipFill>
        <p:spPr>
          <a:xfrm>
            <a:off x="11312957" y="43891"/>
            <a:ext cx="843077" cy="843077"/>
          </a:xfrm>
          <a:prstGeom prst="rect">
            <a:avLst/>
          </a:prstGeom>
        </p:spPr>
      </p:pic>
      <p:sp>
        <p:nvSpPr>
          <p:cNvPr id="135"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6"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7"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8" name="FranklinCapacityLegendMark"/>
          <p:cNvCxnSpPr/>
          <p:nvPr/>
        </p:nvCxnSpPr>
        <p:spPr>
          <a:xfrm>
            <a:off x="9691726" y="1722730"/>
            <a:ext cx="160020" cy="0"/>
          </a:xfrm>
          <a:prstGeom prst="line">
            <a:avLst/>
          </a:prstGeom>
          <a:ln w="19050">
            <a:solidFill>
              <a:srgbClr val="000000"/>
            </a:solidFill>
            <a:prstDash val="dash"/>
            <a:tailEnd type="triangle" w="med" len="med"/>
          </a:ln>
        </p:spPr>
      </p:cxnSp>
      <p:sp>
        <p:nvSpPr>
          <p:cNvPr id="139"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40"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41"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42"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43"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44"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45"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6"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6"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7"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8"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9"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60"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61"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62"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63"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64"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65"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6"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2026-06-27T19:33:41Z</dcterms:created>
  <dcterms:modified xsi:type="dcterms:W3CDTF">2026-06-27T19:33:41Z</dcterms:modified>
</cp:coreProperties>
</file>