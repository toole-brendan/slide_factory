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jpg" ContentType="image/jpeg"/>
  <Default Extension="png" ContentType="image/png"/>
  <Default Extension="svg" ContentType="image/svg+xml"/>
  <Default Extension="emf" ContentType="image/x-emf"/>
  <Default Extension="bin" ContentType="application/vnd.openxmlformats-officedocument.oleObjec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embeddings/Microsoft_Excel_BinaryWorksheet1.xlsb" ContentType="application/vnd.ms-excel.sheet.binary.macroEnabled.12"/>
  <Override PartName="/ppt/embeddings/Microsoft_Excel_BinaryWorksheet2.xlsb" ContentType="application/vnd.ms-excel.sheet.binary.macroEnabled.12"/>
  <Override PartName="/ppt/embeddings/Microsoft_Excel_BinaryWorksheet3.xlsb" ContentType="application/vnd.ms-excel.sheet.binary.macroEnabled.12"/>
  <Override PartName="/ppt/embeddings/Microsoft_Excel_Worksheet4.xlsx" ContentType="application/vnd.openxmlformats-officedocument.spreadsheetml.sheet"/>
  <Override PartName="/ppt/embeddings/Microsoft_Excel_Worksheet5.xlsx" ContentType="application/vnd.openxmlformats-officedocument.spreadsheetml.sheet"/>
  <Override PartName="/ppt/embeddings/Microsoft_Excel_Worksheet6.xlsx" ContentType="application/vnd.openxmlformats-officedocument.spreadsheetml.sheet"/>
  <Override PartName="/ppt/embeddings/Microsoft_Excel_Worksheet7.xlsx" ContentType="application/vnd.openxmlformats-officedocument.spreadsheetml.sheet"/>
  <Override PartName="/ppt/embeddings/Microsoft_Excel_Worksheet8.xlsx" ContentType="application/vnd.openxmlformats-officedocument.spreadsheetml.sheet"/>
  <Override PartName="/ppt/embeddings/Microsoft_Excel_BinaryWorksheet9.xlsb" ContentType="application/vnd.ms-excel.sheet.binary.macroEnabled.12"/>
  <Override PartName="/ppt/embeddings/Microsoft_Excel_BinaryWorksheet10.xlsb" ContentType="application/vnd.ms-excel.sheet.binary.macroEnabled.12"/>
  <Override PartName="/ppt/embeddings/Microsoft_Excel_BinaryWorksheet11.xlsb" ContentType="application/vnd.ms-excel.sheet.binary.macroEnabled.12"/>
  <Override PartName="/ppt/embeddings/Microsoft_Excel_BinaryWorksheet12.xlsb" ContentType="application/vnd.ms-excel.sheet.binary.macroEnabled.12"/>
  <Override PartName="/ppt/embeddings/Microsoft_Excel_BinaryWorksheet13.xlsb" ContentType="application/vnd.ms-excel.sheet.binary.macroEnabled.12"/>
  <Override PartName="/ppt/embeddings/Microsoft_Excel_BinaryWorksheet14.xlsb" ContentType="application/vnd.ms-excel.sheet.binary.macroEnabled.12"/>
  <Override PartName="/ppt/embeddings/Microsoft_Excel_BinaryWorksheet15.xlsb" ContentType="application/vnd.ms-excel.sheet.binary.macroEnabled.12"/>
  <Override PartName="/ppt/embeddings/Microsoft_Excel_BinaryWorksheet16.xlsb" ContentType="application/vnd.ms-excel.sheet.binary.macroEnabled.12"/>
  <Override PartName="/ppt/embeddings/Microsoft_Excel_BinaryWorksheet17.xlsb" ContentType="application/vnd.ms-excel.sheet.binary.macroEnabled.12"/>
  <Override PartName="/ppt/embeddings/Microsoft_Excel_BinaryWorksheet18.xlsb" ContentType="application/vnd.ms-excel.sheet.binary.macroEnabled.12"/>
  <Override PartName="/ppt/embeddings/Microsoft_Excel_BinaryWorksheet19.xlsb" ContentType="application/vnd.ms-excel.sheet.binary.macroEnabled.12"/>
  <Override PartName="/ppt/embeddings/Microsoft_Excel_BinaryWorksheet20.xlsb" ContentType="application/vnd.ms-excel.sheet.binary.macroEnabled.12"/>
  <Override PartName="/ppt/embeddings/Microsoft_Excel_BinaryWorksheet21.xlsb" ContentType="application/vnd.ms-excel.sheet.binary.macroEnabled.12"/>
  <Override PartName="/ppt/embeddings/Microsoft_Excel_Worksheet22.xlsx" ContentType="application/vnd.openxmlformats-officedocument.spreadsheetml.sheet"/>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4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934200" cy="9220200"/>
  <p:defaultTextStyle>
    <a:defPPr>
      <a:defRPr lang="en-US"/>
    </a:defPPr>
    <a:lvl1pPr marL="0" algn="l" defTabSz="914400" rtl="0" eaLnBrk="1" latinLnBrk="0" hangingPunct="1">
      <a:defRPr sz="1800" kern="1200">
        <a:solidFill>
          <a:schemeClr val="tx1"/>
        </a:solidFill>
        <a:latin typeface="+mn-lt"/>
        <a:ea typeface="+mn-ea"/>
        <a:cs typeface="+mn-cs"/>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5972"/>
    <a:srgbClr val="6E91B1"/>
    <a:srgbClr val="B6C8D8"/>
    <a:srgbClr val="E2E9EF"/>
    <a:srgbClr val="F2F2F2"/>
    <a:srgbClr val="447BB2"/>
    <a:srgbClr val="D1D1D1"/>
    <a:srgbClr val="BFBFBF"/>
    <a:srgbClr val="1D4D68"/>
    <a:srgbClr val="7983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97" d="100"/>
          <a:sy n="97" d="100"/>
        </p:scale>
        <p:origin x="1038" y="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handoutMaster" Target="handoutMasters/handout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Worksheet1.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Worksheet2.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Worksheet3.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Worksheet9.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Worksheet10.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Worksheet11.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BinaryWorksheet12.xlsb"/></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BinaryWorksheet13.xlsb"/></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BinaryWorksheet14.xlsb"/></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BinaryWorksheet15.xlsb"/></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BinaryWorksheet16.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BinaryWorksheet17.xlsb"/></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BinaryWorksheet18.xlsb"/></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BinaryWorksheet19.xlsb"/></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BinaryWorksheet20.xlsb"/></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BinaryWorksheet21.xlsb"/></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794167134043748E-2"/>
          <c:y val="3.2721202003338896E-2"/>
          <c:w val="0.94148438960553371"/>
          <c:h val="0.92754590984974961"/>
        </c:manualLayout>
      </c:layout>
      <c:bubbleChart>
        <c:varyColors val="0"/>
        <c:ser>
          <c:idx val="0"/>
          <c:order val="0"/>
          <c:spPr>
            <a:solidFill>
              <a:srgbClr val="C30C3E"/>
            </a:solidFill>
            <a:ln w="3175" cmpd="sng" algn="ctr">
              <a:solidFill>
                <a:schemeClr val="tx1"/>
              </a:solidFill>
              <a:prstDash val="solid"/>
            </a:ln>
          </c:spPr>
          <c:invertIfNegative val="0"/>
          <c:xVal>
            <c:numRef>
              <c:f>Sheet1!$A$1:$A$73</c:f>
              <c:numCache>
                <c:formatCode>General</c:formatCode>
                <c:ptCount val="73"/>
                <c:pt idx="0">
                  <c:v>2021</c:v>
                </c:pt>
                <c:pt idx="1">
                  <c:v>2022</c:v>
                </c:pt>
                <c:pt idx="2">
                  <c:v>2022</c:v>
                </c:pt>
              </c:numCache>
            </c:numRef>
          </c:xVal>
          <c:yVal>
            <c:numRef>
              <c:f>Sheet1!$B$1:$B$73</c:f>
              <c:numCache>
                <c:formatCode>General</c:formatCode>
                <c:ptCount val="73"/>
                <c:pt idx="0">
                  <c:v>-2.9787234042553195</c:v>
                </c:pt>
                <c:pt idx="1">
                  <c:v>-33.200279823875562</c:v>
                </c:pt>
                <c:pt idx="2">
                  <c:v>1.9083969465648851</c:v>
                </c:pt>
              </c:numCache>
            </c:numRef>
          </c:yVal>
          <c:bubbleSize>
            <c:numRef>
              <c:f>Sheet1!$C$1:$C$73</c:f>
              <c:numCache>
                <c:formatCode>General</c:formatCode>
                <c:ptCount val="73"/>
                <c:pt idx="0">
                  <c:v>19771.325688420737</c:v>
                </c:pt>
                <c:pt idx="1">
                  <c:v>3856.7506229268834</c:v>
                </c:pt>
                <c:pt idx="2">
                  <c:v>20790.68069640845</c:v>
                </c:pt>
              </c:numCache>
            </c:numRef>
          </c:bubbleSize>
          <c:bubble3D val="0"/>
          <c:extLst>
            <c:ext xmlns:c16="http://schemas.microsoft.com/office/drawing/2014/chart" uri="{C3380CC4-5D6E-409C-BE32-E72D297353CC}">
              <c16:uniqueId val="{00000000-A4D1-4D60-A912-E9AB7C77F9E6}"/>
            </c:ext>
          </c:extLst>
        </c:ser>
        <c:ser>
          <c:idx val="1"/>
          <c:order val="1"/>
          <c:spPr>
            <a:solidFill>
              <a:srgbClr val="364D6E"/>
            </a:solidFill>
            <a:ln w="3175" cmpd="sng" algn="ctr">
              <a:solidFill>
                <a:schemeClr val="tx1"/>
              </a:solidFill>
              <a:prstDash val="solid"/>
            </a:ln>
          </c:spPr>
          <c:invertIfNegative val="0"/>
          <c:dPt>
            <c:idx val="3"/>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1-A4D1-4D60-A912-E9AB7C77F9E6}"/>
              </c:ext>
            </c:extLst>
          </c:dPt>
          <c:dPt>
            <c:idx val="4"/>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2-A4D1-4D60-A912-E9AB7C77F9E6}"/>
              </c:ext>
            </c:extLst>
          </c:dPt>
          <c:dPt>
            <c:idx val="5"/>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3-A4D1-4D60-A912-E9AB7C77F9E6}"/>
              </c:ext>
            </c:extLst>
          </c:dPt>
          <c:dPt>
            <c:idx val="6"/>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4-A4D1-4D60-A912-E9AB7C77F9E6}"/>
              </c:ext>
            </c:extLst>
          </c:dPt>
          <c:xVal>
            <c:numRef>
              <c:f>Sheet1!$A$1:$A$73</c:f>
              <c:numCache>
                <c:formatCode>General</c:formatCode>
                <c:ptCount val="73"/>
                <c:pt idx="3">
                  <c:v>2020</c:v>
                </c:pt>
                <c:pt idx="4">
                  <c:v>2021</c:v>
                </c:pt>
                <c:pt idx="5">
                  <c:v>2021</c:v>
                </c:pt>
                <c:pt idx="6">
                  <c:v>2022</c:v>
                </c:pt>
                <c:pt idx="7">
                  <c:v>2020</c:v>
                </c:pt>
                <c:pt idx="8">
                  <c:v>2021</c:v>
                </c:pt>
                <c:pt idx="9">
                  <c:v>2021</c:v>
                </c:pt>
                <c:pt idx="10">
                  <c:v>2022</c:v>
                </c:pt>
                <c:pt idx="11">
                  <c:v>2023</c:v>
                </c:pt>
                <c:pt idx="12">
                  <c:v>2023</c:v>
                </c:pt>
                <c:pt idx="13">
                  <c:v>2024</c:v>
                </c:pt>
                <c:pt idx="14">
                  <c:v>2024</c:v>
                </c:pt>
              </c:numCache>
            </c:numRef>
          </c:xVal>
          <c:yVal>
            <c:numRef>
              <c:f>Sheet1!$D$1:$D$73</c:f>
              <c:numCache>
                <c:formatCode>General</c:formatCode>
                <c:ptCount val="73"/>
                <c:pt idx="3">
                  <c:v>-7.8260869565217384</c:v>
                </c:pt>
                <c:pt idx="4">
                  <c:v>-38.993333333333332</c:v>
                </c:pt>
                <c:pt idx="5">
                  <c:v>4.1817392562581395</c:v>
                </c:pt>
                <c:pt idx="6">
                  <c:v>0.3434112180997913</c:v>
                </c:pt>
                <c:pt idx="7">
                  <c:v>10.954584404455868</c:v>
                </c:pt>
                <c:pt idx="8">
                  <c:v>54.245502842762605</c:v>
                </c:pt>
                <c:pt idx="9">
                  <c:v>37.242909271852717</c:v>
                </c:pt>
                <c:pt idx="10">
                  <c:v>45.333519961430191</c:v>
                </c:pt>
                <c:pt idx="11">
                  <c:v>-8.1748091898802837</c:v>
                </c:pt>
                <c:pt idx="12">
                  <c:v>6.6175378123792834</c:v>
                </c:pt>
                <c:pt idx="13">
                  <c:v>42.112632603175356</c:v>
                </c:pt>
                <c:pt idx="14">
                  <c:v>12.685888520380869</c:v>
                </c:pt>
              </c:numCache>
            </c:numRef>
          </c:yVal>
          <c:bubbleSize>
            <c:numRef>
              <c:f>Sheet1!$E$1:$E$73</c:f>
              <c:numCache>
                <c:formatCode>General</c:formatCode>
                <c:ptCount val="73"/>
                <c:pt idx="3">
                  <c:v>21176.49225216599</c:v>
                </c:pt>
                <c:pt idx="4">
                  <c:v>3785.9985360805663</c:v>
                </c:pt>
                <c:pt idx="5">
                  <c:v>7821.8697999999995</c:v>
                </c:pt>
                <c:pt idx="6">
                  <c:v>11784.824390166483</c:v>
                </c:pt>
                <c:pt idx="7">
                  <c:v>29175</c:v>
                </c:pt>
                <c:pt idx="8">
                  <c:v>10729</c:v>
                </c:pt>
                <c:pt idx="9">
                  <c:v>48232</c:v>
                </c:pt>
                <c:pt idx="10">
                  <c:v>64299</c:v>
                </c:pt>
                <c:pt idx="11">
                  <c:v>5162.2</c:v>
                </c:pt>
                <c:pt idx="12">
                  <c:v>33653</c:v>
                </c:pt>
                <c:pt idx="13">
                  <c:v>8427.4</c:v>
                </c:pt>
                <c:pt idx="14">
                  <c:v>37388</c:v>
                </c:pt>
              </c:numCache>
            </c:numRef>
          </c:bubbleSize>
          <c:bubble3D val="0"/>
          <c:extLst>
            <c:ext xmlns:c16="http://schemas.microsoft.com/office/drawing/2014/chart" uri="{C3380CC4-5D6E-409C-BE32-E72D297353CC}">
              <c16:uniqueId val="{00000005-A4D1-4D60-A912-E9AB7C77F9E6}"/>
            </c:ext>
          </c:extLst>
        </c:ser>
        <c:ser>
          <c:idx val="2"/>
          <c:order val="2"/>
          <c:spPr>
            <a:solidFill>
              <a:srgbClr val="27AE60"/>
            </a:solidFill>
            <a:ln w="3175" cmpd="sng" algn="ctr">
              <a:solidFill>
                <a:schemeClr val="tx1"/>
              </a:solidFill>
              <a:prstDash val="solid"/>
            </a:ln>
          </c:spPr>
          <c:invertIfNegative val="0"/>
          <c:dPt>
            <c:idx val="15"/>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6-A4D1-4D60-A912-E9AB7C77F9E6}"/>
              </c:ext>
            </c:extLst>
          </c:dPt>
          <c:dPt>
            <c:idx val="16"/>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7-A4D1-4D60-A912-E9AB7C77F9E6}"/>
              </c:ext>
            </c:extLst>
          </c:dPt>
          <c:dPt>
            <c:idx val="17"/>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8-A4D1-4D60-A912-E9AB7C77F9E6}"/>
              </c:ext>
            </c:extLst>
          </c:dPt>
          <c:dPt>
            <c:idx val="18"/>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9-A4D1-4D60-A912-E9AB7C77F9E6}"/>
              </c:ext>
            </c:extLst>
          </c:dPt>
          <c:dPt>
            <c:idx val="19"/>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A-A4D1-4D60-A912-E9AB7C77F9E6}"/>
              </c:ext>
            </c:extLst>
          </c:dPt>
          <c:dPt>
            <c:idx val="20"/>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B-A4D1-4D60-A912-E9AB7C77F9E6}"/>
              </c:ext>
            </c:extLst>
          </c:dPt>
          <c:dPt>
            <c:idx val="21"/>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C-A4D1-4D60-A912-E9AB7C77F9E6}"/>
              </c:ext>
            </c:extLst>
          </c:dPt>
          <c:dPt>
            <c:idx val="22"/>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D-A4D1-4D60-A912-E9AB7C77F9E6}"/>
              </c:ext>
            </c:extLst>
          </c:dPt>
          <c:dPt>
            <c:idx val="23"/>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E-A4D1-4D60-A912-E9AB7C77F9E6}"/>
              </c:ext>
            </c:extLst>
          </c:dPt>
          <c:dPt>
            <c:idx val="24"/>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F-A4D1-4D60-A912-E9AB7C77F9E6}"/>
              </c:ext>
            </c:extLst>
          </c:dPt>
          <c:dPt>
            <c:idx val="25"/>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10-A4D1-4D60-A912-E9AB7C77F9E6}"/>
              </c:ext>
            </c:extLst>
          </c:dPt>
          <c:xVal>
            <c:numRef>
              <c:f>Sheet1!$A$1:$A$73</c:f>
              <c:numCache>
                <c:formatCode>General</c:formatCode>
                <c:ptCount val="73"/>
                <c:pt idx="15">
                  <c:v>2021</c:v>
                </c:pt>
                <c:pt idx="16">
                  <c:v>2022</c:v>
                </c:pt>
                <c:pt idx="17">
                  <c:v>2023</c:v>
                </c:pt>
                <c:pt idx="18">
                  <c:v>2024</c:v>
                </c:pt>
                <c:pt idx="19">
                  <c:v>2020</c:v>
                </c:pt>
                <c:pt idx="20">
                  <c:v>2020</c:v>
                </c:pt>
                <c:pt idx="21">
                  <c:v>2021</c:v>
                </c:pt>
                <c:pt idx="22">
                  <c:v>2022</c:v>
                </c:pt>
                <c:pt idx="23">
                  <c:v>2022</c:v>
                </c:pt>
                <c:pt idx="24">
                  <c:v>2023</c:v>
                </c:pt>
                <c:pt idx="25">
                  <c:v>2024</c:v>
                </c:pt>
                <c:pt idx="26">
                  <c:v>2021</c:v>
                </c:pt>
                <c:pt idx="27">
                  <c:v>2021</c:v>
                </c:pt>
                <c:pt idx="28">
                  <c:v>2022</c:v>
                </c:pt>
                <c:pt idx="29">
                  <c:v>2022</c:v>
                </c:pt>
                <c:pt idx="30">
                  <c:v>2022</c:v>
                </c:pt>
                <c:pt idx="31">
                  <c:v>2023</c:v>
                </c:pt>
                <c:pt idx="32">
                  <c:v>2023</c:v>
                </c:pt>
                <c:pt idx="33">
                  <c:v>2023</c:v>
                </c:pt>
                <c:pt idx="34">
                  <c:v>2024</c:v>
                </c:pt>
              </c:numCache>
            </c:numRef>
          </c:xVal>
          <c:yVal>
            <c:numRef>
              <c:f>Sheet1!$F$1:$F$73</c:f>
              <c:numCache>
                <c:formatCode>General</c:formatCode>
                <c:ptCount val="73"/>
                <c:pt idx="15">
                  <c:v>7.8401972544315619</c:v>
                </c:pt>
                <c:pt idx="16">
                  <c:v>-0.13365410318096765</c:v>
                </c:pt>
                <c:pt idx="17">
                  <c:v>3.0864197530864197</c:v>
                </c:pt>
                <c:pt idx="18">
                  <c:v>2.3054755043227666</c:v>
                </c:pt>
                <c:pt idx="19">
                  <c:v>18.261523046092183</c:v>
                </c:pt>
                <c:pt idx="20">
                  <c:v>10.297043287370515</c:v>
                </c:pt>
                <c:pt idx="21">
                  <c:v>42.15738351798452</c:v>
                </c:pt>
                <c:pt idx="22">
                  <c:v>36.14512215764826</c:v>
                </c:pt>
                <c:pt idx="23">
                  <c:v>50.732122743880659</c:v>
                </c:pt>
                <c:pt idx="24">
                  <c:v>14.143675169182718</c:v>
                </c:pt>
                <c:pt idx="25">
                  <c:v>13.392813131562084</c:v>
                </c:pt>
                <c:pt idx="26">
                  <c:v>51.921594202898561</c:v>
                </c:pt>
                <c:pt idx="27">
                  <c:v>55.610926378365988</c:v>
                </c:pt>
                <c:pt idx="28">
                  <c:v>65.804229607250761</c:v>
                </c:pt>
                <c:pt idx="29">
                  <c:v>59.455101588262075</c:v>
                </c:pt>
                <c:pt idx="30">
                  <c:v>14.103882746207253</c:v>
                </c:pt>
                <c:pt idx="31">
                  <c:v>59.616119096509237</c:v>
                </c:pt>
                <c:pt idx="32">
                  <c:v>30.965074903765107</c:v>
                </c:pt>
                <c:pt idx="33">
                  <c:v>21.258235671389425</c:v>
                </c:pt>
                <c:pt idx="34">
                  <c:v>22.182558229929164</c:v>
                </c:pt>
              </c:numCache>
            </c:numRef>
          </c:yVal>
          <c:bubbleSize>
            <c:numRef>
              <c:f>Sheet1!$G$1:$G$73</c:f>
              <c:numCache>
                <c:formatCode>General</c:formatCode>
                <c:ptCount val="73"/>
                <c:pt idx="15">
                  <c:v>1089.4355999999998</c:v>
                </c:pt>
                <c:pt idx="16">
                  <c:v>8004.2436000000007</c:v>
                </c:pt>
                <c:pt idx="17">
                  <c:v>25097.407375849169</c:v>
                </c:pt>
                <c:pt idx="18">
                  <c:v>23479.89660725644</c:v>
                </c:pt>
                <c:pt idx="19">
                  <c:v>3992</c:v>
                </c:pt>
                <c:pt idx="20">
                  <c:v>14577</c:v>
                </c:pt>
                <c:pt idx="21">
                  <c:v>26356</c:v>
                </c:pt>
                <c:pt idx="22">
                  <c:v>3544.6</c:v>
                </c:pt>
                <c:pt idx="23">
                  <c:v>36401</c:v>
                </c:pt>
                <c:pt idx="24">
                  <c:v>19210</c:v>
                </c:pt>
                <c:pt idx="25">
                  <c:v>20287</c:v>
                </c:pt>
                <c:pt idx="26">
                  <c:v>690</c:v>
                </c:pt>
                <c:pt idx="27">
                  <c:v>793.63900000000001</c:v>
                </c:pt>
                <c:pt idx="28">
                  <c:v>993</c:v>
                </c:pt>
                <c:pt idx="29">
                  <c:v>1113.8589999999999</c:v>
                </c:pt>
                <c:pt idx="30">
                  <c:v>1555.6</c:v>
                </c:pt>
                <c:pt idx="31">
                  <c:v>974</c:v>
                </c:pt>
                <c:pt idx="32">
                  <c:v>1511.4059999999999</c:v>
                </c:pt>
                <c:pt idx="33">
                  <c:v>1715.1</c:v>
                </c:pt>
                <c:pt idx="34">
                  <c:v>2083.8939999999998</c:v>
                </c:pt>
              </c:numCache>
            </c:numRef>
          </c:bubbleSize>
          <c:bubble3D val="0"/>
          <c:extLst>
            <c:ext xmlns:c16="http://schemas.microsoft.com/office/drawing/2014/chart" uri="{C3380CC4-5D6E-409C-BE32-E72D297353CC}">
              <c16:uniqueId val="{00000011-A4D1-4D60-A912-E9AB7C77F9E6}"/>
            </c:ext>
          </c:extLst>
        </c:ser>
        <c:ser>
          <c:idx val="3"/>
          <c:order val="3"/>
          <c:spPr>
            <a:solidFill>
              <a:srgbClr val="364D6E"/>
            </a:solidFill>
            <a:ln w="3175" cmpd="sng" algn="ctr">
              <a:solidFill>
                <a:schemeClr val="tx1"/>
              </a:solidFill>
              <a:prstDash val="solid"/>
            </a:ln>
          </c:spPr>
          <c:invertIfNegative val="0"/>
          <c:dPt>
            <c:idx val="35"/>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12-A4D1-4D60-A912-E9AB7C77F9E6}"/>
              </c:ext>
            </c:extLst>
          </c:dPt>
          <c:dPt>
            <c:idx val="36"/>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13-A4D1-4D60-A912-E9AB7C77F9E6}"/>
              </c:ext>
            </c:extLst>
          </c:dPt>
          <c:dPt>
            <c:idx val="37"/>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14-A4D1-4D60-A912-E9AB7C77F9E6}"/>
              </c:ext>
            </c:extLst>
          </c:dPt>
          <c:dPt>
            <c:idx val="38"/>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15-A4D1-4D60-A912-E9AB7C77F9E6}"/>
              </c:ext>
            </c:extLst>
          </c:dPt>
          <c:dPt>
            <c:idx val="39"/>
            <c:invertIfNegative val="0"/>
            <c:bubble3D val="0"/>
            <c:extLst>
              <c:ext xmlns:c16="http://schemas.microsoft.com/office/drawing/2014/chart" uri="{C3380CC4-5D6E-409C-BE32-E72D297353CC}">
                <c16:uniqueId val="{00000016-A4D1-4D60-A912-E9AB7C77F9E6}"/>
              </c:ext>
            </c:extLst>
          </c:dPt>
          <c:dPt>
            <c:idx val="40"/>
            <c:invertIfNegative val="0"/>
            <c:bubble3D val="0"/>
            <c:extLst>
              <c:ext xmlns:c16="http://schemas.microsoft.com/office/drawing/2014/chart" uri="{C3380CC4-5D6E-409C-BE32-E72D297353CC}">
                <c16:uniqueId val="{00000017-A4D1-4D60-A912-E9AB7C77F9E6}"/>
              </c:ext>
            </c:extLst>
          </c:dPt>
          <c:dPt>
            <c:idx val="41"/>
            <c:invertIfNegative val="0"/>
            <c:bubble3D val="0"/>
            <c:extLst>
              <c:ext xmlns:c16="http://schemas.microsoft.com/office/drawing/2014/chart" uri="{C3380CC4-5D6E-409C-BE32-E72D297353CC}">
                <c16:uniqueId val="{00000018-A4D1-4D60-A912-E9AB7C77F9E6}"/>
              </c:ext>
            </c:extLst>
          </c:dPt>
          <c:dPt>
            <c:idx val="42"/>
            <c:invertIfNegative val="0"/>
            <c:bubble3D val="0"/>
            <c:extLst>
              <c:ext xmlns:c16="http://schemas.microsoft.com/office/drawing/2014/chart" uri="{C3380CC4-5D6E-409C-BE32-E72D297353CC}">
                <c16:uniqueId val="{00000019-A4D1-4D60-A912-E9AB7C77F9E6}"/>
              </c:ext>
            </c:extLst>
          </c:dPt>
          <c:dPt>
            <c:idx val="43"/>
            <c:invertIfNegative val="0"/>
            <c:bubble3D val="0"/>
            <c:extLst>
              <c:ext xmlns:c16="http://schemas.microsoft.com/office/drawing/2014/chart" uri="{C3380CC4-5D6E-409C-BE32-E72D297353CC}">
                <c16:uniqueId val="{0000001A-A4D1-4D60-A912-E9AB7C77F9E6}"/>
              </c:ext>
            </c:extLst>
          </c:dPt>
          <c:dPt>
            <c:idx val="44"/>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1B-A4D1-4D60-A912-E9AB7C77F9E6}"/>
              </c:ext>
            </c:extLst>
          </c:dPt>
          <c:dPt>
            <c:idx val="45"/>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1C-A4D1-4D60-A912-E9AB7C77F9E6}"/>
              </c:ext>
            </c:extLst>
          </c:dPt>
          <c:dPt>
            <c:idx val="46"/>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1D-A4D1-4D60-A912-E9AB7C77F9E6}"/>
              </c:ext>
            </c:extLst>
          </c:dPt>
          <c:dPt>
            <c:idx val="47"/>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1E-A4D1-4D60-A912-E9AB7C77F9E6}"/>
              </c:ext>
            </c:extLst>
          </c:dPt>
          <c:dPt>
            <c:idx val="48"/>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1F-A4D1-4D60-A912-E9AB7C77F9E6}"/>
              </c:ext>
            </c:extLst>
          </c:dPt>
          <c:dPt>
            <c:idx val="49"/>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20-A4D1-4D60-A912-E9AB7C77F9E6}"/>
              </c:ext>
            </c:extLst>
          </c:dPt>
          <c:xVal>
            <c:numRef>
              <c:f>Sheet1!$A$1:$A$73</c:f>
              <c:numCache>
                <c:formatCode>General</c:formatCode>
                <c:ptCount val="73"/>
                <c:pt idx="35">
                  <c:v>2020</c:v>
                </c:pt>
                <c:pt idx="36">
                  <c:v>2022</c:v>
                </c:pt>
                <c:pt idx="37">
                  <c:v>2023</c:v>
                </c:pt>
                <c:pt idx="38">
                  <c:v>2024</c:v>
                </c:pt>
                <c:pt idx="39">
                  <c:v>2020</c:v>
                </c:pt>
                <c:pt idx="40">
                  <c:v>2021</c:v>
                </c:pt>
                <c:pt idx="41">
                  <c:v>2022</c:v>
                </c:pt>
                <c:pt idx="42">
                  <c:v>2023</c:v>
                </c:pt>
                <c:pt idx="43">
                  <c:v>2024</c:v>
                </c:pt>
                <c:pt idx="44">
                  <c:v>2020</c:v>
                </c:pt>
                <c:pt idx="45">
                  <c:v>2020</c:v>
                </c:pt>
                <c:pt idx="46">
                  <c:v>2021</c:v>
                </c:pt>
                <c:pt idx="47">
                  <c:v>2022</c:v>
                </c:pt>
                <c:pt idx="48">
                  <c:v>2023</c:v>
                </c:pt>
                <c:pt idx="49">
                  <c:v>2024</c:v>
                </c:pt>
              </c:numCache>
            </c:numRef>
          </c:xVal>
          <c:yVal>
            <c:numRef>
              <c:f>Sheet1!$H$1:$H$73</c:f>
              <c:numCache>
                <c:formatCode>General</c:formatCode>
                <c:ptCount val="73"/>
                <c:pt idx="35">
                  <c:v>2.517434937914611</c:v>
                </c:pt>
                <c:pt idx="36">
                  <c:v>3.8453881884538821</c:v>
                </c:pt>
                <c:pt idx="37">
                  <c:v>1.3241923365890309</c:v>
                </c:pt>
                <c:pt idx="38">
                  <c:v>5.615161719790116</c:v>
                </c:pt>
                <c:pt idx="39">
                  <c:v>13.204595717136847</c:v>
                </c:pt>
                <c:pt idx="40">
                  <c:v>36.315755873340144</c:v>
                </c:pt>
                <c:pt idx="41">
                  <c:v>48.918927525156029</c:v>
                </c:pt>
                <c:pt idx="42">
                  <c:v>11.901493742430359</c:v>
                </c:pt>
                <c:pt idx="43">
                  <c:v>17.827526070398974</c:v>
                </c:pt>
                <c:pt idx="44">
                  <c:v>13.105694094747339</c:v>
                </c:pt>
                <c:pt idx="45">
                  <c:v>31.652219595482006</c:v>
                </c:pt>
                <c:pt idx="46">
                  <c:v>29.325000000000003</c:v>
                </c:pt>
                <c:pt idx="47">
                  <c:v>19.034545870510179</c:v>
                </c:pt>
                <c:pt idx="48">
                  <c:v>25.494276795005206</c:v>
                </c:pt>
                <c:pt idx="49">
                  <c:v>29.764837625979844</c:v>
                </c:pt>
              </c:numCache>
            </c:numRef>
          </c:yVal>
          <c:bubbleSize>
            <c:numRef>
              <c:f>Sheet1!$I$1:$I$73</c:f>
              <c:numCache>
                <c:formatCode>General</c:formatCode>
                <c:ptCount val="73"/>
                <c:pt idx="35">
                  <c:v>7190.0170000000007</c:v>
                </c:pt>
                <c:pt idx="36">
                  <c:v>1025.5135</c:v>
                </c:pt>
                <c:pt idx="37">
                  <c:v>16496.123070249501</c:v>
                </c:pt>
                <c:pt idx="38">
                  <c:v>17280.391918043661</c:v>
                </c:pt>
                <c:pt idx="39">
                  <c:v>1853.9</c:v>
                </c:pt>
                <c:pt idx="40">
                  <c:v>3132.8</c:v>
                </c:pt>
                <c:pt idx="41">
                  <c:v>12561.6</c:v>
                </c:pt>
                <c:pt idx="42">
                  <c:v>2477</c:v>
                </c:pt>
                <c:pt idx="43">
                  <c:v>2809.7</c:v>
                </c:pt>
                <c:pt idx="44">
                  <c:v>460.31900000000002</c:v>
                </c:pt>
                <c:pt idx="45">
                  <c:v>3807</c:v>
                </c:pt>
                <c:pt idx="46">
                  <c:v>4000</c:v>
                </c:pt>
                <c:pt idx="47">
                  <c:v>4371</c:v>
                </c:pt>
                <c:pt idx="48">
                  <c:v>3844</c:v>
                </c:pt>
                <c:pt idx="49">
                  <c:v>4465</c:v>
                </c:pt>
              </c:numCache>
            </c:numRef>
          </c:bubbleSize>
          <c:bubble3D val="0"/>
          <c:extLst>
            <c:ext xmlns:c16="http://schemas.microsoft.com/office/drawing/2014/chart" uri="{C3380CC4-5D6E-409C-BE32-E72D297353CC}">
              <c16:uniqueId val="{00000021-A4D1-4D60-A912-E9AB7C77F9E6}"/>
            </c:ext>
          </c:extLst>
        </c:ser>
        <c:ser>
          <c:idx val="4"/>
          <c:order val="4"/>
          <c:spPr>
            <a:pattFill prst="pct50">
              <a:fgClr>
                <a:schemeClr val="tx1"/>
              </a:fgClr>
              <a:bgClr>
                <a:schemeClr val="bg1"/>
              </a:bgClr>
            </a:pattFill>
            <a:ln w="3175" cmpd="sng" algn="ctr">
              <a:solidFill>
                <a:schemeClr val="tx1"/>
              </a:solidFill>
              <a:prstDash val="solid"/>
            </a:ln>
          </c:spPr>
          <c:invertIfNegative val="0"/>
          <c:dPt>
            <c:idx val="50"/>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22-A4D1-4D60-A912-E9AB7C77F9E6}"/>
              </c:ext>
            </c:extLst>
          </c:dPt>
          <c:dPt>
            <c:idx val="51"/>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23-A4D1-4D60-A912-E9AB7C77F9E6}"/>
              </c:ext>
            </c:extLst>
          </c:dPt>
          <c:dPt>
            <c:idx val="52"/>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24-A4D1-4D60-A912-E9AB7C77F9E6}"/>
              </c:ext>
            </c:extLst>
          </c:dPt>
          <c:dPt>
            <c:idx val="53"/>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25-A4D1-4D60-A912-E9AB7C77F9E6}"/>
              </c:ext>
            </c:extLst>
          </c:dPt>
          <c:xVal>
            <c:numRef>
              <c:f>Sheet1!$A$1:$A$73</c:f>
              <c:numCache>
                <c:formatCode>General</c:formatCode>
                <c:ptCount val="73"/>
                <c:pt idx="50">
                  <c:v>2020</c:v>
                </c:pt>
                <c:pt idx="51">
                  <c:v>2023</c:v>
                </c:pt>
                <c:pt idx="52">
                  <c:v>2024</c:v>
                </c:pt>
                <c:pt idx="53">
                  <c:v>2024</c:v>
                </c:pt>
                <c:pt idx="54">
                  <c:v>2020</c:v>
                </c:pt>
                <c:pt idx="55">
                  <c:v>2020</c:v>
                </c:pt>
                <c:pt idx="56">
                  <c:v>2021</c:v>
                </c:pt>
                <c:pt idx="57">
                  <c:v>2021</c:v>
                </c:pt>
                <c:pt idx="58">
                  <c:v>2022</c:v>
                </c:pt>
                <c:pt idx="59">
                  <c:v>2022</c:v>
                </c:pt>
                <c:pt idx="60">
                  <c:v>2023</c:v>
                </c:pt>
                <c:pt idx="61">
                  <c:v>2023</c:v>
                </c:pt>
                <c:pt idx="62">
                  <c:v>2024</c:v>
                </c:pt>
                <c:pt idx="63">
                  <c:v>2024</c:v>
                </c:pt>
              </c:numCache>
            </c:numRef>
          </c:xVal>
          <c:yVal>
            <c:numRef>
              <c:f>Sheet1!$J$1:$J$73</c:f>
              <c:numCache>
                <c:formatCode>General</c:formatCode>
                <c:ptCount val="73"/>
                <c:pt idx="50">
                  <c:v>2.1914285714285713</c:v>
                </c:pt>
                <c:pt idx="51">
                  <c:v>3.2152659783034894</c:v>
                </c:pt>
                <c:pt idx="52">
                  <c:v>1.9931102362204725</c:v>
                </c:pt>
                <c:pt idx="53">
                  <c:v>27.35885788449059</c:v>
                </c:pt>
                <c:pt idx="54">
                  <c:v>32.757010218759923</c:v>
                </c:pt>
                <c:pt idx="55">
                  <c:v>42.955828628362674</c:v>
                </c:pt>
                <c:pt idx="56">
                  <c:v>40.612801171842563</c:v>
                </c:pt>
                <c:pt idx="57">
                  <c:v>47.833780160857906</c:v>
                </c:pt>
                <c:pt idx="58">
                  <c:v>35.186829083855301</c:v>
                </c:pt>
                <c:pt idx="59">
                  <c:v>50.926571555951853</c:v>
                </c:pt>
                <c:pt idx="60">
                  <c:v>31.215682587438888</c:v>
                </c:pt>
                <c:pt idx="61">
                  <c:v>50.728753109918834</c:v>
                </c:pt>
                <c:pt idx="62">
                  <c:v>37.849917869802027</c:v>
                </c:pt>
                <c:pt idx="63">
                  <c:v>53.959081942702461</c:v>
                </c:pt>
              </c:numCache>
            </c:numRef>
          </c:yVal>
          <c:bubbleSize>
            <c:numRef>
              <c:f>Sheet1!$K$1:$K$73</c:f>
              <c:numCache>
                <c:formatCode>General</c:formatCode>
                <c:ptCount val="73"/>
                <c:pt idx="50">
                  <c:v>6445.0193810939963</c:v>
                </c:pt>
                <c:pt idx="51">
                  <c:v>8463.5362000000005</c:v>
                </c:pt>
                <c:pt idx="52">
                  <c:v>8413.2927999999993</c:v>
                </c:pt>
                <c:pt idx="53">
                  <c:v>2311.5</c:v>
                </c:pt>
                <c:pt idx="54">
                  <c:v>1380.7877834240462</c:v>
                </c:pt>
                <c:pt idx="55">
                  <c:v>1505.5</c:v>
                </c:pt>
                <c:pt idx="56">
                  <c:v>1698.0486178778399</c:v>
                </c:pt>
                <c:pt idx="57">
                  <c:v>1865</c:v>
                </c:pt>
                <c:pt idx="58">
                  <c:v>1559.4693328206115</c:v>
                </c:pt>
                <c:pt idx="59">
                  <c:v>2243</c:v>
                </c:pt>
                <c:pt idx="60">
                  <c:v>1361.686873471687</c:v>
                </c:pt>
                <c:pt idx="61">
                  <c:v>2388.326</c:v>
                </c:pt>
                <c:pt idx="62">
                  <c:v>1489.1151821002356</c:v>
                </c:pt>
                <c:pt idx="63">
                  <c:v>2739.5239999999999</c:v>
                </c:pt>
              </c:numCache>
            </c:numRef>
          </c:bubbleSize>
          <c:bubble3D val="0"/>
          <c:extLst>
            <c:ext xmlns:c16="http://schemas.microsoft.com/office/drawing/2014/chart" uri="{C3380CC4-5D6E-409C-BE32-E72D297353CC}">
              <c16:uniqueId val="{00000026-A4D1-4D60-A912-E9AB7C77F9E6}"/>
            </c:ext>
          </c:extLst>
        </c:ser>
        <c:ser>
          <c:idx val="5"/>
          <c:order val="5"/>
          <c:spPr>
            <a:solidFill>
              <a:srgbClr val="C30C3E"/>
            </a:solidFill>
            <a:ln w="3175" cmpd="sng" algn="ctr">
              <a:solidFill>
                <a:schemeClr val="tx1"/>
              </a:solidFill>
              <a:prstDash val="solid"/>
            </a:ln>
          </c:spPr>
          <c:invertIfNegative val="0"/>
          <c:dPt>
            <c:idx val="64"/>
            <c:invertIfNegative val="0"/>
            <c:bubble3D val="0"/>
            <c:extLst>
              <c:ext xmlns:c16="http://schemas.microsoft.com/office/drawing/2014/chart" uri="{C3380CC4-5D6E-409C-BE32-E72D297353CC}">
                <c16:uniqueId val="{00000027-A4D1-4D60-A912-E9AB7C77F9E6}"/>
              </c:ext>
            </c:extLst>
          </c:dPt>
          <c:dPt>
            <c:idx val="65"/>
            <c:invertIfNegative val="0"/>
            <c:bubble3D val="0"/>
            <c:extLst>
              <c:ext xmlns:c16="http://schemas.microsoft.com/office/drawing/2014/chart" uri="{C3380CC4-5D6E-409C-BE32-E72D297353CC}">
                <c16:uniqueId val="{00000028-A4D1-4D60-A912-E9AB7C77F9E6}"/>
              </c:ext>
            </c:extLst>
          </c:dPt>
          <c:dPt>
            <c:idx val="66"/>
            <c:invertIfNegative val="0"/>
            <c:bubble3D val="0"/>
            <c:extLst>
              <c:ext xmlns:c16="http://schemas.microsoft.com/office/drawing/2014/chart" uri="{C3380CC4-5D6E-409C-BE32-E72D297353CC}">
                <c16:uniqueId val="{00000029-A4D1-4D60-A912-E9AB7C77F9E6}"/>
              </c:ext>
            </c:extLst>
          </c:dPt>
          <c:dPt>
            <c:idx val="67"/>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2A-A4D1-4D60-A912-E9AB7C77F9E6}"/>
              </c:ext>
            </c:extLst>
          </c:dPt>
          <c:dPt>
            <c:idx val="68"/>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2B-A4D1-4D60-A912-E9AB7C77F9E6}"/>
              </c:ext>
            </c:extLst>
          </c:dPt>
          <c:dPt>
            <c:idx val="69"/>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2C-A4D1-4D60-A912-E9AB7C77F9E6}"/>
              </c:ext>
            </c:extLst>
          </c:dPt>
          <c:xVal>
            <c:numRef>
              <c:f>Sheet1!$A$1:$A$73</c:f>
              <c:numCache>
                <c:formatCode>General</c:formatCode>
                <c:ptCount val="73"/>
                <c:pt idx="64">
                  <c:v>2020</c:v>
                </c:pt>
                <c:pt idx="65">
                  <c:v>2023</c:v>
                </c:pt>
                <c:pt idx="66">
                  <c:v>2024</c:v>
                </c:pt>
                <c:pt idx="67">
                  <c:v>2020</c:v>
                </c:pt>
                <c:pt idx="68">
                  <c:v>2021</c:v>
                </c:pt>
                <c:pt idx="69">
                  <c:v>2024</c:v>
                </c:pt>
              </c:numCache>
            </c:numRef>
          </c:xVal>
          <c:yVal>
            <c:numRef>
              <c:f>Sheet1!$L$1:$L$73</c:f>
              <c:numCache>
                <c:formatCode>General</c:formatCode>
                <c:ptCount val="73"/>
                <c:pt idx="64">
                  <c:v>6.6972828166857994</c:v>
                </c:pt>
                <c:pt idx="65">
                  <c:v>2.6524303821389523</c:v>
                </c:pt>
                <c:pt idx="66">
                  <c:v>2.2067557535263549</c:v>
                </c:pt>
                <c:pt idx="67">
                  <c:v>42.435814104647378</c:v>
                </c:pt>
                <c:pt idx="68">
                  <c:v>47.854179419166158</c:v>
                </c:pt>
                <c:pt idx="69">
                  <c:v>53.341617357001972</c:v>
                </c:pt>
              </c:numCache>
            </c:numRef>
          </c:yVal>
          <c:bubbleSize>
            <c:numRef>
              <c:f>Sheet1!$M$1:$M$73</c:f>
              <c:numCache>
                <c:formatCode>General</c:formatCode>
                <c:ptCount val="73"/>
                <c:pt idx="64">
                  <c:v>1410.0531899999999</c:v>
                </c:pt>
                <c:pt idx="65">
                  <c:v>5738.5531809414624</c:v>
                </c:pt>
                <c:pt idx="66">
                  <c:v>7291.6243757866105</c:v>
                </c:pt>
                <c:pt idx="67">
                  <c:v>1230.8</c:v>
                </c:pt>
                <c:pt idx="68">
                  <c:v>1470.3</c:v>
                </c:pt>
                <c:pt idx="69">
                  <c:v>1014</c:v>
                </c:pt>
              </c:numCache>
            </c:numRef>
          </c:bubbleSize>
          <c:bubble3D val="0"/>
          <c:extLst>
            <c:ext xmlns:c16="http://schemas.microsoft.com/office/drawing/2014/chart" uri="{C3380CC4-5D6E-409C-BE32-E72D297353CC}">
              <c16:uniqueId val="{0000002D-A4D1-4D60-A912-E9AB7C77F9E6}"/>
            </c:ext>
          </c:extLst>
        </c:ser>
        <c:ser>
          <c:idx val="6"/>
          <c:order val="6"/>
          <c:spPr>
            <a:solidFill>
              <a:srgbClr val="C30C3E"/>
            </a:solidFill>
            <a:ln w="3175" cmpd="sng" algn="ctr">
              <a:solidFill>
                <a:schemeClr val="tx1"/>
              </a:solidFill>
              <a:prstDash val="solid"/>
            </a:ln>
          </c:spPr>
          <c:invertIfNegative val="0"/>
          <c:dPt>
            <c:idx val="70"/>
            <c:invertIfNegative val="0"/>
            <c:bubble3D val="0"/>
            <c:extLst>
              <c:ext xmlns:c16="http://schemas.microsoft.com/office/drawing/2014/chart" uri="{C3380CC4-5D6E-409C-BE32-E72D297353CC}">
                <c16:uniqueId val="{0000002E-A4D1-4D60-A912-E9AB7C77F9E6}"/>
              </c:ext>
            </c:extLst>
          </c:dPt>
          <c:dPt>
            <c:idx val="71"/>
            <c:invertIfNegative val="0"/>
            <c:bubble3D val="0"/>
            <c:extLst>
              <c:ext xmlns:c16="http://schemas.microsoft.com/office/drawing/2014/chart" uri="{C3380CC4-5D6E-409C-BE32-E72D297353CC}">
                <c16:uniqueId val="{0000002F-A4D1-4D60-A912-E9AB7C77F9E6}"/>
              </c:ext>
            </c:extLst>
          </c:dPt>
          <c:dPt>
            <c:idx val="72"/>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30-A4D1-4D60-A912-E9AB7C77F9E6}"/>
              </c:ext>
            </c:extLst>
          </c:dPt>
          <c:xVal>
            <c:numRef>
              <c:f>Sheet1!$A$1:$A$73</c:f>
              <c:numCache>
                <c:formatCode>General</c:formatCode>
                <c:ptCount val="73"/>
                <c:pt idx="70">
                  <c:v>2023</c:v>
                </c:pt>
                <c:pt idx="71">
                  <c:v>2024</c:v>
                </c:pt>
                <c:pt idx="72">
                  <c:v>2020</c:v>
                </c:pt>
              </c:numCache>
            </c:numRef>
          </c:xVal>
          <c:yVal>
            <c:numRef>
              <c:f>Sheet1!$N$1:$N$73</c:f>
              <c:numCache>
                <c:formatCode>General</c:formatCode>
                <c:ptCount val="73"/>
                <c:pt idx="70">
                  <c:v>1.7566688353936235</c:v>
                </c:pt>
                <c:pt idx="71">
                  <c:v>5.1606828260737503</c:v>
                </c:pt>
                <c:pt idx="72">
                  <c:v>43.177489177489178</c:v>
                </c:pt>
              </c:numCache>
            </c:numRef>
          </c:yVal>
          <c:bubbleSize>
            <c:numRef>
              <c:f>Sheet1!$O$1:$O$73</c:f>
              <c:numCache>
                <c:formatCode>General</c:formatCode>
                <c:ptCount val="73"/>
                <c:pt idx="70">
                  <c:v>1049.4636</c:v>
                </c:pt>
                <c:pt idx="71">
                  <c:v>1018.11285</c:v>
                </c:pt>
                <c:pt idx="72">
                  <c:v>462</c:v>
                </c:pt>
              </c:numCache>
            </c:numRef>
          </c:bubbleSize>
          <c:bubble3D val="0"/>
          <c:extLst>
            <c:ext xmlns:c16="http://schemas.microsoft.com/office/drawing/2014/chart" uri="{C3380CC4-5D6E-409C-BE32-E72D297353CC}">
              <c16:uniqueId val="{00000031-A4D1-4D60-A912-E9AB7C77F9E6}"/>
            </c:ext>
          </c:extLst>
        </c:ser>
        <c:dLbls>
          <c:showLegendKey val="0"/>
          <c:showVal val="0"/>
          <c:showCatName val="0"/>
          <c:showSerName val="0"/>
          <c:showPercent val="0"/>
          <c:showBubbleSize val="0"/>
        </c:dLbls>
        <c:bubbleScale val="66"/>
        <c:showNegBubbles val="0"/>
        <c:axId val="509230752"/>
        <c:axId val="1"/>
      </c:bubbleChart>
      <c:valAx>
        <c:axId val="509230752"/>
        <c:scaling>
          <c:orientation val="minMax"/>
          <c:max val="2025"/>
          <c:min val="2019"/>
        </c:scaling>
        <c:delete val="0"/>
        <c:axPos val="b"/>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000" kern="1200">
                <a:latin typeface="+mn-lt"/>
                <a:ea typeface="+mn-ea"/>
                <a:cs typeface="+mn-cs"/>
              </a:defRPr>
            </a:pPr>
            <a:endParaRPr lang="en-US"/>
          </a:p>
        </c:txPr>
        <c:crossAx val="1"/>
        <c:crossesAt val="0"/>
        <c:crossBetween val="midCat"/>
        <c:majorUnit val="1"/>
      </c:valAx>
      <c:valAx>
        <c:axId val="1"/>
        <c:scaling>
          <c:orientation val="minMax"/>
          <c:max val="70"/>
          <c:min val="-5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509230752"/>
        <c:crosses val="min"/>
        <c:crossBetween val="midCat"/>
        <c:majorUnit val="1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2.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3.8546866333887965E-2"/>
          <c:y val="5.3951367781155016E-2"/>
          <c:w val="0.92900721020521349"/>
          <c:h val="0.89209726443769"/>
        </c:manualLayout>
      </c:layout>
      <c:barChart>
        <c:barDir val="col"/>
        <c:grouping val="stacked"/>
        <c:varyColors val="0"/>
        <c:ser>
          <c:idx val="0"/>
          <c:order val="0"/>
          <c:spPr>
            <a:solidFill>
              <a:srgbClr val="364D6E"/>
            </a:solidFill>
            <a:ln>
              <a:noFill/>
            </a:ln>
          </c:spPr>
          <c:invertIfNegative val="0"/>
          <c:dLbls>
            <c:dLbl>
              <c:idx val="4"/>
              <c:layout>
                <c:manualLayout>
                  <c:x val="0"/>
                  <c:y val="-4.217325227963526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3BFF-47D8-BA68-1DA35D3033A3}"/>
                </c:ext>
              </c:extLst>
            </c:dLbl>
            <c:dLbl>
              <c:idx val="5"/>
              <c:layout>
                <c:manualLayout>
                  <c:x val="0"/>
                  <c:y val="-3.343465045592704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3BFF-47D8-BA68-1DA35D3033A3}"/>
                </c:ext>
              </c:extLst>
            </c:dLbl>
            <c:dLbl>
              <c:idx val="6"/>
              <c:layout>
                <c:manualLayout>
                  <c:x val="0"/>
                  <c:y val="-3.343465045592704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3BFF-47D8-BA68-1DA35D3033A3}"/>
                </c:ext>
              </c:extLst>
            </c:dLbl>
            <c:dLbl>
              <c:idx val="8"/>
              <c:layout>
                <c:manualLayout>
                  <c:x val="0"/>
                  <c:y val="-3.343465045592704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3-3BFF-47D8-BA68-1DA35D3033A3}"/>
                </c:ext>
              </c:extLst>
            </c:dLbl>
            <c:dLbl>
              <c:idx val="9"/>
              <c:layout>
                <c:manualLayout>
                  <c:x val="0"/>
                  <c:y val="-4.217325227963526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4-3BFF-47D8-BA68-1DA35D3033A3}"/>
                </c:ext>
              </c:extLst>
            </c:dLbl>
            <c:dLbl>
              <c:idx val="10"/>
              <c:layout>
                <c:manualLayout>
                  <c:x val="0"/>
                  <c:y val="-6.0030395136778117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5-3BFF-47D8-BA68-1DA35D3033A3}"/>
                </c:ext>
              </c:extLst>
            </c:dLbl>
            <c:dLbl>
              <c:idx val="11"/>
              <c:layout>
                <c:manualLayout>
                  <c:x val="0"/>
                  <c:y val="-8.700607902735561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6-3BFF-47D8-BA68-1DA35D3033A3}"/>
                </c:ext>
              </c:extLst>
            </c:dLbl>
            <c:dLbl>
              <c:idx val="12"/>
              <c:layout>
                <c:manualLayout>
                  <c:x val="0"/>
                  <c:y val="-0.14893617021276595"/>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7-3BFF-47D8-BA68-1DA35D3033A3}"/>
                </c:ext>
              </c:extLst>
            </c:dLbl>
            <c:dLbl>
              <c:idx val="13"/>
              <c:layout>
                <c:manualLayout>
                  <c:x val="0"/>
                  <c:y val="-0.1580547112462006"/>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8-3BFF-47D8-BA68-1DA35D3033A3}"/>
                </c:ext>
              </c:extLst>
            </c:dLbl>
            <c:dLbl>
              <c:idx val="14"/>
              <c:layout>
                <c:manualLayout>
                  <c:x val="0"/>
                  <c:y val="-0.12272036474164134"/>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9-3BFF-47D8-BA68-1DA35D3033A3}"/>
                </c:ext>
              </c:extLst>
            </c:dLbl>
            <c:dLbl>
              <c:idx val="15"/>
              <c:layout>
                <c:manualLayout>
                  <c:x val="0"/>
                  <c:y val="-6.914893617021276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A-3BFF-47D8-BA68-1DA35D3033A3}"/>
                </c:ext>
              </c:extLst>
            </c:dLbl>
            <c:dLbl>
              <c:idx val="17"/>
              <c:layout>
                <c:manualLayout>
                  <c:x val="0"/>
                  <c:y val="-0.17591185410334345"/>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B-3BFF-47D8-BA68-1DA35D3033A3}"/>
                </c:ext>
              </c:extLst>
            </c:dLbl>
            <c:dLbl>
              <c:idx val="18"/>
              <c:layout>
                <c:manualLayout>
                  <c:x val="0"/>
                  <c:y val="-9.574468085106382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C-3BFF-47D8-BA68-1DA35D3033A3}"/>
                </c:ext>
              </c:extLst>
            </c:dLbl>
            <c:dLbl>
              <c:idx val="19"/>
              <c:layout>
                <c:manualLayout>
                  <c:x val="0"/>
                  <c:y val="-0.13145896656534956"/>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D-3BFF-47D8-BA68-1DA35D3033A3}"/>
                </c:ext>
              </c:extLst>
            </c:dLbl>
            <c:dLbl>
              <c:idx val="20"/>
              <c:layout>
                <c:manualLayout>
                  <c:x val="0"/>
                  <c:y val="-0.10486322188449848"/>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E-3BFF-47D8-BA68-1DA35D3033A3}"/>
                </c:ext>
              </c:extLst>
            </c:dLbl>
            <c:dLbl>
              <c:idx val="21"/>
              <c:layout>
                <c:manualLayout>
                  <c:x val="0"/>
                  <c:y val="-0.18465045592705168"/>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F-3BFF-47D8-BA68-1DA35D3033A3}"/>
                </c:ext>
              </c:extLst>
            </c:dLbl>
            <c:dLbl>
              <c:idx val="22"/>
              <c:layout>
                <c:manualLayout>
                  <c:x val="0"/>
                  <c:y val="-0.18465045592705168"/>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0-3BFF-47D8-BA68-1DA35D3033A3}"/>
                </c:ext>
              </c:extLst>
            </c:dLbl>
            <c:dLbl>
              <c:idx val="23"/>
              <c:layout>
                <c:manualLayout>
                  <c:x val="0"/>
                  <c:y val="-0.16679331306990883"/>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1-3BFF-47D8-BA68-1DA35D3033A3}"/>
                </c:ext>
              </c:extLst>
            </c:dLbl>
            <c:dLbl>
              <c:idx val="24"/>
              <c:layout>
                <c:manualLayout>
                  <c:x val="0"/>
                  <c:y val="-0.16679331306990883"/>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2-3BFF-47D8-BA68-1DA35D3033A3}"/>
                </c:ext>
              </c:extLst>
            </c:dLbl>
            <c:dLbl>
              <c:idx val="25"/>
              <c:layout>
                <c:manualLayout>
                  <c:x val="0"/>
                  <c:y val="-8.700607902735561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3-3BFF-47D8-BA68-1DA35D3033A3}"/>
                </c:ext>
              </c:extLst>
            </c:dLbl>
            <c:dLbl>
              <c:idx val="26"/>
              <c:layout>
                <c:manualLayout>
                  <c:x val="0"/>
                  <c:y val="-0.14019756838905775"/>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4-3BFF-47D8-BA68-1DA35D3033A3}"/>
                </c:ext>
              </c:extLst>
            </c:dLbl>
            <c:dLbl>
              <c:idx val="27"/>
              <c:layout>
                <c:manualLayout>
                  <c:x val="0"/>
                  <c:y val="-0.18465045592705168"/>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5-3BFF-47D8-BA68-1DA35D3033A3}"/>
                </c:ext>
              </c:extLst>
            </c:dLbl>
            <c:dLbl>
              <c:idx val="30"/>
              <c:layout>
                <c:manualLayout>
                  <c:x val="0"/>
                  <c:y val="-0.12272036474164134"/>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6-3BFF-47D8-BA68-1DA35D3033A3}"/>
                </c:ext>
              </c:extLst>
            </c:dLbl>
            <c:dLbl>
              <c:idx val="31"/>
              <c:layout>
                <c:manualLayout>
                  <c:x val="0"/>
                  <c:y val="-7.7887537993920966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7-3BFF-47D8-BA68-1DA35D3033A3}"/>
                </c:ext>
              </c:extLst>
            </c:dLbl>
            <c:dLbl>
              <c:idx val="32"/>
              <c:layout>
                <c:manualLayout>
                  <c:x val="0"/>
                  <c:y val="-6.914893617021276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8-3BFF-47D8-BA68-1DA35D3033A3}"/>
                </c:ext>
              </c:extLst>
            </c:dLbl>
            <c:dLbl>
              <c:idx val="33"/>
              <c:layout>
                <c:manualLayout>
                  <c:x val="0"/>
                  <c:y val="-5.1291793313069906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9-3BFF-47D8-BA68-1DA35D3033A3}"/>
                </c:ext>
              </c:extLst>
            </c:dLbl>
            <c:dLbl>
              <c:idx val="34"/>
              <c:layout>
                <c:manualLayout>
                  <c:x val="0"/>
                  <c:y val="-3.3434650455927049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A-3BFF-47D8-BA68-1DA35D3033A3}"/>
                </c:ext>
              </c:extLst>
            </c:dLbl>
            <c:dLbl>
              <c:idx val="35"/>
              <c:layout>
                <c:manualLayout>
                  <c:x val="0"/>
                  <c:y val="-4.217325227963526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B-3BFF-47D8-BA68-1DA35D3033A3}"/>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Sheet1!$A$1:$AN$1</c:f>
              <c:numCache>
                <c:formatCode>General</c:formatCode>
                <c:ptCount val="40"/>
                <c:pt idx="4">
                  <c:v>2</c:v>
                </c:pt>
                <c:pt idx="5">
                  <c:v>1</c:v>
                </c:pt>
                <c:pt idx="6">
                  <c:v>1</c:v>
                </c:pt>
                <c:pt idx="8">
                  <c:v>1</c:v>
                </c:pt>
                <c:pt idx="9">
                  <c:v>2</c:v>
                </c:pt>
                <c:pt idx="10">
                  <c:v>4</c:v>
                </c:pt>
                <c:pt idx="11">
                  <c:v>7</c:v>
                </c:pt>
                <c:pt idx="12">
                  <c:v>14</c:v>
                </c:pt>
                <c:pt idx="13">
                  <c:v>15</c:v>
                </c:pt>
                <c:pt idx="14">
                  <c:v>11</c:v>
                </c:pt>
                <c:pt idx="15">
                  <c:v>5</c:v>
                </c:pt>
                <c:pt idx="16">
                  <c:v>11</c:v>
                </c:pt>
                <c:pt idx="17">
                  <c:v>17</c:v>
                </c:pt>
                <c:pt idx="18">
                  <c:v>8</c:v>
                </c:pt>
                <c:pt idx="19">
                  <c:v>12</c:v>
                </c:pt>
                <c:pt idx="20">
                  <c:v>9</c:v>
                </c:pt>
                <c:pt idx="21">
                  <c:v>18</c:v>
                </c:pt>
                <c:pt idx="22">
                  <c:v>18</c:v>
                </c:pt>
                <c:pt idx="23">
                  <c:v>16</c:v>
                </c:pt>
                <c:pt idx="24">
                  <c:v>16</c:v>
                </c:pt>
                <c:pt idx="25">
                  <c:v>7</c:v>
                </c:pt>
                <c:pt idx="26">
                  <c:v>13</c:v>
                </c:pt>
                <c:pt idx="27">
                  <c:v>18</c:v>
                </c:pt>
                <c:pt idx="28">
                  <c:v>33</c:v>
                </c:pt>
                <c:pt idx="29">
                  <c:v>23</c:v>
                </c:pt>
                <c:pt idx="30">
                  <c:v>11</c:v>
                </c:pt>
                <c:pt idx="31">
                  <c:v>6</c:v>
                </c:pt>
                <c:pt idx="32">
                  <c:v>5</c:v>
                </c:pt>
                <c:pt idx="33">
                  <c:v>3</c:v>
                </c:pt>
                <c:pt idx="34">
                  <c:v>1</c:v>
                </c:pt>
                <c:pt idx="35">
                  <c:v>2</c:v>
                </c:pt>
              </c:numCache>
            </c:numRef>
          </c:val>
          <c:extLst>
            <c:ext uri="{C3380CC4-5D6E-409C-BE32-E72D297353CC}">
              <c16:uniqueId val="{0000001C-3BFF-47D8-BA68-1DA35D3033A3}"/>
            </c:ext>
          </c:extLst>
        </c:ser>
        <c:dLbls>
          <c:showLegendKey val="0"/>
          <c:showVal val="0"/>
          <c:showCatName val="0"/>
          <c:showSerName val="0"/>
          <c:showPercent val="0"/>
          <c:showBubbleSize val="0"/>
        </c:dLbls>
        <c:gapWidth val="80"/>
        <c:overlap val="100"/>
        <c:axId val="962740831"/>
        <c:axId val="1"/>
      </c:barChart>
      <c:lineChart>
        <c:grouping val="standard"/>
        <c:varyColors val="0"/>
        <c:ser>
          <c:idx val="1"/>
          <c:order val="1"/>
          <c:spPr>
            <a:ln w="28575" cmpd="sng" algn="ctr">
              <a:solidFill>
                <a:srgbClr val="FFC000"/>
              </a:solidFill>
              <a:prstDash val="solid"/>
            </a:ln>
          </c:spPr>
          <c:marker>
            <c:symbol val="none"/>
          </c:marker>
          <c:val>
            <c:numRef>
              <c:f>Sheet1!$A$2:$AN$2</c:f>
              <c:numCache>
                <c:formatCode>General</c:formatCode>
                <c:ptCount val="40"/>
                <c:pt idx="0">
                  <c:v>37.29</c:v>
                </c:pt>
                <c:pt idx="1">
                  <c:v>46.15</c:v>
                </c:pt>
                <c:pt idx="2">
                  <c:v>36.94</c:v>
                </c:pt>
                <c:pt idx="3">
                  <c:v>43.53</c:v>
                </c:pt>
                <c:pt idx="4">
                  <c:v>52.09</c:v>
                </c:pt>
                <c:pt idx="5">
                  <c:v>44.26</c:v>
                </c:pt>
                <c:pt idx="6">
                  <c:v>41.19</c:v>
                </c:pt>
                <c:pt idx="7">
                  <c:v>35.99</c:v>
                </c:pt>
                <c:pt idx="8">
                  <c:v>32.9</c:v>
                </c:pt>
                <c:pt idx="9">
                  <c:v>34.52</c:v>
                </c:pt>
                <c:pt idx="10">
                  <c:v>40.57</c:v>
                </c:pt>
                <c:pt idx="11">
                  <c:v>37.15</c:v>
                </c:pt>
                <c:pt idx="12">
                  <c:v>25.79</c:v>
                </c:pt>
                <c:pt idx="13">
                  <c:v>34.09</c:v>
                </c:pt>
                <c:pt idx="14">
                  <c:v>52.23</c:v>
                </c:pt>
                <c:pt idx="15">
                  <c:v>43.79</c:v>
                </c:pt>
                <c:pt idx="16">
                  <c:v>43.55</c:v>
                </c:pt>
                <c:pt idx="17">
                  <c:v>50.64</c:v>
                </c:pt>
                <c:pt idx="18">
                  <c:v>66</c:v>
                </c:pt>
                <c:pt idx="19">
                  <c:v>87.53</c:v>
                </c:pt>
                <c:pt idx="20">
                  <c:v>99.28</c:v>
                </c:pt>
                <c:pt idx="21">
                  <c:v>106.01</c:v>
                </c:pt>
                <c:pt idx="22">
                  <c:v>141.87</c:v>
                </c:pt>
                <c:pt idx="23">
                  <c:v>88.42</c:v>
                </c:pt>
                <c:pt idx="24">
                  <c:v>111.45</c:v>
                </c:pt>
                <c:pt idx="25">
                  <c:v>129.76</c:v>
                </c:pt>
                <c:pt idx="26">
                  <c:v>126.27</c:v>
                </c:pt>
                <c:pt idx="27">
                  <c:v>129.84</c:v>
                </c:pt>
                <c:pt idx="28">
                  <c:v>121.76</c:v>
                </c:pt>
                <c:pt idx="29">
                  <c:v>63.47</c:v>
                </c:pt>
                <c:pt idx="30">
                  <c:v>55.9</c:v>
                </c:pt>
                <c:pt idx="31">
                  <c:v>64.48</c:v>
                </c:pt>
                <c:pt idx="32">
                  <c:v>81.13</c:v>
                </c:pt>
                <c:pt idx="33">
                  <c:v>69.88</c:v>
                </c:pt>
                <c:pt idx="34">
                  <c:v>47.49</c:v>
                </c:pt>
                <c:pt idx="35">
                  <c:v>79.35</c:v>
                </c:pt>
                <c:pt idx="36">
                  <c:v>103.75</c:v>
                </c:pt>
                <c:pt idx="37">
                  <c:v>81.71</c:v>
                </c:pt>
                <c:pt idx="38">
                  <c:v>78.65</c:v>
                </c:pt>
                <c:pt idx="39">
                  <c:v>65.39</c:v>
                </c:pt>
              </c:numCache>
            </c:numRef>
          </c:val>
          <c:smooth val="0"/>
          <c:extLst>
            <c:ext uri="{C3380CC4-5D6E-409C-BE32-E72D297353CC}">
              <c16:uniqueId val="{0000001D-3BFF-47D8-BA68-1DA35D3033A3}"/>
            </c:ext>
          </c:extLst>
        </c:ser>
        <c:ser>
          <c:idx val="2"/>
          <c:order val="2"/>
          <c:spPr>
            <a:ln w="28575" cmpd="sng" algn="ctr">
              <a:solidFill>
                <a:srgbClr val="007770"/>
              </a:solidFill>
              <a:prstDash val="solid"/>
            </a:ln>
          </c:spPr>
          <c:marker>
            <c:symbol val="none"/>
          </c:marker>
          <c:val>
            <c:numRef>
              <c:f>Sheet1!$A$3:$AN$3</c:f>
              <c:numCache>
                <c:formatCode>General</c:formatCode>
                <c:ptCount val="40"/>
                <c:pt idx="1">
                  <c:v>44.54</c:v>
                </c:pt>
                <c:pt idx="2">
                  <c:v>34.49</c:v>
                </c:pt>
                <c:pt idx="3">
                  <c:v>40.41</c:v>
                </c:pt>
                <c:pt idx="4">
                  <c:v>50.45</c:v>
                </c:pt>
                <c:pt idx="5">
                  <c:v>41.17</c:v>
                </c:pt>
                <c:pt idx="6">
                  <c:v>38.66</c:v>
                </c:pt>
                <c:pt idx="7">
                  <c:v>33.21</c:v>
                </c:pt>
                <c:pt idx="8">
                  <c:v>30.34</c:v>
                </c:pt>
                <c:pt idx="9">
                  <c:v>31.88</c:v>
                </c:pt>
                <c:pt idx="10">
                  <c:v>37.86</c:v>
                </c:pt>
                <c:pt idx="11">
                  <c:v>34.45</c:v>
                </c:pt>
                <c:pt idx="12">
                  <c:v>22.82</c:v>
                </c:pt>
                <c:pt idx="13">
                  <c:v>31.55</c:v>
                </c:pt>
                <c:pt idx="14">
                  <c:v>49.27</c:v>
                </c:pt>
                <c:pt idx="15">
                  <c:v>41.23</c:v>
                </c:pt>
                <c:pt idx="16">
                  <c:v>41.57</c:v>
                </c:pt>
                <c:pt idx="17">
                  <c:v>47.01</c:v>
                </c:pt>
                <c:pt idx="18">
                  <c:v>60.83</c:v>
                </c:pt>
                <c:pt idx="19">
                  <c:v>84.33</c:v>
                </c:pt>
                <c:pt idx="20">
                  <c:v>97.94</c:v>
                </c:pt>
                <c:pt idx="21">
                  <c:v>106.16</c:v>
                </c:pt>
                <c:pt idx="22">
                  <c:v>137.98</c:v>
                </c:pt>
                <c:pt idx="23">
                  <c:v>88.12</c:v>
                </c:pt>
                <c:pt idx="24">
                  <c:v>111.63</c:v>
                </c:pt>
                <c:pt idx="25">
                  <c:v>152.16</c:v>
                </c:pt>
                <c:pt idx="26">
                  <c:v>149.87</c:v>
                </c:pt>
                <c:pt idx="27">
                  <c:v>143.86</c:v>
                </c:pt>
                <c:pt idx="28">
                  <c:v>129.34</c:v>
                </c:pt>
                <c:pt idx="29">
                  <c:v>68.25</c:v>
                </c:pt>
                <c:pt idx="30">
                  <c:v>56.36</c:v>
                </c:pt>
                <c:pt idx="31">
                  <c:v>68.7</c:v>
                </c:pt>
                <c:pt idx="32">
                  <c:v>88.73</c:v>
                </c:pt>
                <c:pt idx="33">
                  <c:v>78.84</c:v>
                </c:pt>
                <c:pt idx="34">
                  <c:v>50.88</c:v>
                </c:pt>
                <c:pt idx="35">
                  <c:v>82.53</c:v>
                </c:pt>
                <c:pt idx="36">
                  <c:v>110.34</c:v>
                </c:pt>
                <c:pt idx="37">
                  <c:v>86.88</c:v>
                </c:pt>
                <c:pt idx="38">
                  <c:v>82.64</c:v>
                </c:pt>
                <c:pt idx="39">
                  <c:v>69.14</c:v>
                </c:pt>
              </c:numCache>
            </c:numRef>
          </c:val>
          <c:smooth val="0"/>
          <c:extLst>
            <c:ext uri="{C3380CC4-5D6E-409C-BE32-E72D297353CC}">
              <c16:uniqueId val="{0000001E-3BFF-47D8-BA68-1DA35D3033A3}"/>
            </c:ext>
          </c:extLst>
        </c:ser>
        <c:dLbls>
          <c:showLegendKey val="0"/>
          <c:showVal val="0"/>
          <c:showCatName val="0"/>
          <c:showSerName val="0"/>
          <c:showPercent val="0"/>
          <c:showBubbleSize val="0"/>
        </c:dLbls>
        <c:marker val="1"/>
        <c:smooth val="0"/>
        <c:axId val="2"/>
        <c:axId val="3"/>
      </c:lineChart>
      <c:catAx>
        <c:axId val="96274083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0"/>
          <c:min val="0"/>
        </c:scaling>
        <c:delete val="0"/>
        <c:axPos val="r"/>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962740831"/>
        <c:crosses val="max"/>
        <c:crossBetween val="between"/>
        <c:majorUnit val="5"/>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60"/>
          <c:min val="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2"/>
        <c:crosses val="min"/>
        <c:crossBetween val="between"/>
        <c:majorUnit val="10"/>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6134570123217497E-2"/>
          <c:y val="3.2721202003338896E-2"/>
          <c:w val="0.95666620517790391"/>
          <c:h val="0.92754590984974961"/>
        </c:manualLayout>
      </c:layout>
      <c:bubbleChart>
        <c:varyColors val="0"/>
        <c:ser>
          <c:idx val="0"/>
          <c:order val="0"/>
          <c:spPr>
            <a:solidFill>
              <a:srgbClr val="C30C3E"/>
            </a:solidFill>
            <a:ln w="3175" cmpd="sng" algn="ctr">
              <a:solidFill>
                <a:schemeClr val="tx1"/>
              </a:solidFill>
              <a:prstDash val="solid"/>
            </a:ln>
          </c:spPr>
          <c:invertIfNegative val="0"/>
          <c:xVal>
            <c:numRef>
              <c:f>Sheet1!$A$1:$A$73</c:f>
              <c:numCache>
                <c:formatCode>General</c:formatCode>
                <c:ptCount val="73"/>
                <c:pt idx="0">
                  <c:v>2021</c:v>
                </c:pt>
                <c:pt idx="1">
                  <c:v>2022</c:v>
                </c:pt>
                <c:pt idx="2">
                  <c:v>2022</c:v>
                </c:pt>
              </c:numCache>
            </c:numRef>
          </c:xVal>
          <c:yVal>
            <c:numRef>
              <c:f>Sheet1!$B$1:$B$73</c:f>
              <c:numCache>
                <c:formatCode>General</c:formatCode>
                <c:ptCount val="73"/>
                <c:pt idx="0">
                  <c:v>-2.9787234042553195</c:v>
                </c:pt>
                <c:pt idx="1">
                  <c:v>-33.200279823875562</c:v>
                </c:pt>
                <c:pt idx="2">
                  <c:v>1.9083969465648851</c:v>
                </c:pt>
              </c:numCache>
            </c:numRef>
          </c:yVal>
          <c:bubbleSize>
            <c:numRef>
              <c:f>Sheet1!$C$1:$C$73</c:f>
              <c:numCache>
                <c:formatCode>General</c:formatCode>
                <c:ptCount val="73"/>
                <c:pt idx="0">
                  <c:v>19771.325688420737</c:v>
                </c:pt>
                <c:pt idx="1">
                  <c:v>3856.7506229268834</c:v>
                </c:pt>
                <c:pt idx="2">
                  <c:v>20790.68069640845</c:v>
                </c:pt>
              </c:numCache>
            </c:numRef>
          </c:bubbleSize>
          <c:bubble3D val="0"/>
          <c:extLst>
            <c:ext xmlns:c16="http://schemas.microsoft.com/office/drawing/2014/chart" uri="{C3380CC4-5D6E-409C-BE32-E72D297353CC}">
              <c16:uniqueId val="{00000000-7FAC-45FD-ABFA-3F40219FA207}"/>
            </c:ext>
          </c:extLst>
        </c:ser>
        <c:ser>
          <c:idx val="1"/>
          <c:order val="1"/>
          <c:spPr>
            <a:solidFill>
              <a:srgbClr val="364D6E"/>
            </a:solidFill>
            <a:ln w="3175" cmpd="sng" algn="ctr">
              <a:solidFill>
                <a:schemeClr val="tx1"/>
              </a:solidFill>
              <a:prstDash val="solid"/>
            </a:ln>
          </c:spPr>
          <c:invertIfNegative val="0"/>
          <c:dPt>
            <c:idx val="3"/>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1-7FAC-45FD-ABFA-3F40219FA207}"/>
              </c:ext>
            </c:extLst>
          </c:dPt>
          <c:dPt>
            <c:idx val="4"/>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2-7FAC-45FD-ABFA-3F40219FA207}"/>
              </c:ext>
            </c:extLst>
          </c:dPt>
          <c:dPt>
            <c:idx val="5"/>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3-7FAC-45FD-ABFA-3F40219FA207}"/>
              </c:ext>
            </c:extLst>
          </c:dPt>
          <c:dPt>
            <c:idx val="6"/>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4-7FAC-45FD-ABFA-3F40219FA207}"/>
              </c:ext>
            </c:extLst>
          </c:dPt>
          <c:xVal>
            <c:numRef>
              <c:f>Sheet1!$A$1:$A$73</c:f>
              <c:numCache>
                <c:formatCode>General</c:formatCode>
                <c:ptCount val="73"/>
                <c:pt idx="3">
                  <c:v>2020</c:v>
                </c:pt>
                <c:pt idx="4">
                  <c:v>2021</c:v>
                </c:pt>
                <c:pt idx="5">
                  <c:v>2021</c:v>
                </c:pt>
                <c:pt idx="6">
                  <c:v>2022</c:v>
                </c:pt>
                <c:pt idx="7">
                  <c:v>2020</c:v>
                </c:pt>
                <c:pt idx="8">
                  <c:v>2021</c:v>
                </c:pt>
                <c:pt idx="9">
                  <c:v>2021</c:v>
                </c:pt>
                <c:pt idx="10">
                  <c:v>2022</c:v>
                </c:pt>
                <c:pt idx="11">
                  <c:v>2023</c:v>
                </c:pt>
                <c:pt idx="12">
                  <c:v>2023</c:v>
                </c:pt>
                <c:pt idx="13">
                  <c:v>2024</c:v>
                </c:pt>
                <c:pt idx="14">
                  <c:v>2024</c:v>
                </c:pt>
              </c:numCache>
            </c:numRef>
          </c:xVal>
          <c:yVal>
            <c:numRef>
              <c:f>Sheet1!$D$1:$D$73</c:f>
              <c:numCache>
                <c:formatCode>General</c:formatCode>
                <c:ptCount val="73"/>
                <c:pt idx="3">
                  <c:v>-7.8260869565217384</c:v>
                </c:pt>
                <c:pt idx="4">
                  <c:v>-38.993333333333332</c:v>
                </c:pt>
                <c:pt idx="5">
                  <c:v>4.1817392562581395</c:v>
                </c:pt>
                <c:pt idx="6">
                  <c:v>0.3434112180997913</c:v>
                </c:pt>
                <c:pt idx="7">
                  <c:v>10.954584404455868</c:v>
                </c:pt>
                <c:pt idx="8">
                  <c:v>54.245502842762605</c:v>
                </c:pt>
                <c:pt idx="9">
                  <c:v>37.242909271852717</c:v>
                </c:pt>
                <c:pt idx="10">
                  <c:v>45.333519961430191</c:v>
                </c:pt>
                <c:pt idx="11">
                  <c:v>-8.1748091898802837</c:v>
                </c:pt>
                <c:pt idx="12">
                  <c:v>6.6175378123792834</c:v>
                </c:pt>
                <c:pt idx="13">
                  <c:v>42.112632603175356</c:v>
                </c:pt>
                <c:pt idx="14">
                  <c:v>12.685888520380869</c:v>
                </c:pt>
              </c:numCache>
            </c:numRef>
          </c:yVal>
          <c:bubbleSize>
            <c:numRef>
              <c:f>Sheet1!$E$1:$E$73</c:f>
              <c:numCache>
                <c:formatCode>General</c:formatCode>
                <c:ptCount val="73"/>
                <c:pt idx="3">
                  <c:v>21176.49225216599</c:v>
                </c:pt>
                <c:pt idx="4">
                  <c:v>3785.9985360805663</c:v>
                </c:pt>
                <c:pt idx="5">
                  <c:v>7821.8697999999995</c:v>
                </c:pt>
                <c:pt idx="6">
                  <c:v>11784.824390166483</c:v>
                </c:pt>
                <c:pt idx="7">
                  <c:v>29175</c:v>
                </c:pt>
                <c:pt idx="8">
                  <c:v>10729</c:v>
                </c:pt>
                <c:pt idx="9">
                  <c:v>48232</c:v>
                </c:pt>
                <c:pt idx="10">
                  <c:v>64299</c:v>
                </c:pt>
                <c:pt idx="11">
                  <c:v>5162.2</c:v>
                </c:pt>
                <c:pt idx="12">
                  <c:v>33653</c:v>
                </c:pt>
                <c:pt idx="13">
                  <c:v>8427.4</c:v>
                </c:pt>
                <c:pt idx="14">
                  <c:v>37388</c:v>
                </c:pt>
              </c:numCache>
            </c:numRef>
          </c:bubbleSize>
          <c:bubble3D val="0"/>
          <c:extLst>
            <c:ext xmlns:c16="http://schemas.microsoft.com/office/drawing/2014/chart" uri="{C3380CC4-5D6E-409C-BE32-E72D297353CC}">
              <c16:uniqueId val="{00000005-7FAC-45FD-ABFA-3F40219FA207}"/>
            </c:ext>
          </c:extLst>
        </c:ser>
        <c:ser>
          <c:idx val="2"/>
          <c:order val="2"/>
          <c:spPr>
            <a:solidFill>
              <a:srgbClr val="27AE60"/>
            </a:solidFill>
            <a:ln w="3175" cmpd="sng" algn="ctr">
              <a:solidFill>
                <a:schemeClr val="tx1"/>
              </a:solidFill>
              <a:prstDash val="solid"/>
            </a:ln>
          </c:spPr>
          <c:invertIfNegative val="0"/>
          <c:dPt>
            <c:idx val="15"/>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6-7FAC-45FD-ABFA-3F40219FA207}"/>
              </c:ext>
            </c:extLst>
          </c:dPt>
          <c:dPt>
            <c:idx val="16"/>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7-7FAC-45FD-ABFA-3F40219FA207}"/>
              </c:ext>
            </c:extLst>
          </c:dPt>
          <c:dPt>
            <c:idx val="17"/>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8-7FAC-45FD-ABFA-3F40219FA207}"/>
              </c:ext>
            </c:extLst>
          </c:dPt>
          <c:dPt>
            <c:idx val="18"/>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09-7FAC-45FD-ABFA-3F40219FA207}"/>
              </c:ext>
            </c:extLst>
          </c:dPt>
          <c:dPt>
            <c:idx val="19"/>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A-7FAC-45FD-ABFA-3F40219FA207}"/>
              </c:ext>
            </c:extLst>
          </c:dPt>
          <c:dPt>
            <c:idx val="20"/>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B-7FAC-45FD-ABFA-3F40219FA207}"/>
              </c:ext>
            </c:extLst>
          </c:dPt>
          <c:dPt>
            <c:idx val="21"/>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C-7FAC-45FD-ABFA-3F40219FA207}"/>
              </c:ext>
            </c:extLst>
          </c:dPt>
          <c:dPt>
            <c:idx val="22"/>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D-7FAC-45FD-ABFA-3F40219FA207}"/>
              </c:ext>
            </c:extLst>
          </c:dPt>
          <c:dPt>
            <c:idx val="23"/>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E-7FAC-45FD-ABFA-3F40219FA207}"/>
              </c:ext>
            </c:extLst>
          </c:dPt>
          <c:dPt>
            <c:idx val="24"/>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0F-7FAC-45FD-ABFA-3F40219FA207}"/>
              </c:ext>
            </c:extLst>
          </c:dPt>
          <c:dPt>
            <c:idx val="25"/>
            <c:invertIfNegative val="0"/>
            <c:bubble3D val="0"/>
            <c:spPr>
              <a:solidFill>
                <a:srgbClr val="364D6E"/>
              </a:solidFill>
              <a:ln w="3175" cmpd="sng" algn="ctr">
                <a:solidFill>
                  <a:schemeClr val="tx1"/>
                </a:solidFill>
                <a:prstDash val="solid"/>
              </a:ln>
            </c:spPr>
            <c:extLst>
              <c:ext xmlns:c16="http://schemas.microsoft.com/office/drawing/2014/chart" uri="{C3380CC4-5D6E-409C-BE32-E72D297353CC}">
                <c16:uniqueId val="{00000010-7FAC-45FD-ABFA-3F40219FA207}"/>
              </c:ext>
            </c:extLst>
          </c:dPt>
          <c:xVal>
            <c:numRef>
              <c:f>Sheet1!$A$1:$A$73</c:f>
              <c:numCache>
                <c:formatCode>General</c:formatCode>
                <c:ptCount val="73"/>
                <c:pt idx="15">
                  <c:v>2021</c:v>
                </c:pt>
                <c:pt idx="16">
                  <c:v>2022</c:v>
                </c:pt>
                <c:pt idx="17">
                  <c:v>2023</c:v>
                </c:pt>
                <c:pt idx="18">
                  <c:v>2024</c:v>
                </c:pt>
                <c:pt idx="19">
                  <c:v>2020</c:v>
                </c:pt>
                <c:pt idx="20">
                  <c:v>2020</c:v>
                </c:pt>
                <c:pt idx="21">
                  <c:v>2021</c:v>
                </c:pt>
                <c:pt idx="22">
                  <c:v>2022</c:v>
                </c:pt>
                <c:pt idx="23">
                  <c:v>2022</c:v>
                </c:pt>
                <c:pt idx="24">
                  <c:v>2023</c:v>
                </c:pt>
                <c:pt idx="25">
                  <c:v>2024</c:v>
                </c:pt>
                <c:pt idx="26">
                  <c:v>2021</c:v>
                </c:pt>
                <c:pt idx="27">
                  <c:v>2021</c:v>
                </c:pt>
                <c:pt idx="28">
                  <c:v>2022</c:v>
                </c:pt>
                <c:pt idx="29">
                  <c:v>2022</c:v>
                </c:pt>
                <c:pt idx="30">
                  <c:v>2022</c:v>
                </c:pt>
                <c:pt idx="31">
                  <c:v>2023</c:v>
                </c:pt>
                <c:pt idx="32">
                  <c:v>2023</c:v>
                </c:pt>
                <c:pt idx="33">
                  <c:v>2023</c:v>
                </c:pt>
                <c:pt idx="34">
                  <c:v>2024</c:v>
                </c:pt>
              </c:numCache>
            </c:numRef>
          </c:xVal>
          <c:yVal>
            <c:numRef>
              <c:f>Sheet1!$F$1:$F$73</c:f>
              <c:numCache>
                <c:formatCode>General</c:formatCode>
                <c:ptCount val="73"/>
                <c:pt idx="15">
                  <c:v>7.8401972544315619</c:v>
                </c:pt>
                <c:pt idx="16">
                  <c:v>-0.13365410318096765</c:v>
                </c:pt>
                <c:pt idx="17">
                  <c:v>3.0864197530864197</c:v>
                </c:pt>
                <c:pt idx="18">
                  <c:v>2.3054755043227666</c:v>
                </c:pt>
                <c:pt idx="19">
                  <c:v>18.261523046092183</c:v>
                </c:pt>
                <c:pt idx="20">
                  <c:v>10.297043287370515</c:v>
                </c:pt>
                <c:pt idx="21">
                  <c:v>42.15738351798452</c:v>
                </c:pt>
                <c:pt idx="22">
                  <c:v>36.14512215764826</c:v>
                </c:pt>
                <c:pt idx="23">
                  <c:v>50.732122743880659</c:v>
                </c:pt>
                <c:pt idx="24">
                  <c:v>14.143675169182718</c:v>
                </c:pt>
                <c:pt idx="25">
                  <c:v>13.392813131562084</c:v>
                </c:pt>
                <c:pt idx="26">
                  <c:v>51.921594202898561</c:v>
                </c:pt>
                <c:pt idx="27">
                  <c:v>55.610926378365988</c:v>
                </c:pt>
                <c:pt idx="28">
                  <c:v>65.804229607250761</c:v>
                </c:pt>
                <c:pt idx="29">
                  <c:v>59.455101588262075</c:v>
                </c:pt>
                <c:pt idx="30">
                  <c:v>14.103882746207253</c:v>
                </c:pt>
                <c:pt idx="31">
                  <c:v>59.616119096509237</c:v>
                </c:pt>
                <c:pt idx="32">
                  <c:v>30.965074903765107</c:v>
                </c:pt>
                <c:pt idx="33">
                  <c:v>21.258235671389425</c:v>
                </c:pt>
                <c:pt idx="34">
                  <c:v>22.182558229929164</c:v>
                </c:pt>
              </c:numCache>
            </c:numRef>
          </c:yVal>
          <c:bubbleSize>
            <c:numRef>
              <c:f>Sheet1!$G$1:$G$73</c:f>
              <c:numCache>
                <c:formatCode>General</c:formatCode>
                <c:ptCount val="73"/>
                <c:pt idx="15">
                  <c:v>1089.4355999999998</c:v>
                </c:pt>
                <c:pt idx="16">
                  <c:v>8004.2436000000007</c:v>
                </c:pt>
                <c:pt idx="17">
                  <c:v>25097.407375849169</c:v>
                </c:pt>
                <c:pt idx="18">
                  <c:v>23479.89660725644</c:v>
                </c:pt>
                <c:pt idx="19">
                  <c:v>3992</c:v>
                </c:pt>
                <c:pt idx="20">
                  <c:v>14577</c:v>
                </c:pt>
                <c:pt idx="21">
                  <c:v>26356</c:v>
                </c:pt>
                <c:pt idx="22">
                  <c:v>3544.6</c:v>
                </c:pt>
                <c:pt idx="23">
                  <c:v>36401</c:v>
                </c:pt>
                <c:pt idx="24">
                  <c:v>19210</c:v>
                </c:pt>
                <c:pt idx="25">
                  <c:v>20287</c:v>
                </c:pt>
                <c:pt idx="26">
                  <c:v>690</c:v>
                </c:pt>
                <c:pt idx="27">
                  <c:v>793.63900000000001</c:v>
                </c:pt>
                <c:pt idx="28">
                  <c:v>993</c:v>
                </c:pt>
                <c:pt idx="29">
                  <c:v>1113.8589999999999</c:v>
                </c:pt>
                <c:pt idx="30">
                  <c:v>1555.6</c:v>
                </c:pt>
                <c:pt idx="31">
                  <c:v>974</c:v>
                </c:pt>
                <c:pt idx="32">
                  <c:v>1511.4059999999999</c:v>
                </c:pt>
                <c:pt idx="33">
                  <c:v>1715.1</c:v>
                </c:pt>
                <c:pt idx="34">
                  <c:v>2083.8939999999998</c:v>
                </c:pt>
              </c:numCache>
            </c:numRef>
          </c:bubbleSize>
          <c:bubble3D val="0"/>
          <c:extLst>
            <c:ext xmlns:c16="http://schemas.microsoft.com/office/drawing/2014/chart" uri="{C3380CC4-5D6E-409C-BE32-E72D297353CC}">
              <c16:uniqueId val="{00000011-7FAC-45FD-ABFA-3F40219FA207}"/>
            </c:ext>
          </c:extLst>
        </c:ser>
        <c:ser>
          <c:idx val="3"/>
          <c:order val="3"/>
          <c:spPr>
            <a:solidFill>
              <a:srgbClr val="364D6E"/>
            </a:solidFill>
            <a:ln w="3175" cmpd="sng" algn="ctr">
              <a:solidFill>
                <a:schemeClr val="tx1"/>
              </a:solidFill>
              <a:prstDash val="solid"/>
            </a:ln>
          </c:spPr>
          <c:invertIfNegative val="0"/>
          <c:dPt>
            <c:idx val="35"/>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12-7FAC-45FD-ABFA-3F40219FA207}"/>
              </c:ext>
            </c:extLst>
          </c:dPt>
          <c:dPt>
            <c:idx val="36"/>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13-7FAC-45FD-ABFA-3F40219FA207}"/>
              </c:ext>
            </c:extLst>
          </c:dPt>
          <c:dPt>
            <c:idx val="37"/>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14-7FAC-45FD-ABFA-3F40219FA207}"/>
              </c:ext>
            </c:extLst>
          </c:dPt>
          <c:dPt>
            <c:idx val="38"/>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15-7FAC-45FD-ABFA-3F40219FA207}"/>
              </c:ext>
            </c:extLst>
          </c:dPt>
          <c:dPt>
            <c:idx val="39"/>
            <c:invertIfNegative val="0"/>
            <c:bubble3D val="0"/>
            <c:extLst>
              <c:ext xmlns:c16="http://schemas.microsoft.com/office/drawing/2014/chart" uri="{C3380CC4-5D6E-409C-BE32-E72D297353CC}">
                <c16:uniqueId val="{00000016-7FAC-45FD-ABFA-3F40219FA207}"/>
              </c:ext>
            </c:extLst>
          </c:dPt>
          <c:dPt>
            <c:idx val="40"/>
            <c:invertIfNegative val="0"/>
            <c:bubble3D val="0"/>
            <c:extLst>
              <c:ext xmlns:c16="http://schemas.microsoft.com/office/drawing/2014/chart" uri="{C3380CC4-5D6E-409C-BE32-E72D297353CC}">
                <c16:uniqueId val="{00000017-7FAC-45FD-ABFA-3F40219FA207}"/>
              </c:ext>
            </c:extLst>
          </c:dPt>
          <c:dPt>
            <c:idx val="41"/>
            <c:invertIfNegative val="0"/>
            <c:bubble3D val="0"/>
            <c:extLst>
              <c:ext xmlns:c16="http://schemas.microsoft.com/office/drawing/2014/chart" uri="{C3380CC4-5D6E-409C-BE32-E72D297353CC}">
                <c16:uniqueId val="{00000018-7FAC-45FD-ABFA-3F40219FA207}"/>
              </c:ext>
            </c:extLst>
          </c:dPt>
          <c:dPt>
            <c:idx val="42"/>
            <c:invertIfNegative val="0"/>
            <c:bubble3D val="0"/>
            <c:extLst>
              <c:ext xmlns:c16="http://schemas.microsoft.com/office/drawing/2014/chart" uri="{C3380CC4-5D6E-409C-BE32-E72D297353CC}">
                <c16:uniqueId val="{00000019-7FAC-45FD-ABFA-3F40219FA207}"/>
              </c:ext>
            </c:extLst>
          </c:dPt>
          <c:dPt>
            <c:idx val="43"/>
            <c:invertIfNegative val="0"/>
            <c:bubble3D val="0"/>
            <c:extLst>
              <c:ext xmlns:c16="http://schemas.microsoft.com/office/drawing/2014/chart" uri="{C3380CC4-5D6E-409C-BE32-E72D297353CC}">
                <c16:uniqueId val="{0000001A-7FAC-45FD-ABFA-3F40219FA207}"/>
              </c:ext>
            </c:extLst>
          </c:dPt>
          <c:dPt>
            <c:idx val="44"/>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1B-7FAC-45FD-ABFA-3F40219FA207}"/>
              </c:ext>
            </c:extLst>
          </c:dPt>
          <c:dPt>
            <c:idx val="45"/>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1C-7FAC-45FD-ABFA-3F40219FA207}"/>
              </c:ext>
            </c:extLst>
          </c:dPt>
          <c:dPt>
            <c:idx val="46"/>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1D-7FAC-45FD-ABFA-3F40219FA207}"/>
              </c:ext>
            </c:extLst>
          </c:dPt>
          <c:dPt>
            <c:idx val="47"/>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1E-7FAC-45FD-ABFA-3F40219FA207}"/>
              </c:ext>
            </c:extLst>
          </c:dPt>
          <c:dPt>
            <c:idx val="48"/>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1F-7FAC-45FD-ABFA-3F40219FA207}"/>
              </c:ext>
            </c:extLst>
          </c:dPt>
          <c:dPt>
            <c:idx val="49"/>
            <c:invertIfNegative val="0"/>
            <c:bubble3D val="0"/>
            <c:spPr>
              <a:solidFill>
                <a:srgbClr val="6F8DB9"/>
              </a:solidFill>
              <a:ln w="3175" cmpd="sng" algn="ctr">
                <a:solidFill>
                  <a:schemeClr val="tx1"/>
                </a:solidFill>
                <a:prstDash val="solid"/>
              </a:ln>
            </c:spPr>
            <c:extLst>
              <c:ext xmlns:c16="http://schemas.microsoft.com/office/drawing/2014/chart" uri="{C3380CC4-5D6E-409C-BE32-E72D297353CC}">
                <c16:uniqueId val="{00000020-7FAC-45FD-ABFA-3F40219FA207}"/>
              </c:ext>
            </c:extLst>
          </c:dPt>
          <c:xVal>
            <c:numRef>
              <c:f>Sheet1!$A$1:$A$73</c:f>
              <c:numCache>
                <c:formatCode>General</c:formatCode>
                <c:ptCount val="73"/>
                <c:pt idx="35">
                  <c:v>2020</c:v>
                </c:pt>
                <c:pt idx="36">
                  <c:v>2022</c:v>
                </c:pt>
                <c:pt idx="37">
                  <c:v>2023</c:v>
                </c:pt>
                <c:pt idx="38">
                  <c:v>2024</c:v>
                </c:pt>
                <c:pt idx="39">
                  <c:v>2020</c:v>
                </c:pt>
                <c:pt idx="40">
                  <c:v>2021</c:v>
                </c:pt>
                <c:pt idx="41">
                  <c:v>2022</c:v>
                </c:pt>
                <c:pt idx="42">
                  <c:v>2023</c:v>
                </c:pt>
                <c:pt idx="43">
                  <c:v>2024</c:v>
                </c:pt>
                <c:pt idx="44">
                  <c:v>2020</c:v>
                </c:pt>
                <c:pt idx="45">
                  <c:v>2020</c:v>
                </c:pt>
                <c:pt idx="46">
                  <c:v>2021</c:v>
                </c:pt>
                <c:pt idx="47">
                  <c:v>2022</c:v>
                </c:pt>
                <c:pt idx="48">
                  <c:v>2023</c:v>
                </c:pt>
                <c:pt idx="49">
                  <c:v>2024</c:v>
                </c:pt>
              </c:numCache>
            </c:numRef>
          </c:xVal>
          <c:yVal>
            <c:numRef>
              <c:f>Sheet1!$H$1:$H$73</c:f>
              <c:numCache>
                <c:formatCode>General</c:formatCode>
                <c:ptCount val="73"/>
                <c:pt idx="35">
                  <c:v>2.517434937914611</c:v>
                </c:pt>
                <c:pt idx="36">
                  <c:v>3.8453881884538821</c:v>
                </c:pt>
                <c:pt idx="37">
                  <c:v>1.3241923365890309</c:v>
                </c:pt>
                <c:pt idx="38">
                  <c:v>5.615161719790116</c:v>
                </c:pt>
                <c:pt idx="39">
                  <c:v>13.204595717136847</c:v>
                </c:pt>
                <c:pt idx="40">
                  <c:v>36.315755873340144</c:v>
                </c:pt>
                <c:pt idx="41">
                  <c:v>48.918927525156029</c:v>
                </c:pt>
                <c:pt idx="42">
                  <c:v>11.901493742430359</c:v>
                </c:pt>
                <c:pt idx="43">
                  <c:v>17.827526070398974</c:v>
                </c:pt>
                <c:pt idx="44">
                  <c:v>13.105694094747339</c:v>
                </c:pt>
                <c:pt idx="45">
                  <c:v>31.652219595482006</c:v>
                </c:pt>
                <c:pt idx="46">
                  <c:v>29.325000000000003</c:v>
                </c:pt>
                <c:pt idx="47">
                  <c:v>19.034545870510179</c:v>
                </c:pt>
                <c:pt idx="48">
                  <c:v>25.494276795005206</c:v>
                </c:pt>
                <c:pt idx="49">
                  <c:v>29.764837625979844</c:v>
                </c:pt>
              </c:numCache>
            </c:numRef>
          </c:yVal>
          <c:bubbleSize>
            <c:numRef>
              <c:f>Sheet1!$I$1:$I$73</c:f>
              <c:numCache>
                <c:formatCode>General</c:formatCode>
                <c:ptCount val="73"/>
                <c:pt idx="35">
                  <c:v>7190.0170000000007</c:v>
                </c:pt>
                <c:pt idx="36">
                  <c:v>1025.5135</c:v>
                </c:pt>
                <c:pt idx="37">
                  <c:v>16496.123070249501</c:v>
                </c:pt>
                <c:pt idx="38">
                  <c:v>17280.391918043661</c:v>
                </c:pt>
                <c:pt idx="39">
                  <c:v>1853.9</c:v>
                </c:pt>
                <c:pt idx="40">
                  <c:v>3132.8</c:v>
                </c:pt>
                <c:pt idx="41">
                  <c:v>12561.6</c:v>
                </c:pt>
                <c:pt idx="42">
                  <c:v>2477</c:v>
                </c:pt>
                <c:pt idx="43">
                  <c:v>2809.7</c:v>
                </c:pt>
                <c:pt idx="44">
                  <c:v>460.31900000000002</c:v>
                </c:pt>
                <c:pt idx="45">
                  <c:v>3807</c:v>
                </c:pt>
                <c:pt idx="46">
                  <c:v>4000</c:v>
                </c:pt>
                <c:pt idx="47">
                  <c:v>4371</c:v>
                </c:pt>
                <c:pt idx="48">
                  <c:v>3844</c:v>
                </c:pt>
                <c:pt idx="49">
                  <c:v>4465</c:v>
                </c:pt>
              </c:numCache>
            </c:numRef>
          </c:bubbleSize>
          <c:bubble3D val="0"/>
          <c:extLst>
            <c:ext xmlns:c16="http://schemas.microsoft.com/office/drawing/2014/chart" uri="{C3380CC4-5D6E-409C-BE32-E72D297353CC}">
              <c16:uniqueId val="{00000021-7FAC-45FD-ABFA-3F40219FA207}"/>
            </c:ext>
          </c:extLst>
        </c:ser>
        <c:ser>
          <c:idx val="4"/>
          <c:order val="4"/>
          <c:spPr>
            <a:pattFill prst="pct50">
              <a:fgClr>
                <a:schemeClr val="tx1"/>
              </a:fgClr>
              <a:bgClr>
                <a:schemeClr val="bg1"/>
              </a:bgClr>
            </a:pattFill>
            <a:ln w="3175" cmpd="sng" algn="ctr">
              <a:solidFill>
                <a:schemeClr val="tx1"/>
              </a:solidFill>
              <a:prstDash val="solid"/>
            </a:ln>
          </c:spPr>
          <c:invertIfNegative val="0"/>
          <c:dPt>
            <c:idx val="50"/>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22-7FAC-45FD-ABFA-3F40219FA207}"/>
              </c:ext>
            </c:extLst>
          </c:dPt>
          <c:dPt>
            <c:idx val="51"/>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23-7FAC-45FD-ABFA-3F40219FA207}"/>
              </c:ext>
            </c:extLst>
          </c:dPt>
          <c:dPt>
            <c:idx val="52"/>
            <c:invertIfNegative val="0"/>
            <c:bubble3D val="0"/>
            <c:spPr>
              <a:solidFill>
                <a:srgbClr val="C30C3E"/>
              </a:solidFill>
              <a:ln w="3175" cmpd="sng" algn="ctr">
                <a:solidFill>
                  <a:schemeClr val="tx1"/>
                </a:solidFill>
                <a:prstDash val="solid"/>
              </a:ln>
            </c:spPr>
            <c:extLst>
              <c:ext xmlns:c16="http://schemas.microsoft.com/office/drawing/2014/chart" uri="{C3380CC4-5D6E-409C-BE32-E72D297353CC}">
                <c16:uniqueId val="{00000024-7FAC-45FD-ABFA-3F40219FA207}"/>
              </c:ext>
            </c:extLst>
          </c:dPt>
          <c:dPt>
            <c:idx val="53"/>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25-7FAC-45FD-ABFA-3F40219FA207}"/>
              </c:ext>
            </c:extLst>
          </c:dPt>
          <c:xVal>
            <c:numRef>
              <c:f>Sheet1!$A$1:$A$73</c:f>
              <c:numCache>
                <c:formatCode>General</c:formatCode>
                <c:ptCount val="73"/>
                <c:pt idx="50">
                  <c:v>2020</c:v>
                </c:pt>
                <c:pt idx="51">
                  <c:v>2023</c:v>
                </c:pt>
                <c:pt idx="52">
                  <c:v>2024</c:v>
                </c:pt>
                <c:pt idx="53">
                  <c:v>2024</c:v>
                </c:pt>
                <c:pt idx="54">
                  <c:v>2020</c:v>
                </c:pt>
                <c:pt idx="55">
                  <c:v>2020</c:v>
                </c:pt>
                <c:pt idx="56">
                  <c:v>2021</c:v>
                </c:pt>
                <c:pt idx="57">
                  <c:v>2021</c:v>
                </c:pt>
                <c:pt idx="58">
                  <c:v>2022</c:v>
                </c:pt>
                <c:pt idx="59">
                  <c:v>2022</c:v>
                </c:pt>
                <c:pt idx="60">
                  <c:v>2023</c:v>
                </c:pt>
                <c:pt idx="61">
                  <c:v>2023</c:v>
                </c:pt>
                <c:pt idx="62">
                  <c:v>2024</c:v>
                </c:pt>
                <c:pt idx="63">
                  <c:v>2024</c:v>
                </c:pt>
              </c:numCache>
            </c:numRef>
          </c:xVal>
          <c:yVal>
            <c:numRef>
              <c:f>Sheet1!$J$1:$J$73</c:f>
              <c:numCache>
                <c:formatCode>General</c:formatCode>
                <c:ptCount val="73"/>
                <c:pt idx="50">
                  <c:v>2.1914285714285713</c:v>
                </c:pt>
                <c:pt idx="51">
                  <c:v>3.2152659783034894</c:v>
                </c:pt>
                <c:pt idx="52">
                  <c:v>1.9931102362204725</c:v>
                </c:pt>
                <c:pt idx="53">
                  <c:v>27.35885788449059</c:v>
                </c:pt>
                <c:pt idx="54">
                  <c:v>32.757010218759923</c:v>
                </c:pt>
                <c:pt idx="55">
                  <c:v>42.955828628362674</c:v>
                </c:pt>
                <c:pt idx="56">
                  <c:v>40.612801171842563</c:v>
                </c:pt>
                <c:pt idx="57">
                  <c:v>47.833780160857906</c:v>
                </c:pt>
                <c:pt idx="58">
                  <c:v>35.186829083855301</c:v>
                </c:pt>
                <c:pt idx="59">
                  <c:v>50.926571555951853</c:v>
                </c:pt>
                <c:pt idx="60">
                  <c:v>31.215682587438888</c:v>
                </c:pt>
                <c:pt idx="61">
                  <c:v>50.728753109918834</c:v>
                </c:pt>
                <c:pt idx="62">
                  <c:v>37.849917869802027</c:v>
                </c:pt>
                <c:pt idx="63">
                  <c:v>53.959081942702461</c:v>
                </c:pt>
              </c:numCache>
            </c:numRef>
          </c:yVal>
          <c:bubbleSize>
            <c:numRef>
              <c:f>Sheet1!$K$1:$K$73</c:f>
              <c:numCache>
                <c:formatCode>General</c:formatCode>
                <c:ptCount val="73"/>
                <c:pt idx="50">
                  <c:v>6445.0193810939963</c:v>
                </c:pt>
                <c:pt idx="51">
                  <c:v>8463.5362000000005</c:v>
                </c:pt>
                <c:pt idx="52">
                  <c:v>8413.2927999999993</c:v>
                </c:pt>
                <c:pt idx="53">
                  <c:v>2311.5</c:v>
                </c:pt>
                <c:pt idx="54">
                  <c:v>1380.7877834240462</c:v>
                </c:pt>
                <c:pt idx="55">
                  <c:v>1505.5</c:v>
                </c:pt>
                <c:pt idx="56">
                  <c:v>1698.0486178778399</c:v>
                </c:pt>
                <c:pt idx="57">
                  <c:v>1865</c:v>
                </c:pt>
                <c:pt idx="58">
                  <c:v>1559.4693328206115</c:v>
                </c:pt>
                <c:pt idx="59">
                  <c:v>2243</c:v>
                </c:pt>
                <c:pt idx="60">
                  <c:v>1361.686873471687</c:v>
                </c:pt>
                <c:pt idx="61">
                  <c:v>2388.326</c:v>
                </c:pt>
                <c:pt idx="62">
                  <c:v>1489.1151821002356</c:v>
                </c:pt>
                <c:pt idx="63">
                  <c:v>2739.5239999999999</c:v>
                </c:pt>
              </c:numCache>
            </c:numRef>
          </c:bubbleSize>
          <c:bubble3D val="0"/>
          <c:extLst>
            <c:ext xmlns:c16="http://schemas.microsoft.com/office/drawing/2014/chart" uri="{C3380CC4-5D6E-409C-BE32-E72D297353CC}">
              <c16:uniqueId val="{00000026-7FAC-45FD-ABFA-3F40219FA207}"/>
            </c:ext>
          </c:extLst>
        </c:ser>
        <c:ser>
          <c:idx val="5"/>
          <c:order val="5"/>
          <c:spPr>
            <a:solidFill>
              <a:srgbClr val="C30C3E"/>
            </a:solidFill>
            <a:ln w="3175" cmpd="sng" algn="ctr">
              <a:solidFill>
                <a:schemeClr val="tx1"/>
              </a:solidFill>
              <a:prstDash val="solid"/>
            </a:ln>
          </c:spPr>
          <c:invertIfNegative val="0"/>
          <c:dPt>
            <c:idx val="64"/>
            <c:invertIfNegative val="0"/>
            <c:bubble3D val="0"/>
            <c:extLst>
              <c:ext xmlns:c16="http://schemas.microsoft.com/office/drawing/2014/chart" uri="{C3380CC4-5D6E-409C-BE32-E72D297353CC}">
                <c16:uniqueId val="{00000027-7FAC-45FD-ABFA-3F40219FA207}"/>
              </c:ext>
            </c:extLst>
          </c:dPt>
          <c:dPt>
            <c:idx val="65"/>
            <c:invertIfNegative val="0"/>
            <c:bubble3D val="0"/>
            <c:extLst>
              <c:ext xmlns:c16="http://schemas.microsoft.com/office/drawing/2014/chart" uri="{C3380CC4-5D6E-409C-BE32-E72D297353CC}">
                <c16:uniqueId val="{00000028-7FAC-45FD-ABFA-3F40219FA207}"/>
              </c:ext>
            </c:extLst>
          </c:dPt>
          <c:dPt>
            <c:idx val="66"/>
            <c:invertIfNegative val="0"/>
            <c:bubble3D val="0"/>
            <c:extLst>
              <c:ext xmlns:c16="http://schemas.microsoft.com/office/drawing/2014/chart" uri="{C3380CC4-5D6E-409C-BE32-E72D297353CC}">
                <c16:uniqueId val="{00000029-7FAC-45FD-ABFA-3F40219FA207}"/>
              </c:ext>
            </c:extLst>
          </c:dPt>
          <c:dPt>
            <c:idx val="67"/>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2A-7FAC-45FD-ABFA-3F40219FA207}"/>
              </c:ext>
            </c:extLst>
          </c:dPt>
          <c:dPt>
            <c:idx val="68"/>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2B-7FAC-45FD-ABFA-3F40219FA207}"/>
              </c:ext>
            </c:extLst>
          </c:dPt>
          <c:dPt>
            <c:idx val="69"/>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2C-7FAC-45FD-ABFA-3F40219FA207}"/>
              </c:ext>
            </c:extLst>
          </c:dPt>
          <c:xVal>
            <c:numRef>
              <c:f>Sheet1!$A$1:$A$73</c:f>
              <c:numCache>
                <c:formatCode>General</c:formatCode>
                <c:ptCount val="73"/>
                <c:pt idx="64">
                  <c:v>2020</c:v>
                </c:pt>
                <c:pt idx="65">
                  <c:v>2023</c:v>
                </c:pt>
                <c:pt idx="66">
                  <c:v>2024</c:v>
                </c:pt>
                <c:pt idx="67">
                  <c:v>2020</c:v>
                </c:pt>
                <c:pt idx="68">
                  <c:v>2021</c:v>
                </c:pt>
                <c:pt idx="69">
                  <c:v>2024</c:v>
                </c:pt>
              </c:numCache>
            </c:numRef>
          </c:xVal>
          <c:yVal>
            <c:numRef>
              <c:f>Sheet1!$L$1:$L$73</c:f>
              <c:numCache>
                <c:formatCode>General</c:formatCode>
                <c:ptCount val="73"/>
                <c:pt idx="64">
                  <c:v>6.6972828166857994</c:v>
                </c:pt>
                <c:pt idx="65">
                  <c:v>2.6524303821389523</c:v>
                </c:pt>
                <c:pt idx="66">
                  <c:v>2.2067557535263549</c:v>
                </c:pt>
                <c:pt idx="67">
                  <c:v>42.435814104647378</c:v>
                </c:pt>
                <c:pt idx="68">
                  <c:v>47.854179419166158</c:v>
                </c:pt>
                <c:pt idx="69">
                  <c:v>53.341617357001972</c:v>
                </c:pt>
              </c:numCache>
            </c:numRef>
          </c:yVal>
          <c:bubbleSize>
            <c:numRef>
              <c:f>Sheet1!$M$1:$M$73</c:f>
              <c:numCache>
                <c:formatCode>General</c:formatCode>
                <c:ptCount val="73"/>
                <c:pt idx="64">
                  <c:v>1410.0531899999999</c:v>
                </c:pt>
                <c:pt idx="65">
                  <c:v>5738.5531809414624</c:v>
                </c:pt>
                <c:pt idx="66">
                  <c:v>7291.6243757866105</c:v>
                </c:pt>
                <c:pt idx="67">
                  <c:v>1230.8</c:v>
                </c:pt>
                <c:pt idx="68">
                  <c:v>1470.3</c:v>
                </c:pt>
                <c:pt idx="69">
                  <c:v>1014</c:v>
                </c:pt>
              </c:numCache>
            </c:numRef>
          </c:bubbleSize>
          <c:bubble3D val="0"/>
          <c:extLst>
            <c:ext xmlns:c16="http://schemas.microsoft.com/office/drawing/2014/chart" uri="{C3380CC4-5D6E-409C-BE32-E72D297353CC}">
              <c16:uniqueId val="{0000002D-7FAC-45FD-ABFA-3F40219FA207}"/>
            </c:ext>
          </c:extLst>
        </c:ser>
        <c:ser>
          <c:idx val="6"/>
          <c:order val="6"/>
          <c:spPr>
            <a:solidFill>
              <a:srgbClr val="C30C3E"/>
            </a:solidFill>
            <a:ln w="3175" cmpd="sng" algn="ctr">
              <a:solidFill>
                <a:schemeClr val="tx1"/>
              </a:solidFill>
              <a:prstDash val="solid"/>
            </a:ln>
          </c:spPr>
          <c:invertIfNegative val="0"/>
          <c:dPt>
            <c:idx val="70"/>
            <c:invertIfNegative val="0"/>
            <c:bubble3D val="0"/>
            <c:extLst>
              <c:ext xmlns:c16="http://schemas.microsoft.com/office/drawing/2014/chart" uri="{C3380CC4-5D6E-409C-BE32-E72D297353CC}">
                <c16:uniqueId val="{0000002E-7FAC-45FD-ABFA-3F40219FA207}"/>
              </c:ext>
            </c:extLst>
          </c:dPt>
          <c:dPt>
            <c:idx val="71"/>
            <c:invertIfNegative val="0"/>
            <c:bubble3D val="0"/>
            <c:extLst>
              <c:ext xmlns:c16="http://schemas.microsoft.com/office/drawing/2014/chart" uri="{C3380CC4-5D6E-409C-BE32-E72D297353CC}">
                <c16:uniqueId val="{0000002F-7FAC-45FD-ABFA-3F40219FA207}"/>
              </c:ext>
            </c:extLst>
          </c:dPt>
          <c:dPt>
            <c:idx val="72"/>
            <c:invertIfNegative val="0"/>
            <c:bubble3D val="0"/>
            <c:spPr>
              <a:solidFill>
                <a:srgbClr val="27AE60"/>
              </a:solidFill>
              <a:ln w="3175" cmpd="sng" algn="ctr">
                <a:solidFill>
                  <a:schemeClr val="tx1"/>
                </a:solidFill>
                <a:prstDash val="solid"/>
              </a:ln>
            </c:spPr>
            <c:extLst>
              <c:ext xmlns:c16="http://schemas.microsoft.com/office/drawing/2014/chart" uri="{C3380CC4-5D6E-409C-BE32-E72D297353CC}">
                <c16:uniqueId val="{00000030-7FAC-45FD-ABFA-3F40219FA207}"/>
              </c:ext>
            </c:extLst>
          </c:dPt>
          <c:xVal>
            <c:numRef>
              <c:f>Sheet1!$A$1:$A$73</c:f>
              <c:numCache>
                <c:formatCode>General</c:formatCode>
                <c:ptCount val="73"/>
                <c:pt idx="70">
                  <c:v>2023</c:v>
                </c:pt>
                <c:pt idx="71">
                  <c:v>2024</c:v>
                </c:pt>
                <c:pt idx="72">
                  <c:v>2020</c:v>
                </c:pt>
              </c:numCache>
            </c:numRef>
          </c:xVal>
          <c:yVal>
            <c:numRef>
              <c:f>Sheet1!$N$1:$N$73</c:f>
              <c:numCache>
                <c:formatCode>General</c:formatCode>
                <c:ptCount val="73"/>
                <c:pt idx="70">
                  <c:v>1.7566688353936235</c:v>
                </c:pt>
                <c:pt idx="71">
                  <c:v>5.1606828260737503</c:v>
                </c:pt>
                <c:pt idx="72">
                  <c:v>43.177489177489178</c:v>
                </c:pt>
              </c:numCache>
            </c:numRef>
          </c:yVal>
          <c:bubbleSize>
            <c:numRef>
              <c:f>Sheet1!$O$1:$O$73</c:f>
              <c:numCache>
                <c:formatCode>General</c:formatCode>
                <c:ptCount val="73"/>
                <c:pt idx="70">
                  <c:v>1049.4636</c:v>
                </c:pt>
                <c:pt idx="71">
                  <c:v>1018.11285</c:v>
                </c:pt>
                <c:pt idx="72">
                  <c:v>462</c:v>
                </c:pt>
              </c:numCache>
            </c:numRef>
          </c:bubbleSize>
          <c:bubble3D val="0"/>
          <c:extLst>
            <c:ext xmlns:c16="http://schemas.microsoft.com/office/drawing/2014/chart" uri="{C3380CC4-5D6E-409C-BE32-E72D297353CC}">
              <c16:uniqueId val="{00000031-7FAC-45FD-ABFA-3F40219FA207}"/>
            </c:ext>
          </c:extLst>
        </c:ser>
        <c:dLbls>
          <c:showLegendKey val="0"/>
          <c:showVal val="0"/>
          <c:showCatName val="0"/>
          <c:showSerName val="0"/>
          <c:showPercent val="0"/>
          <c:showBubbleSize val="0"/>
        </c:dLbls>
        <c:bubbleScale val="66"/>
        <c:showNegBubbles val="0"/>
        <c:axId val="1424741247"/>
        <c:axId val="1"/>
      </c:bubbleChart>
      <c:valAx>
        <c:axId val="1424741247"/>
        <c:scaling>
          <c:orientation val="minMax"/>
          <c:max val="2025"/>
          <c:min val="2019"/>
        </c:scaling>
        <c:delete val="0"/>
        <c:axPos val="b"/>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000" kern="1200">
                <a:latin typeface="+mn-lt"/>
                <a:ea typeface="+mn-ea"/>
                <a:cs typeface="+mn-cs"/>
              </a:defRPr>
            </a:pPr>
            <a:endParaRPr lang="en-US"/>
          </a:p>
        </c:txPr>
        <c:crossAx val="1"/>
        <c:crossesAt val="0"/>
        <c:crossBetween val="midCat"/>
        <c:majorUnit val="1"/>
      </c:valAx>
      <c:valAx>
        <c:axId val="1"/>
        <c:scaling>
          <c:orientation val="minMax"/>
          <c:max val="70"/>
          <c:min val="-5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1424741247"/>
        <c:crosses val="min"/>
        <c:crossBetween val="midCat"/>
        <c:majorUnit val="10"/>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manualLayout>
          <c:layoutTarget val="inner"/>
          <c:xMode val="edge"/>
          <c:yMode val="edge"/>
          <c:x val="0.02"/>
          <c:y val="0.03"/>
          <c:w val="0.955"/>
          <c:h val="0.925"/>
        </c:manualLayout>
      </c:layout>
      <c:barChart>
        <c:barDir val="bar"/>
        <c:grouping val="clustered"/>
        <c:varyColors val="0"/>
        <c:ser>
          <c:idx val="0"/>
          <c:order val="0"/>
          <c:tx>
            <c:strRef>
              <c:f>Sheet1!$B$1</c:f>
              <c:strCache>
                <c:ptCount val="1"/>
                <c:pt idx="0">
                  <c:v>Gross tonnage (GT)</c:v>
                </c:pt>
              </c:strCache>
            </c:strRef>
          </c:tx>
          <c:invertIfNegative val="0"/>
          <c:dPt>
            <c:idx val="0"/>
            <c:invertIfNegative val="0"/>
            <c:bubble3D val="0"/>
            <c:spPr>
              <a:solidFill>
                <a:srgbClr val="4C6C9C"/>
              </a:solidFill>
              <a:ln w="6350">
                <a:solidFill>
                  <a:srgbClr val="FFFFFF"/>
                </a:solidFill>
              </a:ln>
            </c:spPr>
          </c:dPt>
          <c:dPt>
            <c:idx val="1"/>
            <c:invertIfNegative val="0"/>
            <c:bubble3D val="0"/>
            <c:spPr>
              <a:solidFill>
                <a:srgbClr val="007770"/>
              </a:solidFill>
              <a:ln w="6350">
                <a:solidFill>
                  <a:srgbClr val="FFFFFF"/>
                </a:solidFill>
              </a:ln>
            </c:spPr>
          </c:dPt>
          <c:dPt>
            <c:idx val="2"/>
            <c:invertIfNegative val="0"/>
            <c:bubble3D val="0"/>
            <c:spPr>
              <a:solidFill>
                <a:srgbClr val="969696"/>
              </a:solidFill>
              <a:ln w="6350">
                <a:solidFill>
                  <a:srgbClr val="FFFFFF"/>
                </a:solidFill>
              </a:ln>
            </c:spPr>
          </c:dPt>
          <c:dPt>
            <c:idx val="3"/>
            <c:invertIfNegative val="0"/>
            <c:bubble3D val="0"/>
            <c:spPr>
              <a:solidFill>
                <a:srgbClr val="FFC000"/>
              </a:solidFill>
              <a:ln w="6350">
                <a:solidFill>
                  <a:srgbClr val="FFFFFF"/>
                </a:solidFill>
              </a:ln>
            </c:spPr>
          </c:dPt>
          <c:dPt>
            <c:idx val="4"/>
            <c:invertIfNegative val="0"/>
            <c:bubble3D val="0"/>
            <c:spPr>
              <a:solidFill>
                <a:srgbClr val="969696"/>
              </a:solidFill>
              <a:ln w="6350">
                <a:solidFill>
                  <a:srgbClr val="FFFFFF"/>
                </a:solidFill>
              </a:ln>
            </c:spPr>
          </c:dPt>
          <c:dPt>
            <c:idx val="5"/>
            <c:invertIfNegative val="0"/>
            <c:bubble3D val="0"/>
            <c:spPr>
              <a:solidFill>
                <a:srgbClr val="969696"/>
              </a:solidFill>
              <a:ln w="6350">
                <a:solidFill>
                  <a:srgbClr val="FFFFFF"/>
                </a:solidFill>
              </a:ln>
            </c:spPr>
          </c:dPt>
          <c:cat>
            <c:strRef>
              <c:f>Sheet1!$A$2:$A$7</c:f>
              <c:strCache>
                <c:ptCount val="6"/>
                <c:pt idx="0">
                  <c:v>Total</c:v>
                </c:pt>
                <c:pt idx="1">
                  <c:v>Addressable Commercial</c:v>
                </c:pt>
                <c:pt idx="2">
                  <c:v>Great Lakes Commercial</c:v>
                </c:pt>
                <c:pt idx="3">
                  <c:v>Addressable Offshore</c:v>
                </c:pt>
                <c:pt idx="4">
                  <c:v>Non-Addressable Offshore</c:v>
                </c:pt>
                <c:pt idx="5">
                  <c:v>Other Segments</c:v>
                </c:pt>
              </c:strCache>
            </c:strRef>
          </c:cat>
          <c:val>
            <c:numRef>
              <c:f>Sheet1!$B$2:$B$7</c:f>
              <c:numCache>
                <c:formatCode>0.0</c:formatCode>
                <c:ptCount val="6"/>
                <c:pt idx="0">
                  <c:v>6628515</c:v>
                </c:pt>
                <c:pt idx="1">
                  <c:v>3347252</c:v>
                </c:pt>
                <c:pt idx="2">
                  <c:v>739991</c:v>
                </c:pt>
                <c:pt idx="3">
                  <c:v>625304</c:v>
                </c:pt>
                <c:pt idx="4">
                  <c:v>334461</c:v>
                </c:pt>
                <c:pt idx="5">
                  <c:v>1581507</c:v>
                </c:pt>
              </c:numCache>
            </c:numRef>
          </c:val>
        </c:ser>
        <c:gapWidth val="95"/>
        <c:overlap val="0"/>
        <c:axId val="111111111"/>
        <c:axId val="222222222"/>
      </c:barChart>
      <c:catAx>
        <c:axId val="111111111"/>
        <c:scaling>
          <c:orientation val="maxMin"/>
        </c:scaling>
        <c:delete val="0"/>
        <c:axPos val="l"/>
        <c:numFmt formatCode="General" sourceLinked="1"/>
        <c:majorTickMark val="none"/>
        <c:minorTickMark val="none"/>
        <c:tickLblPos val="none"/>
        <c:spPr>
          <a:ln w="3175" cap="flat">
            <a:solidFill>
              <a:srgbClr val="FFFFFF"/>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222222222"/>
        <c:crosses val="autoZero"/>
        <c:auto val="1"/>
        <c:lblAlgn val="ctr"/>
        <c:lblOffset val="100"/>
        <c:noMultiLvlLbl val="0"/>
      </c:catAx>
      <c:valAx>
        <c:axId val="222222222"/>
        <c:scaling>
          <c:orientation val="minMax"/>
          <c:max val="6628515"/>
          <c:min val="0"/>
        </c:scaling>
        <c:delete val="0"/>
        <c:axPos val="b"/>
        <c:numFmt formatCode="0.0" sourceLinked="0"/>
        <c:majorTickMark val="none"/>
        <c:minorTickMark val="none"/>
        <c:tickLblPos val="none"/>
        <c:spPr>
          <a:ln w="3175" cap="flat">
            <a:solidFill>
              <a:srgbClr val="FFFFFF"/>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111111111"/>
        <c:crosses val="autoZero"/>
        <c:crossBetween val="between"/>
        <c:majorUnit val="1000000"/>
      </c:valAx>
    </c:plotArea>
    <c:plotVisOnly val="1"/>
    <c:dispBlanksAs val="gap"/>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manualLayout>
          <c:layoutTarget val="inner"/>
          <c:xMode val="edge"/>
          <c:yMode val="edge"/>
          <c:x val="0.025"/>
          <c:y val="0.015"/>
          <c:w val="0.95"/>
          <c:h val="0.93"/>
        </c:manualLayout>
      </c:layout>
      <c:barChart>
        <c:barDir val="col"/>
        <c:grouping val="stacked"/>
        <c:varyColors val="0"/>
        <c:ser>
          <c:idx val="0"/>
          <c:order val="0"/>
          <c:tx>
            <c:strRef>
              <c:f>Sheet1!$B$1</c:f>
              <c:strCache>
                <c:ptCount val="1"/>
                <c:pt idx="0">
                  <c:v>Addressable Commercial Orderbook / Retirements</c:v>
                </c:pt>
              </c:strCache>
            </c:strRef>
          </c:tx>
          <c:spPr>
            <a:solidFill>
              <a:srgbClr val="007770"/>
            </a:solidFill>
            <a:ln w="6350">
              <a:solidFill>
                <a:srgbClr val="FFFFFF"/>
              </a:solidFill>
            </a:ln>
          </c:spPr>
          <c:invertIfNegative val="0"/>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Sheet1!$B$2:$B$26</c:f>
              <c:numCache>
                <c:formatCode>0</c:formatCode>
                <c:ptCount val="25"/>
                <c:pt idx="0">
                  <c:v>48.049</c:v>
                </c:pt>
                <c:pt idx="1">
                  <c:v>96.098</c:v>
                </c:pt>
                <c:pt idx="2">
                  <c:v>222.0</c:v>
                </c:pt>
                <c:pt idx="3">
                  <c:v>285.0</c:v>
                </c:pt>
                <c:pt idx="4">
                  <c:v>285.0</c:v>
                </c:pt>
                <c:pt idx="5">
                  <c:v>-8.415</c:v>
                </c:pt>
                <c:pt idx="6">
                  <c:v>-22.359</c:v>
                </c:pt>
                <c:pt idx="7">
                  <c:v>-31.669</c:v>
                </c:pt>
                <c:pt idx="8">
                  <c:v>-15.549</c:v>
                </c:pt>
                <c:pt idx="9">
                  <c:v>-13.908</c:v>
                </c:pt>
                <c:pt idx="10">
                  <c:v>-14.256</c:v>
                </c:pt>
                <c:pt idx="11">
                  <c:v>-29.826</c:v>
                </c:pt>
                <c:pt idx="12">
                  <c:v>-23.429</c:v>
                </c:pt>
                <c:pt idx="13">
                  <c:v>-25.05</c:v>
                </c:pt>
                <c:pt idx="14">
                  <c:v>-33.881</c:v>
                </c:pt>
                <c:pt idx="15">
                  <c:v>-11.82</c:v>
                </c:pt>
                <c:pt idx="16">
                  <c:v>-31.534</c:v>
                </c:pt>
                <c:pt idx="17">
                  <c:v>-45.321</c:v>
                </c:pt>
                <c:pt idx="18">
                  <c:v>-103.45</c:v>
                </c:pt>
                <c:pt idx="19">
                  <c:v>-58.863</c:v>
                </c:pt>
                <c:pt idx="20">
                  <c:v>-35.032</c:v>
                </c:pt>
                <c:pt idx="21">
                  <c:v>-16.215</c:v>
                </c:pt>
                <c:pt idx="22">
                  <c:v>-18.412</c:v>
                </c:pt>
                <c:pt idx="23">
                  <c:v>-7.328</c:v>
                </c:pt>
                <c:pt idx="24">
                  <c:v>-1.634</c:v>
                </c:pt>
              </c:numCache>
            </c:numRef>
          </c:val>
        </c:ser>
        <c:ser>
          <c:idx val="1"/>
          <c:order val="1"/>
          <c:tx>
            <c:strRef>
              <c:f>Sheet1!$C$1</c:f>
              <c:strCache>
                <c:ptCount val="1"/>
                <c:pt idx="0">
                  <c:v>Addressable Offshore Retirements</c:v>
                </c:pt>
              </c:strCache>
            </c:strRef>
          </c:tx>
          <c:spPr>
            <a:solidFill>
              <a:srgbClr val="FFC000"/>
            </a:solidFill>
            <a:ln w="6350">
              <a:solidFill>
                <a:srgbClr val="FFFFFF"/>
              </a:solidFill>
            </a:ln>
          </c:spPr>
          <c:invertIfNegative val="0"/>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Sheet1!$C$2:$C$26</c:f>
              <c:numCache>
                <c:formatCode>0</c:formatCode>
                <c:ptCount val="25"/>
                <c:pt idx="0">
                  <c:v>-12.518</c:v>
                </c:pt>
                <c:pt idx="1">
                  <c:v>-0.949</c:v>
                </c:pt>
                <c:pt idx="2">
                  <c:v>-16.35</c:v>
                </c:pt>
                <c:pt idx="3">
                  <c:v>-24.688</c:v>
                </c:pt>
                <c:pt idx="4">
                  <c:v>-18.715</c:v>
                </c:pt>
                <c:pt idx="5">
                  <c:v>-1.904</c:v>
                </c:pt>
                <c:pt idx="6">
                  <c:v>-61.988</c:v>
                </c:pt>
                <c:pt idx="7">
                  <c:v>-91.245</c:v>
                </c:pt>
                <c:pt idx="8">
                  <c:v>-61.54</c:v>
                </c:pt>
                <c:pt idx="10">
                  <c:v>-85.099</c:v>
                </c:pt>
                <c:pt idx="11">
                  <c:v>-85.098</c:v>
                </c:pt>
                <c:pt idx="12">
                  <c:v>-86.641</c:v>
                </c:pt>
                <c:pt idx="13">
                  <c:v>-196.08</c:v>
                </c:pt>
                <c:pt idx="14">
                  <c:v>-230.065</c:v>
                </c:pt>
                <c:pt idx="15">
                  <c:v>-196.08</c:v>
                </c:pt>
                <c:pt idx="16">
                  <c:v>-87.726</c:v>
                </c:pt>
                <c:pt idx="17">
                  <c:v>-221.687</c:v>
                </c:pt>
                <c:pt idx="18">
                  <c:v>-208.874</c:v>
                </c:pt>
                <c:pt idx="19">
                  <c:v>-216.895</c:v>
                </c:pt>
                <c:pt idx="20">
                  <c:v>-55.958</c:v>
                </c:pt>
                <c:pt idx="21">
                  <c:v>-59.96</c:v>
                </c:pt>
                <c:pt idx="22">
                  <c:v>-29.242</c:v>
                </c:pt>
                <c:pt idx="23">
                  <c:v>-62.318</c:v>
                </c:pt>
                <c:pt idx="24">
                  <c:v>-151.354</c:v>
                </c:pt>
              </c:numCache>
            </c:numRef>
          </c:val>
        </c:ser>
        <c:ser>
          <c:idx val="2"/>
          <c:order val="2"/>
          <c:tx>
            <c:strRef>
              <c:f>Sheet1!$D$1</c:f>
              <c:strCache>
                <c:ptCount val="1"/>
                <c:pt idx="0">
                  <c:v>Addressable Offshore Orderbook</c:v>
                </c:pt>
              </c:strCache>
            </c:strRef>
          </c:tx>
          <c:spPr>
            <a:solidFill>
              <a:srgbClr val="FFC000"/>
            </a:solidFill>
            <a:ln w="6350">
              <a:solidFill>
                <a:srgbClr val="FFFFFF"/>
              </a:solidFill>
            </a:ln>
          </c:spPr>
          <c:invertIfNegative val="0"/>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Sheet1!$D$2:$D$26</c:f>
              <c:numCache>
                <c:formatCode>0</c:formatCode>
                <c:ptCount val="25"/>
                <c:pt idx="0">
                  <c:v>-196.731</c:v>
                </c:pt>
                <c:pt idx="1">
                  <c:v>-62.895</c:v>
                </c:pt>
                <c:pt idx="3">
                  <c:v>-16.771</c:v>
                </c:pt>
                <c:pt idx="4">
                  <c:v>-1.495</c:v>
                </c:pt>
              </c:numCache>
            </c:numRef>
          </c:val>
        </c:ser>
        <c:gapWidth val="88"/>
        <c:overlap val="100"/>
        <c:axId val="111111111"/>
        <c:axId val="222222222"/>
      </c:barChart>
      <c:catAx>
        <c:axId val="111111111"/>
        <c:scaling>
          <c:orientation val="minMax"/>
        </c:scaling>
        <c:delete val="0"/>
        <c:axPos val="b"/>
        <c:numFmt formatCode="General" sourceLinked="1"/>
        <c:majorTickMark val="none"/>
        <c:minorTickMark val="none"/>
        <c:tickLblPos val="none"/>
        <c:spPr>
          <a:ln w="6350"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222222222"/>
        <c:crosses val="autoZero"/>
        <c:auto val="1"/>
        <c:lblAlgn val="ctr"/>
        <c:lblOffset val="100"/>
        <c:noMultiLvlLbl val="0"/>
      </c:catAx>
      <c:valAx>
        <c:axId val="222222222"/>
        <c:scaling>
          <c:orientation val="minMax"/>
          <c:max val="350"/>
          <c:min val="-350"/>
        </c:scaling>
        <c:delete val="0"/>
        <c:axPos val="l"/>
        <c:majorGridlines>
          <c:spPr>
            <a:ln w="3175" cap="flat">
              <a:solidFill>
                <a:srgbClr val="D9D9D9"/>
              </a:solidFill>
              <a:prstDash val="solid"/>
            </a:ln>
          </c:spPr>
        </c:majorGridlines>
        <c:numFmt formatCode="0" sourceLinked="0"/>
        <c:majorTickMark val="none"/>
        <c:minorTickMark val="none"/>
        <c:tickLblPos val="none"/>
        <c:spPr>
          <a:ln w="6350"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111111111"/>
        <c:crosses val="autoZero"/>
        <c:crossBetween val="between"/>
        <c:majorUnit val="50"/>
      </c:valAx>
    </c:plotArea>
    <c:plotVisOnly val="1"/>
    <c:dispBlanksAs val="gap"/>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manualLayout>
          <c:layoutTarget val="inner"/>
          <c:xMode val="edge"/>
          <c:yMode val="edge"/>
          <c:x val="0.007129147244310392"/>
          <c:y val="0.04410517387616624"/>
          <c:w val="0.9857417055113792"/>
          <c:h val="0.9117896522476675"/>
        </c:manualLayout>
      </c:layout>
      <c:barChart>
        <c:barDir val="col"/>
        <c:grouping val="stacked"/>
        <c:varyColors val="0"/>
        <c:ser>
          <c:idx val="0"/>
          <c:order val="0"/>
          <c:tx>
            <c:strRef>
              <c:f>Sheet1!$B$1</c:f>
              <c:strCache>
                <c:ptCount val="1"/>
                <c:pt idx="0">
                  <c:v>Totals and hidden waterfall offsets</c:v>
                </c:pt>
              </c:strCache>
            </c:strRef>
          </c:tx>
          <c:spPr>
            <a:solidFill>
              <a:srgbClr val="FFFFFF"/>
            </a:solidFill>
            <a:ln>
              <a:noFill/>
            </a:ln>
          </c:spPr>
          <c:invertIfNegative val="0"/>
          <c:dPt>
            <c:idx val="0"/>
            <c:invertIfNegative val="0"/>
            <c:bubble3D val="0"/>
            <c:spPr>
              <a:solidFill>
                <a:srgbClr val="6E91B1"/>
              </a:solidFill>
              <a:ln>
                <a:noFill/>
              </a:ln>
            </c:spPr>
          </c:dPt>
          <c:dPt>
            <c:idx val="1"/>
            <c:invertIfNegative val="0"/>
            <c:bubble3D val="0"/>
            <c:spPr>
              <a:solidFill>
                <a:srgbClr val="FFFFFF"/>
              </a:solidFill>
              <a:ln>
                <a:noFill/>
              </a:ln>
            </c:spPr>
          </c:dPt>
          <c:dPt>
            <c:idx val="2"/>
            <c:invertIfNegative val="0"/>
            <c:bubble3D val="0"/>
            <c:spPr>
              <a:solidFill>
                <a:srgbClr val="3D5972"/>
              </a:solidFill>
              <a:ln>
                <a:noFill/>
              </a:ln>
            </c:spPr>
          </c:dPt>
          <c:dPt>
            <c:idx val="3"/>
            <c:invertIfNegative val="0"/>
            <c:bubble3D val="0"/>
            <c:spPr>
              <a:solidFill>
                <a:srgbClr val="FFFFFF"/>
              </a:solidFill>
              <a:ln>
                <a:noFill/>
              </a:ln>
            </c:spPr>
          </c:dPt>
          <c:dPt>
            <c:idx val="4"/>
            <c:invertIfNegative val="0"/>
            <c:bubble3D val="0"/>
            <c:spPr>
              <a:solidFill>
                <a:srgbClr val="FFFFFF"/>
              </a:solidFill>
              <a:ln>
                <a:noFill/>
              </a:ln>
            </c:spPr>
          </c:dPt>
          <c:dPt>
            <c:idx val="5"/>
            <c:invertIfNegative val="0"/>
            <c:bubble3D val="0"/>
            <c:spPr>
              <a:solidFill>
                <a:srgbClr val="263746"/>
              </a:solidFill>
              <a:ln>
                <a:noFill/>
              </a:ln>
            </c:spPr>
          </c:dPt>
          <c:cat>
            <c:strRef>
              <c:f>Sheet1!$A$2:$A$7</c:f>
              <c:strCache>
                <c:ptCount val="6"/>
                <c:pt idx="0">
                  <c:v>SAM</c:v>
                </c:pt>
                <c:pt idx="1">
                  <c:v>Market Share</c:v>
                </c:pt>
                <c:pt idx="2">
                  <c:v>Company TCV</c:v>
                </c:pt>
                <c:pt idx="3">
                  <c:v>Initial exercise</c:v>
                </c:pt>
                <c:pt idx="4">
                  <c:v>In-year exercise</c:v>
                </c:pt>
                <c:pt idx="5">
                  <c:v>Next-year exercise</c:v>
                </c:pt>
              </c:strCache>
            </c:strRef>
          </c:cat>
          <c:val>
            <c:numRef>
              <c:f>Sheet1!$B$2:$B$7</c:f>
              <c:numCache>
                <c:formatCode>General</c:formatCode>
                <c:ptCount val="6"/>
                <c:pt idx="0">
                  <c:v>400</c:v>
                </c:pt>
                <c:pt idx="1">
                  <c:v>200</c:v>
                </c:pt>
                <c:pt idx="2">
                  <c:v>200</c:v>
                </c:pt>
                <c:pt idx="3">
                  <c:v>190</c:v>
                </c:pt>
                <c:pt idx="4">
                  <c:v>100</c:v>
                </c:pt>
                <c:pt idx="5">
                  <c:v>100</c:v>
                </c:pt>
              </c:numCache>
            </c:numRef>
          </c:val>
        </c:ser>
        <c:ser>
          <c:idx val="1"/>
          <c:order val="1"/>
          <c:tx>
            <c:strRef>
              <c:f>Sheet1!$C$1</c:f>
              <c:strCache>
                <c:ptCount val="1"/>
                <c:pt idx="0">
                  <c:v>Visible timing / share bridge segments</c:v>
                </c:pt>
              </c:strCache>
            </c:strRef>
          </c:tx>
          <c:spPr>
            <a:solidFill>
              <a:srgbClr val="263746"/>
            </a:solidFill>
            <a:ln>
              <a:noFill/>
            </a:ln>
          </c:spPr>
          <c:invertIfNegative val="0"/>
          <c:dPt>
            <c:idx val="0"/>
            <c:invertIfNegative val="0"/>
            <c:bubble3D val="0"/>
            <c:spPr>
              <a:solidFill>
                <a:srgbClr val="263746"/>
              </a:solidFill>
              <a:ln>
                <a:noFill/>
              </a:ln>
            </c:spPr>
          </c:dPt>
          <c:dPt>
            <c:idx val="1"/>
            <c:invertIfNegative val="0"/>
            <c:bubble3D val="0"/>
            <c:spPr>
              <a:solidFill>
                <a:srgbClr val="C0C0C0"/>
              </a:solidFill>
              <a:ln>
                <a:noFill/>
              </a:ln>
            </c:spPr>
          </c:dPt>
          <c:dPt>
            <c:idx val="2"/>
            <c:invertIfNegative val="0"/>
            <c:bubble3D val="0"/>
            <c:spPr>
              <a:solidFill>
                <a:srgbClr val="263746"/>
              </a:solidFill>
              <a:ln>
                <a:noFill/>
              </a:ln>
            </c:spPr>
          </c:dPt>
          <c:dPt>
            <c:idx val="3"/>
            <c:invertIfNegative val="0"/>
            <c:bubble3D val="0"/>
            <c:spPr>
              <a:solidFill>
                <a:srgbClr val="263746"/>
              </a:solidFill>
              <a:ln>
                <a:noFill/>
              </a:ln>
            </c:spPr>
          </c:dPt>
          <c:dPt>
            <c:idx val="4"/>
            <c:invertIfNegative val="0"/>
            <c:bubble3D val="0"/>
            <c:spPr>
              <a:solidFill>
                <a:srgbClr val="263746"/>
              </a:solidFill>
              <a:ln>
                <a:noFill/>
              </a:ln>
            </c:spPr>
          </c:dPt>
          <c:dPt>
            <c:idx val="5"/>
            <c:invertIfNegative val="0"/>
            <c:bubble3D val="0"/>
            <c:spPr>
              <a:solidFill>
                <a:srgbClr val="263746"/>
              </a:solidFill>
              <a:ln>
                <a:noFill/>
              </a:ln>
            </c:spPr>
          </c:dPt>
          <c:cat>
            <c:strRef>
              <c:f>Sheet1!$A$2:$A$7</c:f>
              <c:strCache>
                <c:ptCount val="6"/>
                <c:pt idx="0">
                  <c:v>SAM</c:v>
                </c:pt>
                <c:pt idx="1">
                  <c:v>Market Share</c:v>
                </c:pt>
                <c:pt idx="2">
                  <c:v>Company TCV</c:v>
                </c:pt>
                <c:pt idx="3">
                  <c:v>Initial exercise</c:v>
                </c:pt>
                <c:pt idx="4">
                  <c:v>In-year exercise</c:v>
                </c:pt>
                <c:pt idx="5">
                  <c:v>Next-year exercise</c:v>
                </c:pt>
              </c:strCache>
            </c:strRef>
          </c:cat>
          <c:val>
            <c:numRef>
              <c:f>Sheet1!$C$2:$C$7</c:f>
              <c:numCache>
                <c:formatCode>General</c:formatCode>
                <c:ptCount val="6"/>
                <c:pt idx="1">
                  <c:v>200</c:v>
                </c:pt>
                <c:pt idx="3">
                  <c:v>10</c:v>
                </c:pt>
                <c:pt idx="4">
                  <c:v>90</c:v>
                </c:pt>
              </c:numCache>
            </c:numRef>
          </c:val>
        </c:ser>
        <c:gapWidth val="80"/>
        <c:overlap val="100"/>
        <c:axId val="111111111"/>
        <c:axId val="222222222"/>
      </c:barChart>
      <c:catAx>
        <c:axId val="111111111"/>
        <c:scaling>
          <c:orientation val="minMax"/>
        </c:scaling>
        <c:delete val="0"/>
        <c:axPos val="b"/>
        <c:numFmt formatCode="General" sourceLinked="1"/>
        <c:majorTickMark val="none"/>
        <c:minorTickMark val="none"/>
        <c:tickLblPos val="none"/>
        <c:spPr>
          <a:ln w="9525"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222222222"/>
        <c:crosses val="autoZero"/>
        <c:auto val="1"/>
        <c:lblAlgn val="ctr"/>
        <c:lblOffset val="100"/>
        <c:noMultiLvlLbl val="0"/>
      </c:catAx>
      <c:valAx>
        <c:axId val="222222222"/>
        <c:scaling>
          <c:orientation val="minMax"/>
          <c:max val="400"/>
          <c:min val="0"/>
        </c:scaling>
        <c:delete val="0"/>
        <c:axPos val="l"/>
        <c:numFmt formatCode="General" sourceLinked="0"/>
        <c:majorTickMark val="none"/>
        <c:minorTickMark val="none"/>
        <c:tickLblPos val="none"/>
        <c:spPr>
          <a:ln w="9525"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111111111"/>
        <c:crosses val="autoZero"/>
        <c:crossBetween val="between"/>
        <c:majorUnit val="100"/>
      </c:valAx>
    </c:plotArea>
    <c:plotVisOnly val="1"/>
    <c:dispBlanksAs val="gap"/>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manualLayout>
          <c:layoutTarget val="inner"/>
          <c:xMode val="edge"/>
          <c:yMode val="edge"/>
          <c:x val="0.007129147244310392"/>
          <c:y val="0.05279187817258883"/>
          <c:w val="0.9857417055113792"/>
          <c:h val="0.8944162436548223"/>
        </c:manualLayout>
      </c:layout>
      <c:barChart>
        <c:barDir val="col"/>
        <c:grouping val="stacked"/>
        <c:varyColors val="0"/>
        <c:ser>
          <c:idx val="0"/>
          <c:order val="0"/>
          <c:tx>
            <c:strRef>
              <c:f>Sheet1!$B$1</c:f>
              <c:strCache>
                <c:ptCount val="1"/>
                <c:pt idx="0">
                  <c:v>Totals and hidden waterfall offsets</c:v>
                </c:pt>
              </c:strCache>
            </c:strRef>
          </c:tx>
          <c:spPr>
            <a:solidFill>
              <a:srgbClr val="FFFFFF"/>
            </a:solidFill>
            <a:ln>
              <a:noFill/>
            </a:ln>
          </c:spPr>
          <c:invertIfNegative val="0"/>
          <c:dPt>
            <c:idx val="0"/>
            <c:invertIfNegative val="0"/>
            <c:bubble3D val="0"/>
            <c:spPr>
              <a:solidFill>
                <a:srgbClr val="6E91B1"/>
              </a:solidFill>
              <a:ln>
                <a:noFill/>
              </a:ln>
            </c:spPr>
          </c:dPt>
          <c:dPt>
            <c:idx val="1"/>
            <c:invertIfNegative val="0"/>
            <c:bubble3D val="0"/>
            <c:spPr>
              <a:solidFill>
                <a:srgbClr val="FFFFFF"/>
              </a:solidFill>
              <a:ln>
                <a:noFill/>
              </a:ln>
            </c:spPr>
          </c:dPt>
          <c:dPt>
            <c:idx val="2"/>
            <c:invertIfNegative val="0"/>
            <c:bubble3D val="0"/>
            <c:spPr>
              <a:solidFill>
                <a:srgbClr val="3D5972"/>
              </a:solidFill>
              <a:ln>
                <a:noFill/>
              </a:ln>
            </c:spPr>
          </c:dPt>
          <c:dPt>
            <c:idx val="3"/>
            <c:invertIfNegative val="0"/>
            <c:bubble3D val="0"/>
            <c:spPr>
              <a:solidFill>
                <a:srgbClr val="FFFFFF"/>
              </a:solidFill>
              <a:ln>
                <a:noFill/>
              </a:ln>
            </c:spPr>
          </c:dPt>
          <c:dPt>
            <c:idx val="4"/>
            <c:invertIfNegative val="0"/>
            <c:bubble3D val="0"/>
            <c:spPr>
              <a:solidFill>
                <a:srgbClr val="FFFFFF"/>
              </a:solidFill>
              <a:ln>
                <a:noFill/>
              </a:ln>
            </c:spPr>
          </c:dPt>
          <c:dPt>
            <c:idx val="5"/>
            <c:invertIfNegative val="0"/>
            <c:bubble3D val="0"/>
            <c:spPr>
              <a:solidFill>
                <a:srgbClr val="263746"/>
              </a:solidFill>
              <a:ln>
                <a:noFill/>
              </a:ln>
            </c:spPr>
          </c:dPt>
          <c:dPt>
            <c:idx val="6"/>
            <c:invertIfNegative val="0"/>
            <c:bubble3D val="0"/>
            <c:spPr>
              <a:solidFill>
                <a:srgbClr val="263746"/>
              </a:solidFill>
              <a:ln>
                <a:noFill/>
              </a:ln>
            </c:spPr>
          </c:dPt>
          <c:dPt>
            <c:idx val="7"/>
            <c:invertIfNegative val="0"/>
            <c:bubble3D val="0"/>
            <c:spPr>
              <a:solidFill>
                <a:srgbClr val="263746"/>
              </a:solidFill>
              <a:ln>
                <a:noFill/>
              </a:ln>
            </c:spPr>
          </c:dPt>
          <c:dPt>
            <c:idx val="8"/>
            <c:invertIfNegative val="0"/>
            <c:bubble3D val="0"/>
            <c:spPr>
              <a:solidFill>
                <a:srgbClr val="263746"/>
              </a:solidFill>
              <a:ln>
                <a:noFill/>
              </a:ln>
            </c:spPr>
          </c:dPt>
          <c:cat>
            <c:strRef>
              <c:f>Sheet1!$A$2:$A$10</c:f>
              <c:strCache>
                <c:ptCount val="9"/>
                <c:pt idx="0">
                  <c:v>SAM</c:v>
                </c:pt>
                <c:pt idx="1">
                  <c:v>Market Share</c:v>
                </c:pt>
                <c:pt idx="2">
                  <c:v>Company TCV</c:v>
                </c:pt>
                <c:pt idx="3">
                  <c:v>Initial exercise</c:v>
                </c:pt>
                <c:pt idx="4">
                  <c:v>In-year exercise</c:v>
                </c:pt>
                <c:pt idx="5">
                  <c:v>Year 2 exercise</c:v>
                </c:pt>
                <c:pt idx="6">
                  <c:v>Year 3 exercise</c:v>
                </c:pt>
                <c:pt idx="7">
                  <c:v>Year 4 exercise</c:v>
                </c:pt>
                <c:pt idx="8">
                  <c:v>Year 5 exercise</c:v>
                </c:pt>
              </c:strCache>
            </c:strRef>
          </c:cat>
          <c:val>
            <c:numRef>
              <c:f>Sheet1!$B$2:$B$10</c:f>
              <c:numCache>
                <c:formatCode>General</c:formatCode>
                <c:ptCount val="9"/>
                <c:pt idx="0">
                  <c:v>200</c:v>
                </c:pt>
                <c:pt idx="1">
                  <c:v>100</c:v>
                </c:pt>
                <c:pt idx="2">
                  <c:v>100</c:v>
                </c:pt>
                <c:pt idx="3">
                  <c:v>50</c:v>
                </c:pt>
                <c:pt idx="4">
                  <c:v>15</c:v>
                </c:pt>
                <c:pt idx="5">
                  <c:v>15</c:v>
                </c:pt>
                <c:pt idx="6">
                  <c:v>0</c:v>
                </c:pt>
                <c:pt idx="7">
                  <c:v>0</c:v>
                </c:pt>
                <c:pt idx="8">
                  <c:v>0</c:v>
                </c:pt>
              </c:numCache>
            </c:numRef>
          </c:val>
        </c:ser>
        <c:ser>
          <c:idx val="1"/>
          <c:order val="1"/>
          <c:tx>
            <c:strRef>
              <c:f>Sheet1!$C$1</c:f>
              <c:strCache>
                <c:ptCount val="1"/>
                <c:pt idx="0">
                  <c:v>Visible timing / share bridge segments</c:v>
                </c:pt>
              </c:strCache>
            </c:strRef>
          </c:tx>
          <c:spPr>
            <a:solidFill>
              <a:srgbClr val="263746"/>
            </a:solidFill>
            <a:ln>
              <a:noFill/>
            </a:ln>
          </c:spPr>
          <c:invertIfNegative val="0"/>
          <c:dPt>
            <c:idx val="0"/>
            <c:invertIfNegative val="0"/>
            <c:bubble3D val="0"/>
            <c:spPr>
              <a:solidFill>
                <a:srgbClr val="263746"/>
              </a:solidFill>
              <a:ln>
                <a:noFill/>
              </a:ln>
            </c:spPr>
          </c:dPt>
          <c:dPt>
            <c:idx val="1"/>
            <c:invertIfNegative val="0"/>
            <c:bubble3D val="0"/>
            <c:spPr>
              <a:solidFill>
                <a:srgbClr val="C0C0C0"/>
              </a:solidFill>
              <a:ln>
                <a:noFill/>
              </a:ln>
            </c:spPr>
          </c:dPt>
          <c:dPt>
            <c:idx val="2"/>
            <c:invertIfNegative val="0"/>
            <c:bubble3D val="0"/>
            <c:spPr>
              <a:solidFill>
                <a:srgbClr val="263746"/>
              </a:solidFill>
              <a:ln>
                <a:noFill/>
              </a:ln>
            </c:spPr>
          </c:dPt>
          <c:dPt>
            <c:idx val="3"/>
            <c:invertIfNegative val="0"/>
            <c:bubble3D val="0"/>
            <c:spPr>
              <a:solidFill>
                <a:srgbClr val="263746"/>
              </a:solidFill>
              <a:ln>
                <a:noFill/>
              </a:ln>
            </c:spPr>
          </c:dPt>
          <c:dPt>
            <c:idx val="4"/>
            <c:invertIfNegative val="0"/>
            <c:bubble3D val="0"/>
            <c:spPr>
              <a:solidFill>
                <a:srgbClr val="263746"/>
              </a:solidFill>
              <a:ln>
                <a:noFill/>
              </a:ln>
            </c:spPr>
          </c:dPt>
          <c:dPt>
            <c:idx val="5"/>
            <c:invertIfNegative val="0"/>
            <c:bubble3D val="0"/>
            <c:spPr>
              <a:solidFill>
                <a:srgbClr val="263746"/>
              </a:solidFill>
              <a:ln>
                <a:noFill/>
              </a:ln>
            </c:spPr>
          </c:dPt>
          <c:dPt>
            <c:idx val="6"/>
            <c:invertIfNegative val="0"/>
            <c:bubble3D val="0"/>
            <c:spPr>
              <a:solidFill>
                <a:srgbClr val="263746"/>
              </a:solidFill>
              <a:ln>
                <a:noFill/>
              </a:ln>
            </c:spPr>
          </c:dPt>
          <c:dPt>
            <c:idx val="7"/>
            <c:invertIfNegative val="0"/>
            <c:bubble3D val="0"/>
            <c:spPr>
              <a:solidFill>
                <a:srgbClr val="263746"/>
              </a:solidFill>
              <a:ln>
                <a:noFill/>
              </a:ln>
            </c:spPr>
          </c:dPt>
          <c:dPt>
            <c:idx val="8"/>
            <c:invertIfNegative val="0"/>
            <c:bubble3D val="0"/>
            <c:spPr>
              <a:solidFill>
                <a:srgbClr val="263746"/>
              </a:solidFill>
              <a:ln>
                <a:noFill/>
              </a:ln>
            </c:spPr>
          </c:dPt>
          <c:cat>
            <c:strRef>
              <c:f>Sheet1!$A$2:$A$10</c:f>
              <c:strCache>
                <c:ptCount val="9"/>
                <c:pt idx="0">
                  <c:v>SAM</c:v>
                </c:pt>
                <c:pt idx="1">
                  <c:v>Market Share</c:v>
                </c:pt>
                <c:pt idx="2">
                  <c:v>Company TCV</c:v>
                </c:pt>
                <c:pt idx="3">
                  <c:v>Initial exercise</c:v>
                </c:pt>
                <c:pt idx="4">
                  <c:v>In-year exercise</c:v>
                </c:pt>
                <c:pt idx="5">
                  <c:v>Year 2 exercise</c:v>
                </c:pt>
                <c:pt idx="6">
                  <c:v>Year 3 exercise</c:v>
                </c:pt>
                <c:pt idx="7">
                  <c:v>Year 4 exercise</c:v>
                </c:pt>
                <c:pt idx="8">
                  <c:v>Year 5 exercise</c:v>
                </c:pt>
              </c:strCache>
            </c:strRef>
          </c:cat>
          <c:val>
            <c:numRef>
              <c:f>Sheet1!$C$2:$C$10</c:f>
              <c:numCache>
                <c:formatCode>General</c:formatCode>
                <c:ptCount val="9"/>
                <c:pt idx="1">
                  <c:v>100</c:v>
                </c:pt>
                <c:pt idx="3">
                  <c:v>50</c:v>
                </c:pt>
                <c:pt idx="4">
                  <c:v>35</c:v>
                </c:pt>
              </c:numCache>
            </c:numRef>
          </c:val>
        </c:ser>
        <c:gapWidth val="80"/>
        <c:overlap val="100"/>
        <c:axId val="111111111"/>
        <c:axId val="222222222"/>
      </c:barChart>
      <c:catAx>
        <c:axId val="111111111"/>
        <c:scaling>
          <c:orientation val="minMax"/>
        </c:scaling>
        <c:delete val="0"/>
        <c:axPos val="b"/>
        <c:numFmt formatCode="General" sourceLinked="1"/>
        <c:majorTickMark val="none"/>
        <c:minorTickMark val="none"/>
        <c:tickLblPos val="none"/>
        <c:spPr>
          <a:ln w="9525"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222222222"/>
        <c:crosses val="autoZero"/>
        <c:auto val="1"/>
        <c:lblAlgn val="ctr"/>
        <c:lblOffset val="100"/>
        <c:noMultiLvlLbl val="0"/>
      </c:catAx>
      <c:valAx>
        <c:axId val="222222222"/>
        <c:scaling>
          <c:orientation val="minMax"/>
          <c:max val="200"/>
          <c:min val="0"/>
        </c:scaling>
        <c:delete val="0"/>
        <c:axPos val="l"/>
        <c:numFmt formatCode="General" sourceLinked="0"/>
        <c:majorTickMark val="none"/>
        <c:minorTickMark val="none"/>
        <c:tickLblPos val="none"/>
        <c:spPr>
          <a:ln w="9525"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111111111"/>
        <c:crosses val="autoZero"/>
        <c:crossBetween val="between"/>
        <c:majorUnit val="50"/>
      </c:valAx>
    </c:plotArea>
    <c:plotVisOnly val="1"/>
    <c:dispBlanksAs val="gap"/>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manualLayout>
          <c:layoutTarget val="inner"/>
          <c:xMode val="edge"/>
          <c:yMode val="edge"/>
          <c:x val="0.053430713050163364"/>
          <c:y val="0.06807286673058485"/>
          <c:w val="0.9365750528541226"/>
          <c:h val="0.8638542665388304"/>
        </c:manualLayout>
      </c:layout>
      <c:barChart>
        <c:barDir val="col"/>
        <c:grouping val="stacked"/>
        <c:varyColors val="0"/>
        <c:ser>
          <c:idx val="0"/>
          <c:order val="0"/>
          <c:tx>
            <c:strRef>
              <c:f>Sheet1!$B$1</c:f>
              <c:strCache>
                <c:ptCount val="1"/>
                <c:pt idx="0">
                  <c:v>Saronic</c:v>
                </c:pt>
              </c:strCache>
            </c:strRef>
          </c:tx>
          <c:spPr>
            <a:solidFill>
              <a:srgbClr val="007770"/>
            </a:solidFill>
            <a:ln>
              <a:noFill/>
            </a:ln>
          </c:spPr>
          <c:invertIfNegative val="0"/>
          <c:dPt>
            <c:idx val="0"/>
            <c:invertIfNegative val="0"/>
            <c:bubble3D val="0"/>
            <c:spPr>
              <a:solidFill>
                <a:srgbClr val="364D6E"/>
              </a:solidFill>
              <a:ln>
                <a:noFill/>
              </a:ln>
            </c:spPr>
          </c:dPt>
          <c:dPt>
            <c:idx val="1"/>
            <c:invertIfNegative val="0"/>
            <c:bubble3D val="0"/>
            <c:spPr>
              <a:solidFill>
                <a:srgbClr val="364D6E"/>
              </a:solidFill>
              <a:ln>
                <a:noFill/>
              </a:ln>
            </c:spPr>
          </c:dPt>
          <c:dPt>
            <c:idx val="2"/>
            <c:invertIfNegative val="0"/>
            <c:bubble3D val="0"/>
            <c:spPr>
              <a:solidFill>
                <a:srgbClr val="364D6E"/>
              </a:solidFill>
              <a:ln>
                <a:noFill/>
              </a:ln>
            </c:spPr>
          </c:dPt>
          <c:dPt>
            <c:idx val="3"/>
            <c:invertIfNegative val="0"/>
            <c:bubble3D val="0"/>
            <c:spPr>
              <a:solidFill>
                <a:srgbClr val="007770"/>
              </a:solidFill>
              <a:ln>
                <a:noFill/>
              </a:ln>
            </c:spPr>
          </c:dPt>
          <c:dPt>
            <c:idx val="4"/>
            <c:invertIfNegative val="0"/>
            <c:bubble3D val="0"/>
            <c:spPr>
              <a:solidFill>
                <a:srgbClr val="007770"/>
              </a:solidFill>
              <a:ln>
                <a:noFill/>
              </a:ln>
            </c:spPr>
          </c:dPt>
          <c:dPt>
            <c:idx val="5"/>
            <c:invertIfNegative val="0"/>
            <c:bubble3D val="0"/>
            <c:spPr>
              <a:solidFill>
                <a:srgbClr val="007770"/>
              </a:solidFill>
              <a:ln>
                <a:noFill/>
              </a:ln>
            </c:spPr>
          </c:dPt>
          <c:dPt>
            <c:idx val="6"/>
            <c:invertIfNegative val="0"/>
            <c:bubble3D val="0"/>
            <c:spPr>
              <a:solidFill>
                <a:srgbClr val="007770"/>
              </a:solidFill>
              <a:ln>
                <a:noFill/>
              </a:ln>
            </c:spPr>
          </c:dPt>
          <c:dPt>
            <c:idx val="7"/>
            <c:invertIfNegative val="0"/>
            <c:bubble3D val="0"/>
            <c:spPr>
              <a:solidFill>
                <a:srgbClr val="007770"/>
              </a:solidFill>
              <a:ln>
                <a:noFill/>
              </a:ln>
            </c:spPr>
          </c:dPt>
          <c:dPt>
            <c:idx val="8"/>
            <c:invertIfNegative val="0"/>
            <c:bubble3D val="0"/>
            <c:spPr>
              <a:solidFill>
                <a:srgbClr val="007770"/>
              </a:solidFill>
              <a:ln>
                <a:noFill/>
              </a:ln>
            </c:spPr>
          </c:dPt>
          <c:dPt>
            <c:idx val="9"/>
            <c:invertIfNegative val="0"/>
            <c:bubble3D val="0"/>
            <c:spPr>
              <a:solidFill>
                <a:srgbClr val="007770"/>
              </a:solidFill>
              <a:ln>
                <a:noFill/>
              </a:ln>
            </c:spPr>
          </c:dPt>
          <c:dPt>
            <c:idx val="10"/>
            <c:invertIfNegative val="0"/>
            <c:bubble3D val="0"/>
            <c:spPr>
              <a:solidFill>
                <a:srgbClr val="007770"/>
              </a:solidFill>
              <a:ln>
                <a:noFill/>
              </a:ln>
            </c:spPr>
          </c:dPt>
          <c:dPt>
            <c:idx val="11"/>
            <c:invertIfNegative val="0"/>
            <c:bubble3D val="0"/>
            <c:spPr>
              <a:solidFill>
                <a:srgbClr val="007770"/>
              </a:solidFill>
              <a:ln>
                <a:noFill/>
              </a:ln>
            </c:spPr>
          </c:dPt>
          <c:dPt>
            <c:idx val="12"/>
            <c:invertIfNegative val="0"/>
            <c:bubble3D val="0"/>
            <c:spPr>
              <a:solidFill>
                <a:srgbClr val="007770"/>
              </a:solidFill>
              <a:ln>
                <a:noFill/>
              </a:ln>
            </c:spPr>
          </c:dPt>
          <c:dPt>
            <c:idx val="13"/>
            <c:invertIfNegative val="0"/>
            <c:bubble3D val="0"/>
            <c:spPr>
              <a:solidFill>
                <a:srgbClr val="007770"/>
              </a:solidFill>
              <a:ln>
                <a:noFill/>
              </a:ln>
            </c:spPr>
          </c:dPt>
          <c:dPt>
            <c:idx val="14"/>
            <c:invertIfNegative val="0"/>
            <c:bubble3D val="0"/>
            <c:spPr>
              <a:solidFill>
                <a:srgbClr val="007770"/>
              </a:solidFill>
              <a:ln>
                <a:noFill/>
              </a:ln>
            </c:spPr>
          </c:dPt>
          <c:dPt>
            <c:idx val="15"/>
            <c:invertIfNegative val="0"/>
            <c:bubble3D val="0"/>
            <c:spPr>
              <a:solidFill>
                <a:srgbClr val="007770"/>
              </a:solidFill>
              <a:ln>
                <a:noFill/>
              </a:ln>
            </c:spPr>
          </c:dPt>
          <c:dPt>
            <c:idx val="16"/>
            <c:invertIfNegative val="0"/>
            <c:bubble3D val="0"/>
            <c:spPr>
              <a:solidFill>
                <a:srgbClr val="007770"/>
              </a:solidFill>
              <a:ln>
                <a:noFill/>
              </a:ln>
            </c:spPr>
          </c:dPt>
          <c:dPt>
            <c:idx val="17"/>
            <c:invertIfNegative val="0"/>
            <c:bubble3D val="0"/>
            <c:spPr>
              <a:solidFill>
                <a:srgbClr val="007770"/>
              </a:solidFill>
              <a:ln>
                <a:noFill/>
              </a:ln>
            </c:spPr>
          </c:dPt>
          <c:dPt>
            <c:idx val="18"/>
            <c:invertIfNegative val="0"/>
            <c:bubble3D val="0"/>
            <c:spPr>
              <a:solidFill>
                <a:srgbClr val="007770"/>
              </a:solidFill>
              <a:ln>
                <a:noFill/>
              </a:ln>
            </c:spPr>
          </c:dPt>
          <c:dPt>
            <c:idx val="19"/>
            <c:invertIfNegative val="0"/>
            <c:bubble3D val="0"/>
            <c:spPr>
              <a:solidFill>
                <a:srgbClr val="007770"/>
              </a:solidFill>
              <a:ln>
                <a:noFill/>
              </a:ln>
            </c:spPr>
          </c:dPt>
          <c:dPt>
            <c:idx val="20"/>
            <c:invertIfNegative val="0"/>
            <c:bubble3D val="0"/>
            <c:spPr>
              <a:solidFill>
                <a:srgbClr val="007770"/>
              </a:solidFill>
              <a:ln>
                <a:noFill/>
              </a:ln>
            </c:spPr>
          </c:dPt>
          <c:dPt>
            <c:idx val="21"/>
            <c:invertIfNegative val="0"/>
            <c:bubble3D val="0"/>
            <c:spPr>
              <a:solidFill>
                <a:srgbClr val="007770"/>
              </a:solidFill>
              <a:ln>
                <a:noFill/>
              </a:ln>
            </c:spPr>
          </c:dPt>
          <c:dPt>
            <c:idx val="22"/>
            <c:invertIfNegative val="0"/>
            <c:bubble3D val="0"/>
            <c:spPr>
              <a:solidFill>
                <a:srgbClr val="007770"/>
              </a:solidFill>
              <a:ln>
                <a:noFill/>
              </a:ln>
            </c:spPr>
          </c:dPt>
          <c:dPt>
            <c:idx val="23"/>
            <c:invertIfNegative val="0"/>
            <c:bubble3D val="0"/>
            <c:spPr>
              <a:solidFill>
                <a:srgbClr val="007770"/>
              </a:solidFill>
              <a:ln>
                <a:noFill/>
              </a:ln>
            </c:spPr>
          </c:dPt>
          <c:dPt>
            <c:idx val="24"/>
            <c:invertIfNegative val="0"/>
            <c:bubble3D val="0"/>
            <c:spPr>
              <a:solidFill>
                <a:srgbClr val="007770"/>
              </a:solidFill>
              <a:ln>
                <a:noFill/>
              </a:ln>
            </c:spPr>
          </c:dPt>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Sheet1!$B$2:$B$26</c:f>
              <c:numCache>
                <c:formatCode>#,##0;"-"#,##0</c:formatCode>
                <c:ptCount val="25"/>
                <c:pt idx="0">
                  <c:v>1</c:v>
                </c:pt>
                <c:pt idx="1">
                  <c:v>2</c:v>
                </c:pt>
                <c:pt idx="2">
                  <c:v>2</c:v>
                </c:pt>
                <c:pt idx="3">
                  <c:v>7</c:v>
                </c:pt>
                <c:pt idx="4">
                  <c:v>14</c:v>
                </c:pt>
                <c:pt idx="5">
                  <c:v>23</c:v>
                </c:pt>
                <c:pt idx="6">
                  <c:v>40</c:v>
                </c:pt>
                <c:pt idx="7">
                  <c:v>56</c:v>
                </c:pt>
                <c:pt idx="8">
                  <c:v>85</c:v>
                </c:pt>
                <c:pt idx="9">
                  <c:v>97</c:v>
                </c:pt>
                <c:pt idx="10">
                  <c:v>111</c:v>
                </c:pt>
                <c:pt idx="11">
                  <c:v>110</c:v>
                </c:pt>
                <c:pt idx="12">
                  <c:v>110</c:v>
                </c:pt>
                <c:pt idx="13">
                  <c:v>125</c:v>
                </c:pt>
                <c:pt idx="14">
                  <c:v>125</c:v>
                </c:pt>
                <c:pt idx="15">
                  <c:v>125</c:v>
                </c:pt>
                <c:pt idx="16">
                  <c:v>125</c:v>
                </c:pt>
                <c:pt idx="17">
                  <c:v>125</c:v>
                </c:pt>
                <c:pt idx="18">
                  <c:v>125</c:v>
                </c:pt>
                <c:pt idx="19">
                  <c:v>125</c:v>
                </c:pt>
                <c:pt idx="20">
                  <c:v>125</c:v>
                </c:pt>
                <c:pt idx="21">
                  <c:v>125</c:v>
                </c:pt>
                <c:pt idx="22">
                  <c:v>125</c:v>
                </c:pt>
                <c:pt idx="23">
                  <c:v>125</c:v>
                </c:pt>
                <c:pt idx="24">
                  <c:v>125</c:v>
                </c:pt>
              </c:numCache>
            </c:numRef>
          </c:val>
        </c:ser>
        <c:ser>
          <c:idx val="1"/>
          <c:order val="1"/>
          <c:tx>
            <c:strRef>
              <c:f>Sheet1!$C$1</c:f>
              <c:strCache>
                <c:ptCount val="1"/>
                <c:pt idx="0">
                  <c:v>Hanwha Philly</c:v>
                </c:pt>
              </c:strCache>
            </c:strRef>
          </c:tx>
          <c:spPr>
            <a:solidFill>
              <a:srgbClr val="364D6E"/>
            </a:solidFill>
            <a:ln>
              <a:noFill/>
            </a:ln>
          </c:spPr>
          <c:invertIfNegative val="0"/>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Sheet1!$C$2:$C$26</c:f>
              <c:numCache>
                <c:formatCode>#,##0;"-"#,##0</c:formatCode>
                <c:ptCount val="25"/>
                <c:pt idx="3">
                  <c:v>5</c:v>
                </c:pt>
                <c:pt idx="4">
                  <c:v>6</c:v>
                </c:pt>
                <c:pt idx="5">
                  <c:v>6</c:v>
                </c:pt>
                <c:pt idx="6">
                  <c:v>6</c:v>
                </c:pt>
                <c:pt idx="7">
                  <c:v>7</c:v>
                </c:pt>
                <c:pt idx="8">
                  <c:v>8</c:v>
                </c:pt>
                <c:pt idx="9">
                  <c:v>9</c:v>
                </c:pt>
                <c:pt idx="10">
                  <c:v>11</c:v>
                </c:pt>
                <c:pt idx="11">
                  <c:v>12</c:v>
                </c:pt>
                <c:pt idx="12">
                  <c:v>13</c:v>
                </c:pt>
                <c:pt idx="13">
                  <c:v>14</c:v>
                </c:pt>
                <c:pt idx="14">
                  <c:v>15</c:v>
                </c:pt>
                <c:pt idx="15">
                  <c:v>16</c:v>
                </c:pt>
                <c:pt idx="16">
                  <c:v>17</c:v>
                </c:pt>
                <c:pt idx="17">
                  <c:v>18</c:v>
                </c:pt>
                <c:pt idx="18">
                  <c:v>19</c:v>
                </c:pt>
                <c:pt idx="19">
                  <c:v>20</c:v>
                </c:pt>
                <c:pt idx="20">
                  <c:v>20</c:v>
                </c:pt>
                <c:pt idx="21">
                  <c:v>20</c:v>
                </c:pt>
                <c:pt idx="22">
                  <c:v>20</c:v>
                </c:pt>
                <c:pt idx="23">
                  <c:v>20</c:v>
                </c:pt>
                <c:pt idx="24">
                  <c:v>20</c:v>
                </c:pt>
              </c:numCache>
            </c:numRef>
          </c:val>
        </c:ser>
        <c:ser>
          <c:idx val="2"/>
          <c:order val="2"/>
          <c:tx>
            <c:strRef>
              <c:f>Sheet1!$D$1</c:f>
              <c:strCache>
                <c:ptCount val="1"/>
                <c:pt idx="0">
                  <c:v>Hanwha 2nd Yard</c:v>
                </c:pt>
              </c:strCache>
            </c:strRef>
          </c:tx>
          <c:spPr>
            <a:solidFill>
              <a:srgbClr val="4C6C9C"/>
            </a:solidFill>
            <a:ln>
              <a:noFill/>
            </a:ln>
          </c:spPr>
          <c:invertIfNegative val="0"/>
          <c:dPt>
            <c:idx val="0"/>
            <c:invertIfNegative val="0"/>
            <c:bubble3D val="0"/>
            <c:spPr>
              <a:solidFill>
                <a:srgbClr val="4C6C9C"/>
              </a:solidFill>
              <a:ln>
                <a:noFill/>
              </a:ln>
            </c:spPr>
          </c:dPt>
          <c:dPt>
            <c:idx val="1"/>
            <c:invertIfNegative val="0"/>
            <c:bubble3D val="0"/>
            <c:spPr>
              <a:solidFill>
                <a:srgbClr val="4C6C9C"/>
              </a:solidFill>
              <a:ln>
                <a:noFill/>
              </a:ln>
            </c:spPr>
          </c:dPt>
          <c:dPt>
            <c:idx val="2"/>
            <c:invertIfNegative val="0"/>
            <c:bubble3D val="0"/>
            <c:spPr>
              <a:solidFill>
                <a:srgbClr val="4C6C9C"/>
              </a:solidFill>
              <a:ln>
                <a:noFill/>
              </a:ln>
            </c:spPr>
          </c:dPt>
          <c:dPt>
            <c:idx val="3"/>
            <c:invertIfNegative val="0"/>
            <c:bubble3D val="0"/>
            <c:spPr>
              <a:solidFill>
                <a:srgbClr val="4C6C9C"/>
              </a:solidFill>
              <a:ln>
                <a:noFill/>
              </a:ln>
            </c:spPr>
          </c:dPt>
          <c:dPt>
            <c:idx val="4"/>
            <c:invertIfNegative val="0"/>
            <c:bubble3D val="0"/>
            <c:spPr>
              <a:solidFill>
                <a:srgbClr val="4C6C9C"/>
              </a:solidFill>
              <a:ln>
                <a:noFill/>
              </a:ln>
            </c:spPr>
          </c:dPt>
          <c:dPt>
            <c:idx val="5"/>
            <c:invertIfNegative val="0"/>
            <c:bubble3D val="0"/>
            <c:spPr>
              <a:solidFill>
                <a:srgbClr val="C3CFE1"/>
              </a:solidFill>
              <a:ln>
                <a:noFill/>
              </a:ln>
            </c:spPr>
          </c:dPt>
          <c:dPt>
            <c:idx val="6"/>
            <c:invertIfNegative val="0"/>
            <c:bubble3D val="0"/>
            <c:spPr>
              <a:solidFill>
                <a:srgbClr val="4C6C9C"/>
              </a:solidFill>
              <a:ln>
                <a:noFill/>
              </a:ln>
            </c:spPr>
          </c:dPt>
          <c:dPt>
            <c:idx val="7"/>
            <c:invertIfNegative val="0"/>
            <c:bubble3D val="0"/>
            <c:spPr>
              <a:solidFill>
                <a:srgbClr val="4C6C9C"/>
              </a:solidFill>
              <a:ln>
                <a:noFill/>
              </a:ln>
            </c:spPr>
          </c:dPt>
          <c:dPt>
            <c:idx val="8"/>
            <c:invertIfNegative val="0"/>
            <c:bubble3D val="0"/>
            <c:spPr>
              <a:solidFill>
                <a:srgbClr val="4C6C9C"/>
              </a:solidFill>
              <a:ln>
                <a:noFill/>
              </a:ln>
            </c:spPr>
          </c:dPt>
          <c:dPt>
            <c:idx val="9"/>
            <c:invertIfNegative val="0"/>
            <c:bubble3D val="0"/>
            <c:spPr>
              <a:solidFill>
                <a:srgbClr val="4C6C9C"/>
              </a:solidFill>
              <a:ln>
                <a:noFill/>
              </a:ln>
            </c:spPr>
          </c:dPt>
          <c:dPt>
            <c:idx val="10"/>
            <c:invertIfNegative val="0"/>
            <c:bubble3D val="0"/>
            <c:spPr>
              <a:solidFill>
                <a:srgbClr val="4C6C9C"/>
              </a:solidFill>
              <a:ln>
                <a:noFill/>
              </a:ln>
            </c:spPr>
          </c:dPt>
          <c:dPt>
            <c:idx val="11"/>
            <c:invertIfNegative val="0"/>
            <c:bubble3D val="0"/>
            <c:spPr>
              <a:solidFill>
                <a:srgbClr val="4C6C9C"/>
              </a:solidFill>
              <a:ln>
                <a:noFill/>
              </a:ln>
            </c:spPr>
          </c:dPt>
          <c:dPt>
            <c:idx val="12"/>
            <c:invertIfNegative val="0"/>
            <c:bubble3D val="0"/>
            <c:spPr>
              <a:solidFill>
                <a:srgbClr val="4C6C9C"/>
              </a:solidFill>
              <a:ln>
                <a:noFill/>
              </a:ln>
            </c:spPr>
          </c:dPt>
          <c:dPt>
            <c:idx val="13"/>
            <c:invertIfNegative val="0"/>
            <c:bubble3D val="0"/>
            <c:spPr>
              <a:solidFill>
                <a:srgbClr val="4C6C9C"/>
              </a:solidFill>
              <a:ln>
                <a:noFill/>
              </a:ln>
            </c:spPr>
          </c:dPt>
          <c:dPt>
            <c:idx val="14"/>
            <c:invertIfNegative val="0"/>
            <c:bubble3D val="0"/>
            <c:spPr>
              <a:solidFill>
                <a:srgbClr val="4C6C9C"/>
              </a:solidFill>
              <a:ln>
                <a:noFill/>
              </a:ln>
            </c:spPr>
          </c:dPt>
          <c:dPt>
            <c:idx val="15"/>
            <c:invertIfNegative val="0"/>
            <c:bubble3D val="0"/>
            <c:spPr>
              <a:solidFill>
                <a:srgbClr val="4C6C9C"/>
              </a:solidFill>
              <a:ln>
                <a:noFill/>
              </a:ln>
            </c:spPr>
          </c:dPt>
          <c:dPt>
            <c:idx val="16"/>
            <c:invertIfNegative val="0"/>
            <c:bubble3D val="0"/>
            <c:spPr>
              <a:solidFill>
                <a:srgbClr val="4C6C9C"/>
              </a:solidFill>
              <a:ln>
                <a:noFill/>
              </a:ln>
            </c:spPr>
          </c:dPt>
          <c:dPt>
            <c:idx val="17"/>
            <c:invertIfNegative val="0"/>
            <c:bubble3D val="0"/>
            <c:spPr>
              <a:solidFill>
                <a:srgbClr val="4C6C9C"/>
              </a:solidFill>
              <a:ln>
                <a:noFill/>
              </a:ln>
            </c:spPr>
          </c:dPt>
          <c:dPt>
            <c:idx val="18"/>
            <c:invertIfNegative val="0"/>
            <c:bubble3D val="0"/>
            <c:spPr>
              <a:solidFill>
                <a:srgbClr val="4C6C9C"/>
              </a:solidFill>
              <a:ln>
                <a:noFill/>
              </a:ln>
            </c:spPr>
          </c:dPt>
          <c:dPt>
            <c:idx val="19"/>
            <c:invertIfNegative val="0"/>
            <c:bubble3D val="0"/>
            <c:spPr>
              <a:solidFill>
                <a:srgbClr val="4C6C9C"/>
              </a:solidFill>
              <a:ln>
                <a:noFill/>
              </a:ln>
            </c:spPr>
          </c:dPt>
          <c:dPt>
            <c:idx val="20"/>
            <c:invertIfNegative val="0"/>
            <c:bubble3D val="0"/>
            <c:spPr>
              <a:solidFill>
                <a:srgbClr val="4C6C9C"/>
              </a:solidFill>
              <a:ln>
                <a:noFill/>
              </a:ln>
            </c:spPr>
          </c:dPt>
          <c:dPt>
            <c:idx val="21"/>
            <c:invertIfNegative val="0"/>
            <c:bubble3D val="0"/>
            <c:spPr>
              <a:solidFill>
                <a:srgbClr val="4C6C9C"/>
              </a:solidFill>
              <a:ln>
                <a:noFill/>
              </a:ln>
            </c:spPr>
          </c:dPt>
          <c:dPt>
            <c:idx val="22"/>
            <c:invertIfNegative val="0"/>
            <c:bubble3D val="0"/>
            <c:spPr>
              <a:solidFill>
                <a:srgbClr val="4C6C9C"/>
              </a:solidFill>
              <a:ln>
                <a:noFill/>
              </a:ln>
            </c:spPr>
          </c:dPt>
          <c:dPt>
            <c:idx val="23"/>
            <c:invertIfNegative val="0"/>
            <c:bubble3D val="0"/>
            <c:spPr>
              <a:solidFill>
                <a:srgbClr val="4C6C9C"/>
              </a:solidFill>
              <a:ln>
                <a:noFill/>
              </a:ln>
            </c:spPr>
          </c:dPt>
          <c:dPt>
            <c:idx val="24"/>
            <c:invertIfNegative val="0"/>
            <c:bubble3D val="0"/>
            <c:spPr>
              <a:solidFill>
                <a:srgbClr val="4C6C9C"/>
              </a:solidFill>
              <a:ln>
                <a:noFill/>
              </a:ln>
            </c:spPr>
          </c:dPt>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Sheet1!$D$2:$D$26</c:f>
              <c:numCache>
                <c:formatCode>#,##0;"-"#,##0</c:formatCode>
                <c:ptCount val="25"/>
                <c:pt idx="5">
                  <c:v>1</c:v>
                </c:pt>
                <c:pt idx="6">
                  <c:v>1</c:v>
                </c:pt>
                <c:pt idx="7">
                  <c:v>1</c:v>
                </c:pt>
                <c:pt idx="8">
                  <c:v>2</c:v>
                </c:pt>
                <c:pt idx="9">
                  <c:v>2</c:v>
                </c:pt>
                <c:pt idx="10">
                  <c:v>2</c:v>
                </c:pt>
                <c:pt idx="11">
                  <c:v>3</c:v>
                </c:pt>
                <c:pt idx="12">
                  <c:v>3</c:v>
                </c:pt>
                <c:pt idx="13">
                  <c:v>3</c:v>
                </c:pt>
                <c:pt idx="14">
                  <c:v>4</c:v>
                </c:pt>
                <c:pt idx="15">
                  <c:v>4</c:v>
                </c:pt>
                <c:pt idx="16">
                  <c:v>4</c:v>
                </c:pt>
                <c:pt idx="17">
                  <c:v>5</c:v>
                </c:pt>
                <c:pt idx="18">
                  <c:v>5</c:v>
                </c:pt>
                <c:pt idx="19">
                  <c:v>5</c:v>
                </c:pt>
                <c:pt idx="20">
                  <c:v>5</c:v>
                </c:pt>
                <c:pt idx="21">
                  <c:v>5</c:v>
                </c:pt>
                <c:pt idx="22">
                  <c:v>5</c:v>
                </c:pt>
                <c:pt idx="23">
                  <c:v>5</c:v>
                </c:pt>
                <c:pt idx="24">
                  <c:v>5</c:v>
                </c:pt>
              </c:numCache>
            </c:numRef>
          </c:val>
        </c:ser>
        <c:ser>
          <c:idx val="3"/>
          <c:order val="3"/>
          <c:tx>
            <c:strRef>
              <c:f>Sheet1!$E$1</c:f>
              <c:strCache>
                <c:ptCount val="1"/>
                <c:pt idx="0">
                  <c:v>New Entrant (e.g., HD Hyundai)</c:v>
                </c:pt>
              </c:strCache>
            </c:strRef>
          </c:tx>
          <c:spPr>
            <a:solidFill>
              <a:srgbClr val="6F8DB9"/>
            </a:solidFill>
            <a:ln>
              <a:noFill/>
            </a:ln>
          </c:spPr>
          <c:invertIfNegative val="0"/>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Sheet1!$E$2:$E$26</c:f>
              <c:numCache>
                <c:formatCode>#,##0;"-"#,##0</c:formatCode>
                <c:ptCount val="25"/>
                <c:pt idx="6">
                  <c:v>1</c:v>
                </c:pt>
                <c:pt idx="7">
                  <c:v>2</c:v>
                </c:pt>
                <c:pt idx="8">
                  <c:v>3</c:v>
                </c:pt>
                <c:pt idx="9">
                  <c:v>3</c:v>
                </c:pt>
                <c:pt idx="10">
                  <c:v>3</c:v>
                </c:pt>
                <c:pt idx="11">
                  <c:v>4</c:v>
                </c:pt>
                <c:pt idx="12">
                  <c:v>4</c:v>
                </c:pt>
                <c:pt idx="13">
                  <c:v>4</c:v>
                </c:pt>
                <c:pt idx="14">
                  <c:v>5</c:v>
                </c:pt>
                <c:pt idx="15">
                  <c:v>5</c:v>
                </c:pt>
                <c:pt idx="16">
                  <c:v>5</c:v>
                </c:pt>
                <c:pt idx="17">
                  <c:v>5</c:v>
                </c:pt>
                <c:pt idx="18">
                  <c:v>5</c:v>
                </c:pt>
                <c:pt idx="19">
                  <c:v>5</c:v>
                </c:pt>
                <c:pt idx="20">
                  <c:v>5</c:v>
                </c:pt>
                <c:pt idx="21">
                  <c:v>5</c:v>
                </c:pt>
                <c:pt idx="22">
                  <c:v>5</c:v>
                </c:pt>
                <c:pt idx="23">
                  <c:v>5</c:v>
                </c:pt>
                <c:pt idx="24">
                  <c:v>5</c:v>
                </c:pt>
              </c:numCache>
            </c:numRef>
          </c:val>
        </c:ser>
        <c:ser>
          <c:idx val="4"/>
          <c:order val="4"/>
          <c:tx>
            <c:strRef>
              <c:f>Sheet1!$F$1</c:f>
              <c:strCache>
                <c:ptCount val="1"/>
                <c:pt idx="0">
                  <c:v>Bollinger</c:v>
                </c:pt>
              </c:strCache>
            </c:strRef>
          </c:tx>
          <c:spPr>
            <a:solidFill>
              <a:srgbClr val="9DB1CF"/>
            </a:solidFill>
            <a:ln>
              <a:noFill/>
            </a:ln>
          </c:spPr>
          <c:invertIfNegative val="0"/>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Sheet1!$F$2:$F$26</c:f>
              <c:numCache>
                <c:formatCode>#,##0;"-"#,##0</c:formatCode>
                <c:ptCount val="25"/>
                <c:pt idx="6">
                  <c:v>1</c:v>
                </c:pt>
                <c:pt idx="7">
                  <c:v>1</c:v>
                </c:pt>
                <c:pt idx="8">
                  <c:v>2</c:v>
                </c:pt>
                <c:pt idx="9">
                  <c:v>2</c:v>
                </c:pt>
                <c:pt idx="10">
                  <c:v>2</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numCache>
            </c:numRef>
          </c:val>
        </c:ser>
        <c:ser>
          <c:idx val="5"/>
          <c:order val="5"/>
          <c:tx>
            <c:strRef>
              <c:f>Sheet1!$G$1</c:f>
              <c:strCache>
                <c:ptCount val="1"/>
                <c:pt idx="0">
                  <c:v>Tampa Ship (HD HHI)</c:v>
                </c:pt>
              </c:strCache>
            </c:strRef>
          </c:tx>
          <c:spPr>
            <a:solidFill>
              <a:srgbClr val="C3CFE1"/>
            </a:solidFill>
            <a:ln>
              <a:noFill/>
            </a:ln>
          </c:spPr>
          <c:invertIfNegative val="0"/>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Sheet1!$G$2:$G$26</c:f>
              <c:numCache>
                <c:formatCode>#,##0;"-"#,##0</c:formatCode>
                <c:ptCount val="25"/>
                <c:pt idx="6">
                  <c:v>1</c:v>
                </c:pt>
                <c:pt idx="7">
                  <c:v>2</c:v>
                </c:pt>
                <c:pt idx="8">
                  <c:v>2</c:v>
                </c:pt>
                <c:pt idx="9">
                  <c:v>3</c:v>
                </c:pt>
                <c:pt idx="10">
                  <c:v>3</c:v>
                </c:pt>
                <c:pt idx="11">
                  <c:v>4</c:v>
                </c:pt>
                <c:pt idx="12">
                  <c:v>4</c:v>
                </c:pt>
                <c:pt idx="13">
                  <c:v>5</c:v>
                </c:pt>
                <c:pt idx="14">
                  <c:v>5</c:v>
                </c:pt>
                <c:pt idx="15">
                  <c:v>5</c:v>
                </c:pt>
                <c:pt idx="16">
                  <c:v>5</c:v>
                </c:pt>
                <c:pt idx="17">
                  <c:v>5</c:v>
                </c:pt>
                <c:pt idx="18">
                  <c:v>5</c:v>
                </c:pt>
                <c:pt idx="19">
                  <c:v>5</c:v>
                </c:pt>
                <c:pt idx="20">
                  <c:v>5</c:v>
                </c:pt>
                <c:pt idx="21">
                  <c:v>5</c:v>
                </c:pt>
                <c:pt idx="22">
                  <c:v>5</c:v>
                </c:pt>
                <c:pt idx="23">
                  <c:v>5</c:v>
                </c:pt>
                <c:pt idx="24">
                  <c:v>5</c:v>
                </c:pt>
              </c:numCache>
            </c:numRef>
          </c:val>
        </c:ser>
        <c:ser>
          <c:idx val="6"/>
          <c:order val="6"/>
          <c:tx>
            <c:strRef>
              <c:f>Sheet1!$H$1</c:f>
              <c:strCache>
                <c:ptCount val="1"/>
                <c:pt idx="0">
                  <c:v>GD NASSCO (SHI)</c:v>
                </c:pt>
              </c:strCache>
            </c:strRef>
          </c:tx>
          <c:spPr>
            <a:solidFill>
              <a:srgbClr val="808080"/>
            </a:solidFill>
            <a:ln>
              <a:noFill/>
            </a:ln>
          </c:spPr>
          <c:invertIfNegative val="0"/>
          <c:cat>
            <c:strRef>
              <c:f>Sheet1!$A$2:$A$26</c:f>
              <c:strCache>
                <c:ptCount val="2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strCache>
            </c:strRef>
          </c:cat>
          <c:val>
            <c:numRef>
              <c:f>Sheet1!$H$2:$H$26</c:f>
              <c:numCache>
                <c:formatCode>#,##0;"-"#,##0</c:formatCode>
                <c:ptCount val="25"/>
                <c:pt idx="8">
                  <c:v>1</c:v>
                </c:pt>
                <c:pt idx="9">
                  <c:v>1</c:v>
                </c:pt>
                <c:pt idx="10">
                  <c:v>1</c:v>
                </c:pt>
                <c:pt idx="11">
                  <c:v>1</c:v>
                </c:pt>
                <c:pt idx="12">
                  <c:v>2</c:v>
                </c:pt>
                <c:pt idx="13">
                  <c:v>2</c:v>
                </c:pt>
                <c:pt idx="14">
                  <c:v>3</c:v>
                </c:pt>
                <c:pt idx="15">
                  <c:v>3</c:v>
                </c:pt>
                <c:pt idx="16">
                  <c:v>3</c:v>
                </c:pt>
                <c:pt idx="17">
                  <c:v>3</c:v>
                </c:pt>
                <c:pt idx="18">
                  <c:v>3</c:v>
                </c:pt>
                <c:pt idx="19">
                  <c:v>3</c:v>
                </c:pt>
                <c:pt idx="20">
                  <c:v>3</c:v>
                </c:pt>
                <c:pt idx="21">
                  <c:v>3</c:v>
                </c:pt>
                <c:pt idx="22">
                  <c:v>3</c:v>
                </c:pt>
                <c:pt idx="23">
                  <c:v>3</c:v>
                </c:pt>
                <c:pt idx="24">
                  <c:v>3</c:v>
                </c:pt>
              </c:numCache>
            </c:numRef>
          </c:val>
        </c:ser>
        <c:gapWidth val="130"/>
        <c:overlap val="100"/>
        <c:axId val="111111111"/>
        <c:axId val="222222222"/>
      </c:barChart>
      <c:catAx>
        <c:axId val="111111111"/>
        <c:scaling>
          <c:orientation val="minMax"/>
        </c:scaling>
        <c:delete val="0"/>
        <c:axPos val="b"/>
        <c:numFmt formatCode="General" sourceLinked="1"/>
        <c:majorTickMark val="none"/>
        <c:minorTickMark val="none"/>
        <c:tickLblPos val="none"/>
        <c:spPr>
          <a:ln w="9525"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222222222"/>
        <c:crosses val="autoZero"/>
        <c:auto val="1"/>
        <c:lblAlgn val="ctr"/>
        <c:lblOffset val="100"/>
        <c:noMultiLvlLbl val="0"/>
      </c:catAx>
      <c:valAx>
        <c:axId val="222222222"/>
        <c:scaling>
          <c:orientation val="minMax"/>
          <c:max val="180"/>
          <c:min val="0"/>
        </c:scaling>
        <c:delete val="0"/>
        <c:axPos val="l"/>
        <c:numFmt formatCode="#,##0;&quot;-&quot;#,##0" sourceLinked="0"/>
        <c:majorTickMark val="out"/>
        <c:minorTickMark val="none"/>
        <c:tickLblPos val="nextTo"/>
        <c:spPr>
          <a:ln w="9525"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111111111"/>
        <c:crosses val="autoZero"/>
        <c:crossBetween val="between"/>
        <c:majorUnit val="20"/>
      </c:valAx>
    </c:plotArea>
    <c:plotVisOnly val="1"/>
    <c:dispBlanksAs val="gap"/>
  </c:chart>
  <c:externalData r:id="rId1">
    <c:autoUpdate val="0"/>
  </c:externalData>
</c:chartSpace>
</file>

<file path=ppt/charts/chart9.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366A-4146-A9FF-6E31B874F997}"/>
              </c:ext>
            </c:extLst>
          </c:dPt>
          <c:dPt>
            <c:idx val="6"/>
            <c:invertIfNegative val="0"/>
            <c:bubble3D val="0"/>
            <c:spPr>
              <a:solidFill>
                <a:srgbClr val="364D6E"/>
              </a:solidFill>
              <a:ln>
                <a:noFill/>
              </a:ln>
            </c:spPr>
            <c:extLst>
              <c:ext uri="{C3380CC4-5D6E-409C-BE32-E72D297353CC}">
                <c16:uniqueId val="{00000001-366A-4146-A9FF-6E31B874F997}"/>
              </c:ext>
            </c:extLst>
          </c:dPt>
          <c:dPt>
            <c:idx val="7"/>
            <c:invertIfNegative val="0"/>
            <c:bubble3D val="0"/>
            <c:spPr>
              <a:solidFill>
                <a:srgbClr val="364D6E"/>
              </a:solidFill>
              <a:ln>
                <a:noFill/>
              </a:ln>
            </c:spPr>
            <c:extLst>
              <c:ext uri="{C3380CC4-5D6E-409C-BE32-E72D297353CC}">
                <c16:uniqueId val="{00000002-366A-4146-A9FF-6E31B874F997}"/>
              </c:ext>
            </c:extLst>
          </c:dPt>
          <c:dPt>
            <c:idx val="8"/>
            <c:invertIfNegative val="0"/>
            <c:bubble3D val="0"/>
            <c:spPr>
              <a:solidFill>
                <a:srgbClr val="364D6E"/>
              </a:solidFill>
              <a:ln>
                <a:noFill/>
              </a:ln>
            </c:spPr>
            <c:extLst>
              <c:ext uri="{C3380CC4-5D6E-409C-BE32-E72D297353CC}">
                <c16:uniqueId val="{00000003-366A-4146-A9FF-6E31B874F997}"/>
              </c:ext>
            </c:extLst>
          </c:dPt>
          <c:dPt>
            <c:idx val="9"/>
            <c:invertIfNegative val="0"/>
            <c:bubble3D val="0"/>
            <c:spPr>
              <a:solidFill>
                <a:srgbClr val="007770"/>
              </a:solidFill>
              <a:ln>
                <a:noFill/>
              </a:ln>
            </c:spPr>
            <c:extLst>
              <c:ext uri="{C3380CC4-5D6E-409C-BE32-E72D297353CC}">
                <c16:uniqueId val="{00000004-366A-4146-A9FF-6E31B874F997}"/>
              </c:ext>
            </c:extLst>
          </c:dPt>
          <c:dPt>
            <c:idx val="10"/>
            <c:invertIfNegative val="0"/>
            <c:bubble3D val="0"/>
            <c:spPr>
              <a:solidFill>
                <a:srgbClr val="007770"/>
              </a:solidFill>
              <a:ln>
                <a:noFill/>
              </a:ln>
            </c:spPr>
            <c:extLst>
              <c:ext uri="{C3380CC4-5D6E-409C-BE32-E72D297353CC}">
                <c16:uniqueId val="{00000005-366A-4146-A9FF-6E31B874F997}"/>
              </c:ext>
            </c:extLst>
          </c:dPt>
          <c:dPt>
            <c:idx val="11"/>
            <c:invertIfNegative val="0"/>
            <c:bubble3D val="0"/>
            <c:spPr>
              <a:solidFill>
                <a:srgbClr val="007770"/>
              </a:solidFill>
              <a:ln>
                <a:noFill/>
              </a:ln>
            </c:spPr>
            <c:extLst>
              <c:ext uri="{C3380CC4-5D6E-409C-BE32-E72D297353CC}">
                <c16:uniqueId val="{00000006-366A-4146-A9FF-6E31B874F997}"/>
              </c:ext>
            </c:extLst>
          </c:dPt>
          <c:dPt>
            <c:idx val="12"/>
            <c:invertIfNegative val="0"/>
            <c:bubble3D val="0"/>
            <c:spPr>
              <a:solidFill>
                <a:srgbClr val="6F8DB9"/>
              </a:solidFill>
              <a:ln>
                <a:noFill/>
              </a:ln>
            </c:spPr>
            <c:extLst>
              <c:ext uri="{C3380CC4-5D6E-409C-BE32-E72D297353CC}">
                <c16:uniqueId val="{00000007-366A-4146-A9FF-6E31B874F997}"/>
              </c:ext>
            </c:extLst>
          </c:dPt>
          <c:dPt>
            <c:idx val="13"/>
            <c:invertIfNegative val="0"/>
            <c:bubble3D val="0"/>
            <c:spPr>
              <a:solidFill>
                <a:srgbClr val="6F8DB9"/>
              </a:solidFill>
              <a:ln>
                <a:noFill/>
              </a:ln>
            </c:spPr>
            <c:extLst>
              <c:ext uri="{C3380CC4-5D6E-409C-BE32-E72D297353CC}">
                <c16:uniqueId val="{00000008-366A-4146-A9FF-6E31B874F997}"/>
              </c:ext>
            </c:extLst>
          </c:dPt>
          <c:dPt>
            <c:idx val="14"/>
            <c:invertIfNegative val="0"/>
            <c:bubble3D val="0"/>
            <c:spPr>
              <a:solidFill>
                <a:srgbClr val="6F8DB9"/>
              </a:solidFill>
              <a:ln>
                <a:noFill/>
              </a:ln>
            </c:spPr>
            <c:extLst>
              <c:ext uri="{C3380CC4-5D6E-409C-BE32-E72D297353CC}">
                <c16:uniqueId val="{00000009-366A-4146-A9FF-6E31B874F997}"/>
              </c:ext>
            </c:extLst>
          </c:dPt>
          <c:val>
            <c:numRef>
              <c:f>Sheet1!$A$1:$O$1</c:f>
              <c:numCache>
                <c:formatCode>General</c:formatCode>
                <c:ptCount val="15"/>
                <c:pt idx="0">
                  <c:v>1410</c:v>
                </c:pt>
                <c:pt idx="1">
                  <c:v>6445</c:v>
                </c:pt>
                <c:pt idx="2">
                  <c:v>7190</c:v>
                </c:pt>
                <c:pt idx="4">
                  <c:v>21176</c:v>
                </c:pt>
                <c:pt idx="5">
                  <c:v>1854</c:v>
                </c:pt>
                <c:pt idx="6">
                  <c:v>3992</c:v>
                </c:pt>
                <c:pt idx="7">
                  <c:v>14577</c:v>
                </c:pt>
                <c:pt idx="8">
                  <c:v>29175</c:v>
                </c:pt>
                <c:pt idx="9">
                  <c:v>462</c:v>
                </c:pt>
                <c:pt idx="10">
                  <c:v>460</c:v>
                </c:pt>
                <c:pt idx="11">
                  <c:v>1231</c:v>
                </c:pt>
                <c:pt idx="12">
                  <c:v>3807</c:v>
                </c:pt>
                <c:pt idx="13">
                  <c:v>1381</c:v>
                </c:pt>
                <c:pt idx="14">
                  <c:v>1506</c:v>
                </c:pt>
              </c:numCache>
            </c:numRef>
          </c:val>
          <c:extLst>
            <c:ext uri="{C3380CC4-5D6E-409C-BE32-E72D297353CC}">
              <c16:uniqueId val="{0000000A-366A-4146-A9FF-6E31B874F997}"/>
            </c:ext>
          </c:extLst>
        </c:ser>
        <c:dLbls>
          <c:showLegendKey val="0"/>
          <c:showVal val="0"/>
          <c:showCatName val="0"/>
          <c:showSerName val="0"/>
          <c:showPercent val="0"/>
          <c:showBubbleSize val="0"/>
        </c:dLbls>
        <c:gapWidth val="80"/>
        <c:overlap val="100"/>
        <c:axId val="137764019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366A-4146-A9FF-6E31B874F997}"/>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366A-4146-A9FF-6E31B874F997}"/>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366A-4146-A9FF-6E31B874F997}"/>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E-366A-4146-A9FF-6E31B874F997}"/>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0F-366A-4146-A9FF-6E31B874F997}"/>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0-366A-4146-A9FF-6E31B874F997}"/>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1-366A-4146-A9FF-6E31B874F997}"/>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2-366A-4146-A9FF-6E31B874F997}"/>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3-366A-4146-A9FF-6E31B874F997}"/>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4-366A-4146-A9FF-6E31B874F997}"/>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5-366A-4146-A9FF-6E31B874F997}"/>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6-366A-4146-A9FF-6E31B874F997}"/>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7-366A-4146-A9FF-6E31B874F997}"/>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8-366A-4146-A9FF-6E31B874F997}"/>
              </c:ext>
            </c:extLst>
          </c:dPt>
          <c:val>
            <c:numRef>
              <c:f>Sheet1!$A$2:$O$2</c:f>
              <c:numCache>
                <c:formatCode>General</c:formatCode>
                <c:ptCount val="15"/>
                <c:pt idx="0">
                  <c:v>6.7</c:v>
                </c:pt>
                <c:pt idx="1">
                  <c:v>2.2</c:v>
                </c:pt>
                <c:pt idx="2">
                  <c:v>2.5</c:v>
                </c:pt>
                <c:pt idx="4">
                  <c:v>-7.8</c:v>
                </c:pt>
                <c:pt idx="5">
                  <c:v>13.2</c:v>
                </c:pt>
                <c:pt idx="6">
                  <c:v>18.3</c:v>
                </c:pt>
                <c:pt idx="7">
                  <c:v>10.3</c:v>
                </c:pt>
                <c:pt idx="8">
                  <c:v>11</c:v>
                </c:pt>
                <c:pt idx="9">
                  <c:v>43.2</c:v>
                </c:pt>
                <c:pt idx="10">
                  <c:v>13.1</c:v>
                </c:pt>
                <c:pt idx="11">
                  <c:v>42.4</c:v>
                </c:pt>
                <c:pt idx="12">
                  <c:v>31.7</c:v>
                </c:pt>
                <c:pt idx="13">
                  <c:v>32.8</c:v>
                </c:pt>
                <c:pt idx="14">
                  <c:v>43</c:v>
                </c:pt>
              </c:numCache>
            </c:numRef>
          </c:val>
          <c:smooth val="0"/>
          <c:extLst>
            <c:ext uri="{C3380CC4-5D6E-409C-BE32-E72D297353CC}">
              <c16:uniqueId val="{00000019-366A-4146-A9FF-6E31B874F997}"/>
            </c:ext>
          </c:extLst>
        </c:ser>
        <c:dLbls>
          <c:showLegendKey val="0"/>
          <c:showVal val="0"/>
          <c:showCatName val="0"/>
          <c:showSerName val="0"/>
          <c:showPercent val="0"/>
          <c:showBubbleSize val="0"/>
        </c:dLbls>
        <c:marker val="1"/>
        <c:smooth val="0"/>
        <c:axId val="2"/>
        <c:axId val="3"/>
      </c:lineChart>
      <c:catAx>
        <c:axId val="13776401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64019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10.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9209-4F87-B578-07A77C27EE74}"/>
              </c:ext>
            </c:extLst>
          </c:dPt>
          <c:dPt>
            <c:idx val="6"/>
            <c:invertIfNegative val="0"/>
            <c:bubble3D val="0"/>
            <c:spPr>
              <a:solidFill>
                <a:srgbClr val="364D6E"/>
              </a:solidFill>
              <a:ln>
                <a:noFill/>
              </a:ln>
            </c:spPr>
            <c:extLst>
              <c:ext uri="{C3380CC4-5D6E-409C-BE32-E72D297353CC}">
                <c16:uniqueId val="{00000001-9209-4F87-B578-07A77C27EE74}"/>
              </c:ext>
            </c:extLst>
          </c:dPt>
          <c:dPt>
            <c:idx val="7"/>
            <c:invertIfNegative val="0"/>
            <c:bubble3D val="0"/>
            <c:spPr>
              <a:solidFill>
                <a:srgbClr val="364D6E"/>
              </a:solidFill>
              <a:ln>
                <a:noFill/>
              </a:ln>
            </c:spPr>
            <c:extLst>
              <c:ext uri="{C3380CC4-5D6E-409C-BE32-E72D297353CC}">
                <c16:uniqueId val="{00000002-9209-4F87-B578-07A77C27EE74}"/>
              </c:ext>
            </c:extLst>
          </c:dPt>
          <c:dPt>
            <c:idx val="8"/>
            <c:invertIfNegative val="0"/>
            <c:bubble3D val="0"/>
            <c:spPr>
              <a:solidFill>
                <a:srgbClr val="364D6E"/>
              </a:solidFill>
              <a:ln>
                <a:noFill/>
              </a:ln>
            </c:spPr>
            <c:extLst>
              <c:ext uri="{C3380CC4-5D6E-409C-BE32-E72D297353CC}">
                <c16:uniqueId val="{00000003-9209-4F87-B578-07A77C27EE74}"/>
              </c:ext>
            </c:extLst>
          </c:dPt>
          <c:dPt>
            <c:idx val="9"/>
            <c:invertIfNegative val="0"/>
            <c:bubble3D val="0"/>
            <c:spPr>
              <a:solidFill>
                <a:srgbClr val="007770"/>
              </a:solidFill>
              <a:ln>
                <a:noFill/>
              </a:ln>
            </c:spPr>
            <c:extLst>
              <c:ext uri="{C3380CC4-5D6E-409C-BE32-E72D297353CC}">
                <c16:uniqueId val="{00000004-9209-4F87-B578-07A77C27EE74}"/>
              </c:ext>
            </c:extLst>
          </c:dPt>
          <c:dPt>
            <c:idx val="10"/>
            <c:invertIfNegative val="0"/>
            <c:bubble3D val="0"/>
            <c:spPr>
              <a:solidFill>
                <a:srgbClr val="007770"/>
              </a:solidFill>
              <a:ln>
                <a:noFill/>
              </a:ln>
            </c:spPr>
            <c:extLst>
              <c:ext uri="{C3380CC4-5D6E-409C-BE32-E72D297353CC}">
                <c16:uniqueId val="{00000005-9209-4F87-B578-07A77C27EE74}"/>
              </c:ext>
            </c:extLst>
          </c:dPt>
          <c:dPt>
            <c:idx val="11"/>
            <c:invertIfNegative val="0"/>
            <c:bubble3D val="0"/>
            <c:spPr>
              <a:solidFill>
                <a:srgbClr val="007770"/>
              </a:solidFill>
              <a:ln>
                <a:noFill/>
              </a:ln>
            </c:spPr>
            <c:extLst>
              <c:ext uri="{C3380CC4-5D6E-409C-BE32-E72D297353CC}">
                <c16:uniqueId val="{00000006-9209-4F87-B578-07A77C27EE74}"/>
              </c:ext>
            </c:extLst>
          </c:dPt>
          <c:dPt>
            <c:idx val="12"/>
            <c:invertIfNegative val="0"/>
            <c:bubble3D val="0"/>
            <c:spPr>
              <a:solidFill>
                <a:srgbClr val="6F8DB9"/>
              </a:solidFill>
              <a:ln>
                <a:noFill/>
              </a:ln>
            </c:spPr>
            <c:extLst>
              <c:ext uri="{C3380CC4-5D6E-409C-BE32-E72D297353CC}">
                <c16:uniqueId val="{00000007-9209-4F87-B578-07A77C27EE74}"/>
              </c:ext>
            </c:extLst>
          </c:dPt>
          <c:dPt>
            <c:idx val="13"/>
            <c:invertIfNegative val="0"/>
            <c:bubble3D val="0"/>
            <c:spPr>
              <a:solidFill>
                <a:srgbClr val="6F8DB9"/>
              </a:solidFill>
              <a:ln>
                <a:noFill/>
              </a:ln>
            </c:spPr>
            <c:extLst>
              <c:ext uri="{C3380CC4-5D6E-409C-BE32-E72D297353CC}">
                <c16:uniqueId val="{00000008-9209-4F87-B578-07A77C27EE74}"/>
              </c:ext>
            </c:extLst>
          </c:dPt>
          <c:dPt>
            <c:idx val="14"/>
            <c:invertIfNegative val="0"/>
            <c:bubble3D val="0"/>
            <c:spPr>
              <a:solidFill>
                <a:srgbClr val="6F8DB9"/>
              </a:solidFill>
              <a:ln>
                <a:noFill/>
              </a:ln>
            </c:spPr>
            <c:extLst>
              <c:ext uri="{C3380CC4-5D6E-409C-BE32-E72D297353CC}">
                <c16:uniqueId val="{00000009-9209-4F87-B578-07A77C27EE74}"/>
              </c:ext>
            </c:extLst>
          </c:dPt>
          <c:val>
            <c:numRef>
              <c:f>Sheet1!$A$1:$O$1</c:f>
              <c:numCache>
                <c:formatCode>General</c:formatCode>
                <c:ptCount val="15"/>
                <c:pt idx="0">
                  <c:v>1089</c:v>
                </c:pt>
                <c:pt idx="1">
                  <c:v>3786</c:v>
                </c:pt>
                <c:pt idx="2">
                  <c:v>7822</c:v>
                </c:pt>
                <c:pt idx="4">
                  <c:v>19771</c:v>
                </c:pt>
                <c:pt idx="5">
                  <c:v>3133</c:v>
                </c:pt>
                <c:pt idx="6">
                  <c:v>10729</c:v>
                </c:pt>
                <c:pt idx="7">
                  <c:v>26356</c:v>
                </c:pt>
                <c:pt idx="8">
                  <c:v>48232</c:v>
                </c:pt>
                <c:pt idx="9">
                  <c:v>690</c:v>
                </c:pt>
                <c:pt idx="10">
                  <c:v>794</c:v>
                </c:pt>
                <c:pt idx="11">
                  <c:v>1470</c:v>
                </c:pt>
                <c:pt idx="12">
                  <c:v>4000</c:v>
                </c:pt>
                <c:pt idx="13">
                  <c:v>1698</c:v>
                </c:pt>
                <c:pt idx="14">
                  <c:v>1865</c:v>
                </c:pt>
              </c:numCache>
            </c:numRef>
          </c:val>
          <c:extLst>
            <c:ext uri="{C3380CC4-5D6E-409C-BE32-E72D297353CC}">
              <c16:uniqueId val="{0000000A-9209-4F87-B578-07A77C27EE74}"/>
            </c:ext>
          </c:extLst>
        </c:ser>
        <c:dLbls>
          <c:showLegendKey val="0"/>
          <c:showVal val="0"/>
          <c:showCatName val="0"/>
          <c:showSerName val="0"/>
          <c:showPercent val="0"/>
          <c:showBubbleSize val="0"/>
        </c:dLbls>
        <c:gapWidth val="80"/>
        <c:overlap val="100"/>
        <c:axId val="137746595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9209-4F87-B578-07A77C27EE74}"/>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9209-4F87-B578-07A77C27EE74}"/>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9209-4F87-B578-07A77C27EE74}"/>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E-9209-4F87-B578-07A77C27EE74}"/>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0F-9209-4F87-B578-07A77C27EE74}"/>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0-9209-4F87-B578-07A77C27EE74}"/>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1-9209-4F87-B578-07A77C27EE74}"/>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2-9209-4F87-B578-07A77C27EE74}"/>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3-9209-4F87-B578-07A77C27EE74}"/>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4-9209-4F87-B578-07A77C27EE74}"/>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5-9209-4F87-B578-07A77C27EE74}"/>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6-9209-4F87-B578-07A77C27EE74}"/>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7-9209-4F87-B578-07A77C27EE74}"/>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8-9209-4F87-B578-07A77C27EE74}"/>
              </c:ext>
            </c:extLst>
          </c:dPt>
          <c:val>
            <c:numRef>
              <c:f>Sheet1!$A$2:$O$2</c:f>
              <c:numCache>
                <c:formatCode>General</c:formatCode>
                <c:ptCount val="15"/>
                <c:pt idx="0">
                  <c:v>7.8</c:v>
                </c:pt>
                <c:pt idx="1">
                  <c:v>-39</c:v>
                </c:pt>
                <c:pt idx="2">
                  <c:v>4.2</c:v>
                </c:pt>
                <c:pt idx="4">
                  <c:v>-3</c:v>
                </c:pt>
                <c:pt idx="5">
                  <c:v>36.3</c:v>
                </c:pt>
                <c:pt idx="6">
                  <c:v>54.2</c:v>
                </c:pt>
                <c:pt idx="7">
                  <c:v>42.2</c:v>
                </c:pt>
                <c:pt idx="8">
                  <c:v>37.2</c:v>
                </c:pt>
                <c:pt idx="9">
                  <c:v>51.9</c:v>
                </c:pt>
                <c:pt idx="10">
                  <c:v>55.6</c:v>
                </c:pt>
                <c:pt idx="11">
                  <c:v>47.9</c:v>
                </c:pt>
                <c:pt idx="12">
                  <c:v>29.3</c:v>
                </c:pt>
                <c:pt idx="13">
                  <c:v>40.6</c:v>
                </c:pt>
                <c:pt idx="14">
                  <c:v>47.8</c:v>
                </c:pt>
              </c:numCache>
            </c:numRef>
          </c:val>
          <c:smooth val="0"/>
          <c:extLst>
            <c:ext uri="{C3380CC4-5D6E-409C-BE32-E72D297353CC}">
              <c16:uniqueId val="{00000019-9209-4F87-B578-07A77C27EE74}"/>
            </c:ext>
          </c:extLst>
        </c:ser>
        <c:dLbls>
          <c:showLegendKey val="0"/>
          <c:showVal val="0"/>
          <c:showCatName val="0"/>
          <c:showSerName val="0"/>
          <c:showPercent val="0"/>
          <c:showBubbleSize val="0"/>
        </c:dLbls>
        <c:marker val="1"/>
        <c:smooth val="0"/>
        <c:axId val="2"/>
        <c:axId val="3"/>
      </c:lineChart>
      <c:catAx>
        <c:axId val="137746595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46595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11.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8A8B-45D6-9A3C-50401C5BCBCE}"/>
              </c:ext>
            </c:extLst>
          </c:dPt>
          <c:dPt>
            <c:idx val="6"/>
            <c:invertIfNegative val="0"/>
            <c:bubble3D val="0"/>
            <c:spPr>
              <a:solidFill>
                <a:srgbClr val="364D6E"/>
              </a:solidFill>
              <a:ln>
                <a:noFill/>
              </a:ln>
            </c:spPr>
            <c:extLst>
              <c:ext uri="{C3380CC4-5D6E-409C-BE32-E72D297353CC}">
                <c16:uniqueId val="{00000001-8A8B-45D6-9A3C-50401C5BCBCE}"/>
              </c:ext>
            </c:extLst>
          </c:dPt>
          <c:dPt>
            <c:idx val="7"/>
            <c:invertIfNegative val="0"/>
            <c:bubble3D val="0"/>
            <c:spPr>
              <a:solidFill>
                <a:srgbClr val="364D6E"/>
              </a:solidFill>
              <a:ln>
                <a:noFill/>
              </a:ln>
            </c:spPr>
            <c:extLst>
              <c:ext uri="{C3380CC4-5D6E-409C-BE32-E72D297353CC}">
                <c16:uniqueId val="{00000002-8A8B-45D6-9A3C-50401C5BCBCE}"/>
              </c:ext>
            </c:extLst>
          </c:dPt>
          <c:dPt>
            <c:idx val="8"/>
            <c:invertIfNegative val="0"/>
            <c:bubble3D val="0"/>
            <c:spPr>
              <a:solidFill>
                <a:srgbClr val="364D6E"/>
              </a:solidFill>
              <a:ln>
                <a:noFill/>
              </a:ln>
            </c:spPr>
            <c:extLst>
              <c:ext uri="{C3380CC4-5D6E-409C-BE32-E72D297353CC}">
                <c16:uniqueId val="{00000003-8A8B-45D6-9A3C-50401C5BCBCE}"/>
              </c:ext>
            </c:extLst>
          </c:dPt>
          <c:dPt>
            <c:idx val="9"/>
            <c:invertIfNegative val="0"/>
            <c:bubble3D val="0"/>
            <c:spPr>
              <a:solidFill>
                <a:srgbClr val="007770"/>
              </a:solidFill>
              <a:ln>
                <a:noFill/>
              </a:ln>
            </c:spPr>
            <c:extLst>
              <c:ext uri="{C3380CC4-5D6E-409C-BE32-E72D297353CC}">
                <c16:uniqueId val="{00000004-8A8B-45D6-9A3C-50401C5BCBCE}"/>
              </c:ext>
            </c:extLst>
          </c:dPt>
          <c:dPt>
            <c:idx val="10"/>
            <c:invertIfNegative val="0"/>
            <c:bubble3D val="0"/>
            <c:spPr>
              <a:solidFill>
                <a:srgbClr val="007770"/>
              </a:solidFill>
              <a:ln>
                <a:noFill/>
              </a:ln>
            </c:spPr>
            <c:extLst>
              <c:ext uri="{C3380CC4-5D6E-409C-BE32-E72D297353CC}">
                <c16:uniqueId val="{00000005-8A8B-45D6-9A3C-50401C5BCBCE}"/>
              </c:ext>
            </c:extLst>
          </c:dPt>
          <c:dPt>
            <c:idx val="11"/>
            <c:invertIfNegative val="0"/>
            <c:bubble3D val="0"/>
            <c:spPr>
              <a:solidFill>
                <a:srgbClr val="007770"/>
              </a:solidFill>
              <a:ln>
                <a:noFill/>
              </a:ln>
            </c:spPr>
            <c:extLst>
              <c:ext uri="{C3380CC4-5D6E-409C-BE32-E72D297353CC}">
                <c16:uniqueId val="{00000006-8A8B-45D6-9A3C-50401C5BCBCE}"/>
              </c:ext>
            </c:extLst>
          </c:dPt>
          <c:dPt>
            <c:idx val="12"/>
            <c:invertIfNegative val="0"/>
            <c:bubble3D val="0"/>
            <c:spPr>
              <a:solidFill>
                <a:srgbClr val="6F8DB9"/>
              </a:solidFill>
              <a:ln>
                <a:noFill/>
              </a:ln>
            </c:spPr>
            <c:extLst>
              <c:ext uri="{C3380CC4-5D6E-409C-BE32-E72D297353CC}">
                <c16:uniqueId val="{00000007-8A8B-45D6-9A3C-50401C5BCBCE}"/>
              </c:ext>
            </c:extLst>
          </c:dPt>
          <c:dPt>
            <c:idx val="13"/>
            <c:invertIfNegative val="0"/>
            <c:bubble3D val="0"/>
            <c:spPr>
              <a:solidFill>
                <a:srgbClr val="6F8DB9"/>
              </a:solidFill>
              <a:ln>
                <a:noFill/>
              </a:ln>
            </c:spPr>
            <c:extLst>
              <c:ext uri="{C3380CC4-5D6E-409C-BE32-E72D297353CC}">
                <c16:uniqueId val="{00000008-8A8B-45D6-9A3C-50401C5BCBCE}"/>
              </c:ext>
            </c:extLst>
          </c:dPt>
          <c:dPt>
            <c:idx val="14"/>
            <c:invertIfNegative val="0"/>
            <c:bubble3D val="0"/>
            <c:spPr>
              <a:solidFill>
                <a:srgbClr val="6F8DB9"/>
              </a:solidFill>
              <a:ln>
                <a:noFill/>
              </a:ln>
            </c:spPr>
            <c:extLst>
              <c:ext uri="{C3380CC4-5D6E-409C-BE32-E72D297353CC}">
                <c16:uniqueId val="{00000009-8A8B-45D6-9A3C-50401C5BCBCE}"/>
              </c:ext>
            </c:extLst>
          </c:dPt>
          <c:val>
            <c:numRef>
              <c:f>Sheet1!$A$1:$O$1</c:f>
              <c:numCache>
                <c:formatCode>General</c:formatCode>
                <c:ptCount val="15"/>
                <c:pt idx="0">
                  <c:v>1026</c:v>
                </c:pt>
                <c:pt idx="1">
                  <c:v>3857</c:v>
                </c:pt>
                <c:pt idx="2">
                  <c:v>8004</c:v>
                </c:pt>
                <c:pt idx="3">
                  <c:v>11785</c:v>
                </c:pt>
                <c:pt idx="4">
                  <c:v>20791</c:v>
                </c:pt>
                <c:pt idx="5">
                  <c:v>3545</c:v>
                </c:pt>
                <c:pt idx="6">
                  <c:v>12562</c:v>
                </c:pt>
                <c:pt idx="7">
                  <c:v>36401</c:v>
                </c:pt>
                <c:pt idx="8">
                  <c:v>64299</c:v>
                </c:pt>
                <c:pt idx="9">
                  <c:v>993</c:v>
                </c:pt>
                <c:pt idx="10">
                  <c:v>1114</c:v>
                </c:pt>
                <c:pt idx="11">
                  <c:v>1556</c:v>
                </c:pt>
                <c:pt idx="12">
                  <c:v>4371</c:v>
                </c:pt>
                <c:pt idx="13">
                  <c:v>1559</c:v>
                </c:pt>
                <c:pt idx="14">
                  <c:v>2243</c:v>
                </c:pt>
              </c:numCache>
            </c:numRef>
          </c:val>
          <c:extLst>
            <c:ext uri="{C3380CC4-5D6E-409C-BE32-E72D297353CC}">
              <c16:uniqueId val="{0000000A-8A8B-45D6-9A3C-50401C5BCBCE}"/>
            </c:ext>
          </c:extLst>
        </c:ser>
        <c:dLbls>
          <c:showLegendKey val="0"/>
          <c:showVal val="0"/>
          <c:showCatName val="0"/>
          <c:showSerName val="0"/>
          <c:showPercent val="0"/>
          <c:showBubbleSize val="0"/>
        </c:dLbls>
        <c:gapWidth val="80"/>
        <c:overlap val="100"/>
        <c:axId val="137749139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8A8B-45D6-9A3C-50401C5BCBCE}"/>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8A8B-45D6-9A3C-50401C5BCBCE}"/>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8A8B-45D6-9A3C-50401C5BCBCE}"/>
              </c:ext>
            </c:extLst>
          </c:dPt>
          <c:dPt>
            <c:idx val="3"/>
            <c:marker>
              <c:symbol val="dash"/>
              <c:size val="12"/>
              <c:spPr>
                <a:solidFill>
                  <a:srgbClr val="FFC000"/>
                </a:solidFill>
                <a:ln w="9525" cmpd="sng" algn="ctr">
                  <a:solidFill>
                    <a:srgbClr val="FFC000"/>
                  </a:solidFill>
                  <a:prstDash val="solid"/>
                </a:ln>
              </c:spPr>
            </c:marker>
            <c:bubble3D val="0"/>
            <c:extLst>
              <c:ext uri="{C3380CC4-5D6E-409C-BE32-E72D297353CC}">
                <c16:uniqueId val="{0000000E-8A8B-45D6-9A3C-50401C5BCBCE}"/>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F-8A8B-45D6-9A3C-50401C5BCBCE}"/>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10-8A8B-45D6-9A3C-50401C5BCBCE}"/>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1-8A8B-45D6-9A3C-50401C5BCBCE}"/>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2-8A8B-45D6-9A3C-50401C5BCBCE}"/>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3-8A8B-45D6-9A3C-50401C5BCBCE}"/>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4-8A8B-45D6-9A3C-50401C5BCBCE}"/>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5-8A8B-45D6-9A3C-50401C5BCBCE}"/>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6-8A8B-45D6-9A3C-50401C5BCBCE}"/>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7-8A8B-45D6-9A3C-50401C5BCBCE}"/>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8-8A8B-45D6-9A3C-50401C5BCBCE}"/>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9-8A8B-45D6-9A3C-50401C5BCBCE}"/>
              </c:ext>
            </c:extLst>
          </c:dPt>
          <c:val>
            <c:numRef>
              <c:f>Sheet1!$A$2:$O$2</c:f>
              <c:numCache>
                <c:formatCode>General</c:formatCode>
                <c:ptCount val="15"/>
                <c:pt idx="0">
                  <c:v>3.8</c:v>
                </c:pt>
                <c:pt idx="1">
                  <c:v>-33.2</c:v>
                </c:pt>
                <c:pt idx="2">
                  <c:v>-0.1</c:v>
                </c:pt>
                <c:pt idx="3">
                  <c:v>0.3</c:v>
                </c:pt>
                <c:pt idx="4">
                  <c:v>1.9</c:v>
                </c:pt>
                <c:pt idx="5">
                  <c:v>36.1</c:v>
                </c:pt>
                <c:pt idx="6">
                  <c:v>48.9</c:v>
                </c:pt>
                <c:pt idx="7">
                  <c:v>50.7</c:v>
                </c:pt>
                <c:pt idx="8">
                  <c:v>45.3</c:v>
                </c:pt>
                <c:pt idx="9">
                  <c:v>65.8</c:v>
                </c:pt>
                <c:pt idx="10">
                  <c:v>59.5</c:v>
                </c:pt>
                <c:pt idx="11">
                  <c:v>14.1</c:v>
                </c:pt>
                <c:pt idx="12">
                  <c:v>19</c:v>
                </c:pt>
                <c:pt idx="13">
                  <c:v>35.2</c:v>
                </c:pt>
                <c:pt idx="14">
                  <c:v>50.9</c:v>
                </c:pt>
              </c:numCache>
            </c:numRef>
          </c:val>
          <c:smooth val="0"/>
          <c:extLst>
            <c:ext uri="{C3380CC4-5D6E-409C-BE32-E72D297353CC}">
              <c16:uniqueId val="{0000001A-8A8B-45D6-9A3C-50401C5BCBCE}"/>
            </c:ext>
          </c:extLst>
        </c:ser>
        <c:dLbls>
          <c:showLegendKey val="0"/>
          <c:showVal val="0"/>
          <c:showCatName val="0"/>
          <c:showSerName val="0"/>
          <c:showPercent val="0"/>
          <c:showBubbleSize val="0"/>
        </c:dLbls>
        <c:marker val="1"/>
        <c:smooth val="0"/>
        <c:axId val="2"/>
        <c:axId val="3"/>
      </c:lineChart>
      <c:catAx>
        <c:axId val="13774913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49139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12.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DFD1-4A90-8C55-83229D81B3ED}"/>
              </c:ext>
            </c:extLst>
          </c:dPt>
          <c:dPt>
            <c:idx val="6"/>
            <c:invertIfNegative val="0"/>
            <c:bubble3D val="0"/>
            <c:spPr>
              <a:solidFill>
                <a:srgbClr val="364D6E"/>
              </a:solidFill>
              <a:ln>
                <a:noFill/>
              </a:ln>
            </c:spPr>
            <c:extLst>
              <c:ext uri="{C3380CC4-5D6E-409C-BE32-E72D297353CC}">
                <c16:uniqueId val="{00000001-DFD1-4A90-8C55-83229D81B3ED}"/>
              </c:ext>
            </c:extLst>
          </c:dPt>
          <c:dPt>
            <c:idx val="7"/>
            <c:invertIfNegative val="0"/>
            <c:bubble3D val="0"/>
            <c:spPr>
              <a:solidFill>
                <a:srgbClr val="364D6E"/>
              </a:solidFill>
              <a:ln>
                <a:noFill/>
              </a:ln>
            </c:spPr>
            <c:extLst>
              <c:ext uri="{C3380CC4-5D6E-409C-BE32-E72D297353CC}">
                <c16:uniqueId val="{00000002-DFD1-4A90-8C55-83229D81B3ED}"/>
              </c:ext>
            </c:extLst>
          </c:dPt>
          <c:dPt>
            <c:idx val="8"/>
            <c:invertIfNegative val="0"/>
            <c:bubble3D val="0"/>
            <c:spPr>
              <a:solidFill>
                <a:srgbClr val="364D6E"/>
              </a:solidFill>
              <a:ln>
                <a:noFill/>
              </a:ln>
            </c:spPr>
            <c:extLst>
              <c:ext uri="{C3380CC4-5D6E-409C-BE32-E72D297353CC}">
                <c16:uniqueId val="{00000003-DFD1-4A90-8C55-83229D81B3ED}"/>
              </c:ext>
            </c:extLst>
          </c:dPt>
          <c:dPt>
            <c:idx val="9"/>
            <c:invertIfNegative val="0"/>
            <c:bubble3D val="0"/>
            <c:spPr>
              <a:solidFill>
                <a:srgbClr val="007770"/>
              </a:solidFill>
              <a:ln>
                <a:noFill/>
              </a:ln>
            </c:spPr>
            <c:extLst>
              <c:ext uri="{C3380CC4-5D6E-409C-BE32-E72D297353CC}">
                <c16:uniqueId val="{00000004-DFD1-4A90-8C55-83229D81B3ED}"/>
              </c:ext>
            </c:extLst>
          </c:dPt>
          <c:dPt>
            <c:idx val="10"/>
            <c:invertIfNegative val="0"/>
            <c:bubble3D val="0"/>
            <c:spPr>
              <a:solidFill>
                <a:srgbClr val="007770"/>
              </a:solidFill>
              <a:ln>
                <a:noFill/>
              </a:ln>
            </c:spPr>
            <c:extLst>
              <c:ext uri="{C3380CC4-5D6E-409C-BE32-E72D297353CC}">
                <c16:uniqueId val="{00000005-DFD1-4A90-8C55-83229D81B3ED}"/>
              </c:ext>
            </c:extLst>
          </c:dPt>
          <c:dPt>
            <c:idx val="11"/>
            <c:invertIfNegative val="0"/>
            <c:bubble3D val="0"/>
            <c:spPr>
              <a:solidFill>
                <a:srgbClr val="007770"/>
              </a:solidFill>
              <a:ln>
                <a:noFill/>
              </a:ln>
            </c:spPr>
            <c:extLst>
              <c:ext uri="{C3380CC4-5D6E-409C-BE32-E72D297353CC}">
                <c16:uniqueId val="{00000006-DFD1-4A90-8C55-83229D81B3ED}"/>
              </c:ext>
            </c:extLst>
          </c:dPt>
          <c:dPt>
            <c:idx val="12"/>
            <c:invertIfNegative val="0"/>
            <c:bubble3D val="0"/>
            <c:spPr>
              <a:solidFill>
                <a:srgbClr val="6F8DB9"/>
              </a:solidFill>
              <a:ln>
                <a:noFill/>
              </a:ln>
            </c:spPr>
            <c:extLst>
              <c:ext uri="{C3380CC4-5D6E-409C-BE32-E72D297353CC}">
                <c16:uniqueId val="{00000007-DFD1-4A90-8C55-83229D81B3ED}"/>
              </c:ext>
            </c:extLst>
          </c:dPt>
          <c:dPt>
            <c:idx val="13"/>
            <c:invertIfNegative val="0"/>
            <c:bubble3D val="0"/>
            <c:spPr>
              <a:solidFill>
                <a:srgbClr val="6F8DB9"/>
              </a:solidFill>
              <a:ln>
                <a:noFill/>
              </a:ln>
            </c:spPr>
            <c:extLst>
              <c:ext uri="{C3380CC4-5D6E-409C-BE32-E72D297353CC}">
                <c16:uniqueId val="{00000008-DFD1-4A90-8C55-83229D81B3ED}"/>
              </c:ext>
            </c:extLst>
          </c:dPt>
          <c:dPt>
            <c:idx val="14"/>
            <c:invertIfNegative val="0"/>
            <c:bubble3D val="0"/>
            <c:spPr>
              <a:solidFill>
                <a:srgbClr val="6F8DB9"/>
              </a:solidFill>
              <a:ln>
                <a:noFill/>
              </a:ln>
            </c:spPr>
            <c:extLst>
              <c:ext uri="{C3380CC4-5D6E-409C-BE32-E72D297353CC}">
                <c16:uniqueId val="{00000009-DFD1-4A90-8C55-83229D81B3ED}"/>
              </c:ext>
            </c:extLst>
          </c:dPt>
          <c:val>
            <c:numRef>
              <c:f>Sheet1!$A$1:$O$1</c:f>
              <c:numCache>
                <c:formatCode>General</c:formatCode>
                <c:ptCount val="15"/>
                <c:pt idx="0">
                  <c:v>1049</c:v>
                </c:pt>
                <c:pt idx="1">
                  <c:v>5739</c:v>
                </c:pt>
                <c:pt idx="2">
                  <c:v>8464</c:v>
                </c:pt>
                <c:pt idx="3">
                  <c:v>16496</c:v>
                </c:pt>
                <c:pt idx="4">
                  <c:v>25097</c:v>
                </c:pt>
                <c:pt idx="5">
                  <c:v>2477</c:v>
                </c:pt>
                <c:pt idx="6">
                  <c:v>5162</c:v>
                </c:pt>
                <c:pt idx="7">
                  <c:v>19210</c:v>
                </c:pt>
                <c:pt idx="8">
                  <c:v>33653</c:v>
                </c:pt>
                <c:pt idx="9">
                  <c:v>974</c:v>
                </c:pt>
                <c:pt idx="10">
                  <c:v>1511</c:v>
                </c:pt>
                <c:pt idx="11">
                  <c:v>1715</c:v>
                </c:pt>
                <c:pt idx="12">
                  <c:v>3844</c:v>
                </c:pt>
                <c:pt idx="13">
                  <c:v>1362</c:v>
                </c:pt>
                <c:pt idx="14">
                  <c:v>2388</c:v>
                </c:pt>
              </c:numCache>
            </c:numRef>
          </c:val>
          <c:extLst>
            <c:ext uri="{C3380CC4-5D6E-409C-BE32-E72D297353CC}">
              <c16:uniqueId val="{0000000A-DFD1-4A90-8C55-83229D81B3ED}"/>
            </c:ext>
          </c:extLst>
        </c:ser>
        <c:dLbls>
          <c:showLegendKey val="0"/>
          <c:showVal val="0"/>
          <c:showCatName val="0"/>
          <c:showSerName val="0"/>
          <c:showPercent val="0"/>
          <c:showBubbleSize val="0"/>
        </c:dLbls>
        <c:gapWidth val="80"/>
        <c:overlap val="100"/>
        <c:axId val="137750147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DFD1-4A90-8C55-83229D81B3ED}"/>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DFD1-4A90-8C55-83229D81B3ED}"/>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DFD1-4A90-8C55-83229D81B3ED}"/>
              </c:ext>
            </c:extLst>
          </c:dPt>
          <c:dPt>
            <c:idx val="3"/>
            <c:marker>
              <c:symbol val="dash"/>
              <c:size val="12"/>
              <c:spPr>
                <a:solidFill>
                  <a:srgbClr val="FFC000"/>
                </a:solidFill>
                <a:ln w="9525" cmpd="sng" algn="ctr">
                  <a:solidFill>
                    <a:srgbClr val="FFC000"/>
                  </a:solidFill>
                  <a:prstDash val="solid"/>
                </a:ln>
              </c:spPr>
            </c:marker>
            <c:bubble3D val="0"/>
            <c:extLst>
              <c:ext uri="{C3380CC4-5D6E-409C-BE32-E72D297353CC}">
                <c16:uniqueId val="{0000000E-DFD1-4A90-8C55-83229D81B3ED}"/>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F-DFD1-4A90-8C55-83229D81B3ED}"/>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10-DFD1-4A90-8C55-83229D81B3ED}"/>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1-DFD1-4A90-8C55-83229D81B3ED}"/>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2-DFD1-4A90-8C55-83229D81B3ED}"/>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3-DFD1-4A90-8C55-83229D81B3ED}"/>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4-DFD1-4A90-8C55-83229D81B3ED}"/>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5-DFD1-4A90-8C55-83229D81B3ED}"/>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6-DFD1-4A90-8C55-83229D81B3ED}"/>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7-DFD1-4A90-8C55-83229D81B3ED}"/>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8-DFD1-4A90-8C55-83229D81B3ED}"/>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9-DFD1-4A90-8C55-83229D81B3ED}"/>
              </c:ext>
            </c:extLst>
          </c:dPt>
          <c:val>
            <c:numRef>
              <c:f>Sheet1!$A$2:$O$2</c:f>
              <c:numCache>
                <c:formatCode>General</c:formatCode>
                <c:ptCount val="15"/>
                <c:pt idx="0">
                  <c:v>1.8</c:v>
                </c:pt>
                <c:pt idx="1">
                  <c:v>2.7</c:v>
                </c:pt>
                <c:pt idx="2">
                  <c:v>3.2</c:v>
                </c:pt>
                <c:pt idx="3">
                  <c:v>1.3</c:v>
                </c:pt>
                <c:pt idx="4">
                  <c:v>3.1</c:v>
                </c:pt>
                <c:pt idx="5">
                  <c:v>11.9</c:v>
                </c:pt>
                <c:pt idx="6">
                  <c:v>-8.2</c:v>
                </c:pt>
                <c:pt idx="7">
                  <c:v>14.1</c:v>
                </c:pt>
                <c:pt idx="8">
                  <c:v>6.6</c:v>
                </c:pt>
                <c:pt idx="9">
                  <c:v>59.6</c:v>
                </c:pt>
                <c:pt idx="10">
                  <c:v>31</c:v>
                </c:pt>
                <c:pt idx="11">
                  <c:v>21.3</c:v>
                </c:pt>
                <c:pt idx="12">
                  <c:v>25.5</c:v>
                </c:pt>
                <c:pt idx="13">
                  <c:v>31.2</c:v>
                </c:pt>
                <c:pt idx="14">
                  <c:v>50.7</c:v>
                </c:pt>
              </c:numCache>
            </c:numRef>
          </c:val>
          <c:smooth val="0"/>
          <c:extLst>
            <c:ext uri="{C3380CC4-5D6E-409C-BE32-E72D297353CC}">
              <c16:uniqueId val="{0000001A-DFD1-4A90-8C55-83229D81B3ED}"/>
            </c:ext>
          </c:extLst>
        </c:ser>
        <c:dLbls>
          <c:showLegendKey val="0"/>
          <c:showVal val="0"/>
          <c:showCatName val="0"/>
          <c:showSerName val="0"/>
          <c:showPercent val="0"/>
          <c:showBubbleSize val="0"/>
        </c:dLbls>
        <c:marker val="1"/>
        <c:smooth val="0"/>
        <c:axId val="2"/>
        <c:axId val="3"/>
      </c:lineChart>
      <c:catAx>
        <c:axId val="137750147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50147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13.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7.3291050035236083E-3"/>
          <c:y val="0.11816838995568685"/>
          <c:w val="0.96053558844256515"/>
          <c:h val="0.76218611521418023"/>
        </c:manualLayout>
      </c:layout>
      <c:barChart>
        <c:barDir val="col"/>
        <c:grouping val="stacked"/>
        <c:varyColors val="0"/>
        <c:ser>
          <c:idx val="0"/>
          <c:order val="0"/>
          <c:spPr>
            <a:solidFill>
              <a:srgbClr val="C30C3E"/>
            </a:solidFill>
            <a:ln>
              <a:noFill/>
            </a:ln>
          </c:spPr>
          <c:invertIfNegative val="0"/>
          <c:dPt>
            <c:idx val="5"/>
            <c:invertIfNegative val="0"/>
            <c:bubble3D val="0"/>
            <c:spPr>
              <a:solidFill>
                <a:srgbClr val="364D6E"/>
              </a:solidFill>
              <a:ln>
                <a:noFill/>
              </a:ln>
            </c:spPr>
            <c:extLst>
              <c:ext uri="{C3380CC4-5D6E-409C-BE32-E72D297353CC}">
                <c16:uniqueId val="{00000000-8785-41CE-8F51-04F2A9911018}"/>
              </c:ext>
            </c:extLst>
          </c:dPt>
          <c:dPt>
            <c:idx val="6"/>
            <c:invertIfNegative val="0"/>
            <c:bubble3D val="0"/>
            <c:spPr>
              <a:solidFill>
                <a:srgbClr val="364D6E"/>
              </a:solidFill>
              <a:ln>
                <a:noFill/>
              </a:ln>
            </c:spPr>
            <c:extLst>
              <c:ext uri="{C3380CC4-5D6E-409C-BE32-E72D297353CC}">
                <c16:uniqueId val="{00000001-8785-41CE-8F51-04F2A9911018}"/>
              </c:ext>
            </c:extLst>
          </c:dPt>
          <c:dPt>
            <c:idx val="7"/>
            <c:invertIfNegative val="0"/>
            <c:bubble3D val="0"/>
            <c:spPr>
              <a:solidFill>
                <a:srgbClr val="364D6E"/>
              </a:solidFill>
              <a:ln>
                <a:noFill/>
              </a:ln>
            </c:spPr>
            <c:extLst>
              <c:ext uri="{C3380CC4-5D6E-409C-BE32-E72D297353CC}">
                <c16:uniqueId val="{00000002-8785-41CE-8F51-04F2A9911018}"/>
              </c:ext>
            </c:extLst>
          </c:dPt>
          <c:dPt>
            <c:idx val="8"/>
            <c:invertIfNegative val="0"/>
            <c:bubble3D val="0"/>
            <c:spPr>
              <a:solidFill>
                <a:srgbClr val="364D6E"/>
              </a:solidFill>
              <a:ln>
                <a:noFill/>
              </a:ln>
            </c:spPr>
            <c:extLst>
              <c:ext uri="{C3380CC4-5D6E-409C-BE32-E72D297353CC}">
                <c16:uniqueId val="{00000003-8785-41CE-8F51-04F2A9911018}"/>
              </c:ext>
            </c:extLst>
          </c:dPt>
          <c:dPt>
            <c:idx val="9"/>
            <c:invertIfNegative val="0"/>
            <c:bubble3D val="0"/>
            <c:spPr>
              <a:solidFill>
                <a:srgbClr val="007770"/>
              </a:solidFill>
              <a:ln>
                <a:noFill/>
              </a:ln>
            </c:spPr>
            <c:extLst>
              <c:ext uri="{C3380CC4-5D6E-409C-BE32-E72D297353CC}">
                <c16:uniqueId val="{00000004-8785-41CE-8F51-04F2A9911018}"/>
              </c:ext>
            </c:extLst>
          </c:dPt>
          <c:dPt>
            <c:idx val="10"/>
            <c:invertIfNegative val="0"/>
            <c:bubble3D val="0"/>
            <c:spPr>
              <a:solidFill>
                <a:srgbClr val="007770"/>
              </a:solidFill>
              <a:ln>
                <a:noFill/>
              </a:ln>
            </c:spPr>
            <c:extLst>
              <c:ext uri="{C3380CC4-5D6E-409C-BE32-E72D297353CC}">
                <c16:uniqueId val="{00000005-8785-41CE-8F51-04F2A9911018}"/>
              </c:ext>
            </c:extLst>
          </c:dPt>
          <c:dPt>
            <c:idx val="11"/>
            <c:invertIfNegative val="0"/>
            <c:bubble3D val="0"/>
            <c:spPr>
              <a:solidFill>
                <a:srgbClr val="007770"/>
              </a:solidFill>
              <a:ln>
                <a:noFill/>
              </a:ln>
            </c:spPr>
            <c:extLst>
              <c:ext uri="{C3380CC4-5D6E-409C-BE32-E72D297353CC}">
                <c16:uniqueId val="{00000006-8785-41CE-8F51-04F2A9911018}"/>
              </c:ext>
            </c:extLst>
          </c:dPt>
          <c:dPt>
            <c:idx val="12"/>
            <c:invertIfNegative val="0"/>
            <c:bubble3D val="0"/>
            <c:spPr>
              <a:solidFill>
                <a:srgbClr val="6F8DB9"/>
              </a:solidFill>
              <a:ln>
                <a:noFill/>
              </a:ln>
            </c:spPr>
            <c:extLst>
              <c:ext uri="{C3380CC4-5D6E-409C-BE32-E72D297353CC}">
                <c16:uniqueId val="{00000007-8785-41CE-8F51-04F2A9911018}"/>
              </c:ext>
            </c:extLst>
          </c:dPt>
          <c:dPt>
            <c:idx val="13"/>
            <c:invertIfNegative val="0"/>
            <c:bubble3D val="0"/>
            <c:spPr>
              <a:solidFill>
                <a:srgbClr val="6F8DB9"/>
              </a:solidFill>
              <a:ln>
                <a:noFill/>
              </a:ln>
            </c:spPr>
            <c:extLst>
              <c:ext uri="{C3380CC4-5D6E-409C-BE32-E72D297353CC}">
                <c16:uniqueId val="{00000008-8785-41CE-8F51-04F2A9911018}"/>
              </c:ext>
            </c:extLst>
          </c:dPt>
          <c:dPt>
            <c:idx val="14"/>
            <c:invertIfNegative val="0"/>
            <c:bubble3D val="0"/>
            <c:spPr>
              <a:solidFill>
                <a:srgbClr val="6F8DB9"/>
              </a:solidFill>
              <a:ln>
                <a:noFill/>
              </a:ln>
            </c:spPr>
            <c:extLst>
              <c:ext uri="{C3380CC4-5D6E-409C-BE32-E72D297353CC}">
                <c16:uniqueId val="{00000009-8785-41CE-8F51-04F2A9911018}"/>
              </c:ext>
            </c:extLst>
          </c:dPt>
          <c:val>
            <c:numRef>
              <c:f>Sheet1!$A$1:$O$1</c:f>
              <c:numCache>
                <c:formatCode>General</c:formatCode>
                <c:ptCount val="15"/>
                <c:pt idx="0">
                  <c:v>1018</c:v>
                </c:pt>
                <c:pt idx="1">
                  <c:v>7292</c:v>
                </c:pt>
                <c:pt idx="2">
                  <c:v>8413</c:v>
                </c:pt>
                <c:pt idx="3">
                  <c:v>17280</c:v>
                </c:pt>
                <c:pt idx="4">
                  <c:v>23480</c:v>
                </c:pt>
                <c:pt idx="5">
                  <c:v>2810</c:v>
                </c:pt>
                <c:pt idx="6">
                  <c:v>8427</c:v>
                </c:pt>
                <c:pt idx="7">
                  <c:v>20287</c:v>
                </c:pt>
                <c:pt idx="8">
                  <c:v>37388</c:v>
                </c:pt>
                <c:pt idx="9">
                  <c:v>1014</c:v>
                </c:pt>
                <c:pt idx="10">
                  <c:v>2084</c:v>
                </c:pt>
                <c:pt idx="11">
                  <c:v>2312</c:v>
                </c:pt>
                <c:pt idx="12">
                  <c:v>4465</c:v>
                </c:pt>
                <c:pt idx="13">
                  <c:v>1489</c:v>
                </c:pt>
                <c:pt idx="14">
                  <c:v>2740</c:v>
                </c:pt>
              </c:numCache>
            </c:numRef>
          </c:val>
          <c:extLst>
            <c:ext uri="{C3380CC4-5D6E-409C-BE32-E72D297353CC}">
              <c16:uniqueId val="{0000000A-8785-41CE-8F51-04F2A9911018}"/>
            </c:ext>
          </c:extLst>
        </c:ser>
        <c:dLbls>
          <c:showLegendKey val="0"/>
          <c:showVal val="0"/>
          <c:showCatName val="0"/>
          <c:showSerName val="0"/>
          <c:showPercent val="0"/>
          <c:showBubbleSize val="0"/>
        </c:dLbls>
        <c:gapWidth val="80"/>
        <c:overlap val="100"/>
        <c:axId val="1377503392"/>
        <c:axId val="1"/>
      </c:barChart>
      <c:lineChart>
        <c:grouping val="standard"/>
        <c:varyColors val="0"/>
        <c:ser>
          <c:idx val="1"/>
          <c:order val="1"/>
          <c:spPr>
            <a:ln>
              <a:noFill/>
            </a:ln>
          </c:spPr>
          <c:marker>
            <c:symbol val="none"/>
          </c:marker>
          <c:dPt>
            <c:idx val="0"/>
            <c:marker>
              <c:symbol val="dash"/>
              <c:size val="12"/>
              <c:spPr>
                <a:solidFill>
                  <a:srgbClr val="FFC000"/>
                </a:solidFill>
                <a:ln w="9525" cmpd="sng" algn="ctr">
                  <a:solidFill>
                    <a:srgbClr val="FFC000"/>
                  </a:solidFill>
                  <a:prstDash val="solid"/>
                </a:ln>
              </c:spPr>
            </c:marker>
            <c:bubble3D val="0"/>
            <c:extLst>
              <c:ext uri="{C3380CC4-5D6E-409C-BE32-E72D297353CC}">
                <c16:uniqueId val="{0000000B-8785-41CE-8F51-04F2A9911018}"/>
              </c:ext>
            </c:extLst>
          </c:dPt>
          <c:dPt>
            <c:idx val="1"/>
            <c:marker>
              <c:symbol val="dash"/>
              <c:size val="12"/>
              <c:spPr>
                <a:solidFill>
                  <a:srgbClr val="FFC000"/>
                </a:solidFill>
                <a:ln w="9525" cmpd="sng" algn="ctr">
                  <a:solidFill>
                    <a:srgbClr val="FFC000"/>
                  </a:solidFill>
                  <a:prstDash val="solid"/>
                </a:ln>
              </c:spPr>
            </c:marker>
            <c:bubble3D val="0"/>
            <c:extLst>
              <c:ext uri="{C3380CC4-5D6E-409C-BE32-E72D297353CC}">
                <c16:uniqueId val="{0000000C-8785-41CE-8F51-04F2A9911018}"/>
              </c:ext>
            </c:extLst>
          </c:dPt>
          <c:dPt>
            <c:idx val="2"/>
            <c:marker>
              <c:symbol val="dash"/>
              <c:size val="12"/>
              <c:spPr>
                <a:solidFill>
                  <a:srgbClr val="FFC000"/>
                </a:solidFill>
                <a:ln w="9525" cmpd="sng" algn="ctr">
                  <a:solidFill>
                    <a:srgbClr val="FFC000"/>
                  </a:solidFill>
                  <a:prstDash val="solid"/>
                </a:ln>
              </c:spPr>
            </c:marker>
            <c:bubble3D val="0"/>
            <c:extLst>
              <c:ext uri="{C3380CC4-5D6E-409C-BE32-E72D297353CC}">
                <c16:uniqueId val="{0000000D-8785-41CE-8F51-04F2A9911018}"/>
              </c:ext>
            </c:extLst>
          </c:dPt>
          <c:dPt>
            <c:idx val="3"/>
            <c:marker>
              <c:symbol val="dash"/>
              <c:size val="12"/>
              <c:spPr>
                <a:solidFill>
                  <a:srgbClr val="FFC000"/>
                </a:solidFill>
                <a:ln w="9525" cmpd="sng" algn="ctr">
                  <a:solidFill>
                    <a:srgbClr val="FFC000"/>
                  </a:solidFill>
                  <a:prstDash val="solid"/>
                </a:ln>
              </c:spPr>
            </c:marker>
            <c:bubble3D val="0"/>
            <c:extLst>
              <c:ext uri="{C3380CC4-5D6E-409C-BE32-E72D297353CC}">
                <c16:uniqueId val="{0000000E-8785-41CE-8F51-04F2A9911018}"/>
              </c:ext>
            </c:extLst>
          </c:dPt>
          <c:dPt>
            <c:idx val="4"/>
            <c:marker>
              <c:symbol val="dash"/>
              <c:size val="12"/>
              <c:spPr>
                <a:solidFill>
                  <a:srgbClr val="FFC000"/>
                </a:solidFill>
                <a:ln w="9525" cmpd="sng" algn="ctr">
                  <a:solidFill>
                    <a:srgbClr val="FFC000"/>
                  </a:solidFill>
                  <a:prstDash val="solid"/>
                </a:ln>
              </c:spPr>
            </c:marker>
            <c:bubble3D val="0"/>
            <c:extLst>
              <c:ext uri="{C3380CC4-5D6E-409C-BE32-E72D297353CC}">
                <c16:uniqueId val="{0000000F-8785-41CE-8F51-04F2A9911018}"/>
              </c:ext>
            </c:extLst>
          </c:dPt>
          <c:dPt>
            <c:idx val="5"/>
            <c:marker>
              <c:symbol val="dash"/>
              <c:size val="12"/>
              <c:spPr>
                <a:solidFill>
                  <a:srgbClr val="FFC000"/>
                </a:solidFill>
                <a:ln w="9525" cmpd="sng" algn="ctr">
                  <a:solidFill>
                    <a:srgbClr val="FFC000"/>
                  </a:solidFill>
                  <a:prstDash val="solid"/>
                </a:ln>
              </c:spPr>
            </c:marker>
            <c:bubble3D val="0"/>
            <c:extLst>
              <c:ext uri="{C3380CC4-5D6E-409C-BE32-E72D297353CC}">
                <c16:uniqueId val="{00000010-8785-41CE-8F51-04F2A9911018}"/>
              </c:ext>
            </c:extLst>
          </c:dPt>
          <c:dPt>
            <c:idx val="6"/>
            <c:marker>
              <c:symbol val="dash"/>
              <c:size val="12"/>
              <c:spPr>
                <a:solidFill>
                  <a:srgbClr val="FFC000"/>
                </a:solidFill>
                <a:ln w="9525" cmpd="sng" algn="ctr">
                  <a:solidFill>
                    <a:srgbClr val="FFC000"/>
                  </a:solidFill>
                  <a:prstDash val="solid"/>
                </a:ln>
              </c:spPr>
            </c:marker>
            <c:bubble3D val="0"/>
            <c:extLst>
              <c:ext uri="{C3380CC4-5D6E-409C-BE32-E72D297353CC}">
                <c16:uniqueId val="{00000011-8785-41CE-8F51-04F2A9911018}"/>
              </c:ext>
            </c:extLst>
          </c:dPt>
          <c:dPt>
            <c:idx val="7"/>
            <c:marker>
              <c:symbol val="dash"/>
              <c:size val="12"/>
              <c:spPr>
                <a:solidFill>
                  <a:srgbClr val="FFC000"/>
                </a:solidFill>
                <a:ln w="9525" cmpd="sng" algn="ctr">
                  <a:solidFill>
                    <a:srgbClr val="FFC000"/>
                  </a:solidFill>
                  <a:prstDash val="solid"/>
                </a:ln>
              </c:spPr>
            </c:marker>
            <c:bubble3D val="0"/>
            <c:extLst>
              <c:ext uri="{C3380CC4-5D6E-409C-BE32-E72D297353CC}">
                <c16:uniqueId val="{00000012-8785-41CE-8F51-04F2A9911018}"/>
              </c:ext>
            </c:extLst>
          </c:dPt>
          <c:dPt>
            <c:idx val="8"/>
            <c:marker>
              <c:symbol val="dash"/>
              <c:size val="12"/>
              <c:spPr>
                <a:solidFill>
                  <a:srgbClr val="FFC000"/>
                </a:solidFill>
                <a:ln w="9525" cmpd="sng" algn="ctr">
                  <a:solidFill>
                    <a:srgbClr val="FFC000"/>
                  </a:solidFill>
                  <a:prstDash val="solid"/>
                </a:ln>
              </c:spPr>
            </c:marker>
            <c:bubble3D val="0"/>
            <c:extLst>
              <c:ext uri="{C3380CC4-5D6E-409C-BE32-E72D297353CC}">
                <c16:uniqueId val="{00000013-8785-41CE-8F51-04F2A9911018}"/>
              </c:ext>
            </c:extLst>
          </c:dPt>
          <c:dPt>
            <c:idx val="9"/>
            <c:marker>
              <c:symbol val="dash"/>
              <c:size val="12"/>
              <c:spPr>
                <a:solidFill>
                  <a:srgbClr val="FFC000"/>
                </a:solidFill>
                <a:ln w="9525" cmpd="sng" algn="ctr">
                  <a:solidFill>
                    <a:srgbClr val="FFC000"/>
                  </a:solidFill>
                  <a:prstDash val="solid"/>
                </a:ln>
              </c:spPr>
            </c:marker>
            <c:bubble3D val="0"/>
            <c:extLst>
              <c:ext uri="{C3380CC4-5D6E-409C-BE32-E72D297353CC}">
                <c16:uniqueId val="{00000014-8785-41CE-8F51-04F2A9911018}"/>
              </c:ext>
            </c:extLst>
          </c:dPt>
          <c:dPt>
            <c:idx val="10"/>
            <c:marker>
              <c:symbol val="dash"/>
              <c:size val="12"/>
              <c:spPr>
                <a:solidFill>
                  <a:srgbClr val="FFC000"/>
                </a:solidFill>
                <a:ln w="9525" cmpd="sng" algn="ctr">
                  <a:solidFill>
                    <a:srgbClr val="FFC000"/>
                  </a:solidFill>
                  <a:prstDash val="solid"/>
                </a:ln>
              </c:spPr>
            </c:marker>
            <c:bubble3D val="0"/>
            <c:extLst>
              <c:ext uri="{C3380CC4-5D6E-409C-BE32-E72D297353CC}">
                <c16:uniqueId val="{00000015-8785-41CE-8F51-04F2A9911018}"/>
              </c:ext>
            </c:extLst>
          </c:dPt>
          <c:dPt>
            <c:idx val="11"/>
            <c:marker>
              <c:symbol val="dash"/>
              <c:size val="12"/>
              <c:spPr>
                <a:solidFill>
                  <a:srgbClr val="FFC000"/>
                </a:solidFill>
                <a:ln w="9525" cmpd="sng" algn="ctr">
                  <a:solidFill>
                    <a:srgbClr val="FFC000"/>
                  </a:solidFill>
                  <a:prstDash val="solid"/>
                </a:ln>
              </c:spPr>
            </c:marker>
            <c:bubble3D val="0"/>
            <c:extLst>
              <c:ext uri="{C3380CC4-5D6E-409C-BE32-E72D297353CC}">
                <c16:uniqueId val="{00000016-8785-41CE-8F51-04F2A9911018}"/>
              </c:ext>
            </c:extLst>
          </c:dPt>
          <c:dPt>
            <c:idx val="12"/>
            <c:marker>
              <c:symbol val="dash"/>
              <c:size val="12"/>
              <c:spPr>
                <a:solidFill>
                  <a:srgbClr val="FFC000"/>
                </a:solidFill>
                <a:ln w="9525" cmpd="sng" algn="ctr">
                  <a:solidFill>
                    <a:srgbClr val="FFC000"/>
                  </a:solidFill>
                  <a:prstDash val="solid"/>
                </a:ln>
              </c:spPr>
            </c:marker>
            <c:bubble3D val="0"/>
            <c:extLst>
              <c:ext uri="{C3380CC4-5D6E-409C-BE32-E72D297353CC}">
                <c16:uniqueId val="{00000017-8785-41CE-8F51-04F2A9911018}"/>
              </c:ext>
            </c:extLst>
          </c:dPt>
          <c:dPt>
            <c:idx val="13"/>
            <c:marker>
              <c:symbol val="dash"/>
              <c:size val="12"/>
              <c:spPr>
                <a:solidFill>
                  <a:srgbClr val="FFC000"/>
                </a:solidFill>
                <a:ln w="9525" cmpd="sng" algn="ctr">
                  <a:solidFill>
                    <a:srgbClr val="FFC000"/>
                  </a:solidFill>
                  <a:prstDash val="solid"/>
                </a:ln>
              </c:spPr>
            </c:marker>
            <c:bubble3D val="0"/>
            <c:extLst>
              <c:ext uri="{C3380CC4-5D6E-409C-BE32-E72D297353CC}">
                <c16:uniqueId val="{00000018-8785-41CE-8F51-04F2A9911018}"/>
              </c:ext>
            </c:extLst>
          </c:dPt>
          <c:dPt>
            <c:idx val="14"/>
            <c:marker>
              <c:symbol val="dash"/>
              <c:size val="12"/>
              <c:spPr>
                <a:solidFill>
                  <a:srgbClr val="FFC000"/>
                </a:solidFill>
                <a:ln w="9525" cmpd="sng" algn="ctr">
                  <a:solidFill>
                    <a:srgbClr val="FFC000"/>
                  </a:solidFill>
                  <a:prstDash val="solid"/>
                </a:ln>
              </c:spPr>
            </c:marker>
            <c:bubble3D val="0"/>
            <c:extLst>
              <c:ext uri="{C3380CC4-5D6E-409C-BE32-E72D297353CC}">
                <c16:uniqueId val="{00000019-8785-41CE-8F51-04F2A9911018}"/>
              </c:ext>
            </c:extLst>
          </c:dPt>
          <c:val>
            <c:numRef>
              <c:f>Sheet1!$A$2:$O$2</c:f>
              <c:numCache>
                <c:formatCode>General</c:formatCode>
                <c:ptCount val="15"/>
                <c:pt idx="0">
                  <c:v>5.2</c:v>
                </c:pt>
                <c:pt idx="1">
                  <c:v>2.2</c:v>
                </c:pt>
                <c:pt idx="2">
                  <c:v>2</c:v>
                </c:pt>
                <c:pt idx="3">
                  <c:v>5.6</c:v>
                </c:pt>
                <c:pt idx="4">
                  <c:v>2.3</c:v>
                </c:pt>
                <c:pt idx="5">
                  <c:v>17.8</c:v>
                </c:pt>
                <c:pt idx="6">
                  <c:v>42.1</c:v>
                </c:pt>
                <c:pt idx="7">
                  <c:v>13.4</c:v>
                </c:pt>
                <c:pt idx="8">
                  <c:v>12.7</c:v>
                </c:pt>
                <c:pt idx="9">
                  <c:v>53.3</c:v>
                </c:pt>
                <c:pt idx="10">
                  <c:v>22.2</c:v>
                </c:pt>
                <c:pt idx="11">
                  <c:v>27.4</c:v>
                </c:pt>
                <c:pt idx="12">
                  <c:v>29.8</c:v>
                </c:pt>
                <c:pt idx="13">
                  <c:v>37.8</c:v>
                </c:pt>
                <c:pt idx="14">
                  <c:v>54</c:v>
                </c:pt>
              </c:numCache>
            </c:numRef>
          </c:val>
          <c:smooth val="0"/>
          <c:extLst>
            <c:ext uri="{C3380CC4-5D6E-409C-BE32-E72D297353CC}">
              <c16:uniqueId val="{0000001A-8785-41CE-8F51-04F2A9911018}"/>
            </c:ext>
          </c:extLst>
        </c:ser>
        <c:dLbls>
          <c:showLegendKey val="0"/>
          <c:showVal val="0"/>
          <c:showCatName val="0"/>
          <c:showSerName val="0"/>
          <c:showPercent val="0"/>
          <c:showBubbleSize val="0"/>
        </c:dLbls>
        <c:marker val="1"/>
        <c:smooth val="0"/>
        <c:axId val="2"/>
        <c:axId val="3"/>
      </c:lineChart>
      <c:catAx>
        <c:axId val="13775033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0"/>
          <c:min val="0"/>
        </c:scaling>
        <c:delete val="0"/>
        <c:axPos val="l"/>
        <c:majorGridlines>
          <c:spPr>
            <a:ln>
              <a:noFill/>
            </a:ln>
          </c:spPr>
        </c:majorGridlines>
        <c:numFmt formatCode="General" sourceLinked="1"/>
        <c:majorTickMark val="none"/>
        <c:minorTickMark val="none"/>
        <c:tickLblPos val="none"/>
        <c:spPr>
          <a:ln w="9525" cmpd="sng" algn="ctr">
            <a:solidFill>
              <a:srgbClr val="000000"/>
            </a:solidFill>
            <a:prstDash val="solid"/>
          </a:ln>
        </c:spPr>
        <c:crossAx val="1377503392"/>
        <c:crosses val="min"/>
        <c:crossBetween val="between"/>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50"/>
        </c:scaling>
        <c:delete val="0"/>
        <c:axPos val="r"/>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800" kern="1200">
                <a:solidFill>
                  <a:srgbClr val="000000"/>
                </a:solidFill>
                <a:latin typeface="+mn-lt"/>
                <a:ea typeface="+mn-ea"/>
                <a:cs typeface="+mn-cs"/>
              </a:defRPr>
            </a:pPr>
            <a:endParaRPr lang="en-US"/>
          </a:p>
        </c:txPr>
        <c:crossAx val="2"/>
        <c:crosses val="max"/>
        <c:crossBetween val="between"/>
        <c:majorUnit val="50"/>
      </c:valAx>
    </c:plotArea>
    <c:plotVisOnly val="0"/>
    <c:dispBlanksAs val="gap"/>
    <c:showDLblsOverMax val="1"/>
  </c:chart>
  <c:externalData r:id="rId1">
    <c:autoUpdate val="0"/>
  </c:externalData>
</c:chartSpace>
</file>

<file path=ppt/charts/chart14.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6.1571125265392782E-2"/>
          <c:y val="5.9191329720716966E-2"/>
          <c:w val="0.92616183062042934"/>
          <c:h val="0.88161734055856611"/>
        </c:manualLayout>
      </c:layout>
      <c:barChart>
        <c:barDir val="col"/>
        <c:grouping val="stacked"/>
        <c:varyColors val="0"/>
        <c:ser>
          <c:idx val="0"/>
          <c:order val="0"/>
          <c:spPr>
            <a:solidFill>
              <a:srgbClr val="364D6E"/>
            </a:solidFill>
            <a:ln>
              <a:noFill/>
            </a:ln>
          </c:spPr>
          <c:invertIfNegative val="0"/>
          <c:dPt>
            <c:idx val="0"/>
            <c:invertIfNegative val="0"/>
            <c:bubble3D val="0"/>
            <c:spPr>
              <a:solidFill>
                <a:srgbClr val="C0C0C0"/>
              </a:solidFill>
              <a:ln>
                <a:noFill/>
              </a:ln>
            </c:spPr>
            <c:extLst>
              <c:ext uri="{C3380CC4-5D6E-409C-BE32-E72D297353CC}">
                <c16:uniqueId val="{00000000-8069-43FD-A691-2750ED4C430E}"/>
              </c:ext>
            </c:extLst>
          </c:dPt>
          <c:dPt>
            <c:idx val="1"/>
            <c:invertIfNegative val="0"/>
            <c:bubble3D val="0"/>
            <c:spPr>
              <a:solidFill>
                <a:srgbClr val="C0C0C0"/>
              </a:solidFill>
              <a:ln>
                <a:noFill/>
              </a:ln>
            </c:spPr>
            <c:extLst>
              <c:ext uri="{C3380CC4-5D6E-409C-BE32-E72D297353CC}">
                <c16:uniqueId val="{00000001-8069-43FD-A691-2750ED4C430E}"/>
              </c:ext>
            </c:extLst>
          </c:dPt>
          <c:dPt>
            <c:idx val="2"/>
            <c:invertIfNegative val="0"/>
            <c:bubble3D val="0"/>
            <c:spPr>
              <a:solidFill>
                <a:srgbClr val="000000"/>
              </a:solidFill>
              <a:ln>
                <a:noFill/>
              </a:ln>
            </c:spPr>
            <c:extLst>
              <c:ext uri="{C3380CC4-5D6E-409C-BE32-E72D297353CC}">
                <c16:uniqueId val="{00000002-8069-43FD-A691-2750ED4C430E}"/>
              </c:ext>
            </c:extLst>
          </c:dPt>
          <c:dPt>
            <c:idx val="3"/>
            <c:invertIfNegative val="0"/>
            <c:bubble3D val="0"/>
            <c:spPr>
              <a:solidFill>
                <a:srgbClr val="000000"/>
              </a:solidFill>
              <a:ln>
                <a:noFill/>
              </a:ln>
            </c:spPr>
            <c:extLst>
              <c:ext uri="{C3380CC4-5D6E-409C-BE32-E72D297353CC}">
                <c16:uniqueId val="{00000003-8069-43FD-A691-2750ED4C430E}"/>
              </c:ext>
            </c:extLst>
          </c:dPt>
          <c:dPt>
            <c:idx val="4"/>
            <c:invertIfNegative val="0"/>
            <c:bubble3D val="0"/>
            <c:spPr>
              <a:solidFill>
                <a:srgbClr val="000000"/>
              </a:solidFill>
              <a:ln>
                <a:noFill/>
              </a:ln>
            </c:spPr>
            <c:extLst>
              <c:ext uri="{C3380CC4-5D6E-409C-BE32-E72D297353CC}">
                <c16:uniqueId val="{00000004-8069-43FD-A691-2750ED4C430E}"/>
              </c:ext>
            </c:extLst>
          </c:dPt>
          <c:dPt>
            <c:idx val="5"/>
            <c:invertIfNegative val="0"/>
            <c:bubble3D val="0"/>
            <c:spPr>
              <a:solidFill>
                <a:srgbClr val="9DB1CF"/>
              </a:solidFill>
              <a:ln>
                <a:noFill/>
              </a:ln>
            </c:spPr>
            <c:extLst>
              <c:ext uri="{C3380CC4-5D6E-409C-BE32-E72D297353CC}">
                <c16:uniqueId val="{00000005-8069-43FD-A691-2750ED4C430E}"/>
              </c:ext>
            </c:extLst>
          </c:dPt>
          <c:dLbls>
            <c:dLbl>
              <c:idx val="2"/>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8069-43FD-A691-2750ED4C430E}"/>
                </c:ext>
              </c:extLst>
            </c:dLbl>
            <c:dLbl>
              <c:idx val="5"/>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5-8069-43FD-A691-2750ED4C430E}"/>
                </c:ext>
              </c:extLst>
            </c:dLbl>
            <c:dLbl>
              <c:idx val="7"/>
              <c:layout>
                <c:manualLayout>
                  <c:x val="0"/>
                  <c:y val="-9.295539808253439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6-8069-43FD-A691-2750ED4C430E}"/>
                </c:ext>
              </c:extLst>
            </c:dLbl>
            <c:dLbl>
              <c:idx val="8"/>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7-8069-43FD-A691-2750ED4C430E}"/>
                </c:ext>
              </c:extLst>
            </c:dLbl>
            <c:dLbl>
              <c:idx val="10"/>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8-8069-43FD-A691-2750ED4C430E}"/>
                </c:ext>
              </c:extLst>
            </c:dLbl>
            <c:dLbl>
              <c:idx val="11"/>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9-8069-43FD-A691-2750ED4C430E}"/>
                </c:ext>
              </c:extLst>
            </c:dLbl>
            <c:dLbl>
              <c:idx val="13"/>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A-8069-43FD-A691-2750ED4C430E}"/>
                </c:ext>
              </c:extLst>
            </c:dLbl>
            <c:dLbl>
              <c:idx val="15"/>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B-8069-43FD-A691-2750ED4C430E}"/>
                </c:ext>
              </c:extLst>
            </c:dLbl>
            <c:dLbl>
              <c:idx val="16"/>
              <c:layout>
                <c:manualLayout>
                  <c:x val="0"/>
                  <c:y val="-9.295539808253439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C-8069-43FD-A691-2750ED4C430E}"/>
                </c:ext>
              </c:extLst>
            </c:dLbl>
            <c:dLbl>
              <c:idx val="21"/>
              <c:layout>
                <c:manualLayout>
                  <c:x val="0"/>
                  <c:y val="-7.086285952480200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D-8069-43FD-A691-2750ED4C430E}"/>
                </c:ext>
              </c:extLst>
            </c:dLbl>
            <c:dLbl>
              <c:idx val="22"/>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E-8069-43FD-A691-2750ED4C430E}"/>
                </c:ext>
              </c:extLst>
            </c:dLbl>
            <c:dLbl>
              <c:idx val="23"/>
              <c:layout>
                <c:manualLayout>
                  <c:x val="0"/>
                  <c:y val="-4.8770320967069611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F-8069-43FD-A691-2750ED4C430E}"/>
                </c:ext>
              </c:extLst>
            </c:dLbl>
            <c:dLbl>
              <c:idx val="24"/>
              <c:layout>
                <c:manualLayout>
                  <c:x val="0"/>
                  <c:y val="-0.11504793664026677"/>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0-8069-43FD-A691-2750ED4C430E}"/>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Sheet1!$A$1:$Y$1</c:f>
              <c:numCache>
                <c:formatCode>General</c:formatCode>
                <c:ptCount val="25"/>
                <c:pt idx="0">
                  <c:v>1</c:v>
                </c:pt>
                <c:pt idx="1">
                  <c:v>2</c:v>
                </c:pt>
                <c:pt idx="2">
                  <c:v>2</c:v>
                </c:pt>
                <c:pt idx="3">
                  <c:v>5</c:v>
                </c:pt>
                <c:pt idx="4">
                  <c:v>5</c:v>
                </c:pt>
                <c:pt idx="5">
                  <c:v>-1</c:v>
                </c:pt>
                <c:pt idx="6">
                  <c:v>-1</c:v>
                </c:pt>
                <c:pt idx="7">
                  <c:v>-3</c:v>
                </c:pt>
                <c:pt idx="8">
                  <c:v>-2</c:v>
                </c:pt>
                <c:pt idx="10">
                  <c:v>-1</c:v>
                </c:pt>
                <c:pt idx="11">
                  <c:v>-1</c:v>
                </c:pt>
                <c:pt idx="12">
                  <c:v>-1</c:v>
                </c:pt>
                <c:pt idx="13">
                  <c:v>-2</c:v>
                </c:pt>
                <c:pt idx="14">
                  <c:v>-2</c:v>
                </c:pt>
                <c:pt idx="15">
                  <c:v>-2</c:v>
                </c:pt>
                <c:pt idx="16">
                  <c:v>-3</c:v>
                </c:pt>
                <c:pt idx="17">
                  <c:v>-2</c:v>
                </c:pt>
                <c:pt idx="18">
                  <c:v>-6</c:v>
                </c:pt>
                <c:pt idx="19">
                  <c:v>-5</c:v>
                </c:pt>
                <c:pt idx="20">
                  <c:v>-1</c:v>
                </c:pt>
                <c:pt idx="21">
                  <c:v>-2</c:v>
                </c:pt>
                <c:pt idx="22">
                  <c:v>-1</c:v>
                </c:pt>
                <c:pt idx="23">
                  <c:v>-1</c:v>
                </c:pt>
                <c:pt idx="24">
                  <c:v>-4</c:v>
                </c:pt>
              </c:numCache>
            </c:numRef>
          </c:val>
          <c:extLst>
            <c:ext uri="{C3380CC4-5D6E-409C-BE32-E72D297353CC}">
              <c16:uniqueId val="{00000011-8069-43FD-A691-2750ED4C430E}"/>
            </c:ext>
          </c:extLst>
        </c:ser>
        <c:ser>
          <c:idx val="1"/>
          <c:order val="1"/>
          <c:spPr>
            <a:solidFill>
              <a:srgbClr val="9DB1CF"/>
            </a:solidFill>
            <a:ln>
              <a:noFill/>
            </a:ln>
          </c:spPr>
          <c:invertIfNegative val="0"/>
          <c:dPt>
            <c:idx val="0"/>
            <c:invertIfNegative val="0"/>
            <c:bubble3D val="0"/>
            <c:spPr>
              <a:solidFill>
                <a:srgbClr val="364D6E"/>
              </a:solidFill>
              <a:ln>
                <a:noFill/>
              </a:ln>
            </c:spPr>
            <c:extLst>
              <c:ext uri="{C3380CC4-5D6E-409C-BE32-E72D297353CC}">
                <c16:uniqueId val="{00000012-8069-43FD-A691-2750ED4C430E}"/>
              </c:ext>
            </c:extLst>
          </c:dPt>
          <c:dPt>
            <c:idx val="3"/>
            <c:invertIfNegative val="0"/>
            <c:bubble3D val="0"/>
            <c:spPr>
              <a:solidFill>
                <a:srgbClr val="364D6E"/>
              </a:solidFill>
              <a:ln>
                <a:noFill/>
              </a:ln>
            </c:spPr>
            <c:extLst>
              <c:ext uri="{C3380CC4-5D6E-409C-BE32-E72D297353CC}">
                <c16:uniqueId val="{00000013-8069-43FD-A691-2750ED4C430E}"/>
              </c:ext>
            </c:extLst>
          </c:dPt>
          <c:dPt>
            <c:idx val="12"/>
            <c:invertIfNegative val="0"/>
            <c:bubble3D val="0"/>
            <c:spPr>
              <a:solidFill>
                <a:srgbClr val="6F8DB9"/>
              </a:solidFill>
              <a:ln>
                <a:noFill/>
              </a:ln>
            </c:spPr>
            <c:extLst>
              <c:ext uri="{C3380CC4-5D6E-409C-BE32-E72D297353CC}">
                <c16:uniqueId val="{00000014-8069-43FD-A691-2750ED4C430E}"/>
              </c:ext>
            </c:extLst>
          </c:dPt>
          <c:dPt>
            <c:idx val="14"/>
            <c:invertIfNegative val="0"/>
            <c:bubble3D val="0"/>
            <c:spPr>
              <a:solidFill>
                <a:srgbClr val="4C6C9C"/>
              </a:solidFill>
              <a:ln>
                <a:noFill/>
              </a:ln>
            </c:spPr>
            <c:extLst>
              <c:ext uri="{C3380CC4-5D6E-409C-BE32-E72D297353CC}">
                <c16:uniqueId val="{00000015-8069-43FD-A691-2750ED4C430E}"/>
              </c:ext>
            </c:extLst>
          </c:dPt>
          <c:dPt>
            <c:idx val="17"/>
            <c:invertIfNegative val="0"/>
            <c:bubble3D val="0"/>
            <c:spPr>
              <a:solidFill>
                <a:srgbClr val="4C6C9C"/>
              </a:solidFill>
              <a:ln>
                <a:noFill/>
              </a:ln>
            </c:spPr>
            <c:extLst>
              <c:ext uri="{C3380CC4-5D6E-409C-BE32-E72D297353CC}">
                <c16:uniqueId val="{00000016-8069-43FD-A691-2750ED4C430E}"/>
              </c:ext>
            </c:extLst>
          </c:dPt>
          <c:dPt>
            <c:idx val="19"/>
            <c:invertIfNegative val="0"/>
            <c:bubble3D val="0"/>
            <c:spPr>
              <a:solidFill>
                <a:srgbClr val="4C6C9C"/>
              </a:solidFill>
              <a:ln>
                <a:noFill/>
              </a:ln>
            </c:spPr>
            <c:extLst>
              <c:ext uri="{C3380CC4-5D6E-409C-BE32-E72D297353CC}">
                <c16:uniqueId val="{00000017-8069-43FD-A691-2750ED4C430E}"/>
              </c:ext>
            </c:extLst>
          </c:dPt>
          <c:val>
            <c:numRef>
              <c:f>Sheet1!$A$2:$Y$2</c:f>
              <c:numCache>
                <c:formatCode>General</c:formatCode>
                <c:ptCount val="25"/>
                <c:pt idx="0">
                  <c:v>-1</c:v>
                </c:pt>
                <c:pt idx="1">
                  <c:v>-3</c:v>
                </c:pt>
                <c:pt idx="3">
                  <c:v>-1</c:v>
                </c:pt>
                <c:pt idx="4">
                  <c:v>-1</c:v>
                </c:pt>
                <c:pt idx="6">
                  <c:v>-1</c:v>
                </c:pt>
                <c:pt idx="12">
                  <c:v>-1</c:v>
                </c:pt>
                <c:pt idx="14">
                  <c:v>-1</c:v>
                </c:pt>
                <c:pt idx="17">
                  <c:v>-2</c:v>
                </c:pt>
                <c:pt idx="18">
                  <c:v>-1</c:v>
                </c:pt>
                <c:pt idx="19">
                  <c:v>-1</c:v>
                </c:pt>
                <c:pt idx="20">
                  <c:v>-1</c:v>
                </c:pt>
              </c:numCache>
            </c:numRef>
          </c:val>
          <c:extLst>
            <c:ext uri="{C3380CC4-5D6E-409C-BE32-E72D297353CC}">
              <c16:uniqueId val="{00000018-8069-43FD-A691-2750ED4C430E}"/>
            </c:ext>
          </c:extLst>
        </c:ser>
        <c:ser>
          <c:idx val="2"/>
          <c:order val="2"/>
          <c:spPr>
            <a:solidFill>
              <a:srgbClr val="9DB1CF"/>
            </a:solidFill>
            <a:ln>
              <a:noFill/>
            </a:ln>
          </c:spPr>
          <c:invertIfNegative val="0"/>
          <c:dPt>
            <c:idx val="0"/>
            <c:invertIfNegative val="0"/>
            <c:bubble3D val="0"/>
            <c:spPr>
              <a:solidFill>
                <a:srgbClr val="6F8DB9"/>
              </a:solidFill>
              <a:ln>
                <a:noFill/>
              </a:ln>
            </c:spPr>
            <c:extLst>
              <c:ext uri="{C3380CC4-5D6E-409C-BE32-E72D297353CC}">
                <c16:uniqueId val="{00000019-8069-43FD-A691-2750ED4C430E}"/>
              </c:ext>
            </c:extLst>
          </c:dPt>
          <c:val>
            <c:numRef>
              <c:f>Sheet1!$A$3:$Y$3</c:f>
              <c:numCache>
                <c:formatCode>General</c:formatCode>
                <c:ptCount val="25"/>
                <c:pt idx="0">
                  <c:v>-5</c:v>
                </c:pt>
                <c:pt idx="17">
                  <c:v>-1</c:v>
                </c:pt>
                <c:pt idx="19">
                  <c:v>-1</c:v>
                </c:pt>
              </c:numCache>
            </c:numRef>
          </c:val>
          <c:extLst>
            <c:ext uri="{C3380CC4-5D6E-409C-BE32-E72D297353CC}">
              <c16:uniqueId val="{0000001A-8069-43FD-A691-2750ED4C430E}"/>
            </c:ext>
          </c:extLst>
        </c:ser>
        <c:ser>
          <c:idx val="3"/>
          <c:order val="3"/>
          <c:spPr>
            <a:solidFill>
              <a:srgbClr val="9DB1CF"/>
            </a:solidFill>
            <a:ln>
              <a:noFill/>
            </a:ln>
          </c:spPr>
          <c:invertIfNegative val="0"/>
          <c:val>
            <c:numRef>
              <c:f>Sheet1!$A$4:$Y$4</c:f>
              <c:numCache>
                <c:formatCode>General</c:formatCode>
                <c:ptCount val="25"/>
                <c:pt idx="0">
                  <c:v>-4</c:v>
                </c:pt>
              </c:numCache>
            </c:numRef>
          </c:val>
          <c:extLst>
            <c:ext uri="{C3380CC4-5D6E-409C-BE32-E72D297353CC}">
              <c16:uniqueId val="{0000001B-8069-43FD-A691-2750ED4C430E}"/>
            </c:ext>
          </c:extLst>
        </c:ser>
        <c:dLbls>
          <c:showLegendKey val="0"/>
          <c:showVal val="0"/>
          <c:showCatName val="0"/>
          <c:showSerName val="0"/>
          <c:showPercent val="0"/>
          <c:showBubbleSize val="0"/>
        </c:dLbls>
        <c:gapWidth val="130"/>
        <c:overlap val="100"/>
        <c:axId val="230019328"/>
        <c:axId val="1"/>
      </c:barChart>
      <c:catAx>
        <c:axId val="23001932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10"/>
          <c:min val="-1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230019328"/>
        <c:crosses val="min"/>
        <c:crossBetween val="between"/>
        <c:majorUnit val="5"/>
      </c:valAx>
    </c:plotArea>
    <c:plotVisOnly val="0"/>
    <c:dispBlanksAs val="gap"/>
    <c:showDLblsOverMax val="1"/>
  </c:chart>
  <c:externalData r:id="rId1">
    <c:autoUpdate val="0"/>
  </c:externalData>
</c:chartSpace>
</file>

<file path=ppt/charts/chart15.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6.1571125265392782E-2"/>
          <c:y val="5.6528662420382167E-2"/>
          <c:w val="0.92616183062042934"/>
          <c:h val="0.88694267515923564"/>
        </c:manualLayout>
      </c:layout>
      <c:barChart>
        <c:barDir val="col"/>
        <c:grouping val="stacked"/>
        <c:varyColors val="0"/>
        <c:ser>
          <c:idx val="0"/>
          <c:order val="0"/>
          <c:spPr>
            <a:solidFill>
              <a:srgbClr val="4C6C9C"/>
            </a:solidFill>
            <a:ln>
              <a:noFill/>
            </a:ln>
          </c:spPr>
          <c:invertIfNegative val="0"/>
          <c:dPt>
            <c:idx val="1"/>
            <c:invertIfNegative val="0"/>
            <c:bubble3D val="0"/>
            <c:spPr>
              <a:solidFill>
                <a:srgbClr val="9DB1CF"/>
              </a:solidFill>
              <a:ln>
                <a:noFill/>
              </a:ln>
            </c:spPr>
            <c:extLst>
              <c:ext uri="{C3380CC4-5D6E-409C-BE32-E72D297353CC}">
                <c16:uniqueId val="{00000000-BCE5-47A4-AC77-8BBBAAE908D6}"/>
              </c:ext>
            </c:extLst>
          </c:dPt>
          <c:dLbls>
            <c:dLbl>
              <c:idx val="1"/>
              <c:layout>
                <c:manualLayout>
                  <c:x val="0"/>
                  <c:y val="-5.53343949044586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BCE5-47A4-AC77-8BBBAAE908D6}"/>
                </c:ext>
              </c:extLst>
            </c:dLbl>
            <c:dLbl>
              <c:idx val="19"/>
              <c:layout>
                <c:manualLayout>
                  <c:x val="0"/>
                  <c:y val="-0.19307324840764331"/>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BCE5-47A4-AC77-8BBBAAE908D6}"/>
                </c:ext>
              </c:extLst>
            </c:dLbl>
            <c:dLbl>
              <c:idx val="20"/>
              <c:layout>
                <c:manualLayout>
                  <c:x val="0"/>
                  <c:y val="-0.1142515923566879"/>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BCE5-47A4-AC77-8BBBAAE908D6}"/>
                </c:ext>
              </c:extLst>
            </c:dLbl>
            <c:dLbl>
              <c:idx val="21"/>
              <c:layout>
                <c:manualLayout>
                  <c:x val="0"/>
                  <c:y val="-6.4888535031847133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3-BCE5-47A4-AC77-8BBBAAE908D6}"/>
                </c:ext>
              </c:extLst>
            </c:dLbl>
            <c:dLbl>
              <c:idx val="22"/>
              <c:layout>
                <c:manualLayout>
                  <c:x val="0"/>
                  <c:y val="-6.4888535031847133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4-BCE5-47A4-AC77-8BBBAAE908D6}"/>
                </c:ext>
              </c:extLst>
            </c:dLbl>
            <c:dLbl>
              <c:idx val="23"/>
              <c:layout>
                <c:manualLayout>
                  <c:x val="0"/>
                  <c:y val="-4.4984076433121016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5-BCE5-47A4-AC77-8BBBAAE908D6}"/>
                </c:ext>
              </c:extLst>
            </c:dLbl>
            <c:dLbl>
              <c:idx val="24"/>
              <c:layout>
                <c:manualLayout>
                  <c:x val="0"/>
                  <c:y val="-3.5429936305732483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6-BCE5-47A4-AC77-8BBBAAE908D6}"/>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Sheet1!$A$1:$Y$1</c:f>
              <c:numCache>
                <c:formatCode>General</c:formatCode>
                <c:ptCount val="25"/>
                <c:pt idx="0">
                  <c:v>-2</c:v>
                </c:pt>
                <c:pt idx="1">
                  <c:v>-3</c:v>
                </c:pt>
                <c:pt idx="2">
                  <c:v>-8</c:v>
                </c:pt>
                <c:pt idx="3">
                  <c:v>-12</c:v>
                </c:pt>
                <c:pt idx="4">
                  <c:v>-9</c:v>
                </c:pt>
                <c:pt idx="5">
                  <c:v>-3</c:v>
                </c:pt>
                <c:pt idx="6">
                  <c:v>-8</c:v>
                </c:pt>
                <c:pt idx="7">
                  <c:v>-14</c:v>
                </c:pt>
                <c:pt idx="8">
                  <c:v>-5</c:v>
                </c:pt>
                <c:pt idx="9">
                  <c:v>-5</c:v>
                </c:pt>
                <c:pt idx="10">
                  <c:v>-5</c:v>
                </c:pt>
                <c:pt idx="11">
                  <c:v>-11</c:v>
                </c:pt>
                <c:pt idx="12">
                  <c:v>-9</c:v>
                </c:pt>
                <c:pt idx="13">
                  <c:v>-9</c:v>
                </c:pt>
                <c:pt idx="14">
                  <c:v>-14</c:v>
                </c:pt>
                <c:pt idx="15">
                  <c:v>-4</c:v>
                </c:pt>
                <c:pt idx="16">
                  <c:v>-8</c:v>
                </c:pt>
                <c:pt idx="17">
                  <c:v>-14</c:v>
                </c:pt>
                <c:pt idx="18">
                  <c:v>-27</c:v>
                </c:pt>
                <c:pt idx="19">
                  <c:v>-17</c:v>
                </c:pt>
                <c:pt idx="20">
                  <c:v>-9</c:v>
                </c:pt>
                <c:pt idx="21">
                  <c:v>-4</c:v>
                </c:pt>
                <c:pt idx="22">
                  <c:v>-4</c:v>
                </c:pt>
                <c:pt idx="23">
                  <c:v>-2</c:v>
                </c:pt>
                <c:pt idx="24">
                  <c:v>-1</c:v>
                </c:pt>
              </c:numCache>
            </c:numRef>
          </c:val>
          <c:extLst>
            <c:ext uri="{C3380CC4-5D6E-409C-BE32-E72D297353CC}">
              <c16:uniqueId val="{00000007-BCE5-47A4-AC77-8BBBAAE908D6}"/>
            </c:ext>
          </c:extLst>
        </c:ser>
        <c:ser>
          <c:idx val="1"/>
          <c:order val="1"/>
          <c:spPr>
            <a:solidFill>
              <a:srgbClr val="9DB1CF"/>
            </a:solidFill>
            <a:ln>
              <a:noFill/>
            </a:ln>
          </c:spPr>
          <c:invertIfNegative val="0"/>
          <c:val>
            <c:numRef>
              <c:f>Sheet1!$A$2:$Y$2</c:f>
              <c:numCache>
                <c:formatCode>General</c:formatCode>
                <c:ptCount val="25"/>
                <c:pt idx="0">
                  <c:v>-30</c:v>
                </c:pt>
                <c:pt idx="2">
                  <c:v>-3</c:v>
                </c:pt>
                <c:pt idx="3">
                  <c:v>-3</c:v>
                </c:pt>
                <c:pt idx="4">
                  <c:v>-7</c:v>
                </c:pt>
                <c:pt idx="5">
                  <c:v>-4</c:v>
                </c:pt>
                <c:pt idx="6">
                  <c:v>-7</c:v>
                </c:pt>
                <c:pt idx="7">
                  <c:v>-9</c:v>
                </c:pt>
                <c:pt idx="8">
                  <c:v>-7</c:v>
                </c:pt>
                <c:pt idx="9">
                  <c:v>-2</c:v>
                </c:pt>
                <c:pt idx="10">
                  <c:v>-3</c:v>
                </c:pt>
                <c:pt idx="11">
                  <c:v>-5</c:v>
                </c:pt>
                <c:pt idx="12">
                  <c:v>-4</c:v>
                </c:pt>
                <c:pt idx="13">
                  <c:v>-6</c:v>
                </c:pt>
                <c:pt idx="14">
                  <c:v>-6</c:v>
                </c:pt>
                <c:pt idx="15">
                  <c:v>-2</c:v>
                </c:pt>
                <c:pt idx="16">
                  <c:v>-2</c:v>
                </c:pt>
                <c:pt idx="17">
                  <c:v>-1</c:v>
                </c:pt>
                <c:pt idx="18">
                  <c:v>-1</c:v>
                </c:pt>
              </c:numCache>
            </c:numRef>
          </c:val>
          <c:extLst>
            <c:ext uri="{C3380CC4-5D6E-409C-BE32-E72D297353CC}">
              <c16:uniqueId val="{00000008-BCE5-47A4-AC77-8BBBAAE908D6}"/>
            </c:ext>
          </c:extLst>
        </c:ser>
        <c:dLbls>
          <c:showLegendKey val="0"/>
          <c:showVal val="0"/>
          <c:showCatName val="0"/>
          <c:showSerName val="0"/>
          <c:showPercent val="0"/>
          <c:showBubbleSize val="0"/>
        </c:dLbls>
        <c:gapWidth val="130"/>
        <c:overlap val="100"/>
        <c:axId val="1663799920"/>
        <c:axId val="1"/>
      </c:barChart>
      <c:catAx>
        <c:axId val="166379992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10"/>
          <c:min val="-35"/>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1663799920"/>
        <c:crosses val="min"/>
        <c:crossBetween val="between"/>
        <c:majorUnit val="5"/>
      </c:valAx>
    </c:plotArea>
    <c:plotVisOnly val="0"/>
    <c:dispBlanksAs val="gap"/>
    <c:showDLblsOverMax val="1"/>
  </c:chart>
  <c:externalData r:id="rId1">
    <c:autoUpdate val="0"/>
  </c:externalData>
</c:chartSpace>
</file>

<file path=ppt/charts/chart16.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4.2624961668199936E-2"/>
          <c:y val="4.3555555555555556E-2"/>
          <c:w val="0.94940202391904327"/>
          <c:h val="0.91288888888888886"/>
        </c:manualLayout>
      </c:layout>
      <c:areaChart>
        <c:grouping val="stacked"/>
        <c:varyColors val="0"/>
        <c:ser>
          <c:idx val="0"/>
          <c:order val="0"/>
          <c:spPr>
            <a:solidFill>
              <a:srgbClr val="808080"/>
            </a:solidFill>
            <a:ln>
              <a:noFill/>
            </a:ln>
          </c:spPr>
          <c:val>
            <c:numRef>
              <c:f>Sheet1!$A$1:$Y$1</c:f>
              <c:numCache>
                <c:formatCode>General</c:formatCode>
                <c:ptCount val="25"/>
                <c:pt idx="0">
                  <c:v>1</c:v>
                </c:pt>
                <c:pt idx="1">
                  <c:v>2</c:v>
                </c:pt>
                <c:pt idx="2">
                  <c:v>2</c:v>
                </c:pt>
                <c:pt idx="3">
                  <c:v>5</c:v>
                </c:pt>
                <c:pt idx="4">
                  <c:v>5</c:v>
                </c:pt>
              </c:numCache>
            </c:numRef>
          </c:val>
          <c:extLst>
            <c:ext uri="{C3380CC4-5D6E-409C-BE32-E72D297353CC}">
              <c16:uniqueId val="{00000000-A781-4C39-903F-30B949D27D40}"/>
            </c:ext>
          </c:extLst>
        </c:ser>
        <c:ser>
          <c:idx val="1"/>
          <c:order val="1"/>
          <c:spPr>
            <a:solidFill>
              <a:srgbClr val="C0C0C0"/>
            </a:solidFill>
            <a:ln>
              <a:noFill/>
            </a:ln>
          </c:spPr>
          <c:val>
            <c:numRef>
              <c:f>Sheet1!$A$2:$Y$2</c:f>
              <c:numCache>
                <c:formatCode>General</c:formatCode>
                <c:ptCount val="25"/>
                <c:pt idx="6">
                  <c:v>9</c:v>
                </c:pt>
                <c:pt idx="7">
                  <c:v>10</c:v>
                </c:pt>
                <c:pt idx="8">
                  <c:v>3</c:v>
                </c:pt>
                <c:pt idx="10">
                  <c:v>2</c:v>
                </c:pt>
                <c:pt idx="11">
                  <c:v>1</c:v>
                </c:pt>
                <c:pt idx="12">
                  <c:v>2</c:v>
                </c:pt>
                <c:pt idx="13">
                  <c:v>2</c:v>
                </c:pt>
                <c:pt idx="14">
                  <c:v>4</c:v>
                </c:pt>
                <c:pt idx="15">
                  <c:v>2</c:v>
                </c:pt>
                <c:pt idx="16">
                  <c:v>4</c:v>
                </c:pt>
                <c:pt idx="17">
                  <c:v>5</c:v>
                </c:pt>
                <c:pt idx="18">
                  <c:v>7</c:v>
                </c:pt>
                <c:pt idx="19">
                  <c:v>7</c:v>
                </c:pt>
                <c:pt idx="20">
                  <c:v>1</c:v>
                </c:pt>
                <c:pt idx="21">
                  <c:v>1</c:v>
                </c:pt>
                <c:pt idx="23">
                  <c:v>2</c:v>
                </c:pt>
                <c:pt idx="24">
                  <c:v>3</c:v>
                </c:pt>
              </c:numCache>
            </c:numRef>
          </c:val>
          <c:extLst>
            <c:ext uri="{C3380CC4-5D6E-409C-BE32-E72D297353CC}">
              <c16:uniqueId val="{00000001-A781-4C39-903F-30B949D27D40}"/>
            </c:ext>
          </c:extLst>
        </c:ser>
        <c:ser>
          <c:idx val="2"/>
          <c:order val="2"/>
          <c:spPr>
            <a:solidFill>
              <a:srgbClr val="364D6E"/>
            </a:solidFill>
            <a:ln>
              <a:noFill/>
            </a:ln>
          </c:spPr>
          <c:val>
            <c:numRef>
              <c:f>Sheet1!$A$3:$Y$3</c:f>
              <c:numCache>
                <c:formatCode>General</c:formatCode>
                <c:ptCount val="25"/>
                <c:pt idx="3">
                  <c:v>7</c:v>
                </c:pt>
                <c:pt idx="4">
                  <c:v>15</c:v>
                </c:pt>
                <c:pt idx="5">
                  <c:v>30</c:v>
                </c:pt>
                <c:pt idx="6">
                  <c:v>41</c:v>
                </c:pt>
                <c:pt idx="7">
                  <c:v>23</c:v>
                </c:pt>
                <c:pt idx="8">
                  <c:v>19</c:v>
                </c:pt>
                <c:pt idx="9">
                  <c:v>11</c:v>
                </c:pt>
                <c:pt idx="10">
                  <c:v>6</c:v>
                </c:pt>
                <c:pt idx="11">
                  <c:v>4</c:v>
                </c:pt>
                <c:pt idx="12">
                  <c:v>6</c:v>
                </c:pt>
                <c:pt idx="13">
                  <c:v>4</c:v>
                </c:pt>
                <c:pt idx="14">
                  <c:v>6</c:v>
                </c:pt>
                <c:pt idx="15">
                  <c:v>3</c:v>
                </c:pt>
                <c:pt idx="16">
                  <c:v>2</c:v>
                </c:pt>
                <c:pt idx="17">
                  <c:v>3</c:v>
                </c:pt>
                <c:pt idx="18">
                  <c:v>2</c:v>
                </c:pt>
                <c:pt idx="19">
                  <c:v>3</c:v>
                </c:pt>
                <c:pt idx="20">
                  <c:v>2</c:v>
                </c:pt>
                <c:pt idx="21">
                  <c:v>2</c:v>
                </c:pt>
                <c:pt idx="22">
                  <c:v>2</c:v>
                </c:pt>
                <c:pt idx="23">
                  <c:v>2</c:v>
                </c:pt>
                <c:pt idx="24">
                  <c:v>8</c:v>
                </c:pt>
              </c:numCache>
            </c:numRef>
          </c:val>
          <c:extLst>
            <c:ext uri="{C3380CC4-5D6E-409C-BE32-E72D297353CC}">
              <c16:uniqueId val="{00000002-A781-4C39-903F-30B949D27D40}"/>
            </c:ext>
          </c:extLst>
        </c:ser>
        <c:ser>
          <c:idx val="3"/>
          <c:order val="3"/>
          <c:spPr>
            <a:solidFill>
              <a:srgbClr val="4C6C9C"/>
            </a:solidFill>
            <a:ln>
              <a:noFill/>
            </a:ln>
          </c:spPr>
          <c:val>
            <c:numRef>
              <c:f>Sheet1!$A$4:$Y$4</c:f>
              <c:numCache>
                <c:formatCode>General</c:formatCode>
                <c:ptCount val="25"/>
              </c:numCache>
            </c:numRef>
          </c:val>
          <c:extLst>
            <c:ext uri="{C3380CC4-5D6E-409C-BE32-E72D297353CC}">
              <c16:uniqueId val="{00000003-A781-4C39-903F-30B949D27D40}"/>
            </c:ext>
          </c:extLst>
        </c:ser>
        <c:ser>
          <c:idx val="4"/>
          <c:order val="4"/>
          <c:spPr>
            <a:solidFill>
              <a:srgbClr val="6F8DB9"/>
            </a:solidFill>
            <a:ln>
              <a:noFill/>
            </a:ln>
          </c:spPr>
          <c:val>
            <c:numRef>
              <c:f>Sheet1!$A$5:$Y$5</c:f>
              <c:numCache>
                <c:formatCode>General</c:formatCode>
                <c:ptCount val="25"/>
              </c:numCache>
            </c:numRef>
          </c:val>
          <c:extLst>
            <c:ext uri="{C3380CC4-5D6E-409C-BE32-E72D297353CC}">
              <c16:uniqueId val="{00000004-A781-4C39-903F-30B949D27D40}"/>
            </c:ext>
          </c:extLst>
        </c:ser>
        <c:ser>
          <c:idx val="5"/>
          <c:order val="5"/>
          <c:spPr>
            <a:solidFill>
              <a:srgbClr val="9DB1CF"/>
            </a:solidFill>
            <a:ln>
              <a:noFill/>
            </a:ln>
          </c:spPr>
          <c:val>
            <c:numRef>
              <c:f>Sheet1!$A$6:$Y$6</c:f>
              <c:numCache>
                <c:formatCode>General</c:formatCode>
                <c:ptCount val="25"/>
              </c:numCache>
            </c:numRef>
          </c:val>
          <c:extLst>
            <c:ext uri="{C3380CC4-5D6E-409C-BE32-E72D297353CC}">
              <c16:uniqueId val="{00000005-A781-4C39-903F-30B949D27D40}"/>
            </c:ext>
          </c:extLst>
        </c:ser>
        <c:ser>
          <c:idx val="6"/>
          <c:order val="6"/>
          <c:spPr>
            <a:pattFill prst="ltUpDiag">
              <a:fgClr>
                <a:schemeClr val="tx1"/>
              </a:fgClr>
              <a:bgClr>
                <a:schemeClr val="bg1"/>
              </a:bgClr>
            </a:pattFill>
            <a:ln>
              <a:noFill/>
            </a:ln>
          </c:spPr>
          <c:val>
            <c:numRef>
              <c:f>Sheet1!$A$7:$Y$7</c:f>
              <c:numCache>
                <c:formatCode>General</c:formatCode>
                <c:ptCount val="25"/>
                <c:pt idx="7">
                  <c:v>36</c:v>
                </c:pt>
                <c:pt idx="8">
                  <c:v>81</c:v>
                </c:pt>
                <c:pt idx="9">
                  <c:v>106</c:v>
                </c:pt>
                <c:pt idx="10">
                  <c:v>126</c:v>
                </c:pt>
                <c:pt idx="11">
                  <c:v>132</c:v>
                </c:pt>
                <c:pt idx="12">
                  <c:v>131</c:v>
                </c:pt>
                <c:pt idx="13">
                  <c:v>150</c:v>
                </c:pt>
                <c:pt idx="14">
                  <c:v>150</c:v>
                </c:pt>
                <c:pt idx="15">
                  <c:v>156</c:v>
                </c:pt>
                <c:pt idx="16">
                  <c:v>60</c:v>
                </c:pt>
              </c:numCache>
            </c:numRef>
          </c:val>
          <c:extLst>
            <c:ext uri="{C3380CC4-5D6E-409C-BE32-E72D297353CC}">
              <c16:uniqueId val="{00000006-A781-4C39-903F-30B949D27D40}"/>
            </c:ext>
          </c:extLst>
        </c:ser>
        <c:ser>
          <c:idx val="7"/>
          <c:order val="7"/>
          <c:spPr>
            <a:solidFill>
              <a:srgbClr val="C30C3E"/>
            </a:solidFill>
            <a:ln>
              <a:noFill/>
            </a:ln>
          </c:spPr>
          <c:val>
            <c:numRef>
              <c:f>Sheet1!$A$8:$Y$8</c:f>
              <c:numCache>
                <c:formatCode>General</c:formatCode>
                <c:ptCount val="25"/>
                <c:pt idx="16">
                  <c:v>96</c:v>
                </c:pt>
                <c:pt idx="17">
                  <c:v>156</c:v>
                </c:pt>
                <c:pt idx="18">
                  <c:v>156</c:v>
                </c:pt>
                <c:pt idx="19">
                  <c:v>156</c:v>
                </c:pt>
                <c:pt idx="20">
                  <c:v>163</c:v>
                </c:pt>
                <c:pt idx="21">
                  <c:v>163</c:v>
                </c:pt>
                <c:pt idx="22">
                  <c:v>164</c:v>
                </c:pt>
                <c:pt idx="23">
                  <c:v>162</c:v>
                </c:pt>
                <c:pt idx="24">
                  <c:v>155</c:v>
                </c:pt>
              </c:numCache>
            </c:numRef>
          </c:val>
          <c:extLst>
            <c:ext uri="{C3380CC4-5D6E-409C-BE32-E72D297353CC}">
              <c16:uniqueId val="{00000007-A781-4C39-903F-30B949D27D40}"/>
            </c:ext>
          </c:extLst>
        </c:ser>
        <c:dLbls>
          <c:showLegendKey val="0"/>
          <c:showVal val="0"/>
          <c:showCatName val="0"/>
          <c:showSerName val="0"/>
          <c:showPercent val="0"/>
          <c:showBubbleSize val="0"/>
        </c:dLbls>
        <c:axId val="164156592"/>
        <c:axId val="1"/>
      </c:areaChart>
      <c:catAx>
        <c:axId val="1641565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20"/>
          <c:min val="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164156592"/>
        <c:crosses val="min"/>
        <c:crossBetween val="midCat"/>
        <c:majorUnit val="20"/>
      </c:valAx>
    </c:plotArea>
    <c:plotVisOnly val="0"/>
    <c:dispBlanksAs val="zero"/>
    <c:showDLblsOverMax val="1"/>
  </c:chart>
  <c:externalData r:id="rId1">
    <c:autoUpdate val="0"/>
  </c:externalData>
</c:chartSpace>
</file>

<file path=ppt/charts/chart17.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4.2624961668199936E-2"/>
          <c:y val="4.3555555555555556E-2"/>
          <c:w val="0.94940202391904327"/>
          <c:h val="0.91288888888888886"/>
        </c:manualLayout>
      </c:layout>
      <c:areaChart>
        <c:grouping val="stacked"/>
        <c:varyColors val="0"/>
        <c:ser>
          <c:idx val="0"/>
          <c:order val="0"/>
          <c:spPr>
            <a:solidFill>
              <a:srgbClr val="808080"/>
            </a:solidFill>
            <a:ln>
              <a:noFill/>
            </a:ln>
          </c:spPr>
          <c:val>
            <c:numRef>
              <c:f>Sheet1!$A$1:$Y$1</c:f>
              <c:numCache>
                <c:formatCode>General</c:formatCode>
                <c:ptCount val="25"/>
                <c:pt idx="0">
                  <c:v>1</c:v>
                </c:pt>
                <c:pt idx="1">
                  <c:v>2</c:v>
                </c:pt>
                <c:pt idx="2">
                  <c:v>2</c:v>
                </c:pt>
                <c:pt idx="3">
                  <c:v>5</c:v>
                </c:pt>
                <c:pt idx="4">
                  <c:v>5</c:v>
                </c:pt>
              </c:numCache>
            </c:numRef>
          </c:val>
          <c:extLst>
            <c:ext uri="{C3380CC4-5D6E-409C-BE32-E72D297353CC}">
              <c16:uniqueId val="{00000000-84DA-46B4-9321-0EC8E59C07A9}"/>
            </c:ext>
          </c:extLst>
        </c:ser>
        <c:ser>
          <c:idx val="1"/>
          <c:order val="1"/>
          <c:spPr>
            <a:solidFill>
              <a:srgbClr val="C0C0C0"/>
            </a:solidFill>
            <a:ln>
              <a:noFill/>
            </a:ln>
          </c:spPr>
          <c:val>
            <c:numRef>
              <c:f>Sheet1!$A$2:$Y$2</c:f>
              <c:numCache>
                <c:formatCode>General</c:formatCode>
                <c:ptCount val="25"/>
                <c:pt idx="6">
                  <c:v>9</c:v>
                </c:pt>
                <c:pt idx="7">
                  <c:v>10</c:v>
                </c:pt>
                <c:pt idx="8">
                  <c:v>3</c:v>
                </c:pt>
                <c:pt idx="10">
                  <c:v>2</c:v>
                </c:pt>
                <c:pt idx="11">
                  <c:v>1</c:v>
                </c:pt>
                <c:pt idx="12">
                  <c:v>2</c:v>
                </c:pt>
                <c:pt idx="13">
                  <c:v>2</c:v>
                </c:pt>
                <c:pt idx="14">
                  <c:v>4</c:v>
                </c:pt>
                <c:pt idx="15">
                  <c:v>2</c:v>
                </c:pt>
                <c:pt idx="16">
                  <c:v>4</c:v>
                </c:pt>
                <c:pt idx="17">
                  <c:v>5</c:v>
                </c:pt>
                <c:pt idx="18">
                  <c:v>7</c:v>
                </c:pt>
                <c:pt idx="19">
                  <c:v>7</c:v>
                </c:pt>
                <c:pt idx="20">
                  <c:v>1</c:v>
                </c:pt>
                <c:pt idx="21">
                  <c:v>1</c:v>
                </c:pt>
                <c:pt idx="23">
                  <c:v>2</c:v>
                </c:pt>
                <c:pt idx="24">
                  <c:v>3</c:v>
                </c:pt>
              </c:numCache>
            </c:numRef>
          </c:val>
          <c:extLst>
            <c:ext uri="{C3380CC4-5D6E-409C-BE32-E72D297353CC}">
              <c16:uniqueId val="{00000001-84DA-46B4-9321-0EC8E59C07A9}"/>
            </c:ext>
          </c:extLst>
        </c:ser>
        <c:ser>
          <c:idx val="2"/>
          <c:order val="2"/>
          <c:spPr>
            <a:solidFill>
              <a:srgbClr val="364D6E"/>
            </a:solidFill>
            <a:ln>
              <a:noFill/>
            </a:ln>
          </c:spPr>
          <c:val>
            <c:numRef>
              <c:f>Sheet1!$A$3:$Y$3</c:f>
              <c:numCache>
                <c:formatCode>General</c:formatCode>
                <c:ptCount val="25"/>
                <c:pt idx="3">
                  <c:v>7</c:v>
                </c:pt>
                <c:pt idx="4">
                  <c:v>15</c:v>
                </c:pt>
                <c:pt idx="5">
                  <c:v>30</c:v>
                </c:pt>
                <c:pt idx="6">
                  <c:v>41</c:v>
                </c:pt>
                <c:pt idx="7">
                  <c:v>59</c:v>
                </c:pt>
                <c:pt idx="8">
                  <c:v>100</c:v>
                </c:pt>
                <c:pt idx="9">
                  <c:v>69</c:v>
                </c:pt>
                <c:pt idx="10">
                  <c:v>10</c:v>
                </c:pt>
                <c:pt idx="11">
                  <c:v>6</c:v>
                </c:pt>
                <c:pt idx="12">
                  <c:v>3</c:v>
                </c:pt>
                <c:pt idx="13">
                  <c:v>1</c:v>
                </c:pt>
                <c:pt idx="14">
                  <c:v>2</c:v>
                </c:pt>
                <c:pt idx="15">
                  <c:v>8</c:v>
                </c:pt>
                <c:pt idx="17">
                  <c:v>5</c:v>
                </c:pt>
                <c:pt idx="19">
                  <c:v>5</c:v>
                </c:pt>
                <c:pt idx="21">
                  <c:v>5</c:v>
                </c:pt>
                <c:pt idx="22">
                  <c:v>1</c:v>
                </c:pt>
                <c:pt idx="24">
                  <c:v>7</c:v>
                </c:pt>
              </c:numCache>
            </c:numRef>
          </c:val>
          <c:extLst>
            <c:ext uri="{C3380CC4-5D6E-409C-BE32-E72D297353CC}">
              <c16:uniqueId val="{00000002-84DA-46B4-9321-0EC8E59C07A9}"/>
            </c:ext>
          </c:extLst>
        </c:ser>
        <c:ser>
          <c:idx val="3"/>
          <c:order val="3"/>
          <c:spPr>
            <a:solidFill>
              <a:schemeClr val="accent5"/>
            </a:solidFill>
            <a:ln>
              <a:noFill/>
            </a:ln>
          </c:spPr>
          <c:val>
            <c:numRef>
              <c:f>Sheet1!$A$4:$Y$4</c:f>
              <c:numCache>
                <c:formatCode>General</c:formatCode>
                <c:ptCount val="25"/>
              </c:numCache>
            </c:numRef>
          </c:val>
          <c:extLst>
            <c:ext uri="{C3380CC4-5D6E-409C-BE32-E72D297353CC}">
              <c16:uniqueId val="{00000003-84DA-46B4-9321-0EC8E59C07A9}"/>
            </c:ext>
          </c:extLst>
        </c:ser>
        <c:ser>
          <c:idx val="4"/>
          <c:order val="4"/>
          <c:spPr>
            <a:solidFill>
              <a:schemeClr val="accent4"/>
            </a:solidFill>
            <a:ln>
              <a:noFill/>
            </a:ln>
          </c:spPr>
          <c:val>
            <c:numRef>
              <c:f>Sheet1!$A$5:$Y$5</c:f>
              <c:numCache>
                <c:formatCode>General</c:formatCode>
                <c:ptCount val="25"/>
              </c:numCache>
            </c:numRef>
          </c:val>
          <c:extLst>
            <c:ext uri="{C3380CC4-5D6E-409C-BE32-E72D297353CC}">
              <c16:uniqueId val="{00000004-84DA-46B4-9321-0EC8E59C07A9}"/>
            </c:ext>
          </c:extLst>
        </c:ser>
        <c:ser>
          <c:idx val="5"/>
          <c:order val="5"/>
          <c:spPr>
            <a:solidFill>
              <a:schemeClr val="accent3"/>
            </a:solidFill>
            <a:ln>
              <a:noFill/>
            </a:ln>
          </c:spPr>
          <c:val>
            <c:numRef>
              <c:f>Sheet1!$A$6:$Y$6</c:f>
              <c:numCache>
                <c:formatCode>General</c:formatCode>
                <c:ptCount val="25"/>
              </c:numCache>
            </c:numRef>
          </c:val>
          <c:extLst>
            <c:ext uri="{C3380CC4-5D6E-409C-BE32-E72D297353CC}">
              <c16:uniqueId val="{00000005-84DA-46B4-9321-0EC8E59C07A9}"/>
            </c:ext>
          </c:extLst>
        </c:ser>
        <c:ser>
          <c:idx val="6"/>
          <c:order val="6"/>
          <c:spPr>
            <a:pattFill prst="ltUpDiag">
              <a:fgClr>
                <a:schemeClr val="tx1"/>
              </a:fgClr>
              <a:bgClr>
                <a:schemeClr val="bg1"/>
              </a:bgClr>
            </a:pattFill>
            <a:ln>
              <a:noFill/>
            </a:ln>
          </c:spPr>
          <c:val>
            <c:numRef>
              <c:f>Sheet1!$A$7:$Y$7</c:f>
              <c:numCache>
                <c:formatCode>General</c:formatCode>
                <c:ptCount val="25"/>
                <c:pt idx="9">
                  <c:v>48</c:v>
                </c:pt>
                <c:pt idx="10">
                  <c:v>122</c:v>
                </c:pt>
                <c:pt idx="11">
                  <c:v>130</c:v>
                </c:pt>
                <c:pt idx="12">
                  <c:v>134</c:v>
                </c:pt>
                <c:pt idx="13">
                  <c:v>153</c:v>
                </c:pt>
                <c:pt idx="14">
                  <c:v>154</c:v>
                </c:pt>
                <c:pt idx="15">
                  <c:v>151</c:v>
                </c:pt>
                <c:pt idx="16">
                  <c:v>56</c:v>
                </c:pt>
              </c:numCache>
            </c:numRef>
          </c:val>
          <c:extLst>
            <c:ext uri="{C3380CC4-5D6E-409C-BE32-E72D297353CC}">
              <c16:uniqueId val="{00000006-84DA-46B4-9321-0EC8E59C07A9}"/>
            </c:ext>
          </c:extLst>
        </c:ser>
        <c:ser>
          <c:idx val="7"/>
          <c:order val="7"/>
          <c:spPr>
            <a:solidFill>
              <a:srgbClr val="C30C3E"/>
            </a:solidFill>
            <a:ln>
              <a:noFill/>
            </a:ln>
          </c:spPr>
          <c:val>
            <c:numRef>
              <c:f>Sheet1!$A$8:$Y$8</c:f>
              <c:numCache>
                <c:formatCode>General</c:formatCode>
                <c:ptCount val="25"/>
                <c:pt idx="16">
                  <c:v>102</c:v>
                </c:pt>
                <c:pt idx="17">
                  <c:v>154</c:v>
                </c:pt>
                <c:pt idx="18">
                  <c:v>158</c:v>
                </c:pt>
                <c:pt idx="19">
                  <c:v>154</c:v>
                </c:pt>
                <c:pt idx="20">
                  <c:v>165</c:v>
                </c:pt>
                <c:pt idx="21">
                  <c:v>160</c:v>
                </c:pt>
                <c:pt idx="22">
                  <c:v>165</c:v>
                </c:pt>
                <c:pt idx="23">
                  <c:v>164</c:v>
                </c:pt>
                <c:pt idx="24">
                  <c:v>156</c:v>
                </c:pt>
              </c:numCache>
            </c:numRef>
          </c:val>
          <c:extLst>
            <c:ext uri="{C3380CC4-5D6E-409C-BE32-E72D297353CC}">
              <c16:uniqueId val="{00000007-84DA-46B4-9321-0EC8E59C07A9}"/>
            </c:ext>
          </c:extLst>
        </c:ser>
        <c:dLbls>
          <c:showLegendKey val="0"/>
          <c:showVal val="0"/>
          <c:showCatName val="0"/>
          <c:showSerName val="0"/>
          <c:showPercent val="0"/>
          <c:showBubbleSize val="0"/>
        </c:dLbls>
        <c:axId val="1371894367"/>
        <c:axId val="1"/>
      </c:areaChart>
      <c:catAx>
        <c:axId val="137189436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20"/>
          <c:min val="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1371894367"/>
        <c:crosses val="min"/>
        <c:crossBetween val="midCat"/>
        <c:majorUnit val="20"/>
      </c:valAx>
    </c:plotArea>
    <c:plotVisOnly val="0"/>
    <c:dispBlanksAs val="zero"/>
    <c:showDLblsOverMax val="1"/>
  </c:chart>
  <c:externalData r:id="rId1">
    <c:autoUpdate val="0"/>
  </c:externalData>
</c:chartSpace>
</file>

<file path=ppt/charts/chart18.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9.4205354117248397E-2"/>
          <c:y val="5.274888558692422E-2"/>
          <c:w val="0.88817350050830224"/>
          <c:h val="0.8945022288261516"/>
        </c:manualLayout>
      </c:layout>
      <c:barChart>
        <c:barDir val="col"/>
        <c:grouping val="stacked"/>
        <c:varyColors val="0"/>
        <c:ser>
          <c:idx val="0"/>
          <c:order val="0"/>
          <c:spPr>
            <a:solidFill>
              <a:srgbClr val="007770"/>
            </a:solidFill>
            <a:ln>
              <a:noFill/>
            </a:ln>
          </c:spPr>
          <c:invertIfNegative val="0"/>
          <c:dLbls>
            <c:dLbl>
              <c:idx val="0"/>
              <c:layout>
                <c:manualLayout>
                  <c:x val="0"/>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0CD1-4ADB-8D43-79E362BCC464}"/>
                </c:ext>
              </c:extLst>
            </c:dLbl>
            <c:dLbl>
              <c:idx val="1"/>
              <c:layout>
                <c:manualLayout>
                  <c:x val="0"/>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Sheet1!$A$1:$B$1</c:f>
              <c:numCache>
                <c:formatCode>General</c:formatCode>
                <c:ptCount val="2"/>
                <c:pt idx="0">
                  <c:v>124</c:v>
                </c:pt>
                <c:pt idx="1">
                  <c:v>46</c:v>
                </c:pt>
              </c:numCache>
            </c:numRef>
          </c:val>
          <c:extLst>
            <c:ext uri="{C3380CC4-5D6E-409C-BE32-E72D297353CC}">
              <c16:uniqueId val="{00000002-0CD1-4ADB-8D43-79E362BCC464}"/>
            </c:ext>
          </c:extLst>
        </c:ser>
        <c:ser>
          <c:idx val="1"/>
          <c:order val="1"/>
          <c:spPr>
            <a:solidFill>
              <a:srgbClr val="C0C0C0"/>
            </a:solidFill>
            <a:ln>
              <a:noFill/>
            </a:ln>
          </c:spPr>
          <c:invertIfNegative val="0"/>
          <c:dLbls>
            <c:dLbl>
              <c:idx val="0"/>
              <c:layout>
                <c:manualLayout>
                  <c:x val="0"/>
                  <c:y val="0"/>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3-0CD1-4ADB-8D43-79E362BCC464}"/>
                </c:ext>
              </c:extLst>
            </c:dLbl>
            <c:dLbl>
              <c:idx val="1"/>
              <c:layout>
                <c:manualLayout>
                  <c:x val="0"/>
                  <c:y val="0"/>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4-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Sheet1!$A$2:$B$2</c:f>
              <c:numCache>
                <c:formatCode>General</c:formatCode>
                <c:ptCount val="2"/>
                <c:pt idx="0">
                  <c:v>46</c:v>
                </c:pt>
                <c:pt idx="1">
                  <c:v>41</c:v>
                </c:pt>
              </c:numCache>
            </c:numRef>
          </c:val>
          <c:extLst>
            <c:ext uri="{C3380CC4-5D6E-409C-BE32-E72D297353CC}">
              <c16:uniqueId val="{00000005-0CD1-4ADB-8D43-79E362BCC464}"/>
            </c:ext>
          </c:extLst>
        </c:ser>
        <c:ser>
          <c:idx val="2"/>
          <c:order val="2"/>
          <c:spPr>
            <a:solidFill>
              <a:schemeClr val="accent2"/>
            </a:solidFill>
            <a:ln>
              <a:noFill/>
            </a:ln>
          </c:spPr>
          <c:invertIfNegative val="0"/>
          <c:dLbls>
            <c:dLbl>
              <c:idx val="0"/>
              <c:layout>
                <c:manualLayout>
                  <c:x val="0"/>
                  <c:y val="-3.714710252600297E-4"/>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6-0CD1-4ADB-8D43-79E362BCC464}"/>
                </c:ext>
              </c:extLst>
            </c:dLbl>
            <c:dLbl>
              <c:idx val="1"/>
              <c:layout>
                <c:manualLayout>
                  <c:x val="0"/>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7-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Sheet1!$A$3:$B$3</c:f>
              <c:numCache>
                <c:formatCode>General</c:formatCode>
                <c:ptCount val="2"/>
                <c:pt idx="0">
                  <c:v>18</c:v>
                </c:pt>
                <c:pt idx="1">
                  <c:v>15</c:v>
                </c:pt>
              </c:numCache>
            </c:numRef>
          </c:val>
          <c:extLst>
            <c:ext uri="{C3380CC4-5D6E-409C-BE32-E72D297353CC}">
              <c16:uniqueId val="{00000008-0CD1-4ADB-8D43-79E362BCC464}"/>
            </c:ext>
          </c:extLst>
        </c:ser>
        <c:ser>
          <c:idx val="3"/>
          <c:order val="3"/>
          <c:spPr>
            <a:solidFill>
              <a:srgbClr val="969696"/>
            </a:solidFill>
            <a:ln>
              <a:noFill/>
            </a:ln>
          </c:spPr>
          <c:invertIfNegative val="0"/>
          <c:dPt>
            <c:idx val="1"/>
            <c:invertIfNegative val="0"/>
            <c:bubble3D val="0"/>
            <c:spPr>
              <a:solidFill>
                <a:srgbClr val="4C6C9C"/>
              </a:solidFill>
              <a:ln>
                <a:noFill/>
              </a:ln>
            </c:spPr>
            <c:extLst>
              <c:ext uri="{C3380CC4-5D6E-409C-BE32-E72D297353CC}">
                <c16:uniqueId val="{00000009-0CD1-4ADB-8D43-79E362BCC464}"/>
              </c:ext>
            </c:extLst>
          </c:dPt>
          <c:dLbls>
            <c:dLbl>
              <c:idx val="0"/>
              <c:layout>
                <c:manualLayout>
                  <c:x val="-6.1674008810572688E-2"/>
                  <c:y val="0"/>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A-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Sheet1!$A$4:$B$4</c:f>
              <c:numCache>
                <c:formatCode>General</c:formatCode>
                <c:ptCount val="2"/>
                <c:pt idx="0">
                  <c:v>9</c:v>
                </c:pt>
                <c:pt idx="1">
                  <c:v>1</c:v>
                </c:pt>
              </c:numCache>
            </c:numRef>
          </c:val>
          <c:extLst>
            <c:ext uri="{C3380CC4-5D6E-409C-BE32-E72D297353CC}">
              <c16:uniqueId val="{0000000B-0CD1-4ADB-8D43-79E362BCC464}"/>
            </c:ext>
          </c:extLst>
        </c:ser>
        <c:ser>
          <c:idx val="4"/>
          <c:order val="4"/>
          <c:spPr>
            <a:solidFill>
              <a:srgbClr val="000000"/>
            </a:solidFill>
            <a:ln>
              <a:noFill/>
            </a:ln>
          </c:spPr>
          <c:invertIfNegative val="0"/>
          <c:dPt>
            <c:idx val="0"/>
            <c:invertIfNegative val="0"/>
            <c:bubble3D val="0"/>
            <c:spPr>
              <a:solidFill>
                <a:srgbClr val="4C6C9C"/>
              </a:solidFill>
              <a:ln>
                <a:noFill/>
              </a:ln>
            </c:spPr>
            <c:extLst>
              <c:ext uri="{C3380CC4-5D6E-409C-BE32-E72D297353CC}">
                <c16:uniqueId val="{0000000C-0CD1-4ADB-8D43-79E362BCC464}"/>
              </c:ext>
            </c:extLst>
          </c:dPt>
          <c:val>
            <c:numRef>
              <c:f>Sheet1!$A$5:$B$5</c:f>
              <c:numCache>
                <c:formatCode>General</c:formatCode>
                <c:ptCount val="2"/>
                <c:pt idx="0">
                  <c:v>1</c:v>
                </c:pt>
                <c:pt idx="1">
                  <c:v>1</c:v>
                </c:pt>
              </c:numCache>
            </c:numRef>
          </c:val>
          <c:extLst>
            <c:ext uri="{C3380CC4-5D6E-409C-BE32-E72D297353CC}">
              <c16:uniqueId val="{0000000D-0CD1-4ADB-8D43-79E362BCC464}"/>
            </c:ext>
          </c:extLst>
        </c:ser>
        <c:ser>
          <c:idx val="5"/>
          <c:order val="5"/>
          <c:spPr>
            <a:solidFill>
              <a:srgbClr val="000000"/>
            </a:solidFill>
            <a:ln>
              <a:noFill/>
            </a:ln>
          </c:spPr>
          <c:invertIfNegative val="0"/>
          <c:dLbls>
            <c:dLbl>
              <c:idx val="0"/>
              <c:layout>
                <c:manualLayout>
                  <c:x val="0.13825821755337173"/>
                  <c:y val="1.485884101040118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E-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Sheet1!$A$6:$B$6</c:f>
              <c:numCache>
                <c:formatCode>General</c:formatCode>
                <c:ptCount val="2"/>
                <c:pt idx="0">
                  <c:v>1</c:v>
                </c:pt>
              </c:numCache>
            </c:numRef>
          </c:val>
          <c:extLst>
            <c:ext uri="{C3380CC4-5D6E-409C-BE32-E72D297353CC}">
              <c16:uniqueId val="{0000000F-0CD1-4ADB-8D43-79E362BCC464}"/>
            </c:ext>
          </c:extLst>
        </c:ser>
        <c:ser>
          <c:idx val="6"/>
          <c:order val="6"/>
          <c:spPr>
            <a:pattFill prst="ltDnDiag">
              <a:fgClr>
                <a:schemeClr val="tx1"/>
              </a:fgClr>
              <a:bgClr>
                <a:schemeClr val="bg1"/>
              </a:bgClr>
            </a:pattFill>
            <a:ln>
              <a:noFill/>
            </a:ln>
          </c:spPr>
          <c:invertIfNegative val="0"/>
          <c:dLbls>
            <c:dLbl>
              <c:idx val="0"/>
              <c:layout>
                <c:manualLayout>
                  <c:x val="0.13825821755337173"/>
                  <c:y val="-1.4858841010401188E-2"/>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10-0CD1-4ADB-8D43-79E362BCC464}"/>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Sheet1!$A$7:$B$7</c:f>
              <c:numCache>
                <c:formatCode>General</c:formatCode>
                <c:ptCount val="2"/>
                <c:pt idx="0">
                  <c:v>2</c:v>
                </c:pt>
              </c:numCache>
            </c:numRef>
          </c:val>
          <c:extLst>
            <c:ext uri="{C3380CC4-5D6E-409C-BE32-E72D297353CC}">
              <c16:uniqueId val="{00000011-0CD1-4ADB-8D43-79E362BCC464}"/>
            </c:ext>
          </c:extLst>
        </c:ser>
        <c:dLbls>
          <c:showLegendKey val="0"/>
          <c:showVal val="0"/>
          <c:showCatName val="0"/>
          <c:showSerName val="0"/>
          <c:showPercent val="0"/>
          <c:showBubbleSize val="0"/>
        </c:dLbls>
        <c:gapWidth val="80"/>
        <c:overlap val="100"/>
        <c:axId val="1288775647"/>
        <c:axId val="1"/>
      </c:barChart>
      <c:catAx>
        <c:axId val="12887756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20"/>
          <c:min val="0"/>
        </c:scaling>
        <c:delete val="0"/>
        <c:axPos val="l"/>
        <c:majorGridlines>
          <c:spPr>
            <a:ln>
              <a:noFill/>
            </a:ln>
          </c:spPr>
        </c:majorGridlines>
        <c:numFmt formatCode="#,##0;&quot;-&quot;#,##0" sourceLinked="0"/>
        <c:majorTickMark val="out"/>
        <c:minorTickMark val="none"/>
        <c:tickLblPos val="nextTo"/>
        <c:spPr>
          <a:ln w="9525" cmpd="sng" algn="ctr">
            <a:solidFill>
              <a:srgbClr val="000000"/>
            </a:solidFill>
            <a:prstDash val="solid"/>
          </a:ln>
        </c:spPr>
        <c:txPr>
          <a:bodyPr wrap="none"/>
          <a:lstStyle/>
          <a:p>
            <a:pPr>
              <a:defRPr sz="1000" kern="1200">
                <a:solidFill>
                  <a:srgbClr val="000000"/>
                </a:solidFill>
                <a:latin typeface="+mn-lt"/>
                <a:ea typeface="+mn-ea"/>
                <a:cs typeface="+mn-cs"/>
              </a:defRPr>
            </a:pPr>
            <a:endParaRPr lang="en-US"/>
          </a:p>
        </c:txPr>
        <c:crossAx val="1288775647"/>
        <c:crosses val="min"/>
        <c:crossBetween val="between"/>
        <c:majorUnit val="20"/>
      </c:valAx>
    </c:plotArea>
    <c:plotVisOnly val="0"/>
    <c:dispBlanksAs val="gap"/>
    <c:showDLblsOverMax val="1"/>
  </c:chart>
  <c:externalData r:id="rId1">
    <c:autoUpdate val="0"/>
  </c:externalData>
</c:chartSpace>
</file>

<file path=ppt/charts/chart19.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1.6214530714062987E-2"/>
          <c:y val="2.1968736797634135E-2"/>
          <c:w val="0.96757093857187404"/>
          <c:h val="0.95606252640473177"/>
        </c:manualLayout>
      </c:layout>
      <c:barChart>
        <c:barDir val="col"/>
        <c:grouping val="stacked"/>
        <c:varyColors val="0"/>
        <c:ser>
          <c:idx val="0"/>
          <c:order val="0"/>
          <c:spPr>
            <a:solidFill>
              <a:srgbClr val="364D6E"/>
            </a:solidFill>
            <a:ln w="3175" cmpd="sng" algn="ctr">
              <a:solidFill>
                <a:schemeClr val="tx1"/>
              </a:solidFill>
              <a:prstDash val="solid"/>
            </a:ln>
          </c:spPr>
          <c:invertIfNegative val="0"/>
          <c:val>
            <c:numRef>
              <c:f>Sheet1!$A$1</c:f>
              <c:numCache>
                <c:formatCode>General</c:formatCode>
                <c:ptCount val="1"/>
                <c:pt idx="0">
                  <c:v>57.1429</c:v>
                </c:pt>
              </c:numCache>
            </c:numRef>
          </c:val>
          <c:extLst>
            <c:ext uri="{C3380CC4-5D6E-409C-BE32-E72D297353CC}">
              <c16:uniqueId val="{00000000-66F7-4CB8-912F-3FF030C3DEB8}"/>
            </c:ext>
          </c:extLst>
        </c:ser>
        <c:ser>
          <c:idx val="1"/>
          <c:order val="1"/>
          <c:spPr>
            <a:solidFill>
              <a:srgbClr val="4C6C9C"/>
            </a:solidFill>
            <a:ln w="3175" cmpd="sng" algn="ctr">
              <a:solidFill>
                <a:schemeClr val="tx1"/>
              </a:solidFill>
              <a:prstDash val="solid"/>
            </a:ln>
          </c:spPr>
          <c:invertIfNegative val="0"/>
          <c:val>
            <c:numRef>
              <c:f>Sheet1!$A$2</c:f>
              <c:numCache>
                <c:formatCode>General</c:formatCode>
                <c:ptCount val="1"/>
                <c:pt idx="0">
                  <c:v>10.2041</c:v>
                </c:pt>
              </c:numCache>
            </c:numRef>
          </c:val>
          <c:extLst>
            <c:ext uri="{C3380CC4-5D6E-409C-BE32-E72D297353CC}">
              <c16:uniqueId val="{00000001-66F7-4CB8-912F-3FF030C3DEB8}"/>
            </c:ext>
          </c:extLst>
        </c:ser>
        <c:ser>
          <c:idx val="2"/>
          <c:order val="2"/>
          <c:spPr>
            <a:solidFill>
              <a:srgbClr val="808080"/>
            </a:solidFill>
            <a:ln w="3175" cmpd="sng" algn="ctr">
              <a:solidFill>
                <a:schemeClr val="tx1"/>
              </a:solidFill>
              <a:prstDash val="solid"/>
            </a:ln>
          </c:spPr>
          <c:invertIfNegative val="0"/>
          <c:val>
            <c:numRef>
              <c:f>Sheet1!$A$3</c:f>
              <c:numCache>
                <c:formatCode>General</c:formatCode>
                <c:ptCount val="1"/>
                <c:pt idx="0">
                  <c:v>16.3265</c:v>
                </c:pt>
              </c:numCache>
            </c:numRef>
          </c:val>
          <c:extLst>
            <c:ext uri="{C3380CC4-5D6E-409C-BE32-E72D297353CC}">
              <c16:uniqueId val="{00000002-66F7-4CB8-912F-3FF030C3DEB8}"/>
            </c:ext>
          </c:extLst>
        </c:ser>
        <c:ser>
          <c:idx val="3"/>
          <c:order val="3"/>
          <c:spPr>
            <a:solidFill>
              <a:srgbClr val="808080"/>
            </a:solidFill>
            <a:ln w="3175" cmpd="sng" algn="ctr">
              <a:solidFill>
                <a:schemeClr val="tx1"/>
              </a:solidFill>
              <a:prstDash val="solid"/>
            </a:ln>
          </c:spPr>
          <c:invertIfNegative val="0"/>
          <c:val>
            <c:numRef>
              <c:f>Sheet1!$A$4</c:f>
              <c:numCache>
                <c:formatCode>General</c:formatCode>
                <c:ptCount val="1"/>
                <c:pt idx="0">
                  <c:v>10.2041</c:v>
                </c:pt>
              </c:numCache>
            </c:numRef>
          </c:val>
          <c:extLst>
            <c:ext uri="{C3380CC4-5D6E-409C-BE32-E72D297353CC}">
              <c16:uniqueId val="{00000003-66F7-4CB8-912F-3FF030C3DEB8}"/>
            </c:ext>
          </c:extLst>
        </c:ser>
        <c:ser>
          <c:idx val="4"/>
          <c:order val="4"/>
          <c:spPr>
            <a:solidFill>
              <a:srgbClr val="C0C0C0"/>
            </a:solidFill>
            <a:ln w="3175" cmpd="sng" algn="ctr">
              <a:solidFill>
                <a:schemeClr val="tx1"/>
              </a:solidFill>
              <a:prstDash val="solid"/>
            </a:ln>
          </c:spPr>
          <c:invertIfNegative val="0"/>
          <c:val>
            <c:numRef>
              <c:f>Sheet1!$A$5</c:f>
              <c:numCache>
                <c:formatCode>General</c:formatCode>
                <c:ptCount val="1"/>
                <c:pt idx="0">
                  <c:v>2.0408</c:v>
                </c:pt>
              </c:numCache>
            </c:numRef>
          </c:val>
          <c:extLst>
            <c:ext uri="{C3380CC4-5D6E-409C-BE32-E72D297353CC}">
              <c16:uniqueId val="{00000004-66F7-4CB8-912F-3FF030C3DEB8}"/>
            </c:ext>
          </c:extLst>
        </c:ser>
        <c:ser>
          <c:idx val="5"/>
          <c:order val="5"/>
          <c:spPr>
            <a:solidFill>
              <a:srgbClr val="C0C0C0"/>
            </a:solidFill>
            <a:ln w="3175" cmpd="sng" algn="ctr">
              <a:solidFill>
                <a:schemeClr val="tx1"/>
              </a:solidFill>
              <a:prstDash val="solid"/>
            </a:ln>
          </c:spPr>
          <c:invertIfNegative val="0"/>
          <c:val>
            <c:numRef>
              <c:f>Sheet1!$A$6</c:f>
              <c:numCache>
                <c:formatCode>General</c:formatCode>
                <c:ptCount val="1"/>
                <c:pt idx="0">
                  <c:v>4.0816</c:v>
                </c:pt>
              </c:numCache>
            </c:numRef>
          </c:val>
          <c:extLst>
            <c:ext uri="{C3380CC4-5D6E-409C-BE32-E72D297353CC}">
              <c16:uniqueId val="{00000005-66F7-4CB8-912F-3FF030C3DEB8}"/>
            </c:ext>
          </c:extLst>
        </c:ser>
        <c:ser>
          <c:idx val="6"/>
          <c:order val="6"/>
          <c:spPr>
            <a:solidFill>
              <a:srgbClr val="FFFFFF"/>
            </a:solidFill>
            <a:ln w="3175" cmpd="sng" algn="ctr">
              <a:solidFill>
                <a:schemeClr val="tx1"/>
              </a:solidFill>
              <a:prstDash val="solid"/>
            </a:ln>
          </c:spPr>
          <c:invertIfNegative val="0"/>
          <c:val>
            <c:numRef>
              <c:f>Sheet1!$A$7</c:f>
              <c:numCache>
                <c:formatCode>General</c:formatCode>
                <c:ptCount val="1"/>
                <c:pt idx="0">
                  <c:v>0</c:v>
                </c:pt>
              </c:numCache>
            </c:numRef>
          </c:val>
          <c:extLst>
            <c:ext uri="{C3380CC4-5D6E-409C-BE32-E72D297353CC}">
              <c16:uniqueId val="{00000006-66F7-4CB8-912F-3FF030C3DEB8}"/>
            </c:ext>
          </c:extLst>
        </c:ser>
        <c:dLbls>
          <c:showLegendKey val="0"/>
          <c:showVal val="0"/>
          <c:showCatName val="0"/>
          <c:showSerName val="0"/>
          <c:showPercent val="0"/>
          <c:showBubbleSize val="0"/>
        </c:dLbls>
        <c:gapWidth val="250"/>
        <c:overlap val="100"/>
        <c:axId val="1521882447"/>
        <c:axId val="1"/>
      </c:barChart>
      <c:catAx>
        <c:axId val="15218824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10.00000000000001"/>
          <c:min val="0"/>
        </c:scaling>
        <c:delete val="0"/>
        <c:axPos val="l"/>
        <c:majorGridlines>
          <c:spPr>
            <a:ln>
              <a:noFill/>
            </a:ln>
          </c:spPr>
        </c:majorGridlines>
        <c:numFmt formatCode="General" sourceLinked="1"/>
        <c:majorTickMark val="none"/>
        <c:minorTickMark val="none"/>
        <c:tickLblPos val="none"/>
        <c:spPr>
          <a:ln w="9525" cmpd="sng" algn="ctr">
            <a:solidFill>
              <a:srgbClr val="FFFFFF"/>
            </a:solidFill>
            <a:prstDash val="solid"/>
          </a:ln>
        </c:spPr>
        <c:crossAx val="1521882447"/>
        <c:crosses val="min"/>
        <c:crossBetween val="between"/>
      </c:valAx>
    </c:plotArea>
    <c:plotVisOnly val="0"/>
    <c:dispBlanksAs val="gap"/>
    <c:showDLblsOverMax val="1"/>
  </c:chart>
  <c:externalData r:id="rId1">
    <c:autoUpdate val="0"/>
  </c:externalData>
</c:chartSpace>
</file>

<file path=ppt/charts/chart20.xml><?xml version="1.0" encoding="utf-8"?>
<c:chartSpace xmlns:a="http://schemas.openxmlformats.org/drawingml/2006/main" xmlns:c="http://schemas.openxmlformats.org/drawingml/2006/chart" xmlns:c14="http://schemas.microsoft.com/office/drawing/2007/8/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0.11101573676680973"/>
          <c:y val="4.653371320037987E-2"/>
          <c:w val="0.87410586552217451"/>
          <c:h val="0.90693257359924029"/>
        </c:manualLayout>
      </c:layout>
      <c:barChart>
        <c:barDir val="col"/>
        <c:grouping val="stacked"/>
        <c:varyColors val="0"/>
        <c:ser>
          <c:idx val="0"/>
          <c:order val="0"/>
          <c:spPr>
            <a:solidFill>
              <a:srgbClr val="000000"/>
            </a:solidFill>
            <a:ln>
              <a:noFill/>
            </a:ln>
          </c:spPr>
          <c:invertIfNegative val="0"/>
          <c:dPt>
            <c:idx val="1"/>
            <c:invertIfNegative val="0"/>
            <c:bubble3D val="0"/>
            <c:spPr>
              <a:solidFill>
                <a:srgbClr val="4C6C9C"/>
              </a:solidFill>
              <a:ln>
                <a:noFill/>
              </a:ln>
            </c:spPr>
            <c:extLst>
              <c:ext uri="{C3380CC4-5D6E-409C-BE32-E72D297353CC}">
                <c16:uniqueId val="{00000000-0391-4EAC-9128-35E3807E830B}"/>
              </c:ext>
            </c:extLst>
          </c:dPt>
          <c:val>
            <c:numRef>
              <c:f>Sheet1!$A$1:$B$1</c:f>
              <c:numCache>
                <c:formatCode>General</c:formatCode>
                <c:ptCount val="2"/>
                <c:pt idx="0">
                  <c:v>2700</c:v>
                </c:pt>
                <c:pt idx="1">
                  <c:v>5040</c:v>
                </c:pt>
              </c:numCache>
            </c:numRef>
          </c:val>
          <c:extLst>
            <c:ext uri="{C3380CC4-5D6E-409C-BE32-E72D297353CC}">
              <c16:uniqueId val="{00000001-0391-4EAC-9128-35E3807E830B}"/>
            </c:ext>
          </c:extLst>
        </c:ser>
        <c:ser>
          <c:idx val="1"/>
          <c:order val="1"/>
          <c:spPr>
            <a:solidFill>
              <a:srgbClr val="808080"/>
            </a:solidFill>
            <a:ln>
              <a:noFill/>
            </a:ln>
          </c:spPr>
          <c:invertIfNegative val="0"/>
          <c:dPt>
            <c:idx val="1"/>
            <c:invertIfNegative val="0"/>
            <c:bubble3D val="0"/>
            <c:spPr>
              <a:solidFill>
                <a:srgbClr val="9DB1CF"/>
              </a:solidFill>
              <a:ln>
                <a:noFill/>
              </a:ln>
            </c:spPr>
            <c:extLst>
              <c:ext uri="{C3380CC4-5D6E-409C-BE32-E72D297353CC}">
                <c16:uniqueId val="{00000002-0391-4EAC-9128-35E3807E830B}"/>
              </c:ext>
            </c:extLst>
          </c:dPt>
          <c:val>
            <c:numRef>
              <c:f>Sheet1!$A$2:$B$2</c:f>
              <c:numCache>
                <c:formatCode>General</c:formatCode>
                <c:ptCount val="2"/>
                <c:pt idx="0">
                  <c:v>2700</c:v>
                </c:pt>
                <c:pt idx="1">
                  <c:v>5040</c:v>
                </c:pt>
              </c:numCache>
            </c:numRef>
          </c:val>
          <c:extLst>
            <c:ext uri="{C3380CC4-5D6E-409C-BE32-E72D297353CC}">
              <c16:uniqueId val="{00000003-0391-4EAC-9128-35E3807E830B}"/>
            </c:ext>
          </c:extLst>
        </c:ser>
        <c:ser>
          <c:idx val="2"/>
          <c:order val="2"/>
          <c:spPr>
            <a:solidFill>
              <a:srgbClr val="969696"/>
            </a:solidFill>
            <a:ln>
              <a:noFill/>
            </a:ln>
          </c:spPr>
          <c:invertIfNegative val="0"/>
          <c:val>
            <c:numRef>
              <c:f>Sheet1!$A$3:$B$3</c:f>
              <c:numCache>
                <c:formatCode>General</c:formatCode>
                <c:ptCount val="2"/>
                <c:pt idx="0">
                  <c:v>2700</c:v>
                </c:pt>
              </c:numCache>
            </c:numRef>
          </c:val>
          <c:extLst>
            <c:ext uri="{C3380CC4-5D6E-409C-BE32-E72D297353CC}">
              <c16:uniqueId val="{00000004-0391-4EAC-9128-35E3807E830B}"/>
            </c:ext>
          </c:extLst>
        </c:ser>
        <c:ser>
          <c:idx val="3"/>
          <c:order val="3"/>
          <c:spPr>
            <a:solidFill>
              <a:srgbClr val="C0C0C0"/>
            </a:solidFill>
            <a:ln>
              <a:noFill/>
            </a:ln>
          </c:spPr>
          <c:invertIfNegative val="0"/>
          <c:val>
            <c:numRef>
              <c:f>Sheet1!$A$4:$B$4</c:f>
              <c:numCache>
                <c:formatCode>General</c:formatCode>
                <c:ptCount val="2"/>
                <c:pt idx="0">
                  <c:v>2700</c:v>
                </c:pt>
              </c:numCache>
            </c:numRef>
          </c:val>
          <c:extLst>
            <c:ext uri="{C3380CC4-5D6E-409C-BE32-E72D297353CC}">
              <c16:uniqueId val="{00000005-0391-4EAC-9128-35E3807E830B}"/>
            </c:ext>
          </c:extLst>
        </c:ser>
        <c:dLbls>
          <c:showLegendKey val="0"/>
          <c:showVal val="0"/>
          <c:showCatName val="0"/>
          <c:showSerName val="0"/>
          <c:showPercent val="0"/>
          <c:showBubbleSize val="0"/>
        </c:dLbls>
        <c:gapWidth val="80"/>
        <c:overlap val="100"/>
        <c:axId val="1955311679"/>
        <c:axId val="1"/>
      </c:barChart>
      <c:catAx>
        <c:axId val="195531167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10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1955311679"/>
        <c:crosses val="min"/>
        <c:crossBetween val="between"/>
        <c:majorUnit val="1000"/>
      </c:valAx>
    </c:plotArea>
    <c:plotVisOnly val="0"/>
    <c:dispBlanksAs val="gap"/>
    <c:showDLblsOverMax val="1"/>
  </c:chart>
  <c:externalData r:id="rId1">
    <c:autoUpdate val="0"/>
  </c:externalData>
</c:chartSpace>
</file>

<file path=ppt/charts/chart21.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3.2427937915742791E-2"/>
          <c:y val="6.9847515986227252E-2"/>
          <c:w val="0.96036585365853655"/>
          <c:h val="0.86030496802754552"/>
        </c:manualLayout>
      </c:layout>
      <c:barChart>
        <c:barDir val="col"/>
        <c:grouping val="stacked"/>
        <c:varyColors val="0"/>
        <c:ser>
          <c:idx val="0"/>
          <c:order val="0"/>
          <c:spPr>
            <a:solidFill>
              <a:srgbClr val="9DB1CF"/>
            </a:solidFill>
            <a:ln>
              <a:noFill/>
            </a:ln>
          </c:spPr>
          <c:invertIfNegative val="0"/>
          <c:dPt>
            <c:idx val="4"/>
            <c:invertIfNegative val="0"/>
            <c:bubble3D val="0"/>
            <c:spPr>
              <a:solidFill>
                <a:srgbClr val="6F8DB9"/>
              </a:solidFill>
              <a:ln>
                <a:noFill/>
              </a:ln>
            </c:spPr>
            <c:extLst>
              <c:ext uri="{C3380CC4-5D6E-409C-BE32-E72D297353CC}">
                <c16:uniqueId val="{00000000-F51E-4B63-BE12-6235C36F3C5D}"/>
              </c:ext>
            </c:extLst>
          </c:dPt>
          <c:dPt>
            <c:idx val="5"/>
            <c:invertIfNegative val="0"/>
            <c:bubble3D val="0"/>
            <c:spPr>
              <a:solidFill>
                <a:srgbClr val="364D6E"/>
              </a:solidFill>
              <a:ln>
                <a:noFill/>
              </a:ln>
            </c:spPr>
            <c:extLst>
              <c:ext uri="{C3380CC4-5D6E-409C-BE32-E72D297353CC}">
                <c16:uniqueId val="{00000001-F51E-4B63-BE12-6235C36F3C5D}"/>
              </c:ext>
            </c:extLst>
          </c:dPt>
          <c:dPt>
            <c:idx val="6"/>
            <c:invertIfNegative val="0"/>
            <c:bubble3D val="0"/>
            <c:spPr>
              <a:solidFill>
                <a:srgbClr val="364D6E"/>
              </a:solidFill>
              <a:ln>
                <a:noFill/>
              </a:ln>
            </c:spPr>
            <c:extLst>
              <c:ext uri="{C3380CC4-5D6E-409C-BE32-E72D297353CC}">
                <c16:uniqueId val="{00000002-F51E-4B63-BE12-6235C36F3C5D}"/>
              </c:ext>
            </c:extLst>
          </c:dPt>
          <c:dLbls>
            <c:dLbl>
              <c:idx val="1"/>
              <c:layout>
                <c:manualLayout>
                  <c:x val="0"/>
                  <c:y val="-6.246925725528775E-2"/>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3-F51E-4B63-BE12-6235C36F3C5D}"/>
                </c:ext>
              </c:extLst>
            </c:dLbl>
            <c:dLbl>
              <c:idx val="2"/>
              <c:layout>
                <c:manualLayout>
                  <c:x val="0"/>
                  <c:y val="-0.14215445154943435"/>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4-F51E-4B63-BE12-6235C36F3C5D}"/>
                </c:ext>
              </c:extLst>
            </c:dLbl>
            <c:dLbl>
              <c:idx val="3"/>
              <c:layout>
                <c:manualLayout>
                  <c:x val="0"/>
                  <c:y val="-0.1854402361042794"/>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5-F51E-4B63-BE12-6235C36F3C5D}"/>
                </c:ext>
              </c:extLst>
            </c:dLbl>
            <c:dLbl>
              <c:idx val="4"/>
              <c:layout>
                <c:manualLayout>
                  <c:x val="0"/>
                  <c:y val="-4.9188391539596653E-4"/>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0-F51E-4B63-BE12-6235C36F3C5D}"/>
                </c:ext>
              </c:extLst>
            </c:dLbl>
            <c:dLbl>
              <c:idx val="5"/>
              <c:layout>
                <c:manualLayout>
                  <c:x val="0"/>
                  <c:y val="-4.9188391539596653E-4"/>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1-F51E-4B63-BE12-6235C36F3C5D}"/>
                </c:ext>
              </c:extLst>
            </c:dLbl>
            <c:dLbl>
              <c:idx val="6"/>
              <c:layout>
                <c:manualLayout>
                  <c:x val="0"/>
                  <c:y val="-0.15445154943433351"/>
                </c:manualLayout>
              </c:layout>
              <c:numFmt formatCode="#,##0;&quot;-&quot;#,##0" sourceLinked="0"/>
              <c:spPr>
                <a:noFill/>
                <a:ln>
                  <a:noFill/>
                </a:ln>
              </c:spPr>
              <c:txPr>
                <a:bodyPr wrap="none"/>
                <a:lstStyle/>
                <a:p>
                  <a:pPr>
                    <a:defRPr sz="1000" kern="1200">
                      <a:solidFill>
                        <a:srgbClr val="000000"/>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2-F51E-4B63-BE12-6235C36F3C5D}"/>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Sheet1!$A$1:$J$1</c:f>
              <c:numCache>
                <c:formatCode>General</c:formatCode>
                <c:ptCount val="10"/>
                <c:pt idx="1">
                  <c:v>5</c:v>
                </c:pt>
                <c:pt idx="2">
                  <c:v>18</c:v>
                </c:pt>
                <c:pt idx="3">
                  <c:v>25</c:v>
                </c:pt>
                <c:pt idx="4">
                  <c:v>17</c:v>
                </c:pt>
                <c:pt idx="5">
                  <c:v>19</c:v>
                </c:pt>
                <c:pt idx="6">
                  <c:v>20</c:v>
                </c:pt>
              </c:numCache>
            </c:numRef>
          </c:val>
          <c:extLst>
            <c:ext uri="{C3380CC4-5D6E-409C-BE32-E72D297353CC}">
              <c16:uniqueId val="{00000006-F51E-4B63-BE12-6235C36F3C5D}"/>
            </c:ext>
          </c:extLst>
        </c:ser>
        <c:ser>
          <c:idx val="1"/>
          <c:order val="1"/>
          <c:spPr>
            <a:solidFill>
              <a:srgbClr val="6F8DB9"/>
            </a:solidFill>
            <a:ln>
              <a:noFill/>
            </a:ln>
          </c:spPr>
          <c:invertIfNegative val="0"/>
          <c:dPt>
            <c:idx val="4"/>
            <c:invertIfNegative val="0"/>
            <c:bubble3D val="0"/>
            <c:spPr>
              <a:solidFill>
                <a:srgbClr val="9DB1CF"/>
              </a:solidFill>
              <a:ln>
                <a:noFill/>
              </a:ln>
            </c:spPr>
            <c:extLst>
              <c:ext uri="{C3380CC4-5D6E-409C-BE32-E72D297353CC}">
                <c16:uniqueId val="{00000007-F51E-4B63-BE12-6235C36F3C5D}"/>
              </c:ext>
            </c:extLst>
          </c:dPt>
          <c:dLbls>
            <c:dLbl>
              <c:idx val="4"/>
              <c:layout>
                <c:manualLayout>
                  <c:x val="0"/>
                  <c:y val="-4.9188391539596653E-4"/>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7-F51E-4B63-BE12-6235C36F3C5D}"/>
                </c:ext>
              </c:extLst>
            </c:dLbl>
            <c:dLbl>
              <c:idx val="5"/>
              <c:layout>
                <c:manualLayout>
                  <c:x val="0"/>
                  <c:y val="-4.9188391539596653E-4"/>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uri="{CE6537A1-D6FC-4f65-9D91-7224C49458BB}">
                  <c15:spPr>
                    <a:prstGeom prst="rect">
                      <a:avLst/>
                    </a:prstGeom>
                  </c15:spPr>
                </c:ext>
                <c:ext uri="{C3380CC4-5D6E-409C-BE32-E72D297353CC}">
                  <c16:uniqueId val="{00000008-F51E-4B63-BE12-6235C36F3C5D}"/>
                </c:ext>
              </c:extLst>
            </c:dLbl>
            <c:spPr>
              <a:noFill/>
              <a:ln>
                <a:noFill/>
              </a:ln>
              <a:effectLst/>
            </c:spPr>
            <c:showLegendKey val="0"/>
            <c:showVal val="0"/>
            <c:showCatName val="0"/>
            <c:showSerName val="0"/>
            <c:showPercent val="0"/>
            <c:showBubbleSize val="0"/>
            <c:extLst>
              <c:ext uri="{CE6537A1-D6FC-4f65-9D91-7224C49458BB}">
                <c15:showLeaderLines val="0"/>
              </c:ext>
            </c:extLst>
          </c:dLbls>
          <c:val>
            <c:numRef>
              <c:f>Sheet1!$A$2:$J$2</c:f>
              <c:numCache>
                <c:formatCode>General</c:formatCode>
                <c:ptCount val="10"/>
                <c:pt idx="4">
                  <c:v>9</c:v>
                </c:pt>
                <c:pt idx="5">
                  <c:v>7</c:v>
                </c:pt>
              </c:numCache>
            </c:numRef>
          </c:val>
          <c:extLst>
            <c:ext uri="{C3380CC4-5D6E-409C-BE32-E72D297353CC}">
              <c16:uniqueId val="{00000009-F51E-4B63-BE12-6235C36F3C5D}"/>
            </c:ext>
          </c:extLst>
        </c:ser>
        <c:dLbls>
          <c:showLegendKey val="0"/>
          <c:showVal val="0"/>
          <c:showCatName val="0"/>
          <c:showSerName val="0"/>
          <c:showPercent val="0"/>
          <c:showBubbleSize val="0"/>
        </c:dLbls>
        <c:gapWidth val="80"/>
        <c:overlap val="100"/>
        <c:axId val="15520224"/>
        <c:axId val="1"/>
      </c:barChart>
      <c:lineChart>
        <c:grouping val="standard"/>
        <c:varyColors val="0"/>
        <c:ser>
          <c:idx val="2"/>
          <c:order val="2"/>
          <c:spPr>
            <a:ln w="19050" cmpd="sng" algn="ctr">
              <a:solidFill>
                <a:srgbClr val="000000"/>
              </a:solidFill>
              <a:prstDash val="solid"/>
            </a:ln>
          </c:spPr>
          <c:marker>
            <c:symbol val="none"/>
          </c:marker>
          <c:val>
            <c:numRef>
              <c:f>Sheet1!$A$3:$J$3</c:f>
              <c:numCache>
                <c:formatCode>General</c:formatCode>
                <c:ptCount val="10"/>
                <c:pt idx="0">
                  <c:v>8</c:v>
                </c:pt>
                <c:pt idx="1">
                  <c:v>17</c:v>
                </c:pt>
                <c:pt idx="2">
                  <c:v>28</c:v>
                </c:pt>
                <c:pt idx="3">
                  <c:v>50</c:v>
                </c:pt>
                <c:pt idx="4">
                  <c:v>50</c:v>
                </c:pt>
                <c:pt idx="5">
                  <c:v>50</c:v>
                </c:pt>
                <c:pt idx="6">
                  <c:v>50</c:v>
                </c:pt>
                <c:pt idx="7">
                  <c:v>50</c:v>
                </c:pt>
                <c:pt idx="8">
                  <c:v>50</c:v>
                </c:pt>
                <c:pt idx="9">
                  <c:v>50</c:v>
                </c:pt>
              </c:numCache>
            </c:numRef>
          </c:val>
          <c:smooth val="0"/>
          <c:extLst>
            <c:ext uri="{C3380CC4-5D6E-409C-BE32-E72D297353CC}">
              <c16:uniqueId val="{0000000A-F51E-4B63-BE12-6235C36F3C5D}"/>
            </c:ext>
          </c:extLst>
        </c:ser>
        <c:dLbls>
          <c:showLegendKey val="0"/>
          <c:showVal val="0"/>
          <c:showCatName val="0"/>
          <c:showSerName val="0"/>
          <c:showPercent val="0"/>
          <c:showBubbleSize val="0"/>
        </c:dLbls>
        <c:marker val="1"/>
        <c:smooth val="0"/>
        <c:axId val="15520224"/>
        <c:axId val="1"/>
      </c:lineChart>
      <c:catAx>
        <c:axId val="1552022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15520224"/>
        <c:crosses val="min"/>
        <c:crossBetween val="between"/>
        <c:majorUnit val="5"/>
      </c:valAx>
    </c:plotArea>
    <c:plotVisOnly val="0"/>
    <c:dispBlanksAs val="gap"/>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manualLayout>
          <c:layoutTarget val="inner"/>
          <c:xMode val="edge"/>
          <c:yMode val="edge"/>
          <c:x val="0.0324"/>
          <c:y val="0.0681"/>
          <c:w val="0.9603"/>
          <c:h val="0.8616"/>
        </c:manualLayout>
      </c:layout>
      <c:barChart>
        <c:barDir val="col"/>
        <c:grouping val="stacked"/>
        <c:varyColors val="0"/>
        <c:ser>
          <c:idx val="0"/>
          <c:order val="0"/>
          <c:tx>
            <c:strRef>
              <c:f>Sheet1!$B$1</c:f>
              <c:strCache>
                <c:ptCount val="1"/>
                <c:pt idx="0">
                  <c:v>Production starts lower layer</c:v>
                </c:pt>
              </c:strCache>
            </c:strRef>
          </c:tx>
          <c:spPr>
            <a:solidFill>
              <a:srgbClr val="9DB1CF"/>
            </a:solidFill>
            <a:ln>
              <a:noFill/>
            </a:ln>
          </c:spPr>
          <c:invertIfNegative val="0"/>
          <c:dPt>
            <c:idx val="0"/>
            <c:invertIfNegative val="0"/>
            <c:bubble3D val="0"/>
            <c:spPr>
              <a:solidFill>
                <a:srgbClr val="9DB1CF"/>
              </a:solidFill>
              <a:ln>
                <a:noFill/>
              </a:ln>
            </c:spPr>
          </c:dPt>
          <c:dPt>
            <c:idx val="1"/>
            <c:invertIfNegative val="0"/>
            <c:bubble3D val="0"/>
            <c:spPr>
              <a:solidFill>
                <a:srgbClr val="9DB1CF"/>
              </a:solidFill>
              <a:ln>
                <a:noFill/>
              </a:ln>
            </c:spPr>
          </c:dPt>
          <c:dPt>
            <c:idx val="2"/>
            <c:invertIfNegative val="0"/>
            <c:bubble3D val="0"/>
            <c:spPr>
              <a:solidFill>
                <a:srgbClr val="9DB1CF"/>
              </a:solidFill>
              <a:ln>
                <a:noFill/>
              </a:ln>
            </c:spPr>
          </c:dPt>
          <c:dPt>
            <c:idx val="3"/>
            <c:invertIfNegative val="0"/>
            <c:bubble3D val="0"/>
            <c:spPr>
              <a:solidFill>
                <a:srgbClr val="9DB1CF"/>
              </a:solidFill>
              <a:ln>
                <a:noFill/>
              </a:ln>
            </c:spPr>
          </c:dPt>
          <c:dPt>
            <c:idx val="4"/>
            <c:invertIfNegative val="0"/>
            <c:bubble3D val="0"/>
            <c:spPr>
              <a:solidFill>
                <a:srgbClr val="9DB1CF"/>
              </a:solidFill>
              <a:ln>
                <a:noFill/>
              </a:ln>
            </c:spPr>
          </c:dPt>
          <c:dPt>
            <c:idx val="5"/>
            <c:invertIfNegative val="0"/>
            <c:bubble3D val="0"/>
            <c:spPr>
              <a:solidFill>
                <a:srgbClr val="9DB1CF"/>
              </a:solidFill>
              <a:ln>
                <a:noFill/>
              </a:ln>
            </c:spPr>
          </c:dPt>
          <c:dPt>
            <c:idx val="6"/>
            <c:invertIfNegative val="0"/>
            <c:bubble3D val="0"/>
            <c:spPr>
              <a:solidFill>
                <a:srgbClr val="9DB1CF"/>
              </a:solidFill>
              <a:ln>
                <a:noFill/>
              </a:ln>
            </c:spPr>
          </c:dPt>
          <c:dPt>
            <c:idx val="7"/>
            <c:invertIfNegative val="0"/>
            <c:bubble3D val="0"/>
            <c:spPr>
              <a:solidFill>
                <a:srgbClr val="6F8DB9"/>
              </a:solidFill>
              <a:ln>
                <a:noFill/>
              </a:ln>
            </c:spPr>
          </c:dPt>
          <c:dPt>
            <c:idx val="8"/>
            <c:invertIfNegative val="0"/>
            <c:bubble3D val="0"/>
            <c:spPr>
              <a:solidFill>
                <a:srgbClr val="364D6E"/>
              </a:solidFill>
              <a:ln>
                <a:noFill/>
              </a:ln>
            </c:spPr>
          </c:dPt>
          <c:dPt>
            <c:idx val="9"/>
            <c:invertIfNegative val="0"/>
            <c:bubble3D val="0"/>
            <c:spPr>
              <a:solidFill>
                <a:srgbClr val="364D6E"/>
              </a:solidFill>
              <a:ln>
                <a:noFill/>
              </a:ln>
            </c:spPr>
          </c:dPt>
          <c:cat>
            <c:strRef>
              <c:f>Sheet1!$A$2:$A$11</c:f>
              <c:strCache>
                <c:ptCount val="10"/>
                <c:pt idx="0">
                  <c:v>FY26</c:v>
                </c:pt>
                <c:pt idx="1">
                  <c:v>FY27</c:v>
                </c:pt>
                <c:pt idx="2">
                  <c:v>FY28</c:v>
                </c:pt>
                <c:pt idx="3">
                  <c:v>FY29</c:v>
                </c:pt>
                <c:pt idx="4">
                  <c:v>FY30</c:v>
                </c:pt>
                <c:pt idx="5">
                  <c:v>FY31</c:v>
                </c:pt>
                <c:pt idx="6">
                  <c:v>FY32</c:v>
                </c:pt>
                <c:pt idx="7">
                  <c:v>FY33</c:v>
                </c:pt>
                <c:pt idx="8">
                  <c:v>FY34</c:v>
                </c:pt>
                <c:pt idx="9">
                  <c:v>FY35</c:v>
                </c:pt>
              </c:strCache>
            </c:strRef>
          </c:cat>
          <c:val>
            <c:numRef>
              <c:f>Sheet1!$B$2:$B$11</c:f>
              <c:numCache>
                <c:formatCode>#,##0;"-"#,##0</c:formatCode>
                <c:ptCount val="10"/>
                <c:pt idx="1">
                  <c:v>5</c:v>
                </c:pt>
                <c:pt idx="2">
                  <c:v>18</c:v>
                </c:pt>
                <c:pt idx="3">
                  <c:v>25</c:v>
                </c:pt>
                <c:pt idx="4">
                  <c:v>26</c:v>
                </c:pt>
                <c:pt idx="5">
                  <c:v>26</c:v>
                </c:pt>
                <c:pt idx="6">
                  <c:v>21</c:v>
                </c:pt>
                <c:pt idx="7">
                  <c:v>8</c:v>
                </c:pt>
                <c:pt idx="8">
                  <c:v>35</c:v>
                </c:pt>
                <c:pt idx="9">
                  <c:v>35</c:v>
                </c:pt>
              </c:numCache>
            </c:numRef>
          </c:val>
        </c:ser>
        <c:ser>
          <c:idx val="1"/>
          <c:order val="1"/>
          <c:tx>
            <c:strRef>
              <c:f>Sheet1!$C$1</c:f>
              <c:strCache>
                <c:ptCount val="1"/>
                <c:pt idx="0">
                  <c:v>Production starts upper layer</c:v>
                </c:pt>
              </c:strCache>
            </c:strRef>
          </c:tx>
          <c:spPr>
            <a:solidFill>
              <a:srgbClr val="6F8DB9"/>
            </a:solidFill>
            <a:ln>
              <a:noFill/>
            </a:ln>
          </c:spPr>
          <c:invertIfNegative val="0"/>
          <c:dPt>
            <c:idx val="0"/>
            <c:invertIfNegative val="0"/>
            <c:bubble3D val="0"/>
            <c:spPr>
              <a:solidFill>
                <a:srgbClr val="6F8DB9"/>
              </a:solidFill>
              <a:ln>
                <a:noFill/>
              </a:ln>
            </c:spPr>
          </c:dPt>
          <c:dPt>
            <c:idx val="1"/>
            <c:invertIfNegative val="0"/>
            <c:bubble3D val="0"/>
            <c:spPr>
              <a:solidFill>
                <a:srgbClr val="6F8DB9"/>
              </a:solidFill>
              <a:ln>
                <a:noFill/>
              </a:ln>
            </c:spPr>
          </c:dPt>
          <c:dPt>
            <c:idx val="2"/>
            <c:invertIfNegative val="0"/>
            <c:bubble3D val="0"/>
            <c:spPr>
              <a:solidFill>
                <a:srgbClr val="6F8DB9"/>
              </a:solidFill>
              <a:ln>
                <a:noFill/>
              </a:ln>
            </c:spPr>
          </c:dPt>
          <c:dPt>
            <c:idx val="3"/>
            <c:invertIfNegative val="0"/>
            <c:bubble3D val="0"/>
            <c:spPr>
              <a:solidFill>
                <a:srgbClr val="6F8DB9"/>
              </a:solidFill>
              <a:ln>
                <a:noFill/>
              </a:ln>
            </c:spPr>
          </c:dPt>
          <c:dPt>
            <c:idx val="4"/>
            <c:invertIfNegative val="0"/>
            <c:bubble3D val="0"/>
            <c:spPr>
              <a:solidFill>
                <a:srgbClr val="6F8DB9"/>
              </a:solidFill>
              <a:ln>
                <a:noFill/>
              </a:ln>
            </c:spPr>
          </c:dPt>
          <c:dPt>
            <c:idx val="5"/>
            <c:invertIfNegative val="0"/>
            <c:bubble3D val="0"/>
            <c:spPr>
              <a:solidFill>
                <a:srgbClr val="6F8DB9"/>
              </a:solidFill>
              <a:ln>
                <a:noFill/>
              </a:ln>
            </c:spPr>
          </c:dPt>
          <c:dPt>
            <c:idx val="6"/>
            <c:invertIfNegative val="0"/>
            <c:bubble3D val="0"/>
            <c:spPr>
              <a:solidFill>
                <a:srgbClr val="6F8DB9"/>
              </a:solidFill>
              <a:ln>
                <a:noFill/>
              </a:ln>
            </c:spPr>
          </c:dPt>
          <c:dPt>
            <c:idx val="7"/>
            <c:invertIfNegative val="0"/>
            <c:bubble3D val="0"/>
            <c:spPr>
              <a:solidFill>
                <a:srgbClr val="364D6E"/>
              </a:solidFill>
              <a:ln>
                <a:noFill/>
              </a:ln>
            </c:spPr>
          </c:dPt>
          <c:dPt>
            <c:idx val="8"/>
            <c:invertIfNegative val="0"/>
            <c:bubble3D val="0"/>
            <c:spPr>
              <a:solidFill>
                <a:srgbClr val="364D6E"/>
              </a:solidFill>
              <a:ln>
                <a:noFill/>
              </a:ln>
            </c:spPr>
          </c:dPt>
          <c:dPt>
            <c:idx val="9"/>
            <c:invertIfNegative val="0"/>
            <c:bubble3D val="0"/>
            <c:spPr>
              <a:solidFill>
                <a:srgbClr val="364D6E"/>
              </a:solidFill>
              <a:ln>
                <a:noFill/>
              </a:ln>
            </c:spPr>
          </c:dPt>
          <c:cat>
            <c:strRef>
              <c:f>Sheet1!$A$2:$A$11</c:f>
              <c:strCache>
                <c:ptCount val="10"/>
                <c:pt idx="0">
                  <c:v>FY26</c:v>
                </c:pt>
                <c:pt idx="1">
                  <c:v>FY27</c:v>
                </c:pt>
                <c:pt idx="2">
                  <c:v>FY28</c:v>
                </c:pt>
                <c:pt idx="3">
                  <c:v>FY29</c:v>
                </c:pt>
                <c:pt idx="4">
                  <c:v>FY30</c:v>
                </c:pt>
                <c:pt idx="5">
                  <c:v>FY31</c:v>
                </c:pt>
                <c:pt idx="6">
                  <c:v>FY32</c:v>
                </c:pt>
                <c:pt idx="7">
                  <c:v>FY33</c:v>
                </c:pt>
                <c:pt idx="8">
                  <c:v>FY34</c:v>
                </c:pt>
                <c:pt idx="9">
                  <c:v>FY35</c:v>
                </c:pt>
              </c:strCache>
            </c:strRef>
          </c:cat>
          <c:val>
            <c:numRef>
              <c:f>Sheet1!$C$2:$C$11</c:f>
              <c:numCache>
                <c:formatCode>#,##0;"-"#,##0</c:formatCode>
                <c:ptCount val="10"/>
                <c:pt idx="6">
                  <c:v>14</c:v>
                </c:pt>
                <c:pt idx="7">
                  <c:v>27</c:v>
                </c:pt>
              </c:numCache>
            </c:numRef>
          </c:val>
        </c:ser>
        <c:gapWidth val="180"/>
        <c:overlap val="100"/>
        <c:axId val="111111111"/>
        <c:axId val="222222222"/>
      </c:barChart>
      <c:catAx>
        <c:axId val="111111111"/>
        <c:scaling>
          <c:orientation val="minMax"/>
        </c:scaling>
        <c:delete val="0"/>
        <c:axPos val="b"/>
        <c:numFmt formatCode="General" sourceLinked="1"/>
        <c:majorTickMark val="none"/>
        <c:minorTickMark val="none"/>
        <c:tickLblPos val="none"/>
        <c:spPr>
          <a:ln w="9525"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222222222"/>
        <c:crosses val="autoZero"/>
        <c:auto val="1"/>
        <c:lblAlgn val="ctr"/>
        <c:lblOffset val="100"/>
        <c:noMultiLvlLbl val="0"/>
      </c:catAx>
      <c:valAx>
        <c:axId val="222222222"/>
        <c:scaling>
          <c:orientation val="minMax"/>
          <c:max val="60"/>
          <c:min val="0"/>
        </c:scaling>
        <c:delete val="0"/>
        <c:axPos val="l"/>
        <c:numFmt formatCode="#,##0;&quot;-&quot;#,##0" sourceLinked="0"/>
        <c:majorTickMark val="none"/>
        <c:minorTickMark val="none"/>
        <c:tickLblPos val="none"/>
        <c:spPr>
          <a:ln w="9525" cap="flat">
            <a:solidFill>
              <a:srgbClr val="000000"/>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111111111"/>
        <c:crosses val="autoZero"/>
        <c:crossBetween val="between"/>
        <c:majorUnit val="10"/>
      </c:valAx>
    </c:plotArea>
    <c:plotVisOnly val="1"/>
    <c:dispBlanksAs val="gap"/>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2612"/>
          </a:xfrm>
          <a:prstGeom prst="rect">
            <a:avLst/>
          </a:prstGeom>
        </p:spPr>
        <p:txBody>
          <a:bodyPr vert="horz" lIns="92307" tIns="46153" rIns="92307" bIns="46153"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927776" y="0"/>
            <a:ext cx="3004820" cy="462612"/>
          </a:xfrm>
          <a:prstGeom prst="rect">
            <a:avLst/>
          </a:prstGeom>
        </p:spPr>
        <p:txBody>
          <a:bodyPr vert="horz" lIns="92307" tIns="46153" rIns="92307" bIns="46153" rtlCol="0"/>
          <a:lstStyle>
            <a:lvl1pPr algn="r">
              <a:defRPr sz="1200"/>
            </a:lvl1pPr>
          </a:lstStyle>
          <a:p>
            <a:fld id="{8ACBDEED-51C7-9D44-8B0E-E5493C8A1496}" type="datetimeFigureOut">
              <a:rPr lang="en-US">
                <a:latin typeface="Arial" panose="020B0604020202020204" pitchFamily="34" charset="0"/>
              </a:rPr>
              <a:t>5/15/2026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757591"/>
            <a:ext cx="3004820" cy="462611"/>
          </a:xfrm>
          <a:prstGeom prst="rect">
            <a:avLst/>
          </a:prstGeom>
        </p:spPr>
        <p:txBody>
          <a:bodyPr vert="horz" lIns="92307" tIns="46153" rIns="92307" bIns="46153"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927776" y="8757591"/>
            <a:ext cx="3004820" cy="462611"/>
          </a:xfrm>
          <a:prstGeom prst="rect">
            <a:avLst/>
          </a:prstGeom>
        </p:spPr>
        <p:txBody>
          <a:bodyPr vert="horz" lIns="92307" tIns="46153" rIns="92307" bIns="46153" rtlCol="0" anchor="b"/>
          <a:lstStyle>
            <a:lvl1pPr algn="r">
              <a:defRPr sz="1200"/>
            </a:lvl1pPr>
          </a:lstStyle>
          <a:p>
            <a:fld id="{89B20CC8-1D49-1F4A-B7DF-0C6E98397D09}" type="slidenum">
              <a:rPr>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36022943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tx2"/>
        </a:solidFill>
        <a:effectLst/>
      </p:bgPr>
    </p:bg>
    <p:spTree>
      <p:nvGrpSpPr>
        <p:cNvPr id="1" name=""/>
        <p:cNvGrpSpPr/>
        <p:nvPr/>
      </p:nvGrpSpPr>
      <p:grpSpPr>
        <a:xfrm>
          <a:off x="0" y="0"/>
          <a:ext cx="0" cy="0"/>
          <a:chOff x="0" y="0"/>
          <a:chExt cx="0" cy="0"/>
        </a:xfrm>
      </p:grpSpPr>
      <p:sp>
        <p:nvSpPr>
          <p:cNvPr id="8"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a:spLocks noGrp="1"/>
          </p:cNvSpPr>
          <p:nvPr>
            <p:ph type="title" hasCustomPrompt="1"/>
          </p:nvPr>
        </p:nvSpPr>
        <p:spPr>
          <a:xfrm>
            <a:off x="453080" y="5640670"/>
            <a:ext cx="7776391" cy="473423"/>
          </a:xfrm>
        </p:spPr>
        <p:txBody>
          <a:bodyPr anchor="t"/>
          <a:lstStyle>
            <a:lvl1pPr>
              <a:defRPr sz="1600">
                <a:solidFill>
                  <a:schemeClr val="bg2"/>
                </a:solidFill>
              </a:defRPr>
            </a:lvl1pPr>
          </a:lstStyle>
          <a:p>
            <a:r>
              <a:rPr lang="en-US"/>
              <a:t>Date (16 PT)</a:t>
            </a:r>
          </a:p>
        </p:txBody>
      </p:sp>
      <p:cxnSp>
        <p:nvCxnSpPr>
          <p:cNvPr id="12" name="Straight Connector 11"/>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9" name="Rectangle 8"/>
          <p:cNvSpPr/>
          <p:nvPr userDrawn="1"/>
        </p:nvSpPr>
        <p:spPr>
          <a:xfrm>
            <a:off x="0" y="3429000"/>
            <a:ext cx="0" cy="136506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6"/>
          <p:cNvSpPr>
            <a:spLocks noGrp="1"/>
          </p:cNvSpPr>
          <p:nvPr>
            <p:ph type="body" sz="quarter" idx="12" hasCustomPrompt="1"/>
          </p:nvPr>
        </p:nvSpPr>
        <p:spPr>
          <a:xfrm>
            <a:off x="453080" y="3260838"/>
            <a:ext cx="7776399" cy="2162129"/>
          </a:xfrm>
        </p:spPr>
        <p:txBody>
          <a:bodyPr anchor="b">
            <a:noAutofit/>
          </a:bodyPr>
          <a:lstStyle>
            <a:lvl1pPr marL="0" indent="0">
              <a:lnSpc>
                <a:spcPct val="100000"/>
              </a:lnSpc>
              <a:spcBef>
                <a:spcPts val="0"/>
              </a:spcBef>
              <a:buNone/>
              <a:defRPr sz="3600">
                <a:solidFill>
                  <a:schemeClr val="bg2"/>
                </a:solidFill>
              </a:defRPr>
            </a:lvl1pPr>
          </a:lstStyle>
          <a:p>
            <a:pPr lvl="0"/>
            <a:r>
              <a:rPr lang="en-US"/>
              <a:t>Title (36 PT)</a:t>
            </a:r>
          </a:p>
        </p:txBody>
      </p:sp>
      <p:grpSp>
        <p:nvGrpSpPr>
          <p:cNvPr id="4" name="Group 3"/>
          <p:cNvGrpSpPr/>
          <p:nvPr userDrawn="1"/>
        </p:nvGrpSpPr>
        <p:grpSpPr>
          <a:xfrm>
            <a:off x="453080" y="743907"/>
            <a:ext cx="11230920" cy="1637662"/>
            <a:chOff x="588922" y="596464"/>
            <a:chExt cx="10697007" cy="1559809"/>
          </a:xfrm>
        </p:grpSpPr>
        <p:pic>
          <p:nvPicPr>
            <p:cNvPr id="5" name="Graphic 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8922" y="596464"/>
              <a:ext cx="7799041" cy="1559809"/>
            </a:xfrm>
            <a:prstGeom prst="rect">
              <a:avLst/>
            </a:prstGeom>
          </p:spPr>
        </p:pic>
        <p:pic>
          <p:nvPicPr>
            <p:cNvPr id="6" name="Graphic 5"/>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80882" y="913377"/>
              <a:ext cx="2305047" cy="914399"/>
            </a:xfrm>
            <a:prstGeom prst="rect">
              <a:avLst/>
            </a:prstGeom>
          </p:spPr>
        </p:pic>
      </p:grpSp>
    </p:spTree>
    <p:extLst>
      <p:ext uri="{BB962C8B-B14F-4D97-AF65-F5344CB8AC3E}">
        <p14:creationId xmlns:p14="http://schemas.microsoft.com/office/powerpoint/2010/main" val="24071211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10"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7" name="Text Placeholder 26"/>
          <p:cNvSpPr>
            <a:spLocks noGrp="1"/>
          </p:cNvSpPr>
          <p:nvPr>
            <p:ph type="body" sz="quarter" idx="11" hasCustomPrompt="1"/>
          </p:nvPr>
        </p:nvSpPr>
        <p:spPr>
          <a:xfrm>
            <a:off x="453082" y="2383743"/>
            <a:ext cx="9153537" cy="2105200"/>
          </a:xfrm>
        </p:spPr>
        <p:txBody>
          <a:bodyPr anchor="b">
            <a:noAutofit/>
          </a:bodyPr>
          <a:lstStyle>
            <a:lvl1pPr marL="0" indent="0">
              <a:lnSpc>
                <a:spcPct val="100000"/>
              </a:lnSpc>
              <a:spcBef>
                <a:spcPts val="0"/>
              </a:spcBef>
              <a:buNone/>
              <a:defRPr sz="3600">
                <a:solidFill>
                  <a:schemeClr val="bg2"/>
                </a:solidFill>
              </a:defRPr>
            </a:lvl1pPr>
          </a:lstStyle>
          <a:p>
            <a:pPr lvl="0"/>
            <a:r>
              <a:rPr lang="en-US"/>
              <a:t>Section Divider Title (36 PT)</a:t>
            </a:r>
          </a:p>
        </p:txBody>
      </p:sp>
      <p:sp>
        <p:nvSpPr>
          <p:cNvPr id="8" name="Text Placeholder 26"/>
          <p:cNvSpPr>
            <a:spLocks noGrp="1"/>
          </p:cNvSpPr>
          <p:nvPr>
            <p:ph type="body" sz="quarter" idx="12" hasCustomPrompt="1"/>
          </p:nvPr>
        </p:nvSpPr>
        <p:spPr>
          <a:xfrm>
            <a:off x="453082" y="4715093"/>
            <a:ext cx="9153537" cy="499503"/>
          </a:xfrm>
        </p:spPr>
        <p:txBody>
          <a:bodyPr anchor="t">
            <a:noAutofit/>
          </a:bodyPr>
          <a:lstStyle>
            <a:lvl1pPr marL="0" marR="0" indent="0" algn="l" defTabSz="914400" rtl="0" eaLnBrk="1" fontAlgn="auto" latinLnBrk="0" hangingPunct="1">
              <a:lnSpc>
                <a:spcPct val="100000"/>
              </a:lnSpc>
              <a:spcBef>
                <a:spcPts val="0"/>
              </a:spcBef>
              <a:spcAft>
                <a:spcPts val="0"/>
              </a:spcAft>
              <a:buClr>
                <a:schemeClr val="tx2"/>
              </a:buClr>
              <a:buSzPct val="120000"/>
              <a:buFont typeface="Arial" panose="020B0604020202020204" pitchFamily="34" charset="0"/>
              <a:buNone/>
              <a:tabLst/>
              <a:defRPr sz="1600">
                <a:solidFill>
                  <a:schemeClr val="bg2"/>
                </a:solidFill>
              </a:defRPr>
            </a:lvl1pPr>
          </a:lstStyle>
          <a:p>
            <a:pPr lvl="0"/>
            <a:r>
              <a:rPr lang="en-US"/>
              <a:t>Subsections / Headline Paragraph (16 PT)</a:t>
            </a:r>
          </a:p>
        </p:txBody>
      </p:sp>
      <p:pic>
        <p:nvPicPr>
          <p:cNvPr id="29" name="Graphic 28"/>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439" y="6477927"/>
            <a:ext cx="226315" cy="301753"/>
          </a:xfrm>
          <a:prstGeom prst="rect">
            <a:avLst/>
          </a:prstGeom>
        </p:spPr>
      </p:pic>
      <p:sp>
        <p:nvSpPr>
          <p:cNvPr id="2" name="TextBox 1"/>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accent4"/>
                </a:solidFill>
              </a:rPr>
              <a:pPr algn="ctr"/>
              <a:t>‹#›</a:t>
            </a:fld>
            <a:endParaRPr lang="en-US" sz="800">
              <a:solidFill>
                <a:schemeClr val="accent4"/>
              </a:solidFill>
            </a:endParaRPr>
          </a:p>
        </p:txBody>
      </p:sp>
    </p:spTree>
    <p:extLst>
      <p:ext uri="{BB962C8B-B14F-4D97-AF65-F5344CB8AC3E}">
        <p14:creationId xmlns:p14="http://schemas.microsoft.com/office/powerpoint/2010/main" val="36690492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0% Block + Title">
    <p:spTree>
      <p:nvGrpSpPr>
        <p:cNvPr id="1" name=""/>
        <p:cNvGrpSpPr/>
        <p:nvPr/>
      </p:nvGrpSpPr>
      <p:grpSpPr>
        <a:xfrm>
          <a:off x="0" y="0"/>
          <a:ext cx="0" cy="0"/>
          <a:chOff x="0" y="0"/>
          <a:chExt cx="0" cy="0"/>
        </a:xfrm>
      </p:grpSpPr>
      <p:sp>
        <p:nvSpPr>
          <p:cNvPr id="8"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0" y="0"/>
            <a:ext cx="6096000"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5838" y="566400"/>
            <a:ext cx="5181827" cy="566928"/>
          </a:xfrm>
        </p:spPr>
        <p:txBody>
          <a:bodyPr/>
          <a:lstStyle>
            <a:lvl1pPr>
              <a:defRPr>
                <a:solidFill>
                  <a:schemeClr val="bg2"/>
                </a:solidFill>
              </a:defRPr>
            </a:lvl1pPr>
          </a:lstStyle>
          <a:p>
            <a:r>
              <a:rPr lang="en-US"/>
              <a:t>Click to edit Title (20 PT)</a:t>
            </a:r>
          </a:p>
        </p:txBody>
      </p:sp>
      <p:sp>
        <p:nvSpPr>
          <p:cNvPr id="5" name="Text Placeholder 4"/>
          <p:cNvSpPr>
            <a:spLocks noGrp="1"/>
          </p:cNvSpPr>
          <p:nvPr>
            <p:ph type="body" sz="quarter" idx="10" hasCustomPrompt="1"/>
          </p:nvPr>
        </p:nvSpPr>
        <p:spPr>
          <a:xfrm>
            <a:off x="455460" y="263452"/>
            <a:ext cx="4874834"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3" name="Content Placeholder 5"/>
          <p:cNvSpPr>
            <a:spLocks noGrp="1"/>
          </p:cNvSpPr>
          <p:nvPr>
            <p:ph sz="quarter" idx="15" hasCustomPrompt="1"/>
          </p:nvPr>
        </p:nvSpPr>
        <p:spPr>
          <a:xfrm>
            <a:off x="6552217" y="1424682"/>
            <a:ext cx="5182583" cy="4712658"/>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6" hasCustomPrompt="1"/>
          </p:nvPr>
        </p:nvSpPr>
        <p:spPr>
          <a:xfrm>
            <a:off x="455460" y="1424682"/>
            <a:ext cx="5181827" cy="4712657"/>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96963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ank">
    <p:spTree>
      <p:nvGrpSpPr>
        <p:cNvPr id="1" name=""/>
        <p:cNvGrpSpPr/>
        <p:nvPr/>
      </p:nvGrpSpPr>
      <p:grpSpPr>
        <a:xfrm>
          <a:off x="0" y="0"/>
          <a:ext cx="0" cy="0"/>
          <a:chOff x="0" y="0"/>
          <a:chExt cx="0" cy="0"/>
        </a:xfrm>
      </p:grpSpPr>
      <p:sp>
        <p:nvSpPr>
          <p:cNvPr id="5"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4"/>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 name="Title 1"/>
          <p:cNvSpPr>
            <a:spLocks noGrp="1"/>
          </p:cNvSpPr>
          <p:nvPr>
            <p:ph type="title" hasCustomPrompt="1"/>
          </p:nvPr>
        </p:nvSpPr>
        <p:spPr>
          <a:xfrm>
            <a:off x="453079" y="566400"/>
            <a:ext cx="11282099" cy="566928"/>
          </a:xfrm>
        </p:spPr>
        <p:txBody>
          <a:bodyPr/>
          <a:lstStyle>
            <a:lvl1pPr>
              <a:defRPr>
                <a:solidFill>
                  <a:schemeClr val="tx1"/>
                </a:solidFill>
              </a:defRPr>
            </a:lvl1pPr>
          </a:lstStyle>
          <a:p>
            <a:r>
              <a:rPr lang="en-US"/>
              <a:t>Click to edit Title (20 PT)</a:t>
            </a:r>
          </a:p>
        </p:txBody>
      </p:sp>
    </p:spTree>
    <p:extLst>
      <p:ext uri="{BB962C8B-B14F-4D97-AF65-F5344CB8AC3E}">
        <p14:creationId xmlns:p14="http://schemas.microsoft.com/office/powerpoint/2010/main" val="36652981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571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Glossar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5435E64-C67E-B7D2-F1D2-3FF5E4CADA9A}"/>
              </a:ext>
            </a:extLst>
          </p:cNvPr>
          <p:cNvGraphicFramePr>
            <a:graphicFrameLocks/>
          </p:cNvGraphicFramePr>
          <p:nvPr userDrawn="1">
            <p:custDataLst>
              <p:tags r:id="rId8"/>
            </p:custDataLst>
            <p:extLst>
              <p:ext uri="{D42A27DB-BD31-4B8C-83A1-F6EECF244321}">
                <p14:modId xmlns:p14="http://schemas.microsoft.com/office/powerpoint/2010/main" val="1290092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0" name=""/>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52702" y="566399"/>
            <a:ext cx="11282100" cy="566919"/>
          </a:xfrm>
          <a:prstGeom prst="rect">
            <a:avLst/>
          </a:prstGeom>
        </p:spPr>
        <p:txBody>
          <a:bodyPr vert="horz" wrap="square" lIns="0" tIns="0" rIns="0" bIns="0" rtlCol="0" anchor="t">
            <a:noAutofit/>
          </a:bodyPr>
          <a:lstStyle/>
          <a:p>
            <a:r>
              <a:rPr lang="en-US"/>
              <a:t>Click to edit Master Title (20 PT)</a:t>
            </a:r>
            <a:br>
              <a:rPr lang="en-US"/>
            </a:br>
            <a:br>
              <a:rPr lang="en-US"/>
            </a:br>
            <a:endParaRPr lang="en-US"/>
          </a:p>
        </p:txBody>
      </p:sp>
      <p:cxnSp>
        <p:nvCxnSpPr>
          <p:cNvPr id="10" name="Straight Connector 9"/>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6" name="Text Placeholder 25"/>
          <p:cNvSpPr>
            <a:spLocks noGrp="1"/>
          </p:cNvSpPr>
          <p:nvPr>
            <p:ph type="body" idx="1"/>
          </p:nvPr>
        </p:nvSpPr>
        <p:spPr>
          <a:xfrm>
            <a:off x="452701" y="1424682"/>
            <a:ext cx="11282099" cy="4712654"/>
          </a:xfrm>
          <a:prstGeom prst="rect">
            <a:avLst/>
          </a:prstGeom>
        </p:spPr>
        <p:txBody>
          <a:bodyPr vert="horz" lIns="0" tIns="0" rIns="0" bIns="0" rtlCol="0">
            <a:noAutofit/>
          </a:bodyPr>
          <a:lstStyle/>
          <a:p>
            <a:pPr lvl="0"/>
            <a:r>
              <a:rPr lang="en-US"/>
              <a:t>Click to edit Master text styles (12 PT)</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Arial" panose="020B0604020202020204"/>
                <a:ea typeface="+mn-ea"/>
                <a:cs typeface="+mn-cs"/>
              </a:rPr>
              <a:t>SARONIC PROPRIETARY AND CONFIDENTIAL</a:t>
            </a:r>
          </a:p>
        </p:txBody>
      </p:sp>
      <p:sp>
        <p:nvSpPr>
          <p:cNvPr id="12" name="TextBox 11"/>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tx2"/>
                </a:solidFill>
              </a:rPr>
              <a:pPr algn="ctr"/>
              <a:t>‹#›</a:t>
            </a:fld>
            <a:endParaRPr lang="en-US" sz="800">
              <a:solidFill>
                <a:schemeClr val="tx2"/>
              </a:solidFill>
            </a:endParaRPr>
          </a:p>
        </p:txBody>
      </p:sp>
      <p:cxnSp>
        <p:nvCxnSpPr>
          <p:cNvPr id="20" name="Straight Connector 19"/>
          <p:cNvCxnSpPr>
            <a:cxnSpLocks/>
          </p:cNvCxnSpPr>
          <p:nvPr userDrawn="1"/>
        </p:nvCxnSpPr>
        <p:spPr>
          <a:xfrm>
            <a:off x="457193"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cxnSpLocks/>
          </p:cNvCxnSpPr>
          <p:nvPr userDrawn="1"/>
        </p:nvCxnSpPr>
        <p:spPr>
          <a:xfrm>
            <a:off x="11724461"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pic>
        <p:nvPicPr>
          <p:cNvPr id="29" name="Graphic 28"/>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15439" y="6477927"/>
            <a:ext cx="226315" cy="301753"/>
          </a:xfrm>
          <a:prstGeom prst="rect">
            <a:avLst/>
          </a:prstGeom>
        </p:spPr>
      </p:pic>
    </p:spTree>
    <p:extLst>
      <p:ext uri="{BB962C8B-B14F-4D97-AF65-F5344CB8AC3E}">
        <p14:creationId xmlns:p14="http://schemas.microsoft.com/office/powerpoint/2010/main" val="833979895"/>
      </p:ext>
    </p:extLst>
  </p:cSld>
  <p:clrMap bg1="lt1" tx1="dk1" bg2="lt2" tx2="dk2" accent1="accent1" accent2="accent2" accent3="accent3" accent4="accent4" accent5="accent5" accent6="accent6" hlink="hlink" folHlink="folHlink"/>
  <p:sldLayoutIdLst>
    <p:sldLayoutId id="2147483674" r:id="rId1"/>
    <p:sldLayoutId id="2147483654" r:id="rId2"/>
    <p:sldLayoutId id="2147483658" r:id="rId3"/>
    <p:sldLayoutId id="2147483661" r:id="rId4"/>
    <p:sldLayoutId id="2147483691" r:id="rId5"/>
    <p:sldLayoutId id="2147483696" r:id="rId6"/>
  </p:sldLayoutIdLst>
  <p:txStyles>
    <p:titleStyle>
      <a:lvl1pPr algn="l" defTabSz="914400" rtl="0" eaLnBrk="1" latinLnBrk="0" hangingPunct="1">
        <a:lnSpc>
          <a:spcPct val="100000"/>
        </a:lnSpc>
        <a:spcBef>
          <a:spcPct val="0"/>
        </a:spcBef>
        <a:buNone/>
        <a:defRPr sz="2000" kern="1200">
          <a:solidFill>
            <a:schemeClr val="tx1"/>
          </a:solidFill>
          <a:latin typeface="+mj-lt"/>
          <a:ea typeface="+mj-ea"/>
          <a:cs typeface="+mj-cs"/>
        </a:defRPr>
      </a:lvl1pPr>
    </p:titleStyle>
    <p:bodyStyle>
      <a:lvl1pPr marL="120650" indent="-120650"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1pPr>
      <a:lvl2pPr marL="233363" indent="-117475"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2pPr>
      <a:lvl3pPr marL="350838" indent="-117475" algn="l" defTabSz="914400" rtl="0" eaLnBrk="1" latinLnBrk="0" hangingPunct="1">
        <a:lnSpc>
          <a:spcPct val="100000"/>
        </a:lnSpc>
        <a:spcBef>
          <a:spcPts val="800"/>
        </a:spcBef>
        <a:buClr>
          <a:schemeClr val="tx2"/>
        </a:buClr>
        <a:buSzPct val="90000"/>
        <a:buFont typeface="Wingdings" pitchFamily="2" charset="2"/>
        <a:buChar char="§"/>
        <a:tabLst/>
        <a:defRPr sz="1200" kern="1200">
          <a:solidFill>
            <a:schemeClr val="tx2"/>
          </a:solidFill>
          <a:latin typeface="+mn-lt"/>
          <a:ea typeface="+mn-ea"/>
          <a:cs typeface="+mn-cs"/>
        </a:defRPr>
      </a:lvl3pPr>
      <a:lvl4pPr marL="463550" indent="-111125"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4pPr>
      <a:lvl5pPr marL="573088" indent="-109538"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_3071a23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_9f2e24d3.png"/><Relationship Id="rId3" Type="http://schemas.openxmlformats.org/officeDocument/2006/relationships/image" Target="../media/image7_f6006d1c.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_3071a23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6.xml"/><Relationship Id="rId3" Type="http://schemas.openxmlformats.org/officeDocument/2006/relationships/image" Target="../media/image8_3071a23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7.xml"/><Relationship Id="rId3" Type="http://schemas.openxmlformats.org/officeDocument/2006/relationships/image" Target="../media/image6_3071a23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_3071a23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_672efe4b.png"/><Relationship Id="rId3" Type="http://schemas.openxmlformats.org/officeDocument/2006/relationships/image" Target="../media/image14_1bf4c99e.png"/><Relationship Id="rId4" Type="http://schemas.openxmlformats.org/officeDocument/2006/relationships/image" Target="../media/image15_25624857.png"/><Relationship Id="rId5" Type="http://schemas.openxmlformats.org/officeDocument/2006/relationships/image" Target="../media/image16_da5f3708.png"/><Relationship Id="rId6" Type="http://schemas.openxmlformats.org/officeDocument/2006/relationships/image" Target="../media/image17_f373f1da.png"/><Relationship Id="rId7" Type="http://schemas.openxmlformats.org/officeDocument/2006/relationships/image" Target="../media/image18_ddebb15f.png"/><Relationship Id="rId8" Type="http://schemas.openxmlformats.org/officeDocument/2006/relationships/image" Target="../media/image19_84003496.png"/><Relationship Id="rId9" Type="http://schemas.openxmlformats.org/officeDocument/2006/relationships/image" Target="../media/image21_0bacf462.png"/><Relationship Id="rId10" Type="http://schemas.openxmlformats.org/officeDocument/2006/relationships/image" Target="../media/image22_9fb945dc.png"/><Relationship Id="rId11" Type="http://schemas.openxmlformats.org/officeDocument/2006/relationships/image" Target="../media/image23_03c42e94.png"/><Relationship Id="rId12" Type="http://schemas.openxmlformats.org/officeDocument/2006/relationships/image" Target="../media/image24_2778926d.png"/><Relationship Id="rId13" Type="http://schemas.openxmlformats.org/officeDocument/2006/relationships/image" Target="../media/image25_bd50af1e.png"/><Relationship Id="rId14" Type="http://schemas.openxmlformats.org/officeDocument/2006/relationships/image" Target="../media/image26_8d2caa7b.png"/><Relationship Id="rId15" Type="http://schemas.openxmlformats.org/officeDocument/2006/relationships/image" Target="../media/image27_768e13fd.png"/><Relationship Id="rId16" Type="http://schemas.openxmlformats.org/officeDocument/2006/relationships/image" Target="../media/image28_9cbe8d79.png"/><Relationship Id="rId17" Type="http://schemas.openxmlformats.org/officeDocument/2006/relationships/image" Target="../media/image29_4d22badb.png"/><Relationship Id="rId18" Type="http://schemas.openxmlformats.org/officeDocument/2006/relationships/image" Target="../media/image30_ee91678f.png"/><Relationship Id="rId19" Type="http://schemas.openxmlformats.org/officeDocument/2006/relationships/image" Target="../media/image31_98d329b1.png"/><Relationship Id="rId20" Type="http://schemas.openxmlformats.org/officeDocument/2006/relationships/image" Target="../media/image32_251526d6.png"/><Relationship Id="rId21" Type="http://schemas.openxmlformats.org/officeDocument/2006/relationships/image" Target="../media/image33_f545c301.png"/><Relationship Id="rId22" Type="http://schemas.openxmlformats.org/officeDocument/2006/relationships/image" Target="../media/image34_75574897.jpeg"/><Relationship Id="rId23" Type="http://schemas.openxmlformats.org/officeDocument/2006/relationships/image" Target="../media/image35_b95a746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chart" Target="../charts/chart12.xml"/><Relationship Id="rId6" Type="http://schemas.openxmlformats.org/officeDocument/2006/relationships/chart" Target="../charts/char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0.xml"/><Relationship Id="rId3" Type="http://schemas.openxmlformats.org/officeDocument/2006/relationships/image" Target="../media/image7_3071a231.jpeg"/><Relationship Id="rId4" Type="http://schemas.openxmlformats.org/officeDocument/2006/relationships/image" Target="../media/image8_ffd8575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1.xml"/><Relationship Id="rId3" Type="http://schemas.openxmlformats.org/officeDocument/2006/relationships/image" Target="../media/image7_3071a231.jpeg"/><Relationship Id="rId4" Type="http://schemas.openxmlformats.org/officeDocument/2006/relationships/image" Target="../media/image8_ffd857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2.xml"/><Relationship Id="rId3" Type="http://schemas.openxmlformats.org/officeDocument/2006/relationships/image" Target="../media/image7_3071a231.jpeg"/><Relationship Id="rId4" Type="http://schemas.openxmlformats.org/officeDocument/2006/relationships/image" Target="../media/image8_ffd857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Performance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Archetype Comps (2/3) | VOCC performance ’21-’22 driven by historically high freight rates; charter companies benefitted through ’24 from leases locked in ’21-’22.</a:t>
            </a:r>
          </a:p>
        </p:txBody>
      </p:sp>
      <p:graphicFrame>
        <p:nvGraphicFramePr>
          <p:cNvPr id="100" name="Chart"/>
          <p:cNvGraphicFramePr/>
          <p:nvPr/>
        </p:nvGraphicFramePr>
        <p:xfrm>
          <a:off x="341071" y="1550822"/>
          <a:ext cx="8491118" cy="4754880"/>
        </p:xfrm>
        <a:graphic>
          <a:graphicData uri="http://schemas.openxmlformats.org/drawingml/2006/chart">
            <c:chart xmlns:c="http://schemas.openxmlformats.org/drawingml/2006/chart" xmlns:r="http://schemas.openxmlformats.org/officeDocument/2006/relationships" r:id="rId2"/>
          </a:graphicData>
        </a:graphic>
      </p:graphicFrame>
      <p:sp>
        <p:nvSpPr>
          <p:cNvPr id="101" name="YearLabel"/>
          <p:cNvSpPr txBox="1"/>
          <p:nvPr/>
        </p:nvSpPr>
        <p:spPr>
          <a:xfrm>
            <a:off x="1947672"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2020</a:t>
            </a:r>
          </a:p>
        </p:txBody>
      </p:sp>
      <p:sp>
        <p:nvSpPr>
          <p:cNvPr id="102" name="YearLabel"/>
          <p:cNvSpPr txBox="1"/>
          <p:nvPr/>
        </p:nvSpPr>
        <p:spPr>
          <a:xfrm>
            <a:off x="3281782"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2021</a:t>
            </a:r>
          </a:p>
        </p:txBody>
      </p:sp>
      <p:sp>
        <p:nvSpPr>
          <p:cNvPr id="103" name="YearLabel"/>
          <p:cNvSpPr txBox="1"/>
          <p:nvPr/>
        </p:nvSpPr>
        <p:spPr>
          <a:xfrm>
            <a:off x="4613148"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2022</a:t>
            </a:r>
          </a:p>
        </p:txBody>
      </p:sp>
      <p:sp>
        <p:nvSpPr>
          <p:cNvPr id="104" name="YearLabel"/>
          <p:cNvSpPr txBox="1"/>
          <p:nvPr/>
        </p:nvSpPr>
        <p:spPr>
          <a:xfrm>
            <a:off x="5945429"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2023</a:t>
            </a:r>
          </a:p>
        </p:txBody>
      </p:sp>
      <p:sp>
        <p:nvSpPr>
          <p:cNvPr id="105" name="YearLabel"/>
          <p:cNvSpPr txBox="1"/>
          <p:nvPr/>
        </p:nvSpPr>
        <p:spPr>
          <a:xfrm>
            <a:off x="7278624"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2024</a:t>
            </a:r>
          </a:p>
        </p:txBody>
      </p:sp>
      <p:sp>
        <p:nvSpPr>
          <p:cNvPr id="106" name="YAxisTitle"/>
          <p:cNvSpPr txBox="1"/>
          <p:nvPr/>
        </p:nvSpPr>
        <p:spPr>
          <a:xfrm>
            <a:off x="487375" y="1376172"/>
            <a:ext cx="972922"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EBIT Margin (%)</a:t>
            </a:r>
          </a:p>
        </p:txBody>
      </p:sp>
      <p:sp>
        <p:nvSpPr>
          <p:cNvPr id="107" name="LegendMarker"/>
          <p:cNvSpPr txBox="1"/>
          <p:nvPr/>
        </p:nvSpPr>
        <p:spPr>
          <a:xfrm>
            <a:off x="6536131" y="5105095"/>
            <a:ext cx="133502" cy="133502"/>
          </a:xfrm>
          <a:prstGeom prst="ellipse">
            <a:avLst/>
          </a:prstGeom>
          <a:solidFill>
            <a:srgbClr val="C30C3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08" name="LegendMarker"/>
          <p:cNvSpPr txBox="1"/>
          <p:nvPr/>
        </p:nvSpPr>
        <p:spPr>
          <a:xfrm>
            <a:off x="6536131" y="5309006"/>
            <a:ext cx="133502" cy="133502"/>
          </a:xfrm>
          <a:prstGeom prst="ellipse">
            <a:avLst/>
          </a:prstGeom>
          <a:solidFill>
            <a:srgbClr val="364D6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09" name="LegendMarker"/>
          <p:cNvSpPr txBox="1"/>
          <p:nvPr/>
        </p:nvSpPr>
        <p:spPr>
          <a:xfrm>
            <a:off x="6536131" y="5512003"/>
            <a:ext cx="133502" cy="133502"/>
          </a:xfrm>
          <a:prstGeom prst="ellipse">
            <a:avLst/>
          </a:prstGeom>
          <a:solidFill>
            <a:srgbClr val="27AE6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0" name="LegendMarker"/>
          <p:cNvSpPr txBox="1"/>
          <p:nvPr/>
        </p:nvSpPr>
        <p:spPr>
          <a:xfrm>
            <a:off x="6536131" y="5715000"/>
            <a:ext cx="133502" cy="133502"/>
          </a:xfrm>
          <a:prstGeom prst="ellipse">
            <a:avLst/>
          </a:prstGeom>
          <a:solidFill>
            <a:srgbClr val="6F8DB9"/>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1" name="LegendMarker"/>
          <p:cNvSpPr txBox="1"/>
          <p:nvPr/>
        </p:nvSpPr>
        <p:spPr>
          <a:xfrm>
            <a:off x="6461150" y="4699102"/>
            <a:ext cx="298094" cy="298094"/>
          </a:xfrm>
          <a:prstGeom prst="ellipse">
            <a:avLst/>
          </a:prstGeom>
          <a:noFill/>
          <a:ln w="3175">
            <a:solidFill>
              <a:srgbClr val="162029"/>
            </a:solidFill>
          </a:ln>
        </p:spPr>
        <p:txBody>
          <a:bodyPr wrap="square" anchor="ctr" lIns="91440" tIns="45720" rIns="91440" bIns="45720"/>
          <a:lstStyle/>
          <a:p>
            <a:pPr algn="ctr">
              <a:lnSpc>
                <a:spcPct val="100000"/>
              </a:lnSpc>
              <a:buNone/>
            </a:pPr>
            <a:endParaRPr lang="en-US"/>
          </a:p>
        </p:txBody>
      </p:sp>
      <p:sp>
        <p:nvSpPr>
          <p:cNvPr id="112" name="LegendMarkerHatched"/>
          <p:cNvSpPr txBox="1"/>
          <p:nvPr/>
        </p:nvSpPr>
        <p:spPr>
          <a:xfrm>
            <a:off x="6536131" y="5917997"/>
            <a:ext cx="133502" cy="133502"/>
          </a:xfrm>
          <a:prstGeom prst="ellipse">
            <a:avLst/>
          </a:prstGeom>
          <a:pattFill prst="pct50">
            <a:fgClr>
              <a:schemeClr val="tx1"/>
            </a:fgClr>
            <a:bgClr>
              <a:schemeClr val="bg1"/>
            </a:bgClr>
          </a:pattFill>
          <a:ln w="3175">
            <a:solidFill>
              <a:srgbClr val="162029"/>
            </a:solidFill>
          </a:ln>
        </p:spPr>
        <p:txBody>
          <a:bodyPr wrap="square" anchor="ctr" lIns="91440" tIns="45720" rIns="91440" bIns="45720"/>
          <a:lstStyle/>
          <a:p>
            <a:pPr algn="ctr">
              <a:lnSpc>
                <a:spcPct val="100000"/>
              </a:lnSpc>
              <a:buNone/>
            </a:pPr>
            <a:endParaRPr lang="en-US"/>
          </a:p>
        </p:txBody>
      </p:sp>
      <p:sp>
        <p:nvSpPr>
          <p:cNvPr id="113" name="LegendLabel"/>
          <p:cNvSpPr txBox="1"/>
          <p:nvPr/>
        </p:nvSpPr>
        <p:spPr>
          <a:xfrm>
            <a:off x="6743700" y="5100523"/>
            <a:ext cx="69494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Shipbuilders</a:t>
            </a:r>
          </a:p>
        </p:txBody>
      </p:sp>
      <p:sp>
        <p:nvSpPr>
          <p:cNvPr id="114" name="LegendLabel"/>
          <p:cNvSpPr txBox="1"/>
          <p:nvPr/>
        </p:nvSpPr>
        <p:spPr>
          <a:xfrm>
            <a:off x="6743700" y="5303520"/>
            <a:ext cx="195590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Owner/Operator (Carrier Segment)</a:t>
            </a:r>
          </a:p>
        </p:txBody>
      </p:sp>
      <p:sp>
        <p:nvSpPr>
          <p:cNvPr id="115" name="LegendLabel"/>
          <p:cNvSpPr txBox="1"/>
          <p:nvPr/>
        </p:nvSpPr>
        <p:spPr>
          <a:xfrm>
            <a:off x="6743700" y="5507431"/>
            <a:ext cx="109728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Charter Companies</a:t>
            </a:r>
          </a:p>
        </p:txBody>
      </p:sp>
      <p:sp>
        <p:nvSpPr>
          <p:cNvPr id="116" name="LegendLabel"/>
          <p:cNvSpPr txBox="1"/>
          <p:nvPr/>
        </p:nvSpPr>
        <p:spPr>
          <a:xfrm>
            <a:off x="6743700" y="5710428"/>
            <a:ext cx="17775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Operators (Integrated)</a:t>
            </a:r>
          </a:p>
        </p:txBody>
      </p:sp>
      <p:sp>
        <p:nvSpPr>
          <p:cNvPr id="117" name="LegendLabel"/>
          <p:cNvSpPr txBox="1"/>
          <p:nvPr/>
        </p:nvSpPr>
        <p:spPr>
          <a:xfrm>
            <a:off x="6743700" y="5913425"/>
            <a:ext cx="184800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Operators (Standalone)</a:t>
            </a:r>
          </a:p>
        </p:txBody>
      </p:sp>
      <p:sp>
        <p:nvSpPr>
          <p:cNvPr id="118" name="LegendLabel"/>
          <p:cNvSpPr txBox="1"/>
          <p:nvPr/>
        </p:nvSpPr>
        <p:spPr>
          <a:xfrm>
            <a:off x="6812280" y="4776826"/>
            <a:ext cx="9189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$10B (Revenue)</a:t>
            </a:r>
          </a:p>
        </p:txBody>
      </p:sp>
      <p:sp>
        <p:nvSpPr>
          <p:cNvPr id="119" name="RevenueAndMarginDriversRail"/>
          <p:cNvSpPr txBox="1"/>
          <p:nvPr/>
        </p:nvSpPr>
        <p:spPr>
          <a:xfrm>
            <a:off x="8833104" y="1706270"/>
            <a:ext cx="2867558" cy="4453128"/>
          </a:xfrm>
          <a:prstGeom prst="rect">
            <a:avLst/>
          </a:prstGeom>
          <a:noFill/>
          <a:ln>
            <a:noFill/>
          </a:ln>
        </p:spPr>
        <p:txBody>
          <a:bodyPr wrap="square" anchor="t" lIns="91440" tIns="45720" rIns="91440" bIns="45720"/>
          <a:lstStyle/>
          <a:p>
            <a:pPr>
              <a:lnSpc>
                <a:spcPct val="100000"/>
              </a:lnSpc>
              <a:buNone/>
            </a:pPr>
            <a:r>
              <a:rPr lang="en-US" sz="1000" b="1" dirty="0">
                <a:solidFill>
                  <a:srgbClr val="000000"/>
                </a:solidFill>
                <a:latin typeface="Arial"/>
                <a:ea typeface="Arial"/>
                <a:cs typeface="Arial"/>
              </a:rPr>
              <a:t>Shipbuilders</a:t>
            </a:r>
            <a:r>
              <a:rPr lang="en-US" sz="1000" dirty="0">
                <a:solidFill>
                  <a:srgbClr val="000000"/>
                </a:solidFill>
                <a:latin typeface="Arial"/>
                <a:ea typeface="Arial"/>
                <a:cs typeface="Arial"/>
              </a:rPr>
              <a:t> </a:t>
            </a:r>
            <a:r>
              <a:rPr lang="en-US" sz="1000" i="1" dirty="0">
                <a:solidFill>
                  <a:srgbClr val="000000"/>
                </a:solidFill>
                <a:latin typeface="Arial"/>
                <a:ea typeface="Arial"/>
                <a:cs typeface="Arial"/>
              </a:rPr>
              <a:t>(relating to Commercial market)</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’21-’22:</a:t>
            </a:r>
            <a:r>
              <a:rPr lang="en-US" sz="1000" dirty="0">
                <a:solidFill>
                  <a:srgbClr val="000000"/>
                </a:solidFill>
                <a:latin typeface="Arial"/>
                <a:ea typeface="Arial"/>
                <a:cs typeface="Arial"/>
              </a:rPr>
              <a:t> </a:t>
            </a:r>
            <a:r>
              <a:rPr lang="en-US" sz="1000" dirty="0">
                <a:solidFill>
                  <a:srgbClr val="000000"/>
                </a:solidFill>
                <a:latin typeface="Arial"/>
                <a:ea typeface="Arial"/>
                <a:cs typeface="Arial"/>
              </a:rPr>
              <a:t>While orders recovered from ’20, earnings remained pressured by input materials and labor cost growth.</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’23-’24:</a:t>
            </a:r>
            <a:r>
              <a:rPr lang="en-US" sz="1000" dirty="0">
                <a:solidFill>
                  <a:srgbClr val="000000"/>
                </a:solidFill>
                <a:latin typeface="Arial"/>
                <a:ea typeface="Arial"/>
                <a:cs typeface="Arial"/>
              </a:rPr>
              <a:t> </a:t>
            </a:r>
            <a:r>
              <a:rPr lang="en-US" sz="1000" dirty="0">
                <a:solidFill>
                  <a:srgbClr val="000000"/>
                </a:solidFill>
                <a:latin typeface="Arial"/>
                <a:ea typeface="Arial"/>
                <a:cs typeface="Arial"/>
              </a:rPr>
              <a:t>Improvement driven by performance against orderbook contracts and rising new build prices</a:t>
            </a:r>
          </a:p>
          <a:p>
            <a:pPr>
              <a:lnSpc>
                <a:spcPct val="100000"/>
              </a:lnSpc>
              <a:buNone/>
            </a:pPr>
            <a:r>
              <a:rPr lang="en-US" sz="1000" b="1" dirty="0">
                <a:solidFill>
                  <a:srgbClr val="000000"/>
                </a:solidFill>
                <a:latin typeface="Arial"/>
                <a:ea typeface="Arial"/>
                <a:cs typeface="Arial"/>
              </a:rPr>
              <a:t>Owner/Operators</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’21-’22:</a:t>
            </a:r>
            <a:r>
              <a:rPr lang="en-US" sz="1000" dirty="0">
                <a:solidFill>
                  <a:srgbClr val="000000"/>
                </a:solidFill>
                <a:latin typeface="Arial"/>
                <a:ea typeface="Arial"/>
                <a:cs typeface="Arial"/>
              </a:rPr>
              <a:t> </a:t>
            </a:r>
            <a:r>
              <a:rPr lang="en-US" sz="1000" dirty="0">
                <a:solidFill>
                  <a:srgbClr val="000000"/>
                </a:solidFill>
                <a:latin typeface="Arial"/>
                <a:ea typeface="Arial"/>
                <a:cs typeface="Arial"/>
              </a:rPr>
              <a:t>Freight rates reached historic highs driven by post-COVID pent-up demand and shift toward goods consumption, while port congestion and operational disruptions constrained effective vessel supply amid below-trend capacity additions.</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’23-’24:</a:t>
            </a:r>
            <a:r>
              <a:rPr lang="en-US" sz="1000" dirty="0">
                <a:solidFill>
                  <a:srgbClr val="000000"/>
                </a:solidFill>
                <a:latin typeface="Arial"/>
                <a:ea typeface="Arial"/>
                <a:cs typeface="Arial"/>
              </a:rPr>
              <a:t> </a:t>
            </a:r>
            <a:r>
              <a:rPr lang="en-US" sz="1000" dirty="0">
                <a:solidFill>
                  <a:srgbClr val="000000"/>
                </a:solidFill>
                <a:latin typeface="Arial"/>
                <a:ea typeface="Arial"/>
                <a:cs typeface="Arial"/>
              </a:rPr>
              <a:t>Freight rates normalized as consumer demand softened under inflationary pressure, coinciding with acceleration in new vessel deliveries that expanded global fleet capacity.</a:t>
            </a:r>
          </a:p>
          <a:p>
            <a:pPr>
              <a:lnSpc>
                <a:spcPct val="100000"/>
              </a:lnSpc>
              <a:buNone/>
            </a:pPr>
            <a:r>
              <a:rPr lang="en-US" sz="1000" b="1" dirty="0">
                <a:solidFill>
                  <a:srgbClr val="000000"/>
                </a:solidFill>
                <a:latin typeface="Arial"/>
                <a:ea typeface="Arial"/>
                <a:cs typeface="Arial"/>
              </a:rPr>
              <a:t>Charter Companies</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’21-’22:</a:t>
            </a:r>
            <a:r>
              <a:rPr lang="en-US" sz="1000" dirty="0">
                <a:solidFill>
                  <a:srgbClr val="000000"/>
                </a:solidFill>
                <a:latin typeface="Arial"/>
                <a:ea typeface="Arial"/>
                <a:cs typeface="Arial"/>
              </a:rPr>
              <a:t> </a:t>
            </a:r>
            <a:r>
              <a:rPr lang="en-US" sz="1000" dirty="0">
                <a:solidFill>
                  <a:srgbClr val="000000"/>
                </a:solidFill>
                <a:latin typeface="Arial"/>
                <a:ea typeface="Arial"/>
                <a:cs typeface="Arial"/>
              </a:rPr>
              <a:t>Charter rates surged alongside freight rates as operators sought to secure tonnage in supply-constrained market.</a:t>
            </a:r>
          </a:p>
          <a:p>
            <a:pPr marL="171450" indent="-171450">
              <a:lnSpc>
                <a:spcPct val="100000"/>
              </a:lnSpc>
              <a:buFont typeface="Arial" panose="020B0604020202020204" pitchFamily="34" charset="0"/>
              <a:buChar char="•"/>
            </a:pPr>
            <a:r>
              <a:rPr lang="en-US" sz="1000" b="1" dirty="0">
                <a:solidFill>
                  <a:srgbClr val="000000"/>
                </a:solidFill>
                <a:latin typeface="Arial"/>
                <a:ea typeface="Arial"/>
                <a:cs typeface="Arial"/>
              </a:rPr>
              <a:t>’23-’24:</a:t>
            </a:r>
            <a:r>
              <a:rPr lang="en-US" sz="1000" dirty="0">
                <a:solidFill>
                  <a:srgbClr val="000000"/>
                </a:solidFill>
                <a:latin typeface="Arial"/>
                <a:ea typeface="Arial"/>
                <a:cs typeface="Arial"/>
              </a:rPr>
              <a:t> </a:t>
            </a:r>
            <a:r>
              <a:rPr lang="en-US" sz="1000" dirty="0">
                <a:solidFill>
                  <a:srgbClr val="000000"/>
                </a:solidFill>
                <a:latin typeface="Arial"/>
                <a:ea typeface="Arial"/>
                <a:cs typeface="Arial"/>
              </a:rPr>
              <a:t>Earnings remained supported by multi-year charter contracts signed at peak market conditions ’21-’22, partially insulating results from lower charter rates.</a:t>
            </a:r>
          </a:p>
          <a:p>
            <a:pPr>
              <a:lnSpc>
                <a:spcPct val="100000"/>
              </a:lnSpc>
              <a:buNone/>
            </a:pPr>
            <a:r>
              <a:rPr lang="en-US" sz="1000" b="1" dirty="0">
                <a:solidFill>
                  <a:srgbClr val="000000"/>
                </a:solidFill>
                <a:latin typeface="Arial"/>
                <a:ea typeface="Arial"/>
                <a:cs typeface="Arial"/>
              </a:rPr>
              <a:t>Terminal Operators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Relatively more stable margins given ability to pass on costs to operators.</a:t>
            </a:r>
          </a:p>
        </p:txBody>
      </p:sp>
      <p:graphicFrame>
        <p:nvGraphicFramePr>
          <p:cNvPr id="120" name="RevenueAndMarginDriversHeader"/>
          <p:cNvGraphicFramePr>
            <a:graphicFrameLocks noGrp="1"/>
          </p:cNvGraphicFramePr>
          <p:nvPr/>
        </p:nvGraphicFramePr>
        <p:xfrm>
          <a:off x="8833104" y="1429207"/>
          <a:ext cx="2866644" cy="274320"/>
        </p:xfrm>
        <a:graphic>
          <a:graphicData uri="http://schemas.openxmlformats.org/drawingml/2006/table">
            <a:tbl>
              <a:tblPr firstRow="1" firstCol="1" bandRow="0">
                <a:tableStyleId>{2D5ABB26-0587-4C30-8999-92F81FD0307C}</a:tableStyleId>
              </a:tblPr>
              <a:tblGrid>
                <a:gridCol w="2866644"/>
              </a:tblGrid>
              <a:tr h="274320">
                <a:tc>
                  <a:txBody>
                    <a:bodyPr anchor="ctr"/>
                    <a:lstStyle/>
                    <a:p>
                      <a:pPr algn="l" marL="0" indent="0">
                        <a:lnSpc>
                          <a:spcPct val="100000"/>
                        </a:lnSpc>
                      </a:pPr>
                      <a:r>
                        <a:rPr lang="en-US" sz="1000" b="1" dirty="0">
                          <a:solidFill>
                            <a:srgbClr val="000000"/>
                          </a:solidFill>
                          <a:latin typeface="Arial"/>
                          <a:ea typeface="Arial"/>
                          <a:cs typeface="Arial"/>
                        </a:rPr>
                        <a:t>Revenue and EBIT margin drivers</a:t>
                      </a:r>
                    </a:p>
                  </a:txBody>
                  <a:tcPr marL="41564" marR="41564" marT="45720" marB="45720" anchor="ctr">
                    <a:lnL>
                      <a:noFill/>
                    </a:lnL>
                    <a:lnR>
                      <a:noFill/>
                    </a:lnR>
                    <a:lnT w="12700" cap="flat" cmpd="sng" algn="ctr">
                      <a:solidFill>
                        <a:srgbClr val="FFFFFF"/>
                      </a:solidFill>
                      <a:prstDash val="solid"/>
                    </a:lnT>
                    <a:lnB w="12700" cap="flat" cmpd="sng" algn="ctr">
                      <a:solidFill>
                        <a:srgbClr val="000000"/>
                      </a:solidFill>
                      <a:prstDash val="solid"/>
                    </a:lnB>
                    <a:noFill/>
                  </a:tcPr>
                </a:tc>
              </a:tr>
            </a:tbl>
          </a:graphicData>
        </a:graphic>
      </p:graphicFrame>
      <p:sp>
        <p:nvSpPr>
          <p:cNvPr id="121" name="SourceNote"/>
          <p:cNvSpPr txBox="1"/>
          <p:nvPr/>
        </p:nvSpPr>
        <p:spPr>
          <a:xfrm>
            <a:off x="452628" y="6474866"/>
            <a:ext cx="4665269" cy="319126"/>
          </a:xfrm>
          <a:prstGeom prst="rect">
            <a:avLst/>
          </a:prstGeom>
          <a:noFill/>
          <a:ln>
            <a:noFill/>
          </a:ln>
        </p:spPr>
        <p:txBody>
          <a:bodyPr wrap="square" anchor="ctr" lIns="91440" tIns="45720" rIns="91440" bIns="45720"/>
          <a:lstStyle/>
          <a:p>
            <a:pPr>
              <a:lnSpc>
                <a:spcPct val="100000"/>
              </a:lnSpc>
              <a:buNone/>
            </a:pPr>
            <a:r>
              <a:rPr lang="en-US" sz="700" dirty="0">
                <a:solidFill>
                  <a:srgbClr val="000000"/>
                </a:solidFill>
                <a:latin typeface="Arial"/>
                <a:ea typeface="Arial"/>
                <a:cs typeface="Arial"/>
              </a:rPr>
              <a:t>Source: Company filings |   </a:t>
            </a:r>
            <a:r>
              <a:rPr lang="en-US" sz="700" b="1" dirty="0">
                <a:solidFill>
                  <a:srgbClr val="C30C3E"/>
                </a:solidFill>
                <a:latin typeface="Arial"/>
                <a:ea typeface="Arial"/>
                <a:cs typeface="Arial"/>
              </a:rPr>
              <a:t>Shipbuilders:</a:t>
            </a:r>
            <a:r>
              <a:rPr lang="en-US" sz="700" dirty="0">
                <a:solidFill>
                  <a:srgbClr val="000000"/>
                </a:solidFill>
                <a:latin typeface="Arial"/>
                <a:ea typeface="Arial"/>
                <a:cs typeface="Arial"/>
              </a:rPr>
              <a:t> Austal, Hanwha Ocea, Fincantieri, HD Hyundai KSOE, Samsung Heavy. </a:t>
            </a:r>
            <a:r>
              <a:rPr lang="en-US" sz="700" b="1" dirty="0">
                <a:solidFill>
                  <a:srgbClr val="364D6E"/>
                </a:solidFill>
                <a:latin typeface="Arial"/>
                <a:ea typeface="Arial"/>
                <a:cs typeface="Arial"/>
              </a:rPr>
              <a:t>Owner/Operator</a:t>
            </a:r>
            <a:r>
              <a:rPr lang="en-US" sz="700" dirty="0">
                <a:solidFill>
                  <a:srgbClr val="000000"/>
                </a:solidFill>
                <a:latin typeface="Arial"/>
                <a:ea typeface="Arial"/>
                <a:cs typeface="Arial"/>
              </a:rPr>
              <a:t>: Matson OT segment, ZIM, Hapag Lloyd, Maersk Ocean segment. </a:t>
            </a:r>
            <a:r>
              <a:rPr lang="en-US" sz="700" b="1" dirty="0">
                <a:solidFill>
                  <a:srgbClr val="27AE60"/>
                </a:solidFill>
                <a:latin typeface="Arial"/>
                <a:ea typeface="Arial"/>
                <a:cs typeface="Arial"/>
              </a:rPr>
              <a:t>Charter Companies</a:t>
            </a:r>
            <a:r>
              <a:rPr lang="en-US" sz="700" dirty="0">
                <a:solidFill>
                  <a:srgbClr val="000000"/>
                </a:solidFill>
                <a:latin typeface="Arial"/>
                <a:ea typeface="Arial"/>
                <a:cs typeface="Arial"/>
              </a:rPr>
              <a:t>: Danaos, </a:t>
            </a:r>
            <a:r>
              <a:rPr lang="en-US" sz="700" dirty="0">
                <a:solidFill>
                  <a:srgbClr val="000000"/>
                </a:solidFill>
                <a:latin typeface="Arial"/>
                <a:ea typeface="Arial"/>
                <a:cs typeface="Arial"/>
              </a:rPr>
              <a:t>Costamare</a:t>
            </a:r>
            <a:r>
              <a:rPr lang="en-US" sz="700" dirty="0">
                <a:solidFill>
                  <a:srgbClr val="000000"/>
                </a:solidFill>
                <a:latin typeface="Arial"/>
                <a:ea typeface="Arial"/>
                <a:cs typeface="Arial"/>
              </a:rPr>
              <a:t>, Seaspan. </a:t>
            </a:r>
            <a:r>
              <a:rPr lang="en-US" sz="700" b="1" dirty="0">
                <a:solidFill>
                  <a:srgbClr val="6F8DB9"/>
                </a:solidFill>
                <a:latin typeface="Arial"/>
                <a:ea typeface="Arial"/>
                <a:cs typeface="Arial"/>
              </a:rPr>
              <a:t>Terminal Operators (Integrated)</a:t>
            </a:r>
            <a:r>
              <a:rPr lang="en-US" sz="700" dirty="0">
                <a:solidFill>
                  <a:srgbClr val="000000"/>
                </a:solidFill>
                <a:latin typeface="Arial"/>
                <a:ea typeface="Arial"/>
                <a:cs typeface="Arial"/>
              </a:rPr>
              <a:t>: Maersk Terminals.         </a:t>
            </a:r>
            <a:r>
              <a:rPr lang="en-US" sz="700" b="1" dirty="0">
                <a:solidFill>
                  <a:srgbClr val="8A8F93"/>
                </a:solidFill>
                <a:latin typeface="Arial"/>
                <a:ea typeface="Arial"/>
                <a:cs typeface="Arial"/>
              </a:rPr>
              <a:t>Terminal Operators (Standalone)</a:t>
            </a:r>
            <a:r>
              <a:rPr lang="en-US" sz="700" dirty="0">
                <a:solidFill>
                  <a:srgbClr val="000000"/>
                </a:solidFill>
                <a:latin typeface="Arial"/>
                <a:ea typeface="Arial"/>
                <a:cs typeface="Arial"/>
              </a:rPr>
              <a:t>: Hutchison Ports, ICTS. Note: Segment margins not burdened by corporate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AdditionsPanel"/>
          <p:cNvSpPr txBox="1"/>
          <p:nvPr/>
        </p:nvSpPr>
        <p:spPr>
          <a:xfrm>
            <a:off x="10414102" y="1917497"/>
            <a:ext cx="1054303" cy="3741725"/>
          </a:xfrm>
          <a:prstGeom prst="rect">
            <a:avLst/>
          </a:prstGeom>
          <a:solidFill>
            <a:srgbClr val="F2F2F2"/>
          </a:solidFill>
          <a:ln>
            <a:noFill/>
          </a:ln>
        </p:spPr>
        <p:txBody>
          <a:bodyPr wrap="square" anchor="t" lIns="91440" tIns="45720" rIns="91440" bIns="45720"/>
          <a:lstStyle/>
          <a:p>
            <a:pPr>
              <a:lnSpc>
                <a:spcPct val="100000"/>
              </a:lnSpc>
              <a:buNone/>
            </a:pPr>
            <a:r>
              <a:rPr lang="en-US" sz="1000" i="1" dirty="0">
                <a:solidFill>
                  <a:srgbClr val="000000"/>
                </a:solidFill>
                <a:latin typeface="Arial"/>
                <a:ea typeface="Arial"/>
                <a:cs typeface="Arial"/>
              </a:rPr>
              <a:t>No FSV / PSV additions</a:t>
            </a:r>
          </a:p>
        </p:txBody>
      </p:sp>
      <p:graphicFrame>
        <p:nvGraphicFramePr>
          <p:cNvPr id="101" name="Chart"/>
          <p:cNvGraphicFramePr/>
          <p:nvPr/>
        </p:nvGraphicFramePr>
        <p:xfrm>
          <a:off x="384048" y="1706270"/>
          <a:ext cx="11449202" cy="4177894"/>
        </p:xfrm>
        <a:graphic>
          <a:graphicData uri="http://schemas.openxmlformats.org/drawingml/2006/chart">
            <c:chart xmlns:c="http://schemas.openxmlformats.org/drawingml/2006/chart" xmlns:r="http://schemas.openxmlformats.org/officeDocument/2006/relationships" r:id="rId2"/>
          </a:graphicData>
        </a:graphic>
      </p:graphicFrame>
      <p:sp>
        <p:nvSpPr>
          <p:cNvPr id="102" name="AxisTitle"/>
          <p:cNvSpPr txBox="1"/>
          <p:nvPr/>
        </p:nvSpPr>
        <p:spPr>
          <a:xfrm>
            <a:off x="8298180" y="1602029"/>
            <a:ext cx="3431743" cy="152705"/>
          </a:xfrm>
          <a:prstGeom prst="rect">
            <a:avLst/>
          </a:prstGeom>
          <a:noFill/>
          <a:ln>
            <a:noFill/>
          </a:ln>
        </p:spPr>
        <p:txBody>
          <a:bodyPr wrap="none" anchor="b" lIns="0" tIns="0" rIns="0" bIns="0"/>
          <a:lstStyle/>
          <a:p>
            <a:pPr algn="r" marL="0" indent="0">
              <a:lnSpc>
                <a:spcPct val="100000"/>
              </a:lnSpc>
              <a:buNone/>
            </a:pPr>
            <a:r>
              <a:rPr lang="en-US" sz="1000" b="1" dirty="0">
                <a:solidFill>
                  <a:srgbClr val="000000"/>
                </a:solidFill>
                <a:latin typeface="Arial"/>
                <a:ea typeface="Arial"/>
                <a:cs typeface="Arial"/>
              </a:rPr>
              <a:t>US-Built &amp; Flagged FSV / PSV Fleet Additions (# Vessels)</a:t>
            </a:r>
          </a:p>
        </p:txBody>
      </p:sp>
      <p:sp>
        <p:nvSpPr>
          <p:cNvPr id="103" name="AxisTitle"/>
          <p:cNvSpPr txBox="1"/>
          <p:nvPr/>
        </p:nvSpPr>
        <p:spPr>
          <a:xfrm>
            <a:off x="487375" y="1602029"/>
            <a:ext cx="4765853"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West Texas Intermediate (WTI) and Brent Crude Spot Prices (2025 $ per barrel)</a:t>
            </a:r>
            <a:r>
              <a:rPr lang="en-US" sz="1000" b="1" dirty="0">
                <a:solidFill>
                  <a:srgbClr val="000000"/>
                </a:solidFill>
                <a:latin typeface="Arial"/>
                <a:ea typeface="Arial"/>
                <a:cs typeface="Arial"/>
              </a:rPr>
              <a:t>1</a:t>
            </a:r>
          </a:p>
        </p:txBody>
      </p:sp>
      <p:sp>
        <p:nvSpPr>
          <p:cNvPr id="104" name="YearTickLabel"/>
          <p:cNvSpPr txBox="1"/>
          <p:nvPr/>
        </p:nvSpPr>
        <p:spPr>
          <a:xfrm>
            <a:off x="812902"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1986</a:t>
            </a:r>
          </a:p>
        </p:txBody>
      </p:sp>
      <p:sp>
        <p:nvSpPr>
          <p:cNvPr id="105" name="YearTickLabel"/>
          <p:cNvSpPr txBox="1"/>
          <p:nvPr/>
        </p:nvSpPr>
        <p:spPr>
          <a:xfrm>
            <a:off x="1876349"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1990</a:t>
            </a:r>
          </a:p>
        </p:txBody>
      </p:sp>
      <p:sp>
        <p:nvSpPr>
          <p:cNvPr id="106" name="YearTickLabel"/>
          <p:cNvSpPr txBox="1"/>
          <p:nvPr/>
        </p:nvSpPr>
        <p:spPr>
          <a:xfrm>
            <a:off x="3204972"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1995</a:t>
            </a:r>
          </a:p>
        </p:txBody>
      </p:sp>
      <p:sp>
        <p:nvSpPr>
          <p:cNvPr id="107" name="YearTickLabel"/>
          <p:cNvSpPr txBox="1"/>
          <p:nvPr/>
        </p:nvSpPr>
        <p:spPr>
          <a:xfrm>
            <a:off x="4535424"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2000</a:t>
            </a:r>
          </a:p>
        </p:txBody>
      </p:sp>
      <p:sp>
        <p:nvSpPr>
          <p:cNvPr id="108" name="YearTickLabel"/>
          <p:cNvSpPr txBox="1"/>
          <p:nvPr/>
        </p:nvSpPr>
        <p:spPr>
          <a:xfrm>
            <a:off x="5864047"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2005</a:t>
            </a:r>
          </a:p>
        </p:txBody>
      </p:sp>
      <p:sp>
        <p:nvSpPr>
          <p:cNvPr id="109" name="YearTickLabel"/>
          <p:cNvSpPr txBox="1"/>
          <p:nvPr/>
        </p:nvSpPr>
        <p:spPr>
          <a:xfrm>
            <a:off x="7194499"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2010</a:t>
            </a:r>
          </a:p>
        </p:txBody>
      </p:sp>
      <p:sp>
        <p:nvSpPr>
          <p:cNvPr id="110" name="YearTickLabel"/>
          <p:cNvSpPr txBox="1"/>
          <p:nvPr/>
        </p:nvSpPr>
        <p:spPr>
          <a:xfrm>
            <a:off x="8523122"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2015</a:t>
            </a:r>
          </a:p>
        </p:txBody>
      </p:sp>
      <p:sp>
        <p:nvSpPr>
          <p:cNvPr id="111" name="YearTickLabel"/>
          <p:cNvSpPr txBox="1"/>
          <p:nvPr/>
        </p:nvSpPr>
        <p:spPr>
          <a:xfrm>
            <a:off x="9853574"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2020</a:t>
            </a:r>
          </a:p>
        </p:txBody>
      </p:sp>
      <p:sp>
        <p:nvSpPr>
          <p:cNvPr id="112" name="YearTickLabel"/>
          <p:cNvSpPr txBox="1"/>
          <p:nvPr/>
        </p:nvSpPr>
        <p:spPr>
          <a:xfrm>
            <a:off x="11182198" y="5702198"/>
            <a:ext cx="29169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2025</a:t>
            </a:r>
          </a:p>
        </p:txBody>
      </p:sp>
      <p:sp>
        <p:nvSpPr>
          <p:cNvPr id="113" name="PeakFleetAddLabel"/>
          <p:cNvSpPr txBox="1"/>
          <p:nvPr/>
        </p:nvSpPr>
        <p:spPr>
          <a:xfrm>
            <a:off x="5126126" y="4660697"/>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11</a:t>
            </a:r>
          </a:p>
        </p:txBody>
      </p:sp>
      <p:sp>
        <p:nvSpPr>
          <p:cNvPr id="114" name="PeakFleetAddLabel"/>
          <p:cNvSpPr txBox="1"/>
          <p:nvPr/>
        </p:nvSpPr>
        <p:spPr>
          <a:xfrm>
            <a:off x="8316468" y="3021178"/>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33</a:t>
            </a:r>
          </a:p>
        </p:txBody>
      </p:sp>
      <p:sp>
        <p:nvSpPr>
          <p:cNvPr id="115" name="PeakFleetAddLabel"/>
          <p:cNvSpPr txBox="1"/>
          <p:nvPr/>
        </p:nvSpPr>
        <p:spPr>
          <a:xfrm>
            <a:off x="8581644" y="3767328"/>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23</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Status Quo Outlook (Addressable Offshore 2/2) | Favorable upstream capex outlook likely contingent upon crude prices remaining elevated, though recent spike did not result in fleet adds.</a:t>
            </a:r>
          </a:p>
        </p:txBody>
      </p:sp>
      <p:sp>
        <p:nvSpPr>
          <p:cNvPr id="116" name="LegendBarSwatch"/>
          <p:cNvSpPr txBox="1"/>
          <p:nvPr/>
        </p:nvSpPr>
        <p:spPr>
          <a:xfrm>
            <a:off x="985723" y="1987906"/>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cxnSp>
        <p:nvCxnSpPr>
          <p:cNvPr id="117" name="LegendLineRule"/>
          <p:cNvCxnSpPr/>
          <p:nvPr/>
        </p:nvCxnSpPr>
        <p:spPr>
          <a:xfrm>
            <a:off x="1000354" y="2257654"/>
            <a:ext cx="150876" cy="0"/>
          </a:xfrm>
          <a:prstGeom prst="line">
            <a:avLst/>
          </a:prstGeom>
          <a:ln w="28575">
            <a:solidFill>
              <a:srgbClr val="FFC000"/>
            </a:solidFill>
            <a:prstDash val="dash"/>
            <a:tailEnd type="triangle" w="med" len="med"/>
          </a:ln>
        </p:spPr>
      </p:cxnSp>
      <p:cxnSp>
        <p:nvCxnSpPr>
          <p:cNvPr id="118" name="LegendLineRule"/>
          <p:cNvCxnSpPr/>
          <p:nvPr/>
        </p:nvCxnSpPr>
        <p:spPr>
          <a:xfrm>
            <a:off x="1000354" y="2460650"/>
            <a:ext cx="150876" cy="0"/>
          </a:xfrm>
          <a:prstGeom prst="line">
            <a:avLst/>
          </a:prstGeom>
          <a:ln w="28575">
            <a:solidFill>
              <a:srgbClr val="007770"/>
            </a:solidFill>
            <a:prstDash val="dash"/>
            <a:tailEnd type="triangle" w="med" len="med"/>
          </a:ln>
        </p:spPr>
      </p:cxnSp>
      <p:sp>
        <p:nvSpPr>
          <p:cNvPr id="119" name="LegendLabel"/>
          <p:cNvSpPr txBox="1"/>
          <p:nvPr/>
        </p:nvSpPr>
        <p:spPr>
          <a:xfrm>
            <a:off x="1216152" y="1982419"/>
            <a:ext cx="85587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FSV/PSV Adds</a:t>
            </a:r>
          </a:p>
        </p:txBody>
      </p:sp>
      <p:sp>
        <p:nvSpPr>
          <p:cNvPr id="120" name="LegendLabel"/>
          <p:cNvSpPr txBox="1"/>
          <p:nvPr/>
        </p:nvSpPr>
        <p:spPr>
          <a:xfrm>
            <a:off x="1216152" y="2186330"/>
            <a:ext cx="147035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WTI Spot Price ($ / barrel)</a:t>
            </a:r>
          </a:p>
        </p:txBody>
      </p:sp>
      <p:sp>
        <p:nvSpPr>
          <p:cNvPr id="121" name="LegendLabel"/>
          <p:cNvSpPr txBox="1"/>
          <p:nvPr/>
        </p:nvSpPr>
        <p:spPr>
          <a:xfrm>
            <a:off x="1216152" y="2389327"/>
            <a:ext cx="1538021"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Brent Spot Price ($ / barrel)</a:t>
            </a:r>
          </a:p>
        </p:txBody>
      </p:sp>
      <p:sp>
        <p:nvSpPr>
          <p:cNvPr id="122" name="SourceNote"/>
          <p:cNvSpPr txBox="1"/>
          <p:nvPr/>
        </p:nvSpPr>
        <p:spPr>
          <a:xfrm>
            <a:off x="452628" y="6119165"/>
            <a:ext cx="11308385" cy="279806"/>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Historical WTI and Brent spot prices inflated to 2025 $ using US Personal Consumption Expenditures (PCE) index</a:t>
            </a:r>
            <a:br/>
            <a:r>
              <a:rPr lang="en-US" sz="800" dirty="0">
                <a:solidFill>
                  <a:srgbClr val="000000"/>
                </a:solidFill>
                <a:latin typeface="Arial"/>
                <a:ea typeface="Arial"/>
                <a:cs typeface="Arial"/>
              </a:rPr>
              <a:t>Source: Clarksons (US fleet adds); </a:t>
            </a:r>
            <a:r>
              <a:rPr lang="en-US" sz="800" dirty="0">
                <a:solidFill>
                  <a:srgbClr val="000000"/>
                </a:solidFill>
                <a:latin typeface="Arial"/>
                <a:ea typeface="Arial"/>
                <a:cs typeface="Arial"/>
              </a:rPr>
              <a:t>EIA (WTI Spot)</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EIA (Brent Spot)</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FRED (PCE)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23" name="ScenarioChip"/>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marL="0" indent="0">
              <a:lnSpc>
                <a:spcPct val="100000"/>
              </a:lnSpc>
              <a:buNone/>
            </a:pPr>
            <a:r>
              <a:rPr lang="en-US" sz="1200" b="1" dirty="0">
                <a:solidFill>
                  <a:srgbClr val="000000"/>
                </a:solidFill>
                <a:latin typeface="Arial"/>
                <a:ea typeface="Arial"/>
                <a:cs typeface="Arial"/>
              </a:rPr>
              <a:t>(1) Status Quo Scenario</a:t>
            </a:r>
          </a:p>
        </p:txBody>
      </p:sp>
      <p:sp>
        <p:nvSpPr>
          <p:cNvPr id="124" name="CorrelationCallout"/>
          <p:cNvSpPr txBox="1"/>
          <p:nvPr/>
        </p:nvSpPr>
        <p:spPr>
          <a:xfrm>
            <a:off x="942746" y="2806294"/>
            <a:ext cx="3495751" cy="908914"/>
          </a:xfrm>
          <a:prstGeom prst="rect">
            <a:avLst/>
          </a:prstGeom>
          <a:solidFill>
            <a:srgbClr val="CEDDEC"/>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Moderate positive correlation</a:t>
            </a:r>
            <a:r>
              <a:rPr lang="en-US" sz="1000" b="1" dirty="0">
                <a:solidFill>
                  <a:srgbClr val="000000"/>
                </a:solidFill>
                <a:latin typeface="Arial"/>
                <a:ea typeface="Arial"/>
                <a:cs typeface="Arial"/>
              </a:rPr>
              <a:t> </a:t>
            </a:r>
            <a:r>
              <a:rPr lang="en-US" sz="1000" dirty="0">
                <a:solidFill>
                  <a:srgbClr val="000000"/>
                </a:solidFill>
                <a:latin typeface="Arial"/>
                <a:ea typeface="Arial"/>
                <a:cs typeface="Arial"/>
              </a:rPr>
              <a:t>between crude prices (inflation adjusted) and FSV &amp; PSV fleet additions:</a:t>
            </a:r>
            <a:br/>
            <a:br/>
            <a:r>
              <a:rPr lang="en-US" sz="1000" b="1" dirty="0">
                <a:solidFill>
                  <a:srgbClr val="000000"/>
                </a:solidFill>
                <a:latin typeface="Arial"/>
                <a:ea typeface="Arial"/>
                <a:cs typeface="Arial"/>
              </a:rPr>
              <a:t>WTI correlation coefficient (r) = 0.48 </a:t>
            </a:r>
            <a:br/>
            <a:r>
              <a:rPr lang="en-US" sz="1000" b="1" dirty="0">
                <a:solidFill>
                  <a:srgbClr val="000000"/>
                </a:solidFill>
                <a:latin typeface="Arial"/>
                <a:ea typeface="Arial"/>
                <a:cs typeface="Arial"/>
              </a:rPr>
              <a:t>Brent correlation coefficient (r) = 0.46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Performance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Archetype Comps (1/3) | Despite seeing improvement from rising new build prices and increased orders, shipbuilders only achieved low-to-mid-single digit EBIT margins by ‘24.</a:t>
            </a:r>
          </a:p>
        </p:txBody>
      </p:sp>
      <p:graphicFrame>
        <p:nvGraphicFramePr>
          <p:cNvPr id="100" name="Chart"/>
          <p:cNvGraphicFramePr/>
          <p:nvPr/>
        </p:nvGraphicFramePr>
        <p:xfrm>
          <a:off x="341071" y="1550822"/>
          <a:ext cx="11466576" cy="4754880"/>
        </p:xfrm>
        <a:graphic>
          <a:graphicData uri="http://schemas.openxmlformats.org/drawingml/2006/chart">
            <c:chart xmlns:c="http://schemas.openxmlformats.org/drawingml/2006/chart" xmlns:r="http://schemas.openxmlformats.org/officeDocument/2006/relationships" r:id="rId2"/>
          </a:graphicData>
        </a:graphic>
      </p:graphicFrame>
      <p:sp>
        <p:nvSpPr>
          <p:cNvPr id="101" name="YearLabel"/>
          <p:cNvSpPr txBox="1"/>
          <p:nvPr/>
        </p:nvSpPr>
        <p:spPr>
          <a:xfrm>
            <a:off x="2445106"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2020</a:t>
            </a:r>
          </a:p>
        </p:txBody>
      </p:sp>
      <p:sp>
        <p:nvSpPr>
          <p:cNvPr id="102" name="YearLabel"/>
          <p:cNvSpPr txBox="1"/>
          <p:nvPr/>
        </p:nvSpPr>
        <p:spPr>
          <a:xfrm>
            <a:off x="4272077"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2021</a:t>
            </a:r>
          </a:p>
        </p:txBody>
      </p:sp>
      <p:sp>
        <p:nvSpPr>
          <p:cNvPr id="103" name="YearLabel"/>
          <p:cNvSpPr txBox="1"/>
          <p:nvPr/>
        </p:nvSpPr>
        <p:spPr>
          <a:xfrm>
            <a:off x="6100877"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2022</a:t>
            </a:r>
          </a:p>
        </p:txBody>
      </p:sp>
      <p:sp>
        <p:nvSpPr>
          <p:cNvPr id="104" name="YearLabel"/>
          <p:cNvSpPr txBox="1"/>
          <p:nvPr/>
        </p:nvSpPr>
        <p:spPr>
          <a:xfrm>
            <a:off x="7929677"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2023</a:t>
            </a:r>
          </a:p>
        </p:txBody>
      </p:sp>
      <p:sp>
        <p:nvSpPr>
          <p:cNvPr id="105" name="YearLabel"/>
          <p:cNvSpPr txBox="1"/>
          <p:nvPr/>
        </p:nvSpPr>
        <p:spPr>
          <a:xfrm>
            <a:off x="9756648" y="6159398"/>
            <a:ext cx="279806"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2024</a:t>
            </a:r>
          </a:p>
        </p:txBody>
      </p:sp>
      <p:sp>
        <p:nvSpPr>
          <p:cNvPr id="106" name="YAxisTitle"/>
          <p:cNvSpPr txBox="1"/>
          <p:nvPr/>
        </p:nvSpPr>
        <p:spPr>
          <a:xfrm>
            <a:off x="487375" y="1376172"/>
            <a:ext cx="972922"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EBIT Margin (%)</a:t>
            </a:r>
          </a:p>
        </p:txBody>
      </p:sp>
      <p:sp>
        <p:nvSpPr>
          <p:cNvPr id="107" name="LegendMarker"/>
          <p:cNvSpPr txBox="1"/>
          <p:nvPr/>
        </p:nvSpPr>
        <p:spPr>
          <a:xfrm>
            <a:off x="9485071" y="5105095"/>
            <a:ext cx="133502" cy="133502"/>
          </a:xfrm>
          <a:prstGeom prst="ellipse">
            <a:avLst/>
          </a:prstGeom>
          <a:solidFill>
            <a:srgbClr val="C30C3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08" name="LegendMarker"/>
          <p:cNvSpPr txBox="1"/>
          <p:nvPr/>
        </p:nvSpPr>
        <p:spPr>
          <a:xfrm>
            <a:off x="9485071" y="5309006"/>
            <a:ext cx="133502" cy="133502"/>
          </a:xfrm>
          <a:prstGeom prst="ellipse">
            <a:avLst/>
          </a:prstGeom>
          <a:solidFill>
            <a:srgbClr val="364D6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09" name="LegendMarker"/>
          <p:cNvSpPr txBox="1"/>
          <p:nvPr/>
        </p:nvSpPr>
        <p:spPr>
          <a:xfrm>
            <a:off x="9485071" y="5512003"/>
            <a:ext cx="133502" cy="133502"/>
          </a:xfrm>
          <a:prstGeom prst="ellipse">
            <a:avLst/>
          </a:prstGeom>
          <a:solidFill>
            <a:srgbClr val="27AE6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0" name="LegendMarker"/>
          <p:cNvSpPr txBox="1"/>
          <p:nvPr/>
        </p:nvSpPr>
        <p:spPr>
          <a:xfrm>
            <a:off x="9485071" y="5715000"/>
            <a:ext cx="133502" cy="133502"/>
          </a:xfrm>
          <a:prstGeom prst="ellipse">
            <a:avLst/>
          </a:prstGeom>
          <a:solidFill>
            <a:srgbClr val="6F8DB9"/>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1" name="LegendMarker"/>
          <p:cNvSpPr txBox="1"/>
          <p:nvPr/>
        </p:nvSpPr>
        <p:spPr>
          <a:xfrm>
            <a:off x="9402775" y="4699102"/>
            <a:ext cx="298094" cy="298094"/>
          </a:xfrm>
          <a:prstGeom prst="ellipse">
            <a:avLst/>
          </a:prstGeom>
          <a:noFill/>
          <a:ln w="3175">
            <a:solidFill>
              <a:srgbClr val="162029"/>
            </a:solidFill>
          </a:ln>
        </p:spPr>
        <p:txBody>
          <a:bodyPr wrap="square" anchor="ctr" lIns="91440" tIns="45720" rIns="91440" bIns="45720"/>
          <a:lstStyle/>
          <a:p>
            <a:pPr algn="ctr">
              <a:lnSpc>
                <a:spcPct val="100000"/>
              </a:lnSpc>
              <a:buNone/>
            </a:pPr>
            <a:endParaRPr lang="en-US"/>
          </a:p>
        </p:txBody>
      </p:sp>
      <p:sp>
        <p:nvSpPr>
          <p:cNvPr id="112" name="LegendMarkerHatched"/>
          <p:cNvSpPr txBox="1"/>
          <p:nvPr/>
        </p:nvSpPr>
        <p:spPr>
          <a:xfrm>
            <a:off x="9485071" y="5917997"/>
            <a:ext cx="133502" cy="133502"/>
          </a:xfrm>
          <a:prstGeom prst="ellipse">
            <a:avLst/>
          </a:prstGeom>
          <a:pattFill prst="pct50">
            <a:fgClr>
              <a:schemeClr val="tx1"/>
            </a:fgClr>
            <a:bgClr>
              <a:schemeClr val="bg1"/>
            </a:bgClr>
          </a:pattFill>
          <a:ln w="3175">
            <a:solidFill>
              <a:srgbClr val="162029"/>
            </a:solidFill>
          </a:ln>
        </p:spPr>
        <p:txBody>
          <a:bodyPr wrap="square" anchor="ctr" lIns="91440" tIns="45720" rIns="91440" bIns="45720"/>
          <a:lstStyle/>
          <a:p>
            <a:pPr algn="ctr">
              <a:lnSpc>
                <a:spcPct val="100000"/>
              </a:lnSpc>
              <a:buNone/>
            </a:pPr>
            <a:endParaRPr lang="en-US"/>
          </a:p>
        </p:txBody>
      </p:sp>
      <p:sp>
        <p:nvSpPr>
          <p:cNvPr id="113" name="LegendLabel"/>
          <p:cNvSpPr txBox="1"/>
          <p:nvPr/>
        </p:nvSpPr>
        <p:spPr>
          <a:xfrm>
            <a:off x="9693554" y="5100523"/>
            <a:ext cx="69494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Shipbuilders</a:t>
            </a:r>
          </a:p>
        </p:txBody>
      </p:sp>
      <p:sp>
        <p:nvSpPr>
          <p:cNvPr id="114" name="LegendLabel"/>
          <p:cNvSpPr txBox="1"/>
          <p:nvPr/>
        </p:nvSpPr>
        <p:spPr>
          <a:xfrm>
            <a:off x="9693554" y="5303520"/>
            <a:ext cx="195590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Owner/Operator (Carrier Segment)</a:t>
            </a:r>
          </a:p>
        </p:txBody>
      </p:sp>
      <p:sp>
        <p:nvSpPr>
          <p:cNvPr id="115" name="LegendLabel"/>
          <p:cNvSpPr txBox="1"/>
          <p:nvPr/>
        </p:nvSpPr>
        <p:spPr>
          <a:xfrm>
            <a:off x="9693554" y="5507431"/>
            <a:ext cx="109728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Charter Companies</a:t>
            </a:r>
          </a:p>
        </p:txBody>
      </p:sp>
      <p:sp>
        <p:nvSpPr>
          <p:cNvPr id="116" name="LegendLabel"/>
          <p:cNvSpPr txBox="1"/>
          <p:nvPr/>
        </p:nvSpPr>
        <p:spPr>
          <a:xfrm>
            <a:off x="9693554" y="5710428"/>
            <a:ext cx="17775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Operators (Integrated)</a:t>
            </a:r>
          </a:p>
        </p:txBody>
      </p:sp>
      <p:sp>
        <p:nvSpPr>
          <p:cNvPr id="117" name="LegendLabel"/>
          <p:cNvSpPr txBox="1"/>
          <p:nvPr/>
        </p:nvSpPr>
        <p:spPr>
          <a:xfrm>
            <a:off x="9693554" y="5913425"/>
            <a:ext cx="184800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Operators (Standalone)</a:t>
            </a:r>
          </a:p>
        </p:txBody>
      </p:sp>
      <p:sp>
        <p:nvSpPr>
          <p:cNvPr id="118" name="LegendLabel"/>
          <p:cNvSpPr txBox="1"/>
          <p:nvPr/>
        </p:nvSpPr>
        <p:spPr>
          <a:xfrm>
            <a:off x="9753905" y="4776826"/>
            <a:ext cx="9189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$10B (Revenue)</a:t>
            </a:r>
          </a:p>
        </p:txBody>
      </p:sp>
      <p:sp>
        <p:nvSpPr>
          <p:cNvPr id="119" name="SourceNote"/>
          <p:cNvSpPr txBox="1"/>
          <p:nvPr/>
        </p:nvSpPr>
        <p:spPr>
          <a:xfrm>
            <a:off x="452628" y="6474866"/>
            <a:ext cx="4665269" cy="319126"/>
          </a:xfrm>
          <a:prstGeom prst="rect">
            <a:avLst/>
          </a:prstGeom>
          <a:noFill/>
          <a:ln>
            <a:noFill/>
          </a:ln>
        </p:spPr>
        <p:txBody>
          <a:bodyPr wrap="square" anchor="ctr" lIns="91440" tIns="45720" rIns="91440" bIns="45720"/>
          <a:lstStyle/>
          <a:p>
            <a:pPr>
              <a:lnSpc>
                <a:spcPct val="100000"/>
              </a:lnSpc>
              <a:buNone/>
            </a:pPr>
            <a:r>
              <a:rPr lang="en-US" sz="700" dirty="0">
                <a:solidFill>
                  <a:srgbClr val="000000"/>
                </a:solidFill>
                <a:latin typeface="Arial"/>
                <a:ea typeface="Arial"/>
                <a:cs typeface="Arial"/>
              </a:rPr>
              <a:t>Source: Company filings |   </a:t>
            </a:r>
            <a:r>
              <a:rPr lang="en-US" sz="700" b="1" dirty="0">
                <a:solidFill>
                  <a:srgbClr val="C30C3E"/>
                </a:solidFill>
                <a:latin typeface="Arial"/>
                <a:ea typeface="Arial"/>
                <a:cs typeface="Arial"/>
              </a:rPr>
              <a:t>Shipbuilders:</a:t>
            </a:r>
            <a:r>
              <a:rPr lang="en-US" sz="700" dirty="0">
                <a:solidFill>
                  <a:srgbClr val="000000"/>
                </a:solidFill>
                <a:latin typeface="Arial"/>
                <a:ea typeface="Arial"/>
                <a:cs typeface="Arial"/>
              </a:rPr>
              <a:t> Austal, Hanwha Ocea, Fincantieri, HD Hyundai KSOE, Samsung Heavy. </a:t>
            </a:r>
            <a:r>
              <a:rPr lang="en-US" sz="700" b="1" dirty="0">
                <a:solidFill>
                  <a:srgbClr val="364D6E"/>
                </a:solidFill>
                <a:latin typeface="Arial"/>
                <a:ea typeface="Arial"/>
                <a:cs typeface="Arial"/>
              </a:rPr>
              <a:t>Owner/Operator</a:t>
            </a:r>
            <a:r>
              <a:rPr lang="en-US" sz="700" dirty="0">
                <a:solidFill>
                  <a:srgbClr val="000000"/>
                </a:solidFill>
                <a:latin typeface="Arial"/>
                <a:ea typeface="Arial"/>
                <a:cs typeface="Arial"/>
              </a:rPr>
              <a:t>: Matson OT segment, ZIM, Hapag Lloyd, Maersk Ocean segment. </a:t>
            </a:r>
            <a:r>
              <a:rPr lang="en-US" sz="700" b="1" dirty="0">
                <a:solidFill>
                  <a:srgbClr val="27AE60"/>
                </a:solidFill>
                <a:latin typeface="Arial"/>
                <a:ea typeface="Arial"/>
                <a:cs typeface="Arial"/>
              </a:rPr>
              <a:t>Charter Companies</a:t>
            </a:r>
            <a:r>
              <a:rPr lang="en-US" sz="700" dirty="0">
                <a:solidFill>
                  <a:srgbClr val="000000"/>
                </a:solidFill>
                <a:latin typeface="Arial"/>
                <a:ea typeface="Arial"/>
                <a:cs typeface="Arial"/>
              </a:rPr>
              <a:t>: Danaos, Costamare, Seaspan. </a:t>
            </a:r>
            <a:r>
              <a:rPr lang="en-US" sz="700" b="1" dirty="0">
                <a:solidFill>
                  <a:srgbClr val="6F8DB9"/>
                </a:solidFill>
                <a:latin typeface="Arial"/>
                <a:ea typeface="Arial"/>
                <a:cs typeface="Arial"/>
              </a:rPr>
              <a:t>Terminal Operators (Integrated)</a:t>
            </a:r>
            <a:r>
              <a:rPr lang="en-US" sz="700" dirty="0">
                <a:solidFill>
                  <a:srgbClr val="000000"/>
                </a:solidFill>
                <a:latin typeface="Arial"/>
                <a:ea typeface="Arial"/>
                <a:cs typeface="Arial"/>
              </a:rPr>
              <a:t>: Maersk Terminals.         </a:t>
            </a:r>
            <a:r>
              <a:rPr lang="en-US" sz="700" b="1" dirty="0">
                <a:solidFill>
                  <a:srgbClr val="8A8F93"/>
                </a:solidFill>
                <a:latin typeface="Arial"/>
                <a:ea typeface="Arial"/>
                <a:cs typeface="Arial"/>
              </a:rPr>
              <a:t>Terminal Operators (Standalone)</a:t>
            </a:r>
            <a:r>
              <a:rPr lang="en-US" sz="700" dirty="0">
                <a:solidFill>
                  <a:srgbClr val="000000"/>
                </a:solidFill>
                <a:latin typeface="Arial"/>
                <a:ea typeface="Arial"/>
                <a:cs typeface="Arial"/>
              </a:rPr>
              <a:t>: Hutchison Ports, ICTS. Note: Segment margins not burdened by corporate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Chart"/>
          <p:cNvGraphicFramePr/>
          <p:nvPr/>
        </p:nvGraphicFramePr>
        <p:xfrm>
          <a:off x="2009851" y="1790395"/>
          <a:ext cx="4917643" cy="3787445"/>
        </p:xfrm>
        <a:graphic>
          <a:graphicData uri="http://schemas.openxmlformats.org/drawingml/2006/chart">
            <c:chart xmlns:c="http://schemas.openxmlformats.org/drawingml/2006/chart" xmlns:r="http://schemas.openxmlformats.org/officeDocument/2006/relationships" r:id="rId2"/>
          </a:graphicData>
        </a:graphic>
      </p:graphicFrame>
      <p:sp>
        <p:nvSpPr>
          <p:cNvPr id="101" name="ChartTitle"/>
          <p:cNvSpPr txBox="1"/>
          <p:nvPr/>
        </p:nvSpPr>
        <p:spPr>
          <a:xfrm>
            <a:off x="2087575" y="1614830"/>
            <a:ext cx="4569257"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US-Flagged, US-Built Fleet Composition by Gross Tonnage (GT in millions)</a:t>
            </a:r>
            <a:r>
              <a:rPr lang="en-US" sz="1000" b="1" dirty="0">
                <a:solidFill>
                  <a:srgbClr val="000000"/>
                </a:solidFill>
                <a:latin typeface="Arial"/>
                <a:ea typeface="Arial"/>
                <a:cs typeface="Arial"/>
              </a:rPr>
              <a:t>1</a:t>
            </a:r>
          </a:p>
        </p:txBody>
      </p:sp>
      <p:sp>
        <p:nvSpPr>
          <p:cNvPr id="102" name="CategoryTickLabel"/>
          <p:cNvSpPr txBox="1"/>
          <p:nvPr/>
        </p:nvSpPr>
        <p:spPr>
          <a:xfrm>
            <a:off x="1725473" y="2098548"/>
            <a:ext cx="280721"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Total</a:t>
            </a:r>
          </a:p>
        </p:txBody>
      </p:sp>
      <p:sp>
        <p:nvSpPr>
          <p:cNvPr id="103" name="CategoryTickLabel"/>
          <p:cNvSpPr txBox="1"/>
          <p:nvPr/>
        </p:nvSpPr>
        <p:spPr>
          <a:xfrm>
            <a:off x="592531" y="2702052"/>
            <a:ext cx="1414577"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Addressable Commercial</a:t>
            </a:r>
          </a:p>
        </p:txBody>
      </p:sp>
      <p:sp>
        <p:nvSpPr>
          <p:cNvPr id="104" name="CategoryTickLabel"/>
          <p:cNvSpPr txBox="1"/>
          <p:nvPr/>
        </p:nvSpPr>
        <p:spPr>
          <a:xfrm>
            <a:off x="606247" y="3306470"/>
            <a:ext cx="1399946"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Great Lakes Commercial</a:t>
            </a:r>
          </a:p>
        </p:txBody>
      </p:sp>
      <p:sp>
        <p:nvSpPr>
          <p:cNvPr id="105" name="CategoryTickLabel"/>
          <p:cNvSpPr txBox="1"/>
          <p:nvPr/>
        </p:nvSpPr>
        <p:spPr>
          <a:xfrm>
            <a:off x="785470" y="3909974"/>
            <a:ext cx="122072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Addressable Offshore</a:t>
            </a:r>
          </a:p>
        </p:txBody>
      </p:sp>
      <p:sp>
        <p:nvSpPr>
          <p:cNvPr id="106" name="CategoryTickLabel"/>
          <p:cNvSpPr txBox="1"/>
          <p:nvPr/>
        </p:nvSpPr>
        <p:spPr>
          <a:xfrm>
            <a:off x="511150" y="4513478"/>
            <a:ext cx="149504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Non-Addressable Offshore</a:t>
            </a:r>
          </a:p>
        </p:txBody>
      </p:sp>
      <p:sp>
        <p:nvSpPr>
          <p:cNvPr id="107" name="CategoryTickLabel"/>
          <p:cNvSpPr txBox="1"/>
          <p:nvPr/>
        </p:nvSpPr>
        <p:spPr>
          <a:xfrm>
            <a:off x="1087222" y="5117897"/>
            <a:ext cx="918972"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Other Segments</a:t>
            </a:r>
          </a:p>
        </p:txBody>
      </p:sp>
      <p:sp>
        <p:nvSpPr>
          <p:cNvPr id="108" name="BarValueLabel"/>
          <p:cNvSpPr txBox="1"/>
          <p:nvPr/>
        </p:nvSpPr>
        <p:spPr>
          <a:xfrm>
            <a:off x="6870802" y="2098548"/>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6.6</a:t>
            </a:r>
          </a:p>
        </p:txBody>
      </p:sp>
      <p:sp>
        <p:nvSpPr>
          <p:cNvPr id="109" name="BarValueLabel"/>
          <p:cNvSpPr txBox="1"/>
          <p:nvPr/>
        </p:nvSpPr>
        <p:spPr>
          <a:xfrm>
            <a:off x="4518050" y="2702052"/>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3.3</a:t>
            </a:r>
          </a:p>
        </p:txBody>
      </p:sp>
      <p:sp>
        <p:nvSpPr>
          <p:cNvPr id="110" name="BarValueLabel"/>
          <p:cNvSpPr txBox="1"/>
          <p:nvPr/>
        </p:nvSpPr>
        <p:spPr>
          <a:xfrm>
            <a:off x="2648102" y="3306470"/>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0.7</a:t>
            </a:r>
          </a:p>
        </p:txBody>
      </p:sp>
      <p:sp>
        <p:nvSpPr>
          <p:cNvPr id="111" name="BarValueLabel"/>
          <p:cNvSpPr txBox="1"/>
          <p:nvPr/>
        </p:nvSpPr>
        <p:spPr>
          <a:xfrm>
            <a:off x="2565806" y="3909974"/>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0.6</a:t>
            </a:r>
          </a:p>
        </p:txBody>
      </p:sp>
      <p:sp>
        <p:nvSpPr>
          <p:cNvPr id="112" name="BarValueLabel"/>
          <p:cNvSpPr txBox="1"/>
          <p:nvPr/>
        </p:nvSpPr>
        <p:spPr>
          <a:xfrm>
            <a:off x="2357323" y="4513478"/>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0.3</a:t>
            </a:r>
          </a:p>
        </p:txBody>
      </p:sp>
      <p:sp>
        <p:nvSpPr>
          <p:cNvPr id="113" name="BarValueLabel"/>
          <p:cNvSpPr txBox="1"/>
          <p:nvPr/>
        </p:nvSpPr>
        <p:spPr>
          <a:xfrm>
            <a:off x="3251606" y="5117897"/>
            <a:ext cx="209398" cy="152705"/>
          </a:xfrm>
          <a:prstGeom prst="rect">
            <a:avLst/>
          </a:prstGeom>
          <a:noFill/>
          <a:ln>
            <a:noFill/>
          </a:ln>
        </p:spPr>
        <p:txBody>
          <a:bodyPr wrap="none" anchor="ctr" lIns="17463" tIns="0" rIns="17463" bIns="0"/>
          <a:lstStyle/>
          <a:p>
            <a:pPr marL="0" indent="0">
              <a:lnSpc>
                <a:spcPct val="100000"/>
              </a:lnSpc>
              <a:buNone/>
            </a:pPr>
            <a:r>
              <a:rPr lang="en-US" sz="1000" dirty="0">
                <a:solidFill>
                  <a:srgbClr val="000000"/>
                </a:solidFill>
                <a:latin typeface="Arial"/>
                <a:ea typeface="Arial"/>
                <a:cs typeface="Arial"/>
              </a:rPr>
              <a:t>1.6</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US-Flagged, US-Built Fleet Overview | Entire US-flagged and US-built fleet (~6.6M GT) is less than 1 year’s capacity target (10M GT); addressable fleet is ~3.9M GT.</a:t>
            </a:r>
          </a:p>
        </p:txBody>
      </p:sp>
      <p:sp>
        <p:nvSpPr>
          <p:cNvPr id="114" name="SourceNote"/>
          <p:cNvSpPr txBox="1"/>
          <p:nvPr/>
        </p:nvSpPr>
        <p:spPr>
          <a:xfrm>
            <a:off x="452628" y="6094476"/>
            <a:ext cx="11308385" cy="303581"/>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As of January 2026; Addressable Commercial defined as oceangoing vessels</a:t>
            </a:r>
            <a:br/>
            <a:r>
              <a:rPr lang="en-US" sz="800" dirty="0">
                <a:solidFill>
                  <a:srgbClr val="000000"/>
                </a:solidFill>
                <a:latin typeface="Arial"/>
                <a:ea typeface="Arial"/>
                <a:cs typeface="Arial"/>
              </a:rPr>
              <a:t>Source: Clarksons (US fleet size and GT data)</a:t>
            </a:r>
          </a:p>
        </p:txBody>
      </p:sp>
      <p:sp>
        <p:nvSpPr>
          <p:cNvPr id="115" name="KpiComparisonCard"/>
          <p:cNvSpPr txBox="1"/>
          <p:nvPr/>
        </p:nvSpPr>
        <p:spPr>
          <a:xfrm>
            <a:off x="7349947" y="1613002"/>
            <a:ext cx="1340510" cy="914400"/>
          </a:xfrm>
          <a:prstGeom prst="rect">
            <a:avLst/>
          </a:prstGeom>
          <a:solidFill>
            <a:srgbClr val="F2F2F2"/>
          </a:solidFill>
          <a:ln>
            <a:noFill/>
          </a:ln>
        </p:spPr>
        <p:txBody>
          <a:bodyPr wrap="square" anchor="ctr" lIns="91440" tIns="45720" rIns="91440" bIns="45720"/>
          <a:lstStyle/>
          <a:p>
            <a:pPr algn="ctr">
              <a:lnSpc>
                <a:spcPct val="100000"/>
              </a:lnSpc>
              <a:buNone/>
            </a:pPr>
            <a:r>
              <a:rPr lang="en-US" sz="2800" b="1" dirty="0">
                <a:solidFill>
                  <a:srgbClr val="000000"/>
                </a:solidFill>
                <a:latin typeface="Arial"/>
                <a:ea typeface="Arial"/>
                <a:cs typeface="Arial"/>
              </a:rPr>
              <a:t>10M</a:t>
            </a:r>
          </a:p>
          <a:p>
            <a:pPr algn="ctr">
              <a:lnSpc>
                <a:spcPct val="100000"/>
              </a:lnSpc>
              <a:buNone/>
            </a:pPr>
            <a:r>
              <a:rPr lang="en-US" sz="1600" dirty="0">
                <a:solidFill>
                  <a:srgbClr val="000000"/>
                </a:solidFill>
                <a:latin typeface="Arial"/>
                <a:ea typeface="Arial"/>
                <a:cs typeface="Arial"/>
              </a:rPr>
              <a:t>Gross tons</a:t>
            </a:r>
          </a:p>
        </p:txBody>
      </p:sp>
      <p:sp>
        <p:nvSpPr>
          <p:cNvPr id="116" name="KpiComparisonCard"/>
          <p:cNvSpPr txBox="1"/>
          <p:nvPr/>
        </p:nvSpPr>
        <p:spPr>
          <a:xfrm>
            <a:off x="7349947" y="2687422"/>
            <a:ext cx="1340510" cy="914400"/>
          </a:xfrm>
          <a:prstGeom prst="rect">
            <a:avLst/>
          </a:prstGeom>
          <a:solidFill>
            <a:srgbClr val="F2F2F2"/>
          </a:solidFill>
          <a:ln>
            <a:noFill/>
          </a:ln>
        </p:spPr>
        <p:txBody>
          <a:bodyPr wrap="square" anchor="ctr" lIns="91440" tIns="45720" rIns="91440" bIns="45720"/>
          <a:lstStyle/>
          <a:p>
            <a:pPr algn="ctr">
              <a:lnSpc>
                <a:spcPct val="100000"/>
              </a:lnSpc>
              <a:buNone/>
            </a:pPr>
            <a:r>
              <a:rPr lang="en-US" sz="2800" b="1" dirty="0">
                <a:solidFill>
                  <a:srgbClr val="C00000"/>
                </a:solidFill>
                <a:latin typeface="Arial"/>
                <a:ea typeface="Arial"/>
                <a:cs typeface="Arial"/>
              </a:rPr>
              <a:t>~6.6M</a:t>
            </a:r>
          </a:p>
          <a:p>
            <a:pPr algn="ctr">
              <a:lnSpc>
                <a:spcPct val="100000"/>
              </a:lnSpc>
              <a:buNone/>
            </a:pPr>
            <a:r>
              <a:rPr lang="en-US" sz="1600" dirty="0">
                <a:solidFill>
                  <a:srgbClr val="000000"/>
                </a:solidFill>
                <a:latin typeface="Arial"/>
                <a:ea typeface="Arial"/>
                <a:cs typeface="Arial"/>
              </a:rPr>
              <a:t>Gross tons</a:t>
            </a:r>
          </a:p>
        </p:txBody>
      </p:sp>
      <p:sp>
        <p:nvSpPr>
          <p:cNvPr id="117" name="KpiComparisonCard"/>
          <p:cNvSpPr txBox="1"/>
          <p:nvPr/>
        </p:nvSpPr>
        <p:spPr>
          <a:xfrm>
            <a:off x="7349947" y="3760927"/>
            <a:ext cx="1340510" cy="914400"/>
          </a:xfrm>
          <a:prstGeom prst="rect">
            <a:avLst/>
          </a:prstGeom>
          <a:solidFill>
            <a:srgbClr val="F2F2F2"/>
          </a:solidFill>
          <a:ln>
            <a:noFill/>
          </a:ln>
        </p:spPr>
        <p:txBody>
          <a:bodyPr wrap="square" anchor="ctr" lIns="91440" tIns="45720" rIns="91440" bIns="45720"/>
          <a:lstStyle/>
          <a:p>
            <a:pPr algn="ctr">
              <a:lnSpc>
                <a:spcPct val="100000"/>
              </a:lnSpc>
              <a:buNone/>
            </a:pPr>
            <a:r>
              <a:rPr lang="en-US" sz="2800" b="1" dirty="0">
                <a:solidFill>
                  <a:srgbClr val="C00000"/>
                </a:solidFill>
                <a:latin typeface="Arial"/>
                <a:ea typeface="Arial"/>
                <a:cs typeface="Arial"/>
              </a:rPr>
              <a:t>~3.9M</a:t>
            </a:r>
          </a:p>
          <a:p>
            <a:pPr algn="ctr">
              <a:lnSpc>
                <a:spcPct val="100000"/>
              </a:lnSpc>
              <a:buNone/>
            </a:pPr>
            <a:r>
              <a:rPr lang="en-US" sz="1600" dirty="0">
                <a:solidFill>
                  <a:srgbClr val="000000"/>
                </a:solidFill>
                <a:latin typeface="Arial"/>
                <a:ea typeface="Arial"/>
                <a:cs typeface="Arial"/>
              </a:rPr>
              <a:t>Gross tons</a:t>
            </a:r>
          </a:p>
        </p:txBody>
      </p:sp>
      <p:sp>
        <p:nvSpPr>
          <p:cNvPr id="118" name="KpiComparisonNote"/>
          <p:cNvSpPr txBox="1"/>
          <p:nvPr/>
        </p:nvSpPr>
        <p:spPr>
          <a:xfrm>
            <a:off x="8690458" y="1613002"/>
            <a:ext cx="3010205" cy="914400"/>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Annual target</a:t>
            </a:r>
          </a:p>
        </p:txBody>
      </p:sp>
      <p:sp>
        <p:nvSpPr>
          <p:cNvPr id="119" name="KpiComparisonNote"/>
          <p:cNvSpPr txBox="1"/>
          <p:nvPr/>
        </p:nvSpPr>
        <p:spPr>
          <a:xfrm>
            <a:off x="8690458" y="2687422"/>
            <a:ext cx="3010205" cy="914400"/>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Current US-flagged, US-built fleet gross tonnage</a:t>
            </a:r>
          </a:p>
        </p:txBody>
      </p:sp>
      <p:sp>
        <p:nvSpPr>
          <p:cNvPr id="120" name="KpiComparisonNote"/>
          <p:cNvSpPr txBox="1"/>
          <p:nvPr/>
        </p:nvSpPr>
        <p:spPr>
          <a:xfrm>
            <a:off x="8690458" y="3760927"/>
            <a:ext cx="3010205" cy="914400"/>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Addressable Commercial and Offshore gross tonnage</a:t>
            </a:r>
          </a:p>
        </p:txBody>
      </p:sp>
      <p:sp>
        <p:nvSpPr>
          <p:cNvPr id="121" name="KpiComparisonNote"/>
          <p:cNvSpPr txBox="1"/>
          <p:nvPr/>
        </p:nvSpPr>
        <p:spPr>
          <a:xfrm>
            <a:off x="7349947" y="4835347"/>
            <a:ext cx="4349801" cy="914400"/>
          </a:xfrm>
          <a:prstGeom prst="rect">
            <a:avLst/>
          </a:prstGeom>
          <a:solidFill>
            <a:srgbClr val="CEDDEC"/>
          </a:solid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Reaching throughput target requires rebuilding the entire fleet 1.5x every year</a:t>
            </a:r>
          </a:p>
        </p:txBody>
      </p:sp>
      <p:sp>
        <p:nvSpPr>
          <p:cNvPr id="122" name="AddressabilityLegendFrame"/>
          <p:cNvSpPr txBox="1"/>
          <p:nvPr/>
        </p:nvSpPr>
        <p:spPr>
          <a:xfrm>
            <a:off x="5038344" y="4345229"/>
            <a:ext cx="1923898" cy="1168603"/>
          </a:xfrm>
          <a:prstGeom prst="rect">
            <a:avLst/>
          </a:prstGeom>
          <a:noFill/>
          <a:ln w="12700">
            <a:solidFill>
              <a:srgbClr val="121415"/>
            </a:solidFill>
          </a:ln>
        </p:spPr>
        <p:txBody>
          <a:bodyPr wrap="square" anchor="ctr" lIns="91440" tIns="45720" rIns="91440" bIns="45720"/>
          <a:lstStyle/>
          <a:p>
            <a:pPr algn="ctr">
              <a:lnSpc>
                <a:spcPct val="100000"/>
              </a:lnSpc>
              <a:buNone/>
            </a:pPr>
            <a:endParaRPr lang="en-US"/>
          </a:p>
        </p:txBody>
      </p:sp>
      <p:sp>
        <p:nvSpPr>
          <p:cNvPr id="123" name="AddressabilityLegendTitle"/>
          <p:cNvSpPr txBox="1"/>
          <p:nvPr/>
        </p:nvSpPr>
        <p:spPr>
          <a:xfrm>
            <a:off x="5483657" y="4265676"/>
            <a:ext cx="1033272" cy="160020"/>
          </a:xfrm>
          <a:prstGeom prst="rect">
            <a:avLst/>
          </a:prstGeom>
          <a:solidFill>
            <a:srgbClr val="FFFFFF"/>
          </a:solidFill>
          <a:ln>
            <a:noFill/>
          </a:ln>
        </p:spPr>
        <p:txBody>
          <a:bodyPr wrap="square" anchor="ctr" lIns="91440" tIns="45720" rIns="91440" bIns="45720"/>
          <a:lstStyle/>
          <a:p>
            <a:pPr algn="ctr" marL="0" indent="0">
              <a:lnSpc>
                <a:spcPct val="100000"/>
              </a:lnSpc>
              <a:buNone/>
            </a:pPr>
            <a:r>
              <a:rPr lang="en-US" sz="1000" i="1" dirty="0">
                <a:solidFill>
                  <a:srgbClr val="000000"/>
                </a:solidFill>
                <a:latin typeface="Arial"/>
                <a:ea typeface="Arial"/>
                <a:cs typeface="Arial"/>
              </a:rPr>
              <a:t>Addressability</a:t>
            </a:r>
          </a:p>
        </p:txBody>
      </p:sp>
      <p:sp>
        <p:nvSpPr>
          <p:cNvPr id="124" name="LegendSwatch"/>
          <p:cNvSpPr txBox="1"/>
          <p:nvPr/>
        </p:nvSpPr>
        <p:spPr>
          <a:xfrm>
            <a:off x="5149901" y="4485132"/>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25" name="LegendSwatch"/>
          <p:cNvSpPr txBox="1"/>
          <p:nvPr/>
        </p:nvSpPr>
        <p:spPr>
          <a:xfrm>
            <a:off x="5149901" y="4688129"/>
            <a:ext cx="179222" cy="133502"/>
          </a:xfrm>
          <a:prstGeom prst="rect">
            <a:avLst/>
          </a:prstGeom>
          <a:solidFill>
            <a:srgbClr val="FFC000"/>
          </a:solidFill>
          <a:ln>
            <a:noFill/>
          </a:ln>
        </p:spPr>
        <p:txBody>
          <a:bodyPr wrap="square" anchor="ctr" lIns="91440" tIns="45720" rIns="91440" bIns="45720"/>
          <a:lstStyle/>
          <a:p>
            <a:pPr algn="ctr">
              <a:lnSpc>
                <a:spcPct val="100000"/>
              </a:lnSpc>
              <a:buNone/>
            </a:pPr>
            <a:endParaRPr lang="en-US"/>
          </a:p>
        </p:txBody>
      </p:sp>
      <p:sp>
        <p:nvSpPr>
          <p:cNvPr id="126" name="LegendSwatch"/>
          <p:cNvSpPr txBox="1"/>
          <p:nvPr/>
        </p:nvSpPr>
        <p:spPr>
          <a:xfrm>
            <a:off x="5149901" y="4891126"/>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27" name="LegendSwatch"/>
          <p:cNvSpPr txBox="1"/>
          <p:nvPr/>
        </p:nvSpPr>
        <p:spPr>
          <a:xfrm>
            <a:off x="5149901" y="5094122"/>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28" name="LegendSwatch"/>
          <p:cNvSpPr txBox="1"/>
          <p:nvPr/>
        </p:nvSpPr>
        <p:spPr>
          <a:xfrm>
            <a:off x="5149901" y="5297119"/>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29" name="LegendLabel"/>
          <p:cNvSpPr txBox="1"/>
          <p:nvPr/>
        </p:nvSpPr>
        <p:spPr>
          <a:xfrm>
            <a:off x="5380330" y="4479646"/>
            <a:ext cx="141457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Commercial</a:t>
            </a:r>
          </a:p>
        </p:txBody>
      </p:sp>
      <p:sp>
        <p:nvSpPr>
          <p:cNvPr id="130" name="LegendLabel"/>
          <p:cNvSpPr txBox="1"/>
          <p:nvPr/>
        </p:nvSpPr>
        <p:spPr>
          <a:xfrm>
            <a:off x="5380330" y="4683557"/>
            <a:ext cx="122072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Offshore</a:t>
            </a:r>
          </a:p>
        </p:txBody>
      </p:sp>
      <p:sp>
        <p:nvSpPr>
          <p:cNvPr id="131" name="LegendLabel"/>
          <p:cNvSpPr txBox="1"/>
          <p:nvPr/>
        </p:nvSpPr>
        <p:spPr>
          <a:xfrm>
            <a:off x="5380330" y="4886554"/>
            <a:ext cx="13999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Great Lakes Commercial</a:t>
            </a:r>
          </a:p>
        </p:txBody>
      </p:sp>
      <p:sp>
        <p:nvSpPr>
          <p:cNvPr id="132" name="LegendLabel"/>
          <p:cNvSpPr txBox="1"/>
          <p:nvPr/>
        </p:nvSpPr>
        <p:spPr>
          <a:xfrm>
            <a:off x="5380330" y="5089550"/>
            <a:ext cx="149504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Non-Addressable Offshore</a:t>
            </a:r>
          </a:p>
        </p:txBody>
      </p:sp>
      <p:sp>
        <p:nvSpPr>
          <p:cNvPr id="133" name="LegendLabel"/>
          <p:cNvSpPr txBox="1"/>
          <p:nvPr/>
        </p:nvSpPr>
        <p:spPr>
          <a:xfrm>
            <a:off x="5380330" y="5292547"/>
            <a:ext cx="9189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Other Segments</a:t>
            </a:r>
          </a:p>
        </p:txBody>
      </p:sp>
      <p:sp>
        <p:nvSpPr>
          <p:cNvPr id="134" name="ScenarioChip"/>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marL="0" indent="0">
              <a:lnSpc>
                <a:spcPct val="100000"/>
              </a:lnSpc>
              <a:buNone/>
            </a:pPr>
            <a:r>
              <a:rPr lang="en-US" sz="1200" b="1" dirty="0">
                <a:solidFill>
                  <a:srgbClr val="000000"/>
                </a:solidFill>
                <a:latin typeface="Arial"/>
                <a:ea typeface="Arial"/>
                <a:cs typeface="Arial"/>
              </a:rPr>
              <a:t>(1) Status Quo Scenario</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OrderbookDataBand"/>
          <p:cNvSpPr txBox="1"/>
          <p:nvPr/>
        </p:nvSpPr>
        <p:spPr>
          <a:xfrm>
            <a:off x="868680" y="1923898"/>
            <a:ext cx="1995221" cy="3836822"/>
          </a:xfrm>
          <a:prstGeom prst="rect">
            <a:avLst/>
          </a:prstGeom>
          <a:solidFill>
            <a:srgbClr val="F2F2F2"/>
          </a:solidFill>
          <a:ln>
            <a:noFill/>
          </a:ln>
        </p:spPr>
        <p:txBody>
          <a:bodyPr wrap="square" anchor="t" lIns="91440" tIns="45720" rIns="91440" bIns="45720"/>
          <a:lstStyle/>
          <a:p>
            <a:pPr>
              <a:lnSpc>
                <a:spcPct val="100000"/>
              </a:lnSpc>
              <a:buNone/>
            </a:pPr>
            <a:r>
              <a:rPr lang="en-US" sz="1000" i="1" dirty="0">
                <a:solidFill>
                  <a:srgbClr val="000000"/>
                </a:solidFill>
                <a:latin typeface="Arial"/>
                <a:ea typeface="Arial"/>
                <a:cs typeface="Arial"/>
              </a:rPr>
              <a:t>Years with </a:t>
            </a:r>
            <a:br/>
            <a:r>
              <a:rPr lang="en-US" sz="1000" i="1" dirty="0">
                <a:solidFill>
                  <a:srgbClr val="000000"/>
                </a:solidFill>
                <a:latin typeface="Arial"/>
                <a:ea typeface="Arial"/>
                <a:cs typeface="Arial"/>
              </a:rPr>
              <a:t>orderbook </a:t>
            </a:r>
            <a:br/>
            <a:r>
              <a:rPr lang="en-US" sz="1000" i="1" dirty="0">
                <a:solidFill>
                  <a:srgbClr val="000000"/>
                </a:solidFill>
                <a:latin typeface="Arial"/>
                <a:ea typeface="Arial"/>
                <a:cs typeface="Arial"/>
              </a:rPr>
              <a:t>data</a:t>
            </a:r>
          </a:p>
        </p:txBody>
      </p:sp>
      <p:graphicFrame>
        <p:nvGraphicFramePr>
          <p:cNvPr id="101" name="Chart"/>
          <p:cNvGraphicFramePr/>
          <p:nvPr/>
        </p:nvGraphicFramePr>
        <p:xfrm>
          <a:off x="790956" y="1849831"/>
          <a:ext cx="10115093" cy="3799332"/>
        </p:xfrm>
        <a:graphic>
          <a:graphicData uri="http://schemas.openxmlformats.org/drawingml/2006/chart">
            <c:chart xmlns:c="http://schemas.openxmlformats.org/drawingml/2006/chart" xmlns:r="http://schemas.openxmlformats.org/officeDocument/2006/relationships" r:id="rId2"/>
          </a:graphicData>
        </a:graphic>
      </p:graphicFrame>
      <p:sp>
        <p:nvSpPr>
          <p:cNvPr id="102" name="ValueAxisTickLabel"/>
          <p:cNvSpPr txBox="1"/>
          <p:nvPr/>
        </p:nvSpPr>
        <p:spPr>
          <a:xfrm>
            <a:off x="491947" y="5489143"/>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-350</a:t>
            </a:r>
          </a:p>
        </p:txBody>
      </p:sp>
      <p:sp>
        <p:nvSpPr>
          <p:cNvPr id="103" name="ValueAxisTickLabel"/>
          <p:cNvSpPr txBox="1"/>
          <p:nvPr/>
        </p:nvSpPr>
        <p:spPr>
          <a:xfrm>
            <a:off x="491947" y="5230368"/>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-300</a:t>
            </a:r>
          </a:p>
        </p:txBody>
      </p:sp>
      <p:sp>
        <p:nvSpPr>
          <p:cNvPr id="104" name="ValueAxisTickLabel"/>
          <p:cNvSpPr txBox="1"/>
          <p:nvPr/>
        </p:nvSpPr>
        <p:spPr>
          <a:xfrm>
            <a:off x="491947" y="4970678"/>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-250</a:t>
            </a:r>
          </a:p>
        </p:txBody>
      </p:sp>
      <p:sp>
        <p:nvSpPr>
          <p:cNvPr id="105" name="ValueAxisTickLabel"/>
          <p:cNvSpPr txBox="1"/>
          <p:nvPr/>
        </p:nvSpPr>
        <p:spPr>
          <a:xfrm>
            <a:off x="491947" y="4711903"/>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-200</a:t>
            </a:r>
          </a:p>
        </p:txBody>
      </p:sp>
      <p:sp>
        <p:nvSpPr>
          <p:cNvPr id="106" name="ValueAxisTickLabel"/>
          <p:cNvSpPr txBox="1"/>
          <p:nvPr/>
        </p:nvSpPr>
        <p:spPr>
          <a:xfrm>
            <a:off x="491947" y="4451299"/>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-150</a:t>
            </a:r>
          </a:p>
        </p:txBody>
      </p:sp>
      <p:sp>
        <p:nvSpPr>
          <p:cNvPr id="107" name="ValueAxisTickLabel"/>
          <p:cNvSpPr txBox="1"/>
          <p:nvPr/>
        </p:nvSpPr>
        <p:spPr>
          <a:xfrm>
            <a:off x="491947" y="4192524"/>
            <a:ext cx="25237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-100</a:t>
            </a:r>
          </a:p>
        </p:txBody>
      </p:sp>
      <p:sp>
        <p:nvSpPr>
          <p:cNvPr id="108" name="ValueAxisTickLabel"/>
          <p:cNvSpPr txBox="1"/>
          <p:nvPr/>
        </p:nvSpPr>
        <p:spPr>
          <a:xfrm>
            <a:off x="562356" y="3931920"/>
            <a:ext cx="182880"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-50</a:t>
            </a:r>
          </a:p>
        </p:txBody>
      </p:sp>
      <p:sp>
        <p:nvSpPr>
          <p:cNvPr id="109" name="ValueAxisTickLabel"/>
          <p:cNvSpPr txBox="1"/>
          <p:nvPr/>
        </p:nvSpPr>
        <p:spPr>
          <a:xfrm>
            <a:off x="674827" y="3673145"/>
            <a:ext cx="69494"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0</a:t>
            </a:r>
          </a:p>
        </p:txBody>
      </p:sp>
      <p:sp>
        <p:nvSpPr>
          <p:cNvPr id="110" name="ValueAxisTickLabel"/>
          <p:cNvSpPr txBox="1"/>
          <p:nvPr/>
        </p:nvSpPr>
        <p:spPr>
          <a:xfrm>
            <a:off x="604418" y="3413455"/>
            <a:ext cx="139903"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50</a:t>
            </a:r>
          </a:p>
        </p:txBody>
      </p:sp>
      <p:sp>
        <p:nvSpPr>
          <p:cNvPr id="111" name="ValueAxisTickLabel"/>
          <p:cNvSpPr txBox="1"/>
          <p:nvPr/>
        </p:nvSpPr>
        <p:spPr>
          <a:xfrm>
            <a:off x="534924" y="3154680"/>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100</a:t>
            </a:r>
          </a:p>
        </p:txBody>
      </p:sp>
      <p:sp>
        <p:nvSpPr>
          <p:cNvPr id="112" name="ValueAxisTickLabel"/>
          <p:cNvSpPr txBox="1"/>
          <p:nvPr/>
        </p:nvSpPr>
        <p:spPr>
          <a:xfrm>
            <a:off x="534924" y="2894076"/>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150</a:t>
            </a:r>
          </a:p>
        </p:txBody>
      </p:sp>
      <p:sp>
        <p:nvSpPr>
          <p:cNvPr id="113" name="ValueAxisTickLabel"/>
          <p:cNvSpPr txBox="1"/>
          <p:nvPr/>
        </p:nvSpPr>
        <p:spPr>
          <a:xfrm>
            <a:off x="534924" y="2635301"/>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200</a:t>
            </a:r>
          </a:p>
        </p:txBody>
      </p:sp>
      <p:sp>
        <p:nvSpPr>
          <p:cNvPr id="114" name="ValueAxisTickLabel"/>
          <p:cNvSpPr txBox="1"/>
          <p:nvPr/>
        </p:nvSpPr>
        <p:spPr>
          <a:xfrm>
            <a:off x="534924" y="2374697"/>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250</a:t>
            </a:r>
          </a:p>
        </p:txBody>
      </p:sp>
      <p:sp>
        <p:nvSpPr>
          <p:cNvPr id="115" name="ValueAxisTickLabel"/>
          <p:cNvSpPr txBox="1"/>
          <p:nvPr/>
        </p:nvSpPr>
        <p:spPr>
          <a:xfrm>
            <a:off x="534924" y="2115922"/>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300</a:t>
            </a:r>
          </a:p>
        </p:txBody>
      </p:sp>
      <p:sp>
        <p:nvSpPr>
          <p:cNvPr id="116" name="ValueAxisTickLabel"/>
          <p:cNvSpPr txBox="1"/>
          <p:nvPr/>
        </p:nvSpPr>
        <p:spPr>
          <a:xfrm>
            <a:off x="534924" y="1856232"/>
            <a:ext cx="209398" cy="152705"/>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350</a:t>
            </a:r>
          </a:p>
        </p:txBody>
      </p:sp>
      <p:sp>
        <p:nvSpPr>
          <p:cNvPr id="117" name="YearTickLabel"/>
          <p:cNvSpPr txBox="1"/>
          <p:nvPr/>
        </p:nvSpPr>
        <p:spPr>
          <a:xfrm>
            <a:off x="925373"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2026</a:t>
            </a:r>
          </a:p>
        </p:txBody>
      </p:sp>
      <p:sp>
        <p:nvSpPr>
          <p:cNvPr id="118" name="YearTickLabel"/>
          <p:cNvSpPr txBox="1"/>
          <p:nvPr/>
        </p:nvSpPr>
        <p:spPr>
          <a:xfrm>
            <a:off x="1322222"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2027</a:t>
            </a:r>
          </a:p>
        </p:txBody>
      </p:sp>
      <p:sp>
        <p:nvSpPr>
          <p:cNvPr id="119" name="YearTickLabel"/>
          <p:cNvSpPr txBox="1"/>
          <p:nvPr/>
        </p:nvSpPr>
        <p:spPr>
          <a:xfrm>
            <a:off x="1720901"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2028</a:t>
            </a:r>
          </a:p>
        </p:txBody>
      </p:sp>
      <p:sp>
        <p:nvSpPr>
          <p:cNvPr id="120" name="YearTickLabel"/>
          <p:cNvSpPr txBox="1"/>
          <p:nvPr/>
        </p:nvSpPr>
        <p:spPr>
          <a:xfrm>
            <a:off x="2119579"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2029</a:t>
            </a:r>
          </a:p>
        </p:txBody>
      </p:sp>
      <p:sp>
        <p:nvSpPr>
          <p:cNvPr id="121" name="YearTickLabel"/>
          <p:cNvSpPr txBox="1"/>
          <p:nvPr/>
        </p:nvSpPr>
        <p:spPr>
          <a:xfrm>
            <a:off x="2517343"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2030</a:t>
            </a:r>
          </a:p>
        </p:txBody>
      </p:sp>
      <p:sp>
        <p:nvSpPr>
          <p:cNvPr id="122" name="YearTickLabel"/>
          <p:cNvSpPr txBox="1"/>
          <p:nvPr/>
        </p:nvSpPr>
        <p:spPr>
          <a:xfrm>
            <a:off x="2915107"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2031</a:t>
            </a:r>
          </a:p>
        </p:txBody>
      </p:sp>
      <p:sp>
        <p:nvSpPr>
          <p:cNvPr id="123" name="YearTickLabel"/>
          <p:cNvSpPr txBox="1"/>
          <p:nvPr/>
        </p:nvSpPr>
        <p:spPr>
          <a:xfrm>
            <a:off x="3312871"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2032</a:t>
            </a:r>
          </a:p>
        </p:txBody>
      </p:sp>
      <p:sp>
        <p:nvSpPr>
          <p:cNvPr id="124" name="YearTickLabel"/>
          <p:cNvSpPr txBox="1"/>
          <p:nvPr/>
        </p:nvSpPr>
        <p:spPr>
          <a:xfrm>
            <a:off x="3711550"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2033</a:t>
            </a:r>
          </a:p>
        </p:txBody>
      </p:sp>
      <p:sp>
        <p:nvSpPr>
          <p:cNvPr id="125" name="YearTickLabel"/>
          <p:cNvSpPr txBox="1"/>
          <p:nvPr/>
        </p:nvSpPr>
        <p:spPr>
          <a:xfrm>
            <a:off x="4108399"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2034</a:t>
            </a:r>
          </a:p>
        </p:txBody>
      </p:sp>
      <p:sp>
        <p:nvSpPr>
          <p:cNvPr id="126" name="YearTickLabel"/>
          <p:cNvSpPr txBox="1"/>
          <p:nvPr/>
        </p:nvSpPr>
        <p:spPr>
          <a:xfrm>
            <a:off x="4507078"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2035</a:t>
            </a:r>
          </a:p>
        </p:txBody>
      </p:sp>
      <p:sp>
        <p:nvSpPr>
          <p:cNvPr id="127" name="YearTickLabel"/>
          <p:cNvSpPr txBox="1"/>
          <p:nvPr/>
        </p:nvSpPr>
        <p:spPr>
          <a:xfrm>
            <a:off x="4905756"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2036</a:t>
            </a:r>
          </a:p>
        </p:txBody>
      </p:sp>
      <p:sp>
        <p:nvSpPr>
          <p:cNvPr id="128" name="YearTickLabel"/>
          <p:cNvSpPr txBox="1"/>
          <p:nvPr/>
        </p:nvSpPr>
        <p:spPr>
          <a:xfrm>
            <a:off x="5303520"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2037</a:t>
            </a:r>
          </a:p>
        </p:txBody>
      </p:sp>
      <p:sp>
        <p:nvSpPr>
          <p:cNvPr id="129" name="YearTickLabel"/>
          <p:cNvSpPr txBox="1"/>
          <p:nvPr/>
        </p:nvSpPr>
        <p:spPr>
          <a:xfrm>
            <a:off x="5700370"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2038</a:t>
            </a:r>
          </a:p>
        </p:txBody>
      </p:sp>
      <p:sp>
        <p:nvSpPr>
          <p:cNvPr id="130" name="YearTickLabel"/>
          <p:cNvSpPr txBox="1"/>
          <p:nvPr/>
        </p:nvSpPr>
        <p:spPr>
          <a:xfrm>
            <a:off x="6099048"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2039</a:t>
            </a:r>
          </a:p>
        </p:txBody>
      </p:sp>
      <p:sp>
        <p:nvSpPr>
          <p:cNvPr id="131" name="YearTickLabel"/>
          <p:cNvSpPr txBox="1"/>
          <p:nvPr/>
        </p:nvSpPr>
        <p:spPr>
          <a:xfrm>
            <a:off x="6497726"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2040</a:t>
            </a:r>
          </a:p>
        </p:txBody>
      </p:sp>
      <p:sp>
        <p:nvSpPr>
          <p:cNvPr id="132" name="YearTickLabel"/>
          <p:cNvSpPr txBox="1"/>
          <p:nvPr/>
        </p:nvSpPr>
        <p:spPr>
          <a:xfrm>
            <a:off x="6896405"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2041</a:t>
            </a:r>
          </a:p>
        </p:txBody>
      </p:sp>
      <p:sp>
        <p:nvSpPr>
          <p:cNvPr id="133" name="YearTickLabel"/>
          <p:cNvSpPr txBox="1"/>
          <p:nvPr/>
        </p:nvSpPr>
        <p:spPr>
          <a:xfrm>
            <a:off x="7293254"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2042</a:t>
            </a:r>
          </a:p>
        </p:txBody>
      </p:sp>
      <p:sp>
        <p:nvSpPr>
          <p:cNvPr id="134" name="YearTickLabel"/>
          <p:cNvSpPr txBox="1"/>
          <p:nvPr/>
        </p:nvSpPr>
        <p:spPr>
          <a:xfrm>
            <a:off x="7691018"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2043</a:t>
            </a:r>
          </a:p>
        </p:txBody>
      </p:sp>
      <p:sp>
        <p:nvSpPr>
          <p:cNvPr id="135" name="YearTickLabel"/>
          <p:cNvSpPr txBox="1"/>
          <p:nvPr/>
        </p:nvSpPr>
        <p:spPr>
          <a:xfrm>
            <a:off x="8089697"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2044</a:t>
            </a:r>
          </a:p>
        </p:txBody>
      </p:sp>
      <p:sp>
        <p:nvSpPr>
          <p:cNvPr id="136" name="YearTickLabel"/>
          <p:cNvSpPr txBox="1"/>
          <p:nvPr/>
        </p:nvSpPr>
        <p:spPr>
          <a:xfrm>
            <a:off x="8486546"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2045</a:t>
            </a:r>
          </a:p>
        </p:txBody>
      </p:sp>
      <p:sp>
        <p:nvSpPr>
          <p:cNvPr id="137" name="YearTickLabel"/>
          <p:cNvSpPr txBox="1"/>
          <p:nvPr/>
        </p:nvSpPr>
        <p:spPr>
          <a:xfrm>
            <a:off x="8885225"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2046</a:t>
            </a:r>
          </a:p>
        </p:txBody>
      </p:sp>
      <p:sp>
        <p:nvSpPr>
          <p:cNvPr id="138" name="YearTickLabel"/>
          <p:cNvSpPr txBox="1"/>
          <p:nvPr/>
        </p:nvSpPr>
        <p:spPr>
          <a:xfrm>
            <a:off x="9283903"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2047</a:t>
            </a:r>
          </a:p>
        </p:txBody>
      </p:sp>
      <p:sp>
        <p:nvSpPr>
          <p:cNvPr id="139" name="YearTickLabel"/>
          <p:cNvSpPr txBox="1"/>
          <p:nvPr/>
        </p:nvSpPr>
        <p:spPr>
          <a:xfrm>
            <a:off x="9682582"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2048</a:t>
            </a:r>
          </a:p>
        </p:txBody>
      </p:sp>
      <p:sp>
        <p:nvSpPr>
          <p:cNvPr id="140" name="YearTickLabel"/>
          <p:cNvSpPr txBox="1"/>
          <p:nvPr/>
        </p:nvSpPr>
        <p:spPr>
          <a:xfrm>
            <a:off x="10079431"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2049</a:t>
            </a:r>
          </a:p>
        </p:txBody>
      </p:sp>
      <p:sp>
        <p:nvSpPr>
          <p:cNvPr id="141" name="YearTickLabel"/>
          <p:cNvSpPr txBox="1"/>
          <p:nvPr/>
        </p:nvSpPr>
        <p:spPr>
          <a:xfrm>
            <a:off x="10477195" y="5608930"/>
            <a:ext cx="29169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2050</a:t>
            </a:r>
          </a:p>
        </p:txBody>
      </p:sp>
      <p:sp>
        <p:nvSpPr>
          <p:cNvPr id="142" name="NetTotalLabel"/>
          <p:cNvSpPr txBox="1"/>
          <p:nvPr/>
        </p:nvSpPr>
        <p:spPr>
          <a:xfrm>
            <a:off x="929030" y="4860950"/>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-161</a:t>
            </a:r>
          </a:p>
        </p:txBody>
      </p:sp>
      <p:sp>
        <p:nvSpPr>
          <p:cNvPr id="143" name="NetTotalLabel"/>
          <p:cNvSpPr txBox="1"/>
          <p:nvPr/>
        </p:nvSpPr>
        <p:spPr>
          <a:xfrm>
            <a:off x="2952598" y="3827678"/>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-10</a:t>
            </a:r>
          </a:p>
        </p:txBody>
      </p:sp>
      <p:sp>
        <p:nvSpPr>
          <p:cNvPr id="144" name="NetTotalLabel"/>
          <p:cNvSpPr txBox="1"/>
          <p:nvPr/>
        </p:nvSpPr>
        <p:spPr>
          <a:xfrm>
            <a:off x="3351276" y="4211726"/>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-84</a:t>
            </a:r>
          </a:p>
        </p:txBody>
      </p:sp>
      <p:sp>
        <p:nvSpPr>
          <p:cNvPr id="145" name="NetTotalLabel"/>
          <p:cNvSpPr txBox="1"/>
          <p:nvPr/>
        </p:nvSpPr>
        <p:spPr>
          <a:xfrm>
            <a:off x="3714293" y="4411980"/>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-123</a:t>
            </a:r>
          </a:p>
        </p:txBody>
      </p:sp>
      <p:sp>
        <p:nvSpPr>
          <p:cNvPr id="146" name="NetTotalLabel"/>
          <p:cNvSpPr txBox="1"/>
          <p:nvPr/>
        </p:nvSpPr>
        <p:spPr>
          <a:xfrm>
            <a:off x="4146804" y="4175150"/>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-77</a:t>
            </a:r>
          </a:p>
        </p:txBody>
      </p:sp>
      <p:sp>
        <p:nvSpPr>
          <p:cNvPr id="147" name="NetTotalLabel"/>
          <p:cNvSpPr txBox="1"/>
          <p:nvPr/>
        </p:nvSpPr>
        <p:spPr>
          <a:xfrm>
            <a:off x="4943246" y="4289450"/>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-99</a:t>
            </a:r>
          </a:p>
        </p:txBody>
      </p:sp>
      <p:sp>
        <p:nvSpPr>
          <p:cNvPr id="148" name="NetTotalLabel"/>
          <p:cNvSpPr txBox="1"/>
          <p:nvPr/>
        </p:nvSpPr>
        <p:spPr>
          <a:xfrm>
            <a:off x="5307178" y="4370832"/>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-115</a:t>
            </a:r>
          </a:p>
        </p:txBody>
      </p:sp>
      <p:sp>
        <p:nvSpPr>
          <p:cNvPr id="149" name="NetTotalLabel"/>
          <p:cNvSpPr txBox="1"/>
          <p:nvPr/>
        </p:nvSpPr>
        <p:spPr>
          <a:xfrm>
            <a:off x="5704027" y="4345229"/>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-110</a:t>
            </a:r>
          </a:p>
        </p:txBody>
      </p:sp>
      <p:sp>
        <p:nvSpPr>
          <p:cNvPr id="150" name="NetTotalLabel"/>
          <p:cNvSpPr txBox="1"/>
          <p:nvPr/>
        </p:nvSpPr>
        <p:spPr>
          <a:xfrm>
            <a:off x="6102706" y="4923130"/>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-221</a:t>
            </a:r>
          </a:p>
        </p:txBody>
      </p:sp>
      <p:sp>
        <p:nvSpPr>
          <p:cNvPr id="151" name="NetTotalLabel"/>
          <p:cNvSpPr txBox="1"/>
          <p:nvPr/>
        </p:nvSpPr>
        <p:spPr>
          <a:xfrm>
            <a:off x="6500470" y="5145329"/>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-264</a:t>
            </a:r>
          </a:p>
        </p:txBody>
      </p:sp>
      <p:sp>
        <p:nvSpPr>
          <p:cNvPr id="152" name="NetTotalLabel"/>
          <p:cNvSpPr txBox="1"/>
          <p:nvPr/>
        </p:nvSpPr>
        <p:spPr>
          <a:xfrm>
            <a:off x="6899148" y="4852721"/>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-208</a:t>
            </a:r>
          </a:p>
        </p:txBody>
      </p:sp>
      <p:sp>
        <p:nvSpPr>
          <p:cNvPr id="153" name="NetTotalLabel"/>
          <p:cNvSpPr txBox="1"/>
          <p:nvPr/>
        </p:nvSpPr>
        <p:spPr>
          <a:xfrm>
            <a:off x="7295998" y="4392778"/>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-119</a:t>
            </a:r>
          </a:p>
        </p:txBody>
      </p:sp>
      <p:sp>
        <p:nvSpPr>
          <p:cNvPr id="154" name="NetTotalLabel"/>
          <p:cNvSpPr txBox="1"/>
          <p:nvPr/>
        </p:nvSpPr>
        <p:spPr>
          <a:xfrm>
            <a:off x="4544568" y="3846881"/>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-14</a:t>
            </a:r>
          </a:p>
        </p:txBody>
      </p:sp>
      <p:sp>
        <p:nvSpPr>
          <p:cNvPr id="155" name="NetTotalLabel"/>
          <p:cNvSpPr txBox="1"/>
          <p:nvPr/>
        </p:nvSpPr>
        <p:spPr>
          <a:xfrm>
            <a:off x="8093354" y="5395874"/>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-312</a:t>
            </a:r>
          </a:p>
        </p:txBody>
      </p:sp>
      <p:sp>
        <p:nvSpPr>
          <p:cNvPr id="156" name="NetTotalLabel"/>
          <p:cNvSpPr txBox="1"/>
          <p:nvPr/>
        </p:nvSpPr>
        <p:spPr>
          <a:xfrm>
            <a:off x="8490204" y="5205679"/>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-276</a:t>
            </a:r>
          </a:p>
        </p:txBody>
      </p:sp>
      <p:sp>
        <p:nvSpPr>
          <p:cNvPr id="157" name="NetTotalLabel"/>
          <p:cNvSpPr txBox="1"/>
          <p:nvPr/>
        </p:nvSpPr>
        <p:spPr>
          <a:xfrm>
            <a:off x="8923630" y="4246474"/>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-91</a:t>
            </a:r>
          </a:p>
        </p:txBody>
      </p:sp>
      <p:sp>
        <p:nvSpPr>
          <p:cNvPr id="158" name="NetTotalLabel"/>
          <p:cNvSpPr txBox="1"/>
          <p:nvPr/>
        </p:nvSpPr>
        <p:spPr>
          <a:xfrm>
            <a:off x="9321394" y="4170578"/>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-76</a:t>
            </a:r>
          </a:p>
        </p:txBody>
      </p:sp>
      <p:sp>
        <p:nvSpPr>
          <p:cNvPr id="159" name="NetTotalLabel"/>
          <p:cNvSpPr txBox="1"/>
          <p:nvPr/>
        </p:nvSpPr>
        <p:spPr>
          <a:xfrm>
            <a:off x="9720072" y="4021531"/>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-48</a:t>
            </a:r>
          </a:p>
        </p:txBody>
      </p:sp>
      <p:sp>
        <p:nvSpPr>
          <p:cNvPr id="160" name="NetTotalLabel"/>
          <p:cNvSpPr txBox="1"/>
          <p:nvPr/>
        </p:nvSpPr>
        <p:spPr>
          <a:xfrm>
            <a:off x="10116922" y="4135831"/>
            <a:ext cx="217627"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-70</a:t>
            </a:r>
          </a:p>
        </p:txBody>
      </p:sp>
      <p:sp>
        <p:nvSpPr>
          <p:cNvPr id="161" name="NetTotalLabel"/>
          <p:cNvSpPr txBox="1"/>
          <p:nvPr/>
        </p:nvSpPr>
        <p:spPr>
          <a:xfrm>
            <a:off x="10480853" y="4569257"/>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-153</a:t>
            </a:r>
          </a:p>
        </p:txBody>
      </p:sp>
      <p:sp>
        <p:nvSpPr>
          <p:cNvPr id="162" name="NetTotalLabel"/>
          <p:cNvSpPr txBox="1"/>
          <p:nvPr/>
        </p:nvSpPr>
        <p:spPr>
          <a:xfrm>
            <a:off x="7694676" y="5160874"/>
            <a:ext cx="287122" cy="152705"/>
          </a:xfrm>
          <a:prstGeom prst="rect">
            <a:avLst/>
          </a:prstGeom>
          <a:noFill/>
          <a:ln>
            <a:noFill/>
          </a:ln>
        </p:spPr>
        <p:txBody>
          <a:bodyPr wrap="none" anchor="t" lIns="17463" tIns="0" rIns="17463" bIns="0"/>
          <a:lstStyle/>
          <a:p>
            <a:pPr algn="ctr" marL="0" indent="0">
              <a:lnSpc>
                <a:spcPct val="100000"/>
              </a:lnSpc>
              <a:buNone/>
            </a:pPr>
            <a:r>
              <a:rPr lang="en-US" sz="1000" dirty="0">
                <a:solidFill>
                  <a:srgbClr val="000000"/>
                </a:solidFill>
                <a:latin typeface="Arial"/>
                <a:ea typeface="Arial"/>
                <a:cs typeface="Arial"/>
              </a:rPr>
              <a:t>-267</a:t>
            </a:r>
          </a:p>
        </p:txBody>
      </p:sp>
      <p:sp>
        <p:nvSpPr>
          <p:cNvPr id="163" name="PositiveNetTotalLabel"/>
          <p:cNvSpPr txBox="1"/>
          <p:nvPr/>
        </p:nvSpPr>
        <p:spPr>
          <a:xfrm>
            <a:off x="1380744" y="3071470"/>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32</a:t>
            </a:r>
          </a:p>
        </p:txBody>
      </p:sp>
      <p:sp>
        <p:nvSpPr>
          <p:cNvPr id="164" name="PositiveNetTotalLabel"/>
          <p:cNvSpPr txBox="1"/>
          <p:nvPr/>
        </p:nvSpPr>
        <p:spPr>
          <a:xfrm>
            <a:off x="1744675" y="2419502"/>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206</a:t>
            </a:r>
          </a:p>
        </p:txBody>
      </p:sp>
      <p:sp>
        <p:nvSpPr>
          <p:cNvPr id="165" name="PositiveNetTotalLabel"/>
          <p:cNvSpPr txBox="1"/>
          <p:nvPr/>
        </p:nvSpPr>
        <p:spPr>
          <a:xfrm>
            <a:off x="2143354" y="2092147"/>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244</a:t>
            </a:r>
          </a:p>
        </p:txBody>
      </p:sp>
      <p:sp>
        <p:nvSpPr>
          <p:cNvPr id="166" name="PositiveNetTotalLabel"/>
          <p:cNvSpPr txBox="1"/>
          <p:nvPr/>
        </p:nvSpPr>
        <p:spPr>
          <a:xfrm>
            <a:off x="2542032" y="2092147"/>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265</a:t>
            </a:r>
          </a:p>
        </p:txBody>
      </p:sp>
      <p:sp>
        <p:nvSpPr>
          <p:cNvPr id="167" name="ChartTitle"/>
          <p:cNvSpPr txBox="1"/>
          <p:nvPr/>
        </p:nvSpPr>
        <p:spPr>
          <a:xfrm>
            <a:off x="534924" y="1602029"/>
            <a:ext cx="7575804"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Implied Retirements vs. Orderbook of US-Flagged, US-Built Vessels (K GT, High and Partial Autonomy Fit Vessel Archetypes) </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Status Quo Fleet Outlook | Following completion of orderbook deliveries, fleet is expected to shrink by ~144K GT p.a. ’31-’50 (&lt;2% of 10M GT target).</a:t>
            </a:r>
          </a:p>
        </p:txBody>
      </p:sp>
      <p:sp>
        <p:nvSpPr>
          <p:cNvPr id="168" name="LegendSwatch"/>
          <p:cNvSpPr txBox="1"/>
          <p:nvPr/>
        </p:nvSpPr>
        <p:spPr>
          <a:xfrm>
            <a:off x="9286646" y="1987906"/>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69" name="LegendSwatch"/>
          <p:cNvSpPr txBox="1"/>
          <p:nvPr/>
        </p:nvSpPr>
        <p:spPr>
          <a:xfrm>
            <a:off x="9286646" y="2190902"/>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70" name="LegendSwatch"/>
          <p:cNvSpPr txBox="1"/>
          <p:nvPr/>
        </p:nvSpPr>
        <p:spPr>
          <a:xfrm>
            <a:off x="9286646" y="2393899"/>
            <a:ext cx="179222" cy="133502"/>
          </a:xfrm>
          <a:prstGeom prst="rect">
            <a:avLst/>
          </a:prstGeom>
          <a:solidFill>
            <a:srgbClr val="FFC000"/>
          </a:solidFill>
          <a:ln>
            <a:noFill/>
          </a:ln>
        </p:spPr>
        <p:txBody>
          <a:bodyPr wrap="square" anchor="ctr" lIns="91440" tIns="45720" rIns="91440" bIns="45720"/>
          <a:lstStyle/>
          <a:p>
            <a:pPr algn="ctr">
              <a:lnSpc>
                <a:spcPct val="100000"/>
              </a:lnSpc>
              <a:buNone/>
            </a:pPr>
            <a:endParaRPr lang="en-US"/>
          </a:p>
        </p:txBody>
      </p:sp>
      <p:sp>
        <p:nvSpPr>
          <p:cNvPr id="171" name="LegendSwatch"/>
          <p:cNvSpPr txBox="1"/>
          <p:nvPr/>
        </p:nvSpPr>
        <p:spPr>
          <a:xfrm>
            <a:off x="9286646" y="2596896"/>
            <a:ext cx="179222" cy="133502"/>
          </a:xfrm>
          <a:prstGeom prst="rect">
            <a:avLst/>
          </a:prstGeom>
          <a:solidFill>
            <a:srgbClr val="FFC000"/>
          </a:solidFill>
          <a:ln>
            <a:noFill/>
          </a:ln>
        </p:spPr>
        <p:txBody>
          <a:bodyPr wrap="square" anchor="ctr" lIns="91440" tIns="45720" rIns="91440" bIns="45720"/>
          <a:lstStyle/>
          <a:p>
            <a:pPr algn="ctr">
              <a:lnSpc>
                <a:spcPct val="100000"/>
              </a:lnSpc>
              <a:buNone/>
            </a:pPr>
            <a:endParaRPr lang="en-US"/>
          </a:p>
        </p:txBody>
      </p:sp>
      <p:sp>
        <p:nvSpPr>
          <p:cNvPr id="172" name="LegendLabel"/>
          <p:cNvSpPr txBox="1"/>
          <p:nvPr/>
        </p:nvSpPr>
        <p:spPr>
          <a:xfrm>
            <a:off x="9517075" y="1982419"/>
            <a:ext cx="2132381"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Commercial Retirements</a:t>
            </a:r>
          </a:p>
        </p:txBody>
      </p:sp>
      <p:sp>
        <p:nvSpPr>
          <p:cNvPr id="173" name="LegendLabel"/>
          <p:cNvSpPr txBox="1"/>
          <p:nvPr/>
        </p:nvSpPr>
        <p:spPr>
          <a:xfrm>
            <a:off x="9517075" y="2186330"/>
            <a:ext cx="204642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Commercial Orderbook</a:t>
            </a:r>
          </a:p>
        </p:txBody>
      </p:sp>
      <p:sp>
        <p:nvSpPr>
          <p:cNvPr id="174" name="LegendLabel"/>
          <p:cNvSpPr txBox="1"/>
          <p:nvPr/>
        </p:nvSpPr>
        <p:spPr>
          <a:xfrm>
            <a:off x="9517075" y="2389327"/>
            <a:ext cx="193852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Offshore Retirements</a:t>
            </a:r>
          </a:p>
        </p:txBody>
      </p:sp>
      <p:sp>
        <p:nvSpPr>
          <p:cNvPr id="175" name="LegendLabel"/>
          <p:cNvSpPr txBox="1"/>
          <p:nvPr/>
        </p:nvSpPr>
        <p:spPr>
          <a:xfrm>
            <a:off x="9517075" y="2592324"/>
            <a:ext cx="18525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Addressable Offshore Orderbook</a:t>
            </a:r>
          </a:p>
        </p:txBody>
      </p:sp>
      <p:sp>
        <p:nvSpPr>
          <p:cNvPr id="176" name="NetTonnageCallout"/>
          <p:cNvSpPr txBox="1"/>
          <p:nvPr/>
        </p:nvSpPr>
        <p:spPr>
          <a:xfrm>
            <a:off x="9423806" y="1559052"/>
            <a:ext cx="2275027" cy="388620"/>
          </a:xfrm>
          <a:prstGeom prst="wedgeRectCallout">
            <a:avLst>
              <a:gd name="adj1" fmla="val -19106"/>
              <a:gd name="adj2" fmla="val -3267"/>
            </a:avLst>
          </a:prstGeom>
          <a:solidFill>
            <a:srgbClr val="FFFFFF"/>
          </a:solid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Bar totals indicate net gross tonnage added (removed) each year</a:t>
            </a:r>
          </a:p>
        </p:txBody>
      </p:sp>
      <p:cxnSp>
        <p:nvCxnSpPr>
          <p:cNvPr id="177" name="RetirementTrendConnector"/>
          <p:cNvCxnSpPr/>
          <p:nvPr/>
        </p:nvCxnSpPr>
        <p:spPr>
          <a:xfrm>
            <a:off x="2922422" y="4478731"/>
            <a:ext cx="7955280" cy="0"/>
          </a:xfrm>
          <a:prstGeom prst="line">
            <a:avLst/>
          </a:prstGeom>
          <a:ln w="12700">
            <a:solidFill>
              <a:srgbClr val="000000"/>
            </a:solidFill>
            <a:prstDash val="dash"/>
          </a:ln>
        </p:spPr>
      </p:cxnSp>
      <p:sp>
        <p:nvSpPr>
          <p:cNvPr id="178" name="AverageRetirementsCallout"/>
          <p:cNvSpPr txBox="1"/>
          <p:nvPr/>
        </p:nvSpPr>
        <p:spPr>
          <a:xfrm>
            <a:off x="10795406" y="4235501"/>
            <a:ext cx="1097280" cy="477317"/>
          </a:xfrm>
          <a:prstGeom prst="wedgeRectCallout">
            <a:avLst>
              <a:gd name="adj1" fmla="val -19106"/>
              <a:gd name="adj2" fmla="val -3267"/>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‘31-’50 avg. retirements: </a:t>
            </a:r>
            <a:r>
              <a:rPr lang="en-US" sz="1000" b="1" i="1" dirty="0">
                <a:solidFill>
                  <a:srgbClr val="000000"/>
                </a:solidFill>
                <a:latin typeface="Arial"/>
                <a:ea typeface="Arial"/>
                <a:cs typeface="Arial"/>
              </a:rPr>
              <a:t>~144K GT p.a.</a:t>
            </a:r>
          </a:p>
        </p:txBody>
      </p:sp>
      <p:sp>
        <p:nvSpPr>
          <p:cNvPr id="179" name="SourceNote"/>
          <p:cNvSpPr txBox="1"/>
          <p:nvPr/>
        </p:nvSpPr>
        <p:spPr>
          <a:xfrm>
            <a:off x="452628" y="6107278"/>
            <a:ext cx="11308385" cy="291694"/>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Service life assumptions – 40 years for Bulk, Container, General Cargo, and RORO, 35 years for Tankers, 30 years for PSVs, and 25 years for Crew/FSVs </a:t>
            </a:r>
            <a:br/>
            <a:r>
              <a:rPr lang="en-US" sz="800" dirty="0">
                <a:solidFill>
                  <a:srgbClr val="000000"/>
                </a:solidFill>
                <a:latin typeface="Arial"/>
                <a:ea typeface="Arial"/>
                <a:cs typeface="Arial"/>
              </a:rPr>
              <a:t>Source: Clarksons (US fleet size and GT data)</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80" name="ScenarioChip"/>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marL="0" indent="0">
              <a:lnSpc>
                <a:spcPct val="100000"/>
              </a:lnSpc>
              <a:buNone/>
            </a:pPr>
            <a:r>
              <a:rPr lang="en-US" sz="1200" b="1" dirty="0">
                <a:solidFill>
                  <a:srgbClr val="000000"/>
                </a:solidFill>
                <a:latin typeface="Arial"/>
                <a:ea typeface="Arial"/>
                <a:cs typeface="Arial"/>
              </a:rPr>
              <a:t>(1) Status Quo Scenario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(Undersea)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to find TCV | Currently manned capabilities</a:t>
            </a:r>
          </a:p>
        </p:txBody>
      </p:sp>
      <p:sp>
        <p:nvSpPr>
          <p:cNvPr id="100" name="ApproachStep"/>
          <p:cNvSpPr txBox="1"/>
          <p:nvPr/>
        </p:nvSpPr>
        <p:spPr>
          <a:xfrm>
            <a:off x="389534" y="1356970"/>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priority missions</a:t>
            </a:r>
          </a:p>
        </p:txBody>
      </p:sp>
      <p:sp>
        <p:nvSpPr>
          <p:cNvPr id="101" name="ApproachStep"/>
          <p:cNvSpPr txBox="1"/>
          <p:nvPr/>
        </p:nvSpPr>
        <p:spPr>
          <a:xfrm>
            <a:off x="389534" y="205557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priority kill chain roles</a:t>
            </a:r>
          </a:p>
        </p:txBody>
      </p:sp>
      <p:sp>
        <p:nvSpPr>
          <p:cNvPr id="102" name="ApproachStep"/>
          <p:cNvSpPr txBox="1"/>
          <p:nvPr/>
        </p:nvSpPr>
        <p:spPr>
          <a:xfrm>
            <a:off x="389534" y="3452774"/>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Identify and sum corresponding budget items to find Total Funding</a:t>
            </a:r>
          </a:p>
        </p:txBody>
      </p:sp>
      <p:sp>
        <p:nvSpPr>
          <p:cNvPr id="103" name="ApproachStep"/>
          <p:cNvSpPr txBox="1"/>
          <p:nvPr/>
        </p:nvSpPr>
        <p:spPr>
          <a:xfrm>
            <a:off x="389534" y="4151376"/>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Allocate platforms and effectors to missions to find TAM</a:t>
            </a:r>
          </a:p>
        </p:txBody>
      </p:sp>
      <p:sp>
        <p:nvSpPr>
          <p:cNvPr id="104" name="ApproachStep"/>
          <p:cNvSpPr txBox="1"/>
          <p:nvPr/>
        </p:nvSpPr>
        <p:spPr>
          <a:xfrm>
            <a:off x="389534" y="4849978"/>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Multiply by unmanned adoption rate to find SAM</a:t>
            </a:r>
          </a:p>
        </p:txBody>
      </p:sp>
      <p:sp>
        <p:nvSpPr>
          <p:cNvPr id="105" name="ApproachStep"/>
          <p:cNvSpPr txBox="1"/>
          <p:nvPr/>
        </p:nvSpPr>
        <p:spPr>
          <a:xfrm>
            <a:off x="389534" y="5548579"/>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6. Multiply by Saronic market share to find Company TCV</a:t>
            </a:r>
          </a:p>
        </p:txBody>
      </p:sp>
      <p:sp>
        <p:nvSpPr>
          <p:cNvPr id="106" name="Label"/>
          <p:cNvSpPr txBox="1"/>
          <p:nvPr/>
        </p:nvSpPr>
        <p:spPr>
          <a:xfrm>
            <a:off x="452628" y="6073445"/>
            <a:ext cx="11308385" cy="323698"/>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Programs and Projects included where relevant (e.g., no Cost Elements or Cost Elements in FY26 PBR account for small fraction of total Program/Project funds)</a:t>
            </a:r>
          </a:p>
        </p:txBody>
      </p:sp>
      <p:sp>
        <p:nvSpPr>
          <p:cNvPr id="107" name="Step2B"/>
          <p:cNvSpPr txBox="1"/>
          <p:nvPr/>
        </p:nvSpPr>
        <p:spPr>
          <a:xfrm>
            <a:off x="389534" y="2754173"/>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specific platforms / effectors for missions </a:t>
            </a:r>
            <a:r>
              <a:rPr lang="en-US" sz="1000" i="1" dirty="0">
                <a:solidFill>
                  <a:srgbClr val="000000"/>
                </a:solidFill>
                <a:latin typeface="Arial"/>
                <a:ea typeface="Arial"/>
                <a:cs typeface="Arial"/>
              </a:rPr>
              <a:t>(platforms/effectors shown are not exhaustive)</a:t>
            </a:r>
          </a:p>
        </p:txBody>
      </p:sp>
      <p:sp>
        <p:nvSpPr>
          <p:cNvPr id="108" name="FlowNode"/>
          <p:cNvSpPr txBox="1"/>
          <p:nvPr/>
        </p:nvSpPr>
        <p:spPr>
          <a:xfrm>
            <a:off x="10479024" y="3609137"/>
            <a:ext cx="1388974"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Total Funding ($)</a:t>
            </a:r>
          </a:p>
        </p:txBody>
      </p:sp>
      <p:sp>
        <p:nvSpPr>
          <p:cNvPr id="109" name="FlowNode"/>
          <p:cNvSpPr txBox="1"/>
          <p:nvPr/>
        </p:nvSpPr>
        <p:spPr>
          <a:xfrm>
            <a:off x="10479024" y="4307738"/>
            <a:ext cx="1388974"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TAM ($)</a:t>
            </a:r>
          </a:p>
        </p:txBody>
      </p:sp>
      <p:sp>
        <p:nvSpPr>
          <p:cNvPr id="110" name="FlowNode"/>
          <p:cNvSpPr txBox="1"/>
          <p:nvPr/>
        </p:nvSpPr>
        <p:spPr>
          <a:xfrm>
            <a:off x="1001816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Combat Systems Integration (incl. CEC)</a:t>
            </a:r>
          </a:p>
        </p:txBody>
      </p:sp>
      <p:sp>
        <p:nvSpPr>
          <p:cNvPr id="111" name="FlowNode"/>
          <p:cNvSpPr txBox="1"/>
          <p:nvPr/>
        </p:nvSpPr>
        <p:spPr>
          <a:xfrm>
            <a:off x="759500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Sensors</a:t>
            </a:r>
          </a:p>
        </p:txBody>
      </p:sp>
      <p:sp>
        <p:nvSpPr>
          <p:cNvPr id="112" name="FlowNode"/>
          <p:cNvSpPr txBox="1"/>
          <p:nvPr/>
        </p:nvSpPr>
        <p:spPr>
          <a:xfrm>
            <a:off x="2745943" y="4307738"/>
            <a:ext cx="2330806"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Total Funding ($)</a:t>
            </a:r>
          </a:p>
        </p:txBody>
      </p:sp>
      <p:sp>
        <p:nvSpPr>
          <p:cNvPr id="113" name="FlowNode"/>
          <p:cNvSpPr txBox="1"/>
          <p:nvPr/>
        </p:nvSpPr>
        <p:spPr>
          <a:xfrm>
            <a:off x="2745943" y="5006340"/>
            <a:ext cx="2330806"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TAM ($)</a:t>
            </a:r>
          </a:p>
        </p:txBody>
      </p:sp>
      <p:sp>
        <p:nvSpPr>
          <p:cNvPr id="114" name="FlowNode"/>
          <p:cNvSpPr txBox="1"/>
          <p:nvPr/>
        </p:nvSpPr>
        <p:spPr>
          <a:xfrm>
            <a:off x="10479024" y="5006340"/>
            <a:ext cx="1388974"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SAM ($)</a:t>
            </a:r>
          </a:p>
        </p:txBody>
      </p:sp>
      <p:sp>
        <p:nvSpPr>
          <p:cNvPr id="115" name="FlowNode"/>
          <p:cNvSpPr txBox="1"/>
          <p:nvPr/>
        </p:nvSpPr>
        <p:spPr>
          <a:xfrm>
            <a:off x="10479024" y="5704942"/>
            <a:ext cx="1388974"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TCV ($)</a:t>
            </a:r>
          </a:p>
        </p:txBody>
      </p:sp>
      <p:sp>
        <p:nvSpPr>
          <p:cNvPr id="116" name="FlowNode"/>
          <p:cNvSpPr txBox="1"/>
          <p:nvPr/>
        </p:nvSpPr>
        <p:spPr>
          <a:xfrm>
            <a:off x="7385609"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Oceanographic Ships</a:t>
            </a:r>
          </a:p>
        </p:txBody>
      </p:sp>
      <p:sp>
        <p:nvSpPr>
          <p:cNvPr id="117" name="FlowNode"/>
          <p:cNvSpPr txBox="1"/>
          <p:nvPr/>
        </p:nvSpPr>
        <p:spPr>
          <a:xfrm>
            <a:off x="8931859"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MK-48 torpedoes</a:t>
            </a:r>
          </a:p>
        </p:txBody>
      </p:sp>
      <p:sp>
        <p:nvSpPr>
          <p:cNvPr id="118" name="FlowNode"/>
          <p:cNvSpPr txBox="1"/>
          <p:nvPr/>
        </p:nvSpPr>
        <p:spPr>
          <a:xfrm>
            <a:off x="1047902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MK-54 torpedoes</a:t>
            </a:r>
          </a:p>
        </p:txBody>
      </p:sp>
      <p:sp>
        <p:nvSpPr>
          <p:cNvPr id="119" name="FlowNode"/>
          <p:cNvSpPr txBox="1"/>
          <p:nvPr/>
        </p:nvSpPr>
        <p:spPr>
          <a:xfrm>
            <a:off x="2745943" y="5704942"/>
            <a:ext cx="2330806"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SAM ($)</a:t>
            </a:r>
          </a:p>
        </p:txBody>
      </p:sp>
      <p:sp>
        <p:nvSpPr>
          <p:cNvPr id="120" name="FlowNode"/>
          <p:cNvSpPr txBox="1"/>
          <p:nvPr/>
        </p:nvSpPr>
        <p:spPr>
          <a:xfrm>
            <a:off x="2745943" y="2211934"/>
            <a:ext cx="1848917"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Platforms</a:t>
            </a:r>
          </a:p>
        </p:txBody>
      </p:sp>
      <p:sp>
        <p:nvSpPr>
          <p:cNvPr id="121" name="FlowNode"/>
          <p:cNvSpPr txBox="1"/>
          <p:nvPr/>
        </p:nvSpPr>
        <p:spPr>
          <a:xfrm>
            <a:off x="8326526" y="3609137"/>
            <a:ext cx="138897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Cost Elements ($)</a:t>
            </a:r>
          </a:p>
        </p:txBody>
      </p:sp>
      <p:sp>
        <p:nvSpPr>
          <p:cNvPr id="122" name="FlowNode"/>
          <p:cNvSpPr txBox="1"/>
          <p:nvPr/>
        </p:nvSpPr>
        <p:spPr>
          <a:xfrm>
            <a:off x="7385609" y="4307738"/>
            <a:ext cx="2329891"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Mission allocations by platform and effector (%)</a:t>
            </a:r>
          </a:p>
        </p:txBody>
      </p:sp>
      <p:sp>
        <p:nvSpPr>
          <p:cNvPr id="123" name="FlowNode"/>
          <p:cNvSpPr txBox="1"/>
          <p:nvPr/>
        </p:nvSpPr>
        <p:spPr>
          <a:xfrm>
            <a:off x="7395667" y="5006340"/>
            <a:ext cx="2329891"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Unmanned adoption (%)</a:t>
            </a:r>
          </a:p>
        </p:txBody>
      </p:sp>
      <p:sp>
        <p:nvSpPr>
          <p:cNvPr id="124" name="FlowNode"/>
          <p:cNvSpPr txBox="1"/>
          <p:nvPr/>
        </p:nvSpPr>
        <p:spPr>
          <a:xfrm>
            <a:off x="7395667" y="5704942"/>
            <a:ext cx="2329891"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Saronic market share (%)</a:t>
            </a:r>
          </a:p>
        </p:txBody>
      </p:sp>
      <p:sp>
        <p:nvSpPr>
          <p:cNvPr id="125" name="FlowNode"/>
          <p:cNvSpPr txBox="1"/>
          <p:nvPr/>
        </p:nvSpPr>
        <p:spPr>
          <a:xfrm>
            <a:off x="2745943" y="3609137"/>
            <a:ext cx="138897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OBBBA items ($)</a:t>
            </a:r>
          </a:p>
        </p:txBody>
      </p:sp>
      <p:sp>
        <p:nvSpPr>
          <p:cNvPr id="126" name="LosAngeles"/>
          <p:cNvSpPr txBox="1"/>
          <p:nvPr/>
        </p:nvSpPr>
        <p:spPr>
          <a:xfrm>
            <a:off x="2745943"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i="1" dirty="0">
                <a:solidFill>
                  <a:srgbClr val="FFFFFF"/>
                </a:solidFill>
                <a:latin typeface="Arial"/>
                <a:ea typeface="Arial"/>
                <a:cs typeface="Arial"/>
              </a:rPr>
              <a:t>Los Angeles</a:t>
            </a:r>
            <a:r>
              <a:rPr lang="en-US" sz="1000" dirty="0">
                <a:solidFill>
                  <a:srgbClr val="FFFFFF"/>
                </a:solidFill>
                <a:latin typeface="Arial"/>
                <a:ea typeface="Arial"/>
                <a:cs typeface="Arial"/>
              </a:rPr>
              <a:t>-class submarines</a:t>
            </a:r>
          </a:p>
        </p:txBody>
      </p:sp>
      <p:sp>
        <p:nvSpPr>
          <p:cNvPr id="127" name="Ohio"/>
          <p:cNvSpPr txBox="1"/>
          <p:nvPr/>
        </p:nvSpPr>
        <p:spPr>
          <a:xfrm>
            <a:off x="429219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i="1" dirty="0">
                <a:solidFill>
                  <a:srgbClr val="FFFFFF"/>
                </a:solidFill>
                <a:latin typeface="Arial"/>
                <a:ea typeface="Arial"/>
                <a:cs typeface="Arial"/>
              </a:rPr>
              <a:t>Ohio-</a:t>
            </a:r>
            <a:r>
              <a:rPr lang="en-US" sz="1000" dirty="0">
                <a:solidFill>
                  <a:srgbClr val="FFFFFF"/>
                </a:solidFill>
                <a:latin typeface="Arial"/>
                <a:ea typeface="Arial"/>
                <a:cs typeface="Arial"/>
              </a:rPr>
              <a:t>class submarines</a:t>
            </a:r>
          </a:p>
        </p:txBody>
      </p:sp>
      <p:sp>
        <p:nvSpPr>
          <p:cNvPr id="128" name="Virginia"/>
          <p:cNvSpPr txBox="1"/>
          <p:nvPr/>
        </p:nvSpPr>
        <p:spPr>
          <a:xfrm>
            <a:off x="583844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1000" i="1" dirty="0">
                <a:solidFill>
                  <a:srgbClr val="FFFFFF"/>
                </a:solidFill>
                <a:latin typeface="Arial"/>
                <a:ea typeface="Arial"/>
                <a:cs typeface="Arial"/>
              </a:rPr>
              <a:t>Virginia</a:t>
            </a:r>
            <a:r>
              <a:rPr lang="en-US" sz="1000" dirty="0">
                <a:solidFill>
                  <a:srgbClr val="FFFFFF"/>
                </a:solidFill>
                <a:latin typeface="Arial"/>
                <a:ea typeface="Arial"/>
                <a:cs typeface="Arial"/>
              </a:rPr>
              <a:t>-class submarines</a:t>
            </a:r>
          </a:p>
        </p:txBody>
      </p:sp>
      <p:cxnSp>
        <p:nvCxnSpPr>
          <p:cNvPr id="129" name="Connector: Elbow 47"/>
          <p:cNvCxnSpPr/>
          <p:nvPr/>
        </p:nvCxnSpPr>
        <p:spPr>
          <a:xfrm rot="5400000">
            <a:off x="3369564" y="2610612"/>
            <a:ext cx="370332" cy="230429"/>
          </a:xfrm>
          <a:prstGeom prst="bentConnector3">
            <a:avLst/>
          </a:prstGeom>
          <a:ln w="12700">
            <a:solidFill>
              <a:srgbClr val="000000"/>
            </a:solidFill>
            <a:tailEnd type="triangle" w="med" len="med"/>
          </a:ln>
        </p:spPr>
      </p:cxnSp>
      <p:cxnSp>
        <p:nvCxnSpPr>
          <p:cNvPr id="130" name="Connector: Elbow 48"/>
          <p:cNvCxnSpPr/>
          <p:nvPr/>
        </p:nvCxnSpPr>
        <p:spPr>
          <a:xfrm rot="16200000" flipH="1">
            <a:off x="4143146" y="2067458"/>
            <a:ext cx="370332" cy="1316736"/>
          </a:xfrm>
          <a:prstGeom prst="bentConnector3">
            <a:avLst/>
          </a:prstGeom>
          <a:ln w="12700">
            <a:solidFill>
              <a:srgbClr val="000000"/>
            </a:solidFill>
            <a:tailEnd type="triangle" w="med" len="med"/>
          </a:ln>
        </p:spPr>
      </p:cxnSp>
      <p:cxnSp>
        <p:nvCxnSpPr>
          <p:cNvPr id="131" name="Connector: Elbow 49"/>
          <p:cNvCxnSpPr/>
          <p:nvPr/>
        </p:nvCxnSpPr>
        <p:spPr>
          <a:xfrm rot="16200000" flipH="1">
            <a:off x="4916729" y="1293876"/>
            <a:ext cx="370332" cy="2862986"/>
          </a:xfrm>
          <a:prstGeom prst="bentConnector3">
            <a:avLst/>
          </a:prstGeom>
          <a:ln w="12700">
            <a:solidFill>
              <a:srgbClr val="000000"/>
            </a:solidFill>
            <a:tailEnd type="triangle" w="med" len="med"/>
          </a:ln>
        </p:spPr>
      </p:cxnSp>
      <p:cxnSp>
        <p:nvCxnSpPr>
          <p:cNvPr id="132" name="Connector: Elbow 50"/>
          <p:cNvCxnSpPr/>
          <p:nvPr/>
        </p:nvCxnSpPr>
        <p:spPr>
          <a:xfrm rot="16200000" flipH="1">
            <a:off x="8449056" y="187452"/>
            <a:ext cx="370332" cy="5076749"/>
          </a:xfrm>
          <a:prstGeom prst="bentConnector3">
            <a:avLst>
              <a:gd name="adj1" fmla="val 28752"/>
            </a:avLst>
          </a:prstGeom>
          <a:ln w="12700">
            <a:solidFill>
              <a:srgbClr val="000000"/>
            </a:solidFill>
            <a:tailEnd type="triangle" w="med" len="med"/>
          </a:ln>
        </p:spPr>
      </p:cxnSp>
      <p:cxnSp>
        <p:nvCxnSpPr>
          <p:cNvPr id="133" name="Connector: Elbow 51"/>
          <p:cNvCxnSpPr/>
          <p:nvPr/>
        </p:nvCxnSpPr>
        <p:spPr>
          <a:xfrm rot="16200000" flipH="1">
            <a:off x="7676388" y="960120"/>
            <a:ext cx="370332" cy="3530498"/>
          </a:xfrm>
          <a:prstGeom prst="bentConnector3">
            <a:avLst>
              <a:gd name="adj1" fmla="val 28752"/>
            </a:avLst>
          </a:prstGeom>
          <a:ln w="12700">
            <a:solidFill>
              <a:srgbClr val="000000"/>
            </a:solidFill>
            <a:tailEnd type="triangle" w="med" len="med"/>
          </a:ln>
        </p:spPr>
      </p:cxnSp>
      <p:cxnSp>
        <p:nvCxnSpPr>
          <p:cNvPr id="134" name="Connector: Elbow 52"/>
          <p:cNvCxnSpPr/>
          <p:nvPr/>
        </p:nvCxnSpPr>
        <p:spPr>
          <a:xfrm rot="16200000" flipH="1">
            <a:off x="6902806" y="1733702"/>
            <a:ext cx="370332" cy="1983334"/>
          </a:xfrm>
          <a:prstGeom prst="bentConnector3">
            <a:avLst>
              <a:gd name="adj1" fmla="val 28752"/>
            </a:avLst>
          </a:prstGeom>
          <a:ln w="12700">
            <a:solidFill>
              <a:srgbClr val="000000"/>
            </a:solidFill>
            <a:tailEnd type="triangle" w="med" len="med"/>
          </a:ln>
        </p:spPr>
      </p:cxnSp>
      <p:sp>
        <p:nvSpPr>
          <p:cNvPr id="135" name="Programs"/>
          <p:cNvSpPr txBox="1"/>
          <p:nvPr/>
        </p:nvSpPr>
        <p:spPr>
          <a:xfrm>
            <a:off x="4605833" y="3609137"/>
            <a:ext cx="138897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Programs ($)</a:t>
            </a:r>
            <a:r>
              <a:rPr lang="en-US" sz="1000" dirty="0">
                <a:solidFill>
                  <a:srgbClr val="FFFFFF"/>
                </a:solidFill>
                <a:latin typeface="Arial"/>
                <a:ea typeface="Arial"/>
                <a:cs typeface="Arial"/>
              </a:rPr>
              <a:t>1</a:t>
            </a:r>
          </a:p>
        </p:txBody>
      </p:sp>
      <p:sp>
        <p:nvSpPr>
          <p:cNvPr id="136" name="Equals"/>
          <p:cNvSpPr txBox="1"/>
          <p:nvPr/>
        </p:nvSpPr>
        <p:spPr>
          <a:xfrm>
            <a:off x="9914839" y="359084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7" name="Equals"/>
          <p:cNvSpPr txBox="1"/>
          <p:nvPr/>
        </p:nvSpPr>
        <p:spPr>
          <a:xfrm>
            <a:off x="9914839" y="4289450"/>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8" name="Equals"/>
          <p:cNvSpPr txBox="1"/>
          <p:nvPr/>
        </p:nvSpPr>
        <p:spPr>
          <a:xfrm>
            <a:off x="9914839" y="4987138"/>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9" name="Equals"/>
          <p:cNvSpPr txBox="1"/>
          <p:nvPr/>
        </p:nvSpPr>
        <p:spPr>
          <a:xfrm>
            <a:off x="9914839" y="568573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0" name="Plus"/>
          <p:cNvSpPr txBox="1"/>
          <p:nvPr/>
        </p:nvSpPr>
        <p:spPr>
          <a:xfrm rot="2572505">
            <a:off x="6061558" y="4289450"/>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1" name="Plus"/>
          <p:cNvSpPr txBox="1"/>
          <p:nvPr/>
        </p:nvSpPr>
        <p:spPr>
          <a:xfrm rot="2572505">
            <a:off x="6061558" y="4987138"/>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2" name="Plus"/>
          <p:cNvSpPr txBox="1"/>
          <p:nvPr/>
        </p:nvSpPr>
        <p:spPr>
          <a:xfrm rot="2572505">
            <a:off x="6061558" y="568573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cxnSp>
        <p:nvCxnSpPr>
          <p:cNvPr id="143" name="Connector: Elbow 63"/>
          <p:cNvCxnSpPr/>
          <p:nvPr/>
        </p:nvCxnSpPr>
        <p:spPr>
          <a:xfrm rot="5400000">
            <a:off x="7356348" y="491947"/>
            <a:ext cx="370332" cy="7262165"/>
          </a:xfrm>
          <a:prstGeom prst="bentConnector3">
            <a:avLst/>
          </a:prstGeom>
          <a:ln w="12700">
            <a:solidFill>
              <a:srgbClr val="000000"/>
            </a:solidFill>
            <a:tailEnd type="triangle" w="med" len="med"/>
          </a:ln>
        </p:spPr>
      </p:cxnSp>
      <p:cxnSp>
        <p:nvCxnSpPr>
          <p:cNvPr id="144" name="Connector: Elbow 64"/>
          <p:cNvCxnSpPr/>
          <p:nvPr/>
        </p:nvCxnSpPr>
        <p:spPr>
          <a:xfrm rot="5400000">
            <a:off x="7356348" y="1190549"/>
            <a:ext cx="370332" cy="7262165"/>
          </a:xfrm>
          <a:prstGeom prst="bentConnector3">
            <a:avLst/>
          </a:prstGeom>
          <a:ln w="12700">
            <a:solidFill>
              <a:srgbClr val="000000"/>
            </a:solidFill>
            <a:tailEnd type="triangle" w="med" len="med"/>
          </a:ln>
        </p:spPr>
      </p:cxnSp>
      <p:cxnSp>
        <p:nvCxnSpPr>
          <p:cNvPr id="145" name="Connector: Elbow 65"/>
          <p:cNvCxnSpPr/>
          <p:nvPr/>
        </p:nvCxnSpPr>
        <p:spPr>
          <a:xfrm rot="5400000">
            <a:off x="7356348" y="1888236"/>
            <a:ext cx="370332" cy="7262165"/>
          </a:xfrm>
          <a:prstGeom prst="bentConnector3">
            <a:avLst/>
          </a:prstGeom>
          <a:ln w="12700">
            <a:solidFill>
              <a:srgbClr val="000000"/>
            </a:solidFill>
            <a:tailEnd type="triangle" w="med" len="med"/>
          </a:ln>
        </p:spPr>
      </p:cxnSp>
      <p:sp>
        <p:nvSpPr>
          <p:cNvPr id="146" name="Left Brace 69"/>
          <p:cNvSpPr txBox="1"/>
          <p:nvPr/>
        </p:nvSpPr>
        <p:spPr>
          <a:xfrm rot="16200000">
            <a:off x="7142378" y="-1145743"/>
            <a:ext cx="328270" cy="9121140"/>
          </a:xfrm>
          <a:prstGeom prst="leftBrace">
            <a:avLst>
              <a:gd name="adj1" fmla="val 8333"/>
              <a:gd name="adj2" fmla="val 7206"/>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7" name="Left Brace 70"/>
          <p:cNvSpPr txBox="1"/>
          <p:nvPr/>
        </p:nvSpPr>
        <p:spPr>
          <a:xfrm rot="16200000">
            <a:off x="7142378" y="-1146658"/>
            <a:ext cx="328270" cy="9121140"/>
          </a:xfrm>
          <a:prstGeom prst="leftBrace">
            <a:avLst>
              <a:gd name="adj1" fmla="val 8333"/>
              <a:gd name="adj2" fmla="val 68631"/>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8" name="Projects"/>
          <p:cNvSpPr txBox="1"/>
          <p:nvPr/>
        </p:nvSpPr>
        <p:spPr>
          <a:xfrm>
            <a:off x="6466637" y="3609137"/>
            <a:ext cx="138897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Projects ($)</a:t>
            </a:r>
            <a:r>
              <a:rPr lang="en-US" sz="1000" dirty="0">
                <a:solidFill>
                  <a:srgbClr val="FFFFFF"/>
                </a:solidFill>
                <a:latin typeface="Arial"/>
                <a:ea typeface="Arial"/>
                <a:cs typeface="Arial"/>
              </a:rPr>
              <a:t> 1</a:t>
            </a:r>
          </a:p>
        </p:txBody>
      </p:sp>
      <p:sp>
        <p:nvSpPr>
          <p:cNvPr id="149" name="Plus"/>
          <p:cNvSpPr txBox="1"/>
          <p:nvPr/>
        </p:nvSpPr>
        <p:spPr>
          <a:xfrm rot="5400000">
            <a:off x="6047842"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0" name="Plus"/>
          <p:cNvSpPr txBox="1"/>
          <p:nvPr/>
        </p:nvSpPr>
        <p:spPr>
          <a:xfrm rot="5400000">
            <a:off x="7907731"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1" name="Plus"/>
          <p:cNvSpPr txBox="1"/>
          <p:nvPr/>
        </p:nvSpPr>
        <p:spPr>
          <a:xfrm rot="5400000">
            <a:off x="4187038"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2" name="Effectors"/>
          <p:cNvSpPr txBox="1"/>
          <p:nvPr/>
        </p:nvSpPr>
        <p:spPr>
          <a:xfrm>
            <a:off x="5171846" y="2211934"/>
            <a:ext cx="1848917"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Effectors </a:t>
            </a:r>
            <a:br/>
            <a:r>
              <a:rPr lang="en-US" sz="1000" i="1" dirty="0">
                <a:solidFill>
                  <a:srgbClr val="FFFFFF"/>
                </a:solidFill>
                <a:latin typeface="Arial"/>
                <a:ea typeface="Arial"/>
                <a:cs typeface="Arial"/>
              </a:rPr>
              <a:t>(ASuW and ASW only)</a:t>
            </a:r>
          </a:p>
        </p:txBody>
      </p:sp>
      <p:sp>
        <p:nvSpPr>
          <p:cNvPr id="153" name="ApproachStepsHeader"/>
          <p:cNvSpPr txBox="1"/>
          <p:nvPr/>
        </p:nvSpPr>
        <p:spPr>
          <a:xfrm>
            <a:off x="388620" y="1123798"/>
            <a:ext cx="1921154"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54" name="Approach underline"/>
          <p:cNvCxnSpPr/>
          <p:nvPr/>
        </p:nvCxnSpPr>
        <p:spPr>
          <a:xfrm flipH="1">
            <a:off x="389534" y="1450238"/>
            <a:ext cx="1920240" cy="1829"/>
          </a:xfrm>
          <a:prstGeom prst="line">
            <a:avLst/>
          </a:prstGeom>
          <a:ln w="12700">
            <a:solidFill>
              <a:srgbClr val="162029"/>
            </a:solidFill>
          </a:ln>
        </p:spPr>
      </p:cxnSp>
      <p:cxnSp>
        <p:nvCxnSpPr>
          <p:cNvPr id="155" name="Connector: Elbow 112"/>
          <p:cNvCxnSpPr/>
          <p:nvPr/>
        </p:nvCxnSpPr>
        <p:spPr>
          <a:xfrm rot="5400000">
            <a:off x="4435754" y="1208837"/>
            <a:ext cx="237744" cy="1769364"/>
          </a:xfrm>
          <a:prstGeom prst="bentConnector3">
            <a:avLst/>
          </a:prstGeom>
          <a:ln w="12700">
            <a:solidFill>
              <a:srgbClr val="000000"/>
            </a:solidFill>
            <a:tailEnd type="triangle" w="med" len="med"/>
          </a:ln>
        </p:spPr>
      </p:cxnSp>
      <p:sp>
        <p:nvSpPr>
          <p:cNvPr id="156" name="ScopeChip"/>
          <p:cNvSpPr txBox="1"/>
          <p:nvPr/>
        </p:nvSpPr>
        <p:spPr>
          <a:xfrm>
            <a:off x="8340242" y="67666"/>
            <a:ext cx="2435047" cy="457200"/>
          </a:xfrm>
          <a:prstGeom prst="rect">
            <a:avLst/>
          </a:prstGeom>
          <a:solidFill>
            <a:srgbClr val="447BB2"/>
          </a:solidFill>
          <a:ln w="3175">
            <a:solidFill>
              <a:srgbClr val="162029"/>
            </a:solid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Currently manned capabilities</a:t>
            </a:r>
          </a:p>
        </p:txBody>
      </p:sp>
      <p:sp>
        <p:nvSpPr>
          <p:cNvPr id="157" name="LegendSwatch"/>
          <p:cNvSpPr txBox="1"/>
          <p:nvPr/>
        </p:nvSpPr>
        <p:spPr>
          <a:xfrm>
            <a:off x="7099402" y="976579"/>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8" name="LegendSwatch"/>
          <p:cNvSpPr txBox="1"/>
          <p:nvPr/>
        </p:nvSpPr>
        <p:spPr>
          <a:xfrm>
            <a:off x="8300923" y="976579"/>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59" name="LegendSwatch"/>
          <p:cNvSpPr txBox="1"/>
          <p:nvPr/>
        </p:nvSpPr>
        <p:spPr>
          <a:xfrm>
            <a:off x="9850831" y="976579"/>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60" name="LegendSwatch"/>
          <p:cNvSpPr txBox="1"/>
          <p:nvPr/>
        </p:nvSpPr>
        <p:spPr>
          <a:xfrm>
            <a:off x="10822838" y="976579"/>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61" name="LegendLabel"/>
          <p:cNvSpPr txBox="1"/>
          <p:nvPr/>
        </p:nvSpPr>
        <p:spPr>
          <a:xfrm>
            <a:off x="7303313" y="976579"/>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62" name="LegendLabel"/>
          <p:cNvSpPr txBox="1"/>
          <p:nvPr/>
        </p:nvSpPr>
        <p:spPr>
          <a:xfrm>
            <a:off x="8504834" y="976579"/>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63" name="LegendLabel"/>
          <p:cNvSpPr txBox="1"/>
          <p:nvPr/>
        </p:nvSpPr>
        <p:spPr>
          <a:xfrm>
            <a:off x="10054742" y="976579"/>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64" name="LegendLabel"/>
          <p:cNvSpPr txBox="1"/>
          <p:nvPr/>
        </p:nvSpPr>
        <p:spPr>
          <a:xfrm>
            <a:off x="11027664" y="976579"/>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65" name="MissionGridFrame"/>
          <p:cNvSpPr txBox="1"/>
          <p:nvPr/>
        </p:nvSpPr>
        <p:spPr>
          <a:xfrm>
            <a:off x="2488082" y="1189634"/>
            <a:ext cx="5901538" cy="785470"/>
          </a:xfrm>
          <a:prstGeom prst="rect">
            <a:avLst/>
          </a:prstGeom>
          <a:noFill/>
          <a:ln w="3175">
            <a:solidFill>
              <a:srgbClr val="000000"/>
            </a:solidFill>
          </a:ln>
        </p:spPr>
        <p:txBody>
          <a:bodyPr wrap="square" anchor="ctr" lIns="91440" tIns="45720" rIns="91440" bIns="45720"/>
          <a:lstStyle/>
          <a:p>
            <a:pPr algn="ctr">
              <a:lnSpc>
                <a:spcPct val="100000"/>
              </a:lnSpc>
              <a:buNone/>
            </a:pPr>
            <a:endParaRPr lang="en-US"/>
          </a:p>
        </p:txBody>
      </p:sp>
      <p:sp>
        <p:nvSpPr>
          <p:cNvPr id="166" name="MissionCell"/>
          <p:cNvSpPr txBox="1"/>
          <p:nvPr/>
        </p:nvSpPr>
        <p:spPr>
          <a:xfrm>
            <a:off x="7235647" y="1234440"/>
            <a:ext cx="1109167" cy="304495"/>
          </a:xfrm>
          <a:prstGeom prst="rect">
            <a:avLst/>
          </a:prstGeom>
          <a:solidFill>
            <a:srgbClr val="000000"/>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(Other)</a:t>
            </a:r>
          </a:p>
        </p:txBody>
      </p:sp>
      <p:sp>
        <p:nvSpPr>
          <p:cNvPr id="167" name="MissionCell"/>
          <p:cNvSpPr txBox="1"/>
          <p:nvPr/>
        </p:nvSpPr>
        <p:spPr>
          <a:xfrm>
            <a:off x="2539289" y="1595628"/>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ISR</a:t>
            </a:r>
          </a:p>
        </p:txBody>
      </p:sp>
      <p:sp>
        <p:nvSpPr>
          <p:cNvPr id="168" name="MissionCell"/>
          <p:cNvSpPr txBox="1"/>
          <p:nvPr/>
        </p:nvSpPr>
        <p:spPr>
          <a:xfrm>
            <a:off x="4887468" y="1234440"/>
            <a:ext cx="1110082"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C5</a:t>
            </a:r>
          </a:p>
        </p:txBody>
      </p:sp>
      <p:sp>
        <p:nvSpPr>
          <p:cNvPr id="169" name="MissionCell"/>
          <p:cNvSpPr txBox="1"/>
          <p:nvPr/>
        </p:nvSpPr>
        <p:spPr>
          <a:xfrm>
            <a:off x="6061558" y="1234440"/>
            <a:ext cx="1109167" cy="304495"/>
          </a:xfrm>
          <a:prstGeom prst="rect">
            <a:avLst/>
          </a:prstGeom>
          <a:solidFill>
            <a:srgbClr val="000000"/>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(D&amp;D)</a:t>
            </a:r>
          </a:p>
        </p:txBody>
      </p:sp>
      <p:sp>
        <p:nvSpPr>
          <p:cNvPr id="170" name="MissionCell"/>
          <p:cNvSpPr txBox="1"/>
          <p:nvPr/>
        </p:nvSpPr>
        <p:spPr>
          <a:xfrm>
            <a:off x="3713378" y="1595628"/>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Mine Warfare</a:t>
            </a:r>
          </a:p>
        </p:txBody>
      </p:sp>
      <p:sp>
        <p:nvSpPr>
          <p:cNvPr id="171" name="MissionCell"/>
          <p:cNvSpPr txBox="1"/>
          <p:nvPr/>
        </p:nvSpPr>
        <p:spPr>
          <a:xfrm>
            <a:off x="4887468" y="1595628"/>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Strike Warfare</a:t>
            </a:r>
          </a:p>
        </p:txBody>
      </p:sp>
      <p:sp>
        <p:nvSpPr>
          <p:cNvPr id="172" name="MissionCell"/>
          <p:cNvSpPr txBox="1"/>
          <p:nvPr/>
        </p:nvSpPr>
        <p:spPr>
          <a:xfrm>
            <a:off x="6061558" y="1595628"/>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Subsea &amp; Seabed Warfare</a:t>
            </a:r>
          </a:p>
        </p:txBody>
      </p:sp>
      <p:sp>
        <p:nvSpPr>
          <p:cNvPr id="173" name="MissionCell"/>
          <p:cNvSpPr txBox="1"/>
          <p:nvPr/>
        </p:nvSpPr>
        <p:spPr>
          <a:xfrm>
            <a:off x="8409737" y="1234440"/>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Special Operations</a:t>
            </a:r>
          </a:p>
        </p:txBody>
      </p:sp>
      <p:sp>
        <p:nvSpPr>
          <p:cNvPr id="174" name="AntiSurface"/>
          <p:cNvSpPr txBox="1"/>
          <p:nvPr/>
        </p:nvSpPr>
        <p:spPr>
          <a:xfrm>
            <a:off x="3713378" y="1234440"/>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Anti-Surface Ship </a:t>
            </a:r>
            <a:br/>
            <a:r>
              <a:rPr lang="en-US" sz="900" dirty="0">
                <a:solidFill>
                  <a:srgbClr val="FFFFFF"/>
                </a:solidFill>
                <a:latin typeface="Arial"/>
                <a:ea typeface="Arial"/>
                <a:cs typeface="Arial"/>
              </a:rPr>
              <a:t>Warfare</a:t>
            </a:r>
          </a:p>
        </p:txBody>
      </p:sp>
      <p:sp>
        <p:nvSpPr>
          <p:cNvPr id="175" name="AntiSubmarine"/>
          <p:cNvSpPr txBox="1"/>
          <p:nvPr/>
        </p:nvSpPr>
        <p:spPr>
          <a:xfrm>
            <a:off x="2539289" y="1234440"/>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Anti-Submarine</a:t>
            </a:r>
            <a:br/>
            <a:r>
              <a:rPr lang="en-US" sz="900" dirty="0">
                <a:solidFill>
                  <a:srgbClr val="FFFFFF"/>
                </a:solidFill>
                <a:latin typeface="Arial"/>
                <a:ea typeface="Arial"/>
                <a:cs typeface="Arial"/>
              </a:rPr>
              <a:t>Warfare</a:t>
            </a:r>
          </a:p>
        </p:txBody>
      </p:sp>
      <p:cxnSp>
        <p:nvCxnSpPr>
          <p:cNvPr id="176" name="Connector: Elbow 28"/>
          <p:cNvCxnSpPr/>
          <p:nvPr/>
        </p:nvCxnSpPr>
        <p:spPr>
          <a:xfrm rot="16200000" flipH="1">
            <a:off x="5649163" y="1765706"/>
            <a:ext cx="237744" cy="656539"/>
          </a:xfrm>
          <a:prstGeom prst="bentConnector3">
            <a:avLst/>
          </a:prstGeom>
          <a:ln w="12700">
            <a:solidFill>
              <a:srgbClr val="000000"/>
            </a:solidFill>
            <a:tailEnd type="triangle" w="med" len="med"/>
          </a:ln>
        </p:spPr>
      </p:cxnSp>
      <p:pic>
        <p:nvPicPr>
          <p:cNvPr id="177" name="Picture 2"/>
          <p:cNvPicPr>
            <a:picLocks noChangeAspect="1"/>
          </p:cNvPicPr>
          <p:nvPr/>
        </p:nvPicPr>
        <p:blipFill>
          <a:blip r:embed="rId2"/>
          <a:stretch>
            <a:fillRect/>
          </a:stretch>
        </p:blipFill>
        <p:spPr>
          <a:xfrm>
            <a:off x="11313871" y="43891"/>
            <a:ext cx="843077" cy="843077"/>
          </a:xfrm>
          <a:prstGeom prst="rect">
            <a:avLst/>
          </a:prstGeom>
        </p:spPr>
      </p:pic>
      <p:sp>
        <p:nvSpPr>
          <p:cNvPr id="178" name="StrategicDeterrence"/>
          <p:cNvSpPr txBox="1"/>
          <p:nvPr/>
        </p:nvSpPr>
        <p:spPr>
          <a:xfrm>
            <a:off x="9583826" y="1234440"/>
            <a:ext cx="1109167" cy="304495"/>
          </a:xfrm>
          <a:prstGeom prst="rect">
            <a:avLst/>
          </a:prstGeom>
          <a:noFill/>
          <a:ln w="3175">
            <a:solidFill>
              <a:srgbClr val="BFBFBF"/>
            </a:solidFill>
          </a:ln>
        </p:spPr>
        <p:txBody>
          <a:bodyPr wrap="square" anchor="ctr" lIns="91440" tIns="45720" rIns="91440" bIns="45720"/>
          <a:lstStyle/>
          <a:p>
            <a:pPr algn="ctr">
              <a:lnSpc>
                <a:spcPct val="100000"/>
              </a:lnSpc>
              <a:buNone/>
            </a:pPr>
            <a:r>
              <a:rPr lang="en-US" sz="900" dirty="0">
                <a:solidFill>
                  <a:srgbClr val="BFBFBF"/>
                </a:solidFill>
                <a:latin typeface="Arial"/>
                <a:ea typeface="Arial"/>
                <a:cs typeface="Arial"/>
              </a:rPr>
              <a:t>Strategic Deterrence</a:t>
            </a:r>
            <a:r>
              <a:rPr lang="en-US" sz="900" dirty="0">
                <a:solidFill>
                  <a:srgbClr val="BFBFBF"/>
                </a:solidFill>
                <a:latin typeface="Arial"/>
                <a:ea typeface="Arial"/>
                <a:cs typeface="Arial"/>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Carrier Entry Point Attractiveness</a:t>
            </a:r>
            <a:r>
              <a:rPr lang="en-US" sz="1000" kern="1200" dirty="0">
                <a:solidFill>
                  <a:srgbClr val="44505C"/>
                </a:solidFill>
                <a:latin typeface="Arial"/>
                <a:ea typeface="Arial"/>
                <a:cs typeface="Arial"/>
              </a:rPr>
              <a:t> / Matson Test Case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(2/2) | To find annual volume and price per unit of cargo ($ / TEU).</a:t>
            </a:r>
          </a:p>
        </p:txBody>
      </p:sp>
      <p:sp>
        <p:nvSpPr>
          <p:cNvPr id="100" name="OperatorGlyph"/>
          <p:cNvSpPr txBox="1"/>
          <p:nvPr/>
        </p:nvSpPr>
        <p:spPr>
          <a:xfrm>
            <a:off x="1504188" y="4554626"/>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1" name="OperatorGlyph"/>
          <p:cNvSpPr txBox="1"/>
          <p:nvPr/>
        </p:nvSpPr>
        <p:spPr>
          <a:xfrm>
            <a:off x="4630522" y="2681935"/>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2" name="OperatorGlyph"/>
          <p:cNvSpPr txBox="1"/>
          <p:nvPr/>
        </p:nvSpPr>
        <p:spPr>
          <a:xfrm>
            <a:off x="7739482" y="2681935"/>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3" name="OperatorGlyph"/>
          <p:cNvSpPr txBox="1"/>
          <p:nvPr/>
        </p:nvSpPr>
        <p:spPr>
          <a:xfrm>
            <a:off x="6185002" y="4554626"/>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4" name="OperatorGlyph"/>
          <p:cNvSpPr txBox="1"/>
          <p:nvPr/>
        </p:nvSpPr>
        <p:spPr>
          <a:xfrm>
            <a:off x="6185002" y="5803697"/>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5" name="OperatorGlyph"/>
          <p:cNvSpPr txBox="1"/>
          <p:nvPr/>
        </p:nvSpPr>
        <p:spPr>
          <a:xfrm>
            <a:off x="1504188" y="3305556"/>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06" name="OperatorGlyph"/>
          <p:cNvSpPr txBox="1"/>
          <p:nvPr/>
        </p:nvSpPr>
        <p:spPr>
          <a:xfrm>
            <a:off x="1504188" y="5803697"/>
            <a:ext cx="274320" cy="274320"/>
          </a:xfrm>
          <a:prstGeom prst="mathEqual">
            <a:avLst/>
          </a:prstGeom>
          <a:solidFill>
            <a:srgbClr val="000000"/>
          </a:solidFill>
          <a:ln>
            <a:noFill/>
          </a:ln>
        </p:spPr>
        <p:txBody>
          <a:bodyPr wrap="square" anchor="ctr" lIns="91440" tIns="45720" rIns="91440" bIns="45720"/>
          <a:lstStyle/>
          <a:p>
            <a:pPr algn="ctr">
              <a:lnSpc>
                <a:spcPct val="100000"/>
              </a:lnSpc>
              <a:buNone/>
            </a:pPr>
            <a:endParaRPr lang="en-US"/>
          </a:p>
        </p:txBody>
      </p:sp>
      <p:cxnSp>
        <p:nvCxnSpPr>
          <p:cNvPr id="107" name="Connector: Elbow 52"/>
          <p:cNvCxnSpPr/>
          <p:nvPr/>
        </p:nvCxnSpPr>
        <p:spPr>
          <a:xfrm rot="5400000">
            <a:off x="6946697" y="2665476"/>
            <a:ext cx="304495" cy="1554480"/>
          </a:xfrm>
          <a:prstGeom prst="bentConnector3">
            <a:avLst/>
          </a:prstGeom>
          <a:ln w="12700">
            <a:solidFill>
              <a:srgbClr val="000000"/>
            </a:solidFill>
            <a:tailEnd type="triangle" w="med" len="med"/>
          </a:ln>
        </p:spPr>
      </p:cxnSp>
      <p:sp>
        <p:nvSpPr>
          <p:cNvPr id="108" name="MixWeightedBasicOceanRate"/>
          <p:cNvSpPr txBox="1"/>
          <p:nvPr/>
        </p:nvSpPr>
        <p:spPr>
          <a:xfrm>
            <a:off x="5133442" y="3595421"/>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Mix-weighted avg. basic ocean rate </a:t>
            </a:r>
            <a:br/>
            <a:r>
              <a:rPr lang="en-US" sz="1000" dirty="0">
                <a:solidFill>
                  <a:srgbClr val="FFFFFF"/>
                </a:solidFill>
                <a:latin typeface="Arial"/>
                <a:ea typeface="Arial"/>
                <a:cs typeface="Arial"/>
              </a:rPr>
              <a:t>($ / TEU)</a:t>
            </a:r>
          </a:p>
        </p:txBody>
      </p:sp>
      <p:sp>
        <p:nvSpPr>
          <p:cNvPr id="109" name="OperatorGlyph"/>
          <p:cNvSpPr txBox="1"/>
          <p:nvPr/>
        </p:nvSpPr>
        <p:spPr>
          <a:xfrm rot="5400000">
            <a:off x="6185002" y="2980944"/>
            <a:ext cx="274320" cy="274320"/>
          </a:xfrm>
          <a:prstGeom prst="mathPlus">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10" name="OperatorGlyph"/>
          <p:cNvSpPr txBox="1"/>
          <p:nvPr/>
        </p:nvSpPr>
        <p:spPr>
          <a:xfrm rot="5400000">
            <a:off x="10373868" y="3930091"/>
            <a:ext cx="274320" cy="274320"/>
          </a:xfrm>
          <a:prstGeom prst="mathPlus">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11" name="OperatorGlyph"/>
          <p:cNvSpPr txBox="1"/>
          <p:nvPr/>
        </p:nvSpPr>
        <p:spPr>
          <a:xfrm rot="5400000">
            <a:off x="10373868" y="4554626"/>
            <a:ext cx="274320" cy="274320"/>
          </a:xfrm>
          <a:prstGeom prst="mathPlus">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12" name="OperatorGlyph"/>
          <p:cNvSpPr txBox="1"/>
          <p:nvPr/>
        </p:nvSpPr>
        <p:spPr>
          <a:xfrm rot="5400000">
            <a:off x="6185002" y="5179162"/>
            <a:ext cx="274320" cy="274320"/>
          </a:xfrm>
          <a:prstGeom prst="mathPlus">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13" name="FormulaNode"/>
          <p:cNvSpPr txBox="1"/>
          <p:nvPr/>
        </p:nvSpPr>
        <p:spPr>
          <a:xfrm>
            <a:off x="452628" y="2346350"/>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Annual voyage count (#)</a:t>
            </a:r>
          </a:p>
        </p:txBody>
      </p:sp>
      <p:sp>
        <p:nvSpPr>
          <p:cNvPr id="114" name="FormulaNode"/>
          <p:cNvSpPr txBox="1"/>
          <p:nvPr/>
        </p:nvSpPr>
        <p:spPr>
          <a:xfrm>
            <a:off x="452628" y="2970886"/>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Vessel capacity (#)</a:t>
            </a:r>
          </a:p>
        </p:txBody>
      </p:sp>
      <p:sp>
        <p:nvSpPr>
          <p:cNvPr id="115" name="FormulaNode"/>
          <p:cNvSpPr txBox="1"/>
          <p:nvPr/>
        </p:nvSpPr>
        <p:spPr>
          <a:xfrm>
            <a:off x="452628" y="4219956"/>
            <a:ext cx="2377440" cy="320040"/>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Vessel utilization (%)</a:t>
            </a:r>
          </a:p>
        </p:txBody>
      </p:sp>
      <p:sp>
        <p:nvSpPr>
          <p:cNvPr id="116" name="FormulaNode"/>
          <p:cNvSpPr txBox="1"/>
          <p:nvPr/>
        </p:nvSpPr>
        <p:spPr>
          <a:xfrm>
            <a:off x="452628" y="4843577"/>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Annual container volume (#) </a:t>
            </a:r>
          </a:p>
        </p:txBody>
      </p:sp>
      <p:sp>
        <p:nvSpPr>
          <p:cNvPr id="117" name="FormulaNode"/>
          <p:cNvSpPr txBox="1"/>
          <p:nvPr/>
        </p:nvSpPr>
        <p:spPr>
          <a:xfrm>
            <a:off x="6687922" y="2346350"/>
            <a:ext cx="2377440" cy="320040"/>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FEU proportion of cargo type (%)</a:t>
            </a:r>
          </a:p>
        </p:txBody>
      </p:sp>
      <p:sp>
        <p:nvSpPr>
          <p:cNvPr id="118" name="FormulaNode"/>
          <p:cNvSpPr txBox="1"/>
          <p:nvPr/>
        </p:nvSpPr>
        <p:spPr>
          <a:xfrm>
            <a:off x="3578962" y="2346350"/>
            <a:ext cx="2377440" cy="320040"/>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TEU proportion of cargo type (%)</a:t>
            </a:r>
          </a:p>
        </p:txBody>
      </p:sp>
      <p:sp>
        <p:nvSpPr>
          <p:cNvPr id="119" name="FormulaNode"/>
          <p:cNvSpPr txBox="1"/>
          <p:nvPr/>
        </p:nvSpPr>
        <p:spPr>
          <a:xfrm>
            <a:off x="5133442" y="4219956"/>
            <a:ext cx="2377440" cy="320040"/>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Cargo type proportion of total volume (%)</a:t>
            </a:r>
          </a:p>
        </p:txBody>
      </p:sp>
      <p:sp>
        <p:nvSpPr>
          <p:cNvPr id="120" name="FormulaNode"/>
          <p:cNvSpPr txBox="1"/>
          <p:nvPr/>
        </p:nvSpPr>
        <p:spPr>
          <a:xfrm>
            <a:off x="452628" y="3595421"/>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Annual vessel capacity (#)</a:t>
            </a:r>
          </a:p>
        </p:txBody>
      </p:sp>
      <p:sp>
        <p:nvSpPr>
          <p:cNvPr id="121" name="FormulaNode"/>
          <p:cNvSpPr txBox="1"/>
          <p:nvPr/>
        </p:nvSpPr>
        <p:spPr>
          <a:xfrm>
            <a:off x="452628" y="5468112"/>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Annual voyage count (#)</a:t>
            </a:r>
          </a:p>
        </p:txBody>
      </p:sp>
      <p:sp>
        <p:nvSpPr>
          <p:cNvPr id="122" name="FormulaNode"/>
          <p:cNvSpPr txBox="1"/>
          <p:nvPr/>
        </p:nvSpPr>
        <p:spPr>
          <a:xfrm>
            <a:off x="452628" y="6092647"/>
            <a:ext cx="2377440" cy="320040"/>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Avg. container volume per voyage (#)</a:t>
            </a:r>
          </a:p>
        </p:txBody>
      </p:sp>
      <p:sp>
        <p:nvSpPr>
          <p:cNvPr id="123" name="VesselInput"/>
          <p:cNvSpPr txBox="1"/>
          <p:nvPr/>
        </p:nvSpPr>
        <p:spPr>
          <a:xfrm>
            <a:off x="452628" y="1721815"/>
            <a:ext cx="2377440" cy="32004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i="1" dirty="0">
                <a:solidFill>
                  <a:srgbClr val="FFFFFF"/>
                </a:solidFill>
                <a:latin typeface="Arial"/>
                <a:ea typeface="Arial"/>
                <a:cs typeface="Arial"/>
              </a:rPr>
              <a:t>Vessel (e.g., Maunawili)</a:t>
            </a:r>
          </a:p>
        </p:txBody>
      </p:sp>
      <p:graphicFrame>
        <p:nvGraphicFramePr>
          <p:cNvPr id="124" name="VolumeHeader"/>
          <p:cNvGraphicFramePr>
            <a:graphicFrameLocks noGrp="1"/>
          </p:cNvGraphicFramePr>
          <p:nvPr/>
        </p:nvGraphicFramePr>
        <p:xfrm>
          <a:off x="452628" y="1338682"/>
          <a:ext cx="2834640" cy="274320"/>
        </p:xfrm>
        <a:graphic>
          <a:graphicData uri="http://schemas.openxmlformats.org/drawingml/2006/table">
            <a:tbl>
              <a:tblPr firstRow="1" firstCol="1" bandRow="0">
                <a:tableStyleId>{2D5ABB26-0587-4C30-8999-92F81FD0307C}</a:tableStyleId>
              </a:tblPr>
              <a:tblGrid>
                <a:gridCol w="2834640"/>
              </a:tblGrid>
              <a:tr h="274320">
                <a:tc>
                  <a:txBody>
                    <a:bodyPr anchor="ctr"/>
                    <a:lstStyle/>
                    <a:p>
                      <a:pPr algn="l" marL="0" indent="0">
                        <a:lnSpc>
                          <a:spcPct val="100000"/>
                        </a:lnSpc>
                      </a:pPr>
                      <a:r>
                        <a:rPr lang="en-US" sz="1000" b="1" dirty="0">
                          <a:solidFill>
                            <a:srgbClr val="000000"/>
                          </a:solidFill>
                          <a:latin typeface="Arial"/>
                          <a:ea typeface="Arial"/>
                          <a:cs typeface="Arial"/>
                        </a:rPr>
                        <a:t>Total Container Volume </a:t>
                      </a:r>
                    </a:p>
                  </a:txBody>
                  <a:tcPr marL="37785" marR="37785" marT="45720" marB="45720" anchor="ctr">
                    <a:lnL>
                      <a:noFill/>
                    </a:lnL>
                    <a:lnR>
                      <a:noFill/>
                    </a:lnR>
                    <a:lnT w="12700" cap="flat" cmpd="sng" algn="ctr">
                      <a:solidFill>
                        <a:srgbClr val="FFFFFF"/>
                      </a:solidFill>
                      <a:prstDash val="solid"/>
                    </a:lnT>
                    <a:lnB w="12700" cap="flat" cmpd="sng" algn="ctr">
                      <a:solidFill>
                        <a:srgbClr val="162029"/>
                      </a:solidFill>
                      <a:prstDash val="solid"/>
                    </a:lnB>
                    <a:noFill/>
                  </a:tcPr>
                </a:tc>
              </a:tr>
            </a:tbl>
          </a:graphicData>
        </a:graphic>
      </p:graphicFrame>
      <p:graphicFrame>
        <p:nvGraphicFramePr>
          <p:cNvPr id="125" name="PriceHeader"/>
          <p:cNvGraphicFramePr>
            <a:graphicFrameLocks noGrp="1"/>
          </p:cNvGraphicFramePr>
          <p:nvPr/>
        </p:nvGraphicFramePr>
        <p:xfrm>
          <a:off x="3470148" y="1338682"/>
          <a:ext cx="8229600" cy="274320"/>
        </p:xfrm>
        <a:graphic>
          <a:graphicData uri="http://schemas.openxmlformats.org/drawingml/2006/table">
            <a:tbl>
              <a:tblPr firstRow="1" firstCol="1" bandRow="0">
                <a:tableStyleId>{2D5ABB26-0587-4C30-8999-92F81FD0307C}</a:tableStyleId>
              </a:tblPr>
              <a:tblGrid>
                <a:gridCol w="8229600"/>
              </a:tblGrid>
              <a:tr h="274320">
                <a:tc>
                  <a:txBody>
                    <a:bodyPr anchor="ctr"/>
                    <a:lstStyle/>
                    <a:p>
                      <a:pPr algn="l" marL="0" indent="0">
                        <a:lnSpc>
                          <a:spcPct val="100000"/>
                        </a:lnSpc>
                      </a:pPr>
                      <a:r>
                        <a:rPr lang="en-US" sz="1000" b="1" dirty="0">
                          <a:solidFill>
                            <a:srgbClr val="000000"/>
                          </a:solidFill>
                          <a:latin typeface="Arial"/>
                          <a:ea typeface="Arial"/>
                          <a:cs typeface="Arial"/>
                        </a:rPr>
                        <a:t>Container Price</a:t>
                      </a:r>
                    </a:p>
                  </a:txBody>
                  <a:tcPr marL="37785" marR="37785" marT="45720" marB="45720" anchor="ctr">
                    <a:lnL>
                      <a:noFill/>
                    </a:lnL>
                    <a:lnR>
                      <a:noFill/>
                    </a:lnR>
                    <a:lnT w="12700" cap="flat" cmpd="sng" algn="ctr">
                      <a:solidFill>
                        <a:srgbClr val="FFFFFF"/>
                      </a:solidFill>
                      <a:prstDash val="solid"/>
                    </a:lnT>
                    <a:lnB w="12700" cap="flat" cmpd="sng" algn="ctr">
                      <a:solidFill>
                        <a:srgbClr val="162029"/>
                      </a:solidFill>
                      <a:prstDash val="solid"/>
                    </a:lnB>
                    <a:noFill/>
                  </a:tcPr>
                </a:tc>
              </a:tr>
            </a:tbl>
          </a:graphicData>
        </a:graphic>
      </p:graphicFrame>
      <p:sp>
        <p:nvSpPr>
          <p:cNvPr id="126" name="OperatorGlyph"/>
          <p:cNvSpPr txBox="1"/>
          <p:nvPr/>
        </p:nvSpPr>
        <p:spPr>
          <a:xfrm>
            <a:off x="1504188" y="2681935"/>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27" name="OperatorGlyph"/>
          <p:cNvSpPr txBox="1"/>
          <p:nvPr/>
        </p:nvSpPr>
        <p:spPr>
          <a:xfrm>
            <a:off x="7739482" y="2057400"/>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28" name="OperatorGlyph"/>
          <p:cNvSpPr txBox="1"/>
          <p:nvPr/>
        </p:nvSpPr>
        <p:spPr>
          <a:xfrm>
            <a:off x="4630522" y="2057400"/>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29" name="OperatorGlyph"/>
          <p:cNvSpPr txBox="1"/>
          <p:nvPr/>
        </p:nvSpPr>
        <p:spPr>
          <a:xfrm>
            <a:off x="7624267" y="4866437"/>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30" name="OperatorGlyph"/>
          <p:cNvSpPr txBox="1"/>
          <p:nvPr/>
        </p:nvSpPr>
        <p:spPr>
          <a:xfrm>
            <a:off x="6185002" y="3930091"/>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31" name="OperatorGlyph"/>
          <p:cNvSpPr txBox="1"/>
          <p:nvPr/>
        </p:nvSpPr>
        <p:spPr>
          <a:xfrm>
            <a:off x="1504188" y="3930091"/>
            <a:ext cx="274320" cy="274320"/>
          </a:xfrm>
          <a:prstGeom prst="mathMultiply">
            <a:avLst/>
          </a:prstGeom>
          <a:solidFill>
            <a:srgbClr val="000000"/>
          </a:solidFill>
          <a:ln w="12700">
            <a:solidFill>
              <a:srgbClr val="FFFFFF"/>
            </a:solidFill>
          </a:ln>
        </p:spPr>
        <p:txBody>
          <a:bodyPr wrap="square" anchor="ctr" lIns="91440" tIns="45720" rIns="91440" bIns="45720"/>
          <a:lstStyle/>
          <a:p>
            <a:pPr algn="ctr">
              <a:lnSpc>
                <a:spcPct val="100000"/>
              </a:lnSpc>
              <a:buNone/>
            </a:pPr>
            <a:endParaRPr lang="en-US"/>
          </a:p>
        </p:txBody>
      </p:sp>
      <p:sp>
        <p:nvSpPr>
          <p:cNvPr id="132" name="FormulaNode"/>
          <p:cNvSpPr txBox="1"/>
          <p:nvPr/>
        </p:nvSpPr>
        <p:spPr>
          <a:xfrm>
            <a:off x="9322308" y="3595421"/>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Fuel surcharge ($ / TEU)</a:t>
            </a:r>
          </a:p>
        </p:txBody>
      </p:sp>
      <p:sp>
        <p:nvSpPr>
          <p:cNvPr id="133" name="FormulaNode"/>
          <p:cNvSpPr txBox="1"/>
          <p:nvPr/>
        </p:nvSpPr>
        <p:spPr>
          <a:xfrm>
            <a:off x="3578962" y="1721815"/>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Avg. TEU basic ocean rate within cargo type ($ / TEU)</a:t>
            </a:r>
          </a:p>
        </p:txBody>
      </p:sp>
      <p:sp>
        <p:nvSpPr>
          <p:cNvPr id="134" name="FormulaNode"/>
          <p:cNvSpPr txBox="1"/>
          <p:nvPr/>
        </p:nvSpPr>
        <p:spPr>
          <a:xfrm>
            <a:off x="6687922" y="1721815"/>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Avg. FEU container rate within cargo type, normalized to TEU ($ / TEU)</a:t>
            </a:r>
          </a:p>
        </p:txBody>
      </p:sp>
      <p:sp>
        <p:nvSpPr>
          <p:cNvPr id="135" name="FormulaNode"/>
          <p:cNvSpPr txBox="1"/>
          <p:nvPr/>
        </p:nvSpPr>
        <p:spPr>
          <a:xfrm>
            <a:off x="9322308" y="4219956"/>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Wharfage / Other Fees ($ / TEU)</a:t>
            </a:r>
          </a:p>
        </p:txBody>
      </p:sp>
      <p:sp>
        <p:nvSpPr>
          <p:cNvPr id="136" name="FormulaNode"/>
          <p:cNvSpPr txBox="1"/>
          <p:nvPr/>
        </p:nvSpPr>
        <p:spPr>
          <a:xfrm>
            <a:off x="6687922" y="2970886"/>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Mix-weighted FEU basic ocean rate, normalized to TEU ($ / TEU)</a:t>
            </a:r>
          </a:p>
        </p:txBody>
      </p:sp>
      <p:sp>
        <p:nvSpPr>
          <p:cNvPr id="137" name="FormulaNode"/>
          <p:cNvSpPr txBox="1"/>
          <p:nvPr/>
        </p:nvSpPr>
        <p:spPr>
          <a:xfrm>
            <a:off x="8011973" y="4843577"/>
            <a:ext cx="1122883"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Surcharge (%)</a:t>
            </a:r>
          </a:p>
        </p:txBody>
      </p:sp>
      <p:sp>
        <p:nvSpPr>
          <p:cNvPr id="138" name="FormulaNode"/>
          <p:cNvSpPr txBox="1"/>
          <p:nvPr/>
        </p:nvSpPr>
        <p:spPr>
          <a:xfrm>
            <a:off x="5133442" y="4843577"/>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Volume-weighted avg. basic ocean rate ($ / TEU)</a:t>
            </a:r>
          </a:p>
        </p:txBody>
      </p:sp>
      <p:sp>
        <p:nvSpPr>
          <p:cNvPr id="139" name="FormulaNode"/>
          <p:cNvSpPr txBox="1"/>
          <p:nvPr/>
        </p:nvSpPr>
        <p:spPr>
          <a:xfrm>
            <a:off x="5133442" y="5468112"/>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Ancillary charges ($ / TEU)</a:t>
            </a:r>
          </a:p>
        </p:txBody>
      </p:sp>
      <p:sp>
        <p:nvSpPr>
          <p:cNvPr id="140" name="TerminalHandling"/>
          <p:cNvSpPr txBox="1"/>
          <p:nvPr/>
        </p:nvSpPr>
        <p:spPr>
          <a:xfrm>
            <a:off x="9322308" y="4843577"/>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Terminal Handling / Stevedoring</a:t>
            </a:r>
            <a:br/>
            <a:r>
              <a:rPr lang="en-US" sz="1000" dirty="0">
                <a:solidFill>
                  <a:srgbClr val="FFFFFF"/>
                </a:solidFill>
                <a:latin typeface="Arial"/>
                <a:ea typeface="Arial"/>
                <a:cs typeface="Arial"/>
              </a:rPr>
              <a:t>($ / TEU)</a:t>
            </a:r>
          </a:p>
        </p:txBody>
      </p:sp>
      <p:sp>
        <p:nvSpPr>
          <p:cNvPr id="141" name="FinalWeightedPrice"/>
          <p:cNvSpPr txBox="1"/>
          <p:nvPr/>
        </p:nvSpPr>
        <p:spPr>
          <a:xfrm>
            <a:off x="3578962" y="6092647"/>
            <a:ext cx="548640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Total weighted avg. container price</a:t>
            </a:r>
            <a:br/>
            <a:r>
              <a:rPr lang="en-US" sz="1000" b="1" dirty="0">
                <a:solidFill>
                  <a:srgbClr val="FFFFFF"/>
                </a:solidFill>
                <a:latin typeface="Arial"/>
                <a:ea typeface="Arial"/>
                <a:cs typeface="Arial"/>
              </a:rPr>
              <a:t>($ / TEU)</a:t>
            </a:r>
          </a:p>
        </p:txBody>
      </p:sp>
      <p:sp>
        <p:nvSpPr>
          <p:cNvPr id="142" name="MixWeightedTEU"/>
          <p:cNvSpPr txBox="1"/>
          <p:nvPr/>
        </p:nvSpPr>
        <p:spPr>
          <a:xfrm>
            <a:off x="3578962" y="2970886"/>
            <a:ext cx="2377440" cy="32004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Mix-weighted TEU basic ocean rate </a:t>
            </a:r>
            <a:br/>
            <a:r>
              <a:rPr lang="en-US" sz="1000" dirty="0">
                <a:solidFill>
                  <a:srgbClr val="FFFFFF"/>
                </a:solidFill>
                <a:latin typeface="Arial"/>
                <a:ea typeface="Arial"/>
                <a:cs typeface="Arial"/>
              </a:rPr>
              <a:t>($ / TEU)</a:t>
            </a:r>
          </a:p>
        </p:txBody>
      </p:sp>
      <p:cxnSp>
        <p:nvCxnSpPr>
          <p:cNvPr id="143" name="Connector: Elbow 92"/>
          <p:cNvCxnSpPr/>
          <p:nvPr/>
        </p:nvCxnSpPr>
        <p:spPr>
          <a:xfrm rot="16200000" flipH="1">
            <a:off x="5392217" y="2665476"/>
            <a:ext cx="304495" cy="1554480"/>
          </a:xfrm>
          <a:prstGeom prst="bentConnector3">
            <a:avLst/>
          </a:prstGeom>
          <a:ln w="12700">
            <a:solidFill>
              <a:srgbClr val="000000"/>
            </a:solidFill>
            <a:tailEnd type="triangle" w="med" len="med"/>
          </a:ln>
        </p:spPr>
      </p:cxnSp>
      <p:cxnSp>
        <p:nvCxnSpPr>
          <p:cNvPr id="144" name="Connector: Elbow 97"/>
          <p:cNvCxnSpPr/>
          <p:nvPr/>
        </p:nvCxnSpPr>
        <p:spPr>
          <a:xfrm flipV="1">
            <a:off x="9133942" y="3755441"/>
            <a:ext cx="188366" cy="1248156"/>
          </a:xfrm>
          <a:prstGeom prst="bentConnector3">
            <a:avLst/>
          </a:prstGeom>
          <a:ln w="12700">
            <a:solidFill>
              <a:srgbClr val="000000"/>
            </a:solidFill>
            <a:tailEnd type="triangle" w="med" len="med"/>
          </a:ln>
        </p:spPr>
      </p:cxnSp>
      <p:sp>
        <p:nvSpPr>
          <p:cNvPr id="145" name="RepeatCargoTypesFrame"/>
          <p:cNvSpPr txBox="1"/>
          <p:nvPr/>
        </p:nvSpPr>
        <p:spPr>
          <a:xfrm>
            <a:off x="3470148" y="1671523"/>
            <a:ext cx="5663794" cy="2902306"/>
          </a:xfrm>
          <a:prstGeom prst="rect">
            <a:avLst/>
          </a:prstGeom>
          <a:noFill/>
          <a:ln w="12700">
            <a:solidFill>
              <a:srgbClr val="000000"/>
            </a:solidFill>
            <a:prstDash val="dash"/>
          </a:ln>
        </p:spPr>
        <p:txBody>
          <a:bodyPr wrap="square" anchor="b" lIns="91440" tIns="45720" rIns="91440" bIns="45720"/>
          <a:lstStyle/>
          <a:p>
            <a:pPr>
              <a:lnSpc>
                <a:spcPct val="100000"/>
              </a:lnSpc>
              <a:buNone/>
            </a:pPr>
            <a:endParaRPr lang="en-US"/>
          </a:p>
          <a:p>
            <a:pPr>
              <a:lnSpc>
                <a:spcPct val="100000"/>
              </a:lnSpc>
              <a:buNone/>
            </a:pPr>
            <a:r>
              <a:rPr lang="en-US" sz="1000" b="1" i="1" dirty="0">
                <a:solidFill>
                  <a:srgbClr val="000000"/>
                </a:solidFill>
                <a:latin typeface="Arial"/>
                <a:ea typeface="Arial"/>
                <a:cs typeface="Arial"/>
              </a:rPr>
              <a:t>Repeat across </a:t>
            </a:r>
            <a:br/>
            <a:r>
              <a:rPr lang="en-US" sz="1000" b="1" i="1" dirty="0">
                <a:solidFill>
                  <a:srgbClr val="000000"/>
                </a:solidFill>
                <a:latin typeface="Arial"/>
                <a:ea typeface="Arial"/>
                <a:cs typeface="Arial"/>
              </a:rPr>
              <a:t>cargo types</a:t>
            </a:r>
          </a:p>
        </p:txBody>
      </p:sp>
      <p:sp>
        <p:nvSpPr>
          <p:cNvPr id="146" name="Speech Bubble: Rectangle 105"/>
          <p:cNvSpPr txBox="1"/>
          <p:nvPr/>
        </p:nvSpPr>
        <p:spPr>
          <a:xfrm>
            <a:off x="9293962" y="2268626"/>
            <a:ext cx="2406701" cy="674827"/>
          </a:xfrm>
          <a:prstGeom prst="wedgeRectCallout">
            <a:avLst>
              <a:gd name="adj1" fmla="val -59942"/>
              <a:gd name="adj2" fmla="val 53401"/>
            </a:avLst>
          </a:prstGeom>
          <a:solidFill>
            <a:srgbClr val="FFFFCC"/>
          </a:solidFill>
          <a:ln w="12700">
            <a:solidFill>
              <a:srgbClr val="000000"/>
            </a:solidFill>
          </a:ln>
        </p:spPr>
        <p:txBody>
          <a:bodyPr wrap="square" anchor="ctr" lIns="91440" tIns="45720" rIns="91440" bIns="45720"/>
          <a:lstStyle/>
          <a:p>
            <a:pPr>
              <a:lnSpc>
                <a:spcPct val="100000"/>
              </a:lnSpc>
              <a:buNone/>
            </a:pPr>
            <a:r>
              <a:rPr lang="en-US" sz="800" i="1" dirty="0">
                <a:solidFill>
                  <a:srgbClr val="000000"/>
                </a:solidFill>
                <a:latin typeface="Arial"/>
                <a:ea typeface="Arial"/>
                <a:cs typeface="Arial"/>
              </a:rPr>
              <a:t>Finding mix-weighted rate required as TEU generally have higher basic ocean and terminal handling / stevedoring charges vs. normalized FEU</a:t>
            </a:r>
          </a:p>
        </p:txBody>
      </p:sp>
      <p:cxnSp>
        <p:nvCxnSpPr>
          <p:cNvPr id="147" name="Connector: Elbow 136"/>
          <p:cNvCxnSpPr/>
          <p:nvPr/>
        </p:nvCxnSpPr>
        <p:spPr>
          <a:xfrm rot="5400000">
            <a:off x="8779154" y="3895344"/>
            <a:ext cx="464515" cy="3001061"/>
          </a:xfrm>
          <a:prstGeom prst="bentConnector2">
            <a:avLst/>
          </a:prstGeom>
          <a:ln w="12700">
            <a:solidFill>
              <a:srgbClr val="000000"/>
            </a:solidFill>
            <a:tailEnd type="triangle" w="med" len="med"/>
          </a:ln>
        </p:spPr>
      </p:cxnSp>
      <p:sp>
        <p:nvSpPr>
          <p:cNvPr id="148" name="Speech Bubble: Rectangle 139"/>
          <p:cNvSpPr txBox="1"/>
          <p:nvPr/>
        </p:nvSpPr>
        <p:spPr>
          <a:xfrm>
            <a:off x="10648188" y="5316322"/>
            <a:ext cx="1221638" cy="572414"/>
          </a:xfrm>
          <a:prstGeom prst="wedgeRectCallout">
            <a:avLst>
              <a:gd name="adj1" fmla="val 5870"/>
              <a:gd name="adj2" fmla="val -74249"/>
            </a:avLst>
          </a:prstGeom>
          <a:solidFill>
            <a:srgbClr val="FFFFCC"/>
          </a:solidFill>
          <a:ln w="12700">
            <a:solidFill>
              <a:srgbClr val="000000"/>
            </a:solid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Also weighted by TEU/FEU mix and cargo composition </a:t>
            </a:r>
          </a:p>
        </p:txBody>
      </p:sp>
      <p:cxnSp>
        <p:nvCxnSpPr>
          <p:cNvPr id="149" name="Straight Arrow Connector 143"/>
          <p:cNvCxnSpPr/>
          <p:nvPr/>
        </p:nvCxnSpPr>
        <p:spPr>
          <a:xfrm>
            <a:off x="1641348" y="2041855"/>
            <a:ext cx="0" cy="304495"/>
          </a:xfrm>
          <a:prstGeom prst="line">
            <a:avLst/>
          </a:prstGeom>
          <a:ln w="12700">
            <a:solidFill>
              <a:srgbClr val="000000"/>
            </a:solidFill>
            <a:tailEnd type="triangle" w="med" len="med"/>
          </a:ln>
        </p:spPr>
      </p:cxnSp>
      <p:sp>
        <p:nvSpPr>
          <p:cNvPr id="150" name="Speech Bubble: Rectangle 158"/>
          <p:cNvSpPr txBox="1"/>
          <p:nvPr/>
        </p:nvSpPr>
        <p:spPr>
          <a:xfrm>
            <a:off x="2859329" y="4656125"/>
            <a:ext cx="1390802" cy="1132027"/>
          </a:xfrm>
          <a:prstGeom prst="wedgeRectCallout">
            <a:avLst>
              <a:gd name="adj1" fmla="val -55587"/>
              <a:gd name="adj2" fmla="val -66064"/>
            </a:avLst>
          </a:prstGeom>
          <a:solidFill>
            <a:srgbClr val="FFFFCC"/>
          </a:solidFill>
          <a:ln w="12700">
            <a:solidFill>
              <a:srgbClr val="000000"/>
            </a:solidFill>
          </a:ln>
        </p:spPr>
        <p:txBody>
          <a:bodyPr wrap="square" anchor="ctr" lIns="91440" tIns="45720" rIns="91440" bIns="45720"/>
          <a:lstStyle/>
          <a:p>
            <a:pPr>
              <a:lnSpc>
                <a:spcPct val="100000"/>
              </a:lnSpc>
              <a:buNone/>
            </a:pPr>
            <a:r>
              <a:rPr lang="en-US" sz="800" i="1" dirty="0">
                <a:solidFill>
                  <a:srgbClr val="000000"/>
                </a:solidFill>
                <a:latin typeface="Arial"/>
                <a:ea typeface="Arial"/>
                <a:cs typeface="Arial"/>
              </a:rPr>
              <a:t>Matson does not publish utilization metrics; thus, utilization is solved for using published &amp; forecast annual and quarterly container volume, westbound / eastbound cargo proportions, and cargo type proportions</a:t>
            </a:r>
          </a:p>
        </p:txBody>
      </p:sp>
      <p:sp>
        <p:nvSpPr>
          <p:cNvPr id="151" name="DivisionGlyph"/>
          <p:cNvSpPr txBox="1"/>
          <p:nvPr/>
        </p:nvSpPr>
        <p:spPr>
          <a:xfrm>
            <a:off x="1504188" y="5179162"/>
            <a:ext cx="274320" cy="274320"/>
          </a:xfrm>
          <a:prstGeom prst="mathDivide">
            <a:avLst/>
          </a:prstGeom>
          <a:solidFill>
            <a:srgbClr val="000000"/>
          </a:solidFill>
          <a:ln>
            <a:noFill/>
          </a:ln>
        </p:spPr>
        <p:txBody>
          <a:bodyPr wrap="square" anchor="ctr" lIns="91440" tIns="45720" rIns="91440" bIns="45720"/>
          <a:lstStyle/>
          <a:p>
            <a:pPr algn="ctr">
              <a:lnSpc>
                <a:spcPct val="100000"/>
              </a:lnSpc>
              <a:buNone/>
            </a:pPr>
            <a:endParaRPr lang="en-US"/>
          </a:p>
        </p:txBody>
      </p:sp>
      <p:cxnSp>
        <p:nvCxnSpPr>
          <p:cNvPr id="152" name="Connector: Elbow 169"/>
          <p:cNvCxnSpPr/>
          <p:nvPr/>
        </p:nvCxnSpPr>
        <p:spPr>
          <a:xfrm rot="10800000" flipV="1">
            <a:off x="452628" y="2506370"/>
            <a:ext cx="12802" cy="3121762"/>
          </a:xfrm>
          <a:prstGeom prst="bentConnector3">
            <a:avLst>
              <a:gd name="adj1" fmla="val 1800000"/>
            </a:avLst>
          </a:prstGeom>
          <a:ln w="12700">
            <a:solidFill>
              <a:srgbClr val="000000"/>
            </a:solidFill>
            <a:tailEnd type="triangle" w="med" len="med"/>
          </a:ln>
        </p:spPr>
      </p:cxnSp>
      <p:sp>
        <p:nvSpPr>
          <p:cNvPr id="153" name="RepeatRoutes"/>
          <p:cNvSpPr txBox="1"/>
          <p:nvPr/>
        </p:nvSpPr>
        <p:spPr>
          <a:xfrm>
            <a:off x="6943039" y="1064362"/>
            <a:ext cx="5004511" cy="213970"/>
          </a:xfrm>
          <a:prstGeom prst="rect">
            <a:avLst/>
          </a:prstGeom>
          <a:solidFill>
            <a:srgbClr val="263746"/>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Repeat across all routes and vessels</a:t>
            </a:r>
          </a:p>
        </p:txBody>
      </p:sp>
      <p:sp>
        <p:nvSpPr>
          <p:cNvPr id="154" name="RepeatCargo"/>
          <p:cNvSpPr txBox="1"/>
          <p:nvPr/>
        </p:nvSpPr>
        <p:spPr>
          <a:xfrm>
            <a:off x="6943039" y="1351483"/>
            <a:ext cx="5004511" cy="213970"/>
          </a:xfrm>
          <a:prstGeom prst="rect">
            <a:avLst/>
          </a:prstGeom>
          <a:solidFill>
            <a:srgbClr val="6E91B1"/>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To find volume and price for dry cargo TEUs, refrigerated TEUs, and automobiles</a:t>
            </a:r>
          </a:p>
        </p:txBody>
      </p:sp>
      <p:sp>
        <p:nvSpPr>
          <p:cNvPr id="155" name="TrackLabel"/>
          <p:cNvSpPr txBox="1"/>
          <p:nvPr/>
        </p:nvSpPr>
        <p:spPr>
          <a:xfrm>
            <a:off x="1579169" y="1063447"/>
            <a:ext cx="687629" cy="215798"/>
          </a:xfrm>
          <a:prstGeom prst="rect">
            <a:avLst/>
          </a:prstGeom>
          <a:noFill/>
          <a:ln>
            <a:noFill/>
          </a:ln>
        </p:spPr>
        <p:txBody>
          <a:bodyPr wrap="none" anchor="t" lIns="91440" tIns="45720" rIns="91440" bIns="45720"/>
          <a:lstStyle/>
          <a:p>
            <a:pPr>
              <a:lnSpc>
                <a:spcPct val="100000"/>
              </a:lnSpc>
              <a:buNone/>
            </a:pPr>
            <a:r>
              <a:rPr lang="en-US" sz="800" dirty="0">
                <a:solidFill>
                  <a:srgbClr val="162029"/>
                </a:solidFill>
                <a:latin typeface="Arial"/>
                <a:ea typeface="Arial"/>
                <a:cs typeface="Arial"/>
              </a:rPr>
              <a:t>Volume (#)</a:t>
            </a:r>
          </a:p>
        </p:txBody>
      </p:sp>
      <p:sp>
        <p:nvSpPr>
          <p:cNvPr id="156" name="TrackLabel"/>
          <p:cNvSpPr txBox="1"/>
          <p:nvPr/>
        </p:nvSpPr>
        <p:spPr>
          <a:xfrm>
            <a:off x="648310" y="1063447"/>
            <a:ext cx="572414" cy="215798"/>
          </a:xfrm>
          <a:prstGeom prst="rect">
            <a:avLst/>
          </a:prstGeom>
          <a:noFill/>
          <a:ln>
            <a:noFill/>
          </a:ln>
        </p:spPr>
        <p:txBody>
          <a:bodyPr wrap="none" anchor="t" lIns="91440" tIns="45720" rIns="91440" bIns="45720"/>
          <a:lstStyle/>
          <a:p>
            <a:pPr>
              <a:lnSpc>
                <a:spcPct val="100000"/>
              </a:lnSpc>
              <a:buNone/>
            </a:pPr>
            <a:r>
              <a:rPr lang="en-US" sz="800" dirty="0">
                <a:solidFill>
                  <a:srgbClr val="162029"/>
                </a:solidFill>
                <a:latin typeface="Arial"/>
                <a:ea typeface="Arial"/>
                <a:cs typeface="Arial"/>
              </a:rPr>
              <a:t>Price ($)</a:t>
            </a:r>
          </a:p>
        </p:txBody>
      </p:sp>
      <p:sp>
        <p:nvSpPr>
          <p:cNvPr id="157" name="TrackLabel"/>
          <p:cNvSpPr txBox="1"/>
          <p:nvPr/>
        </p:nvSpPr>
        <p:spPr>
          <a:xfrm>
            <a:off x="2647188" y="1063447"/>
            <a:ext cx="899770" cy="215798"/>
          </a:xfrm>
          <a:prstGeom prst="rect">
            <a:avLst/>
          </a:prstGeom>
          <a:noFill/>
          <a:ln>
            <a:noFill/>
          </a:ln>
        </p:spPr>
        <p:txBody>
          <a:bodyPr wrap="none" anchor="t" lIns="91440" tIns="45720" rIns="91440" bIns="45720"/>
          <a:lstStyle/>
          <a:p>
            <a:pPr>
              <a:lnSpc>
                <a:spcPct val="100000"/>
              </a:lnSpc>
              <a:buNone/>
            </a:pPr>
            <a:r>
              <a:rPr lang="en-US" sz="800" dirty="0">
                <a:solidFill>
                  <a:srgbClr val="162029"/>
                </a:solidFill>
                <a:latin typeface="Arial"/>
                <a:ea typeface="Arial"/>
                <a:cs typeface="Arial"/>
              </a:rPr>
              <a:t>Proportions (%)</a:t>
            </a:r>
          </a:p>
        </p:txBody>
      </p:sp>
      <p:sp>
        <p:nvSpPr>
          <p:cNvPr id="158" name="LegendSwatch"/>
          <p:cNvSpPr txBox="1"/>
          <p:nvPr/>
        </p:nvSpPr>
        <p:spPr>
          <a:xfrm>
            <a:off x="444398" y="1063447"/>
            <a:ext cx="211226" cy="213970"/>
          </a:xfrm>
          <a:prstGeom prst="rect">
            <a:avLst/>
          </a:prstGeom>
          <a:solidFill>
            <a:srgbClr val="2E7D32"/>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9" name="LegendSwatch"/>
          <p:cNvSpPr txBox="1"/>
          <p:nvPr/>
        </p:nvSpPr>
        <p:spPr>
          <a:xfrm>
            <a:off x="1375258" y="1063447"/>
            <a:ext cx="211226" cy="213970"/>
          </a:xfrm>
          <a:prstGeom prst="rect">
            <a:avLst/>
          </a:prstGeom>
          <a:solidFill>
            <a:srgbClr val="F2F2F2"/>
          </a:solidFill>
          <a:ln w="3175">
            <a:solidFill>
              <a:srgbClr val="000000"/>
            </a:solidFill>
          </a:ln>
        </p:spPr>
        <p:txBody>
          <a:bodyPr wrap="square" anchor="ctr" lIns="91440" tIns="45720" rIns="91440" bIns="45720"/>
          <a:lstStyle/>
          <a:p>
            <a:pPr algn="ctr">
              <a:lnSpc>
                <a:spcPct val="100000"/>
              </a:lnSpc>
              <a:buNone/>
            </a:pPr>
            <a:endParaRPr lang="en-US"/>
          </a:p>
        </p:txBody>
      </p:sp>
      <p:sp>
        <p:nvSpPr>
          <p:cNvPr id="160" name="LegendSwatch"/>
          <p:cNvSpPr txBox="1"/>
          <p:nvPr/>
        </p:nvSpPr>
        <p:spPr>
          <a:xfrm>
            <a:off x="2442362" y="1063447"/>
            <a:ext cx="211226" cy="213970"/>
          </a:xfrm>
          <a:prstGeom prst="rect">
            <a:avLst/>
          </a:prstGeom>
          <a:noFill/>
          <a:ln w="3175">
            <a:solidFill>
              <a:srgbClr val="000000"/>
            </a:solidFill>
          </a:ln>
        </p:spPr>
        <p:txBody>
          <a:bodyPr wrap="square" anchor="ctr" lIns="91440" tIns="45720" rIns="91440" bIns="45720"/>
          <a:lstStyle/>
          <a:p>
            <a:pPr algn="ctr">
              <a:lnSpc>
                <a:spcPct val="100000"/>
              </a:lnSpc>
              <a:buNone/>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ackgroundBand"/>
          <p:cNvSpPr txBox="1"/>
          <p:nvPr/>
        </p:nvSpPr>
        <p:spPr>
          <a:xfrm>
            <a:off x="2480767" y="5979262"/>
            <a:ext cx="7427671" cy="453542"/>
          </a:xfrm>
          <a:prstGeom prst="rect">
            <a:avLst/>
          </a:prstGeom>
          <a:solidFill>
            <a:srgbClr val="DFE7EB"/>
          </a:solidFill>
          <a:ln w="3175">
            <a:solidFill>
              <a:srgbClr val="000000"/>
            </a:solidFill>
          </a:ln>
        </p:spPr>
        <p:txBody>
          <a:bodyPr wrap="square" anchor="ctr" lIns="91440" tIns="45720" rIns="91440" bIns="45720"/>
          <a:lstStyle/>
          <a:p>
            <a:pPr algn="ctr">
              <a:lnSpc>
                <a:spcPct val="100000"/>
              </a:lnSpc>
              <a:buNone/>
            </a:pPr>
            <a:endParaRPr lang="en-US"/>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SHIPS Act Overview | Foreign penalties fund domestic Strategic Commercial Fleet (SCF) build-out.</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sp>
        <p:nvSpPr>
          <p:cNvPr id="101" name="FlowNode"/>
          <p:cNvSpPr txBox="1"/>
          <p:nvPr/>
        </p:nvSpPr>
        <p:spPr>
          <a:xfrm>
            <a:off x="8039405" y="6082589"/>
            <a:ext cx="1828800" cy="293522"/>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Other foreign ship operators</a:t>
            </a:r>
          </a:p>
        </p:txBody>
      </p:sp>
      <p:sp>
        <p:nvSpPr>
          <p:cNvPr id="102" name="FlowNode"/>
          <p:cNvSpPr txBox="1"/>
          <p:nvPr/>
        </p:nvSpPr>
        <p:spPr>
          <a:xfrm>
            <a:off x="7160666" y="3951122"/>
            <a:ext cx="2249424" cy="293522"/>
          </a:xfrm>
          <a:prstGeom prst="rect">
            <a:avLst/>
          </a:prstGeom>
          <a:solidFill>
            <a:srgbClr val="6DCF9E"/>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Operating Subsidies</a:t>
            </a:r>
          </a:p>
        </p:txBody>
      </p:sp>
      <p:sp>
        <p:nvSpPr>
          <p:cNvPr id="103" name="FlowNode"/>
          <p:cNvSpPr txBox="1"/>
          <p:nvPr/>
        </p:nvSpPr>
        <p:spPr>
          <a:xfrm>
            <a:off x="6260897" y="6082589"/>
            <a:ext cx="1737360" cy="293522"/>
          </a:xfrm>
          <a:prstGeom prst="rect">
            <a:avLst/>
          </a:prstGeom>
          <a:solidFill>
            <a:srgbClr val="D9D9D9"/>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25-49% of orderbook at PRC</a:t>
            </a:r>
          </a:p>
        </p:txBody>
      </p:sp>
      <p:sp>
        <p:nvSpPr>
          <p:cNvPr id="104" name="FlowNode"/>
          <p:cNvSpPr txBox="1"/>
          <p:nvPr/>
        </p:nvSpPr>
        <p:spPr>
          <a:xfrm>
            <a:off x="4384548" y="6082589"/>
            <a:ext cx="1737360" cy="293522"/>
          </a:xfrm>
          <a:prstGeom prst="rect">
            <a:avLst/>
          </a:prstGeom>
          <a:solidFill>
            <a:srgbClr val="BFBFBF"/>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50% of orderbook / fleet from PRC</a:t>
            </a:r>
          </a:p>
        </p:txBody>
      </p:sp>
      <p:sp>
        <p:nvSpPr>
          <p:cNvPr id="105" name="FlowNode"/>
          <p:cNvSpPr txBox="1"/>
          <p:nvPr/>
        </p:nvSpPr>
        <p:spPr>
          <a:xfrm>
            <a:off x="4835347" y="3951122"/>
            <a:ext cx="2249424" cy="293522"/>
          </a:xfrm>
          <a:prstGeom prst="rect">
            <a:avLst/>
          </a:prstGeom>
          <a:solidFill>
            <a:srgbClr val="3D997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Capital Subsidies</a:t>
            </a:r>
          </a:p>
        </p:txBody>
      </p:sp>
      <p:sp>
        <p:nvSpPr>
          <p:cNvPr id="106" name="FlowNode"/>
          <p:cNvSpPr txBox="1"/>
          <p:nvPr/>
        </p:nvSpPr>
        <p:spPr>
          <a:xfrm>
            <a:off x="2509114" y="2624328"/>
            <a:ext cx="2251253" cy="293522"/>
          </a:xfrm>
          <a:prstGeom prst="rect">
            <a:avLst/>
          </a:prstGeom>
          <a:solidFill>
            <a:srgbClr val="447BB2"/>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US Built Ships</a:t>
            </a:r>
          </a:p>
        </p:txBody>
      </p:sp>
      <p:sp>
        <p:nvSpPr>
          <p:cNvPr id="107" name="FlowNode"/>
          <p:cNvSpPr txBox="1"/>
          <p:nvPr/>
        </p:nvSpPr>
        <p:spPr>
          <a:xfrm>
            <a:off x="2509114" y="5271516"/>
            <a:ext cx="5488229" cy="293522"/>
          </a:xfrm>
          <a:prstGeom prst="rect">
            <a:avLst/>
          </a:prstGeom>
          <a:solidFill>
            <a:srgbClr val="C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Penalties</a:t>
            </a:r>
          </a:p>
        </p:txBody>
      </p:sp>
      <p:sp>
        <p:nvSpPr>
          <p:cNvPr id="108" name="FlowNode"/>
          <p:cNvSpPr txBox="1"/>
          <p:nvPr/>
        </p:nvSpPr>
        <p:spPr>
          <a:xfrm>
            <a:off x="2509114" y="6082589"/>
            <a:ext cx="1737360" cy="293522"/>
          </a:xfrm>
          <a:prstGeom prst="rect">
            <a:avLst/>
          </a:prstGeom>
          <a:solidFill>
            <a:srgbClr val="A6A6A6"/>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PRC owned/operated</a:t>
            </a:r>
          </a:p>
        </p:txBody>
      </p:sp>
      <p:sp>
        <p:nvSpPr>
          <p:cNvPr id="109" name="RegularTonnageTaxes"/>
          <p:cNvSpPr txBox="1"/>
          <p:nvPr/>
        </p:nvSpPr>
        <p:spPr>
          <a:xfrm>
            <a:off x="8038490" y="5271516"/>
            <a:ext cx="1828800" cy="293522"/>
          </a:xfrm>
          <a:prstGeom prst="rect">
            <a:avLst/>
          </a:prstGeom>
          <a:solidFill>
            <a:srgbClr val="FFC000"/>
          </a:solidFill>
          <a:ln w="3175">
            <a:solidFill>
              <a:srgbClr val="000000"/>
            </a:solid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Regular Tonnage Taxes </a:t>
            </a:r>
            <a:br/>
            <a:r>
              <a:rPr lang="en-US" sz="1000" i="1" dirty="0">
                <a:solidFill>
                  <a:srgbClr val="000000"/>
                </a:solidFill>
                <a:latin typeface="Arial"/>
                <a:ea typeface="Arial"/>
                <a:cs typeface="Arial"/>
              </a:rPr>
              <a:t>(Subject to exemptions)</a:t>
            </a:r>
          </a:p>
        </p:txBody>
      </p:sp>
      <p:sp>
        <p:nvSpPr>
          <p:cNvPr id="110" name="FlowNode"/>
          <p:cNvSpPr txBox="1"/>
          <p:nvPr/>
        </p:nvSpPr>
        <p:spPr>
          <a:xfrm>
            <a:off x="1061618" y="1296619"/>
            <a:ext cx="1371600" cy="1097280"/>
          </a:xfrm>
          <a:prstGeom prst="rect">
            <a:avLst/>
          </a:prstGeom>
          <a:solidFill>
            <a:srgbClr val="223E59"/>
          </a:solidFill>
          <a:ln w="12700">
            <a:solidFill>
              <a:srgbClr val="000000"/>
            </a:solidFill>
          </a:ln>
        </p:spPr>
        <p:txBody>
          <a:bodyPr wrap="square" anchor="ctr" lIns="91440" tIns="45720" rIns="91440" bIns="45720"/>
          <a:lstStyle/>
          <a:p>
            <a:pPr algn="ctr">
              <a:lnSpc>
                <a:spcPct val="100000"/>
              </a:lnSpc>
              <a:buNone/>
            </a:pPr>
            <a:r>
              <a:rPr lang="en-US" sz="1200" dirty="0">
                <a:solidFill>
                  <a:srgbClr val="FFFFFF"/>
                </a:solidFill>
                <a:latin typeface="Arial"/>
                <a:ea typeface="Arial"/>
                <a:cs typeface="Arial"/>
              </a:rPr>
              <a:t>US Shipbuilders</a:t>
            </a:r>
          </a:p>
        </p:txBody>
      </p:sp>
      <p:sp>
        <p:nvSpPr>
          <p:cNvPr id="111" name="FlowNode"/>
          <p:cNvSpPr txBox="1"/>
          <p:nvPr/>
        </p:nvSpPr>
        <p:spPr>
          <a:xfrm>
            <a:off x="1061618" y="2624328"/>
            <a:ext cx="1371600" cy="1097280"/>
          </a:xfrm>
          <a:prstGeom prst="rect">
            <a:avLst/>
          </a:prstGeom>
          <a:solidFill>
            <a:srgbClr val="447BB2"/>
          </a:solidFill>
          <a:ln w="12700">
            <a:solidFill>
              <a:srgbClr val="000000"/>
            </a:solidFill>
          </a:ln>
        </p:spPr>
        <p:txBody>
          <a:bodyPr wrap="square" anchor="ctr" lIns="91440" tIns="45720" rIns="91440" bIns="45720"/>
          <a:lstStyle/>
          <a:p>
            <a:pPr algn="ctr">
              <a:lnSpc>
                <a:spcPct val="100000"/>
              </a:lnSpc>
              <a:buNone/>
            </a:pPr>
            <a:r>
              <a:rPr lang="en-US" sz="1200" dirty="0">
                <a:solidFill>
                  <a:srgbClr val="FFFFFF"/>
                </a:solidFill>
                <a:latin typeface="Arial"/>
                <a:ea typeface="Arial"/>
                <a:cs typeface="Arial"/>
              </a:rPr>
              <a:t>US-Built, US-Flagged Vessel Owners / Operators</a:t>
            </a:r>
          </a:p>
        </p:txBody>
      </p:sp>
      <p:sp>
        <p:nvSpPr>
          <p:cNvPr id="112" name="FlowNode"/>
          <p:cNvSpPr txBox="1"/>
          <p:nvPr/>
        </p:nvSpPr>
        <p:spPr>
          <a:xfrm>
            <a:off x="1061618" y="5278831"/>
            <a:ext cx="1371600" cy="1097280"/>
          </a:xfrm>
          <a:prstGeom prst="rect">
            <a:avLst/>
          </a:prstGeom>
          <a:solidFill>
            <a:srgbClr val="808080"/>
          </a:solidFill>
          <a:ln w="12700">
            <a:solidFill>
              <a:srgbClr val="000000"/>
            </a:solidFill>
          </a:ln>
        </p:spPr>
        <p:txBody>
          <a:bodyPr wrap="square" anchor="ctr" lIns="91440" tIns="45720" rIns="91440" bIns="45720"/>
          <a:lstStyle/>
          <a:p>
            <a:pPr algn="ctr">
              <a:lnSpc>
                <a:spcPct val="100000"/>
              </a:lnSpc>
              <a:buNone/>
            </a:pPr>
            <a:r>
              <a:rPr lang="en-US" sz="1200" dirty="0">
                <a:solidFill>
                  <a:srgbClr val="FFFFFF"/>
                </a:solidFill>
                <a:latin typeface="Arial"/>
                <a:ea typeface="Arial"/>
                <a:cs typeface="Arial"/>
              </a:rPr>
              <a:t>Foreign Vessel Owners / Operators</a:t>
            </a:r>
          </a:p>
        </p:txBody>
      </p:sp>
      <p:pic>
        <p:nvPicPr>
          <p:cNvPr id="113" name="ForeignTierFlag"/>
          <p:cNvPicPr>
            <a:picLocks noChangeAspect="1"/>
          </p:cNvPicPr>
          <p:nvPr/>
        </p:nvPicPr>
        <p:blipFill>
          <a:blip r:embed="rId2"/>
          <a:stretch>
            <a:fillRect/>
          </a:stretch>
        </p:blipFill>
        <p:spPr>
          <a:xfrm>
            <a:off x="262433" y="5644591"/>
            <a:ext cx="548640" cy="365760"/>
          </a:xfrm>
          <a:prstGeom prst="rect">
            <a:avLst/>
          </a:prstGeom>
        </p:spPr>
      </p:pic>
      <p:pic>
        <p:nvPicPr>
          <p:cNvPr id="114" name="DomesticTierFlag"/>
          <p:cNvPicPr>
            <a:picLocks noChangeAspect="1"/>
          </p:cNvPicPr>
          <p:nvPr/>
        </p:nvPicPr>
        <p:blipFill>
          <a:blip r:embed="rId3"/>
          <a:stretch>
            <a:fillRect/>
          </a:stretch>
        </p:blipFill>
        <p:spPr>
          <a:xfrm>
            <a:off x="189281" y="1662379"/>
            <a:ext cx="694944" cy="365760"/>
          </a:xfrm>
          <a:prstGeom prst="rect">
            <a:avLst/>
          </a:prstGeom>
        </p:spPr>
      </p:pic>
      <p:sp>
        <p:nvSpPr>
          <p:cNvPr id="115" name="FlowNode"/>
          <p:cNvSpPr txBox="1"/>
          <p:nvPr/>
        </p:nvSpPr>
        <p:spPr>
          <a:xfrm>
            <a:off x="1061618" y="3951122"/>
            <a:ext cx="1371600" cy="1097280"/>
          </a:xfrm>
          <a:prstGeom prst="rect">
            <a:avLst/>
          </a:prstGeom>
          <a:solidFill>
            <a:srgbClr val="99B9D8"/>
          </a:solidFill>
          <a:ln w="12700">
            <a:solidFill>
              <a:srgbClr val="000000"/>
            </a:solidFill>
          </a:ln>
        </p:spPr>
        <p:txBody>
          <a:bodyPr wrap="square" anchor="ctr" lIns="91440" tIns="45720" rIns="91440" bIns="45720"/>
          <a:lstStyle/>
          <a:p>
            <a:pPr algn="ctr">
              <a:lnSpc>
                <a:spcPct val="100000"/>
              </a:lnSpc>
              <a:buNone/>
            </a:pPr>
            <a:r>
              <a:rPr lang="en-US" sz="1200" dirty="0">
                <a:solidFill>
                  <a:srgbClr val="000000"/>
                </a:solidFill>
                <a:latin typeface="Arial"/>
                <a:ea typeface="Arial"/>
                <a:cs typeface="Arial"/>
              </a:rPr>
              <a:t>US Government</a:t>
            </a:r>
          </a:p>
        </p:txBody>
      </p:sp>
      <p:sp>
        <p:nvSpPr>
          <p:cNvPr id="116" name="MaritimeSecurityTrustFund"/>
          <p:cNvSpPr txBox="1"/>
          <p:nvPr/>
        </p:nvSpPr>
        <p:spPr>
          <a:xfrm>
            <a:off x="2509114" y="4754880"/>
            <a:ext cx="9228125" cy="293522"/>
          </a:xfrm>
          <a:prstGeom prst="rect">
            <a:avLst/>
          </a:prstGeom>
          <a:solidFill>
            <a:srgbClr val="1B4332"/>
          </a:solidFill>
          <a:ln w="3175">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Maritime Security Trust Fund </a:t>
            </a:r>
            <a:r>
              <a:rPr lang="en-US" sz="1000" i="1" dirty="0">
                <a:solidFill>
                  <a:srgbClr val="FFFFFF"/>
                </a:solidFill>
                <a:latin typeface="Arial"/>
                <a:ea typeface="Arial"/>
                <a:cs typeface="Arial"/>
              </a:rPr>
              <a:t>($20B cap, appropriations specified from FY26-FY35)</a:t>
            </a:r>
          </a:p>
        </p:txBody>
      </p:sp>
      <p:cxnSp>
        <p:nvCxnSpPr>
          <p:cNvPr id="117" name="Connector: Elbow 43"/>
          <p:cNvCxnSpPr/>
          <p:nvPr/>
        </p:nvCxnSpPr>
        <p:spPr>
          <a:xfrm rot="5400000" flipH="1" flipV="1">
            <a:off x="4057193" y="4886554"/>
            <a:ext cx="516636" cy="1875434"/>
          </a:xfrm>
          <a:prstGeom prst="bentConnector3">
            <a:avLst/>
          </a:prstGeom>
          <a:ln w="12700">
            <a:solidFill>
              <a:srgbClr val="000000"/>
            </a:solidFill>
            <a:tailEnd type="triangle" w="med" len="med"/>
          </a:ln>
        </p:spPr>
      </p:cxnSp>
      <p:cxnSp>
        <p:nvCxnSpPr>
          <p:cNvPr id="118" name="Connector: Elbow 44"/>
          <p:cNvCxnSpPr/>
          <p:nvPr/>
        </p:nvCxnSpPr>
        <p:spPr>
          <a:xfrm rot="16200000" flipV="1">
            <a:off x="5932627" y="4886554"/>
            <a:ext cx="516636" cy="1875434"/>
          </a:xfrm>
          <a:prstGeom prst="bentConnector3">
            <a:avLst/>
          </a:prstGeom>
          <a:ln w="12700">
            <a:solidFill>
              <a:srgbClr val="000000"/>
            </a:solidFill>
            <a:tailEnd type="triangle" w="med" len="med"/>
          </a:ln>
        </p:spPr>
      </p:cxnSp>
      <p:cxnSp>
        <p:nvCxnSpPr>
          <p:cNvPr id="119" name="Connector: Elbow 50"/>
          <p:cNvCxnSpPr/>
          <p:nvPr/>
        </p:nvCxnSpPr>
        <p:spPr>
          <a:xfrm rot="5400000" flipH="1" flipV="1">
            <a:off x="6077102" y="4225442"/>
            <a:ext cx="223114" cy="1869948"/>
          </a:xfrm>
          <a:prstGeom prst="bentConnector3">
            <a:avLst/>
          </a:prstGeom>
          <a:ln w="12700">
            <a:solidFill>
              <a:srgbClr val="000000"/>
            </a:solidFill>
            <a:tailEnd type="triangle" w="med" len="med"/>
          </a:ln>
        </p:spPr>
      </p:cxnSp>
      <p:cxnSp>
        <p:nvCxnSpPr>
          <p:cNvPr id="120" name="Connector: Elbow 54"/>
          <p:cNvCxnSpPr/>
          <p:nvPr/>
        </p:nvCxnSpPr>
        <p:spPr>
          <a:xfrm rot="16200000" flipV="1">
            <a:off x="7926934" y="4245559"/>
            <a:ext cx="223114" cy="1829714"/>
          </a:xfrm>
          <a:prstGeom prst="bentConnector3">
            <a:avLst/>
          </a:prstGeom>
          <a:ln w="12700">
            <a:solidFill>
              <a:srgbClr val="000000"/>
            </a:solidFill>
            <a:tailEnd type="triangle" w="med" len="med"/>
          </a:ln>
        </p:spPr>
      </p:cxnSp>
      <p:pic>
        <p:nvPicPr>
          <p:cNvPr id="121" name="OwnerTierFlag"/>
          <p:cNvPicPr>
            <a:picLocks noChangeAspect="1"/>
          </p:cNvPicPr>
          <p:nvPr/>
        </p:nvPicPr>
        <p:blipFill>
          <a:blip r:embed="rId3"/>
          <a:stretch>
            <a:fillRect/>
          </a:stretch>
        </p:blipFill>
        <p:spPr>
          <a:xfrm>
            <a:off x="189281" y="2990088"/>
            <a:ext cx="694944" cy="365760"/>
          </a:xfrm>
          <a:prstGeom prst="rect">
            <a:avLst/>
          </a:prstGeom>
        </p:spPr>
      </p:pic>
      <p:pic>
        <p:nvPicPr>
          <p:cNvPr id="122" name="GovernmentTierFlag"/>
          <p:cNvPicPr>
            <a:picLocks noChangeAspect="1"/>
          </p:cNvPicPr>
          <p:nvPr/>
        </p:nvPicPr>
        <p:blipFill>
          <a:blip r:embed="rId3"/>
          <a:stretch>
            <a:fillRect/>
          </a:stretch>
        </p:blipFill>
        <p:spPr>
          <a:xfrm>
            <a:off x="189281" y="4316882"/>
            <a:ext cx="694944" cy="365760"/>
          </a:xfrm>
          <a:prstGeom prst="rect">
            <a:avLst/>
          </a:prstGeom>
        </p:spPr>
      </p:pic>
      <p:cxnSp>
        <p:nvCxnSpPr>
          <p:cNvPr id="123" name="Connector: Elbow 65"/>
          <p:cNvCxnSpPr/>
          <p:nvPr/>
        </p:nvCxnSpPr>
        <p:spPr>
          <a:xfrm rot="5400000" flipH="1" flipV="1">
            <a:off x="7449617" y="3919118"/>
            <a:ext cx="510235" cy="1162202"/>
          </a:xfrm>
          <a:prstGeom prst="bentConnector3">
            <a:avLst/>
          </a:prstGeom>
          <a:ln w="12700">
            <a:solidFill>
              <a:srgbClr val="000000"/>
            </a:solidFill>
            <a:tailEnd type="triangle" w="med" len="med"/>
          </a:ln>
        </p:spPr>
      </p:cxnSp>
      <p:cxnSp>
        <p:nvCxnSpPr>
          <p:cNvPr id="124" name="Connector: Elbow 69"/>
          <p:cNvCxnSpPr/>
          <p:nvPr/>
        </p:nvCxnSpPr>
        <p:spPr>
          <a:xfrm rot="16200000" flipV="1">
            <a:off x="6286500" y="3918204"/>
            <a:ext cx="510235" cy="1163117"/>
          </a:xfrm>
          <a:prstGeom prst="bentConnector3">
            <a:avLst/>
          </a:prstGeom>
          <a:ln w="12700">
            <a:solidFill>
              <a:srgbClr val="000000"/>
            </a:solidFill>
            <a:tailEnd type="triangle" w="med" len="med"/>
          </a:ln>
        </p:spPr>
      </p:cxnSp>
      <p:cxnSp>
        <p:nvCxnSpPr>
          <p:cNvPr id="125" name="Connector: Elbow 72"/>
          <p:cNvCxnSpPr/>
          <p:nvPr/>
        </p:nvCxnSpPr>
        <p:spPr>
          <a:xfrm>
            <a:off x="2433218" y="1845259"/>
            <a:ext cx="1201522" cy="779069"/>
          </a:xfrm>
          <a:prstGeom prst="bentConnector2">
            <a:avLst/>
          </a:prstGeom>
          <a:ln w="12700">
            <a:solidFill>
              <a:srgbClr val="000000"/>
            </a:solidFill>
            <a:tailEnd type="triangle" w="med" len="med"/>
          </a:ln>
        </p:spPr>
      </p:cxnSp>
      <p:cxnSp>
        <p:nvCxnSpPr>
          <p:cNvPr id="126" name="Connector: Elbow 86"/>
          <p:cNvCxnSpPr/>
          <p:nvPr/>
        </p:nvCxnSpPr>
        <p:spPr>
          <a:xfrm rot="16200000" flipV="1">
            <a:off x="4280306" y="2272284"/>
            <a:ext cx="1034186" cy="2325319"/>
          </a:xfrm>
          <a:prstGeom prst="bentConnector3">
            <a:avLst/>
          </a:prstGeom>
          <a:ln w="12700">
            <a:solidFill>
              <a:srgbClr val="000000"/>
            </a:solidFill>
            <a:tailEnd type="triangle" w="med" len="med"/>
          </a:ln>
        </p:spPr>
      </p:cxnSp>
      <p:cxnSp>
        <p:nvCxnSpPr>
          <p:cNvPr id="127" name="Connector: Elbow 89"/>
          <p:cNvCxnSpPr/>
          <p:nvPr/>
        </p:nvCxnSpPr>
        <p:spPr>
          <a:xfrm rot="16200000" flipV="1">
            <a:off x="5443423" y="1109167"/>
            <a:ext cx="1034186" cy="4650638"/>
          </a:xfrm>
          <a:prstGeom prst="bentConnector3">
            <a:avLst/>
          </a:prstGeom>
          <a:ln w="12700">
            <a:solidFill>
              <a:srgbClr val="000000"/>
            </a:solidFill>
            <a:tailEnd type="triangle" w="med" len="med"/>
          </a:ln>
        </p:spPr>
      </p:cxnSp>
      <p:sp>
        <p:nvSpPr>
          <p:cNvPr id="128" name="SCFTarget"/>
          <p:cNvSpPr txBox="1"/>
          <p:nvPr/>
        </p:nvSpPr>
        <p:spPr>
          <a:xfrm>
            <a:off x="7998257" y="2134210"/>
            <a:ext cx="3738067" cy="748894"/>
          </a:xfrm>
          <a:prstGeom prst="rect">
            <a:avLst/>
          </a:prstGeom>
          <a:solidFill>
            <a:srgbClr val="0E1924"/>
          </a:solidFill>
          <a:ln w="3175">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Strategic Commercial Fleet (SCF)</a:t>
            </a:r>
            <a:br/>
            <a:r>
              <a:rPr lang="en-US" sz="1000" i="1" dirty="0">
                <a:solidFill>
                  <a:srgbClr val="FFFFFF"/>
                </a:solidFill>
                <a:latin typeface="Arial"/>
                <a:ea typeface="Arial"/>
                <a:cs typeface="Arial"/>
              </a:rPr>
              <a:t>(250 commercial ships for foreign trade only; </a:t>
            </a:r>
            <a:r>
              <a:rPr lang="en-US" sz="1000" b="1" i="1" dirty="0">
                <a:solidFill>
                  <a:srgbClr val="FFFFFF"/>
                </a:solidFill>
                <a:latin typeface="Arial"/>
                <a:ea typeface="Arial"/>
                <a:cs typeface="Arial"/>
              </a:rPr>
              <a:t>permanently ineligible for coastwise trade i.e., Jones Act</a:t>
            </a:r>
            <a:r>
              <a:rPr lang="en-US" sz="1000" i="1" dirty="0">
                <a:solidFill>
                  <a:srgbClr val="FFFFFF"/>
                </a:solidFill>
                <a:latin typeface="Arial"/>
                <a:ea typeface="Arial"/>
                <a:cs typeface="Arial"/>
              </a:rPr>
              <a:t>)</a:t>
            </a:r>
          </a:p>
        </p:txBody>
      </p:sp>
      <p:sp>
        <p:nvSpPr>
          <p:cNvPr id="129" name="EdgeVerb"/>
          <p:cNvSpPr txBox="1"/>
          <p:nvPr/>
        </p:nvSpPr>
        <p:spPr>
          <a:xfrm>
            <a:off x="2720340" y="1762049"/>
            <a:ext cx="553212" cy="165506"/>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Sells</a:t>
            </a:r>
          </a:p>
        </p:txBody>
      </p:sp>
      <p:sp>
        <p:nvSpPr>
          <p:cNvPr id="130" name="EdgeVerb"/>
          <p:cNvSpPr txBox="1"/>
          <p:nvPr/>
        </p:nvSpPr>
        <p:spPr>
          <a:xfrm>
            <a:off x="4834433" y="3554273"/>
            <a:ext cx="4574743"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Paid to US vessel owner / operators for each ship in SCF</a:t>
            </a:r>
          </a:p>
        </p:txBody>
      </p:sp>
      <p:sp>
        <p:nvSpPr>
          <p:cNvPr id="131" name="EdgeVerb"/>
          <p:cNvSpPr txBox="1"/>
          <p:nvPr/>
        </p:nvSpPr>
        <p:spPr>
          <a:xfrm>
            <a:off x="5998464" y="4538167"/>
            <a:ext cx="2249424"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Disburses</a:t>
            </a:r>
          </a:p>
        </p:txBody>
      </p:sp>
      <p:sp>
        <p:nvSpPr>
          <p:cNvPr id="132" name="EdgeVerb"/>
          <p:cNvSpPr txBox="1"/>
          <p:nvPr/>
        </p:nvSpPr>
        <p:spPr>
          <a:xfrm>
            <a:off x="5748833" y="2548433"/>
            <a:ext cx="1320394" cy="18105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Placed into service </a:t>
            </a:r>
          </a:p>
        </p:txBody>
      </p:sp>
      <p:sp>
        <p:nvSpPr>
          <p:cNvPr id="133" name="EdgeVerb"/>
          <p:cNvSpPr txBox="1"/>
          <p:nvPr/>
        </p:nvSpPr>
        <p:spPr>
          <a:xfrm>
            <a:off x="1878178" y="2423160"/>
            <a:ext cx="553212" cy="165506"/>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Buys</a:t>
            </a:r>
          </a:p>
        </p:txBody>
      </p:sp>
      <p:sp>
        <p:nvSpPr>
          <p:cNvPr id="134" name="EdgeVerb"/>
          <p:cNvSpPr txBox="1"/>
          <p:nvPr/>
        </p:nvSpPr>
        <p:spPr>
          <a:xfrm>
            <a:off x="4972507" y="5746090"/>
            <a:ext cx="562356"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Pays</a:t>
            </a:r>
          </a:p>
        </p:txBody>
      </p:sp>
      <p:sp>
        <p:nvSpPr>
          <p:cNvPr id="135" name="EdgeVerb"/>
          <p:cNvSpPr txBox="1"/>
          <p:nvPr/>
        </p:nvSpPr>
        <p:spPr>
          <a:xfrm>
            <a:off x="8672170" y="5746090"/>
            <a:ext cx="562356"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Pays</a:t>
            </a:r>
          </a:p>
        </p:txBody>
      </p:sp>
      <p:sp>
        <p:nvSpPr>
          <p:cNvPr id="136" name="EdgeVerb"/>
          <p:cNvSpPr txBox="1"/>
          <p:nvPr/>
        </p:nvSpPr>
        <p:spPr>
          <a:xfrm>
            <a:off x="10496398" y="5740603"/>
            <a:ext cx="562356" cy="1664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Pays</a:t>
            </a:r>
          </a:p>
        </p:txBody>
      </p:sp>
      <p:cxnSp>
        <p:nvCxnSpPr>
          <p:cNvPr id="137" name="Connector: Elbow 137"/>
          <p:cNvCxnSpPr/>
          <p:nvPr/>
        </p:nvCxnSpPr>
        <p:spPr>
          <a:xfrm flipV="1">
            <a:off x="4760366" y="2509114"/>
            <a:ext cx="3237890" cy="261518"/>
          </a:xfrm>
          <a:prstGeom prst="bentConnector3">
            <a:avLst/>
          </a:prstGeom>
          <a:ln w="12700">
            <a:solidFill>
              <a:srgbClr val="000000"/>
            </a:solidFill>
            <a:tailEnd type="triangle" w="med" len="med"/>
          </a:ln>
        </p:spPr>
      </p:cxnSp>
      <p:cxnSp>
        <p:nvCxnSpPr>
          <p:cNvPr id="138" name="Straight Arrow Connector 147"/>
          <p:cNvCxnSpPr/>
          <p:nvPr/>
        </p:nvCxnSpPr>
        <p:spPr>
          <a:xfrm flipV="1">
            <a:off x="1747418" y="2393899"/>
            <a:ext cx="0" cy="230429"/>
          </a:xfrm>
          <a:prstGeom prst="line">
            <a:avLst/>
          </a:prstGeom>
          <a:ln w="12700">
            <a:solidFill>
              <a:srgbClr val="000000"/>
            </a:solidFill>
            <a:tailEnd type="triangle" w="med" len="med"/>
          </a:ln>
        </p:spPr>
      </p:cxnSp>
      <p:cxnSp>
        <p:nvCxnSpPr>
          <p:cNvPr id="139" name="Straight Arrow Connector 189"/>
          <p:cNvCxnSpPr/>
          <p:nvPr/>
        </p:nvCxnSpPr>
        <p:spPr>
          <a:xfrm flipV="1">
            <a:off x="5253228" y="5565953"/>
            <a:ext cx="0" cy="516636"/>
          </a:xfrm>
          <a:prstGeom prst="line">
            <a:avLst/>
          </a:prstGeom>
          <a:ln w="12700">
            <a:solidFill>
              <a:srgbClr val="000000"/>
            </a:solidFill>
            <a:tailEnd type="triangle" w="med" len="med"/>
          </a:ln>
        </p:spPr>
      </p:cxnSp>
      <p:cxnSp>
        <p:nvCxnSpPr>
          <p:cNvPr id="140" name="Straight Arrow Connector 193"/>
          <p:cNvCxnSpPr/>
          <p:nvPr/>
        </p:nvCxnSpPr>
        <p:spPr>
          <a:xfrm flipH="1" flipV="1">
            <a:off x="8952890" y="5565953"/>
            <a:ext cx="0" cy="516636"/>
          </a:xfrm>
          <a:prstGeom prst="line">
            <a:avLst/>
          </a:prstGeom>
          <a:ln w="12700">
            <a:solidFill>
              <a:srgbClr val="000000"/>
            </a:solidFill>
            <a:tailEnd type="triangle" w="med" len="med"/>
          </a:ln>
        </p:spPr>
      </p:cxnSp>
      <p:sp>
        <p:nvSpPr>
          <p:cNvPr id="141" name="TaxCreditNote"/>
          <p:cNvSpPr txBox="1"/>
          <p:nvPr/>
        </p:nvSpPr>
        <p:spPr>
          <a:xfrm>
            <a:off x="8919058" y="1296619"/>
            <a:ext cx="2816352" cy="544068"/>
          </a:xfrm>
          <a:prstGeom prst="rect">
            <a:avLst/>
          </a:prstGeom>
          <a:noFill/>
          <a:ln w="3175">
            <a:solidFill>
              <a:srgbClr val="000000"/>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Vessel and Shipyard Investment Tax Credits (40% and 25%, respectively) from Building Ships in America Act not shown</a:t>
            </a:r>
          </a:p>
        </p:txBody>
      </p:sp>
      <p:sp>
        <p:nvSpPr>
          <p:cNvPr id="142" name="CargoFees"/>
          <p:cNvSpPr txBox="1"/>
          <p:nvPr/>
        </p:nvSpPr>
        <p:spPr>
          <a:xfrm>
            <a:off x="9908438" y="5271516"/>
            <a:ext cx="1828800" cy="293522"/>
          </a:xfrm>
          <a:prstGeom prst="rect">
            <a:avLst/>
          </a:prstGeom>
          <a:solidFill>
            <a:srgbClr val="FB6B3C"/>
          </a:solidFill>
          <a:ln w="3175">
            <a:solidFill>
              <a:srgbClr val="000000"/>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Cargo Fees ($0.01+ / kg)</a:t>
            </a:r>
            <a:br/>
            <a:r>
              <a:rPr lang="en-US" sz="1000" i="1" dirty="0">
                <a:solidFill>
                  <a:srgbClr val="FFFFFF"/>
                </a:solidFill>
                <a:latin typeface="Arial"/>
                <a:ea typeface="Arial"/>
                <a:cs typeface="Arial"/>
              </a:rPr>
              <a:t>SHIPS Act “Plus” only</a:t>
            </a:r>
          </a:p>
        </p:txBody>
      </p:sp>
      <p:cxnSp>
        <p:nvCxnSpPr>
          <p:cNvPr id="143" name="Connector: Elbow 204"/>
          <p:cNvCxnSpPr/>
          <p:nvPr/>
        </p:nvCxnSpPr>
        <p:spPr>
          <a:xfrm flipV="1">
            <a:off x="9908438" y="5565953"/>
            <a:ext cx="914400" cy="640080"/>
          </a:xfrm>
          <a:prstGeom prst="bentConnector2">
            <a:avLst/>
          </a:prstGeom>
          <a:ln w="12700">
            <a:solidFill>
              <a:srgbClr val="000000"/>
            </a:solidFill>
            <a:tailEnd type="triangle" w="med" len="med"/>
          </a:ln>
        </p:spPr>
      </p:cxnSp>
      <p:cxnSp>
        <p:nvCxnSpPr>
          <p:cNvPr id="144" name="Connector: Elbow 208"/>
          <p:cNvCxnSpPr/>
          <p:nvPr/>
        </p:nvCxnSpPr>
        <p:spPr>
          <a:xfrm rot="16200000" flipV="1">
            <a:off x="8861450" y="3310128"/>
            <a:ext cx="223114" cy="3699662"/>
          </a:xfrm>
          <a:prstGeom prst="bentConnector3">
            <a:avLst/>
          </a:prstGeom>
          <a:ln w="12700">
            <a:solidFill>
              <a:srgbClr val="000000"/>
            </a:solidFill>
            <a:tailEnd type="triangle" w="med" len="med"/>
          </a:ln>
        </p:spPr>
      </p:cxnSp>
      <p:sp>
        <p:nvSpPr>
          <p:cNvPr id="145" name="PlusRowMarker"/>
          <p:cNvSpPr txBox="1"/>
          <p:nvPr/>
        </p:nvSpPr>
        <p:spPr>
          <a:xfrm>
            <a:off x="159106" y="6082589"/>
            <a:ext cx="756209" cy="293522"/>
          </a:xfrm>
          <a:prstGeom prst="rect">
            <a:avLst/>
          </a:prstGeom>
          <a:no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 ROW</a:t>
            </a:r>
          </a:p>
        </p:txBody>
      </p:sp>
      <p:sp>
        <p:nvSpPr>
          <p:cNvPr id="146" name="BottomToTopNote"/>
          <p:cNvSpPr txBox="1"/>
          <p:nvPr/>
        </p:nvSpPr>
        <p:spPr>
          <a:xfrm>
            <a:off x="127102" y="1024128"/>
            <a:ext cx="2816352" cy="224028"/>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Chart reads from bottom to top</a:t>
            </a:r>
          </a:p>
        </p:txBody>
      </p:sp>
      <p:sp>
        <p:nvSpPr>
          <p:cNvPr id="147" name="CrewRequirementCallout"/>
          <p:cNvSpPr txBox="1"/>
          <p:nvPr/>
        </p:nvSpPr>
        <p:spPr>
          <a:xfrm>
            <a:off x="4215384" y="1986991"/>
            <a:ext cx="1790395" cy="466344"/>
          </a:xfrm>
          <a:prstGeom prst="wedgeRectCallout">
            <a:avLst>
              <a:gd name="adj1" fmla="val 41650"/>
              <a:gd name="adj2" fmla="val 74944"/>
            </a:avLst>
          </a:prstGeom>
          <a:noFill/>
          <a:ln w="3175">
            <a:solidFill>
              <a:srgbClr val="000000"/>
            </a:solid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US crew required to participate in SCF; SHIPS Act states vessels will be crewed IAW </a:t>
            </a:r>
            <a:r>
              <a:rPr lang="en-US" sz="800" i="1" dirty="0">
                <a:solidFill>
                  <a:srgbClr val="000000"/>
                </a:solidFill>
                <a:latin typeface="Arial"/>
                <a:ea typeface="Arial"/>
                <a:cs typeface="Arial"/>
              </a:rPr>
              <a:t>46 USC 8103</a:t>
            </a:r>
            <a:r>
              <a:rPr lang="en-US" sz="800" i="1" dirty="0">
                <a:solidFill>
                  <a:srgbClr val="000000"/>
                </a:solidFill>
                <a:latin typeface="Arial"/>
                <a:ea typeface="Arial"/>
                <a:cs typeface="Arial"/>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2000" name="Title 3"/>
          <p:cNvSpPr>
            <a:spLocks noGrp="1"/>
          </p:cNvSpPr>
          <p:nvPr>
            <p:ph type="title"/>
          </p:nvPr>
        </p:nvSpPr>
        <p:spPr/>
        <p:txBody>
          <a:bodyPr vert="horz"/>
          <a:lstStyle/>
          <a:p>
            <a:pPr marL="0"/>
            <a:r>
              <a:rPr lang="en-US" dirty="0">
                <a:solidFill>
                  <a:srgbClr val="000000"/>
                </a:solidFill>
              </a:rPr>
              <a:t>Approach to find TCV | </a:t>
            </a:r>
            <a:r>
              <a:rPr lang="en" dirty="0">
                <a:solidFill>
                  <a:srgbClr val="000000"/>
                </a:solidFill>
              </a:rPr>
              <a:t>IAMD (OBBBA and SHIELD)</a:t>
            </a:r>
            <a:endParaRPr lang="en-US" dirty="0">
              <a:solidFill>
                <a:srgbClr val="000000"/>
              </a:solidFill>
            </a:endParaRPr>
          </a:p>
        </p:txBody>
      </p:sp>
      <p:sp>
        <p:nvSpPr>
          <p:cNvPr id="100" name="StepOne"/>
          <p:cNvSpPr txBox="1"/>
          <p:nvPr/>
        </p:nvSpPr>
        <p:spPr>
          <a:xfrm>
            <a:off x="477317" y="1720901"/>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relevant OBBBA items </a:t>
            </a:r>
            <a:r>
              <a:rPr lang="en-US" sz="1000" i="1" dirty="0">
                <a:solidFill>
                  <a:srgbClr val="000000"/>
                </a:solidFill>
                <a:latin typeface="Arial"/>
                <a:ea typeface="Arial"/>
                <a:cs typeface="Arial"/>
              </a:rPr>
              <a:t>(items shown are not exhaustive)</a:t>
            </a:r>
          </a:p>
        </p:txBody>
      </p:sp>
      <p:sp>
        <p:nvSpPr>
          <p:cNvPr id="101" name="ApproachStep"/>
          <p:cNvSpPr txBox="1"/>
          <p:nvPr/>
        </p:nvSpPr>
        <p:spPr>
          <a:xfrm>
            <a:off x="477317" y="2390242"/>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Allocate to domains to find maritime-specific funding</a:t>
            </a:r>
          </a:p>
        </p:txBody>
      </p:sp>
      <p:sp>
        <p:nvSpPr>
          <p:cNvPr id="102" name="ApproachStep"/>
          <p:cNvSpPr txBox="1"/>
          <p:nvPr/>
        </p:nvSpPr>
        <p:spPr>
          <a:xfrm>
            <a:off x="477317" y="3728009"/>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Multiply by FY allocations to find TAM by year</a:t>
            </a:r>
          </a:p>
        </p:txBody>
      </p:sp>
      <p:sp>
        <p:nvSpPr>
          <p:cNvPr id="103" name="ApproachStep"/>
          <p:cNvSpPr txBox="1"/>
          <p:nvPr/>
        </p:nvSpPr>
        <p:spPr>
          <a:xfrm>
            <a:off x="477317" y="4396435"/>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Multiply by unmanned adoption rate to find SAM</a:t>
            </a:r>
          </a:p>
        </p:txBody>
      </p:sp>
      <p:sp>
        <p:nvSpPr>
          <p:cNvPr id="104" name="ApproachStep"/>
          <p:cNvSpPr txBox="1"/>
          <p:nvPr/>
        </p:nvSpPr>
        <p:spPr>
          <a:xfrm>
            <a:off x="477317" y="5065776"/>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6. Multiply by Saronic market share to find Company TCV</a:t>
            </a:r>
          </a:p>
        </p:txBody>
      </p:sp>
      <p:sp>
        <p:nvSpPr>
          <p:cNvPr id="105" name="ApproachStep"/>
          <p:cNvSpPr txBox="1"/>
          <p:nvPr/>
        </p:nvSpPr>
        <p:spPr>
          <a:xfrm>
            <a:off x="477317" y="3058668"/>
            <a:ext cx="218084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Allocate to kill chain roles to find Total Funding</a:t>
            </a:r>
          </a:p>
        </p:txBody>
      </p:sp>
      <p:sp>
        <p:nvSpPr>
          <p:cNvPr id="106" name="FlowNode"/>
          <p:cNvSpPr txBox="1"/>
          <p:nvPr/>
        </p:nvSpPr>
        <p:spPr>
          <a:xfrm>
            <a:off x="10303459" y="3215945"/>
            <a:ext cx="1707185" cy="328270"/>
          </a:xfrm>
          <a:prstGeom prst="rect">
            <a:avLst/>
          </a:prstGeom>
          <a:solidFill>
            <a:srgbClr val="E2E9EF"/>
          </a:solidFill>
          <a:ln w="3175">
            <a:solidFill>
              <a:srgbClr val="162029"/>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Total Funding ($)</a:t>
            </a:r>
          </a:p>
        </p:txBody>
      </p:sp>
      <p:sp>
        <p:nvSpPr>
          <p:cNvPr id="107" name="FlowNode"/>
          <p:cNvSpPr txBox="1"/>
          <p:nvPr/>
        </p:nvSpPr>
        <p:spPr>
          <a:xfrm>
            <a:off x="8445398" y="2546604"/>
            <a:ext cx="1341425"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Space</a:t>
            </a:r>
          </a:p>
        </p:txBody>
      </p:sp>
      <p:sp>
        <p:nvSpPr>
          <p:cNvPr id="108" name="FlowNode"/>
          <p:cNvSpPr txBox="1"/>
          <p:nvPr/>
        </p:nvSpPr>
        <p:spPr>
          <a:xfrm>
            <a:off x="7004304" y="2546604"/>
            <a:ext cx="1341425"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Ground</a:t>
            </a:r>
          </a:p>
        </p:txBody>
      </p:sp>
      <p:sp>
        <p:nvSpPr>
          <p:cNvPr id="109" name="FlowNode"/>
          <p:cNvSpPr txBox="1"/>
          <p:nvPr/>
        </p:nvSpPr>
        <p:spPr>
          <a:xfrm>
            <a:off x="10303459" y="3884371"/>
            <a:ext cx="1707185" cy="328270"/>
          </a:xfrm>
          <a:prstGeom prst="rect">
            <a:avLst/>
          </a:prstGeom>
          <a:solidFill>
            <a:srgbClr val="B6C8D8"/>
          </a:solidFill>
          <a:ln w="3175">
            <a:solidFill>
              <a:srgbClr val="162029"/>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TAM ($)</a:t>
            </a:r>
          </a:p>
        </p:txBody>
      </p:sp>
      <p:sp>
        <p:nvSpPr>
          <p:cNvPr id="110" name="FlowNode"/>
          <p:cNvSpPr txBox="1"/>
          <p:nvPr/>
        </p:nvSpPr>
        <p:spPr>
          <a:xfrm>
            <a:off x="2733142" y="3884371"/>
            <a:ext cx="2072030" cy="328270"/>
          </a:xfrm>
          <a:prstGeom prst="rect">
            <a:avLst/>
          </a:prstGeom>
          <a:solidFill>
            <a:srgbClr val="E2E9EF"/>
          </a:solidFill>
          <a:ln w="3175">
            <a:solidFill>
              <a:srgbClr val="162029"/>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Total Funding ($)</a:t>
            </a:r>
          </a:p>
        </p:txBody>
      </p:sp>
      <p:sp>
        <p:nvSpPr>
          <p:cNvPr id="111" name="FlowNode"/>
          <p:cNvSpPr txBox="1"/>
          <p:nvPr/>
        </p:nvSpPr>
        <p:spPr>
          <a:xfrm>
            <a:off x="2733142" y="4552798"/>
            <a:ext cx="2072030" cy="328270"/>
          </a:xfrm>
          <a:prstGeom prst="rect">
            <a:avLst/>
          </a:prstGeom>
          <a:solidFill>
            <a:srgbClr val="B6C8D8"/>
          </a:solidFill>
          <a:ln w="3175">
            <a:solidFill>
              <a:srgbClr val="162029"/>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TAM ($)</a:t>
            </a:r>
          </a:p>
        </p:txBody>
      </p:sp>
      <p:sp>
        <p:nvSpPr>
          <p:cNvPr id="112" name="FlowNode"/>
          <p:cNvSpPr txBox="1"/>
          <p:nvPr/>
        </p:nvSpPr>
        <p:spPr>
          <a:xfrm>
            <a:off x="7583119" y="3215030"/>
            <a:ext cx="1060704"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Sensors</a:t>
            </a:r>
          </a:p>
        </p:txBody>
      </p:sp>
      <p:sp>
        <p:nvSpPr>
          <p:cNvPr id="113" name="FlowNode"/>
          <p:cNvSpPr txBox="1"/>
          <p:nvPr/>
        </p:nvSpPr>
        <p:spPr>
          <a:xfrm>
            <a:off x="8726119" y="3215030"/>
            <a:ext cx="1060704"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Combat Sys. Integration</a:t>
            </a:r>
          </a:p>
        </p:txBody>
      </p:sp>
      <p:sp>
        <p:nvSpPr>
          <p:cNvPr id="114" name="FlowNode"/>
          <p:cNvSpPr txBox="1"/>
          <p:nvPr/>
        </p:nvSpPr>
        <p:spPr>
          <a:xfrm>
            <a:off x="5562295" y="2546604"/>
            <a:ext cx="1341425"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Maritime</a:t>
            </a:r>
          </a:p>
        </p:txBody>
      </p:sp>
      <p:sp>
        <p:nvSpPr>
          <p:cNvPr id="115" name="FlowNode"/>
          <p:cNvSpPr txBox="1"/>
          <p:nvPr/>
        </p:nvSpPr>
        <p:spPr>
          <a:xfrm>
            <a:off x="7713878" y="3884371"/>
            <a:ext cx="2072945"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FY allocations (%)</a:t>
            </a:r>
          </a:p>
        </p:txBody>
      </p:sp>
      <p:sp>
        <p:nvSpPr>
          <p:cNvPr id="116" name="FlowNode"/>
          <p:cNvSpPr txBox="1"/>
          <p:nvPr/>
        </p:nvSpPr>
        <p:spPr>
          <a:xfrm>
            <a:off x="7714793" y="4552798"/>
            <a:ext cx="2072030"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Unmanned adoption (%)</a:t>
            </a:r>
          </a:p>
        </p:txBody>
      </p:sp>
      <p:sp>
        <p:nvSpPr>
          <p:cNvPr id="117" name="FlowNode"/>
          <p:cNvSpPr txBox="1"/>
          <p:nvPr/>
        </p:nvSpPr>
        <p:spPr>
          <a:xfrm>
            <a:off x="7714793" y="5222138"/>
            <a:ext cx="2072030"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Saronic market share (%)</a:t>
            </a:r>
          </a:p>
        </p:txBody>
      </p:sp>
      <p:sp>
        <p:nvSpPr>
          <p:cNvPr id="118" name="FlowNode"/>
          <p:cNvSpPr txBox="1"/>
          <p:nvPr/>
        </p:nvSpPr>
        <p:spPr>
          <a:xfrm>
            <a:off x="10303459" y="2546604"/>
            <a:ext cx="1707185"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Maritime-specific funding ($)</a:t>
            </a:r>
          </a:p>
        </p:txBody>
      </p:sp>
      <p:sp>
        <p:nvSpPr>
          <p:cNvPr id="119" name="FlowNode"/>
          <p:cNvSpPr txBox="1"/>
          <p:nvPr/>
        </p:nvSpPr>
        <p:spPr>
          <a:xfrm>
            <a:off x="2733142" y="2546604"/>
            <a:ext cx="2072945"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Relevant OBBBA items ($) </a:t>
            </a:r>
          </a:p>
        </p:txBody>
      </p:sp>
      <p:sp>
        <p:nvSpPr>
          <p:cNvPr id="120" name="FlowNode"/>
          <p:cNvSpPr txBox="1"/>
          <p:nvPr/>
        </p:nvSpPr>
        <p:spPr>
          <a:xfrm>
            <a:off x="2733142" y="1878178"/>
            <a:ext cx="1925726"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Hypersonic test bed program ($)</a:t>
            </a:r>
          </a:p>
        </p:txBody>
      </p:sp>
      <p:sp>
        <p:nvSpPr>
          <p:cNvPr id="121" name="FlowNode"/>
          <p:cNvSpPr txBox="1"/>
          <p:nvPr/>
        </p:nvSpPr>
        <p:spPr>
          <a:xfrm>
            <a:off x="7861097" y="1878178"/>
            <a:ext cx="1925726"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Hypersonic defense systems ($)</a:t>
            </a:r>
          </a:p>
        </p:txBody>
      </p:sp>
      <p:sp>
        <p:nvSpPr>
          <p:cNvPr id="122" name="FlowNode"/>
          <p:cNvSpPr txBox="1"/>
          <p:nvPr/>
        </p:nvSpPr>
        <p:spPr>
          <a:xfrm>
            <a:off x="5297119" y="1878178"/>
            <a:ext cx="1925726"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Military missile defense capabilities ($)</a:t>
            </a:r>
          </a:p>
        </p:txBody>
      </p:sp>
      <p:sp>
        <p:nvSpPr>
          <p:cNvPr id="123" name="FlowNode"/>
          <p:cNvSpPr txBox="1"/>
          <p:nvPr/>
        </p:nvSpPr>
        <p:spPr>
          <a:xfrm>
            <a:off x="10303459" y="1878178"/>
            <a:ext cx="1707185" cy="328270"/>
          </a:xfrm>
          <a:prstGeom prst="rect">
            <a:avLst/>
          </a:prstGeom>
          <a:solidFill>
            <a:srgbClr val="162029"/>
          </a:solidFill>
          <a:ln w="12700">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Relevant OBBBA items ($) </a:t>
            </a:r>
          </a:p>
        </p:txBody>
      </p:sp>
      <p:sp>
        <p:nvSpPr>
          <p:cNvPr id="124" name="FlowNode"/>
          <p:cNvSpPr txBox="1"/>
          <p:nvPr/>
        </p:nvSpPr>
        <p:spPr>
          <a:xfrm>
            <a:off x="5297119" y="3215030"/>
            <a:ext cx="106070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Platforms</a:t>
            </a:r>
          </a:p>
        </p:txBody>
      </p:sp>
      <p:sp>
        <p:nvSpPr>
          <p:cNvPr id="125" name="FlowNode"/>
          <p:cNvSpPr txBox="1"/>
          <p:nvPr/>
        </p:nvSpPr>
        <p:spPr>
          <a:xfrm>
            <a:off x="2732227" y="3215030"/>
            <a:ext cx="2072030"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Maritime-specific funding ($)</a:t>
            </a:r>
          </a:p>
        </p:txBody>
      </p:sp>
      <p:sp>
        <p:nvSpPr>
          <p:cNvPr id="126" name="FlowNode"/>
          <p:cNvSpPr txBox="1"/>
          <p:nvPr/>
        </p:nvSpPr>
        <p:spPr>
          <a:xfrm>
            <a:off x="6440119" y="3215030"/>
            <a:ext cx="1060704" cy="328270"/>
          </a:xfrm>
          <a:prstGeom prst="rect">
            <a:avLst/>
          </a:prstGeom>
          <a:solidFill>
            <a:srgbClr val="000000"/>
          </a:solidFill>
          <a:ln w="12700">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Effectors</a:t>
            </a:r>
          </a:p>
        </p:txBody>
      </p:sp>
      <p:sp>
        <p:nvSpPr>
          <p:cNvPr id="127" name="FlowNode"/>
          <p:cNvSpPr txBox="1"/>
          <p:nvPr/>
        </p:nvSpPr>
        <p:spPr>
          <a:xfrm>
            <a:off x="10303459" y="4552798"/>
            <a:ext cx="1707185" cy="328270"/>
          </a:xfrm>
          <a:prstGeom prst="rect">
            <a:avLst/>
          </a:prstGeom>
          <a:solidFill>
            <a:srgbClr val="6E91B1"/>
          </a:solidFill>
          <a:ln w="3175">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SAM ($)</a:t>
            </a:r>
          </a:p>
        </p:txBody>
      </p:sp>
      <p:sp>
        <p:nvSpPr>
          <p:cNvPr id="128" name="FlowNode"/>
          <p:cNvSpPr txBox="1"/>
          <p:nvPr/>
        </p:nvSpPr>
        <p:spPr>
          <a:xfrm>
            <a:off x="10303459" y="5222138"/>
            <a:ext cx="1707185" cy="328270"/>
          </a:xfrm>
          <a:prstGeom prst="rect">
            <a:avLst/>
          </a:prstGeom>
          <a:solidFill>
            <a:srgbClr val="3D5972"/>
          </a:solidFill>
          <a:ln w="3175">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TCV ($)</a:t>
            </a:r>
          </a:p>
        </p:txBody>
      </p:sp>
      <p:sp>
        <p:nvSpPr>
          <p:cNvPr id="129" name="FlowNode"/>
          <p:cNvSpPr txBox="1"/>
          <p:nvPr/>
        </p:nvSpPr>
        <p:spPr>
          <a:xfrm>
            <a:off x="2733142" y="5222138"/>
            <a:ext cx="2072030" cy="328270"/>
          </a:xfrm>
          <a:prstGeom prst="rect">
            <a:avLst/>
          </a:prstGeom>
          <a:solidFill>
            <a:srgbClr val="6E91B1"/>
          </a:solidFill>
          <a:ln w="3175">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SAM ($)</a:t>
            </a:r>
          </a:p>
        </p:txBody>
      </p:sp>
      <p:sp>
        <p:nvSpPr>
          <p:cNvPr id="130" name="OperatorGlyph"/>
          <p:cNvSpPr txBox="1"/>
          <p:nvPr/>
        </p:nvSpPr>
        <p:spPr>
          <a:xfrm>
            <a:off x="9862718" y="2528316"/>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1" name="OperatorGlyph"/>
          <p:cNvSpPr txBox="1"/>
          <p:nvPr/>
        </p:nvSpPr>
        <p:spPr>
          <a:xfrm>
            <a:off x="9862718" y="386516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2" name="OperatorGlyph"/>
          <p:cNvSpPr txBox="1"/>
          <p:nvPr/>
        </p:nvSpPr>
        <p:spPr>
          <a:xfrm>
            <a:off x="9862718" y="5202936"/>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3" name="OperatorGlyph"/>
          <p:cNvSpPr txBox="1"/>
          <p:nvPr/>
        </p:nvSpPr>
        <p:spPr>
          <a:xfrm>
            <a:off x="9862718" y="4534510"/>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4" name="OperatorGlyph"/>
          <p:cNvSpPr txBox="1"/>
          <p:nvPr/>
        </p:nvSpPr>
        <p:spPr>
          <a:xfrm>
            <a:off x="9862718" y="319674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5" name="OperatorGlyph"/>
          <p:cNvSpPr txBox="1"/>
          <p:nvPr/>
        </p:nvSpPr>
        <p:spPr>
          <a:xfrm>
            <a:off x="9862718" y="1858975"/>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6" name="OperatorGlyph"/>
          <p:cNvSpPr txBox="1"/>
          <p:nvPr/>
        </p:nvSpPr>
        <p:spPr>
          <a:xfrm rot="2572505">
            <a:off x="4967935" y="2528316"/>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7" name="OperatorGlyph"/>
          <p:cNvSpPr txBox="1"/>
          <p:nvPr/>
        </p:nvSpPr>
        <p:spPr>
          <a:xfrm rot="2572505">
            <a:off x="6077102" y="4534510"/>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8" name="OperatorGlyph"/>
          <p:cNvSpPr txBox="1"/>
          <p:nvPr/>
        </p:nvSpPr>
        <p:spPr>
          <a:xfrm rot="2572505">
            <a:off x="6077102" y="5202936"/>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9" name="OperatorGlyph"/>
          <p:cNvSpPr txBox="1"/>
          <p:nvPr/>
        </p:nvSpPr>
        <p:spPr>
          <a:xfrm rot="2572505">
            <a:off x="6077102" y="386516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0" name="OperatorGlyph"/>
          <p:cNvSpPr txBox="1"/>
          <p:nvPr/>
        </p:nvSpPr>
        <p:spPr>
          <a:xfrm rot="2572505">
            <a:off x="4849063" y="3196742"/>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cxnSp>
        <p:nvCxnSpPr>
          <p:cNvPr id="141" name="Connector: Elbow 115"/>
          <p:cNvCxnSpPr/>
          <p:nvPr/>
        </p:nvCxnSpPr>
        <p:spPr>
          <a:xfrm rot="5400000">
            <a:off x="7292340" y="20117"/>
            <a:ext cx="341071" cy="7387438"/>
          </a:xfrm>
          <a:prstGeom prst="bentConnector3">
            <a:avLst/>
          </a:prstGeom>
          <a:ln w="12700">
            <a:solidFill>
              <a:srgbClr val="000000"/>
            </a:solidFill>
            <a:tailEnd type="triangle" w="med" len="med"/>
          </a:ln>
        </p:spPr>
      </p:cxnSp>
      <p:cxnSp>
        <p:nvCxnSpPr>
          <p:cNvPr id="142" name="Connector: Elbow 116"/>
          <p:cNvCxnSpPr/>
          <p:nvPr/>
        </p:nvCxnSpPr>
        <p:spPr>
          <a:xfrm rot="5400000">
            <a:off x="7292340" y="689458"/>
            <a:ext cx="341071" cy="7387438"/>
          </a:xfrm>
          <a:prstGeom prst="bentConnector3">
            <a:avLst/>
          </a:prstGeom>
          <a:ln w="12700">
            <a:solidFill>
              <a:srgbClr val="000000"/>
            </a:solidFill>
            <a:tailEnd type="triangle" w="med" len="med"/>
          </a:ln>
        </p:spPr>
      </p:cxnSp>
      <p:sp>
        <p:nvSpPr>
          <p:cNvPr id="143" name="DomainAllocation"/>
          <p:cNvSpPr txBox="1"/>
          <p:nvPr/>
        </p:nvSpPr>
        <p:spPr>
          <a:xfrm>
            <a:off x="5495544" y="2309774"/>
            <a:ext cx="4335170" cy="607162"/>
          </a:xfrm>
          <a:prstGeom prst="rect">
            <a:avLst/>
          </a:prstGeom>
          <a:noFill/>
          <a:ln w="3175">
            <a:solidFill>
              <a:srgbClr val="162029"/>
            </a:solidFill>
            <a:prstDash val="dash"/>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Domain allocations (%)</a:t>
            </a:r>
          </a:p>
        </p:txBody>
      </p:sp>
      <p:sp>
        <p:nvSpPr>
          <p:cNvPr id="144" name="Plus Sign 131"/>
          <p:cNvSpPr txBox="1"/>
          <p:nvPr/>
        </p:nvSpPr>
        <p:spPr>
          <a:xfrm rot="5400000">
            <a:off x="4795114" y="1858975"/>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5" name="Plus Sign 132"/>
          <p:cNvSpPr txBox="1"/>
          <p:nvPr/>
        </p:nvSpPr>
        <p:spPr>
          <a:xfrm rot="5400000">
            <a:off x="7359091" y="1858975"/>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46" name="ApproachStepsHeader"/>
          <p:cNvSpPr txBox="1"/>
          <p:nvPr/>
        </p:nvSpPr>
        <p:spPr>
          <a:xfrm>
            <a:off x="477317" y="1378001"/>
            <a:ext cx="2094890"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47" name="Straight Connector 136"/>
          <p:cNvCxnSpPr/>
          <p:nvPr/>
        </p:nvCxnSpPr>
        <p:spPr>
          <a:xfrm flipH="1">
            <a:off x="478231" y="1704442"/>
            <a:ext cx="2093062" cy="1829"/>
          </a:xfrm>
          <a:prstGeom prst="line">
            <a:avLst/>
          </a:prstGeom>
          <a:ln w="12700">
            <a:solidFill>
              <a:srgbClr val="162029"/>
            </a:solidFill>
          </a:ln>
        </p:spPr>
      </p:cxnSp>
      <p:cxnSp>
        <p:nvCxnSpPr>
          <p:cNvPr id="148" name="Connector: Elbow 137"/>
          <p:cNvCxnSpPr/>
          <p:nvPr/>
        </p:nvCxnSpPr>
        <p:spPr>
          <a:xfrm rot="5400000">
            <a:off x="7293254" y="-1317650"/>
            <a:ext cx="340157" cy="7387438"/>
          </a:xfrm>
          <a:prstGeom prst="bentConnector3">
            <a:avLst>
              <a:gd name="adj1" fmla="val 15352"/>
            </a:avLst>
          </a:prstGeom>
          <a:ln w="12700">
            <a:solidFill>
              <a:srgbClr val="000000"/>
            </a:solidFill>
            <a:tailEnd type="triangle" w="med" len="med"/>
          </a:ln>
        </p:spPr>
      </p:cxnSp>
      <p:sp>
        <p:nvSpPr>
          <p:cNvPr id="149" name="KillChainAllocation"/>
          <p:cNvSpPr txBox="1"/>
          <p:nvPr/>
        </p:nvSpPr>
        <p:spPr>
          <a:xfrm>
            <a:off x="5258714" y="3008376"/>
            <a:ext cx="4572914" cy="563270"/>
          </a:xfrm>
          <a:prstGeom prst="rect">
            <a:avLst/>
          </a:prstGeom>
          <a:noFill/>
          <a:ln w="3175">
            <a:solidFill>
              <a:srgbClr val="162029"/>
            </a:solidFill>
            <a:prstDash val="dash"/>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Kill chain role allocations (%)</a:t>
            </a:r>
          </a:p>
        </p:txBody>
      </p:sp>
      <p:cxnSp>
        <p:nvCxnSpPr>
          <p:cNvPr id="150" name="Connector: Elbow 145"/>
          <p:cNvCxnSpPr/>
          <p:nvPr/>
        </p:nvCxnSpPr>
        <p:spPr>
          <a:xfrm rot="5400000">
            <a:off x="7292340" y="-649224"/>
            <a:ext cx="340157" cy="7388352"/>
          </a:xfrm>
          <a:prstGeom prst="bentConnector3">
            <a:avLst>
              <a:gd name="adj1" fmla="val 32676"/>
            </a:avLst>
          </a:prstGeom>
          <a:ln w="12700">
            <a:solidFill>
              <a:srgbClr val="000000"/>
            </a:solidFill>
            <a:tailEnd type="triangle" w="med" len="med"/>
          </a:ln>
        </p:spPr>
      </p:cxnSp>
      <p:cxnSp>
        <p:nvCxnSpPr>
          <p:cNvPr id="151" name="Connector: Elbow 160"/>
          <p:cNvCxnSpPr/>
          <p:nvPr/>
        </p:nvCxnSpPr>
        <p:spPr>
          <a:xfrm rot="5400000">
            <a:off x="7292340" y="1357884"/>
            <a:ext cx="341071" cy="7387438"/>
          </a:xfrm>
          <a:prstGeom prst="bentConnector3">
            <a:avLst/>
          </a:prstGeom>
          <a:ln w="12700">
            <a:solidFill>
              <a:srgbClr val="000000"/>
            </a:solidFill>
            <a:tailEnd type="triangle" w="med" len="med"/>
          </a:ln>
        </p:spPr>
      </p:cxnSp>
      <p:sp>
        <p:nvSpPr>
          <p:cNvPr id="152" name="LegendSwatch"/>
          <p:cNvSpPr txBox="1"/>
          <p:nvPr/>
        </p:nvSpPr>
        <p:spPr>
          <a:xfrm>
            <a:off x="8471916" y="1446581"/>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53" name="LegendSwatch"/>
          <p:cNvSpPr txBox="1"/>
          <p:nvPr/>
        </p:nvSpPr>
        <p:spPr>
          <a:xfrm>
            <a:off x="10993831" y="1446581"/>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54" name="LegendSwatch"/>
          <p:cNvSpPr txBox="1"/>
          <p:nvPr/>
        </p:nvSpPr>
        <p:spPr>
          <a:xfrm>
            <a:off x="7270394" y="1446581"/>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5" name="LegendSwatch"/>
          <p:cNvSpPr txBox="1"/>
          <p:nvPr/>
        </p:nvSpPr>
        <p:spPr>
          <a:xfrm>
            <a:off x="10021824" y="1446581"/>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56" name="LegendLabel"/>
          <p:cNvSpPr txBox="1"/>
          <p:nvPr/>
        </p:nvSpPr>
        <p:spPr>
          <a:xfrm>
            <a:off x="8675827" y="1446581"/>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57" name="LegendLabel"/>
          <p:cNvSpPr txBox="1"/>
          <p:nvPr/>
        </p:nvSpPr>
        <p:spPr>
          <a:xfrm>
            <a:off x="11198657" y="1446581"/>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58" name="LegendLabel"/>
          <p:cNvSpPr txBox="1"/>
          <p:nvPr/>
        </p:nvSpPr>
        <p:spPr>
          <a:xfrm>
            <a:off x="7474306" y="1446581"/>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59" name="LegendLabel"/>
          <p:cNvSpPr txBox="1"/>
          <p:nvPr/>
        </p:nvSpPr>
        <p:spPr>
          <a:xfrm>
            <a:off x="10225735" y="1446581"/>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60" name="ScopeChip"/>
          <p:cNvSpPr txBox="1"/>
          <p:nvPr/>
        </p:nvSpPr>
        <p:spPr>
          <a:xfrm>
            <a:off x="8551469" y="125273"/>
            <a:ext cx="2012594" cy="343814"/>
          </a:xfrm>
          <a:prstGeom prst="rect">
            <a:avLst/>
          </a:prstGeom>
          <a:solidFill>
            <a:srgbClr val="447BB2"/>
          </a:solidFill>
          <a:ln w="3175">
            <a:solidFill>
              <a:srgbClr val="162029"/>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Currently manned capabilities – OBBBA / IDIQ approach</a:t>
            </a:r>
          </a:p>
        </p:txBody>
      </p:sp>
      <p:pic>
        <p:nvPicPr>
          <p:cNvPr id="161"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to find TCV | Currently manned capabilities</a:t>
            </a:r>
          </a:p>
        </p:txBody>
      </p:sp>
      <p:sp>
        <p:nvSpPr>
          <p:cNvPr id="100" name="ApproachStep"/>
          <p:cNvSpPr txBox="1"/>
          <p:nvPr/>
        </p:nvSpPr>
        <p:spPr>
          <a:xfrm>
            <a:off x="389534" y="1356970"/>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missions</a:t>
            </a:r>
          </a:p>
        </p:txBody>
      </p:sp>
      <p:sp>
        <p:nvSpPr>
          <p:cNvPr id="101" name="ApproachStep"/>
          <p:cNvSpPr txBox="1"/>
          <p:nvPr/>
        </p:nvSpPr>
        <p:spPr>
          <a:xfrm>
            <a:off x="389534" y="205557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priority kill chain roles</a:t>
            </a:r>
          </a:p>
        </p:txBody>
      </p:sp>
      <p:sp>
        <p:nvSpPr>
          <p:cNvPr id="102" name="ApproachStep"/>
          <p:cNvSpPr txBox="1"/>
          <p:nvPr/>
        </p:nvSpPr>
        <p:spPr>
          <a:xfrm>
            <a:off x="389534" y="3452774"/>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Identify and sum corresponding budget items to find Total Funding</a:t>
            </a:r>
          </a:p>
        </p:txBody>
      </p:sp>
      <p:sp>
        <p:nvSpPr>
          <p:cNvPr id="103" name="ApproachStep"/>
          <p:cNvSpPr txBox="1"/>
          <p:nvPr/>
        </p:nvSpPr>
        <p:spPr>
          <a:xfrm>
            <a:off x="389534" y="4151376"/>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Allocate platforms and effectors to missions to find TAM</a:t>
            </a:r>
          </a:p>
        </p:txBody>
      </p:sp>
      <p:sp>
        <p:nvSpPr>
          <p:cNvPr id="104" name="ApproachStep"/>
          <p:cNvSpPr txBox="1"/>
          <p:nvPr/>
        </p:nvSpPr>
        <p:spPr>
          <a:xfrm>
            <a:off x="389534" y="4849978"/>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6. Multiply by unmanned adoption rate to find SAM</a:t>
            </a:r>
          </a:p>
        </p:txBody>
      </p:sp>
      <p:sp>
        <p:nvSpPr>
          <p:cNvPr id="105" name="ApproachStep"/>
          <p:cNvSpPr txBox="1"/>
          <p:nvPr/>
        </p:nvSpPr>
        <p:spPr>
          <a:xfrm>
            <a:off x="389534" y="2754173"/>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Identify specific platforms / effectors for missions</a:t>
            </a:r>
          </a:p>
        </p:txBody>
      </p:sp>
      <p:sp>
        <p:nvSpPr>
          <p:cNvPr id="106" name="ApproachStep"/>
          <p:cNvSpPr txBox="1"/>
          <p:nvPr/>
        </p:nvSpPr>
        <p:spPr>
          <a:xfrm>
            <a:off x="389534" y="5548579"/>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7. Multiply by Saronic market share to find Company TCV</a:t>
            </a:r>
          </a:p>
        </p:txBody>
      </p:sp>
      <p:sp>
        <p:nvSpPr>
          <p:cNvPr id="107" name="Label"/>
          <p:cNvSpPr txBox="1"/>
          <p:nvPr/>
        </p:nvSpPr>
        <p:spPr>
          <a:xfrm>
            <a:off x="452628" y="6073445"/>
            <a:ext cx="11308385" cy="323698"/>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Programs and Projects included where relevant (e.g., no Cost Elements or Cost Elements in FY26 PBR account for small fraction of total Program/Project funds)</a:t>
            </a:r>
          </a:p>
        </p:txBody>
      </p:sp>
      <p:sp>
        <p:nvSpPr>
          <p:cNvPr id="108" name="FlowNode"/>
          <p:cNvSpPr txBox="1"/>
          <p:nvPr/>
        </p:nvSpPr>
        <p:spPr>
          <a:xfrm>
            <a:off x="10479024" y="3609137"/>
            <a:ext cx="1388974"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9" name="FlowNode"/>
          <p:cNvSpPr txBox="1"/>
          <p:nvPr/>
        </p:nvSpPr>
        <p:spPr>
          <a:xfrm>
            <a:off x="10479024" y="4307738"/>
            <a:ext cx="1388974"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10" name="FlowNode"/>
          <p:cNvSpPr txBox="1"/>
          <p:nvPr/>
        </p:nvSpPr>
        <p:spPr>
          <a:xfrm>
            <a:off x="1001816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Combat Systems Integration (incl. CEC)</a:t>
            </a:r>
          </a:p>
        </p:txBody>
      </p:sp>
      <p:sp>
        <p:nvSpPr>
          <p:cNvPr id="111" name="FlowNode"/>
          <p:cNvSpPr txBox="1"/>
          <p:nvPr/>
        </p:nvSpPr>
        <p:spPr>
          <a:xfrm>
            <a:off x="759500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Sensors</a:t>
            </a:r>
          </a:p>
        </p:txBody>
      </p:sp>
      <p:sp>
        <p:nvSpPr>
          <p:cNvPr id="112" name="FlowNode"/>
          <p:cNvSpPr txBox="1"/>
          <p:nvPr/>
        </p:nvSpPr>
        <p:spPr>
          <a:xfrm>
            <a:off x="2745943" y="4307738"/>
            <a:ext cx="2330806"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13" name="FlowNode"/>
          <p:cNvSpPr txBox="1"/>
          <p:nvPr/>
        </p:nvSpPr>
        <p:spPr>
          <a:xfrm>
            <a:off x="2745943" y="5006340"/>
            <a:ext cx="2330806"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14" name="FlowNode"/>
          <p:cNvSpPr txBox="1"/>
          <p:nvPr/>
        </p:nvSpPr>
        <p:spPr>
          <a:xfrm>
            <a:off x="5171846" y="2211934"/>
            <a:ext cx="1848917" cy="32827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Effectors</a:t>
            </a:r>
          </a:p>
        </p:txBody>
      </p:sp>
      <p:sp>
        <p:nvSpPr>
          <p:cNvPr id="115" name="FlowNode"/>
          <p:cNvSpPr txBox="1"/>
          <p:nvPr/>
        </p:nvSpPr>
        <p:spPr>
          <a:xfrm>
            <a:off x="10479024" y="5006340"/>
            <a:ext cx="1388974"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6" name="FlowNode"/>
          <p:cNvSpPr txBox="1"/>
          <p:nvPr/>
        </p:nvSpPr>
        <p:spPr>
          <a:xfrm>
            <a:off x="10479024" y="5704942"/>
            <a:ext cx="1388974"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Company TCV ($)</a:t>
            </a:r>
          </a:p>
        </p:txBody>
      </p:sp>
      <p:sp>
        <p:nvSpPr>
          <p:cNvPr id="117" name="FlowNode"/>
          <p:cNvSpPr txBox="1"/>
          <p:nvPr/>
        </p:nvSpPr>
        <p:spPr>
          <a:xfrm>
            <a:off x="2745943" y="2211934"/>
            <a:ext cx="1848917"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Platforms</a:t>
            </a:r>
          </a:p>
        </p:txBody>
      </p:sp>
      <p:sp>
        <p:nvSpPr>
          <p:cNvPr id="118" name="FlowNode"/>
          <p:cNvSpPr txBox="1"/>
          <p:nvPr/>
        </p:nvSpPr>
        <p:spPr>
          <a:xfrm>
            <a:off x="8931859"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Littoral Combat Ship</a:t>
            </a:r>
          </a:p>
        </p:txBody>
      </p:sp>
      <p:sp>
        <p:nvSpPr>
          <p:cNvPr id="119" name="FlowNode"/>
          <p:cNvSpPr txBox="1"/>
          <p:nvPr/>
        </p:nvSpPr>
        <p:spPr>
          <a:xfrm>
            <a:off x="8326526" y="3609137"/>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Cost Elements ($)</a:t>
            </a:r>
          </a:p>
        </p:txBody>
      </p:sp>
      <p:sp>
        <p:nvSpPr>
          <p:cNvPr id="120" name="FlowNode"/>
          <p:cNvSpPr txBox="1"/>
          <p:nvPr/>
        </p:nvSpPr>
        <p:spPr>
          <a:xfrm>
            <a:off x="7385609" y="4307738"/>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Mission allocations by platform and effector (%)</a:t>
            </a:r>
          </a:p>
        </p:txBody>
      </p:sp>
      <p:sp>
        <p:nvSpPr>
          <p:cNvPr id="121" name="FlowNode"/>
          <p:cNvSpPr txBox="1"/>
          <p:nvPr/>
        </p:nvSpPr>
        <p:spPr>
          <a:xfrm>
            <a:off x="7395667" y="5006340"/>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Unmanned adoption (%)</a:t>
            </a:r>
          </a:p>
        </p:txBody>
      </p:sp>
      <p:sp>
        <p:nvSpPr>
          <p:cNvPr id="122" name="FlowNode"/>
          <p:cNvSpPr txBox="1"/>
          <p:nvPr/>
        </p:nvSpPr>
        <p:spPr>
          <a:xfrm>
            <a:off x="2745943" y="5704942"/>
            <a:ext cx="2330806"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23" name="FlowNode"/>
          <p:cNvSpPr txBox="1"/>
          <p:nvPr/>
        </p:nvSpPr>
        <p:spPr>
          <a:xfrm>
            <a:off x="7395667" y="5704942"/>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Saronic market share (%)</a:t>
            </a:r>
          </a:p>
        </p:txBody>
      </p:sp>
      <p:sp>
        <p:nvSpPr>
          <p:cNvPr id="124" name="FlowNode"/>
          <p:cNvSpPr txBox="1"/>
          <p:nvPr/>
        </p:nvSpPr>
        <p:spPr>
          <a:xfrm>
            <a:off x="2745943" y="3609137"/>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OBBBA items ($)</a:t>
            </a:r>
          </a:p>
        </p:txBody>
      </p:sp>
      <p:sp>
        <p:nvSpPr>
          <p:cNvPr id="125" name="MissionCell"/>
          <p:cNvSpPr txBox="1"/>
          <p:nvPr/>
        </p:nvSpPr>
        <p:spPr>
          <a:xfrm>
            <a:off x="2539289" y="1253642"/>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Anti-Air Warfare (incl. cUAS)</a:t>
            </a:r>
          </a:p>
        </p:txBody>
      </p:sp>
      <p:sp>
        <p:nvSpPr>
          <p:cNvPr id="126" name="MissionCell"/>
          <p:cNvSpPr txBox="1"/>
          <p:nvPr/>
        </p:nvSpPr>
        <p:spPr>
          <a:xfrm>
            <a:off x="4886554" y="1253642"/>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Anti-Submarine Warfare</a:t>
            </a:r>
          </a:p>
        </p:txBody>
      </p:sp>
      <p:sp>
        <p:nvSpPr>
          <p:cNvPr id="127" name="MissionCell"/>
          <p:cNvSpPr txBox="1"/>
          <p:nvPr/>
        </p:nvSpPr>
        <p:spPr>
          <a:xfrm>
            <a:off x="8408822" y="1253642"/>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Amphibious Warfare</a:t>
            </a:r>
          </a:p>
        </p:txBody>
      </p:sp>
      <p:sp>
        <p:nvSpPr>
          <p:cNvPr id="128" name="MissionCell"/>
          <p:cNvSpPr txBox="1"/>
          <p:nvPr/>
        </p:nvSpPr>
        <p:spPr>
          <a:xfrm>
            <a:off x="6061558" y="1253642"/>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Ballistic Missile Defense</a:t>
            </a:r>
          </a:p>
        </p:txBody>
      </p:sp>
      <p:sp>
        <p:nvSpPr>
          <p:cNvPr id="129" name="MissionCell"/>
          <p:cNvSpPr txBox="1"/>
          <p:nvPr/>
        </p:nvSpPr>
        <p:spPr>
          <a:xfrm>
            <a:off x="7234733" y="1253642"/>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(D&amp;D)</a:t>
            </a:r>
          </a:p>
        </p:txBody>
      </p:sp>
      <p:sp>
        <p:nvSpPr>
          <p:cNvPr id="130" name="MissionCell"/>
          <p:cNvSpPr txBox="1"/>
          <p:nvPr/>
        </p:nvSpPr>
        <p:spPr>
          <a:xfrm>
            <a:off x="4886554" y="1620317"/>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Mine Warfare</a:t>
            </a:r>
          </a:p>
        </p:txBody>
      </p:sp>
      <p:sp>
        <p:nvSpPr>
          <p:cNvPr id="131" name="MissionCell"/>
          <p:cNvSpPr txBox="1"/>
          <p:nvPr/>
        </p:nvSpPr>
        <p:spPr>
          <a:xfrm>
            <a:off x="8408822" y="1620317"/>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Special Operations</a:t>
            </a:r>
          </a:p>
        </p:txBody>
      </p:sp>
      <p:sp>
        <p:nvSpPr>
          <p:cNvPr id="132" name="MissionCell"/>
          <p:cNvSpPr txBox="1"/>
          <p:nvPr/>
        </p:nvSpPr>
        <p:spPr>
          <a:xfrm>
            <a:off x="9582912" y="1620317"/>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Sealift</a:t>
            </a:r>
          </a:p>
        </p:txBody>
      </p:sp>
      <p:sp>
        <p:nvSpPr>
          <p:cNvPr id="133" name="MissionCell"/>
          <p:cNvSpPr txBox="1"/>
          <p:nvPr/>
        </p:nvSpPr>
        <p:spPr>
          <a:xfrm>
            <a:off x="6061558" y="1622146"/>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Strike Warfare</a:t>
            </a:r>
          </a:p>
        </p:txBody>
      </p:sp>
      <p:sp>
        <p:nvSpPr>
          <p:cNvPr id="134" name="MissionCell"/>
          <p:cNvSpPr txBox="1"/>
          <p:nvPr/>
        </p:nvSpPr>
        <p:spPr>
          <a:xfrm>
            <a:off x="3712464" y="1620317"/>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ISR</a:t>
            </a:r>
          </a:p>
        </p:txBody>
      </p:sp>
      <p:sp>
        <p:nvSpPr>
          <p:cNvPr id="135" name="MissionCell"/>
          <p:cNvSpPr txBox="1"/>
          <p:nvPr/>
        </p:nvSpPr>
        <p:spPr>
          <a:xfrm>
            <a:off x="9582912" y="1253642"/>
            <a:ext cx="1110082"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C4</a:t>
            </a:r>
          </a:p>
        </p:txBody>
      </p:sp>
      <p:sp>
        <p:nvSpPr>
          <p:cNvPr id="136" name="MissionCell"/>
          <p:cNvSpPr txBox="1"/>
          <p:nvPr/>
        </p:nvSpPr>
        <p:spPr>
          <a:xfrm>
            <a:off x="2539289" y="1625803"/>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(Other)</a:t>
            </a:r>
          </a:p>
        </p:txBody>
      </p:sp>
      <p:sp>
        <p:nvSpPr>
          <p:cNvPr id="137" name="Ticonderoga"/>
          <p:cNvSpPr txBox="1"/>
          <p:nvPr/>
        </p:nvSpPr>
        <p:spPr>
          <a:xfrm>
            <a:off x="2745943"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i="1" dirty="0">
                <a:solidFill>
                  <a:srgbClr val="FFFFFF"/>
                </a:solidFill>
                <a:latin typeface="Arial"/>
                <a:ea typeface="Arial"/>
                <a:cs typeface="Arial"/>
              </a:rPr>
              <a:t>Ticonderoga</a:t>
            </a:r>
            <a:r>
              <a:rPr lang="en-US" sz="900" dirty="0">
                <a:solidFill>
                  <a:srgbClr val="FFFFFF"/>
                </a:solidFill>
                <a:latin typeface="Arial"/>
                <a:ea typeface="Arial"/>
                <a:cs typeface="Arial"/>
              </a:rPr>
              <a:t>-class cruisers</a:t>
            </a:r>
          </a:p>
        </p:txBody>
      </p:sp>
      <p:sp>
        <p:nvSpPr>
          <p:cNvPr id="138" name="ArleighBurke"/>
          <p:cNvSpPr txBox="1"/>
          <p:nvPr/>
        </p:nvSpPr>
        <p:spPr>
          <a:xfrm>
            <a:off x="429219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i="1" dirty="0">
                <a:solidFill>
                  <a:srgbClr val="FFFFFF"/>
                </a:solidFill>
                <a:latin typeface="Arial"/>
                <a:ea typeface="Arial"/>
                <a:cs typeface="Arial"/>
              </a:rPr>
              <a:t>Arleigh Burke</a:t>
            </a:r>
            <a:r>
              <a:rPr lang="en-US" sz="900" dirty="0">
                <a:solidFill>
                  <a:srgbClr val="FFFFFF"/>
                </a:solidFill>
                <a:latin typeface="Arial"/>
                <a:ea typeface="Arial"/>
                <a:cs typeface="Arial"/>
              </a:rPr>
              <a:t>-class destroyers</a:t>
            </a:r>
          </a:p>
        </p:txBody>
      </p:sp>
      <p:sp>
        <p:nvSpPr>
          <p:cNvPr id="139" name="Zumwalt"/>
          <p:cNvSpPr txBox="1"/>
          <p:nvPr/>
        </p:nvSpPr>
        <p:spPr>
          <a:xfrm>
            <a:off x="583844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i="1" dirty="0">
                <a:solidFill>
                  <a:srgbClr val="FFFFFF"/>
                </a:solidFill>
                <a:latin typeface="Arial"/>
                <a:ea typeface="Arial"/>
                <a:cs typeface="Arial"/>
              </a:rPr>
              <a:t>Zumwalt</a:t>
            </a:r>
            <a:r>
              <a:rPr lang="en-US" sz="900" dirty="0">
                <a:solidFill>
                  <a:srgbClr val="FFFFFF"/>
                </a:solidFill>
                <a:latin typeface="Arial"/>
                <a:ea typeface="Arial"/>
                <a:cs typeface="Arial"/>
              </a:rPr>
              <a:t>-class destroyers</a:t>
            </a:r>
          </a:p>
        </p:txBody>
      </p:sp>
      <p:sp>
        <p:nvSpPr>
          <p:cNvPr id="140" name="Constellation"/>
          <p:cNvSpPr txBox="1"/>
          <p:nvPr/>
        </p:nvSpPr>
        <p:spPr>
          <a:xfrm>
            <a:off x="7385609"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i="1" dirty="0">
                <a:solidFill>
                  <a:srgbClr val="FFFFFF"/>
                </a:solidFill>
                <a:latin typeface="Arial"/>
                <a:ea typeface="Arial"/>
                <a:cs typeface="Arial"/>
              </a:rPr>
              <a:t>Constellation-</a:t>
            </a:r>
            <a:r>
              <a:rPr lang="en-US" sz="900" dirty="0">
                <a:solidFill>
                  <a:srgbClr val="FFFFFF"/>
                </a:solidFill>
                <a:latin typeface="Arial"/>
                <a:ea typeface="Arial"/>
                <a:cs typeface="Arial"/>
              </a:rPr>
              <a:t>class frigates</a:t>
            </a:r>
          </a:p>
        </p:txBody>
      </p:sp>
      <p:sp>
        <p:nvSpPr>
          <p:cNvPr id="141" name="Avenger"/>
          <p:cNvSpPr txBox="1"/>
          <p:nvPr/>
        </p:nvSpPr>
        <p:spPr>
          <a:xfrm>
            <a:off x="10479024" y="2910535"/>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b="1" i="1" dirty="0">
                <a:solidFill>
                  <a:srgbClr val="FFFFFF"/>
                </a:solidFill>
                <a:latin typeface="Arial"/>
                <a:ea typeface="Arial"/>
                <a:cs typeface="Arial"/>
              </a:rPr>
              <a:t>Avenger</a:t>
            </a:r>
            <a:r>
              <a:rPr lang="en-US" sz="900" b="1" dirty="0">
                <a:solidFill>
                  <a:srgbClr val="FFFFFF"/>
                </a:solidFill>
                <a:latin typeface="Arial"/>
                <a:ea typeface="Arial"/>
                <a:cs typeface="Arial"/>
              </a:rPr>
              <a:t>-class MCM ship</a:t>
            </a:r>
          </a:p>
        </p:txBody>
      </p:sp>
      <p:cxnSp>
        <p:nvCxnSpPr>
          <p:cNvPr id="142" name="Connector: Elbow 47"/>
          <p:cNvCxnSpPr/>
          <p:nvPr/>
        </p:nvCxnSpPr>
        <p:spPr>
          <a:xfrm rot="5400000">
            <a:off x="3369564" y="2610612"/>
            <a:ext cx="370332" cy="230429"/>
          </a:xfrm>
          <a:prstGeom prst="bentConnector3">
            <a:avLst/>
          </a:prstGeom>
          <a:ln w="12700">
            <a:solidFill>
              <a:srgbClr val="000000"/>
            </a:solidFill>
            <a:tailEnd type="triangle" w="med" len="med"/>
          </a:ln>
        </p:spPr>
      </p:cxnSp>
      <p:cxnSp>
        <p:nvCxnSpPr>
          <p:cNvPr id="143" name="Connector: Elbow 48"/>
          <p:cNvCxnSpPr/>
          <p:nvPr/>
        </p:nvCxnSpPr>
        <p:spPr>
          <a:xfrm rot="16200000" flipH="1">
            <a:off x="4143146" y="2067458"/>
            <a:ext cx="370332" cy="1316736"/>
          </a:xfrm>
          <a:prstGeom prst="bentConnector3">
            <a:avLst/>
          </a:prstGeom>
          <a:ln w="12700">
            <a:solidFill>
              <a:srgbClr val="000000"/>
            </a:solidFill>
            <a:tailEnd type="triangle" w="med" len="med"/>
          </a:ln>
        </p:spPr>
      </p:cxnSp>
      <p:cxnSp>
        <p:nvCxnSpPr>
          <p:cNvPr id="144" name="Connector: Elbow 49"/>
          <p:cNvCxnSpPr/>
          <p:nvPr/>
        </p:nvCxnSpPr>
        <p:spPr>
          <a:xfrm rot="16200000" flipH="1">
            <a:off x="4916729" y="1293876"/>
            <a:ext cx="370332" cy="2862986"/>
          </a:xfrm>
          <a:prstGeom prst="bentConnector3">
            <a:avLst/>
          </a:prstGeom>
          <a:ln w="12700">
            <a:solidFill>
              <a:srgbClr val="000000"/>
            </a:solidFill>
            <a:tailEnd type="triangle" w="med" len="med"/>
          </a:ln>
        </p:spPr>
      </p:cxnSp>
      <p:cxnSp>
        <p:nvCxnSpPr>
          <p:cNvPr id="145" name="Connector: Elbow 50"/>
          <p:cNvCxnSpPr/>
          <p:nvPr/>
        </p:nvCxnSpPr>
        <p:spPr>
          <a:xfrm rot="16200000" flipH="1">
            <a:off x="7236562" y="-1025957"/>
            <a:ext cx="370332" cy="7502652"/>
          </a:xfrm>
          <a:prstGeom prst="bentConnector3">
            <a:avLst/>
          </a:prstGeom>
          <a:ln w="12700">
            <a:solidFill>
              <a:srgbClr val="000000"/>
            </a:solidFill>
            <a:tailEnd type="triangle" w="med" len="med"/>
          </a:ln>
        </p:spPr>
      </p:cxnSp>
      <p:cxnSp>
        <p:nvCxnSpPr>
          <p:cNvPr id="146" name="Connector: Elbow 51"/>
          <p:cNvCxnSpPr/>
          <p:nvPr/>
        </p:nvCxnSpPr>
        <p:spPr>
          <a:xfrm rot="16200000" flipH="1">
            <a:off x="6462979" y="-252374"/>
            <a:ext cx="370332" cy="5956402"/>
          </a:xfrm>
          <a:prstGeom prst="bentConnector3">
            <a:avLst/>
          </a:prstGeom>
          <a:ln w="12700">
            <a:solidFill>
              <a:srgbClr val="000000"/>
            </a:solidFill>
            <a:tailEnd type="triangle" w="med" len="med"/>
          </a:ln>
        </p:spPr>
      </p:cxnSp>
      <p:cxnSp>
        <p:nvCxnSpPr>
          <p:cNvPr id="147" name="Connector: Elbow 52"/>
          <p:cNvCxnSpPr/>
          <p:nvPr/>
        </p:nvCxnSpPr>
        <p:spPr>
          <a:xfrm rot="16200000" flipH="1">
            <a:off x="5689397" y="521208"/>
            <a:ext cx="370332" cy="4409237"/>
          </a:xfrm>
          <a:prstGeom prst="bentConnector3">
            <a:avLst/>
          </a:prstGeom>
          <a:ln w="12700">
            <a:solidFill>
              <a:srgbClr val="000000"/>
            </a:solidFill>
            <a:tailEnd type="triangle" w="med" len="med"/>
          </a:ln>
        </p:spPr>
      </p:cxnSp>
      <p:sp>
        <p:nvSpPr>
          <p:cNvPr id="148" name="Programs"/>
          <p:cNvSpPr txBox="1"/>
          <p:nvPr/>
        </p:nvSpPr>
        <p:spPr>
          <a:xfrm>
            <a:off x="4605833" y="3609137"/>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Programs ($)</a:t>
            </a:r>
            <a:r>
              <a:rPr lang="en-US" sz="900" dirty="0">
                <a:solidFill>
                  <a:srgbClr val="FFFFFF"/>
                </a:solidFill>
                <a:latin typeface="Arial"/>
                <a:ea typeface="Arial"/>
                <a:cs typeface="Arial"/>
              </a:rPr>
              <a:t>1</a:t>
            </a:r>
          </a:p>
        </p:txBody>
      </p:sp>
      <p:sp>
        <p:nvSpPr>
          <p:cNvPr id="149" name="Equals"/>
          <p:cNvSpPr txBox="1"/>
          <p:nvPr/>
        </p:nvSpPr>
        <p:spPr>
          <a:xfrm>
            <a:off x="9914839" y="359084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0" name="Equals"/>
          <p:cNvSpPr txBox="1"/>
          <p:nvPr/>
        </p:nvSpPr>
        <p:spPr>
          <a:xfrm>
            <a:off x="9914839" y="4289450"/>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1" name="Equals"/>
          <p:cNvSpPr txBox="1"/>
          <p:nvPr/>
        </p:nvSpPr>
        <p:spPr>
          <a:xfrm>
            <a:off x="9914839" y="4987138"/>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2" name="Equals"/>
          <p:cNvSpPr txBox="1"/>
          <p:nvPr/>
        </p:nvSpPr>
        <p:spPr>
          <a:xfrm>
            <a:off x="9914839" y="5685739"/>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3" name="Plus"/>
          <p:cNvSpPr txBox="1"/>
          <p:nvPr/>
        </p:nvSpPr>
        <p:spPr>
          <a:xfrm rot="2572505">
            <a:off x="6061558" y="4289450"/>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4" name="Plus"/>
          <p:cNvSpPr txBox="1"/>
          <p:nvPr/>
        </p:nvSpPr>
        <p:spPr>
          <a:xfrm rot="2572505">
            <a:off x="6061558" y="4987138"/>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55" name="Plus"/>
          <p:cNvSpPr txBox="1"/>
          <p:nvPr/>
        </p:nvSpPr>
        <p:spPr>
          <a:xfrm rot="2572505">
            <a:off x="6061558" y="568573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cxnSp>
        <p:nvCxnSpPr>
          <p:cNvPr id="156" name="Connector: Elbow 63"/>
          <p:cNvCxnSpPr/>
          <p:nvPr/>
        </p:nvCxnSpPr>
        <p:spPr>
          <a:xfrm rot="5400000">
            <a:off x="7356348" y="491947"/>
            <a:ext cx="370332" cy="7262165"/>
          </a:xfrm>
          <a:prstGeom prst="bentConnector3">
            <a:avLst/>
          </a:prstGeom>
          <a:ln w="12700">
            <a:solidFill>
              <a:srgbClr val="000000"/>
            </a:solidFill>
            <a:tailEnd type="triangle" w="med" len="med"/>
          </a:ln>
        </p:spPr>
      </p:cxnSp>
      <p:cxnSp>
        <p:nvCxnSpPr>
          <p:cNvPr id="157" name="Connector: Elbow 64"/>
          <p:cNvCxnSpPr/>
          <p:nvPr/>
        </p:nvCxnSpPr>
        <p:spPr>
          <a:xfrm rot="5400000">
            <a:off x="7356348" y="1190549"/>
            <a:ext cx="370332" cy="7262165"/>
          </a:xfrm>
          <a:prstGeom prst="bentConnector3">
            <a:avLst/>
          </a:prstGeom>
          <a:ln w="12700">
            <a:solidFill>
              <a:srgbClr val="000000"/>
            </a:solidFill>
            <a:tailEnd type="triangle" w="med" len="med"/>
          </a:ln>
        </p:spPr>
      </p:cxnSp>
      <p:cxnSp>
        <p:nvCxnSpPr>
          <p:cNvPr id="158" name="Connector: Elbow 65"/>
          <p:cNvCxnSpPr/>
          <p:nvPr/>
        </p:nvCxnSpPr>
        <p:spPr>
          <a:xfrm rot="5400000">
            <a:off x="7356348" y="1888236"/>
            <a:ext cx="370332" cy="7262165"/>
          </a:xfrm>
          <a:prstGeom prst="bentConnector3">
            <a:avLst/>
          </a:prstGeom>
          <a:ln w="12700">
            <a:solidFill>
              <a:srgbClr val="000000"/>
            </a:solidFill>
            <a:tailEnd type="triangle" w="med" len="med"/>
          </a:ln>
        </p:spPr>
      </p:cxnSp>
      <p:sp>
        <p:nvSpPr>
          <p:cNvPr id="159" name="Left Brace 69"/>
          <p:cNvSpPr txBox="1"/>
          <p:nvPr/>
        </p:nvSpPr>
        <p:spPr>
          <a:xfrm rot="16200000">
            <a:off x="7142378" y="-1145743"/>
            <a:ext cx="328270" cy="9121140"/>
          </a:xfrm>
          <a:prstGeom prst="leftBrace">
            <a:avLst>
              <a:gd name="adj1" fmla="val 8333"/>
              <a:gd name="adj2" fmla="val 7206"/>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60" name="Left Brace 70"/>
          <p:cNvSpPr txBox="1"/>
          <p:nvPr/>
        </p:nvSpPr>
        <p:spPr>
          <a:xfrm rot="16200000">
            <a:off x="7142378" y="-1146658"/>
            <a:ext cx="328270" cy="9121140"/>
          </a:xfrm>
          <a:prstGeom prst="leftBrace">
            <a:avLst>
              <a:gd name="adj1" fmla="val 8333"/>
              <a:gd name="adj2" fmla="val 68631"/>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61" name="Projects"/>
          <p:cNvSpPr txBox="1"/>
          <p:nvPr/>
        </p:nvSpPr>
        <p:spPr>
          <a:xfrm>
            <a:off x="6466637" y="3609137"/>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Projects ($)</a:t>
            </a:r>
            <a:r>
              <a:rPr lang="en-US" sz="900" dirty="0">
                <a:solidFill>
                  <a:srgbClr val="FFFFFF"/>
                </a:solidFill>
                <a:latin typeface="Arial"/>
                <a:ea typeface="Arial"/>
                <a:cs typeface="Arial"/>
              </a:rPr>
              <a:t> 1</a:t>
            </a:r>
          </a:p>
        </p:txBody>
      </p:sp>
      <p:sp>
        <p:nvSpPr>
          <p:cNvPr id="162" name="Plus"/>
          <p:cNvSpPr txBox="1"/>
          <p:nvPr/>
        </p:nvSpPr>
        <p:spPr>
          <a:xfrm rot="5400000">
            <a:off x="6047842"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63" name="Plus"/>
          <p:cNvSpPr txBox="1"/>
          <p:nvPr/>
        </p:nvSpPr>
        <p:spPr>
          <a:xfrm rot="5400000">
            <a:off x="7907731"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64" name="Plus"/>
          <p:cNvSpPr txBox="1"/>
          <p:nvPr/>
        </p:nvSpPr>
        <p:spPr>
          <a:xfrm rot="5400000">
            <a:off x="4187038" y="3590849"/>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65" name="ApproachStepsHeader"/>
          <p:cNvSpPr txBox="1"/>
          <p:nvPr/>
        </p:nvSpPr>
        <p:spPr>
          <a:xfrm>
            <a:off x="388620" y="1123798"/>
            <a:ext cx="1921154"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66" name="Approach underline"/>
          <p:cNvCxnSpPr/>
          <p:nvPr/>
        </p:nvCxnSpPr>
        <p:spPr>
          <a:xfrm flipH="1">
            <a:off x="389534" y="1450238"/>
            <a:ext cx="1920240" cy="1829"/>
          </a:xfrm>
          <a:prstGeom prst="line">
            <a:avLst/>
          </a:prstGeom>
          <a:ln w="12700">
            <a:solidFill>
              <a:srgbClr val="162029"/>
            </a:solidFill>
          </a:ln>
        </p:spPr>
      </p:cxnSp>
      <p:sp>
        <p:nvSpPr>
          <p:cNvPr id="167" name="AntiShip"/>
          <p:cNvSpPr txBox="1"/>
          <p:nvPr/>
        </p:nvSpPr>
        <p:spPr>
          <a:xfrm>
            <a:off x="3712464" y="1253642"/>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Anti-Ship </a:t>
            </a:r>
            <a:br/>
            <a:r>
              <a:rPr lang="en-US" sz="900" dirty="0">
                <a:solidFill>
                  <a:srgbClr val="FFFFFF"/>
                </a:solidFill>
                <a:latin typeface="Arial"/>
                <a:ea typeface="Arial"/>
                <a:cs typeface="Arial"/>
              </a:rPr>
              <a:t>Warfare</a:t>
            </a:r>
          </a:p>
        </p:txBody>
      </p:sp>
      <p:sp>
        <p:nvSpPr>
          <p:cNvPr id="168" name="VBSS"/>
          <p:cNvSpPr txBox="1"/>
          <p:nvPr/>
        </p:nvSpPr>
        <p:spPr>
          <a:xfrm>
            <a:off x="10757916" y="1253642"/>
            <a:ext cx="1109167" cy="304495"/>
          </a:xfrm>
          <a:prstGeom prst="rect">
            <a:avLst/>
          </a:prstGeom>
          <a:noFill/>
          <a:ln w="3175">
            <a:solidFill>
              <a:srgbClr val="BFBFBF"/>
            </a:solidFill>
          </a:ln>
        </p:spPr>
        <p:txBody>
          <a:bodyPr wrap="square" anchor="ctr" lIns="91440" tIns="45720" rIns="91440" bIns="45720"/>
          <a:lstStyle/>
          <a:p>
            <a:pPr algn="ctr">
              <a:lnSpc>
                <a:spcPct val="100000"/>
              </a:lnSpc>
              <a:buNone/>
            </a:pPr>
            <a:r>
              <a:rPr lang="en-US" sz="900" dirty="0">
                <a:solidFill>
                  <a:srgbClr val="BFBFBF"/>
                </a:solidFill>
                <a:latin typeface="Arial"/>
                <a:ea typeface="Arial"/>
                <a:cs typeface="Arial"/>
              </a:rPr>
              <a:t>VBSS</a:t>
            </a:r>
          </a:p>
        </p:txBody>
      </p:sp>
      <p:sp>
        <p:nvSpPr>
          <p:cNvPr id="169" name="MissionGridFrame"/>
          <p:cNvSpPr txBox="1"/>
          <p:nvPr/>
        </p:nvSpPr>
        <p:spPr>
          <a:xfrm>
            <a:off x="2438705" y="1199693"/>
            <a:ext cx="5940857" cy="785470"/>
          </a:xfrm>
          <a:prstGeom prst="rect">
            <a:avLst/>
          </a:prstGeom>
          <a:noFill/>
          <a:ln w="3175">
            <a:solidFill>
              <a:srgbClr val="000000"/>
            </a:solidFill>
          </a:ln>
        </p:spPr>
        <p:txBody>
          <a:bodyPr wrap="square" anchor="ctr" lIns="91440" tIns="45720" rIns="91440" bIns="45720"/>
          <a:lstStyle/>
          <a:p>
            <a:pPr algn="ctr">
              <a:lnSpc>
                <a:spcPct val="100000"/>
              </a:lnSpc>
              <a:buNone/>
            </a:pPr>
            <a:endParaRPr lang="en-US"/>
          </a:p>
        </p:txBody>
      </p:sp>
      <p:cxnSp>
        <p:nvCxnSpPr>
          <p:cNvPr id="170" name="Connector: Elbow 112"/>
          <p:cNvCxnSpPr/>
          <p:nvPr/>
        </p:nvCxnSpPr>
        <p:spPr>
          <a:xfrm rot="5400000">
            <a:off x="4425696" y="1228954"/>
            <a:ext cx="226771" cy="1739189"/>
          </a:xfrm>
          <a:prstGeom prst="bentConnector3">
            <a:avLst/>
          </a:prstGeom>
          <a:ln w="12700">
            <a:solidFill>
              <a:srgbClr val="000000"/>
            </a:solidFill>
            <a:tailEnd type="triangle" w="med" len="med"/>
          </a:ln>
        </p:spPr>
      </p:cxnSp>
      <p:sp>
        <p:nvSpPr>
          <p:cNvPr id="171" name="LegendSwatch"/>
          <p:cNvSpPr txBox="1"/>
          <p:nvPr/>
        </p:nvSpPr>
        <p:spPr>
          <a:xfrm>
            <a:off x="7099402" y="976579"/>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72" name="LegendSwatch"/>
          <p:cNvSpPr txBox="1"/>
          <p:nvPr/>
        </p:nvSpPr>
        <p:spPr>
          <a:xfrm>
            <a:off x="8300923" y="976579"/>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73" name="LegendSwatch"/>
          <p:cNvSpPr txBox="1"/>
          <p:nvPr/>
        </p:nvSpPr>
        <p:spPr>
          <a:xfrm>
            <a:off x="9850831" y="976579"/>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74" name="LegendSwatch"/>
          <p:cNvSpPr txBox="1"/>
          <p:nvPr/>
        </p:nvSpPr>
        <p:spPr>
          <a:xfrm>
            <a:off x="10822838" y="976579"/>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75" name="LegendLabel"/>
          <p:cNvSpPr txBox="1"/>
          <p:nvPr/>
        </p:nvSpPr>
        <p:spPr>
          <a:xfrm>
            <a:off x="7303313" y="976579"/>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76" name="LegendLabel"/>
          <p:cNvSpPr txBox="1"/>
          <p:nvPr/>
        </p:nvSpPr>
        <p:spPr>
          <a:xfrm>
            <a:off x="8504834" y="976579"/>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77" name="LegendLabel"/>
          <p:cNvSpPr txBox="1"/>
          <p:nvPr/>
        </p:nvSpPr>
        <p:spPr>
          <a:xfrm>
            <a:off x="10054742" y="976579"/>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78" name="LegendLabel"/>
          <p:cNvSpPr txBox="1"/>
          <p:nvPr/>
        </p:nvSpPr>
        <p:spPr>
          <a:xfrm>
            <a:off x="11027664" y="976579"/>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79" name="ScopeChip"/>
          <p:cNvSpPr txBox="1"/>
          <p:nvPr/>
        </p:nvSpPr>
        <p:spPr>
          <a:xfrm>
            <a:off x="8551469" y="125273"/>
            <a:ext cx="2012594" cy="343814"/>
          </a:xfrm>
          <a:prstGeom prst="rect">
            <a:avLst/>
          </a:prstGeom>
          <a:solidFill>
            <a:srgbClr val="447BB2"/>
          </a:solidFill>
          <a:ln w="3175">
            <a:solidFill>
              <a:srgbClr val="162029"/>
            </a:solid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Currently manned capabilities – primary approach</a:t>
            </a:r>
          </a:p>
        </p:txBody>
      </p:sp>
      <p:pic>
        <p:nvPicPr>
          <p:cNvPr id="180"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(Undersea)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to find TCV | Unmanned-specified</a:t>
            </a:r>
          </a:p>
        </p:txBody>
      </p:sp>
      <p:sp>
        <p:nvSpPr>
          <p:cNvPr id="100" name="ApproachStep"/>
          <p:cNvSpPr txBox="1"/>
          <p:nvPr/>
        </p:nvSpPr>
        <p:spPr>
          <a:xfrm>
            <a:off x="388620" y="215524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and sum corresponding budget items to find Total Funding</a:t>
            </a:r>
          </a:p>
        </p:txBody>
      </p:sp>
      <p:sp>
        <p:nvSpPr>
          <p:cNvPr id="101" name="ApproachStep"/>
          <p:cNvSpPr txBox="1"/>
          <p:nvPr/>
        </p:nvSpPr>
        <p:spPr>
          <a:xfrm>
            <a:off x="388620" y="2853842"/>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Total Funding equals TAM</a:t>
            </a:r>
          </a:p>
        </p:txBody>
      </p:sp>
      <p:sp>
        <p:nvSpPr>
          <p:cNvPr id="102" name="ApproachStep"/>
          <p:cNvSpPr txBox="1"/>
          <p:nvPr/>
        </p:nvSpPr>
        <p:spPr>
          <a:xfrm>
            <a:off x="388620" y="3551530"/>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Multiply by unmanned adoption rate to find SAM</a:t>
            </a:r>
          </a:p>
        </p:txBody>
      </p:sp>
      <p:sp>
        <p:nvSpPr>
          <p:cNvPr id="103" name="ApproachStep"/>
          <p:cNvSpPr txBox="1"/>
          <p:nvPr/>
        </p:nvSpPr>
        <p:spPr>
          <a:xfrm>
            <a:off x="388620" y="1456639"/>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applicable unmanned platforms</a:t>
            </a:r>
          </a:p>
        </p:txBody>
      </p:sp>
      <p:sp>
        <p:nvSpPr>
          <p:cNvPr id="104" name="ApproachStep"/>
          <p:cNvSpPr txBox="1"/>
          <p:nvPr/>
        </p:nvSpPr>
        <p:spPr>
          <a:xfrm>
            <a:off x="388620" y="425013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Multiply by Saronic market share to find Company TCV</a:t>
            </a:r>
          </a:p>
        </p:txBody>
      </p:sp>
      <p:sp>
        <p:nvSpPr>
          <p:cNvPr id="105" name="MethodNote"/>
          <p:cNvSpPr txBox="1"/>
          <p:nvPr/>
        </p:nvSpPr>
        <p:spPr>
          <a:xfrm>
            <a:off x="452628" y="6073445"/>
            <a:ext cx="11308385" cy="323698"/>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Programs and Projects included where relevant (e.g., no Cost Elements or Cost Elements in FY26 PBR account for small fraction of total Program/Project funds)</a:t>
            </a:r>
          </a:p>
        </p:txBody>
      </p:sp>
      <p:sp>
        <p:nvSpPr>
          <p:cNvPr id="106" name="FlowNode"/>
          <p:cNvSpPr txBox="1"/>
          <p:nvPr/>
        </p:nvSpPr>
        <p:spPr>
          <a:xfrm>
            <a:off x="10479024" y="2311603"/>
            <a:ext cx="1388974"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7" name="FlowNode"/>
          <p:cNvSpPr txBox="1"/>
          <p:nvPr/>
        </p:nvSpPr>
        <p:spPr>
          <a:xfrm>
            <a:off x="10479024" y="3010205"/>
            <a:ext cx="1388974"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08" name="FlowNode"/>
          <p:cNvSpPr txBox="1"/>
          <p:nvPr/>
        </p:nvSpPr>
        <p:spPr>
          <a:xfrm>
            <a:off x="2745943" y="3010205"/>
            <a:ext cx="2330806"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9" name="FlowNode"/>
          <p:cNvSpPr txBox="1"/>
          <p:nvPr/>
        </p:nvSpPr>
        <p:spPr>
          <a:xfrm>
            <a:off x="2745943" y="3708806"/>
            <a:ext cx="2330806"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10" name="FlowNode"/>
          <p:cNvSpPr txBox="1"/>
          <p:nvPr/>
        </p:nvSpPr>
        <p:spPr>
          <a:xfrm>
            <a:off x="10479024" y="3708806"/>
            <a:ext cx="1388974"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1" name="FlowNode"/>
          <p:cNvSpPr txBox="1"/>
          <p:nvPr/>
        </p:nvSpPr>
        <p:spPr>
          <a:xfrm>
            <a:off x="10479024" y="4407408"/>
            <a:ext cx="1388974"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Company TCV ($)</a:t>
            </a:r>
          </a:p>
        </p:txBody>
      </p:sp>
      <p:sp>
        <p:nvSpPr>
          <p:cNvPr id="112" name="FlowNode"/>
          <p:cNvSpPr txBox="1"/>
          <p:nvPr/>
        </p:nvSpPr>
        <p:spPr>
          <a:xfrm>
            <a:off x="2745943" y="1613002"/>
            <a:ext cx="1388974" cy="328270"/>
          </a:xfrm>
          <a:prstGeom prst="rect">
            <a:avLst/>
          </a:prstGeom>
          <a:solidFill>
            <a:srgbClr val="000000"/>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S/M UUV</a:t>
            </a:r>
          </a:p>
        </p:txBody>
      </p:sp>
      <p:sp>
        <p:nvSpPr>
          <p:cNvPr id="113" name="FlowNode"/>
          <p:cNvSpPr txBox="1"/>
          <p:nvPr/>
        </p:nvSpPr>
        <p:spPr>
          <a:xfrm>
            <a:off x="5322722" y="1613002"/>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Large / XL UUV</a:t>
            </a:r>
          </a:p>
        </p:txBody>
      </p:sp>
      <p:sp>
        <p:nvSpPr>
          <p:cNvPr id="114" name="FlowNode"/>
          <p:cNvSpPr txBox="1"/>
          <p:nvPr/>
        </p:nvSpPr>
        <p:spPr>
          <a:xfrm>
            <a:off x="8326526"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Cost Elements ($)</a:t>
            </a:r>
          </a:p>
        </p:txBody>
      </p:sp>
      <p:sp>
        <p:nvSpPr>
          <p:cNvPr id="115" name="FlowNode"/>
          <p:cNvSpPr txBox="1"/>
          <p:nvPr/>
        </p:nvSpPr>
        <p:spPr>
          <a:xfrm>
            <a:off x="7395667" y="3708806"/>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Unmanned adoption (%) - 100% </a:t>
            </a:r>
          </a:p>
        </p:txBody>
      </p:sp>
      <p:sp>
        <p:nvSpPr>
          <p:cNvPr id="116" name="FlowNode"/>
          <p:cNvSpPr txBox="1"/>
          <p:nvPr/>
        </p:nvSpPr>
        <p:spPr>
          <a:xfrm>
            <a:off x="2745943" y="4406494"/>
            <a:ext cx="2330806"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7" name="FlowNode"/>
          <p:cNvSpPr txBox="1"/>
          <p:nvPr/>
        </p:nvSpPr>
        <p:spPr>
          <a:xfrm>
            <a:off x="7395667" y="4406494"/>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Saronic market share (%)</a:t>
            </a:r>
          </a:p>
        </p:txBody>
      </p:sp>
      <p:sp>
        <p:nvSpPr>
          <p:cNvPr id="118" name="FlowNode"/>
          <p:cNvSpPr txBox="1"/>
          <p:nvPr/>
        </p:nvSpPr>
        <p:spPr>
          <a:xfrm>
            <a:off x="2745943"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OBBBA items ($)</a:t>
            </a:r>
          </a:p>
        </p:txBody>
      </p:sp>
      <p:sp>
        <p:nvSpPr>
          <p:cNvPr id="119" name="FlowNode"/>
          <p:cNvSpPr txBox="1"/>
          <p:nvPr/>
        </p:nvSpPr>
        <p:spPr>
          <a:xfrm>
            <a:off x="7900416" y="1613002"/>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Wave-powered UUV</a:t>
            </a:r>
          </a:p>
        </p:txBody>
      </p:sp>
      <p:sp>
        <p:nvSpPr>
          <p:cNvPr id="120" name="FlowNode"/>
          <p:cNvSpPr txBox="1"/>
          <p:nvPr/>
        </p:nvSpPr>
        <p:spPr>
          <a:xfrm>
            <a:off x="10478110" y="1613002"/>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Core Technologies</a:t>
            </a:r>
          </a:p>
        </p:txBody>
      </p:sp>
      <p:sp>
        <p:nvSpPr>
          <p:cNvPr id="121" name="Programs"/>
          <p:cNvSpPr txBox="1"/>
          <p:nvPr/>
        </p:nvSpPr>
        <p:spPr>
          <a:xfrm>
            <a:off x="4605833"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Programs ($)</a:t>
            </a:r>
            <a:r>
              <a:rPr lang="en-US" sz="900" dirty="0">
                <a:solidFill>
                  <a:srgbClr val="FFFFFF"/>
                </a:solidFill>
                <a:latin typeface="Arial"/>
                <a:ea typeface="Arial"/>
                <a:cs typeface="Arial"/>
              </a:rPr>
              <a:t>1</a:t>
            </a:r>
          </a:p>
        </p:txBody>
      </p:sp>
      <p:sp>
        <p:nvSpPr>
          <p:cNvPr id="122" name="Equals"/>
          <p:cNvSpPr txBox="1"/>
          <p:nvPr/>
        </p:nvSpPr>
        <p:spPr>
          <a:xfrm>
            <a:off x="9914839" y="2292401"/>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3" name="Equals"/>
          <p:cNvSpPr txBox="1"/>
          <p:nvPr/>
        </p:nvSpPr>
        <p:spPr>
          <a:xfrm>
            <a:off x="9914839" y="299100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4" name="Equals"/>
          <p:cNvSpPr txBox="1"/>
          <p:nvPr/>
        </p:nvSpPr>
        <p:spPr>
          <a:xfrm>
            <a:off x="9914839" y="3689604"/>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5" name="Equals"/>
          <p:cNvSpPr txBox="1"/>
          <p:nvPr/>
        </p:nvSpPr>
        <p:spPr>
          <a:xfrm>
            <a:off x="9914839" y="4388206"/>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6" name="Plus Sign 59"/>
          <p:cNvSpPr txBox="1"/>
          <p:nvPr/>
        </p:nvSpPr>
        <p:spPr>
          <a:xfrm rot="2572505">
            <a:off x="6061558" y="3689604"/>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cxnSp>
        <p:nvCxnSpPr>
          <p:cNvPr id="127" name="Connector: Elbow 63"/>
          <p:cNvCxnSpPr/>
          <p:nvPr/>
        </p:nvCxnSpPr>
        <p:spPr>
          <a:xfrm rot="5400000">
            <a:off x="7356348" y="-806501"/>
            <a:ext cx="370332" cy="7262165"/>
          </a:xfrm>
          <a:prstGeom prst="bentConnector3">
            <a:avLst/>
          </a:prstGeom>
          <a:ln w="12700">
            <a:solidFill>
              <a:srgbClr val="000000"/>
            </a:solidFill>
            <a:tailEnd type="triangle" w="med" len="med"/>
          </a:ln>
        </p:spPr>
      </p:cxnSp>
      <p:cxnSp>
        <p:nvCxnSpPr>
          <p:cNvPr id="128" name="Connector: Elbow 64"/>
          <p:cNvCxnSpPr/>
          <p:nvPr/>
        </p:nvCxnSpPr>
        <p:spPr>
          <a:xfrm rot="5400000">
            <a:off x="7356348" y="-107899"/>
            <a:ext cx="370332" cy="7262165"/>
          </a:xfrm>
          <a:prstGeom prst="bentConnector3">
            <a:avLst/>
          </a:prstGeom>
          <a:ln w="12700">
            <a:solidFill>
              <a:srgbClr val="000000"/>
            </a:solidFill>
            <a:tailEnd type="triangle" w="med" len="med"/>
          </a:ln>
        </p:spPr>
      </p:cxnSp>
      <p:cxnSp>
        <p:nvCxnSpPr>
          <p:cNvPr id="129" name="Connector: Elbow 65"/>
          <p:cNvCxnSpPr/>
          <p:nvPr/>
        </p:nvCxnSpPr>
        <p:spPr>
          <a:xfrm rot="5400000">
            <a:off x="7356348" y="590702"/>
            <a:ext cx="370332" cy="7262165"/>
          </a:xfrm>
          <a:prstGeom prst="bentConnector3">
            <a:avLst/>
          </a:prstGeom>
          <a:ln w="12700">
            <a:solidFill>
              <a:srgbClr val="000000"/>
            </a:solidFill>
            <a:tailEnd type="triangle" w="med" len="med"/>
          </a:ln>
        </p:spPr>
      </p:cxnSp>
      <p:sp>
        <p:nvSpPr>
          <p:cNvPr id="130" name="Plus Sign 66"/>
          <p:cNvSpPr txBox="1"/>
          <p:nvPr/>
        </p:nvSpPr>
        <p:spPr>
          <a:xfrm rot="2572505">
            <a:off x="6061558" y="4388206"/>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1" name="Left Brace 69"/>
          <p:cNvSpPr txBox="1"/>
          <p:nvPr/>
        </p:nvSpPr>
        <p:spPr>
          <a:xfrm rot="16200000">
            <a:off x="7142378" y="-2444191"/>
            <a:ext cx="328270" cy="9121140"/>
          </a:xfrm>
          <a:prstGeom prst="leftBrace">
            <a:avLst>
              <a:gd name="adj1" fmla="val 8333"/>
              <a:gd name="adj2" fmla="val 7206"/>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2" name="Left Brace 70"/>
          <p:cNvSpPr txBox="1"/>
          <p:nvPr/>
        </p:nvSpPr>
        <p:spPr>
          <a:xfrm rot="16200000">
            <a:off x="7142378" y="-2444191"/>
            <a:ext cx="328270" cy="9121140"/>
          </a:xfrm>
          <a:prstGeom prst="leftBrace">
            <a:avLst>
              <a:gd name="adj1" fmla="val 8333"/>
              <a:gd name="adj2" fmla="val 68631"/>
            </a:avLst>
          </a:prstGeom>
          <a:noFill/>
          <a:ln w="3175">
            <a:solidFill>
              <a:srgbClr val="000000"/>
            </a:solidFill>
          </a:ln>
        </p:spPr>
        <p:txBody>
          <a:bodyPr wrap="square" anchor="ctr" lIns="91440" tIns="45720" rIns="91440" bIns="45720"/>
          <a:lstStyle/>
          <a:p>
            <a:pPr algn="ctr">
              <a:lnSpc>
                <a:spcPct val="100000"/>
              </a:lnSpc>
              <a:buNone/>
            </a:pPr>
            <a:endParaRPr lang="en-US"/>
          </a:p>
        </p:txBody>
      </p:sp>
      <p:sp>
        <p:nvSpPr>
          <p:cNvPr id="133" name="Projects"/>
          <p:cNvSpPr txBox="1"/>
          <p:nvPr/>
        </p:nvSpPr>
        <p:spPr>
          <a:xfrm>
            <a:off x="6466637"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Projects ($)</a:t>
            </a:r>
            <a:r>
              <a:rPr lang="en-US" sz="900" dirty="0">
                <a:solidFill>
                  <a:srgbClr val="FFFFFF"/>
                </a:solidFill>
                <a:latin typeface="Arial"/>
                <a:ea typeface="Arial"/>
                <a:cs typeface="Arial"/>
              </a:rPr>
              <a:t> 1</a:t>
            </a:r>
          </a:p>
        </p:txBody>
      </p:sp>
      <p:sp>
        <p:nvSpPr>
          <p:cNvPr id="134" name="Plus"/>
          <p:cNvSpPr txBox="1"/>
          <p:nvPr/>
        </p:nvSpPr>
        <p:spPr>
          <a:xfrm rot="5400000">
            <a:off x="6047842" y="2292401"/>
            <a:ext cx="274320" cy="27432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5" name="Plus"/>
          <p:cNvSpPr txBox="1"/>
          <p:nvPr/>
        </p:nvSpPr>
        <p:spPr>
          <a:xfrm rot="5400000">
            <a:off x="7907731" y="2292401"/>
            <a:ext cx="274320" cy="27432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6" name="Plus"/>
          <p:cNvSpPr txBox="1"/>
          <p:nvPr/>
        </p:nvSpPr>
        <p:spPr>
          <a:xfrm rot="5400000">
            <a:off x="4187038" y="2292401"/>
            <a:ext cx="274320" cy="27432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7" name="ApproachStepsHeader"/>
          <p:cNvSpPr txBox="1"/>
          <p:nvPr/>
        </p:nvSpPr>
        <p:spPr>
          <a:xfrm>
            <a:off x="388620" y="1123798"/>
            <a:ext cx="1921154"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38" name="Approach underline"/>
          <p:cNvCxnSpPr/>
          <p:nvPr/>
        </p:nvCxnSpPr>
        <p:spPr>
          <a:xfrm flipH="1">
            <a:off x="389534" y="1450238"/>
            <a:ext cx="1920240" cy="1829"/>
          </a:xfrm>
          <a:prstGeom prst="line">
            <a:avLst/>
          </a:prstGeom>
          <a:ln w="12700">
            <a:solidFill>
              <a:srgbClr val="162029"/>
            </a:solidFill>
          </a:ln>
        </p:spPr>
      </p:cxnSp>
      <p:sp>
        <p:nvSpPr>
          <p:cNvPr id="139" name="LegendSwatch"/>
          <p:cNvSpPr txBox="1"/>
          <p:nvPr/>
        </p:nvSpPr>
        <p:spPr>
          <a:xfrm>
            <a:off x="8300923" y="976579"/>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40" name="LegendSwatch"/>
          <p:cNvSpPr txBox="1"/>
          <p:nvPr/>
        </p:nvSpPr>
        <p:spPr>
          <a:xfrm>
            <a:off x="10822838" y="976579"/>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41" name="LegendSwatch"/>
          <p:cNvSpPr txBox="1"/>
          <p:nvPr/>
        </p:nvSpPr>
        <p:spPr>
          <a:xfrm>
            <a:off x="7099402" y="976579"/>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42" name="LegendSwatch"/>
          <p:cNvSpPr txBox="1"/>
          <p:nvPr/>
        </p:nvSpPr>
        <p:spPr>
          <a:xfrm>
            <a:off x="9850831" y="976579"/>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43" name="LegendLabel"/>
          <p:cNvSpPr txBox="1"/>
          <p:nvPr/>
        </p:nvSpPr>
        <p:spPr>
          <a:xfrm>
            <a:off x="8504834" y="976579"/>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44" name="LegendLabel"/>
          <p:cNvSpPr txBox="1"/>
          <p:nvPr/>
        </p:nvSpPr>
        <p:spPr>
          <a:xfrm>
            <a:off x="11027664" y="976579"/>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45" name="LegendLabel"/>
          <p:cNvSpPr txBox="1"/>
          <p:nvPr/>
        </p:nvSpPr>
        <p:spPr>
          <a:xfrm>
            <a:off x="7303313" y="976579"/>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46" name="LegendLabel"/>
          <p:cNvSpPr txBox="1"/>
          <p:nvPr/>
        </p:nvSpPr>
        <p:spPr>
          <a:xfrm>
            <a:off x="10054742" y="976579"/>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47" name="ScopeChip"/>
          <p:cNvSpPr txBox="1"/>
          <p:nvPr/>
        </p:nvSpPr>
        <p:spPr>
          <a:xfrm>
            <a:off x="8340242" y="67666"/>
            <a:ext cx="2435047" cy="457200"/>
          </a:xfrm>
          <a:prstGeom prst="rect">
            <a:avLst/>
          </a:prstGeom>
          <a:solidFill>
            <a:srgbClr val="99B9D8"/>
          </a:solidFill>
          <a:ln w="3175">
            <a:solidFill>
              <a:srgbClr val="162029"/>
            </a:solidFill>
          </a:ln>
        </p:spPr>
        <p:txBody>
          <a:bodyPr wrap="square" anchor="ctr" lIns="91440" tIns="45720" rIns="91440" bIns="45720"/>
          <a:lstStyle/>
          <a:p>
            <a:pPr algn="ctr">
              <a:lnSpc>
                <a:spcPct val="100000"/>
              </a:lnSpc>
              <a:buNone/>
            </a:pPr>
            <a:r>
              <a:rPr lang="en-US" sz="1200" b="1" dirty="0">
                <a:solidFill>
                  <a:srgbClr val="162029"/>
                </a:solidFill>
                <a:latin typeface="Arial"/>
                <a:ea typeface="Arial"/>
                <a:cs typeface="Arial"/>
              </a:rPr>
              <a:t>Unmanned-specified</a:t>
            </a:r>
          </a:p>
        </p:txBody>
      </p:sp>
      <p:pic>
        <p:nvPicPr>
          <p:cNvPr id="148"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to find TCV | USV-specified</a:t>
            </a:r>
          </a:p>
        </p:txBody>
      </p:sp>
      <p:sp>
        <p:nvSpPr>
          <p:cNvPr id="100" name="ApproachStep"/>
          <p:cNvSpPr txBox="1"/>
          <p:nvPr/>
        </p:nvSpPr>
        <p:spPr>
          <a:xfrm>
            <a:off x="389534" y="215524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2. Identify and sum corresponding budget items to find Total Funding</a:t>
            </a:r>
          </a:p>
        </p:txBody>
      </p:sp>
      <p:sp>
        <p:nvSpPr>
          <p:cNvPr id="101" name="ApproachStep"/>
          <p:cNvSpPr txBox="1"/>
          <p:nvPr/>
        </p:nvSpPr>
        <p:spPr>
          <a:xfrm>
            <a:off x="389534" y="2853842"/>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3. Total Funding equals TAM</a:t>
            </a:r>
          </a:p>
        </p:txBody>
      </p:sp>
      <p:sp>
        <p:nvSpPr>
          <p:cNvPr id="102" name="ApproachStep"/>
          <p:cNvSpPr txBox="1"/>
          <p:nvPr/>
        </p:nvSpPr>
        <p:spPr>
          <a:xfrm>
            <a:off x="389534" y="3551530"/>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4. Multiply by unmanned adoption rate to find SAM</a:t>
            </a:r>
          </a:p>
        </p:txBody>
      </p:sp>
      <p:sp>
        <p:nvSpPr>
          <p:cNvPr id="103" name="ApproachStep"/>
          <p:cNvSpPr txBox="1"/>
          <p:nvPr/>
        </p:nvSpPr>
        <p:spPr>
          <a:xfrm>
            <a:off x="389534" y="1456639"/>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1. Identify applicable unmanned platforms</a:t>
            </a:r>
          </a:p>
        </p:txBody>
      </p:sp>
      <p:sp>
        <p:nvSpPr>
          <p:cNvPr id="104" name="ApproachStep"/>
          <p:cNvSpPr txBox="1"/>
          <p:nvPr/>
        </p:nvSpPr>
        <p:spPr>
          <a:xfrm>
            <a:off x="389534" y="4250131"/>
            <a:ext cx="1921154"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5. Multiply by Saronic market share to find Company TCV</a:t>
            </a:r>
          </a:p>
        </p:txBody>
      </p:sp>
      <p:sp>
        <p:nvSpPr>
          <p:cNvPr id="105" name="Label"/>
          <p:cNvSpPr txBox="1"/>
          <p:nvPr/>
        </p:nvSpPr>
        <p:spPr>
          <a:xfrm>
            <a:off x="452628" y="6073445"/>
            <a:ext cx="11308385" cy="323698"/>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Programs and Projects included where relevant (e.g., no Cost Elements or Cost Elements in FY26 PBR account for small fraction of total Program/Project funds)</a:t>
            </a:r>
          </a:p>
        </p:txBody>
      </p:sp>
      <p:sp>
        <p:nvSpPr>
          <p:cNvPr id="106" name="FlowNode"/>
          <p:cNvSpPr txBox="1"/>
          <p:nvPr/>
        </p:nvSpPr>
        <p:spPr>
          <a:xfrm>
            <a:off x="10479024" y="2311603"/>
            <a:ext cx="1388974"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7" name="FlowNode"/>
          <p:cNvSpPr txBox="1"/>
          <p:nvPr/>
        </p:nvSpPr>
        <p:spPr>
          <a:xfrm>
            <a:off x="10479024" y="3010205"/>
            <a:ext cx="1388974"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08" name="FlowNode"/>
          <p:cNvSpPr txBox="1"/>
          <p:nvPr/>
        </p:nvSpPr>
        <p:spPr>
          <a:xfrm>
            <a:off x="2745943" y="3010205"/>
            <a:ext cx="2330806" cy="328270"/>
          </a:xfrm>
          <a:prstGeom prst="rect">
            <a:avLst/>
          </a:prstGeom>
          <a:solidFill>
            <a:srgbClr val="E2E9EF"/>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Total Funding ($)</a:t>
            </a:r>
          </a:p>
        </p:txBody>
      </p:sp>
      <p:sp>
        <p:nvSpPr>
          <p:cNvPr id="109" name="FlowNode"/>
          <p:cNvSpPr txBox="1"/>
          <p:nvPr/>
        </p:nvSpPr>
        <p:spPr>
          <a:xfrm>
            <a:off x="2745943" y="3708806"/>
            <a:ext cx="2330806" cy="328270"/>
          </a:xfrm>
          <a:prstGeom prst="rect">
            <a:avLst/>
          </a:prstGeom>
          <a:solidFill>
            <a:srgbClr val="B6C8D8"/>
          </a:solidFill>
          <a:ln w="3175">
            <a:solidFill>
              <a:srgbClr val="000000"/>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TAM ($)</a:t>
            </a:r>
          </a:p>
        </p:txBody>
      </p:sp>
      <p:sp>
        <p:nvSpPr>
          <p:cNvPr id="110" name="FlowNode"/>
          <p:cNvSpPr txBox="1"/>
          <p:nvPr/>
        </p:nvSpPr>
        <p:spPr>
          <a:xfrm>
            <a:off x="10479024" y="3708806"/>
            <a:ext cx="1388974"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1" name="FlowNode"/>
          <p:cNvSpPr txBox="1"/>
          <p:nvPr/>
        </p:nvSpPr>
        <p:spPr>
          <a:xfrm>
            <a:off x="10479024" y="4407408"/>
            <a:ext cx="1388974"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Company TCV ($)</a:t>
            </a:r>
          </a:p>
        </p:txBody>
      </p:sp>
      <p:sp>
        <p:nvSpPr>
          <p:cNvPr id="112" name="FlowNode"/>
          <p:cNvSpPr txBox="1"/>
          <p:nvPr/>
        </p:nvSpPr>
        <p:spPr>
          <a:xfrm>
            <a:off x="8326526"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Cost Elements ($)</a:t>
            </a:r>
          </a:p>
        </p:txBody>
      </p:sp>
      <p:sp>
        <p:nvSpPr>
          <p:cNvPr id="113" name="FlowNode"/>
          <p:cNvSpPr txBox="1"/>
          <p:nvPr/>
        </p:nvSpPr>
        <p:spPr>
          <a:xfrm>
            <a:off x="2745943" y="4406494"/>
            <a:ext cx="2330806" cy="328270"/>
          </a:xfrm>
          <a:prstGeom prst="rect">
            <a:avLst/>
          </a:prstGeom>
          <a:solidFill>
            <a:srgbClr val="6E91B1"/>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SAM ($)</a:t>
            </a:r>
          </a:p>
        </p:txBody>
      </p:sp>
      <p:sp>
        <p:nvSpPr>
          <p:cNvPr id="114" name="FlowNode"/>
          <p:cNvSpPr txBox="1"/>
          <p:nvPr/>
        </p:nvSpPr>
        <p:spPr>
          <a:xfrm>
            <a:off x="7395667" y="4406494"/>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Saronic market share (%)</a:t>
            </a:r>
          </a:p>
        </p:txBody>
      </p:sp>
      <p:sp>
        <p:nvSpPr>
          <p:cNvPr id="115" name="FlowNode"/>
          <p:cNvSpPr txBox="1"/>
          <p:nvPr/>
        </p:nvSpPr>
        <p:spPr>
          <a:xfrm>
            <a:off x="2745943"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OBBBA items ($)</a:t>
            </a:r>
          </a:p>
        </p:txBody>
      </p:sp>
      <p:sp>
        <p:nvSpPr>
          <p:cNvPr id="116" name="FlowNode"/>
          <p:cNvSpPr txBox="1"/>
          <p:nvPr/>
        </p:nvSpPr>
        <p:spPr>
          <a:xfrm>
            <a:off x="9536278" y="1613002"/>
            <a:ext cx="2330806"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USV Enabling Capabilities</a:t>
            </a:r>
          </a:p>
        </p:txBody>
      </p:sp>
      <p:sp>
        <p:nvSpPr>
          <p:cNvPr id="117" name="sUSVInput"/>
          <p:cNvSpPr txBox="1"/>
          <p:nvPr/>
        </p:nvSpPr>
        <p:spPr>
          <a:xfrm>
            <a:off x="2745943" y="1613002"/>
            <a:ext cx="2330806"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sUSV </a:t>
            </a:r>
            <a:r>
              <a:rPr lang="en-US" sz="900" dirty="0">
                <a:solidFill>
                  <a:srgbClr val="FFFFFF"/>
                </a:solidFill>
                <a:latin typeface="Arial"/>
                <a:ea typeface="Arial"/>
                <a:cs typeface="Arial"/>
              </a:rPr>
              <a:t>(incl. Corsair- and Mirage-equivalent platforms)</a:t>
            </a:r>
          </a:p>
        </p:txBody>
      </p:sp>
      <p:sp>
        <p:nvSpPr>
          <p:cNvPr id="118" name="mUSVInput"/>
          <p:cNvSpPr txBox="1"/>
          <p:nvPr/>
        </p:nvSpPr>
        <p:spPr>
          <a:xfrm>
            <a:off x="6141110" y="1613002"/>
            <a:ext cx="2330806"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mUSV</a:t>
            </a:r>
          </a:p>
        </p:txBody>
      </p:sp>
      <p:sp>
        <p:nvSpPr>
          <p:cNvPr id="119" name="Programs"/>
          <p:cNvSpPr txBox="1"/>
          <p:nvPr/>
        </p:nvSpPr>
        <p:spPr>
          <a:xfrm>
            <a:off x="4605833"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Programs ($)</a:t>
            </a:r>
            <a:r>
              <a:rPr lang="en-US" sz="900" dirty="0">
                <a:solidFill>
                  <a:srgbClr val="FFFFFF"/>
                </a:solidFill>
                <a:latin typeface="Arial"/>
                <a:ea typeface="Arial"/>
                <a:cs typeface="Arial"/>
              </a:rPr>
              <a:t>1</a:t>
            </a:r>
          </a:p>
        </p:txBody>
      </p:sp>
      <p:sp>
        <p:nvSpPr>
          <p:cNvPr id="120" name="Equals"/>
          <p:cNvSpPr txBox="1"/>
          <p:nvPr/>
        </p:nvSpPr>
        <p:spPr>
          <a:xfrm>
            <a:off x="9914839" y="2292401"/>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1" name="Equals"/>
          <p:cNvSpPr txBox="1"/>
          <p:nvPr/>
        </p:nvSpPr>
        <p:spPr>
          <a:xfrm>
            <a:off x="9914839" y="299100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2" name="Equals"/>
          <p:cNvSpPr txBox="1"/>
          <p:nvPr/>
        </p:nvSpPr>
        <p:spPr>
          <a:xfrm>
            <a:off x="9914839" y="3689604"/>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3" name="Equals"/>
          <p:cNvSpPr txBox="1"/>
          <p:nvPr/>
        </p:nvSpPr>
        <p:spPr>
          <a:xfrm>
            <a:off x="9914839" y="4388206"/>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4" name="Plus Sign 59"/>
          <p:cNvSpPr txBox="1"/>
          <p:nvPr/>
        </p:nvSpPr>
        <p:spPr>
          <a:xfrm rot="2572505">
            <a:off x="6053328" y="3689604"/>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5" name="AdoptionRate"/>
          <p:cNvSpPr txBox="1"/>
          <p:nvPr/>
        </p:nvSpPr>
        <p:spPr>
          <a:xfrm>
            <a:off x="7395667" y="3708806"/>
            <a:ext cx="2329891"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Unmanned adoption (%)</a:t>
            </a:r>
            <a:br/>
            <a:r>
              <a:rPr lang="en-US" sz="900" i="1" dirty="0">
                <a:solidFill>
                  <a:srgbClr val="FFFFFF"/>
                </a:solidFill>
                <a:latin typeface="Arial"/>
                <a:ea typeface="Arial"/>
                <a:cs typeface="Arial"/>
              </a:rPr>
              <a:t>Rate: 100% </a:t>
            </a:r>
          </a:p>
        </p:txBody>
      </p:sp>
      <p:cxnSp>
        <p:nvCxnSpPr>
          <p:cNvPr id="126" name="Connector: Elbow 63"/>
          <p:cNvCxnSpPr/>
          <p:nvPr/>
        </p:nvCxnSpPr>
        <p:spPr>
          <a:xfrm rot="5400000">
            <a:off x="7356348" y="-806501"/>
            <a:ext cx="370332" cy="7262165"/>
          </a:xfrm>
          <a:prstGeom prst="bentConnector3">
            <a:avLst/>
          </a:prstGeom>
          <a:ln w="12700">
            <a:solidFill>
              <a:srgbClr val="000000"/>
            </a:solidFill>
            <a:tailEnd type="triangle" w="med" len="med"/>
          </a:ln>
        </p:spPr>
      </p:cxnSp>
      <p:cxnSp>
        <p:nvCxnSpPr>
          <p:cNvPr id="127" name="Connector: Elbow 64"/>
          <p:cNvCxnSpPr/>
          <p:nvPr/>
        </p:nvCxnSpPr>
        <p:spPr>
          <a:xfrm rot="5400000">
            <a:off x="7356348" y="-107899"/>
            <a:ext cx="370332" cy="7262165"/>
          </a:xfrm>
          <a:prstGeom prst="bentConnector3">
            <a:avLst/>
          </a:prstGeom>
          <a:ln w="12700">
            <a:solidFill>
              <a:srgbClr val="000000"/>
            </a:solidFill>
            <a:tailEnd type="triangle" w="med" len="med"/>
          </a:ln>
        </p:spPr>
      </p:cxnSp>
      <p:cxnSp>
        <p:nvCxnSpPr>
          <p:cNvPr id="128" name="Connector: Elbow 65"/>
          <p:cNvCxnSpPr/>
          <p:nvPr/>
        </p:nvCxnSpPr>
        <p:spPr>
          <a:xfrm rot="5400000">
            <a:off x="7356348" y="590702"/>
            <a:ext cx="370332" cy="7262165"/>
          </a:xfrm>
          <a:prstGeom prst="bentConnector3">
            <a:avLst/>
          </a:prstGeom>
          <a:ln w="12700">
            <a:solidFill>
              <a:srgbClr val="000000"/>
            </a:solidFill>
            <a:tailEnd type="triangle" w="med" len="med"/>
          </a:ln>
        </p:spPr>
      </p:cxnSp>
      <p:sp>
        <p:nvSpPr>
          <p:cNvPr id="129" name="Plus Sign 66"/>
          <p:cNvSpPr txBox="1"/>
          <p:nvPr/>
        </p:nvSpPr>
        <p:spPr>
          <a:xfrm rot="2572505">
            <a:off x="6053328" y="4388206"/>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0" name="Left Brace 69"/>
          <p:cNvSpPr txBox="1"/>
          <p:nvPr/>
        </p:nvSpPr>
        <p:spPr>
          <a:xfrm rot="16200000">
            <a:off x="7142378" y="-2444191"/>
            <a:ext cx="328270" cy="9121140"/>
          </a:xfrm>
          <a:prstGeom prst="leftBrace">
            <a:avLst>
              <a:gd name="adj1" fmla="val 8333"/>
              <a:gd name="adj2" fmla="val 7206"/>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1" name="Left Brace 70"/>
          <p:cNvSpPr txBox="1"/>
          <p:nvPr/>
        </p:nvSpPr>
        <p:spPr>
          <a:xfrm rot="16200000">
            <a:off x="7142378" y="-2444191"/>
            <a:ext cx="328270" cy="9121140"/>
          </a:xfrm>
          <a:prstGeom prst="leftBrace">
            <a:avLst>
              <a:gd name="adj1" fmla="val 8333"/>
              <a:gd name="adj2" fmla="val 68631"/>
            </a:avLst>
          </a:prstGeom>
          <a:noFill/>
          <a:ln w="3175">
            <a:solidFill>
              <a:srgbClr val="000000"/>
            </a:solidFill>
          </a:ln>
        </p:spPr>
        <p:txBody>
          <a:bodyPr wrap="square" anchor="ctr" lIns="91440" tIns="45720" rIns="91440" bIns="45720"/>
          <a:lstStyle/>
          <a:p>
            <a:pPr algn="ctr">
              <a:lnSpc>
                <a:spcPct val="100000"/>
              </a:lnSpc>
              <a:buNone/>
            </a:pPr>
            <a:endParaRPr lang="en-US"/>
          </a:p>
        </p:txBody>
      </p:sp>
      <p:sp>
        <p:nvSpPr>
          <p:cNvPr id="132" name="Projects"/>
          <p:cNvSpPr txBox="1"/>
          <p:nvPr/>
        </p:nvSpPr>
        <p:spPr>
          <a:xfrm>
            <a:off x="6466637" y="2311603"/>
            <a:ext cx="1388974" cy="32827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Projects ($)</a:t>
            </a:r>
            <a:r>
              <a:rPr lang="en-US" sz="900" dirty="0">
                <a:solidFill>
                  <a:srgbClr val="FFFFFF"/>
                </a:solidFill>
                <a:latin typeface="Arial"/>
                <a:ea typeface="Arial"/>
                <a:cs typeface="Arial"/>
              </a:rPr>
              <a:t> 1</a:t>
            </a:r>
          </a:p>
        </p:txBody>
      </p:sp>
      <p:sp>
        <p:nvSpPr>
          <p:cNvPr id="133" name="Plus"/>
          <p:cNvSpPr txBox="1"/>
          <p:nvPr/>
        </p:nvSpPr>
        <p:spPr>
          <a:xfrm rot="5400000">
            <a:off x="6047842" y="2292401"/>
            <a:ext cx="274320" cy="27432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4" name="Plus"/>
          <p:cNvSpPr txBox="1"/>
          <p:nvPr/>
        </p:nvSpPr>
        <p:spPr>
          <a:xfrm rot="5400000">
            <a:off x="7907731" y="2292401"/>
            <a:ext cx="274320" cy="27432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5" name="Plus"/>
          <p:cNvSpPr txBox="1"/>
          <p:nvPr/>
        </p:nvSpPr>
        <p:spPr>
          <a:xfrm rot="5400000">
            <a:off x="4187038" y="2292401"/>
            <a:ext cx="274320" cy="27432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6" name="ApproachStepsHeader"/>
          <p:cNvSpPr txBox="1"/>
          <p:nvPr/>
        </p:nvSpPr>
        <p:spPr>
          <a:xfrm>
            <a:off x="388620" y="1123798"/>
            <a:ext cx="1921154"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37" name="Approach underline"/>
          <p:cNvCxnSpPr/>
          <p:nvPr/>
        </p:nvCxnSpPr>
        <p:spPr>
          <a:xfrm flipH="1">
            <a:off x="389534" y="1450238"/>
            <a:ext cx="1920240" cy="1829"/>
          </a:xfrm>
          <a:prstGeom prst="line">
            <a:avLst/>
          </a:prstGeom>
          <a:ln w="12700">
            <a:solidFill>
              <a:srgbClr val="162029"/>
            </a:solidFill>
          </a:ln>
        </p:spPr>
      </p:cxnSp>
      <p:sp>
        <p:nvSpPr>
          <p:cNvPr id="138" name="LegendSwatch"/>
          <p:cNvSpPr txBox="1"/>
          <p:nvPr/>
        </p:nvSpPr>
        <p:spPr>
          <a:xfrm>
            <a:off x="7099402" y="976579"/>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39" name="LegendSwatch"/>
          <p:cNvSpPr txBox="1"/>
          <p:nvPr/>
        </p:nvSpPr>
        <p:spPr>
          <a:xfrm>
            <a:off x="8300923" y="976579"/>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40" name="LegendSwatch"/>
          <p:cNvSpPr txBox="1"/>
          <p:nvPr/>
        </p:nvSpPr>
        <p:spPr>
          <a:xfrm>
            <a:off x="9850831" y="976579"/>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41" name="LegendSwatch"/>
          <p:cNvSpPr txBox="1"/>
          <p:nvPr/>
        </p:nvSpPr>
        <p:spPr>
          <a:xfrm>
            <a:off x="10822838" y="976579"/>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42" name="LegendLabel"/>
          <p:cNvSpPr txBox="1"/>
          <p:nvPr/>
        </p:nvSpPr>
        <p:spPr>
          <a:xfrm>
            <a:off x="7303313" y="976579"/>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43" name="LegendLabel"/>
          <p:cNvSpPr txBox="1"/>
          <p:nvPr/>
        </p:nvSpPr>
        <p:spPr>
          <a:xfrm>
            <a:off x="8504834" y="976579"/>
            <a:ext cx="1324051"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Sized in another campaign</a:t>
            </a:r>
          </a:p>
        </p:txBody>
      </p:sp>
      <p:sp>
        <p:nvSpPr>
          <p:cNvPr id="144" name="LegendLabel"/>
          <p:cNvSpPr txBox="1"/>
          <p:nvPr/>
        </p:nvSpPr>
        <p:spPr>
          <a:xfrm>
            <a:off x="10054742" y="976579"/>
            <a:ext cx="747065"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Future effort</a:t>
            </a:r>
          </a:p>
        </p:txBody>
      </p:sp>
      <p:sp>
        <p:nvSpPr>
          <p:cNvPr id="145" name="LegendLabel"/>
          <p:cNvSpPr txBox="1"/>
          <p:nvPr/>
        </p:nvSpPr>
        <p:spPr>
          <a:xfrm>
            <a:off x="11027664" y="976579"/>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46" name="ScopeChip"/>
          <p:cNvSpPr txBox="1"/>
          <p:nvPr/>
        </p:nvSpPr>
        <p:spPr>
          <a:xfrm>
            <a:off x="8552383" y="125273"/>
            <a:ext cx="2011680" cy="342900"/>
          </a:xfrm>
          <a:prstGeom prst="rect">
            <a:avLst/>
          </a:prstGeom>
          <a:solidFill>
            <a:srgbClr val="99B9D8"/>
          </a:solidFill>
          <a:ln w="3175">
            <a:solidFill>
              <a:srgbClr val="162029"/>
            </a:solidFill>
          </a:ln>
        </p:spPr>
        <p:txBody>
          <a:bodyPr wrap="square" anchor="ctr" lIns="91440" tIns="45720" rIns="91440" bIns="45720"/>
          <a:lstStyle/>
          <a:p>
            <a:pPr algn="ctr">
              <a:lnSpc>
                <a:spcPct val="100000"/>
              </a:lnSpc>
              <a:buNone/>
            </a:pPr>
            <a:r>
              <a:rPr lang="en-US" sz="1000" b="1" dirty="0">
                <a:solidFill>
                  <a:srgbClr val="162029"/>
                </a:solidFill>
                <a:latin typeface="Arial"/>
                <a:ea typeface="Arial"/>
                <a:cs typeface="Arial"/>
              </a:rPr>
              <a:t>Unmanned-specified</a:t>
            </a:r>
          </a:p>
        </p:txBody>
      </p:sp>
      <p:pic>
        <p:nvPicPr>
          <p:cNvPr id="147" name="Picture 2"/>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TCV to ACV Approach | Finding Company ACV</a:t>
            </a:r>
          </a:p>
        </p:txBody>
      </p:sp>
      <p:sp>
        <p:nvSpPr>
          <p:cNvPr id="100" name="ApproachDescription"/>
          <p:cNvSpPr txBox="1"/>
          <p:nvPr/>
        </p:nvSpPr>
        <p:spPr>
          <a:xfrm>
            <a:off x="388620" y="1452982"/>
            <a:ext cx="2093062"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Multiply Company TCV by contract exercise timing to find Company ACV</a:t>
            </a:r>
          </a:p>
        </p:txBody>
      </p:sp>
      <p:sp>
        <p:nvSpPr>
          <p:cNvPr id="101" name="ApproachStepsHeader"/>
          <p:cNvSpPr txBox="1"/>
          <p:nvPr/>
        </p:nvSpPr>
        <p:spPr>
          <a:xfrm>
            <a:off x="388620" y="1123798"/>
            <a:ext cx="2094890"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02" name="ApproachHeaderRule"/>
          <p:cNvCxnSpPr/>
          <p:nvPr/>
        </p:nvCxnSpPr>
        <p:spPr>
          <a:xfrm flipH="1">
            <a:off x="389534" y="1450238"/>
            <a:ext cx="2093062" cy="1829"/>
          </a:xfrm>
          <a:prstGeom prst="line">
            <a:avLst/>
          </a:prstGeom>
          <a:ln w="12700">
            <a:solidFill>
              <a:srgbClr val="162029"/>
            </a:solidFill>
          </a:ln>
        </p:spPr>
      </p:cxnSp>
      <p:sp>
        <p:nvSpPr>
          <p:cNvPr id="103" name="output"/>
          <p:cNvSpPr txBox="1"/>
          <p:nvPr/>
        </p:nvSpPr>
        <p:spPr>
          <a:xfrm>
            <a:off x="10479024" y="1609344"/>
            <a:ext cx="1388974" cy="328270"/>
          </a:xfrm>
          <a:prstGeom prst="rect">
            <a:avLst/>
          </a:prstGeom>
          <a:solidFill>
            <a:srgbClr val="263746"/>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by year ($)</a:t>
            </a:r>
          </a:p>
        </p:txBody>
      </p:sp>
      <p:cxnSp>
        <p:nvCxnSpPr>
          <p:cNvPr id="104" name="DashedExerciseArrow"/>
          <p:cNvCxnSpPr/>
          <p:nvPr/>
        </p:nvCxnSpPr>
        <p:spPr>
          <a:xfrm>
            <a:off x="1932127" y="2824582"/>
            <a:ext cx="844906" cy="0"/>
          </a:xfrm>
          <a:prstGeom prst="line">
            <a:avLst/>
          </a:prstGeom>
          <a:ln w="3175">
            <a:solidFill>
              <a:srgbClr val="162029"/>
            </a:solidFill>
            <a:prstDash val="dash"/>
            <a:tailEnd type="triangle" w="med" len="med"/>
          </a:ln>
        </p:spPr>
      </p:cxnSp>
      <p:cxnSp>
        <p:nvCxnSpPr>
          <p:cNvPr id="105" name="DashedExerciseArrow"/>
          <p:cNvCxnSpPr/>
          <p:nvPr/>
        </p:nvCxnSpPr>
        <p:spPr>
          <a:xfrm>
            <a:off x="3834994" y="3678631"/>
            <a:ext cx="844906" cy="0"/>
          </a:xfrm>
          <a:prstGeom prst="line">
            <a:avLst/>
          </a:prstGeom>
          <a:ln w="3175">
            <a:solidFill>
              <a:srgbClr val="162029"/>
            </a:solidFill>
            <a:prstDash val="dash"/>
            <a:tailEnd type="triangle" w="med" len="med"/>
          </a:ln>
        </p:spPr>
      </p:cxnSp>
      <p:cxnSp>
        <p:nvCxnSpPr>
          <p:cNvPr id="106" name="DashedExerciseArrow"/>
          <p:cNvCxnSpPr/>
          <p:nvPr/>
        </p:nvCxnSpPr>
        <p:spPr>
          <a:xfrm>
            <a:off x="5736946" y="3678631"/>
            <a:ext cx="844906" cy="0"/>
          </a:xfrm>
          <a:prstGeom prst="line">
            <a:avLst/>
          </a:prstGeom>
          <a:ln w="3175">
            <a:solidFill>
              <a:srgbClr val="162029"/>
            </a:solidFill>
            <a:prstDash val="dash"/>
            <a:tailEnd type="triangle" w="med" len="med"/>
          </a:ln>
        </p:spPr>
      </p:cxnSp>
      <p:cxnSp>
        <p:nvCxnSpPr>
          <p:cNvPr id="107" name="DashedExerciseArrow"/>
          <p:cNvCxnSpPr/>
          <p:nvPr/>
        </p:nvCxnSpPr>
        <p:spPr>
          <a:xfrm>
            <a:off x="7638898" y="3719779"/>
            <a:ext cx="844906" cy="0"/>
          </a:xfrm>
          <a:prstGeom prst="line">
            <a:avLst/>
          </a:prstGeom>
          <a:ln w="3175">
            <a:solidFill>
              <a:srgbClr val="162029"/>
            </a:solidFill>
            <a:prstDash val="dash"/>
            <a:tailEnd type="triangle" w="med" len="med"/>
          </a:ln>
        </p:spPr>
      </p:cxnSp>
      <p:cxnSp>
        <p:nvCxnSpPr>
          <p:cNvPr id="108" name="DashedExerciseArrow"/>
          <p:cNvCxnSpPr/>
          <p:nvPr/>
        </p:nvCxnSpPr>
        <p:spPr>
          <a:xfrm>
            <a:off x="9542678" y="4103827"/>
            <a:ext cx="844906" cy="0"/>
          </a:xfrm>
          <a:prstGeom prst="line">
            <a:avLst/>
          </a:prstGeom>
          <a:ln w="3175">
            <a:solidFill>
              <a:srgbClr val="162029"/>
            </a:solidFill>
            <a:prstDash val="dash"/>
            <a:tailEnd type="triangle" w="med" len="med"/>
          </a:ln>
        </p:spPr>
      </p:cxnSp>
      <p:graphicFrame>
        <p:nvGraphicFramePr>
          <p:cNvPr id="109" name="Chart"/>
          <p:cNvGraphicFramePr/>
          <p:nvPr/>
        </p:nvGraphicFramePr>
        <p:xfrm>
          <a:off x="370332" y="2741371"/>
          <a:ext cx="11579047" cy="1871777"/>
        </p:xfrm>
        <a:graphic>
          <a:graphicData uri="http://schemas.openxmlformats.org/drawingml/2006/chart">
            <c:chart xmlns:c="http://schemas.openxmlformats.org/drawingml/2006/chart" xmlns:r="http://schemas.openxmlformats.org/officeDocument/2006/relationships" r:id="rId2"/>
          </a:graphicData>
        </a:graphic>
      </p:graphicFrame>
      <p:sp>
        <p:nvSpPr>
          <p:cNvPr id="110" name="ValueBadge"/>
          <p:cNvSpPr txBox="1"/>
          <p:nvPr/>
        </p:nvSpPr>
        <p:spPr>
          <a:xfrm>
            <a:off x="1246327" y="3600907"/>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400</a:t>
            </a:r>
          </a:p>
        </p:txBody>
      </p:sp>
      <p:sp>
        <p:nvSpPr>
          <p:cNvPr id="111" name="CategoryTick"/>
          <p:cNvSpPr txBox="1"/>
          <p:nvPr/>
        </p:nvSpPr>
        <p:spPr>
          <a:xfrm>
            <a:off x="1260043" y="4573829"/>
            <a:ext cx="287122"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SAM</a:t>
            </a:r>
          </a:p>
        </p:txBody>
      </p:sp>
      <p:sp>
        <p:nvSpPr>
          <p:cNvPr id="112" name="CategoryTick"/>
          <p:cNvSpPr txBox="1"/>
          <p:nvPr/>
        </p:nvSpPr>
        <p:spPr>
          <a:xfrm>
            <a:off x="2919679" y="4573829"/>
            <a:ext cx="771754"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Market Share</a:t>
            </a:r>
          </a:p>
        </p:txBody>
      </p:sp>
      <p:sp>
        <p:nvSpPr>
          <p:cNvPr id="113" name="CategoryTick"/>
          <p:cNvSpPr txBox="1"/>
          <p:nvPr/>
        </p:nvSpPr>
        <p:spPr>
          <a:xfrm>
            <a:off x="4787798" y="4573829"/>
            <a:ext cx="843077"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Company TCV</a:t>
            </a:r>
          </a:p>
        </p:txBody>
      </p:sp>
      <p:sp>
        <p:nvSpPr>
          <p:cNvPr id="114" name="CategoryTick"/>
          <p:cNvSpPr txBox="1"/>
          <p:nvPr/>
        </p:nvSpPr>
        <p:spPr>
          <a:xfrm>
            <a:off x="6704381" y="4573829"/>
            <a:ext cx="814730"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Initial exercise</a:t>
            </a:r>
          </a:p>
        </p:txBody>
      </p:sp>
      <p:sp>
        <p:nvSpPr>
          <p:cNvPr id="115" name="CategoryTick"/>
          <p:cNvSpPr txBox="1"/>
          <p:nvPr/>
        </p:nvSpPr>
        <p:spPr>
          <a:xfrm>
            <a:off x="8556955" y="4573829"/>
            <a:ext cx="912571"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In-year exercise</a:t>
            </a:r>
          </a:p>
        </p:txBody>
      </p:sp>
      <p:sp>
        <p:nvSpPr>
          <p:cNvPr id="116" name="CategoryTick"/>
          <p:cNvSpPr txBox="1"/>
          <p:nvPr/>
        </p:nvSpPr>
        <p:spPr>
          <a:xfrm>
            <a:off x="10382098" y="4573829"/>
            <a:ext cx="1068019"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Next-year exercise</a:t>
            </a:r>
          </a:p>
        </p:txBody>
      </p:sp>
      <p:sp>
        <p:nvSpPr>
          <p:cNvPr id="117" name="ValueBadge"/>
          <p:cNvSpPr txBox="1"/>
          <p:nvPr/>
        </p:nvSpPr>
        <p:spPr>
          <a:xfrm>
            <a:off x="3148279" y="3174797"/>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000000"/>
                </a:solidFill>
                <a:latin typeface="Arial"/>
                <a:ea typeface="Arial"/>
                <a:cs typeface="Arial"/>
              </a:rPr>
              <a:t>$</a:t>
            </a:r>
            <a:r>
              <a:rPr lang="en-US" sz="1000" dirty="0">
                <a:solidFill>
                  <a:srgbClr val="000000"/>
                </a:solidFill>
                <a:latin typeface="Arial"/>
                <a:ea typeface="Arial"/>
                <a:cs typeface="Arial"/>
              </a:rPr>
              <a:t>200</a:t>
            </a:r>
          </a:p>
        </p:txBody>
      </p:sp>
      <p:sp>
        <p:nvSpPr>
          <p:cNvPr id="118" name="ValueBadge"/>
          <p:cNvSpPr txBox="1"/>
          <p:nvPr/>
        </p:nvSpPr>
        <p:spPr>
          <a:xfrm>
            <a:off x="5051146" y="4027932"/>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200</a:t>
            </a:r>
          </a:p>
        </p:txBody>
      </p:sp>
      <p:sp>
        <p:nvSpPr>
          <p:cNvPr id="119" name="ValueBadge"/>
          <p:cNvSpPr txBox="1"/>
          <p:nvPr/>
        </p:nvSpPr>
        <p:spPr>
          <a:xfrm>
            <a:off x="6987845" y="3622853"/>
            <a:ext cx="244145"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10</a:t>
            </a:r>
          </a:p>
        </p:txBody>
      </p:sp>
      <p:sp>
        <p:nvSpPr>
          <p:cNvPr id="120" name="ValueBadge"/>
          <p:cNvSpPr txBox="1"/>
          <p:nvPr/>
        </p:nvSpPr>
        <p:spPr>
          <a:xfrm>
            <a:off x="8889797" y="3834994"/>
            <a:ext cx="244145"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90</a:t>
            </a:r>
          </a:p>
        </p:txBody>
      </p:sp>
      <p:sp>
        <p:nvSpPr>
          <p:cNvPr id="121" name="ValueBadge"/>
          <p:cNvSpPr txBox="1"/>
          <p:nvPr/>
        </p:nvSpPr>
        <p:spPr>
          <a:xfrm>
            <a:off x="10758830" y="4240073"/>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100</a:t>
            </a:r>
          </a:p>
        </p:txBody>
      </p:sp>
      <p:sp>
        <p:nvSpPr>
          <p:cNvPr id="122" name="MultiplyGlyph"/>
          <p:cNvSpPr txBox="1"/>
          <p:nvPr/>
        </p:nvSpPr>
        <p:spPr>
          <a:xfrm rot="2572505">
            <a:off x="6012180" y="1590142"/>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3" name="input"/>
          <p:cNvSpPr txBox="1"/>
          <p:nvPr/>
        </p:nvSpPr>
        <p:spPr>
          <a:xfrm>
            <a:off x="3214116" y="1609344"/>
            <a:ext cx="2330806"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TCV ($)</a:t>
            </a:r>
          </a:p>
        </p:txBody>
      </p:sp>
      <p:sp>
        <p:nvSpPr>
          <p:cNvPr id="124" name="EqualsGlyph"/>
          <p:cNvSpPr txBox="1"/>
          <p:nvPr/>
        </p:nvSpPr>
        <p:spPr>
          <a:xfrm>
            <a:off x="9645091" y="159014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25" name="year1"/>
          <p:cNvSpPr txBox="1"/>
          <p:nvPr/>
        </p:nvSpPr>
        <p:spPr>
          <a:xfrm>
            <a:off x="6581851" y="2819095"/>
            <a:ext cx="2960827" cy="468173"/>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a:t>
            </a:r>
            <a:br/>
            <a:r>
              <a:rPr lang="en-US" sz="1000" dirty="0">
                <a:solidFill>
                  <a:srgbClr val="FFFFFF"/>
                </a:solidFill>
                <a:latin typeface="Arial"/>
                <a:ea typeface="Arial"/>
                <a:cs typeface="Arial"/>
              </a:rPr>
              <a:t>$100M in Year 1</a:t>
            </a:r>
          </a:p>
        </p:txBody>
      </p:sp>
      <p:sp>
        <p:nvSpPr>
          <p:cNvPr id="126" name="year2"/>
          <p:cNvSpPr txBox="1"/>
          <p:nvPr/>
        </p:nvSpPr>
        <p:spPr>
          <a:xfrm>
            <a:off x="10233965" y="2819095"/>
            <a:ext cx="1347826" cy="468173"/>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a:t>
            </a:r>
            <a:br/>
            <a:r>
              <a:rPr lang="en-US" sz="1000" dirty="0">
                <a:solidFill>
                  <a:srgbClr val="FFFFFF"/>
                </a:solidFill>
                <a:latin typeface="Arial"/>
                <a:ea typeface="Arial"/>
                <a:cs typeface="Arial"/>
              </a:rPr>
              <a:t>$100M in Year 2</a:t>
            </a:r>
          </a:p>
        </p:txBody>
      </p:sp>
      <p:sp>
        <p:nvSpPr>
          <p:cNvPr id="127" name="ProgramsFrame"/>
          <p:cNvSpPr txBox="1"/>
          <p:nvPr/>
        </p:nvSpPr>
        <p:spPr>
          <a:xfrm>
            <a:off x="8382305" y="3457346"/>
            <a:ext cx="3181198" cy="1312164"/>
          </a:xfrm>
          <a:prstGeom prst="rect">
            <a:avLst/>
          </a:prstGeom>
          <a:noFill/>
          <a:ln w="19050">
            <a:solidFill>
              <a:srgbClr val="808080"/>
            </a:solidFill>
            <a:prstDash val="dash"/>
          </a:ln>
        </p:spPr>
        <p:txBody>
          <a:bodyPr wrap="square" anchor="t" lIns="91440" tIns="45720" rIns="91440" bIns="45720"/>
          <a:lstStyle/>
          <a:p>
            <a:pPr algn="ctr">
              <a:lnSpc>
                <a:spcPct val="100000"/>
              </a:lnSpc>
              <a:buNone/>
            </a:pPr>
            <a:r>
              <a:rPr lang="en-US" sz="1000" i="1" dirty="0">
                <a:solidFill>
                  <a:srgbClr val="000000"/>
                </a:solidFill>
                <a:latin typeface="Arial"/>
                <a:ea typeface="Arial"/>
                <a:cs typeface="Arial"/>
              </a:rPr>
              <a:t>For Programs to deliver</a:t>
            </a:r>
          </a:p>
        </p:txBody>
      </p:sp>
      <p:cxnSp>
        <p:nvCxnSpPr>
          <p:cNvPr id="128" name="TimelineDivider"/>
          <p:cNvCxnSpPr/>
          <p:nvPr/>
        </p:nvCxnSpPr>
        <p:spPr>
          <a:xfrm>
            <a:off x="452628" y="2499970"/>
            <a:ext cx="11282782" cy="1829"/>
          </a:xfrm>
          <a:prstGeom prst="line">
            <a:avLst/>
          </a:prstGeom>
          <a:ln w="12700">
            <a:solidFill>
              <a:srgbClr val="808080"/>
            </a:solidFill>
          </a:ln>
        </p:spPr>
      </p:cxnSp>
      <p:sp>
        <p:nvSpPr>
          <p:cNvPr id="129" name="factor"/>
          <p:cNvSpPr txBox="1"/>
          <p:nvPr/>
        </p:nvSpPr>
        <p:spPr>
          <a:xfrm>
            <a:off x="6817766" y="1609344"/>
            <a:ext cx="2329891" cy="328270"/>
          </a:xfrm>
          <a:prstGeom prst="rect">
            <a:avLst/>
          </a:prstGeom>
          <a:solidFill>
            <a:srgbClr val="162029"/>
          </a:solidFill>
          <a:ln w="12700">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Contract exercise timing (%)</a:t>
            </a:r>
          </a:p>
        </p:txBody>
      </p:sp>
      <p:sp>
        <p:nvSpPr>
          <p:cNvPr id="130" name="TimingDefinition"/>
          <p:cNvSpPr txBox="1"/>
          <p:nvPr/>
        </p:nvSpPr>
        <p:spPr>
          <a:xfrm>
            <a:off x="5876849" y="1943100"/>
            <a:ext cx="4212641" cy="389534"/>
          </a:xfrm>
          <a:prstGeom prst="rect">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Defined as proportion of contract exercised each year </a:t>
            </a:r>
            <a:br/>
            <a:r>
              <a:rPr lang="en-US" sz="1000" i="1" dirty="0">
                <a:solidFill>
                  <a:srgbClr val="000000"/>
                </a:solidFill>
                <a:latin typeface="Arial"/>
                <a:ea typeface="Arial"/>
                <a:cs typeface="Arial"/>
              </a:rPr>
              <a:t>(e.g., 50% in Year 1, 50% in Year 2 for Marauder) </a:t>
            </a:r>
          </a:p>
        </p:txBody>
      </p:sp>
      <p:sp>
        <p:nvSpPr>
          <p:cNvPr id="131" name="WorkedExampleCaption"/>
          <p:cNvSpPr txBox="1"/>
          <p:nvPr/>
        </p:nvSpPr>
        <p:spPr>
          <a:xfrm>
            <a:off x="388620" y="2173529"/>
            <a:ext cx="4662526"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Company ACV estimation example ($M, presumed Marauder exercise timing):</a:t>
            </a:r>
          </a:p>
        </p:txBody>
      </p:sp>
      <p:cxnSp>
        <p:nvCxnSpPr>
          <p:cNvPr id="132" name="Year1Arrow"/>
          <p:cNvCxnSpPr/>
          <p:nvPr/>
        </p:nvCxnSpPr>
        <p:spPr>
          <a:xfrm>
            <a:off x="493776" y="2638044"/>
            <a:ext cx="9362542" cy="0"/>
          </a:xfrm>
          <a:prstGeom prst="line">
            <a:avLst/>
          </a:prstGeom>
          <a:ln w="12700">
            <a:solidFill>
              <a:srgbClr val="000000"/>
            </a:solidFill>
            <a:tailEnd type="triangle" w="med" len="med"/>
          </a:ln>
        </p:spPr>
      </p:cxnSp>
      <p:sp>
        <p:nvSpPr>
          <p:cNvPr id="133" name="Year1Label"/>
          <p:cNvSpPr txBox="1"/>
          <p:nvPr/>
        </p:nvSpPr>
        <p:spPr>
          <a:xfrm>
            <a:off x="4643323" y="2536546"/>
            <a:ext cx="1062533" cy="202997"/>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Year 1</a:t>
            </a:r>
          </a:p>
        </p:txBody>
      </p:sp>
      <p:cxnSp>
        <p:nvCxnSpPr>
          <p:cNvPr id="134" name="Year2Arrow"/>
          <p:cNvCxnSpPr/>
          <p:nvPr/>
        </p:nvCxnSpPr>
        <p:spPr>
          <a:xfrm>
            <a:off x="9915754" y="2638044"/>
            <a:ext cx="1951330" cy="0"/>
          </a:xfrm>
          <a:prstGeom prst="line">
            <a:avLst/>
          </a:prstGeom>
          <a:ln w="12700">
            <a:solidFill>
              <a:srgbClr val="000000"/>
            </a:solidFill>
            <a:tailEnd type="triangle" w="med" len="med"/>
          </a:ln>
        </p:spPr>
      </p:cxnSp>
      <p:sp>
        <p:nvSpPr>
          <p:cNvPr id="135" name="Year2Label"/>
          <p:cNvSpPr txBox="1"/>
          <p:nvPr/>
        </p:nvSpPr>
        <p:spPr>
          <a:xfrm>
            <a:off x="10488168" y="2536546"/>
            <a:ext cx="841248" cy="202997"/>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Year 2</a:t>
            </a:r>
          </a:p>
        </p:txBody>
      </p:sp>
      <p:graphicFrame>
        <p:nvGraphicFramePr>
          <p:cNvPr id="136" name="ExerciseTimingTable"/>
          <p:cNvGraphicFramePr>
            <a:graphicFrameLocks noGrp="1"/>
          </p:cNvGraphicFramePr>
          <p:nvPr/>
        </p:nvGraphicFramePr>
        <p:xfrm>
          <a:off x="452628" y="4862779"/>
          <a:ext cx="11413541" cy="1524305"/>
        </p:xfrm>
        <a:graphic>
          <a:graphicData uri="http://schemas.openxmlformats.org/drawingml/2006/table">
            <a:tbl>
              <a:tblPr firstRow="1" firstCol="1" bandRow="0">
                <a:tableStyleId>{2D5ABB26-0587-4C30-8999-92F81FD0307C}</a:tableStyleId>
              </a:tblPr>
              <a:tblGrid>
                <a:gridCol w="778154"/>
                <a:gridCol w="5346497"/>
                <a:gridCol w="1656893"/>
                <a:gridCol w="1656893"/>
                <a:gridCol w="1975104"/>
              </a:tblGrid>
              <a:tr h="0">
                <a:tc gridSpan="2">
                  <a:txBody>
                    <a:bodyPr anchor="b"/>
                    <a:lstStyle/>
                    <a:p>
                      <a:pPr algn="l" marL="0" indent="0">
                        <a:lnSpc>
                          <a:spcPct val="100000"/>
                        </a:lnSpc>
                      </a:pPr>
                      <a:r>
                        <a:rPr lang="en-US" sz="1000" i="1" dirty="0">
                          <a:solidFill>
                            <a:srgbClr val="162029"/>
                          </a:solidFill>
                          <a:latin typeface="Arial"/>
                          <a:ea typeface="Arial"/>
                          <a:cs typeface="Arial"/>
                        </a:rPr>
                        <a:t>Contract exercise timing by product:</a:t>
                      </a:r>
                    </a:p>
                  </a:txBody>
                  <a:tcPr marL="60960" marR="60960" marT="60960" marB="60960" anchor="b">
                    <a:lnL>
                      <a:noFill/>
                    </a:lnL>
                    <a:lnR>
                      <a:noFill/>
                    </a:lnR>
                    <a:lnT>
                      <a:noFill/>
                    </a:lnT>
                    <a:lnB w="12700" cap="flat" cmpd="sng" algn="ctr">
                      <a:solidFill>
                        <a:srgbClr val="FFFFFF"/>
                      </a:solidFill>
                      <a:prstDash val="solid"/>
                    </a:lnB>
                    <a:noFill/>
                  </a:tcPr>
                </a:tc>
                <a:tc hMerge="1">
                  <a:txBody>
                    <a:bodyPr/>
                    <a:lstStyle/>
                    <a:p>
                      <a:endParaRPr lang="en-US"/>
                    </a:p>
                  </a:txBody>
                  <a:tcPr/>
                </a:tc>
                <a:tc gridSpan="2">
                  <a:txBody>
                    <a:bodyPr anchor="b"/>
                    <a:lstStyle/>
                    <a:p>
                      <a:pPr algn="ctr">
                        <a:lnSpc>
                          <a:spcPct val="100000"/>
                        </a:lnSpc>
                      </a:pPr>
                      <a:r>
                        <a:rPr lang="en-US" sz="1000" b="1" dirty="0">
                          <a:solidFill>
                            <a:srgbClr val="FFFFFF"/>
                          </a:solidFill>
                          <a:latin typeface="Arial"/>
                          <a:ea typeface="Arial"/>
                          <a:cs typeface="Arial"/>
                        </a:rPr>
                        <a:t>Year 1</a:t>
                      </a:r>
                    </a:p>
                  </a:txBody>
                  <a:tcPr marL="60960" marR="60960" marT="60960" marB="60960" anchor="b">
                    <a:lnL>
                      <a:noFill/>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hMerge="1">
                  <a:txBody>
                    <a:bodyPr/>
                    <a:lstStyle/>
                    <a:p>
                      <a:endParaRPr lang="en-US"/>
                    </a:p>
                  </a:txBody>
                  <a:tcPr/>
                </a:tc>
                <a:tc>
                  <a:txBody>
                    <a:bodyPr anchor="b"/>
                    <a:lstStyle/>
                    <a:p>
                      <a:pPr algn="ctr">
                        <a:lnSpc>
                          <a:spcPct val="100000"/>
                        </a:lnSpc>
                      </a:pPr>
                      <a:r>
                        <a:rPr lang="en-US" sz="1000" b="1" dirty="0">
                          <a:solidFill>
                            <a:srgbClr val="FFFFFF"/>
                          </a:solidFill>
                          <a:latin typeface="Arial"/>
                          <a:ea typeface="Arial"/>
                          <a:cs typeface="Arial"/>
                        </a:rPr>
                        <a:t>Year 2</a:t>
                      </a:r>
                    </a:p>
                  </a:txBody>
                  <a:tcPr marL="60960" marR="60960" marT="60960" marB="60960" anchor="b">
                    <a:lnL w="12700" cap="flat" cmpd="sng" algn="ctr">
                      <a:solidFill>
                        <a:srgbClr val="FFFFFF"/>
                      </a:solidFill>
                      <a:prstDash val="solid"/>
                    </a:lnL>
                    <a:lnR>
                      <a:noFill/>
                    </a:lnR>
                    <a:lnT>
                      <a:noFill/>
                    </a:lnT>
                    <a:lnB w="12700" cap="flat" cmpd="sng" algn="ctr">
                      <a:solidFill>
                        <a:srgbClr val="162029"/>
                      </a:solidFill>
                      <a:prstDash val="solid"/>
                    </a:lnB>
                    <a:solidFill>
                      <a:srgbClr val="263746"/>
                    </a:solidFill>
                  </a:tcPr>
                </a:tc>
              </a:tr>
              <a:tr h="0">
                <a:tc>
                  <a:txBody>
                    <a:bodyPr anchor="b"/>
                    <a:lstStyle/>
                    <a:p>
                      <a:pPr algn="l">
                        <a:lnSpc>
                          <a:spcPct val="100000"/>
                        </a:lnSpc>
                      </a:pPr>
                      <a:r>
                        <a:rPr lang="en-US" sz="1000" b="1" dirty="0">
                          <a:solidFill>
                            <a:srgbClr val="000000"/>
                          </a:solidFill>
                          <a:latin typeface="Arial"/>
                          <a:ea typeface="Arial"/>
                          <a:cs typeface="Arial"/>
                        </a:rPr>
                        <a:t>Product</a:t>
                      </a:r>
                    </a:p>
                  </a:txBody>
                  <a:tcPr marL="45720" marR="45720" marT="45720" marB="45720" anchor="b">
                    <a:lnL>
                      <a:noFill/>
                    </a:lnL>
                    <a:lnR>
                      <a:noFill/>
                    </a:lnR>
                    <a:lnT w="12700" cap="flat" cmpd="sng" algn="ctr">
                      <a:solidFill>
                        <a:srgbClr val="FFFFFF"/>
                      </a:solidFill>
                      <a:prstDash val="solid"/>
                    </a:lnT>
                    <a:lnB w="12700" cap="flat" cmpd="sng" algn="ctr">
                      <a:solidFill>
                        <a:srgbClr val="162029"/>
                      </a:solidFill>
                      <a:prstDash val="solid"/>
                    </a:lnB>
                    <a:noFill/>
                  </a:tcPr>
                </a:tc>
                <a:tc>
                  <a:txBody>
                    <a:bodyPr anchor="b"/>
                    <a:lstStyle/>
                    <a:p>
                      <a:pPr algn="l">
                        <a:lnSpc>
                          <a:spcPct val="100000"/>
                        </a:lnSpc>
                      </a:pPr>
                      <a:r>
                        <a:rPr lang="en-US" sz="1000" b="1" dirty="0">
                          <a:solidFill>
                            <a:srgbClr val="000000"/>
                          </a:solidFill>
                          <a:latin typeface="Arial"/>
                          <a:ea typeface="Arial"/>
                          <a:cs typeface="Arial"/>
                        </a:rPr>
                        <a:t>Rationale</a:t>
                      </a:r>
                    </a:p>
                  </a:txBody>
                  <a:tcPr marL="60960" marR="60960" marT="60960" marB="60960" anchor="b">
                    <a:lnL>
                      <a:noFill/>
                    </a:lnL>
                    <a:lnR>
                      <a:noFill/>
                    </a:lnR>
                    <a:lnT w="12700" cap="flat" cmpd="sng" algn="ctr">
                      <a:solidFill>
                        <a:srgbClr val="FFFFFF"/>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Initial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In-Year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Next-year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r>
              <a:tr h="0">
                <a:tc>
                  <a:txBody>
                    <a:bodyPr anchor="ctr"/>
                    <a:lstStyle/>
                    <a:p>
                      <a:pPr algn="l">
                        <a:lnSpc>
                          <a:spcPct val="100000"/>
                        </a:lnSpc>
                      </a:pPr>
                      <a:r>
                        <a:rPr lang="en-US" sz="1000" b="1" dirty="0">
                          <a:solidFill>
                            <a:srgbClr val="000000"/>
                          </a:solidFill>
                          <a:latin typeface="Arial"/>
                          <a:ea typeface="Arial"/>
                          <a:cs typeface="Arial"/>
                        </a:rPr>
                        <a:t>Corsair</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In line with Production OT</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50%</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35%</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15%</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r>
              <a:tr h="0">
                <a:tc>
                  <a:txBody>
                    <a:bodyPr anchor="ctr"/>
                    <a:lstStyle/>
                    <a:p>
                      <a:pPr algn="l">
                        <a:lnSpc>
                          <a:spcPct val="100000"/>
                        </a:lnSpc>
                      </a:pPr>
                      <a:r>
                        <a:rPr lang="en-US" sz="1000" b="1" dirty="0">
                          <a:solidFill>
                            <a:srgbClr val="000000"/>
                          </a:solidFill>
                          <a:latin typeface="Arial"/>
                          <a:ea typeface="Arial"/>
                          <a:cs typeface="Arial"/>
                        </a:rPr>
                        <a:t>Mirage</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Assumes similar timing as Corsair Production OT because Mirage falls under sUSV funding</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50%</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35%</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15%</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r>
              <a:tr h="0">
                <a:tc>
                  <a:txBody>
                    <a:bodyPr anchor="ctr"/>
                    <a:lstStyle/>
                    <a:p>
                      <a:pPr algn="l">
                        <a:lnSpc>
                          <a:spcPct val="100000"/>
                        </a:lnSpc>
                      </a:pPr>
                      <a:r>
                        <a:rPr lang="en-US" sz="1000" b="1" dirty="0">
                          <a:solidFill>
                            <a:srgbClr val="000000"/>
                          </a:solidFill>
                          <a:latin typeface="Arial"/>
                          <a:ea typeface="Arial"/>
                          <a:cs typeface="Arial"/>
                        </a:rPr>
                        <a:t>Marauder</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Based on estimated MASC contract exercise: MASC procured in 10-vessel block buys with each vessel a separate CLIN and CLINs are exercised evenly across 24-month period</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45%</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50%</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r>
            </a:tbl>
          </a:graphicData>
        </a:graphic>
      </p:graphicFrame>
      <p:sp>
        <p:nvSpPr>
          <p:cNvPr id="137" name="ScopeChip"/>
          <p:cNvSpPr txBox="1"/>
          <p:nvPr/>
        </p:nvSpPr>
        <p:spPr>
          <a:xfrm>
            <a:off x="8552383" y="125273"/>
            <a:ext cx="2011680" cy="342900"/>
          </a:xfrm>
          <a:prstGeom prst="rect">
            <a:avLst/>
          </a:prstGeom>
          <a:solidFill>
            <a:srgbClr val="CEDDEC"/>
          </a:solidFill>
          <a:ln w="3175">
            <a:solidFill>
              <a:srgbClr val="162029"/>
            </a:solidFill>
          </a:ln>
        </p:spPr>
        <p:txBody>
          <a:bodyPr wrap="square" anchor="ctr" lIns="91440" tIns="45720" rIns="91440" bIns="45720"/>
          <a:lstStyle/>
          <a:p>
            <a:pPr algn="ctr">
              <a:lnSpc>
                <a:spcPct val="100000"/>
              </a:lnSpc>
              <a:buNone/>
            </a:pPr>
            <a:r>
              <a:rPr lang="en-US" sz="1000" b="1" dirty="0">
                <a:solidFill>
                  <a:srgbClr val="162029"/>
                </a:solidFill>
                <a:latin typeface="Arial"/>
                <a:ea typeface="Arial"/>
                <a:cs typeface="Arial"/>
              </a:rPr>
              <a:t>All archetypes</a:t>
            </a:r>
          </a:p>
        </p:txBody>
      </p:sp>
      <p:pic>
        <p:nvPicPr>
          <p:cNvPr id="138" name="Picture 2"/>
          <p:cNvPicPr>
            <a:picLocks noChangeAspect="1"/>
          </p:cNvPicPr>
          <p:nvPr/>
        </p:nvPicPr>
        <p:blipFill>
          <a:blip r:embed="rId3"/>
          <a:stretch>
            <a:fillRect/>
          </a:stretch>
        </p:blipFill>
        <p:spPr>
          <a:xfrm>
            <a:off x="11313871" y="43891"/>
            <a:ext cx="843077" cy="8430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(Undersea)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TCV to ACV Approach | Finding Company ACV</a:t>
            </a:r>
          </a:p>
        </p:txBody>
      </p:sp>
      <p:sp>
        <p:nvSpPr>
          <p:cNvPr id="100" name="ApproachDescription"/>
          <p:cNvSpPr txBox="1"/>
          <p:nvPr/>
        </p:nvSpPr>
        <p:spPr>
          <a:xfrm>
            <a:off x="388620" y="1452982"/>
            <a:ext cx="2093062" cy="640994"/>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Multiply Company TCV by contract exercise timing to find Company ACV</a:t>
            </a:r>
          </a:p>
        </p:txBody>
      </p:sp>
      <p:sp>
        <p:nvSpPr>
          <p:cNvPr id="101" name="ApproachStepsHeader"/>
          <p:cNvSpPr txBox="1"/>
          <p:nvPr/>
        </p:nvSpPr>
        <p:spPr>
          <a:xfrm>
            <a:off x="388620" y="1123798"/>
            <a:ext cx="2094890"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Approach steps</a:t>
            </a:r>
          </a:p>
        </p:txBody>
      </p:sp>
      <p:cxnSp>
        <p:nvCxnSpPr>
          <p:cNvPr id="102" name="ApproachHeaderRule"/>
          <p:cNvCxnSpPr/>
          <p:nvPr/>
        </p:nvCxnSpPr>
        <p:spPr>
          <a:xfrm flipH="1">
            <a:off x="389534" y="1450238"/>
            <a:ext cx="2093062" cy="1829"/>
          </a:xfrm>
          <a:prstGeom prst="line">
            <a:avLst/>
          </a:prstGeom>
          <a:ln w="12700">
            <a:solidFill>
              <a:srgbClr val="162029"/>
            </a:solidFill>
          </a:ln>
        </p:spPr>
      </p:cxnSp>
      <p:sp>
        <p:nvSpPr>
          <p:cNvPr id="103" name="output"/>
          <p:cNvSpPr txBox="1"/>
          <p:nvPr/>
        </p:nvSpPr>
        <p:spPr>
          <a:xfrm>
            <a:off x="10479024" y="1609344"/>
            <a:ext cx="1388974" cy="328270"/>
          </a:xfrm>
          <a:prstGeom prst="rect">
            <a:avLst/>
          </a:prstGeom>
          <a:solidFill>
            <a:srgbClr val="263746"/>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by year ($)</a:t>
            </a:r>
          </a:p>
        </p:txBody>
      </p:sp>
      <p:cxnSp>
        <p:nvCxnSpPr>
          <p:cNvPr id="104" name="DashedExerciseArrow"/>
          <p:cNvCxnSpPr/>
          <p:nvPr/>
        </p:nvCxnSpPr>
        <p:spPr>
          <a:xfrm>
            <a:off x="1438351" y="2719426"/>
            <a:ext cx="563270" cy="0"/>
          </a:xfrm>
          <a:prstGeom prst="line">
            <a:avLst/>
          </a:prstGeom>
          <a:ln w="3175">
            <a:solidFill>
              <a:srgbClr val="162029"/>
            </a:solidFill>
            <a:prstDash val="dash"/>
            <a:tailEnd type="triangle" w="med" len="med"/>
          </a:ln>
        </p:spPr>
      </p:cxnSp>
      <p:cxnSp>
        <p:nvCxnSpPr>
          <p:cNvPr id="105" name="DashedExerciseArrow"/>
          <p:cNvCxnSpPr/>
          <p:nvPr/>
        </p:nvCxnSpPr>
        <p:spPr>
          <a:xfrm>
            <a:off x="2706624" y="3419856"/>
            <a:ext cx="563270" cy="0"/>
          </a:xfrm>
          <a:prstGeom prst="line">
            <a:avLst/>
          </a:prstGeom>
          <a:ln w="3175">
            <a:solidFill>
              <a:srgbClr val="162029"/>
            </a:solidFill>
            <a:prstDash val="dash"/>
            <a:tailEnd type="triangle" w="med" len="med"/>
          </a:ln>
        </p:spPr>
      </p:cxnSp>
      <p:cxnSp>
        <p:nvCxnSpPr>
          <p:cNvPr id="106" name="DashedExerciseArrow"/>
          <p:cNvCxnSpPr/>
          <p:nvPr/>
        </p:nvCxnSpPr>
        <p:spPr>
          <a:xfrm>
            <a:off x="3974897" y="3419856"/>
            <a:ext cx="563270" cy="0"/>
          </a:xfrm>
          <a:prstGeom prst="line">
            <a:avLst/>
          </a:prstGeom>
          <a:ln w="3175">
            <a:solidFill>
              <a:srgbClr val="162029"/>
            </a:solidFill>
            <a:prstDash val="dash"/>
            <a:tailEnd type="triangle" w="med" len="med"/>
          </a:ln>
        </p:spPr>
      </p:cxnSp>
      <p:cxnSp>
        <p:nvCxnSpPr>
          <p:cNvPr id="107" name="DashedExerciseArrow"/>
          <p:cNvCxnSpPr/>
          <p:nvPr/>
        </p:nvCxnSpPr>
        <p:spPr>
          <a:xfrm>
            <a:off x="5243170" y="3769157"/>
            <a:ext cx="563270" cy="0"/>
          </a:xfrm>
          <a:prstGeom prst="line">
            <a:avLst/>
          </a:prstGeom>
          <a:ln w="3175">
            <a:solidFill>
              <a:srgbClr val="162029"/>
            </a:solidFill>
            <a:prstDash val="dash"/>
            <a:tailEnd type="triangle" w="med" len="med"/>
          </a:ln>
        </p:spPr>
      </p:cxnSp>
      <p:cxnSp>
        <p:nvCxnSpPr>
          <p:cNvPr id="108" name="DashedExerciseArrow"/>
          <p:cNvCxnSpPr/>
          <p:nvPr/>
        </p:nvCxnSpPr>
        <p:spPr>
          <a:xfrm>
            <a:off x="6512357" y="4013302"/>
            <a:ext cx="562356" cy="0"/>
          </a:xfrm>
          <a:prstGeom prst="line">
            <a:avLst/>
          </a:prstGeom>
          <a:ln w="3175">
            <a:solidFill>
              <a:srgbClr val="162029"/>
            </a:solidFill>
            <a:prstDash val="dash"/>
            <a:tailEnd type="triangle" w="med" len="med"/>
          </a:ln>
        </p:spPr>
      </p:cxnSp>
      <p:graphicFrame>
        <p:nvGraphicFramePr>
          <p:cNvPr id="109" name="Chart"/>
          <p:cNvGraphicFramePr/>
          <p:nvPr/>
        </p:nvGraphicFramePr>
        <p:xfrm>
          <a:off x="370332" y="2637130"/>
          <a:ext cx="11579047" cy="1563624"/>
        </p:xfrm>
        <a:graphic>
          <a:graphicData uri="http://schemas.openxmlformats.org/drawingml/2006/chart">
            <c:chart xmlns:c="http://schemas.openxmlformats.org/drawingml/2006/chart" xmlns:r="http://schemas.openxmlformats.org/officeDocument/2006/relationships" r:id="rId2"/>
          </a:graphicData>
        </a:graphic>
      </p:graphicFrame>
      <p:sp>
        <p:nvSpPr>
          <p:cNvPr id="110" name="ValueBadge"/>
          <p:cNvSpPr txBox="1"/>
          <p:nvPr/>
        </p:nvSpPr>
        <p:spPr>
          <a:xfrm>
            <a:off x="929030" y="3342132"/>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200</a:t>
            </a:r>
          </a:p>
        </p:txBody>
      </p:sp>
      <p:sp>
        <p:nvSpPr>
          <p:cNvPr id="111" name="CategoryTick"/>
          <p:cNvSpPr txBox="1"/>
          <p:nvPr/>
        </p:nvSpPr>
        <p:spPr>
          <a:xfrm>
            <a:off x="942746" y="4237330"/>
            <a:ext cx="287122"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SAM</a:t>
            </a:r>
          </a:p>
        </p:txBody>
      </p:sp>
      <p:sp>
        <p:nvSpPr>
          <p:cNvPr id="112" name="CategoryTick"/>
          <p:cNvSpPr txBox="1"/>
          <p:nvPr/>
        </p:nvSpPr>
        <p:spPr>
          <a:xfrm>
            <a:off x="1968703" y="4237330"/>
            <a:ext cx="771754"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Market Share</a:t>
            </a:r>
          </a:p>
        </p:txBody>
      </p:sp>
      <p:sp>
        <p:nvSpPr>
          <p:cNvPr id="113" name="CategoryTick"/>
          <p:cNvSpPr txBox="1"/>
          <p:nvPr/>
        </p:nvSpPr>
        <p:spPr>
          <a:xfrm>
            <a:off x="3202229" y="4237330"/>
            <a:ext cx="843077"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Company TCV</a:t>
            </a:r>
          </a:p>
        </p:txBody>
      </p:sp>
      <p:sp>
        <p:nvSpPr>
          <p:cNvPr id="114" name="CategoryTick"/>
          <p:cNvSpPr txBox="1"/>
          <p:nvPr/>
        </p:nvSpPr>
        <p:spPr>
          <a:xfrm>
            <a:off x="4485132" y="4237330"/>
            <a:ext cx="814730"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Initial exercise</a:t>
            </a:r>
          </a:p>
        </p:txBody>
      </p:sp>
      <p:sp>
        <p:nvSpPr>
          <p:cNvPr id="115" name="CategoryTick"/>
          <p:cNvSpPr txBox="1"/>
          <p:nvPr/>
        </p:nvSpPr>
        <p:spPr>
          <a:xfrm>
            <a:off x="5704027" y="4237330"/>
            <a:ext cx="912571"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In-year exercise</a:t>
            </a:r>
          </a:p>
        </p:txBody>
      </p:sp>
      <p:sp>
        <p:nvSpPr>
          <p:cNvPr id="116" name="CategoryTick"/>
          <p:cNvSpPr txBox="1"/>
          <p:nvPr/>
        </p:nvSpPr>
        <p:spPr>
          <a:xfrm>
            <a:off x="6981444" y="4237330"/>
            <a:ext cx="890626"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Year 2 exercise</a:t>
            </a:r>
          </a:p>
        </p:txBody>
      </p:sp>
      <p:sp>
        <p:nvSpPr>
          <p:cNvPr id="117" name="CategoryTick"/>
          <p:cNvSpPr txBox="1"/>
          <p:nvPr/>
        </p:nvSpPr>
        <p:spPr>
          <a:xfrm>
            <a:off x="8250631" y="4237330"/>
            <a:ext cx="890626"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Year 3 exercise</a:t>
            </a:r>
          </a:p>
        </p:txBody>
      </p:sp>
      <p:sp>
        <p:nvSpPr>
          <p:cNvPr id="118" name="CategoryTick"/>
          <p:cNvSpPr txBox="1"/>
          <p:nvPr/>
        </p:nvSpPr>
        <p:spPr>
          <a:xfrm>
            <a:off x="9518904" y="4237330"/>
            <a:ext cx="890626"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Year 4 exercise</a:t>
            </a:r>
          </a:p>
        </p:txBody>
      </p:sp>
      <p:sp>
        <p:nvSpPr>
          <p:cNvPr id="119" name="CategoryTick"/>
          <p:cNvSpPr txBox="1"/>
          <p:nvPr/>
        </p:nvSpPr>
        <p:spPr>
          <a:xfrm>
            <a:off x="10787177" y="4237330"/>
            <a:ext cx="890626" cy="152705"/>
          </a:xfrm>
          <a:prstGeom prst="rect">
            <a:avLst/>
          </a:prstGeom>
          <a:noFill/>
          <a:ln>
            <a:noFill/>
          </a:ln>
        </p:spPr>
        <p:txBody>
          <a:bodyPr wrap="none" anchor="t" lIns="0" tIns="0" rIns="0" bIns="0"/>
          <a:lstStyle/>
          <a:p>
            <a:pPr algn="ctr">
              <a:lnSpc>
                <a:spcPct val="100000"/>
              </a:lnSpc>
              <a:buNone/>
            </a:pPr>
            <a:r>
              <a:rPr lang="en-US" sz="1000" dirty="0">
                <a:solidFill>
                  <a:srgbClr val="000000"/>
                </a:solidFill>
                <a:latin typeface="Arial"/>
                <a:ea typeface="Arial"/>
                <a:cs typeface="Arial"/>
              </a:rPr>
              <a:t>Year 5 exercise</a:t>
            </a:r>
          </a:p>
        </p:txBody>
      </p:sp>
      <p:sp>
        <p:nvSpPr>
          <p:cNvPr id="120" name="ValueBadge"/>
          <p:cNvSpPr txBox="1"/>
          <p:nvPr/>
        </p:nvSpPr>
        <p:spPr>
          <a:xfrm>
            <a:off x="2197303" y="2992831"/>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000000"/>
                </a:solidFill>
                <a:latin typeface="Arial"/>
                <a:ea typeface="Arial"/>
                <a:cs typeface="Arial"/>
              </a:rPr>
              <a:t>$</a:t>
            </a:r>
            <a:r>
              <a:rPr lang="en-US" sz="1000" dirty="0">
                <a:solidFill>
                  <a:srgbClr val="000000"/>
                </a:solidFill>
                <a:latin typeface="Arial"/>
                <a:ea typeface="Arial"/>
                <a:cs typeface="Arial"/>
              </a:rPr>
              <a:t>100</a:t>
            </a:r>
          </a:p>
        </p:txBody>
      </p:sp>
      <p:sp>
        <p:nvSpPr>
          <p:cNvPr id="121" name="ValueBadge"/>
          <p:cNvSpPr txBox="1"/>
          <p:nvPr/>
        </p:nvSpPr>
        <p:spPr>
          <a:xfrm>
            <a:off x="3465576" y="3692347"/>
            <a:ext cx="314554"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100</a:t>
            </a:r>
          </a:p>
        </p:txBody>
      </p:sp>
      <p:sp>
        <p:nvSpPr>
          <p:cNvPr id="122" name="ValueBadge"/>
          <p:cNvSpPr txBox="1"/>
          <p:nvPr/>
        </p:nvSpPr>
        <p:spPr>
          <a:xfrm>
            <a:off x="4768596" y="3517697"/>
            <a:ext cx="244145"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50</a:t>
            </a:r>
          </a:p>
        </p:txBody>
      </p:sp>
      <p:sp>
        <p:nvSpPr>
          <p:cNvPr id="123" name="ValueBadge"/>
          <p:cNvSpPr txBox="1"/>
          <p:nvPr/>
        </p:nvSpPr>
        <p:spPr>
          <a:xfrm>
            <a:off x="6036869" y="3814877"/>
            <a:ext cx="244145"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35</a:t>
            </a:r>
          </a:p>
        </p:txBody>
      </p:sp>
      <p:sp>
        <p:nvSpPr>
          <p:cNvPr id="124" name="ValueBadge"/>
          <p:cNvSpPr txBox="1"/>
          <p:nvPr/>
        </p:nvSpPr>
        <p:spPr>
          <a:xfrm>
            <a:off x="7304227" y="3989527"/>
            <a:ext cx="244145"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a:t>
            </a:r>
            <a:r>
              <a:rPr lang="en-US" sz="1000" dirty="0">
                <a:solidFill>
                  <a:srgbClr val="FFFFFF"/>
                </a:solidFill>
                <a:latin typeface="Arial"/>
                <a:ea typeface="Arial"/>
                <a:cs typeface="Arial"/>
              </a:rPr>
              <a:t>15</a:t>
            </a:r>
          </a:p>
        </p:txBody>
      </p:sp>
      <p:sp>
        <p:nvSpPr>
          <p:cNvPr id="125" name="ValueBadge"/>
          <p:cNvSpPr txBox="1"/>
          <p:nvPr/>
        </p:nvSpPr>
        <p:spPr>
          <a:xfrm>
            <a:off x="8641994" y="4041648"/>
            <a:ext cx="105156"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a:t>
            </a:r>
          </a:p>
        </p:txBody>
      </p:sp>
      <p:sp>
        <p:nvSpPr>
          <p:cNvPr id="126" name="ValueBadge"/>
          <p:cNvSpPr txBox="1"/>
          <p:nvPr/>
        </p:nvSpPr>
        <p:spPr>
          <a:xfrm>
            <a:off x="9911182" y="4041648"/>
            <a:ext cx="105156"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a:t>
            </a:r>
          </a:p>
        </p:txBody>
      </p:sp>
      <p:sp>
        <p:nvSpPr>
          <p:cNvPr id="127" name="ValueBadge"/>
          <p:cNvSpPr txBox="1"/>
          <p:nvPr/>
        </p:nvSpPr>
        <p:spPr>
          <a:xfrm>
            <a:off x="11179454" y="4041648"/>
            <a:ext cx="105156" cy="152705"/>
          </a:xfrm>
          <a:prstGeom prst="rect">
            <a:avLst/>
          </a:prstGeom>
          <a:solidFill>
            <a:srgbClr val="263746"/>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a:t>
            </a:r>
          </a:p>
        </p:txBody>
      </p:sp>
      <p:sp>
        <p:nvSpPr>
          <p:cNvPr id="128" name="MultiplyGlyph"/>
          <p:cNvSpPr txBox="1"/>
          <p:nvPr/>
        </p:nvSpPr>
        <p:spPr>
          <a:xfrm rot="2572505">
            <a:off x="6012180" y="1590142"/>
            <a:ext cx="365760" cy="365760"/>
          </a:xfrm>
          <a:prstGeom prst="mathPlus">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graphicFrame>
        <p:nvGraphicFramePr>
          <p:cNvPr id="129" name="ExerciseTimingTable"/>
          <p:cNvGraphicFramePr>
            <a:graphicFrameLocks noGrp="1"/>
          </p:cNvGraphicFramePr>
          <p:nvPr/>
        </p:nvGraphicFramePr>
        <p:xfrm>
          <a:off x="452628" y="4483303"/>
          <a:ext cx="11413541" cy="1920240"/>
        </p:xfrm>
        <a:graphic>
          <a:graphicData uri="http://schemas.openxmlformats.org/drawingml/2006/table">
            <a:tbl>
              <a:tblPr firstRow="1" firstCol="1" bandRow="0">
                <a:tableStyleId>{2D5ABB26-0587-4C30-8999-92F81FD0307C}</a:tableStyleId>
              </a:tblPr>
              <a:tblGrid>
                <a:gridCol w="1173175"/>
                <a:gridCol w="2736799"/>
                <a:gridCol w="1250899"/>
                <a:gridCol w="1250899"/>
                <a:gridCol w="1250899"/>
                <a:gridCol w="1250899"/>
                <a:gridCol w="1250899"/>
                <a:gridCol w="1250899"/>
              </a:tblGrid>
              <a:tr h="274320">
                <a:tc gridSpan="2">
                  <a:txBody>
                    <a:bodyPr anchor="b"/>
                    <a:lstStyle/>
                    <a:p>
                      <a:pPr algn="l" marL="0" indent="0">
                        <a:lnSpc>
                          <a:spcPct val="100000"/>
                        </a:lnSpc>
                      </a:pPr>
                      <a:r>
                        <a:rPr lang="en-US" sz="1000" i="1" dirty="0">
                          <a:solidFill>
                            <a:srgbClr val="000000"/>
                          </a:solidFill>
                          <a:latin typeface="Arial"/>
                          <a:ea typeface="Arial"/>
                          <a:cs typeface="Arial"/>
                        </a:rPr>
                        <a:t>Contract exercise timing by product:</a:t>
                      </a:r>
                    </a:p>
                  </a:txBody>
                  <a:tcPr marL="60960" marR="60960" marT="60960" marB="60960" anchor="b">
                    <a:lnL>
                      <a:noFill/>
                    </a:lnL>
                    <a:lnR>
                      <a:noFill/>
                    </a:lnR>
                    <a:lnT>
                      <a:noFill/>
                    </a:lnT>
                    <a:lnB w="12700" cap="flat" cmpd="sng" algn="ctr">
                      <a:solidFill>
                        <a:srgbClr val="FFFFFF"/>
                      </a:solidFill>
                      <a:prstDash val="solid"/>
                    </a:lnB>
                    <a:noFill/>
                  </a:tcPr>
                </a:tc>
                <a:tc hMerge="1">
                  <a:txBody>
                    <a:bodyPr/>
                    <a:lstStyle/>
                    <a:p>
                      <a:endParaRPr lang="en-US"/>
                    </a:p>
                  </a:txBody>
                  <a:tcPr/>
                </a:tc>
                <a:tc gridSpan="2">
                  <a:txBody>
                    <a:bodyPr anchor="b"/>
                    <a:lstStyle/>
                    <a:p>
                      <a:pPr algn="ctr">
                        <a:lnSpc>
                          <a:spcPct val="100000"/>
                        </a:lnSpc>
                      </a:pPr>
                      <a:r>
                        <a:rPr lang="en-US" sz="1000" b="1" dirty="0">
                          <a:solidFill>
                            <a:srgbClr val="FFFFFF"/>
                          </a:solidFill>
                          <a:latin typeface="Arial"/>
                          <a:ea typeface="Arial"/>
                          <a:cs typeface="Arial"/>
                        </a:rPr>
                        <a:t>Year 1</a:t>
                      </a:r>
                    </a:p>
                  </a:txBody>
                  <a:tcPr marL="60960" marR="60960" marT="60960" marB="60960" anchor="b">
                    <a:lnL>
                      <a:noFill/>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hMerge="1">
                  <a:txBody>
                    <a:bodyPr/>
                    <a:lstStyle/>
                    <a:p>
                      <a:endParaRPr lang="en-US"/>
                    </a:p>
                  </a:txBody>
                  <a:tcPr/>
                </a:tc>
                <a:tc>
                  <a:txBody>
                    <a:bodyPr anchor="b"/>
                    <a:lstStyle/>
                    <a:p>
                      <a:pPr algn="ctr">
                        <a:lnSpc>
                          <a:spcPct val="100000"/>
                        </a:lnSpc>
                      </a:pPr>
                      <a:r>
                        <a:rPr lang="en-US" sz="1000" b="1" dirty="0">
                          <a:solidFill>
                            <a:srgbClr val="FFFFFF"/>
                          </a:solidFill>
                          <a:latin typeface="Arial"/>
                          <a:ea typeface="Arial"/>
                          <a:cs typeface="Arial"/>
                        </a:rPr>
                        <a:t>Year 2</a:t>
                      </a:r>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a:txBody>
                    <a:bodyPr anchor="b"/>
                    <a:lstStyle/>
                    <a:p>
                      <a:pPr algn="ctr">
                        <a:lnSpc>
                          <a:spcPct val="100000"/>
                        </a:lnSpc>
                      </a:pPr>
                      <a:r>
                        <a:rPr lang="en-US" sz="1000" b="1" dirty="0">
                          <a:solidFill>
                            <a:srgbClr val="FFFFFF"/>
                          </a:solidFill>
                          <a:latin typeface="Arial"/>
                          <a:ea typeface="Arial"/>
                          <a:cs typeface="Arial"/>
                        </a:rPr>
                        <a:t>Year 3</a:t>
                      </a:r>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a:txBody>
                    <a:bodyPr anchor="b"/>
                    <a:lstStyle/>
                    <a:p>
                      <a:pPr algn="ctr">
                        <a:lnSpc>
                          <a:spcPct val="100000"/>
                        </a:lnSpc>
                      </a:pPr>
                      <a:r>
                        <a:rPr lang="en-US" sz="1000" b="1" dirty="0">
                          <a:solidFill>
                            <a:srgbClr val="FFFFFF"/>
                          </a:solidFill>
                          <a:latin typeface="Arial"/>
                          <a:ea typeface="Arial"/>
                          <a:cs typeface="Arial"/>
                        </a:rPr>
                        <a:t>Year 4</a:t>
                      </a:r>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162029"/>
                      </a:solidFill>
                      <a:prstDash val="solid"/>
                    </a:lnB>
                    <a:solidFill>
                      <a:srgbClr val="263746"/>
                    </a:solidFill>
                  </a:tcPr>
                </a:tc>
                <a:tc>
                  <a:txBody>
                    <a:bodyPr anchor="b"/>
                    <a:lstStyle/>
                    <a:p>
                      <a:pPr algn="ctr">
                        <a:lnSpc>
                          <a:spcPct val="100000"/>
                        </a:lnSpc>
                      </a:pPr>
                      <a:r>
                        <a:rPr lang="en-US" sz="1000" b="1" dirty="0">
                          <a:solidFill>
                            <a:srgbClr val="FFFFFF"/>
                          </a:solidFill>
                          <a:latin typeface="Arial"/>
                          <a:ea typeface="Arial"/>
                          <a:cs typeface="Arial"/>
                        </a:rPr>
                        <a:t>Year 5</a:t>
                      </a:r>
                    </a:p>
                  </a:txBody>
                  <a:tcPr marL="60960" marR="60960" marT="60960" marB="60960" anchor="b">
                    <a:lnL w="12700" cap="flat" cmpd="sng" algn="ctr">
                      <a:solidFill>
                        <a:srgbClr val="FFFFFF"/>
                      </a:solidFill>
                      <a:prstDash val="solid"/>
                    </a:lnL>
                    <a:lnR>
                      <a:noFill/>
                    </a:lnR>
                    <a:lnT>
                      <a:noFill/>
                    </a:lnT>
                    <a:lnB w="12700" cap="flat" cmpd="sng" algn="ctr">
                      <a:solidFill>
                        <a:srgbClr val="162029"/>
                      </a:solidFill>
                      <a:prstDash val="solid"/>
                    </a:lnB>
                    <a:solidFill>
                      <a:srgbClr val="263746"/>
                    </a:solidFill>
                  </a:tcPr>
                </a:tc>
              </a:tr>
              <a:tr h="274320">
                <a:tc>
                  <a:txBody>
                    <a:bodyPr anchor="b"/>
                    <a:lstStyle/>
                    <a:p>
                      <a:pPr algn="l">
                        <a:lnSpc>
                          <a:spcPct val="100000"/>
                        </a:lnSpc>
                      </a:pPr>
                      <a:r>
                        <a:rPr lang="en-US" sz="1000" b="1" dirty="0">
                          <a:solidFill>
                            <a:srgbClr val="000000"/>
                          </a:solidFill>
                          <a:latin typeface="Arial"/>
                          <a:ea typeface="Arial"/>
                          <a:cs typeface="Arial"/>
                        </a:rPr>
                        <a:t>Product</a:t>
                      </a:r>
                    </a:p>
                  </a:txBody>
                  <a:tcPr marL="45720" marR="45720" marT="45720" marB="45720" anchor="b">
                    <a:lnL>
                      <a:noFill/>
                    </a:lnL>
                    <a:lnR>
                      <a:noFill/>
                    </a:lnR>
                    <a:lnT w="12700" cap="flat" cmpd="sng" algn="ctr">
                      <a:solidFill>
                        <a:srgbClr val="FFFFFF"/>
                      </a:solidFill>
                      <a:prstDash val="solid"/>
                    </a:lnT>
                    <a:lnB w="12700" cap="flat" cmpd="sng" algn="ctr">
                      <a:solidFill>
                        <a:srgbClr val="162029"/>
                      </a:solidFill>
                      <a:prstDash val="solid"/>
                    </a:lnB>
                    <a:noFill/>
                  </a:tcPr>
                </a:tc>
                <a:tc>
                  <a:txBody>
                    <a:bodyPr anchor="b"/>
                    <a:lstStyle/>
                    <a:p>
                      <a:pPr algn="l">
                        <a:lnSpc>
                          <a:spcPct val="100000"/>
                        </a:lnSpc>
                      </a:pPr>
                      <a:r>
                        <a:rPr lang="en-US" sz="1000" b="1" dirty="0">
                          <a:solidFill>
                            <a:srgbClr val="000000"/>
                          </a:solidFill>
                          <a:latin typeface="Arial"/>
                          <a:ea typeface="Arial"/>
                          <a:cs typeface="Arial"/>
                        </a:rPr>
                        <a:t>Rationale</a:t>
                      </a:r>
                    </a:p>
                  </a:txBody>
                  <a:tcPr marL="60960" marR="60960" marT="60960" marB="60960" anchor="b">
                    <a:lnL>
                      <a:noFill/>
                    </a:lnL>
                    <a:lnR>
                      <a:noFill/>
                    </a:lnR>
                    <a:lnT w="12700" cap="flat" cmpd="sng" algn="ctr">
                      <a:solidFill>
                        <a:srgbClr val="FFFFFF"/>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Initial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In-Year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Year 2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Year 3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Year 4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Year 5 exercise</a:t>
                      </a:r>
                    </a:p>
                  </a:txBody>
                  <a:tcPr marL="60960" marR="60960" marT="60960" marB="60960" anchor="b">
                    <a:lnL>
                      <a:noFill/>
                    </a:lnL>
                    <a:lnR>
                      <a:noFill/>
                    </a:lnR>
                    <a:lnT w="12700" cap="flat" cmpd="sng" algn="ctr">
                      <a:solidFill>
                        <a:srgbClr val="162029"/>
                      </a:solidFill>
                      <a:prstDash val="solid"/>
                    </a:lnT>
                    <a:lnB w="12700" cap="flat" cmpd="sng" algn="ctr">
                      <a:solidFill>
                        <a:srgbClr val="162029"/>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Corsair kits</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First tranche / subsequent (in line w/ OT)</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100% / 50%</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0% / 35%</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0% / 15%</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162029"/>
                      </a:solidFill>
                      <a:prstDash val="solid"/>
                    </a:lnT>
                    <a:lnB w="12700" cap="flat" cmpd="sng" algn="ctr">
                      <a:solidFill>
                        <a:srgbClr val="808080"/>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Mirage kits</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In line with Surface Navy Mirage timing</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50%</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35%</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15%</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Mirage COCO</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Quarter-long operations</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100%</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TREX</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Expecting all CLINs exercised up front</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100%</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808080"/>
                      </a:solidFill>
                      <a:prstDash val="solid"/>
                    </a:lnB>
                    <a:noFill/>
                  </a:tcPr>
                </a:tc>
              </a:tr>
              <a:tr h="274320">
                <a:tc>
                  <a:txBody>
                    <a:bodyPr anchor="ctr"/>
                    <a:lstStyle/>
                    <a:p>
                      <a:pPr algn="l">
                        <a:lnSpc>
                          <a:spcPct val="100000"/>
                        </a:lnSpc>
                      </a:pPr>
                      <a:r>
                        <a:rPr lang="en-US" sz="1000" b="1" dirty="0">
                          <a:solidFill>
                            <a:srgbClr val="000000"/>
                          </a:solidFill>
                          <a:latin typeface="Arial"/>
                          <a:ea typeface="Arial"/>
                          <a:cs typeface="Arial"/>
                        </a:rPr>
                        <a:t>LCUE</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Expecting all CLINs exercised up front</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100%</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c>
                  <a:txBody>
                    <a:bodyPr anchor="ctr"/>
                    <a:lstStyle/>
                    <a:p>
                      <a:pPr algn="ctr" marL="0" indent="0">
                        <a:lnSpc>
                          <a:spcPct val="100000"/>
                        </a:lnSpc>
                      </a:pPr>
                      <a:r>
                        <a:rPr lang="en-US" sz="1000" i="1" dirty="0">
                          <a:solidFill>
                            <a:srgbClr val="000000"/>
                          </a:solidFill>
                          <a:latin typeface="Arial"/>
                          <a:ea typeface="Arial"/>
                          <a:cs typeface="Arial"/>
                        </a:rPr>
                        <a:t>- -</a:t>
                      </a:r>
                    </a:p>
                  </a:txBody>
                  <a:tcPr marL="60960" marR="60960" marT="60960" marB="60960" anchor="ctr">
                    <a:lnL>
                      <a:noFill/>
                    </a:lnL>
                    <a:lnR>
                      <a:noFill/>
                    </a:lnR>
                    <a:lnT w="12700" cap="flat" cmpd="sng" algn="ctr">
                      <a:solidFill>
                        <a:srgbClr val="808080"/>
                      </a:solidFill>
                      <a:prstDash val="solid"/>
                    </a:lnT>
                    <a:lnB w="12700" cap="flat" cmpd="sng" algn="ctr">
                      <a:solidFill>
                        <a:srgbClr val="FFFFFF"/>
                      </a:solidFill>
                      <a:prstDash val="solid"/>
                    </a:lnB>
                    <a:noFill/>
                  </a:tcPr>
                </a:tc>
              </a:tr>
            </a:tbl>
          </a:graphicData>
        </a:graphic>
      </p:graphicFrame>
      <p:sp>
        <p:nvSpPr>
          <p:cNvPr id="130" name="input"/>
          <p:cNvSpPr txBox="1"/>
          <p:nvPr/>
        </p:nvSpPr>
        <p:spPr>
          <a:xfrm>
            <a:off x="3214116" y="1609344"/>
            <a:ext cx="2330806" cy="328270"/>
          </a:xfrm>
          <a:prstGeom prst="rect">
            <a:avLst/>
          </a:prstGeom>
          <a:solidFill>
            <a:srgbClr val="3D5972"/>
          </a:solidFill>
          <a:ln w="3175">
            <a:solidFill>
              <a:srgbClr val="000000"/>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TCV ($)</a:t>
            </a:r>
          </a:p>
        </p:txBody>
      </p:sp>
      <p:sp>
        <p:nvSpPr>
          <p:cNvPr id="131" name="EqualsGlyph"/>
          <p:cNvSpPr txBox="1"/>
          <p:nvPr/>
        </p:nvSpPr>
        <p:spPr>
          <a:xfrm>
            <a:off x="9645091" y="1590142"/>
            <a:ext cx="365760" cy="365760"/>
          </a:xfrm>
          <a:prstGeom prst="mathEqual">
            <a:avLst/>
          </a:prstGeom>
          <a:solidFill>
            <a:srgbClr val="000000"/>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32" name="year1"/>
          <p:cNvSpPr txBox="1"/>
          <p:nvPr/>
        </p:nvSpPr>
        <p:spPr>
          <a:xfrm>
            <a:off x="4539082" y="2724912"/>
            <a:ext cx="1973275"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Company ACV: </a:t>
            </a:r>
            <a:br/>
            <a:r>
              <a:rPr lang="en-US" sz="1000" dirty="0">
                <a:solidFill>
                  <a:srgbClr val="FFFFFF"/>
                </a:solidFill>
                <a:latin typeface="Arial"/>
                <a:ea typeface="Arial"/>
                <a:cs typeface="Arial"/>
              </a:rPr>
              <a:t>$85M in Year 1</a:t>
            </a:r>
          </a:p>
        </p:txBody>
      </p:sp>
      <p:sp>
        <p:nvSpPr>
          <p:cNvPr id="133" name="year2"/>
          <p:cNvSpPr txBox="1"/>
          <p:nvPr/>
        </p:nvSpPr>
        <p:spPr>
          <a:xfrm>
            <a:off x="6875374" y="2724912"/>
            <a:ext cx="1113739"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Year 2 ACV: </a:t>
            </a:r>
            <a:br/>
            <a:r>
              <a:rPr lang="en-US" sz="1000" dirty="0">
                <a:solidFill>
                  <a:srgbClr val="FFFFFF"/>
                </a:solidFill>
                <a:latin typeface="Arial"/>
                <a:ea typeface="Arial"/>
                <a:cs typeface="Arial"/>
              </a:rPr>
              <a:t>$15M</a:t>
            </a:r>
          </a:p>
        </p:txBody>
      </p:sp>
      <p:cxnSp>
        <p:nvCxnSpPr>
          <p:cNvPr id="134" name="TimelineDivider"/>
          <p:cNvCxnSpPr/>
          <p:nvPr/>
        </p:nvCxnSpPr>
        <p:spPr>
          <a:xfrm>
            <a:off x="452628" y="2387498"/>
            <a:ext cx="11282782" cy="1829"/>
          </a:xfrm>
          <a:prstGeom prst="line">
            <a:avLst/>
          </a:prstGeom>
          <a:ln w="12700">
            <a:solidFill>
              <a:srgbClr val="808080"/>
            </a:solidFill>
          </a:ln>
        </p:spPr>
      </p:cxnSp>
      <p:sp>
        <p:nvSpPr>
          <p:cNvPr id="135" name="factor"/>
          <p:cNvSpPr txBox="1"/>
          <p:nvPr/>
        </p:nvSpPr>
        <p:spPr>
          <a:xfrm>
            <a:off x="6817766" y="1609344"/>
            <a:ext cx="2329891" cy="328270"/>
          </a:xfrm>
          <a:prstGeom prst="rect">
            <a:avLst/>
          </a:prstGeom>
          <a:solidFill>
            <a:srgbClr val="162029"/>
          </a:solidFill>
          <a:ln w="12700">
            <a:solidFill>
              <a:srgbClr val="162029"/>
            </a:solid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Contract exercise timing (%)</a:t>
            </a:r>
          </a:p>
        </p:txBody>
      </p:sp>
      <p:sp>
        <p:nvSpPr>
          <p:cNvPr id="136" name="TimingDefinition"/>
          <p:cNvSpPr txBox="1"/>
          <p:nvPr/>
        </p:nvSpPr>
        <p:spPr>
          <a:xfrm>
            <a:off x="5876849" y="1943100"/>
            <a:ext cx="4212641" cy="389534"/>
          </a:xfrm>
          <a:prstGeom prst="rect">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Defined as proportion of contract exercised each year </a:t>
            </a:r>
            <a:br/>
            <a:r>
              <a:rPr lang="en-US" sz="1000" i="1" dirty="0">
                <a:solidFill>
                  <a:srgbClr val="000000"/>
                </a:solidFill>
                <a:latin typeface="Arial"/>
                <a:ea typeface="Arial"/>
                <a:cs typeface="Arial"/>
              </a:rPr>
              <a:t>(e.g., 85% in Year 1, 15% in Year 2 for Corsair) </a:t>
            </a:r>
          </a:p>
        </p:txBody>
      </p:sp>
      <p:sp>
        <p:nvSpPr>
          <p:cNvPr id="137" name="WorkedExampleCaption"/>
          <p:cNvSpPr txBox="1"/>
          <p:nvPr/>
        </p:nvSpPr>
        <p:spPr>
          <a:xfrm>
            <a:off x="388620" y="2060143"/>
            <a:ext cx="3586277" cy="328270"/>
          </a:xfrm>
          <a:prstGeom prst="rect">
            <a:avLst/>
          </a:prstGeom>
          <a:no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Company ACV estimation example ($M):</a:t>
            </a:r>
          </a:p>
        </p:txBody>
      </p:sp>
      <p:sp>
        <p:nvSpPr>
          <p:cNvPr id="138" name="ProgramsFrame"/>
          <p:cNvSpPr txBox="1"/>
          <p:nvPr/>
        </p:nvSpPr>
        <p:spPr>
          <a:xfrm>
            <a:off x="5544007" y="3222346"/>
            <a:ext cx="6322162" cy="1207008"/>
          </a:xfrm>
          <a:prstGeom prst="rect">
            <a:avLst/>
          </a:prstGeom>
          <a:noFill/>
          <a:ln w="19050">
            <a:solidFill>
              <a:srgbClr val="808080"/>
            </a:solidFill>
            <a:prstDash val="dash"/>
          </a:ln>
        </p:spPr>
        <p:txBody>
          <a:bodyPr wrap="square" anchor="t" lIns="91440" tIns="45720" rIns="91440" bIns="45720"/>
          <a:lstStyle/>
          <a:p>
            <a:pPr algn="ctr">
              <a:lnSpc>
                <a:spcPct val="100000"/>
              </a:lnSpc>
              <a:buNone/>
            </a:pPr>
            <a:r>
              <a:rPr lang="en-US" sz="1000" i="1" dirty="0">
                <a:solidFill>
                  <a:srgbClr val="000000"/>
                </a:solidFill>
                <a:latin typeface="Arial"/>
                <a:ea typeface="Arial"/>
                <a:cs typeface="Arial"/>
              </a:rPr>
              <a:t>For Programs to deliver</a:t>
            </a:r>
          </a:p>
        </p:txBody>
      </p:sp>
      <p:cxnSp>
        <p:nvCxnSpPr>
          <p:cNvPr id="139" name="Year1Arrow"/>
          <p:cNvCxnSpPr/>
          <p:nvPr/>
        </p:nvCxnSpPr>
        <p:spPr>
          <a:xfrm>
            <a:off x="493776" y="2574950"/>
            <a:ext cx="6018581" cy="0"/>
          </a:xfrm>
          <a:prstGeom prst="line">
            <a:avLst/>
          </a:prstGeom>
          <a:ln w="12700">
            <a:solidFill>
              <a:srgbClr val="162029"/>
            </a:solidFill>
            <a:tailEnd type="triangle" w="med" len="med"/>
          </a:ln>
        </p:spPr>
      </p:cxnSp>
      <p:sp>
        <p:nvSpPr>
          <p:cNvPr id="140" name="Year1Label"/>
          <p:cNvSpPr txBox="1"/>
          <p:nvPr/>
        </p:nvSpPr>
        <p:spPr>
          <a:xfrm>
            <a:off x="3215030" y="2469794"/>
            <a:ext cx="683057" cy="209398"/>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162029"/>
                </a:solidFill>
                <a:latin typeface="Arial"/>
                <a:ea typeface="Arial"/>
                <a:cs typeface="Arial"/>
              </a:rPr>
              <a:t>Year 1</a:t>
            </a:r>
          </a:p>
        </p:txBody>
      </p:sp>
      <p:cxnSp>
        <p:nvCxnSpPr>
          <p:cNvPr id="141" name="SubsequentYearsArrow"/>
          <p:cNvCxnSpPr/>
          <p:nvPr/>
        </p:nvCxnSpPr>
        <p:spPr>
          <a:xfrm>
            <a:off x="6875374" y="2574950"/>
            <a:ext cx="4913071" cy="0"/>
          </a:xfrm>
          <a:prstGeom prst="line">
            <a:avLst/>
          </a:prstGeom>
          <a:ln w="12700">
            <a:solidFill>
              <a:srgbClr val="162029"/>
            </a:solidFill>
            <a:tailEnd type="triangle" w="med" len="med"/>
          </a:ln>
        </p:spPr>
      </p:cxnSp>
      <p:sp>
        <p:nvSpPr>
          <p:cNvPr id="142" name="SubsequentYearsLabel"/>
          <p:cNvSpPr txBox="1"/>
          <p:nvPr/>
        </p:nvSpPr>
        <p:spPr>
          <a:xfrm>
            <a:off x="8317382" y="2469794"/>
            <a:ext cx="2117750" cy="209398"/>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162029"/>
                </a:solidFill>
                <a:latin typeface="Arial"/>
                <a:ea typeface="Arial"/>
                <a:cs typeface="Arial"/>
              </a:rPr>
              <a:t>Subsequent years</a:t>
            </a:r>
          </a:p>
        </p:txBody>
      </p:sp>
      <p:sp>
        <p:nvSpPr>
          <p:cNvPr id="143" name="ScopeChip"/>
          <p:cNvSpPr txBox="1"/>
          <p:nvPr/>
        </p:nvSpPr>
        <p:spPr>
          <a:xfrm>
            <a:off x="8340242" y="67666"/>
            <a:ext cx="2435047" cy="457200"/>
          </a:xfrm>
          <a:prstGeom prst="rect">
            <a:avLst/>
          </a:prstGeom>
          <a:solidFill>
            <a:srgbClr val="CEDDEC"/>
          </a:solidFill>
          <a:ln w="3175">
            <a:solidFill>
              <a:srgbClr val="162029"/>
            </a:solidFill>
          </a:ln>
        </p:spPr>
        <p:txBody>
          <a:bodyPr wrap="square" anchor="ctr" lIns="91440" tIns="45720" rIns="91440" bIns="45720"/>
          <a:lstStyle/>
          <a:p>
            <a:pPr algn="ctr">
              <a:lnSpc>
                <a:spcPct val="100000"/>
              </a:lnSpc>
              <a:buNone/>
            </a:pPr>
            <a:r>
              <a:rPr lang="en-US" sz="1200" b="1" dirty="0">
                <a:solidFill>
                  <a:srgbClr val="162029"/>
                </a:solidFill>
                <a:latin typeface="Arial"/>
                <a:ea typeface="Arial"/>
                <a:cs typeface="Arial"/>
              </a:rPr>
              <a:t>All archetypes</a:t>
            </a:r>
          </a:p>
        </p:txBody>
      </p:sp>
      <p:sp>
        <p:nvSpPr>
          <p:cNvPr id="144" name="year3"/>
          <p:cNvSpPr txBox="1"/>
          <p:nvPr/>
        </p:nvSpPr>
        <p:spPr>
          <a:xfrm>
            <a:off x="8137246" y="2724912"/>
            <a:ext cx="1113739"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Year 3 ACV: </a:t>
            </a:r>
            <a:br/>
            <a:r>
              <a:rPr lang="en-US" sz="1000" dirty="0">
                <a:solidFill>
                  <a:srgbClr val="FFFFFF"/>
                </a:solidFill>
                <a:latin typeface="Arial"/>
                <a:ea typeface="Arial"/>
                <a:cs typeface="Arial"/>
              </a:rPr>
              <a:t>$0M</a:t>
            </a:r>
          </a:p>
        </p:txBody>
      </p:sp>
      <p:sp>
        <p:nvSpPr>
          <p:cNvPr id="145" name="year4"/>
          <p:cNvSpPr txBox="1"/>
          <p:nvPr/>
        </p:nvSpPr>
        <p:spPr>
          <a:xfrm>
            <a:off x="9406433" y="2724912"/>
            <a:ext cx="1113739"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Year 4 ACV: </a:t>
            </a:r>
            <a:br/>
            <a:r>
              <a:rPr lang="en-US" sz="1000" dirty="0">
                <a:solidFill>
                  <a:srgbClr val="FFFFFF"/>
                </a:solidFill>
                <a:latin typeface="Arial"/>
                <a:ea typeface="Arial"/>
                <a:cs typeface="Arial"/>
              </a:rPr>
              <a:t>$0M</a:t>
            </a:r>
          </a:p>
        </p:txBody>
      </p:sp>
      <p:sp>
        <p:nvSpPr>
          <p:cNvPr id="146" name="year5"/>
          <p:cNvSpPr txBox="1"/>
          <p:nvPr/>
        </p:nvSpPr>
        <p:spPr>
          <a:xfrm>
            <a:off x="10674706" y="2724912"/>
            <a:ext cx="1113739" cy="352044"/>
          </a:xfrm>
          <a:prstGeom prst="rect">
            <a:avLst/>
          </a:prstGeom>
          <a:solidFill>
            <a:srgbClr val="263746"/>
          </a:solidFill>
          <a:ln>
            <a:noFill/>
          </a:ln>
        </p:spPr>
        <p:txBody>
          <a:bodyPr wrap="square" anchor="ctr" lIns="91440" tIns="45720" rIns="91440" bIns="45720"/>
          <a:lstStyle/>
          <a:p>
            <a:pPr algn="ctr">
              <a:lnSpc>
                <a:spcPct val="100000"/>
              </a:lnSpc>
              <a:buNone/>
            </a:pPr>
            <a:r>
              <a:rPr lang="en-US" sz="1000" dirty="0">
                <a:solidFill>
                  <a:srgbClr val="FFFFFF"/>
                </a:solidFill>
                <a:latin typeface="Arial"/>
                <a:ea typeface="Arial"/>
                <a:cs typeface="Arial"/>
              </a:rPr>
              <a:t>Year 5 ACV: </a:t>
            </a:r>
            <a:br/>
            <a:r>
              <a:rPr lang="en-US" sz="1000" dirty="0">
                <a:solidFill>
                  <a:srgbClr val="FFFFFF"/>
                </a:solidFill>
                <a:latin typeface="Arial"/>
                <a:ea typeface="Arial"/>
                <a:cs typeface="Arial"/>
              </a:rPr>
              <a:t>$0M</a:t>
            </a:r>
          </a:p>
        </p:txBody>
      </p:sp>
      <p:pic>
        <p:nvPicPr>
          <p:cNvPr id="147" name="Picture 2"/>
          <p:cNvPicPr>
            <a:picLocks noChangeAspect="1"/>
          </p:cNvPicPr>
          <p:nvPr/>
        </p:nvPicPr>
        <p:blipFill>
          <a:blip r:embed="rId3"/>
          <a:stretch>
            <a:fillRect/>
          </a:stretch>
        </p:blipFill>
        <p:spPr>
          <a:xfrm>
            <a:off x="11313871" y="43891"/>
            <a:ext cx="843077" cy="843077"/>
          </a:xfrm>
          <a:prstGeom prst="rect">
            <a:avLst/>
          </a:prstGeom>
        </p:spPr>
      </p:pic>
      <p:sp>
        <p:nvSpPr>
          <p:cNvPr id="148" name="ContractFootnote"/>
          <p:cNvSpPr txBox="1"/>
          <p:nvPr/>
        </p:nvSpPr>
        <p:spPr>
          <a:xfrm>
            <a:off x="8250631" y="3620110"/>
            <a:ext cx="3427171" cy="368503"/>
          </a:xfrm>
          <a:prstGeom prst="rect">
            <a:avLst/>
          </a:prstGeom>
          <a:solidFill>
            <a:srgbClr val="F2F2F2"/>
          </a:solidFill>
          <a:ln w="19050">
            <a:solidFill>
              <a:srgbClr val="F2F2F2"/>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May be used if Weapons Procurement contract extends over 5-year period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DeliveryCapacityChart"/>
          <p:cNvGraphicFramePr/>
          <p:nvPr/>
        </p:nvGraphicFramePr>
        <p:xfrm>
          <a:off x="392278" y="1481328"/>
          <a:ext cx="8259775" cy="3311957"/>
        </p:xfrm>
        <a:graphic>
          <a:graphicData uri="http://schemas.openxmlformats.org/drawingml/2006/chart">
            <c:chart xmlns:c="http://schemas.openxmlformats.org/drawingml/2006/chart" xmlns:r="http://schemas.openxmlformats.org/officeDocument/2006/relationships" r:id="rId2"/>
          </a:graphicData>
        </a:graphic>
      </p:graphicFrame>
      <p:sp>
        <p:nvSpPr>
          <p:cNvPr id="101" name="ChartYearTick"/>
          <p:cNvSpPr txBox="1"/>
          <p:nvPr/>
        </p:nvSpPr>
        <p:spPr>
          <a:xfrm>
            <a:off x="911657"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2026</a:t>
            </a:r>
          </a:p>
        </p:txBody>
      </p:sp>
      <p:sp>
        <p:nvSpPr>
          <p:cNvPr id="102" name="ChartYearTick"/>
          <p:cNvSpPr txBox="1"/>
          <p:nvPr/>
        </p:nvSpPr>
        <p:spPr>
          <a:xfrm>
            <a:off x="1220724"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2027</a:t>
            </a:r>
          </a:p>
        </p:txBody>
      </p:sp>
      <p:sp>
        <p:nvSpPr>
          <p:cNvPr id="103" name="ChartYearTick"/>
          <p:cNvSpPr txBox="1"/>
          <p:nvPr/>
        </p:nvSpPr>
        <p:spPr>
          <a:xfrm>
            <a:off x="1530706"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2028</a:t>
            </a:r>
          </a:p>
        </p:txBody>
      </p:sp>
      <p:sp>
        <p:nvSpPr>
          <p:cNvPr id="104" name="ChartYearTick"/>
          <p:cNvSpPr txBox="1"/>
          <p:nvPr/>
        </p:nvSpPr>
        <p:spPr>
          <a:xfrm>
            <a:off x="1839773"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2029</a:t>
            </a:r>
          </a:p>
        </p:txBody>
      </p:sp>
      <p:sp>
        <p:nvSpPr>
          <p:cNvPr id="105" name="ChartYearTick"/>
          <p:cNvSpPr txBox="1"/>
          <p:nvPr/>
        </p:nvSpPr>
        <p:spPr>
          <a:xfrm>
            <a:off x="2149754"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2030</a:t>
            </a:r>
          </a:p>
        </p:txBody>
      </p:sp>
      <p:sp>
        <p:nvSpPr>
          <p:cNvPr id="106" name="ChartYearTick"/>
          <p:cNvSpPr txBox="1"/>
          <p:nvPr/>
        </p:nvSpPr>
        <p:spPr>
          <a:xfrm>
            <a:off x="245882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2031</a:t>
            </a:r>
          </a:p>
        </p:txBody>
      </p:sp>
      <p:sp>
        <p:nvSpPr>
          <p:cNvPr id="107" name="ChartYearTick"/>
          <p:cNvSpPr txBox="1"/>
          <p:nvPr/>
        </p:nvSpPr>
        <p:spPr>
          <a:xfrm>
            <a:off x="2766974"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2032</a:t>
            </a:r>
          </a:p>
        </p:txBody>
      </p:sp>
      <p:sp>
        <p:nvSpPr>
          <p:cNvPr id="108" name="ChartYearTick"/>
          <p:cNvSpPr txBox="1"/>
          <p:nvPr/>
        </p:nvSpPr>
        <p:spPr>
          <a:xfrm>
            <a:off x="3076956"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2033</a:t>
            </a:r>
          </a:p>
        </p:txBody>
      </p:sp>
      <p:sp>
        <p:nvSpPr>
          <p:cNvPr id="109" name="ChartYearTick"/>
          <p:cNvSpPr txBox="1"/>
          <p:nvPr/>
        </p:nvSpPr>
        <p:spPr>
          <a:xfrm>
            <a:off x="3386023"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2034</a:t>
            </a:r>
          </a:p>
        </p:txBody>
      </p:sp>
      <p:sp>
        <p:nvSpPr>
          <p:cNvPr id="110" name="ChartYearTick"/>
          <p:cNvSpPr txBox="1"/>
          <p:nvPr/>
        </p:nvSpPr>
        <p:spPr>
          <a:xfrm>
            <a:off x="3696005"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2035</a:t>
            </a:r>
          </a:p>
        </p:txBody>
      </p:sp>
      <p:sp>
        <p:nvSpPr>
          <p:cNvPr id="111" name="ChartYearTick"/>
          <p:cNvSpPr txBox="1"/>
          <p:nvPr/>
        </p:nvSpPr>
        <p:spPr>
          <a:xfrm>
            <a:off x="400507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2036</a:t>
            </a:r>
          </a:p>
        </p:txBody>
      </p:sp>
      <p:sp>
        <p:nvSpPr>
          <p:cNvPr id="112" name="ChartYearTick"/>
          <p:cNvSpPr txBox="1"/>
          <p:nvPr/>
        </p:nvSpPr>
        <p:spPr>
          <a:xfrm>
            <a:off x="4315054"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2037</a:t>
            </a:r>
          </a:p>
        </p:txBody>
      </p:sp>
      <p:sp>
        <p:nvSpPr>
          <p:cNvPr id="113" name="ChartYearTick"/>
          <p:cNvSpPr txBox="1"/>
          <p:nvPr/>
        </p:nvSpPr>
        <p:spPr>
          <a:xfrm>
            <a:off x="4624121"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2038</a:t>
            </a:r>
          </a:p>
        </p:txBody>
      </p:sp>
      <p:sp>
        <p:nvSpPr>
          <p:cNvPr id="114" name="ChartYearTick"/>
          <p:cNvSpPr txBox="1"/>
          <p:nvPr/>
        </p:nvSpPr>
        <p:spPr>
          <a:xfrm>
            <a:off x="493410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2039</a:t>
            </a:r>
          </a:p>
        </p:txBody>
      </p:sp>
      <p:sp>
        <p:nvSpPr>
          <p:cNvPr id="115" name="ChartYearTick"/>
          <p:cNvSpPr txBox="1"/>
          <p:nvPr/>
        </p:nvSpPr>
        <p:spPr>
          <a:xfrm>
            <a:off x="5243170"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2040</a:t>
            </a:r>
          </a:p>
        </p:txBody>
      </p:sp>
      <p:sp>
        <p:nvSpPr>
          <p:cNvPr id="116" name="ChartYearTick"/>
          <p:cNvSpPr txBox="1"/>
          <p:nvPr/>
        </p:nvSpPr>
        <p:spPr>
          <a:xfrm>
            <a:off x="5553151"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2041</a:t>
            </a:r>
          </a:p>
        </p:txBody>
      </p:sp>
      <p:sp>
        <p:nvSpPr>
          <p:cNvPr id="117" name="ChartYearTick"/>
          <p:cNvSpPr txBox="1"/>
          <p:nvPr/>
        </p:nvSpPr>
        <p:spPr>
          <a:xfrm>
            <a:off x="5862218"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2042</a:t>
            </a:r>
          </a:p>
        </p:txBody>
      </p:sp>
      <p:sp>
        <p:nvSpPr>
          <p:cNvPr id="118" name="ChartYearTick"/>
          <p:cNvSpPr txBox="1"/>
          <p:nvPr/>
        </p:nvSpPr>
        <p:spPr>
          <a:xfrm>
            <a:off x="6172200"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2043</a:t>
            </a:r>
          </a:p>
        </p:txBody>
      </p:sp>
      <p:sp>
        <p:nvSpPr>
          <p:cNvPr id="119" name="ChartYearTick"/>
          <p:cNvSpPr txBox="1"/>
          <p:nvPr/>
        </p:nvSpPr>
        <p:spPr>
          <a:xfrm>
            <a:off x="6480353"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2044</a:t>
            </a:r>
          </a:p>
        </p:txBody>
      </p:sp>
      <p:sp>
        <p:nvSpPr>
          <p:cNvPr id="120" name="ChartYearTick"/>
          <p:cNvSpPr txBox="1"/>
          <p:nvPr/>
        </p:nvSpPr>
        <p:spPr>
          <a:xfrm>
            <a:off x="6789420"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2045</a:t>
            </a:r>
          </a:p>
        </p:txBody>
      </p:sp>
      <p:sp>
        <p:nvSpPr>
          <p:cNvPr id="121" name="ChartYearTick"/>
          <p:cNvSpPr txBox="1"/>
          <p:nvPr/>
        </p:nvSpPr>
        <p:spPr>
          <a:xfrm>
            <a:off x="709940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2046</a:t>
            </a:r>
          </a:p>
        </p:txBody>
      </p:sp>
      <p:sp>
        <p:nvSpPr>
          <p:cNvPr id="122" name="ChartYearTick"/>
          <p:cNvSpPr txBox="1"/>
          <p:nvPr/>
        </p:nvSpPr>
        <p:spPr>
          <a:xfrm>
            <a:off x="7408469"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2047</a:t>
            </a:r>
          </a:p>
        </p:txBody>
      </p:sp>
      <p:sp>
        <p:nvSpPr>
          <p:cNvPr id="123" name="ChartYearTick"/>
          <p:cNvSpPr txBox="1"/>
          <p:nvPr/>
        </p:nvSpPr>
        <p:spPr>
          <a:xfrm>
            <a:off x="7718450"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2048</a:t>
            </a:r>
          </a:p>
        </p:txBody>
      </p:sp>
      <p:sp>
        <p:nvSpPr>
          <p:cNvPr id="124" name="ChartYearTick"/>
          <p:cNvSpPr txBox="1"/>
          <p:nvPr/>
        </p:nvSpPr>
        <p:spPr>
          <a:xfrm>
            <a:off x="8028432"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2049</a:t>
            </a:r>
          </a:p>
        </p:txBody>
      </p:sp>
      <p:sp>
        <p:nvSpPr>
          <p:cNvPr id="125" name="ChartYearTick"/>
          <p:cNvSpPr txBox="1"/>
          <p:nvPr/>
        </p:nvSpPr>
        <p:spPr>
          <a:xfrm>
            <a:off x="8337499" y="4610405"/>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2050</a:t>
            </a:r>
          </a:p>
        </p:txBody>
      </p:sp>
      <p:sp>
        <p:nvSpPr>
          <p:cNvPr id="126" name="DeliveryTotalLabel"/>
          <p:cNvSpPr txBox="1"/>
          <p:nvPr/>
        </p:nvSpPr>
        <p:spPr>
          <a:xfrm>
            <a:off x="898855" y="4373575"/>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a:t>
            </a:r>
          </a:p>
        </p:txBody>
      </p:sp>
      <p:sp>
        <p:nvSpPr>
          <p:cNvPr id="127" name="DeliveryTotalLabel"/>
          <p:cNvSpPr txBox="1"/>
          <p:nvPr/>
        </p:nvSpPr>
        <p:spPr>
          <a:xfrm>
            <a:off x="1208837" y="4358030"/>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a:t>
            </a:r>
          </a:p>
        </p:txBody>
      </p:sp>
      <p:sp>
        <p:nvSpPr>
          <p:cNvPr id="128" name="DeliveryTotalLabel"/>
          <p:cNvSpPr txBox="1"/>
          <p:nvPr/>
        </p:nvSpPr>
        <p:spPr>
          <a:xfrm>
            <a:off x="1518818" y="4358030"/>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a:t>
            </a:r>
          </a:p>
        </p:txBody>
      </p:sp>
      <p:sp>
        <p:nvSpPr>
          <p:cNvPr id="129" name="DeliveryTotalLabel"/>
          <p:cNvSpPr txBox="1"/>
          <p:nvPr/>
        </p:nvSpPr>
        <p:spPr>
          <a:xfrm>
            <a:off x="1828800" y="4198925"/>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12</a:t>
            </a:r>
          </a:p>
        </p:txBody>
      </p:sp>
      <p:sp>
        <p:nvSpPr>
          <p:cNvPr id="130" name="DeliveryTotalLabel"/>
          <p:cNvSpPr txBox="1"/>
          <p:nvPr/>
        </p:nvSpPr>
        <p:spPr>
          <a:xfrm>
            <a:off x="2138782" y="4071823"/>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20</a:t>
            </a:r>
          </a:p>
        </p:txBody>
      </p:sp>
      <p:sp>
        <p:nvSpPr>
          <p:cNvPr id="131" name="DeliveryTotalLabel"/>
          <p:cNvSpPr txBox="1"/>
          <p:nvPr/>
        </p:nvSpPr>
        <p:spPr>
          <a:xfrm>
            <a:off x="2447849" y="3913632"/>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30</a:t>
            </a:r>
          </a:p>
        </p:txBody>
      </p:sp>
      <p:sp>
        <p:nvSpPr>
          <p:cNvPr id="132" name="DeliveryTotalLabel"/>
          <p:cNvSpPr txBox="1"/>
          <p:nvPr/>
        </p:nvSpPr>
        <p:spPr>
          <a:xfrm>
            <a:off x="2756002" y="3594506"/>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50</a:t>
            </a:r>
          </a:p>
        </p:txBody>
      </p:sp>
      <p:sp>
        <p:nvSpPr>
          <p:cNvPr id="133" name="DeliveryTotalLabel"/>
          <p:cNvSpPr txBox="1"/>
          <p:nvPr/>
        </p:nvSpPr>
        <p:spPr>
          <a:xfrm>
            <a:off x="3065069" y="3292754"/>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69</a:t>
            </a:r>
          </a:p>
        </p:txBody>
      </p:sp>
      <p:sp>
        <p:nvSpPr>
          <p:cNvPr id="134" name="DeliveryTotalLabel"/>
          <p:cNvSpPr txBox="1"/>
          <p:nvPr/>
        </p:nvSpPr>
        <p:spPr>
          <a:xfrm>
            <a:off x="3340303" y="2752344"/>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103</a:t>
            </a:r>
          </a:p>
        </p:txBody>
      </p:sp>
      <p:sp>
        <p:nvSpPr>
          <p:cNvPr id="135" name="DeliveryTotalLabel"/>
          <p:cNvSpPr txBox="1"/>
          <p:nvPr/>
        </p:nvSpPr>
        <p:spPr>
          <a:xfrm>
            <a:off x="3649370" y="2530145"/>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117</a:t>
            </a:r>
          </a:p>
        </p:txBody>
      </p:sp>
      <p:sp>
        <p:nvSpPr>
          <p:cNvPr id="136" name="DeliveryTotalLabel"/>
          <p:cNvSpPr txBox="1"/>
          <p:nvPr/>
        </p:nvSpPr>
        <p:spPr>
          <a:xfrm>
            <a:off x="3959352" y="227685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133</a:t>
            </a:r>
          </a:p>
        </p:txBody>
      </p:sp>
      <p:sp>
        <p:nvSpPr>
          <p:cNvPr id="137" name="DeliveryTotalLabel"/>
          <p:cNvSpPr txBox="1"/>
          <p:nvPr/>
        </p:nvSpPr>
        <p:spPr>
          <a:xfrm>
            <a:off x="4268419" y="2211019"/>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137</a:t>
            </a:r>
          </a:p>
        </p:txBody>
      </p:sp>
      <p:sp>
        <p:nvSpPr>
          <p:cNvPr id="138" name="DeliveryTotalLabel"/>
          <p:cNvSpPr txBox="1"/>
          <p:nvPr/>
        </p:nvSpPr>
        <p:spPr>
          <a:xfrm>
            <a:off x="4578401" y="2179930"/>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139</a:t>
            </a:r>
          </a:p>
        </p:txBody>
      </p:sp>
      <p:sp>
        <p:nvSpPr>
          <p:cNvPr id="139" name="DeliveryTotalLabel"/>
          <p:cNvSpPr txBox="1"/>
          <p:nvPr/>
        </p:nvSpPr>
        <p:spPr>
          <a:xfrm>
            <a:off x="4887468" y="1910182"/>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156</a:t>
            </a:r>
          </a:p>
        </p:txBody>
      </p:sp>
      <p:sp>
        <p:nvSpPr>
          <p:cNvPr id="140" name="DeliveryTotalLabel"/>
          <p:cNvSpPr txBox="1"/>
          <p:nvPr/>
        </p:nvSpPr>
        <p:spPr>
          <a:xfrm>
            <a:off x="5197450" y="1846174"/>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160</a:t>
            </a:r>
          </a:p>
        </p:txBody>
      </p:sp>
      <p:sp>
        <p:nvSpPr>
          <p:cNvPr id="141" name="DeliveryTotalLabel"/>
          <p:cNvSpPr txBox="1"/>
          <p:nvPr/>
        </p:nvSpPr>
        <p:spPr>
          <a:xfrm>
            <a:off x="5507431" y="1830629"/>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161</a:t>
            </a:r>
          </a:p>
        </p:txBody>
      </p:sp>
      <p:sp>
        <p:nvSpPr>
          <p:cNvPr id="142" name="DeliveryTotalLabel"/>
          <p:cNvSpPr txBox="1"/>
          <p:nvPr/>
        </p:nvSpPr>
        <p:spPr>
          <a:xfrm>
            <a:off x="5816498" y="1814170"/>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162</a:t>
            </a:r>
          </a:p>
        </p:txBody>
      </p:sp>
      <p:sp>
        <p:nvSpPr>
          <p:cNvPr id="143" name="DeliveryTotalLabel"/>
          <p:cNvSpPr txBox="1"/>
          <p:nvPr/>
        </p:nvSpPr>
        <p:spPr>
          <a:xfrm>
            <a:off x="6126480" y="1783080"/>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164</a:t>
            </a:r>
          </a:p>
        </p:txBody>
      </p:sp>
      <p:sp>
        <p:nvSpPr>
          <p:cNvPr id="144" name="DeliveryTotalLabel"/>
          <p:cNvSpPr txBox="1"/>
          <p:nvPr/>
        </p:nvSpPr>
        <p:spPr>
          <a:xfrm>
            <a:off x="6433718" y="1766621"/>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165</a:t>
            </a:r>
          </a:p>
        </p:txBody>
      </p:sp>
      <p:sp>
        <p:nvSpPr>
          <p:cNvPr id="145" name="DeliveryTotalLabel"/>
          <p:cNvSpPr txBox="1"/>
          <p:nvPr/>
        </p:nvSpPr>
        <p:spPr>
          <a:xfrm>
            <a:off x="6743700"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6" name="DeliveryTotalLabel"/>
          <p:cNvSpPr txBox="1"/>
          <p:nvPr/>
        </p:nvSpPr>
        <p:spPr>
          <a:xfrm>
            <a:off x="7053682"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7" name="DeliveryTotalLabel"/>
          <p:cNvSpPr txBox="1"/>
          <p:nvPr/>
        </p:nvSpPr>
        <p:spPr>
          <a:xfrm>
            <a:off x="7362749"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8" name="DeliveryTotalLabel"/>
          <p:cNvSpPr txBox="1"/>
          <p:nvPr/>
        </p:nvSpPr>
        <p:spPr>
          <a:xfrm>
            <a:off x="7672730"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49" name="DeliveryTotalLabel"/>
          <p:cNvSpPr txBox="1"/>
          <p:nvPr/>
        </p:nvSpPr>
        <p:spPr>
          <a:xfrm>
            <a:off x="7981798"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50" name="DeliveryTotalLabel"/>
          <p:cNvSpPr txBox="1"/>
          <p:nvPr/>
        </p:nvSpPr>
        <p:spPr>
          <a:xfrm>
            <a:off x="8291779" y="1751076"/>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166</a:t>
            </a:r>
          </a:p>
        </p:txBody>
      </p:sp>
      <p:sp>
        <p:nvSpPr>
          <p:cNvPr id="151" name="ChartTitle"/>
          <p:cNvSpPr txBox="1"/>
          <p:nvPr/>
        </p:nvSpPr>
        <p:spPr>
          <a:xfrm>
            <a:off x="495605" y="1376172"/>
            <a:ext cx="5278831"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US-Built Oceangoing Commercial Delivery Capacity by Shipyard  (# potential deliveries)</a:t>
            </a:r>
          </a:p>
        </p:txBody>
      </p:sp>
      <p:sp>
        <p:nvSpPr>
          <p:cNvPr id="152" name="ShipyardLegendSwatch"/>
          <p:cNvSpPr txBox="1"/>
          <p:nvPr/>
        </p:nvSpPr>
        <p:spPr>
          <a:xfrm>
            <a:off x="884225" y="1762049"/>
            <a:ext cx="179222" cy="133502"/>
          </a:xfrm>
          <a:prstGeom prst="rect">
            <a:avLst/>
          </a:prstGeom>
          <a:solidFill>
            <a:srgbClr val="808080"/>
          </a:solidFill>
          <a:ln>
            <a:noFill/>
          </a:ln>
        </p:spPr>
        <p:txBody>
          <a:bodyPr wrap="square" anchor="ctr" lIns="91440" tIns="45720" rIns="91440" bIns="45720"/>
          <a:lstStyle/>
          <a:p>
            <a:pPr algn="ctr">
              <a:lnSpc>
                <a:spcPct val="100000"/>
              </a:lnSpc>
              <a:buNone/>
            </a:pPr>
            <a:endParaRPr lang="en-US"/>
          </a:p>
        </p:txBody>
      </p:sp>
      <p:sp>
        <p:nvSpPr>
          <p:cNvPr id="153" name="ShipyardLegendSwatch"/>
          <p:cNvSpPr txBox="1"/>
          <p:nvPr/>
        </p:nvSpPr>
        <p:spPr>
          <a:xfrm>
            <a:off x="884225" y="1965046"/>
            <a:ext cx="179222" cy="133502"/>
          </a:xfrm>
          <a:prstGeom prst="rect">
            <a:avLst/>
          </a:prstGeom>
          <a:solidFill>
            <a:srgbClr val="C3CFE1"/>
          </a:solidFill>
          <a:ln>
            <a:noFill/>
          </a:ln>
        </p:spPr>
        <p:txBody>
          <a:bodyPr wrap="square" anchor="ctr" lIns="91440" tIns="45720" rIns="91440" bIns="45720"/>
          <a:lstStyle/>
          <a:p>
            <a:pPr algn="ctr">
              <a:lnSpc>
                <a:spcPct val="100000"/>
              </a:lnSpc>
              <a:buNone/>
            </a:pPr>
            <a:endParaRPr lang="en-US"/>
          </a:p>
        </p:txBody>
      </p:sp>
      <p:sp>
        <p:nvSpPr>
          <p:cNvPr id="154" name="ShipyardLegendSwatch"/>
          <p:cNvSpPr txBox="1"/>
          <p:nvPr/>
        </p:nvSpPr>
        <p:spPr>
          <a:xfrm>
            <a:off x="884225" y="2168957"/>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55" name="ShipyardLegendSwatch"/>
          <p:cNvSpPr txBox="1"/>
          <p:nvPr/>
        </p:nvSpPr>
        <p:spPr>
          <a:xfrm>
            <a:off x="884225" y="2371954"/>
            <a:ext cx="179222" cy="133502"/>
          </a:xfrm>
          <a:prstGeom prst="rect">
            <a:avLst/>
          </a:prstGeom>
          <a:solidFill>
            <a:srgbClr val="6F8DB9"/>
          </a:solidFill>
          <a:ln>
            <a:noFill/>
          </a:ln>
        </p:spPr>
        <p:txBody>
          <a:bodyPr wrap="square" anchor="ctr" lIns="91440" tIns="45720" rIns="91440" bIns="45720"/>
          <a:lstStyle/>
          <a:p>
            <a:pPr algn="ctr">
              <a:lnSpc>
                <a:spcPct val="100000"/>
              </a:lnSpc>
              <a:buNone/>
            </a:pPr>
            <a:endParaRPr lang="en-US"/>
          </a:p>
        </p:txBody>
      </p:sp>
      <p:sp>
        <p:nvSpPr>
          <p:cNvPr id="156" name="ShipyardLegendSwatch"/>
          <p:cNvSpPr txBox="1"/>
          <p:nvPr/>
        </p:nvSpPr>
        <p:spPr>
          <a:xfrm>
            <a:off x="884225" y="2574950"/>
            <a:ext cx="179222" cy="133502"/>
          </a:xfrm>
          <a:prstGeom prst="rect">
            <a:avLst/>
          </a:prstGeom>
          <a:solidFill>
            <a:srgbClr val="4C6C9C"/>
          </a:solidFill>
          <a:ln>
            <a:noFill/>
          </a:ln>
        </p:spPr>
        <p:txBody>
          <a:bodyPr wrap="square" anchor="ctr" lIns="91440" tIns="45720" rIns="91440" bIns="45720"/>
          <a:lstStyle/>
          <a:p>
            <a:pPr algn="ctr">
              <a:lnSpc>
                <a:spcPct val="100000"/>
              </a:lnSpc>
              <a:buNone/>
            </a:pPr>
            <a:endParaRPr lang="en-US"/>
          </a:p>
        </p:txBody>
      </p:sp>
      <p:sp>
        <p:nvSpPr>
          <p:cNvPr id="157" name="ShipyardLegendSwatch"/>
          <p:cNvSpPr txBox="1"/>
          <p:nvPr/>
        </p:nvSpPr>
        <p:spPr>
          <a:xfrm>
            <a:off x="884225" y="2777947"/>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sp>
        <p:nvSpPr>
          <p:cNvPr id="158" name="ShipyardLegendSwatch"/>
          <p:cNvSpPr txBox="1"/>
          <p:nvPr/>
        </p:nvSpPr>
        <p:spPr>
          <a:xfrm>
            <a:off x="884225" y="2980944"/>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59" name="ShipyardLegendLabel"/>
          <p:cNvSpPr txBox="1"/>
          <p:nvPr/>
        </p:nvSpPr>
        <p:spPr>
          <a:xfrm>
            <a:off x="1114654" y="1757477"/>
            <a:ext cx="10917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GD NASSCO (SHI)</a:t>
            </a:r>
          </a:p>
        </p:txBody>
      </p:sp>
      <p:sp>
        <p:nvSpPr>
          <p:cNvPr id="160" name="ShipyardLegendLabel"/>
          <p:cNvSpPr txBox="1"/>
          <p:nvPr/>
        </p:nvSpPr>
        <p:spPr>
          <a:xfrm>
            <a:off x="1114654" y="1960474"/>
            <a:ext cx="123992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Tampa Ship (HD HHI)</a:t>
            </a:r>
          </a:p>
        </p:txBody>
      </p:sp>
      <p:sp>
        <p:nvSpPr>
          <p:cNvPr id="161" name="ShipyardLegendLabel"/>
          <p:cNvSpPr txBox="1"/>
          <p:nvPr/>
        </p:nvSpPr>
        <p:spPr>
          <a:xfrm>
            <a:off x="1114654" y="2163470"/>
            <a:ext cx="5266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Bollinger</a:t>
            </a:r>
          </a:p>
        </p:txBody>
      </p:sp>
      <p:sp>
        <p:nvSpPr>
          <p:cNvPr id="162" name="ShipyardLegendLabel"/>
          <p:cNvSpPr txBox="1"/>
          <p:nvPr/>
        </p:nvSpPr>
        <p:spPr>
          <a:xfrm>
            <a:off x="1114654" y="2367382"/>
            <a:ext cx="17775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New Entrant (e.g., HD Hyundai)</a:t>
            </a:r>
          </a:p>
        </p:txBody>
      </p:sp>
      <p:sp>
        <p:nvSpPr>
          <p:cNvPr id="163" name="ShipyardLegendLabel"/>
          <p:cNvSpPr txBox="1"/>
          <p:nvPr/>
        </p:nvSpPr>
        <p:spPr>
          <a:xfrm>
            <a:off x="1114654" y="2570378"/>
            <a:ext cx="100949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Hanwha 2nd Yard</a:t>
            </a:r>
          </a:p>
        </p:txBody>
      </p:sp>
      <p:sp>
        <p:nvSpPr>
          <p:cNvPr id="164" name="ShipyardLegendLabel"/>
          <p:cNvSpPr txBox="1"/>
          <p:nvPr/>
        </p:nvSpPr>
        <p:spPr>
          <a:xfrm>
            <a:off x="1114654" y="2773375"/>
            <a:ext cx="801929"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Hanwha Philly</a:t>
            </a:r>
          </a:p>
        </p:txBody>
      </p:sp>
      <p:sp>
        <p:nvSpPr>
          <p:cNvPr id="165" name="ShipyardLegendLabel"/>
          <p:cNvSpPr txBox="1"/>
          <p:nvPr/>
        </p:nvSpPr>
        <p:spPr>
          <a:xfrm>
            <a:off x="1114654" y="2976372"/>
            <a:ext cx="42885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Saronic</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US Delivery Capacity | Expansion largely driven by Saronic; Competitor growth enabled by ownership / partnerships with major ROK shipbuilders and completion of USN/USCG activity.</a:t>
            </a:r>
          </a:p>
        </p:txBody>
      </p:sp>
      <p:sp>
        <p:nvSpPr>
          <p:cNvPr id="166" name="SourceNote"/>
          <p:cNvSpPr txBox="1"/>
          <p:nvPr/>
        </p:nvSpPr>
        <p:spPr>
          <a:xfrm>
            <a:off x="452628" y="6103620"/>
            <a:ext cx="11308385" cy="294437"/>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Assumes avg. 50K GT per newbuild (~13K higher than current fleet avg.); 10M GT target may be achieved with 140-160 deliveries / year with 60K-70K GT per newbuild </a:t>
            </a:r>
            <a:br/>
            <a:r>
              <a:rPr lang="en-US" sz="800" dirty="0">
                <a:solidFill>
                  <a:srgbClr val="000000"/>
                </a:solidFill>
                <a:latin typeface="Arial"/>
                <a:ea typeface="Arial"/>
                <a:cs typeface="Arial"/>
              </a:rPr>
              <a:t>Source: Saronic IP (Jan ’26); </a:t>
            </a:r>
            <a:r>
              <a:rPr lang="en-US" sz="800" dirty="0">
                <a:solidFill>
                  <a:srgbClr val="000000"/>
                </a:solidFill>
                <a:latin typeface="Arial"/>
                <a:ea typeface="Arial"/>
                <a:cs typeface="Arial"/>
              </a:rPr>
              <a:t>Hanwha Philly</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Breaking Defense (Hanwha 2</a:t>
            </a:r>
            <a:r>
              <a:rPr lang="en-US" sz="800" dirty="0">
                <a:solidFill>
                  <a:srgbClr val="000000"/>
                </a:solidFill>
                <a:latin typeface="Arial"/>
                <a:ea typeface="Arial"/>
                <a:cs typeface="Arial"/>
              </a:rPr>
              <a:t>nd</a:t>
            </a:r>
            <a:r>
              <a:rPr lang="en-US" sz="800" dirty="0">
                <a:solidFill>
                  <a:srgbClr val="000000"/>
                </a:solidFill>
                <a:latin typeface="Arial"/>
                <a:ea typeface="Arial"/>
                <a:cs typeface="Arial"/>
              </a:rPr>
              <a:t> Yard)</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Conrad Shipyard</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HD Hyundai (Tampa Ship)</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GD NASSCO</a:t>
            </a:r>
          </a:p>
        </p:txBody>
      </p:sp>
      <p:sp>
        <p:nvSpPr>
          <p:cNvPr id="167" name="AssumptionsRailBody"/>
          <p:cNvSpPr txBox="1"/>
          <p:nvPr/>
        </p:nvSpPr>
        <p:spPr>
          <a:xfrm>
            <a:off x="8631022" y="1592885"/>
            <a:ext cx="3359506" cy="3991356"/>
          </a:xfrm>
          <a:prstGeom prst="rect">
            <a:avLst/>
          </a:prstGeom>
          <a:noFill/>
          <a:ln>
            <a:noFill/>
          </a:ln>
        </p:spPr>
        <p:txBody>
          <a:bodyPr wrap="square" anchor="t" lIns="91440" tIns="45720" rIns="91440" bIns="45720"/>
          <a:lstStyle/>
          <a:p>
            <a:pPr>
              <a:lnSpc>
                <a:spcPct val="100000"/>
              </a:lnSpc>
              <a:buNone/>
            </a:pPr>
            <a:r>
              <a:rPr lang="en-US" sz="1000" b="1" i="1" dirty="0">
                <a:solidFill>
                  <a:srgbClr val="000000"/>
                </a:solidFill>
                <a:latin typeface="Arial"/>
                <a:ea typeface="Arial"/>
                <a:cs typeface="Arial"/>
              </a:rPr>
              <a:t>Total Delivery Capacity</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ramps to 8.3M GT by early 2050s based on Investor Presentation target (Jan ’26)</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Avg. GT stays ~50K / ship, in line with recent US built containerships; ~10K above 10-yr. avg. for commercially viable, ocean ships</a:t>
            </a:r>
          </a:p>
          <a:p>
            <a:pPr>
              <a:lnSpc>
                <a:spcPct val="100000"/>
              </a:lnSpc>
              <a:buNone/>
            </a:pPr>
            <a:r>
              <a:rPr lang="en-US" sz="1000" b="1" i="1" dirty="0">
                <a:solidFill>
                  <a:srgbClr val="000000"/>
                </a:solidFill>
                <a:latin typeface="Arial"/>
                <a:ea typeface="Arial"/>
                <a:cs typeface="Arial"/>
              </a:rPr>
              <a:t>Saronic Capacity</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Port Alpha ramps from 7 deliveries in 2029 to 125 delivery capacity by late ’30s to align with IP assertion of achieving 10M GT of US capacity</a:t>
            </a:r>
          </a:p>
          <a:p>
            <a:pPr>
              <a:lnSpc>
                <a:spcPct val="100000"/>
              </a:lnSpc>
              <a:buNone/>
            </a:pPr>
            <a:r>
              <a:rPr lang="en-US" sz="1000" b="1" i="1" dirty="0">
                <a:solidFill>
                  <a:srgbClr val="000000"/>
                </a:solidFill>
                <a:latin typeface="Arial"/>
                <a:ea typeface="Arial"/>
                <a:cs typeface="Arial"/>
              </a:rPr>
              <a:t>Competitor Capacities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Hanwha Philly achieves 10 deliveries/yr. by mid-2030s and 20 deliveries/yr. by mid-2040s, in line with stated goals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Hanwha purchase 2nd yard in the US, ramping to 5 deliveries/yr. by mid-2040s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HD Hyundai potentially enters US market, purchasing a Gulf Coast yard, ramping production through 2030s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Tampa Ship begins producing commercial vessels in early 2030s, enabled by HD HII partnership</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Bollinger begins producing commercial vessels in early-to-mid 2030s after completion of USCG vessels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GD NASSCO begins delivering commercial vessels after completion of Navy T-AO in early-to-mid 2030s</a:t>
            </a:r>
          </a:p>
          <a:p>
            <a:pPr marL="171450" indent="-171450">
              <a:lnSpc>
                <a:spcPct val="100000"/>
              </a:lnSpc>
              <a:buFont typeface="Arial" panose="020B0604020202020204" pitchFamily="34" charset="0"/>
              <a:buChar char="•"/>
            </a:pPr>
            <a:endParaRPr lang="en-US"/>
          </a:p>
        </p:txBody>
      </p:sp>
      <p:graphicFrame>
        <p:nvGraphicFramePr>
          <p:cNvPr id="168" name="AssumptionsRailHeader"/>
          <p:cNvGraphicFramePr>
            <a:graphicFrameLocks noGrp="1"/>
          </p:cNvGraphicFramePr>
          <p:nvPr/>
        </p:nvGraphicFramePr>
        <p:xfrm>
          <a:off x="8631022" y="1308506"/>
          <a:ext cx="3359506" cy="274320"/>
        </p:xfrm>
        <a:graphic>
          <a:graphicData uri="http://schemas.openxmlformats.org/drawingml/2006/table">
            <a:tbl>
              <a:tblPr firstRow="1" firstCol="1" bandRow="0">
                <a:tableStyleId>{2D5ABB26-0587-4C30-8999-92F81FD0307C}</a:tableStyleId>
              </a:tblPr>
              <a:tblGrid>
                <a:gridCol w="3359506"/>
              </a:tblGrid>
              <a:tr h="274320">
                <a:tc>
                  <a:txBody>
                    <a:bodyPr anchor="ctr"/>
                    <a:lstStyle/>
                    <a:p>
                      <a:pPr algn="l" marL="0" indent="0">
                        <a:lnSpc>
                          <a:spcPct val="100000"/>
                        </a:lnSpc>
                      </a:pPr>
                      <a:r>
                        <a:rPr lang="en-US" sz="1000" b="1" dirty="0">
                          <a:solidFill>
                            <a:srgbClr val="000000"/>
                          </a:solidFill>
                          <a:latin typeface="Arial"/>
                          <a:ea typeface="Arial"/>
                          <a:cs typeface="Arial"/>
                        </a:rPr>
                        <a:t>Inputs &amp; Assumptions </a:t>
                      </a:r>
                    </a:p>
                  </a:txBody>
                  <a:tcPr marL="41564" marR="41564" marT="45720" marB="45720" anchor="ctr">
                    <a:lnL>
                      <a:noFill/>
                    </a:lnL>
                    <a:lnR>
                      <a:noFill/>
                    </a:lnR>
                    <a:lnT w="12700" cap="flat" cmpd="sng" algn="ctr">
                      <a:solidFill>
                        <a:srgbClr val="FFFFFF"/>
                      </a:solidFill>
                      <a:prstDash val="solid"/>
                    </a:lnT>
                    <a:lnB w="12700" cap="flat" cmpd="sng" algn="ctr">
                      <a:solidFill>
                        <a:srgbClr val="000000"/>
                      </a:solidFill>
                      <a:prstDash val="solid"/>
                    </a:lnB>
                    <a:noFill/>
                  </a:tcPr>
                </a:tc>
              </a:tr>
            </a:tbl>
          </a:graphicData>
        </a:graphic>
      </p:graphicFrame>
      <p:sp>
        <p:nvSpPr>
          <p:cNvPr id="169" name="SummaryRowLabelTotalUSGT"/>
          <p:cNvSpPr txBox="1"/>
          <p:nvPr/>
        </p:nvSpPr>
        <p:spPr>
          <a:xfrm>
            <a:off x="103327" y="5345582"/>
            <a:ext cx="1828800" cy="310896"/>
          </a:xfrm>
          <a:prstGeom prst="rect">
            <a:avLst/>
          </a:prstGeom>
          <a:noFill/>
          <a:ln>
            <a:noFill/>
          </a:ln>
        </p:spPr>
        <p:txBody>
          <a:bodyPr wrap="square" anchor="ctr" lIns="91440" tIns="45720" rIns="91440" bIns="45720"/>
          <a:lstStyle/>
          <a:p>
            <a:pPr>
              <a:lnSpc>
                <a:spcPct val="100000"/>
              </a:lnSpc>
              <a:buNone/>
            </a:pPr>
            <a:r>
              <a:rPr lang="en-US" sz="1000" b="1" dirty="0">
                <a:solidFill>
                  <a:srgbClr val="000000"/>
                </a:solidFill>
                <a:latin typeface="Arial"/>
                <a:ea typeface="Arial"/>
                <a:cs typeface="Arial"/>
              </a:rPr>
              <a:t>Total US GT </a:t>
            </a:r>
            <a:r>
              <a:rPr lang="en-US" sz="1000" i="1" dirty="0">
                <a:solidFill>
                  <a:srgbClr val="000000"/>
                </a:solidFill>
                <a:latin typeface="Arial"/>
                <a:ea typeface="Arial"/>
                <a:cs typeface="Arial"/>
              </a:rPr>
              <a:t>(incl. non-ocean/commercial)</a:t>
            </a:r>
            <a:r>
              <a:rPr lang="en-US" sz="1000" b="1" dirty="0">
                <a:solidFill>
                  <a:srgbClr val="000000"/>
                </a:solidFill>
                <a:latin typeface="Arial"/>
                <a:ea typeface="Arial"/>
                <a:cs typeface="Arial"/>
              </a:rPr>
              <a:t>:</a:t>
            </a:r>
          </a:p>
        </p:txBody>
      </p:sp>
      <p:sp>
        <p:nvSpPr>
          <p:cNvPr id="170" name="SummaryBadge_total_us_gt"/>
          <p:cNvSpPr txBox="1"/>
          <p:nvPr/>
        </p:nvSpPr>
        <p:spPr>
          <a:xfrm>
            <a:off x="1945843"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1.1M</a:t>
            </a:r>
          </a:p>
        </p:txBody>
      </p:sp>
      <p:sp>
        <p:nvSpPr>
          <p:cNvPr id="171" name="SummaryBadge_total_us_gt"/>
          <p:cNvSpPr txBox="1"/>
          <p:nvPr/>
        </p:nvSpPr>
        <p:spPr>
          <a:xfrm>
            <a:off x="3496666"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6.0M</a:t>
            </a:r>
          </a:p>
        </p:txBody>
      </p:sp>
      <p:sp>
        <p:nvSpPr>
          <p:cNvPr id="172" name="SummaryBadge_total_us_gt"/>
          <p:cNvSpPr txBox="1"/>
          <p:nvPr/>
        </p:nvSpPr>
        <p:spPr>
          <a:xfrm>
            <a:off x="5044745"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8.1M</a:t>
            </a:r>
          </a:p>
        </p:txBody>
      </p:sp>
      <p:sp>
        <p:nvSpPr>
          <p:cNvPr id="173" name="SummaryBadge_total_us_gt"/>
          <p:cNvSpPr txBox="1"/>
          <p:nvPr/>
        </p:nvSpPr>
        <p:spPr>
          <a:xfrm>
            <a:off x="6590995"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8.4M</a:t>
            </a:r>
          </a:p>
        </p:txBody>
      </p:sp>
      <p:sp>
        <p:nvSpPr>
          <p:cNvPr id="174" name="SummaryBadge_total_us_gt"/>
          <p:cNvSpPr txBox="1"/>
          <p:nvPr/>
        </p:nvSpPr>
        <p:spPr>
          <a:xfrm>
            <a:off x="8138160" y="5384902"/>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8.4M</a:t>
            </a:r>
          </a:p>
        </p:txBody>
      </p:sp>
      <p:sp>
        <p:nvSpPr>
          <p:cNvPr id="175" name="SummaryBadge_oceangoing_gt"/>
          <p:cNvSpPr txBox="1"/>
          <p:nvPr/>
        </p:nvSpPr>
        <p:spPr>
          <a:xfrm>
            <a:off x="1945843"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1.0M</a:t>
            </a:r>
          </a:p>
        </p:txBody>
      </p:sp>
      <p:sp>
        <p:nvSpPr>
          <p:cNvPr id="176" name="SummaryBadge_oceangoing_gt"/>
          <p:cNvSpPr txBox="1"/>
          <p:nvPr/>
        </p:nvSpPr>
        <p:spPr>
          <a:xfrm>
            <a:off x="3496666"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5.9M</a:t>
            </a:r>
          </a:p>
        </p:txBody>
      </p:sp>
      <p:sp>
        <p:nvSpPr>
          <p:cNvPr id="177" name="SummaryBadge_oceangoing_gt"/>
          <p:cNvSpPr txBox="1"/>
          <p:nvPr/>
        </p:nvSpPr>
        <p:spPr>
          <a:xfrm>
            <a:off x="5044745"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8.0M</a:t>
            </a:r>
          </a:p>
        </p:txBody>
      </p:sp>
      <p:sp>
        <p:nvSpPr>
          <p:cNvPr id="178" name="SummaryBadge_oceangoing_gt"/>
          <p:cNvSpPr txBox="1"/>
          <p:nvPr/>
        </p:nvSpPr>
        <p:spPr>
          <a:xfrm>
            <a:off x="6590995"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8.3M</a:t>
            </a:r>
          </a:p>
        </p:txBody>
      </p:sp>
      <p:sp>
        <p:nvSpPr>
          <p:cNvPr id="179" name="SummaryBadge_oceangoing_gt"/>
          <p:cNvSpPr txBox="1"/>
          <p:nvPr/>
        </p:nvSpPr>
        <p:spPr>
          <a:xfrm>
            <a:off x="8138160" y="5021885"/>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8.3M</a:t>
            </a:r>
          </a:p>
        </p:txBody>
      </p:sp>
      <p:sp>
        <p:nvSpPr>
          <p:cNvPr id="180" name="SummaryBadge_port_alpha_share"/>
          <p:cNvSpPr txBox="1"/>
          <p:nvPr/>
        </p:nvSpPr>
        <p:spPr>
          <a:xfrm>
            <a:off x="1945843"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70%</a:t>
            </a:r>
          </a:p>
        </p:txBody>
      </p:sp>
      <p:sp>
        <p:nvSpPr>
          <p:cNvPr id="181" name="SummaryBadge_port_alpha_share"/>
          <p:cNvSpPr txBox="1"/>
          <p:nvPr/>
        </p:nvSpPr>
        <p:spPr>
          <a:xfrm>
            <a:off x="3496666"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a:t>
            </a:r>
          </a:p>
        </p:txBody>
      </p:sp>
      <p:sp>
        <p:nvSpPr>
          <p:cNvPr id="182" name="SummaryBadge_port_alpha_share"/>
          <p:cNvSpPr txBox="1"/>
          <p:nvPr/>
        </p:nvSpPr>
        <p:spPr>
          <a:xfrm>
            <a:off x="5044745"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78%</a:t>
            </a:r>
          </a:p>
        </p:txBody>
      </p:sp>
      <p:sp>
        <p:nvSpPr>
          <p:cNvPr id="183" name="SummaryBadge_port_alpha_share"/>
          <p:cNvSpPr txBox="1"/>
          <p:nvPr/>
        </p:nvSpPr>
        <p:spPr>
          <a:xfrm>
            <a:off x="6590995"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84" name="SummaryBadge_port_alpha_share"/>
          <p:cNvSpPr txBox="1"/>
          <p:nvPr/>
        </p:nvSpPr>
        <p:spPr>
          <a:xfrm>
            <a:off x="8138160" y="5747004"/>
            <a:ext cx="55046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85" name="SummaryRowLabelOceangoingGT"/>
          <p:cNvSpPr txBox="1"/>
          <p:nvPr/>
        </p:nvSpPr>
        <p:spPr>
          <a:xfrm>
            <a:off x="103327" y="4983480"/>
            <a:ext cx="1828800" cy="310896"/>
          </a:xfrm>
          <a:prstGeom prst="rect">
            <a:avLst/>
          </a:prstGeom>
          <a:noFill/>
          <a:ln>
            <a:noFill/>
          </a:ln>
        </p:spPr>
        <p:txBody>
          <a:bodyPr wrap="square" anchor="ctr" lIns="91440" tIns="45720" rIns="91440" bIns="45720"/>
          <a:lstStyle/>
          <a:p>
            <a:pPr>
              <a:lnSpc>
                <a:spcPct val="100000"/>
              </a:lnSpc>
              <a:buNone/>
            </a:pPr>
            <a:r>
              <a:rPr lang="en-US" sz="1000" b="1" dirty="0">
                <a:solidFill>
                  <a:srgbClr val="000000"/>
                </a:solidFill>
                <a:latin typeface="Arial"/>
                <a:ea typeface="Arial"/>
                <a:cs typeface="Arial"/>
              </a:rPr>
              <a:t>Oceangoing commercial GT</a:t>
            </a:r>
            <a:r>
              <a:rPr lang="en-US" sz="1000" b="1" dirty="0">
                <a:solidFill>
                  <a:srgbClr val="000000"/>
                </a:solidFill>
                <a:latin typeface="Arial"/>
                <a:ea typeface="Arial"/>
                <a:cs typeface="Arial"/>
              </a:rPr>
              <a:t>1</a:t>
            </a:r>
            <a:r>
              <a:rPr lang="en-US" sz="1000" b="1" dirty="0">
                <a:solidFill>
                  <a:srgbClr val="000000"/>
                </a:solidFill>
                <a:latin typeface="Arial"/>
                <a:ea typeface="Arial"/>
                <a:cs typeface="Arial"/>
              </a:rPr>
              <a:t>:</a:t>
            </a:r>
          </a:p>
        </p:txBody>
      </p:sp>
      <p:sp>
        <p:nvSpPr>
          <p:cNvPr id="186" name="SummaryRowLabelPortAlphaShare"/>
          <p:cNvSpPr txBox="1"/>
          <p:nvPr/>
        </p:nvSpPr>
        <p:spPr>
          <a:xfrm>
            <a:off x="103327" y="5708599"/>
            <a:ext cx="1828800" cy="310896"/>
          </a:xfrm>
          <a:prstGeom prst="rect">
            <a:avLst/>
          </a:prstGeom>
          <a:noFill/>
          <a:ln>
            <a:noFill/>
          </a:ln>
        </p:spPr>
        <p:txBody>
          <a:bodyPr wrap="square" anchor="ctr" lIns="91440" tIns="45720" rIns="91440" bIns="45720"/>
          <a:lstStyle/>
          <a:p>
            <a:pPr>
              <a:lnSpc>
                <a:spcPct val="100000"/>
              </a:lnSpc>
              <a:buNone/>
            </a:pPr>
            <a:r>
              <a:rPr lang="en-US" sz="1000" b="1" i="1" dirty="0">
                <a:solidFill>
                  <a:srgbClr val="000000"/>
                </a:solidFill>
                <a:latin typeface="Arial"/>
                <a:ea typeface="Arial"/>
                <a:cs typeface="Arial"/>
              </a:rPr>
              <a:t>% oceangoing commercial attributable to Port Alpha:</a:t>
            </a:r>
          </a:p>
        </p:txBody>
      </p:sp>
      <p:sp>
        <p:nvSpPr>
          <p:cNvPr id="187" name="NonOceangoingStableGTCallout"/>
          <p:cNvSpPr txBox="1"/>
          <p:nvPr/>
        </p:nvSpPr>
        <p:spPr>
          <a:xfrm>
            <a:off x="9134856" y="5384902"/>
            <a:ext cx="2557577" cy="950976"/>
          </a:xfrm>
          <a:prstGeom prst="wedgeRectCallout">
            <a:avLst>
              <a:gd name="adj1" fmla="val -62578"/>
              <a:gd name="adj2" fmla="val -35925"/>
            </a:avLst>
          </a:prstGeom>
          <a:solidFill>
            <a:srgbClr val="FFFFFF"/>
          </a:solidFill>
          <a:ln w="12700">
            <a:solidFill>
              <a:srgbClr val="121415"/>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Est. ~100K GT for naval, USCG, offshore, and other vessels remains relatively stable through forecast; implied amount based on current orderbook for non-oceangoing commercial and assumed defense/national security production</a:t>
            </a:r>
          </a:p>
        </p:txBody>
      </p:sp>
      <p:sp>
        <p:nvSpPr>
          <p:cNvPr id="188" name="OrderbookCapacityCallout"/>
          <p:cNvSpPr txBox="1"/>
          <p:nvPr/>
        </p:nvSpPr>
        <p:spPr>
          <a:xfrm>
            <a:off x="882396" y="3242462"/>
            <a:ext cx="1565453" cy="639166"/>
          </a:xfrm>
          <a:prstGeom prst="wedgeRectCallout">
            <a:avLst>
              <a:gd name="adj1" fmla="val -21817"/>
              <a:gd name="adj2" fmla="val 120159"/>
            </a:avLst>
          </a:prstGeom>
          <a:solidFill>
            <a:srgbClr val="FFFFFF"/>
          </a:solidFill>
          <a:ln w="12700">
            <a:solidFill>
              <a:srgbClr val="121415"/>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Implied delivery capacity based on orderbook; excludes idle / underutilized yards</a:t>
            </a:r>
          </a:p>
        </p:txBody>
      </p:sp>
      <p:sp>
        <p:nvSpPr>
          <p:cNvPr id="189" name="SaronicRampCallout"/>
          <p:cNvSpPr txBox="1"/>
          <p:nvPr/>
        </p:nvSpPr>
        <p:spPr>
          <a:xfrm>
            <a:off x="4776826" y="3913632"/>
            <a:ext cx="3651199" cy="574243"/>
          </a:xfrm>
          <a:prstGeom prst="rect">
            <a:avLst/>
          </a:prstGeom>
          <a:solidFill>
            <a:srgbClr val="FFFFFF"/>
          </a:solidFill>
          <a:ln w="12700">
            <a:solidFill>
              <a:srgbClr val="000000"/>
            </a:solid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Saronic capacity assumes Port Alpha ramps from 7 delivery capacity in 2029 to 125 deliveries by late 2030s to align with IP assertion of achieving 10M GT of US shipbuilding capacity </a:t>
            </a:r>
          </a:p>
        </p:txBody>
      </p:sp>
      <p:sp>
        <p:nvSpPr>
          <p:cNvPr id="190" name="ScopeChip"/>
          <p:cNvSpPr txBox="1"/>
          <p:nvPr/>
        </p:nvSpPr>
        <p:spPr>
          <a:xfrm>
            <a:off x="7378294" y="159106"/>
            <a:ext cx="2722169" cy="198425"/>
          </a:xfrm>
          <a:prstGeom prst="rect">
            <a:avLst/>
          </a:prstGeom>
          <a:no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All Scenarios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Addressable Demand | US-built and flagged oceangoing commercial vessels and high-volume offshore vessels meet desired regulatory and/or serial production requirements.</a:t>
            </a:r>
          </a:p>
        </p:txBody>
      </p:sp>
      <p:sp>
        <p:nvSpPr>
          <p:cNvPr id="100" name="Criteria_us_built"/>
          <p:cNvSpPr txBox="1"/>
          <p:nvPr/>
        </p:nvSpPr>
        <p:spPr>
          <a:xfrm>
            <a:off x="1638605" y="1596542"/>
            <a:ext cx="2011680" cy="457200"/>
          </a:xfrm>
          <a:prstGeom prst="rect">
            <a:avLst/>
          </a:prstGeom>
          <a:solidFill>
            <a:srgbClr val="000000"/>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US-Built</a:t>
            </a:r>
          </a:p>
        </p:txBody>
      </p:sp>
      <p:sp>
        <p:nvSpPr>
          <p:cNvPr id="101" name="Criteria_us_flagged"/>
          <p:cNvSpPr txBox="1"/>
          <p:nvPr/>
        </p:nvSpPr>
        <p:spPr>
          <a:xfrm>
            <a:off x="1639519" y="2215591"/>
            <a:ext cx="2011680" cy="457200"/>
          </a:xfrm>
          <a:prstGeom prst="rect">
            <a:avLst/>
          </a:prstGeom>
          <a:solidFill>
            <a:srgbClr val="000000"/>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US-Flagged</a:t>
            </a:r>
          </a:p>
        </p:txBody>
      </p:sp>
      <p:sp>
        <p:nvSpPr>
          <p:cNvPr id="102" name="Criteria_commercially_viable"/>
          <p:cNvSpPr txBox="1"/>
          <p:nvPr/>
        </p:nvSpPr>
        <p:spPr>
          <a:xfrm>
            <a:off x="1639519" y="2834640"/>
            <a:ext cx="2011680" cy="457200"/>
          </a:xfrm>
          <a:prstGeom prst="rect">
            <a:avLst/>
          </a:prstGeom>
          <a:solidFill>
            <a:srgbClr val="007770"/>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Commercially Viable</a:t>
            </a:r>
          </a:p>
        </p:txBody>
      </p:sp>
      <p:sp>
        <p:nvSpPr>
          <p:cNvPr id="103" name="Criteria_oceangoing"/>
          <p:cNvSpPr txBox="1"/>
          <p:nvPr/>
        </p:nvSpPr>
        <p:spPr>
          <a:xfrm>
            <a:off x="1639519" y="3453689"/>
            <a:ext cx="2011680" cy="457200"/>
          </a:xfrm>
          <a:prstGeom prst="rect">
            <a:avLst/>
          </a:prstGeom>
          <a:solidFill>
            <a:srgbClr val="007770"/>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Oceangoing</a:t>
            </a:r>
          </a:p>
        </p:txBody>
      </p:sp>
      <p:sp>
        <p:nvSpPr>
          <p:cNvPr id="104" name="Criteria_high_volume_offshore"/>
          <p:cNvSpPr txBox="1"/>
          <p:nvPr/>
        </p:nvSpPr>
        <p:spPr>
          <a:xfrm>
            <a:off x="1639519" y="4072738"/>
            <a:ext cx="2011680" cy="457200"/>
          </a:xfrm>
          <a:prstGeom prst="rect">
            <a:avLst/>
          </a:prstGeom>
          <a:solidFill>
            <a:srgbClr val="FFC000"/>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High Volume Offshore</a:t>
            </a:r>
            <a:br/>
            <a:r>
              <a:rPr lang="en-US" sz="1200" i="1" dirty="0">
                <a:solidFill>
                  <a:srgbClr val="000000"/>
                </a:solidFill>
                <a:latin typeface="Arial"/>
                <a:ea typeface="Arial"/>
                <a:cs typeface="Arial"/>
              </a:rPr>
              <a:t>(PSV and FSV)</a:t>
            </a:r>
          </a:p>
        </p:txBody>
      </p:sp>
      <p:sp>
        <p:nvSpPr>
          <p:cNvPr id="105" name="Criteria_great_lakes"/>
          <p:cNvSpPr txBox="1"/>
          <p:nvPr/>
        </p:nvSpPr>
        <p:spPr>
          <a:xfrm>
            <a:off x="1639519" y="4691786"/>
            <a:ext cx="2011680" cy="457200"/>
          </a:xfrm>
          <a:prstGeom prst="rect">
            <a:avLst/>
          </a:prstGeom>
          <a:solidFill>
            <a:srgbClr val="969696"/>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Great Lakes Commercial Vessels</a:t>
            </a:r>
          </a:p>
        </p:txBody>
      </p:sp>
      <p:sp>
        <p:nvSpPr>
          <p:cNvPr id="106" name="Criteria_low_volume_offshore"/>
          <p:cNvSpPr txBox="1"/>
          <p:nvPr/>
        </p:nvSpPr>
        <p:spPr>
          <a:xfrm>
            <a:off x="1639519" y="5310835"/>
            <a:ext cx="2011680" cy="457200"/>
          </a:xfrm>
          <a:prstGeom prst="rect">
            <a:avLst/>
          </a:prstGeom>
          <a:solidFill>
            <a:srgbClr val="969696"/>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Low Volume Offshore </a:t>
            </a:r>
            <a:br/>
            <a:r>
              <a:rPr lang="en-US" sz="1200" i="1" dirty="0">
                <a:solidFill>
                  <a:srgbClr val="FFFFFF"/>
                </a:solidFill>
                <a:latin typeface="Arial"/>
                <a:ea typeface="Arial"/>
                <a:cs typeface="Arial"/>
              </a:rPr>
              <a:t>(ex-PSV and FSV)</a:t>
            </a:r>
            <a:r>
              <a:rPr lang="en-US" sz="1200" b="1" dirty="0">
                <a:solidFill>
                  <a:srgbClr val="FFFFFF"/>
                </a:solidFill>
                <a:latin typeface="Arial"/>
                <a:ea typeface="Arial"/>
                <a:cs typeface="Arial"/>
              </a:rPr>
              <a:t> </a:t>
            </a:r>
          </a:p>
        </p:txBody>
      </p:sp>
      <p:sp>
        <p:nvSpPr>
          <p:cNvPr id="107" name="Criteria_other_categories"/>
          <p:cNvSpPr txBox="1"/>
          <p:nvPr/>
        </p:nvSpPr>
        <p:spPr>
          <a:xfrm>
            <a:off x="1639519" y="5929884"/>
            <a:ext cx="2011680" cy="457200"/>
          </a:xfrm>
          <a:prstGeom prst="rect">
            <a:avLst/>
          </a:prstGeom>
          <a:solidFill>
            <a:srgbClr val="969696"/>
          </a:solidFill>
          <a:ln>
            <a:noFill/>
          </a:ln>
        </p:spPr>
        <p:txBody>
          <a:bodyPr wrap="square" anchor="ctr" lIns="91440" tIns="45720" rIns="91440" bIns="45720"/>
          <a:lstStyle/>
          <a:p>
            <a:pPr algn="ctr">
              <a:lnSpc>
                <a:spcPct val="100000"/>
              </a:lnSpc>
              <a:buNone/>
            </a:pPr>
            <a:r>
              <a:rPr lang="en-US" sz="1200" b="1" dirty="0">
                <a:solidFill>
                  <a:srgbClr val="FFFFFF"/>
                </a:solidFill>
                <a:latin typeface="Arial"/>
                <a:ea typeface="Arial"/>
                <a:cs typeface="Arial"/>
              </a:rPr>
              <a:t>Other Categories</a:t>
            </a:r>
          </a:p>
        </p:txBody>
      </p:sp>
      <p:graphicFrame>
        <p:nvGraphicFramePr>
          <p:cNvPr id="108" name="TierSpine_TableStakes"/>
          <p:cNvGraphicFramePr>
            <a:graphicFrameLocks noGrp="1"/>
          </p:cNvGraphicFramePr>
          <p:nvPr/>
        </p:nvGraphicFramePr>
        <p:xfrm>
          <a:off x="330098" y="1596542"/>
          <a:ext cx="1155802" cy="1074420"/>
        </p:xfrm>
        <a:graphic>
          <a:graphicData uri="http://schemas.openxmlformats.org/drawingml/2006/table">
            <a:tbl>
              <a:tblPr firstRow="1" firstCol="1" bandRow="0">
                <a:tableStyleId>{2D5ABB26-0587-4C30-8999-92F81FD0307C}</a:tableStyleId>
              </a:tblPr>
              <a:tblGrid>
                <a:gridCol w="1155802"/>
              </a:tblGrid>
              <a:tr h="1074420">
                <a:tc>
                  <a:txBody>
                    <a:bodyPr anchor="ctr"/>
                    <a:lstStyle/>
                    <a:p>
                      <a:pPr algn="l" marL="0" indent="0">
                        <a:lnSpc>
                          <a:spcPct val="100000"/>
                        </a:lnSpc>
                      </a:pPr>
                      <a:r>
                        <a:rPr lang="en-US" sz="1200" dirty="0">
                          <a:solidFill>
                            <a:srgbClr val="000000"/>
                          </a:solidFill>
                          <a:latin typeface="Arial"/>
                          <a:ea typeface="Arial"/>
                          <a:cs typeface="Arial"/>
                        </a:rPr>
                        <a:t>Table Stakes</a:t>
                      </a:r>
                    </a:p>
                  </a:txBody>
                  <a:tcPr marL="45720" marR="45720" marT="45720" marB="45720" anchor="ctr">
                    <a:lnL>
                      <a:noFill/>
                    </a:lnL>
                    <a:lnR w="38100" cap="flat" cmpd="sng" algn="ctr">
                      <a:solidFill>
                        <a:srgbClr val="000000"/>
                      </a:solidFill>
                      <a:prstDash val="solid"/>
                    </a:lnR>
                    <a:lnT>
                      <a:noFill/>
                    </a:lnT>
                    <a:lnB>
                      <a:noFill/>
                    </a:lnB>
                    <a:noFill/>
                  </a:tcPr>
                </a:tc>
              </a:tr>
            </a:tbl>
          </a:graphicData>
        </a:graphic>
      </p:graphicFrame>
      <p:graphicFrame>
        <p:nvGraphicFramePr>
          <p:cNvPr id="109" name="TierSpine_AddressableCommercial"/>
          <p:cNvGraphicFramePr>
            <a:graphicFrameLocks noGrp="1"/>
          </p:cNvGraphicFramePr>
          <p:nvPr/>
        </p:nvGraphicFramePr>
        <p:xfrm>
          <a:off x="330098" y="2831897"/>
          <a:ext cx="1155802" cy="1074420"/>
        </p:xfrm>
        <a:graphic>
          <a:graphicData uri="http://schemas.openxmlformats.org/drawingml/2006/table">
            <a:tbl>
              <a:tblPr firstRow="1" firstCol="1" bandRow="0">
                <a:tableStyleId>{2D5ABB26-0587-4C30-8999-92F81FD0307C}</a:tableStyleId>
              </a:tblPr>
              <a:tblGrid>
                <a:gridCol w="1155802"/>
              </a:tblGrid>
              <a:tr h="1074420">
                <a:tc>
                  <a:txBody>
                    <a:bodyPr anchor="ctr"/>
                    <a:lstStyle/>
                    <a:p>
                      <a:pPr algn="l" marL="0" indent="0">
                        <a:lnSpc>
                          <a:spcPct val="100000"/>
                        </a:lnSpc>
                      </a:pPr>
                      <a:r>
                        <a:rPr lang="en-US" sz="1200" dirty="0">
                          <a:solidFill>
                            <a:srgbClr val="007770"/>
                          </a:solidFill>
                          <a:latin typeface="Arial"/>
                          <a:ea typeface="Arial"/>
                          <a:cs typeface="Arial"/>
                        </a:rPr>
                        <a:t>Addressable</a:t>
                      </a:r>
                    </a:p>
                    <a:p>
                      <a:pPr algn="l" marL="0" indent="0">
                        <a:lnSpc>
                          <a:spcPct val="100000"/>
                        </a:lnSpc>
                      </a:pPr>
                      <a:r>
                        <a:rPr lang="en-US" sz="1200" dirty="0">
                          <a:solidFill>
                            <a:srgbClr val="007770"/>
                          </a:solidFill>
                          <a:latin typeface="Arial"/>
                          <a:ea typeface="Arial"/>
                          <a:cs typeface="Arial"/>
                        </a:rPr>
                        <a:t>Commercial</a:t>
                      </a:r>
                    </a:p>
                  </a:txBody>
                  <a:tcPr marL="45720" marR="45720" marT="45720" marB="45720" anchor="ctr">
                    <a:lnL>
                      <a:noFill/>
                    </a:lnL>
                    <a:lnR w="38100" cap="flat" cmpd="sng" algn="ctr">
                      <a:solidFill>
                        <a:srgbClr val="007770"/>
                      </a:solidFill>
                      <a:prstDash val="solid"/>
                    </a:lnR>
                    <a:lnT>
                      <a:noFill/>
                    </a:lnT>
                    <a:lnB>
                      <a:noFill/>
                    </a:lnB>
                    <a:noFill/>
                  </a:tcPr>
                </a:tc>
              </a:tr>
            </a:tbl>
          </a:graphicData>
        </a:graphic>
      </p:graphicFrame>
      <p:graphicFrame>
        <p:nvGraphicFramePr>
          <p:cNvPr id="110" name="TierSpine_AddressableOffshore"/>
          <p:cNvGraphicFramePr>
            <a:graphicFrameLocks noGrp="1"/>
          </p:cNvGraphicFramePr>
          <p:nvPr/>
        </p:nvGraphicFramePr>
        <p:xfrm>
          <a:off x="331013" y="4072738"/>
          <a:ext cx="1154887" cy="457200"/>
        </p:xfrm>
        <a:graphic>
          <a:graphicData uri="http://schemas.openxmlformats.org/drawingml/2006/table">
            <a:tbl>
              <a:tblPr firstRow="1" firstCol="1" bandRow="0">
                <a:tableStyleId>{2D5ABB26-0587-4C30-8999-92F81FD0307C}</a:tableStyleId>
              </a:tblPr>
              <a:tblGrid>
                <a:gridCol w="1154887"/>
              </a:tblGrid>
              <a:tr h="457200">
                <a:tc>
                  <a:txBody>
                    <a:bodyPr anchor="ctr"/>
                    <a:lstStyle/>
                    <a:p>
                      <a:pPr algn="l" marL="0" indent="0">
                        <a:lnSpc>
                          <a:spcPct val="100000"/>
                        </a:lnSpc>
                      </a:pPr>
                      <a:r>
                        <a:rPr lang="en-US" sz="1200" dirty="0">
                          <a:solidFill>
                            <a:srgbClr val="FFC000"/>
                          </a:solidFill>
                          <a:latin typeface="Arial"/>
                          <a:ea typeface="Arial"/>
                          <a:cs typeface="Arial"/>
                        </a:rPr>
                        <a:t>Addressable Offshore</a:t>
                      </a:r>
                    </a:p>
                  </a:txBody>
                  <a:tcPr marL="45720" marR="45720" marT="45720" marB="45720" anchor="ctr">
                    <a:lnL>
                      <a:noFill/>
                    </a:lnL>
                    <a:lnR w="38100" cap="flat" cmpd="sng" algn="ctr">
                      <a:solidFill>
                        <a:srgbClr val="FFC000"/>
                      </a:solidFill>
                      <a:prstDash val="solid"/>
                    </a:lnR>
                    <a:lnT>
                      <a:noFill/>
                    </a:lnT>
                    <a:lnB>
                      <a:noFill/>
                    </a:lnB>
                    <a:noFill/>
                  </a:tcPr>
                </a:tc>
              </a:tr>
            </a:tbl>
          </a:graphicData>
        </a:graphic>
      </p:graphicFrame>
      <p:graphicFrame>
        <p:nvGraphicFramePr>
          <p:cNvPr id="111" name="TierSpine_NonAddressable"/>
          <p:cNvGraphicFramePr>
            <a:graphicFrameLocks noGrp="1"/>
          </p:cNvGraphicFramePr>
          <p:nvPr/>
        </p:nvGraphicFramePr>
        <p:xfrm>
          <a:off x="331013" y="4691786"/>
          <a:ext cx="1154887" cy="1695298"/>
        </p:xfrm>
        <a:graphic>
          <a:graphicData uri="http://schemas.openxmlformats.org/drawingml/2006/table">
            <a:tbl>
              <a:tblPr firstRow="1" firstCol="1" bandRow="0">
                <a:tableStyleId>{2D5ABB26-0587-4C30-8999-92F81FD0307C}</a:tableStyleId>
              </a:tblPr>
              <a:tblGrid>
                <a:gridCol w="1154887"/>
              </a:tblGrid>
              <a:tr h="1695298">
                <a:tc>
                  <a:txBody>
                    <a:bodyPr anchor="ctr"/>
                    <a:lstStyle/>
                    <a:p>
                      <a:pPr algn="l" marL="0" indent="0">
                        <a:lnSpc>
                          <a:spcPct val="100000"/>
                        </a:lnSpc>
                      </a:pPr>
                      <a:r>
                        <a:rPr lang="en-US" sz="1200" dirty="0">
                          <a:solidFill>
                            <a:srgbClr val="969696"/>
                          </a:solidFill>
                          <a:latin typeface="Arial"/>
                          <a:ea typeface="Arial"/>
                          <a:cs typeface="Arial"/>
                        </a:rPr>
                        <a:t>Non-Addressable</a:t>
                      </a:r>
                    </a:p>
                  </a:txBody>
                  <a:tcPr marL="45720" marR="45720" marT="45720" marB="45720" anchor="ctr">
                    <a:lnL>
                      <a:noFill/>
                    </a:lnL>
                    <a:lnR w="38100" cap="flat" cmpd="sng" algn="ctr">
                      <a:solidFill>
                        <a:srgbClr val="969696"/>
                      </a:solidFill>
                      <a:prstDash val="solid"/>
                    </a:lnR>
                    <a:lnT>
                      <a:noFill/>
                    </a:lnT>
                    <a:lnB>
                      <a:noFill/>
                    </a:lnB>
                    <a:noFill/>
                  </a:tcPr>
                </a:tc>
              </a:tr>
            </a:tbl>
          </a:graphicData>
        </a:graphic>
      </p:graphicFrame>
      <p:sp>
        <p:nvSpPr>
          <p:cNvPr id="112" name="Rationale_us_built"/>
          <p:cNvSpPr txBox="1"/>
          <p:nvPr/>
        </p:nvSpPr>
        <p:spPr>
          <a:xfrm>
            <a:off x="3802075" y="1596542"/>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Provides Jones Act protection or enables subsidy eligibility under pending legislation and potential expansion of other programs; required for certain export/import provisions</a:t>
            </a:r>
          </a:p>
        </p:txBody>
      </p:sp>
      <p:sp>
        <p:nvSpPr>
          <p:cNvPr id="113" name="Rationale_us_flagged"/>
          <p:cNvSpPr txBox="1"/>
          <p:nvPr/>
        </p:nvSpPr>
        <p:spPr>
          <a:xfrm>
            <a:off x="3802075" y="2214677"/>
            <a:ext cx="7934249" cy="457200"/>
          </a:xfrm>
          <a:prstGeom prst="rect">
            <a:avLst/>
          </a:prstGeom>
          <a:noFill/>
          <a:ln>
            <a:noFill/>
          </a:ln>
        </p:spPr>
        <p:txBody>
          <a:bodyPr wrap="square" anchor="ctr" lIns="91440" tIns="45720" rIns="91440" bIns="45720"/>
          <a:lstStyle/>
          <a:p>
            <a:pPr>
              <a:lnSpc>
                <a:spcPct val="100000"/>
              </a:lnSpc>
              <a:buNone/>
            </a:pPr>
            <a:r>
              <a:rPr lang="en-US" sz="1400" i="1" dirty="0">
                <a:solidFill>
                  <a:srgbClr val="000000"/>
                </a:solidFill>
                <a:latin typeface="Arial"/>
                <a:ea typeface="Arial"/>
                <a:cs typeface="Arial"/>
              </a:rPr>
              <a:t>Same as above</a:t>
            </a:r>
          </a:p>
        </p:txBody>
      </p:sp>
      <p:sp>
        <p:nvSpPr>
          <p:cNvPr id="114" name="Rationale_commercially_viable"/>
          <p:cNvSpPr txBox="1"/>
          <p:nvPr/>
        </p:nvSpPr>
        <p:spPr>
          <a:xfrm>
            <a:off x="3802075" y="2831897"/>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Meets capabilities and tonnage required for participation in subsidized programs; priced to achieve revenue targets</a:t>
            </a:r>
          </a:p>
        </p:txBody>
      </p:sp>
      <p:sp>
        <p:nvSpPr>
          <p:cNvPr id="115" name="Rationale_oceangoing"/>
          <p:cNvSpPr txBox="1"/>
          <p:nvPr/>
        </p:nvSpPr>
        <p:spPr>
          <a:xfrm>
            <a:off x="3802075" y="3450031"/>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Drives national shipbuilding capacity with avg. gross tonnage 15x+ that of offshore vessels</a:t>
            </a:r>
          </a:p>
        </p:txBody>
      </p:sp>
      <p:sp>
        <p:nvSpPr>
          <p:cNvPr id="116" name="Rationale_high_volume_offshore"/>
          <p:cNvSpPr txBox="1"/>
          <p:nvPr/>
        </p:nvSpPr>
        <p:spPr>
          <a:xfrm>
            <a:off x="3802075" y="4067251"/>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Large fleet size enables serial production (5+ hulls/yr to achieve max labor efficiencies); viable if owner/operators conduct 1-for-1 replacement of expected retirements</a:t>
            </a:r>
          </a:p>
        </p:txBody>
      </p:sp>
      <p:sp>
        <p:nvSpPr>
          <p:cNvPr id="117" name="Rationale_great_lakes"/>
          <p:cNvSpPr txBox="1"/>
          <p:nvPr/>
        </p:nvSpPr>
        <p:spPr>
          <a:xfrm>
            <a:off x="3802075" y="4684471"/>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Unlikely to drive meaningful demand given small fleet size (~37 vessels) and low retirement rates</a:t>
            </a:r>
          </a:p>
        </p:txBody>
      </p:sp>
      <p:sp>
        <p:nvSpPr>
          <p:cNvPr id="118" name="Rationale_low_volume_offshore"/>
          <p:cNvSpPr txBox="1"/>
          <p:nvPr/>
        </p:nvSpPr>
        <p:spPr>
          <a:xfrm>
            <a:off x="3802075" y="5302606"/>
            <a:ext cx="7934249" cy="457200"/>
          </a:xfrm>
          <a:prstGeom prst="rect">
            <a:avLst/>
          </a:prstGeom>
          <a:noFill/>
          <a:ln>
            <a:noFill/>
          </a:ln>
        </p:spPr>
        <p:txBody>
          <a:bodyPr wrap="square" anchor="ctr" lIns="91440" tIns="45720" rIns="91440" bIns="45720"/>
          <a:lstStyle/>
          <a:p>
            <a:pPr>
              <a:lnSpc>
                <a:spcPct val="100000"/>
              </a:lnSpc>
              <a:buNone/>
            </a:pPr>
            <a:r>
              <a:rPr lang="en-US" sz="1400" dirty="0">
                <a:solidFill>
                  <a:srgbClr val="000000"/>
                </a:solidFill>
                <a:latin typeface="Arial"/>
                <a:ea typeface="Arial"/>
                <a:cs typeface="Arial"/>
              </a:rPr>
              <a:t>Small fleet size precludes serial production; low gross tonnage per vessel limits national security utility and pricing</a:t>
            </a:r>
          </a:p>
        </p:txBody>
      </p:sp>
      <p:sp>
        <p:nvSpPr>
          <p:cNvPr id="119" name="Rationale_other_categories"/>
          <p:cNvSpPr txBox="1"/>
          <p:nvPr/>
        </p:nvSpPr>
        <p:spPr>
          <a:xfrm>
            <a:off x="3802075" y="5929884"/>
            <a:ext cx="7934249" cy="457200"/>
          </a:xfrm>
          <a:prstGeom prst="rect">
            <a:avLst/>
          </a:prstGeom>
          <a:noFill/>
          <a:ln>
            <a:noFill/>
          </a:ln>
        </p:spPr>
        <p:txBody>
          <a:bodyPr wrap="square" anchor="ctr" lIns="91440" tIns="45720" rIns="91440" bIns="45720"/>
          <a:lstStyle/>
          <a:p>
            <a:pPr>
              <a:lnSpc>
                <a:spcPct val="100000"/>
              </a:lnSpc>
              <a:buNone/>
            </a:pPr>
            <a:r>
              <a:rPr lang="en-US" sz="1400" i="1" dirty="0">
                <a:solidFill>
                  <a:srgbClr val="000000"/>
                </a:solidFill>
                <a:latin typeface="Arial"/>
                <a:ea typeface="Arial"/>
                <a:cs typeface="Arial"/>
              </a:rPr>
              <a:t>Same as above</a:t>
            </a:r>
          </a:p>
        </p:txBody>
      </p:sp>
      <p:graphicFrame>
        <p:nvGraphicFramePr>
          <p:cNvPr id="120" name="CriteriaColumnHeader"/>
          <p:cNvGraphicFramePr>
            <a:graphicFrameLocks noGrp="1"/>
          </p:cNvGraphicFramePr>
          <p:nvPr/>
        </p:nvGraphicFramePr>
        <p:xfrm>
          <a:off x="1638605" y="1257300"/>
          <a:ext cx="2011680" cy="274320"/>
        </p:xfrm>
        <a:graphic>
          <a:graphicData uri="http://schemas.openxmlformats.org/drawingml/2006/table">
            <a:tbl>
              <a:tblPr firstRow="1" firstCol="1" bandRow="0">
                <a:tableStyleId>{2D5ABB26-0587-4C30-8999-92F81FD0307C}</a:tableStyleId>
              </a:tblPr>
              <a:tblGrid>
                <a:gridCol w="2011680"/>
              </a:tblGrid>
              <a:tr h="0">
                <a:tc>
                  <a:txBody>
                    <a:bodyPr anchor="ctr"/>
                    <a:lstStyle/>
                    <a:p>
                      <a:pPr algn="l">
                        <a:lnSpc>
                          <a:spcPct val="100000"/>
                        </a:lnSpc>
                      </a:pPr>
                      <a:r>
                        <a:rPr lang="en-US" sz="1200" dirty="0">
                          <a:solidFill>
                            <a:srgbClr val="000000"/>
                          </a:solidFill>
                          <a:latin typeface="Arial"/>
                          <a:ea typeface="Arial"/>
                          <a:cs typeface="Arial"/>
                        </a:rPr>
                        <a:t>Criteria</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graphicFrame>
        <p:nvGraphicFramePr>
          <p:cNvPr id="121" name="RationaleColumnHeader"/>
          <p:cNvGraphicFramePr>
            <a:graphicFrameLocks noGrp="1"/>
          </p:cNvGraphicFramePr>
          <p:nvPr/>
        </p:nvGraphicFramePr>
        <p:xfrm>
          <a:off x="3802075" y="1257300"/>
          <a:ext cx="7934249" cy="274320"/>
        </p:xfrm>
        <a:graphic>
          <a:graphicData uri="http://schemas.openxmlformats.org/drawingml/2006/table">
            <a:tbl>
              <a:tblPr firstRow="1" firstCol="1" bandRow="0">
                <a:tableStyleId>{2D5ABB26-0587-4C30-8999-92F81FD0307C}</a:tableStyleId>
              </a:tblPr>
              <a:tblGrid>
                <a:gridCol w="7934249"/>
              </a:tblGrid>
              <a:tr h="0">
                <a:tc>
                  <a:txBody>
                    <a:bodyPr anchor="ctr"/>
                    <a:lstStyle/>
                    <a:p>
                      <a:pPr algn="l">
                        <a:lnSpc>
                          <a:spcPct val="100000"/>
                        </a:lnSpc>
                      </a:pPr>
                      <a:r>
                        <a:rPr lang="en-US" sz="1200" dirty="0">
                          <a:solidFill>
                            <a:srgbClr val="000000"/>
                          </a:solidFill>
                          <a:latin typeface="Arial"/>
                          <a:ea typeface="Arial"/>
                          <a:cs typeface="Arial"/>
                        </a:rPr>
                        <a:t>Inclusion / Exclusion Rationale</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ValueFlowPanel:cargo_moved_by_archetypes"/>
          <p:cNvSpPr txBox="1"/>
          <p:nvPr/>
        </p:nvSpPr>
        <p:spPr>
          <a:xfrm>
            <a:off x="4524451" y="3161081"/>
            <a:ext cx="7277710" cy="1691640"/>
          </a:xfrm>
          <a:prstGeom prst="rect">
            <a:avLst/>
          </a:prstGeom>
          <a:solidFill>
            <a:srgbClr val="F2F2F2"/>
          </a:solidFill>
          <a:ln w="12700">
            <a:solidFill>
              <a:srgbClr val="000000"/>
            </a:solidFill>
          </a:ln>
        </p:spPr>
        <p:txBody>
          <a:bodyPr wrap="square" anchor="t" lIns="91440" tIns="45720" rIns="91440" bIns="45720"/>
          <a:lstStyle/>
          <a:p>
            <a:pPr algn="l">
              <a:lnSpc>
                <a:spcPct val="100000"/>
              </a:lnSpc>
              <a:buNone/>
            </a:pPr>
            <a:r>
              <a:rPr lang="en-US" sz="800" i="1" dirty="0">
                <a:solidFill>
                  <a:srgbClr val="000000"/>
                </a:solidFill>
                <a:latin typeface="Arial"/>
                <a:ea typeface="Arial"/>
                <a:cs typeface="Arial"/>
              </a:rPr>
              <a:t>Cargo moved by one or more of the following maritime transport archetypes</a:t>
            </a:r>
          </a:p>
        </p:txBody>
      </p:sp>
      <p:sp>
        <p:nvSpPr>
          <p:cNvPr id="101" name="ValueFlowPanel:chartered_vessels"/>
          <p:cNvSpPr txBox="1"/>
          <p:nvPr/>
        </p:nvSpPr>
        <p:spPr>
          <a:xfrm>
            <a:off x="8362188" y="5451653"/>
            <a:ext cx="2250338" cy="914400"/>
          </a:xfrm>
          <a:prstGeom prst="rect">
            <a:avLst/>
          </a:prstGeom>
          <a:noFill/>
          <a:ln w="12700">
            <a:solidFill>
              <a:srgbClr val="000000"/>
            </a:solidFill>
          </a:ln>
        </p:spPr>
        <p:txBody>
          <a:bodyPr wrap="square" anchor="t" lIns="91440" tIns="45720" rIns="91440" bIns="45720"/>
          <a:lstStyle/>
          <a:p>
            <a:pPr algn="ctr">
              <a:lnSpc>
                <a:spcPct val="100000"/>
              </a:lnSpc>
              <a:buNone/>
            </a:pPr>
            <a:r>
              <a:rPr lang="en-US" sz="800" i="1" dirty="0">
                <a:solidFill>
                  <a:srgbClr val="000000"/>
                </a:solidFill>
                <a:latin typeface="Arial"/>
                <a:ea typeface="Arial"/>
                <a:cs typeface="Arial"/>
              </a:rPr>
              <a:t>Value flow for chartered vessels</a:t>
            </a:r>
          </a:p>
        </p:txBody>
      </p:sp>
      <p:sp>
        <p:nvSpPr>
          <p:cNvPr id="102" name="ValueFlowPanel:owned_vessels"/>
          <p:cNvSpPr txBox="1"/>
          <p:nvPr/>
        </p:nvSpPr>
        <p:spPr>
          <a:xfrm>
            <a:off x="3291840" y="5451653"/>
            <a:ext cx="4549140" cy="914400"/>
          </a:xfrm>
          <a:prstGeom prst="rect">
            <a:avLst/>
          </a:prstGeom>
          <a:solidFill>
            <a:srgbClr val="E2E9EF"/>
          </a:solidFill>
          <a:ln w="12700">
            <a:solidFill>
              <a:srgbClr val="808080"/>
            </a:solidFill>
          </a:ln>
        </p:spPr>
        <p:txBody>
          <a:bodyPr wrap="square" anchor="t" lIns="91440" tIns="45720" rIns="91440" bIns="45720"/>
          <a:lstStyle/>
          <a:p>
            <a:pPr algn="ctr">
              <a:lnSpc>
                <a:spcPct val="100000"/>
              </a:lnSpc>
              <a:buNone/>
            </a:pPr>
            <a:r>
              <a:rPr lang="en-US" sz="800" i="1" dirty="0">
                <a:solidFill>
                  <a:srgbClr val="000000"/>
                </a:solidFill>
                <a:latin typeface="Arial"/>
                <a:ea typeface="Arial"/>
                <a:cs typeface="Arial"/>
              </a:rPr>
              <a:t>Value flow for owned vessels</a:t>
            </a:r>
          </a:p>
        </p:txBody>
      </p:sp>
      <p:sp>
        <p:nvSpPr>
          <p:cNvPr id="103" name="ValueFlowPanel:charter_metric_frame"/>
          <p:cNvSpPr txBox="1"/>
          <p:nvPr/>
        </p:nvSpPr>
        <p:spPr>
          <a:xfrm>
            <a:off x="4652467" y="4524451"/>
            <a:ext cx="4437583" cy="251460"/>
          </a:xfrm>
          <a:prstGeom prst="rect">
            <a:avLst/>
          </a:prstGeom>
          <a:noFill/>
          <a:ln w="6350">
            <a:solidFill>
              <a:srgbClr val="000000"/>
            </a:solidFill>
            <a:prstDash val="dash"/>
          </a:ln>
        </p:spPr>
        <p:txBody>
          <a:bodyPr wrap="square" anchor="t" lIns="91440" tIns="45720" rIns="91440" bIns="45720"/>
          <a:lstStyle/>
          <a:p>
            <a:pPr algn="r">
              <a:lnSpc>
                <a:spcPct val="100000"/>
              </a:lnSpc>
              <a:buNone/>
            </a:pPr>
            <a:endParaRPr lang="en-US"/>
          </a:p>
        </p:txBody>
      </p:sp>
      <p:sp>
        <p:nvSpPr>
          <p:cNvPr id="104" name="StageHeader:Customer / Shipper Requires Cargo Shipment"/>
          <p:cNvSpPr txBox="1"/>
          <p:nvPr/>
        </p:nvSpPr>
        <p:spPr>
          <a:xfrm>
            <a:off x="2043684" y="1549908"/>
            <a:ext cx="1920240" cy="365760"/>
          </a:xfrm>
          <a:prstGeom prst="homePlate">
            <a:avLst>
              <a:gd name="adj" fmla="val 24929"/>
            </a:avLst>
          </a:prstGeom>
          <a:solidFill>
            <a:srgbClr val="D9D9D9"/>
          </a:solidFill>
          <a:ln>
            <a:noFill/>
          </a:ln>
        </p:spPr>
        <p:txBody>
          <a:bodyPr wrap="square" anchor="ctr" lIns="144000" tIns="108000" rIns="144000" bIns="108000"/>
          <a:lstStyle/>
          <a:p>
            <a:pPr algn="ctr">
              <a:lnSpc>
                <a:spcPct val="100000"/>
              </a:lnSpc>
              <a:buNone/>
            </a:pPr>
            <a:r>
              <a:rPr lang="en-US" sz="1000" b="1" dirty="0">
                <a:solidFill>
                  <a:srgbClr val="000000"/>
                </a:solidFill>
                <a:latin typeface="Arial"/>
                <a:ea typeface="Arial"/>
                <a:cs typeface="Arial"/>
              </a:rPr>
              <a:t>Customer / Shipper Requires Cargo Shipment</a:t>
            </a:r>
          </a:p>
        </p:txBody>
      </p:sp>
      <p:sp>
        <p:nvSpPr>
          <p:cNvPr id="105" name="StageHeader:Coordination"/>
          <p:cNvSpPr txBox="1"/>
          <p:nvPr/>
        </p:nvSpPr>
        <p:spPr>
          <a:xfrm>
            <a:off x="3977640" y="1549908"/>
            <a:ext cx="1920240" cy="365760"/>
          </a:xfrm>
          <a:prstGeom prst="chevron">
            <a:avLst>
              <a:gd name="adj" fmla="val 24929"/>
            </a:avLst>
          </a:prstGeom>
          <a:solidFill>
            <a:srgbClr val="D9D9D9"/>
          </a:solidFill>
          <a:ln>
            <a:noFill/>
          </a:ln>
        </p:spPr>
        <p:txBody>
          <a:bodyPr wrap="square" anchor="ctr" lIns="144000" tIns="108000" rIns="144000" bIns="108000"/>
          <a:lstStyle/>
          <a:p>
            <a:pPr algn="ctr">
              <a:lnSpc>
                <a:spcPct val="100000"/>
              </a:lnSpc>
              <a:buNone/>
            </a:pPr>
            <a:r>
              <a:rPr lang="en-US" sz="1000" b="1" dirty="0">
                <a:solidFill>
                  <a:srgbClr val="000000"/>
                </a:solidFill>
                <a:latin typeface="Arial"/>
                <a:ea typeface="Arial"/>
                <a:cs typeface="Arial"/>
              </a:rPr>
              <a:t>Coordination</a:t>
            </a:r>
          </a:p>
        </p:txBody>
      </p:sp>
      <p:sp>
        <p:nvSpPr>
          <p:cNvPr id="106" name="StageHeader:Origin Shoreside Logistics"/>
          <p:cNvSpPr txBox="1"/>
          <p:nvPr/>
        </p:nvSpPr>
        <p:spPr>
          <a:xfrm>
            <a:off x="5911596" y="1549908"/>
            <a:ext cx="1920240" cy="365760"/>
          </a:xfrm>
          <a:prstGeom prst="chevron">
            <a:avLst>
              <a:gd name="adj" fmla="val 24929"/>
            </a:avLst>
          </a:prstGeom>
          <a:solidFill>
            <a:srgbClr val="447BB2"/>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Origin Shoreside Logistics</a:t>
            </a:r>
          </a:p>
        </p:txBody>
      </p:sp>
      <p:sp>
        <p:nvSpPr>
          <p:cNvPr id="107" name="StageHeader:Maritime Transport"/>
          <p:cNvSpPr txBox="1"/>
          <p:nvPr/>
        </p:nvSpPr>
        <p:spPr>
          <a:xfrm>
            <a:off x="7845552" y="1549908"/>
            <a:ext cx="1920240" cy="365760"/>
          </a:xfrm>
          <a:prstGeom prst="chevron">
            <a:avLst>
              <a:gd name="adj" fmla="val 24929"/>
            </a:avLst>
          </a:prstGeom>
          <a:solidFill>
            <a:srgbClr val="0E1924"/>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Maritime Transport</a:t>
            </a:r>
          </a:p>
        </p:txBody>
      </p:sp>
      <p:sp>
        <p:nvSpPr>
          <p:cNvPr id="108" name="StageHeader:Destination Shoreside Logistics"/>
          <p:cNvSpPr txBox="1"/>
          <p:nvPr/>
        </p:nvSpPr>
        <p:spPr>
          <a:xfrm>
            <a:off x="9779508" y="1549908"/>
            <a:ext cx="1920240" cy="365760"/>
          </a:xfrm>
          <a:prstGeom prst="chevron">
            <a:avLst>
              <a:gd name="adj" fmla="val 24929"/>
            </a:avLst>
          </a:prstGeom>
          <a:solidFill>
            <a:srgbClr val="447BB2"/>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Destination Shoreside Logistics</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Value Chain (Maritime Transport) | Shipbuilders capture the least value (2-6% EBIT margins); margin expansion likely requires vertical integration.</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09" name="ArchetypeNode:Shipbuilders"/>
          <p:cNvSpPr txBox="1"/>
          <p:nvPr/>
        </p:nvSpPr>
        <p:spPr>
          <a:xfrm>
            <a:off x="3348533" y="5711342"/>
            <a:ext cx="1828800" cy="366674"/>
          </a:xfrm>
          <a:prstGeom prst="rect">
            <a:avLst/>
          </a:prstGeom>
          <a:solidFill>
            <a:srgbClr val="0E1924"/>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Shipbuilders</a:t>
            </a:r>
          </a:p>
        </p:txBody>
      </p:sp>
      <p:sp>
        <p:nvSpPr>
          <p:cNvPr id="110" name="ArchetypeNode:Vessel Operating Common Carriers"/>
          <p:cNvSpPr txBox="1"/>
          <p:nvPr/>
        </p:nvSpPr>
        <p:spPr>
          <a:xfrm>
            <a:off x="4652467" y="3600907"/>
            <a:ext cx="1828800" cy="365760"/>
          </a:xfrm>
          <a:prstGeom prst="rect">
            <a:avLst/>
          </a:prstGeom>
          <a:solidFill>
            <a:srgbClr val="0E1924"/>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Vessel Operating Common Carriers</a:t>
            </a:r>
          </a:p>
        </p:txBody>
      </p:sp>
      <p:sp>
        <p:nvSpPr>
          <p:cNvPr id="111" name="ArchetypeNode:Private Carriers"/>
          <p:cNvSpPr txBox="1"/>
          <p:nvPr/>
        </p:nvSpPr>
        <p:spPr>
          <a:xfrm>
            <a:off x="9870948" y="3600907"/>
            <a:ext cx="1828800" cy="365760"/>
          </a:xfrm>
          <a:prstGeom prst="rect">
            <a:avLst/>
          </a:prstGeom>
          <a:solidFill>
            <a:srgbClr val="0E1924"/>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Private Carriers</a:t>
            </a:r>
          </a:p>
        </p:txBody>
      </p:sp>
      <p:sp>
        <p:nvSpPr>
          <p:cNvPr id="112" name="ArchetypeNode:Charter Companies"/>
          <p:cNvSpPr txBox="1"/>
          <p:nvPr/>
        </p:nvSpPr>
        <p:spPr>
          <a:xfrm>
            <a:off x="8566099" y="5711342"/>
            <a:ext cx="1828800" cy="366674"/>
          </a:xfrm>
          <a:prstGeom prst="rect">
            <a:avLst/>
          </a:prstGeom>
          <a:solidFill>
            <a:srgbClr val="0E1924"/>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Charter Companies</a:t>
            </a:r>
          </a:p>
        </p:txBody>
      </p:sp>
      <p:sp>
        <p:nvSpPr>
          <p:cNvPr id="113" name="ArchetypeNode:Non-Vessel Operating Common Carriers"/>
          <p:cNvSpPr txBox="1"/>
          <p:nvPr/>
        </p:nvSpPr>
        <p:spPr>
          <a:xfrm>
            <a:off x="2043684" y="3600907"/>
            <a:ext cx="1828800" cy="365760"/>
          </a:xfrm>
          <a:prstGeom prst="rect">
            <a:avLst/>
          </a:prstGeom>
          <a:solidFill>
            <a:srgbClr val="D9D9D9"/>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Non-Vessel Operating Common Carriers</a:t>
            </a:r>
          </a:p>
        </p:txBody>
      </p:sp>
      <p:sp>
        <p:nvSpPr>
          <p:cNvPr id="114" name="ArchetypeNode:MRO"/>
          <p:cNvSpPr txBox="1"/>
          <p:nvPr/>
        </p:nvSpPr>
        <p:spPr>
          <a:xfrm>
            <a:off x="5957316" y="5711342"/>
            <a:ext cx="1828800" cy="366674"/>
          </a:xfrm>
          <a:prstGeom prst="rect">
            <a:avLst/>
          </a:prstGeom>
          <a:solidFill>
            <a:srgbClr val="D9D9D9"/>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MRO</a:t>
            </a:r>
          </a:p>
        </p:txBody>
      </p:sp>
      <p:sp>
        <p:nvSpPr>
          <p:cNvPr id="115" name="ArchetypeNode:Tramp Carriers"/>
          <p:cNvSpPr txBox="1"/>
          <p:nvPr/>
        </p:nvSpPr>
        <p:spPr>
          <a:xfrm>
            <a:off x="7262165" y="3600907"/>
            <a:ext cx="1828800" cy="365760"/>
          </a:xfrm>
          <a:prstGeom prst="rect">
            <a:avLst/>
          </a:prstGeom>
          <a:solidFill>
            <a:srgbClr val="D9D9D9"/>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Tramp Carriers</a:t>
            </a:r>
          </a:p>
        </p:txBody>
      </p:sp>
      <p:graphicFrame>
        <p:nvGraphicFramePr>
          <p:cNvPr id="116" name="RowLabel:ValueChainStep"/>
          <p:cNvGraphicFramePr>
            <a:graphicFrameLocks noGrp="1"/>
          </p:cNvGraphicFramePr>
          <p:nvPr/>
        </p:nvGraphicFramePr>
        <p:xfrm>
          <a:off x="452628" y="1549908"/>
          <a:ext cx="1463040" cy="1497787"/>
        </p:xfrm>
        <a:graphic>
          <a:graphicData uri="http://schemas.openxmlformats.org/drawingml/2006/table">
            <a:tbl>
              <a:tblPr firstRow="1" firstCol="1" bandRow="0">
                <a:tableStyleId>{2D5ABB26-0587-4C30-8999-92F81FD0307C}</a:tableStyleId>
              </a:tblPr>
              <a:tblGrid>
                <a:gridCol w="1463040"/>
              </a:tblGrid>
              <a:tr h="1497787">
                <a:tc>
                  <a:txBody>
                    <a:bodyPr anchor="ctr"/>
                    <a:lstStyle/>
                    <a:p>
                      <a:pPr algn="l" marL="0" indent="0">
                        <a:lnSpc>
                          <a:spcPct val="100000"/>
                        </a:lnSpc>
                      </a:pPr>
                      <a:r>
                        <a:rPr lang="en-US" sz="1000" b="1" dirty="0">
                          <a:solidFill>
                            <a:srgbClr val="000000"/>
                          </a:solidFill>
                          <a:latin typeface="Arial"/>
                          <a:ea typeface="Arial"/>
                          <a:cs typeface="Arial"/>
                        </a:rPr>
                        <a:t>Value Chain Step</a:t>
                      </a:r>
                      <a:br/>
                      <a:br/>
                    </a:p>
                  </a:txBody>
                  <a:tcPr marL="45720" marR="45720" marT="45720" marB="45720" anchor="ctr">
                    <a:lnL>
                      <a:noFill/>
                    </a:lnL>
                    <a:lnR w="38100" cap="flat" cmpd="sng" algn="ctr">
                      <a:solidFill>
                        <a:srgbClr val="000000"/>
                      </a:solidFill>
                      <a:prstDash val="solid"/>
                    </a:lnR>
                    <a:lnT>
                      <a:noFill/>
                    </a:lnT>
                    <a:lnB>
                      <a:noFill/>
                    </a:lnB>
                    <a:solidFill>
                      <a:srgbClr val="FFFFFF"/>
                    </a:solidFill>
                  </a:tcPr>
                </a:tc>
              </a:tr>
            </a:tbl>
          </a:graphicData>
        </a:graphic>
      </p:graphicFrame>
      <p:graphicFrame>
        <p:nvGraphicFramePr>
          <p:cNvPr id="117" name="MetricHeader:RevenueEbit"/>
          <p:cNvGraphicFramePr>
            <a:graphicFrameLocks noGrp="1"/>
          </p:cNvGraphicFramePr>
          <p:nvPr/>
        </p:nvGraphicFramePr>
        <p:xfrm>
          <a:off x="8759038" y="1089050"/>
          <a:ext cx="2939796" cy="457200"/>
        </p:xfrm>
        <a:graphic>
          <a:graphicData uri="http://schemas.openxmlformats.org/drawingml/2006/table">
            <a:tbl>
              <a:tblPr firstRow="1" firstCol="1" bandRow="0">
                <a:tableStyleId>{2D5ABB26-0587-4C30-8999-92F81FD0307C}</a:tableStyleId>
              </a:tblPr>
              <a:tblGrid>
                <a:gridCol w="2939796"/>
              </a:tblGrid>
              <a:tr h="0">
                <a:tc>
                  <a:txBody>
                    <a:bodyPr anchor="ctr"/>
                    <a:lstStyle/>
                    <a:p>
                      <a:pPr algn="r" marL="0" indent="0">
                        <a:lnSpc>
                          <a:spcPct val="100000"/>
                        </a:lnSpc>
                      </a:pPr>
                      <a:r>
                        <a:rPr lang="en-US" sz="800" b="1" dirty="0">
                          <a:solidFill>
                            <a:srgbClr val="000000"/>
                          </a:solidFill>
                          <a:latin typeface="Arial"/>
                          <a:ea typeface="Arial"/>
                          <a:cs typeface="Arial"/>
                        </a:rPr>
                        <a:t>Revenue | </a:t>
                      </a:r>
                      <a:r>
                        <a:rPr lang="en-US" sz="800" b="1" i="1" dirty="0">
                          <a:solidFill>
                            <a:srgbClr val="000000"/>
                          </a:solidFill>
                          <a:latin typeface="Arial"/>
                          <a:ea typeface="Arial"/>
                          <a:cs typeface="Arial"/>
                        </a:rPr>
                        <a:t>EBIT margin %</a:t>
                      </a:r>
                      <a:br/>
                      <a:r>
                        <a:rPr lang="en-US" sz="800" i="1" dirty="0">
                          <a:solidFill>
                            <a:srgbClr val="000000"/>
                          </a:solidFill>
                          <a:latin typeface="Arial"/>
                          <a:ea typeface="Arial"/>
                          <a:cs typeface="Arial"/>
                        </a:rPr>
                        <a:t>(Revenue = total value chain rev. indexed to $100; EBIT margins for 2024)</a:t>
                      </a:r>
                    </a:p>
                  </a:txBody>
                  <a:tcPr marL="45720" marR="45720" marT="45720" marB="45720" anchor="ctr">
                    <a:lnL>
                      <a:noFill/>
                    </a:lnL>
                    <a:lnR>
                      <a:noFill/>
                    </a:lnR>
                    <a:lnT>
                      <a:noFill/>
                    </a:lnT>
                    <a:lnB>
                      <a:noFill/>
                    </a:lnB>
                    <a:noFill/>
                  </a:tcPr>
                </a:tc>
              </a:tr>
            </a:tbl>
          </a:graphicData>
        </a:graphic>
      </p:graphicFrame>
      <p:graphicFrame>
        <p:nvGraphicFramePr>
          <p:cNvPr id="118" name="RowLabel:Archetypes"/>
          <p:cNvGraphicFramePr>
            <a:graphicFrameLocks noGrp="1"/>
          </p:cNvGraphicFramePr>
          <p:nvPr/>
        </p:nvGraphicFramePr>
        <p:xfrm>
          <a:off x="452628" y="3161081"/>
          <a:ext cx="1463040" cy="3204972"/>
        </p:xfrm>
        <a:graphic>
          <a:graphicData uri="http://schemas.openxmlformats.org/drawingml/2006/table">
            <a:tbl>
              <a:tblPr firstRow="1" firstCol="1" bandRow="0">
                <a:tableStyleId>{2D5ABB26-0587-4C30-8999-92F81FD0307C}</a:tableStyleId>
              </a:tblPr>
              <a:tblGrid>
                <a:gridCol w="1463040"/>
              </a:tblGrid>
              <a:tr h="3204972">
                <a:tc>
                  <a:txBody>
                    <a:bodyPr anchor="ctr"/>
                    <a:lstStyle/>
                    <a:p>
                      <a:pPr algn="l" marL="0" indent="0">
                        <a:lnSpc>
                          <a:spcPct val="100000"/>
                        </a:lnSpc>
                      </a:pPr>
                      <a:r>
                        <a:rPr lang="en-US" sz="1000" b="1" dirty="0">
                          <a:solidFill>
                            <a:srgbClr val="000000"/>
                          </a:solidFill>
                          <a:latin typeface="Arial"/>
                          <a:ea typeface="Arial"/>
                          <a:cs typeface="Arial"/>
                        </a:rPr>
                        <a:t>Archetypes</a:t>
                      </a:r>
                    </a:p>
                  </a:txBody>
                  <a:tcPr marL="45720" marR="45720" marT="45720" marB="45720" anchor="ctr">
                    <a:lnL>
                      <a:noFill/>
                    </a:lnL>
                    <a:lnR w="38100" cap="flat" cmpd="sng" algn="ctr">
                      <a:solidFill>
                        <a:srgbClr val="000000"/>
                      </a:solidFill>
                      <a:prstDash val="solid"/>
                    </a:lnR>
                    <a:lnT>
                      <a:noFill/>
                    </a:lnT>
                    <a:lnB>
                      <a:noFill/>
                    </a:lnB>
                    <a:solidFill>
                      <a:srgbClr val="FFFFFF"/>
                    </a:solidFill>
                  </a:tcPr>
                </a:tc>
              </a:tr>
            </a:tbl>
          </a:graphicData>
        </a:graphic>
      </p:graphicFrame>
      <p:sp>
        <p:nvSpPr>
          <p:cNvPr id="119" name="Description:customer"/>
          <p:cNvSpPr txBox="1"/>
          <p:nvPr/>
        </p:nvSpPr>
        <p:spPr>
          <a:xfrm>
            <a:off x="2135124"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Initiation of transportation process by owner of goods (e.g., retailer, commodity trader, or manufacturer)</a:t>
            </a:r>
          </a:p>
        </p:txBody>
      </p:sp>
      <p:sp>
        <p:nvSpPr>
          <p:cNvPr id="120" name="Description:coordination"/>
          <p:cNvSpPr txBox="1"/>
          <p:nvPr/>
        </p:nvSpPr>
        <p:spPr>
          <a:xfrm>
            <a:off x="4069080"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Arrangement of transport modes, storage, and compliance by coordinating entities (e.g., BCOs, freight forwarders)</a:t>
            </a:r>
          </a:p>
        </p:txBody>
      </p:sp>
      <p:sp>
        <p:nvSpPr>
          <p:cNvPr id="121" name="Description:origin_shoreside"/>
          <p:cNvSpPr txBox="1"/>
          <p:nvPr/>
        </p:nvSpPr>
        <p:spPr>
          <a:xfrm>
            <a:off x="6003036"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Movement of cargo from originating site onto ocean vessel; includes various transport modes, terminal ops, and export customs clearance</a:t>
            </a:r>
          </a:p>
        </p:txBody>
      </p:sp>
      <p:sp>
        <p:nvSpPr>
          <p:cNvPr id="122" name="Description:maritime_transport"/>
          <p:cNvSpPr txBox="1"/>
          <p:nvPr/>
        </p:nvSpPr>
        <p:spPr>
          <a:xfrm>
            <a:off x="7936992"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Transport of cargo across ocean between ports of loading and discharge by common or private carriers on owned or chartered vessels</a:t>
            </a:r>
          </a:p>
        </p:txBody>
      </p:sp>
      <p:sp>
        <p:nvSpPr>
          <p:cNvPr id="123" name="Description:destination_shoreside"/>
          <p:cNvSpPr txBox="1"/>
          <p:nvPr/>
        </p:nvSpPr>
        <p:spPr>
          <a:xfrm>
            <a:off x="9870948" y="1914754"/>
            <a:ext cx="1737360" cy="82296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Movement of cargo from ocean vessel to destination site; includes various transport modes, terminal ops, and import customs clearance </a:t>
            </a:r>
          </a:p>
        </p:txBody>
      </p:sp>
      <p:sp>
        <p:nvSpPr>
          <p:cNvPr id="124" name="Description:nvocc"/>
          <p:cNvSpPr txBox="1"/>
          <p:nvPr/>
        </p:nvSpPr>
        <p:spPr>
          <a:xfrm>
            <a:off x="2089404" y="3971239"/>
            <a:ext cx="1737360" cy="1114654"/>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Books space on operator vessels and resells to shippers without owning ships; NVOCC are a Coordination players that act like carriers by assuming legal liability for cargo</a:t>
            </a:r>
          </a:p>
        </p:txBody>
      </p:sp>
      <p:sp>
        <p:nvSpPr>
          <p:cNvPr id="125" name="Description:vocc"/>
          <p:cNvSpPr txBox="1"/>
          <p:nvPr/>
        </p:nvSpPr>
        <p:spPr>
          <a:xfrm>
            <a:off x="4698187" y="3971239"/>
            <a:ext cx="1737360" cy="54864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Own/lease and operate vessels on fixed schedules for public use</a:t>
            </a:r>
          </a:p>
        </p:txBody>
      </p:sp>
      <p:sp>
        <p:nvSpPr>
          <p:cNvPr id="126" name="Description:private_carriers"/>
          <p:cNvSpPr txBox="1"/>
          <p:nvPr/>
        </p:nvSpPr>
        <p:spPr>
          <a:xfrm>
            <a:off x="9916668" y="3971239"/>
            <a:ext cx="1737360" cy="54864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Shippers who own/lease and operate an internal fleet to move their own cargo</a:t>
            </a:r>
          </a:p>
        </p:txBody>
      </p:sp>
      <p:sp>
        <p:nvSpPr>
          <p:cNvPr id="127" name="Description:tramp"/>
          <p:cNvSpPr txBox="1"/>
          <p:nvPr/>
        </p:nvSpPr>
        <p:spPr>
          <a:xfrm>
            <a:off x="7307885" y="3971239"/>
            <a:ext cx="1737360" cy="548640"/>
          </a:xfrm>
          <a:prstGeom prst="rect">
            <a:avLst/>
          </a:prstGeom>
          <a:noFill/>
          <a:ln>
            <a:noFill/>
          </a:ln>
        </p:spPr>
        <p:txBody>
          <a:bodyPr wrap="square" anchor="t" lIns="0" tIns="45720" rIns="0" bIns="45720"/>
          <a:lstStyle/>
          <a:p>
            <a:pPr algn="ctr">
              <a:lnSpc>
                <a:spcPct val="100000"/>
              </a:lnSpc>
              <a:buNone/>
            </a:pPr>
            <a:r>
              <a:rPr lang="en-US" sz="1000" dirty="0">
                <a:solidFill>
                  <a:srgbClr val="000000"/>
                </a:solidFill>
                <a:latin typeface="Arial"/>
                <a:ea typeface="Arial"/>
                <a:cs typeface="Arial"/>
              </a:rPr>
              <a:t>Own/lease and operate vessels on demand for public use (no fixed schedule)</a:t>
            </a:r>
          </a:p>
        </p:txBody>
      </p:sp>
      <p:cxnSp>
        <p:nvCxnSpPr>
          <p:cNvPr id="128" name="nvocc_to_vocc"/>
          <p:cNvCxnSpPr/>
          <p:nvPr/>
        </p:nvCxnSpPr>
        <p:spPr>
          <a:xfrm rot="10800000" flipV="1">
            <a:off x="2958084" y="2884018"/>
            <a:ext cx="1258214" cy="715975"/>
          </a:xfrm>
          <a:prstGeom prst="bentConnector2">
            <a:avLst/>
          </a:prstGeom>
          <a:ln w="12700">
            <a:solidFill>
              <a:srgbClr val="000000"/>
            </a:solidFill>
            <a:tailEnd type="triangle" w="med" len="med"/>
          </a:ln>
        </p:spPr>
      </p:cxnSp>
      <p:cxnSp>
        <p:nvCxnSpPr>
          <p:cNvPr id="129" name="private_carrier_route"/>
          <p:cNvCxnSpPr/>
          <p:nvPr/>
        </p:nvCxnSpPr>
        <p:spPr>
          <a:xfrm rot="16200000" flipH="1">
            <a:off x="9518904" y="2334463"/>
            <a:ext cx="552298" cy="1979676"/>
          </a:xfrm>
          <a:prstGeom prst="bentConnector3">
            <a:avLst>
              <a:gd name="adj1" fmla="val 65164"/>
            </a:avLst>
          </a:prstGeom>
          <a:ln w="12700">
            <a:solidFill>
              <a:srgbClr val="000000"/>
            </a:solidFill>
            <a:tailEnd type="triangle" w="med" len="med"/>
          </a:ln>
        </p:spPr>
      </p:cxnSp>
      <p:cxnSp>
        <p:nvCxnSpPr>
          <p:cNvPr id="130" name="stage_to_tramp"/>
          <p:cNvCxnSpPr/>
          <p:nvPr/>
        </p:nvCxnSpPr>
        <p:spPr>
          <a:xfrm rot="5400000">
            <a:off x="6910121" y="1705356"/>
            <a:ext cx="552298" cy="3237890"/>
          </a:xfrm>
          <a:prstGeom prst="bentConnector3">
            <a:avLst>
              <a:gd name="adj1" fmla="val 65164"/>
            </a:avLst>
          </a:prstGeom>
          <a:ln w="12700">
            <a:solidFill>
              <a:srgbClr val="000000"/>
            </a:solidFill>
            <a:tailEnd type="triangle" w="med" len="med"/>
          </a:ln>
        </p:spPr>
      </p:cxnSp>
      <p:cxnSp>
        <p:nvCxnSpPr>
          <p:cNvPr id="131" name="tramp_elbow"/>
          <p:cNvCxnSpPr/>
          <p:nvPr/>
        </p:nvCxnSpPr>
        <p:spPr>
          <a:xfrm rot="5400000">
            <a:off x="8214970" y="3009290"/>
            <a:ext cx="552298" cy="629107"/>
          </a:xfrm>
          <a:prstGeom prst="bentConnector3">
            <a:avLst>
              <a:gd name="adj1" fmla="val 65251"/>
            </a:avLst>
          </a:prstGeom>
          <a:ln w="12700">
            <a:solidFill>
              <a:srgbClr val="000000"/>
            </a:solidFill>
            <a:tailEnd type="triangle" w="med" len="med"/>
          </a:ln>
        </p:spPr>
      </p:cxnSp>
      <p:cxnSp>
        <p:nvCxnSpPr>
          <p:cNvPr id="132" name="nvocc_leases_space"/>
          <p:cNvCxnSpPr/>
          <p:nvPr/>
        </p:nvCxnSpPr>
        <p:spPr>
          <a:xfrm>
            <a:off x="3872484" y="3783787"/>
            <a:ext cx="779983" cy="0"/>
          </a:xfrm>
          <a:prstGeom prst="line">
            <a:avLst/>
          </a:prstGeom>
          <a:ln w="12700">
            <a:solidFill>
              <a:srgbClr val="000000"/>
            </a:solidFill>
            <a:tailEnd type="triangle" w="med" len="med"/>
          </a:ln>
        </p:spPr>
      </p:cxnSp>
      <p:cxnSp>
        <p:nvCxnSpPr>
          <p:cNvPr id="133" name="chartered_value_flow"/>
          <p:cNvCxnSpPr/>
          <p:nvPr/>
        </p:nvCxnSpPr>
        <p:spPr>
          <a:xfrm rot="16200000" flipH="1">
            <a:off x="8525866" y="4489704"/>
            <a:ext cx="598932" cy="1324051"/>
          </a:xfrm>
          <a:prstGeom prst="bentConnector3">
            <a:avLst/>
          </a:prstGeom>
          <a:ln w="12700">
            <a:solidFill>
              <a:srgbClr val="000000"/>
            </a:solidFill>
            <a:tailEnd type="triangle" w="med" len="med"/>
          </a:ln>
        </p:spPr>
      </p:cxnSp>
      <p:cxnSp>
        <p:nvCxnSpPr>
          <p:cNvPr id="134" name="owned_value_flow"/>
          <p:cNvCxnSpPr/>
          <p:nvPr/>
        </p:nvCxnSpPr>
        <p:spPr>
          <a:xfrm rot="5400000">
            <a:off x="6565392" y="3853282"/>
            <a:ext cx="598932" cy="2596896"/>
          </a:xfrm>
          <a:prstGeom prst="bentConnector3">
            <a:avLst/>
          </a:prstGeom>
          <a:ln w="12700">
            <a:solidFill>
              <a:srgbClr val="000000"/>
            </a:solidFill>
            <a:tailEnd type="triangle" w="med" len="med"/>
          </a:ln>
        </p:spPr>
      </p:cxnSp>
      <p:cxnSp>
        <p:nvCxnSpPr>
          <p:cNvPr id="135" name="shipbuilder_to_charter"/>
          <p:cNvCxnSpPr/>
          <p:nvPr/>
        </p:nvCxnSpPr>
        <p:spPr>
          <a:xfrm flipH="1">
            <a:off x="7840980" y="5908853"/>
            <a:ext cx="522122" cy="0"/>
          </a:xfrm>
          <a:prstGeom prst="line">
            <a:avLst/>
          </a:prstGeom>
          <a:ln w="12700">
            <a:solidFill>
              <a:srgbClr val="000000"/>
            </a:solidFill>
            <a:tailEnd type="triangle" w="med" len="med"/>
          </a:ln>
        </p:spPr>
      </p:cxnSp>
      <p:cxnSp>
        <p:nvCxnSpPr>
          <p:cNvPr id="136" name="destination_terminal_rule"/>
          <p:cNvCxnSpPr/>
          <p:nvPr/>
        </p:nvCxnSpPr>
        <p:spPr>
          <a:xfrm>
            <a:off x="9479585" y="3229661"/>
            <a:ext cx="0" cy="1554480"/>
          </a:xfrm>
          <a:prstGeom prst="line">
            <a:avLst/>
          </a:prstGeom>
          <a:ln w="19050">
            <a:solidFill>
              <a:srgbClr val="808080"/>
            </a:solidFill>
            <a:prstDash val="dash"/>
          </a:ln>
        </p:spPr>
      </p:cxnSp>
      <p:sp>
        <p:nvSpPr>
          <p:cNvPr id="137" name="EdgeLabel:NVOCC leases space"/>
          <p:cNvSpPr txBox="1"/>
          <p:nvPr/>
        </p:nvSpPr>
        <p:spPr>
          <a:xfrm>
            <a:off x="3902659" y="3507638"/>
            <a:ext cx="720547" cy="244145"/>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NVOCC leases space</a:t>
            </a:r>
          </a:p>
        </p:txBody>
      </p:sp>
      <p:sp>
        <p:nvSpPr>
          <p:cNvPr id="138" name="EdgeLabel:VOCC provides space"/>
          <p:cNvSpPr txBox="1"/>
          <p:nvPr/>
        </p:nvSpPr>
        <p:spPr>
          <a:xfrm>
            <a:off x="3902659" y="3832250"/>
            <a:ext cx="720547" cy="245974"/>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VOCC provides space</a:t>
            </a:r>
          </a:p>
        </p:txBody>
      </p:sp>
      <p:sp>
        <p:nvSpPr>
          <p:cNvPr id="139" name="EdgeLabel:Terminal Operators shown"/>
          <p:cNvSpPr txBox="1"/>
          <p:nvPr/>
        </p:nvSpPr>
        <p:spPr>
          <a:xfrm>
            <a:off x="6167628" y="2980030"/>
            <a:ext cx="1403604" cy="167335"/>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Terminal Operators shown</a:t>
            </a:r>
          </a:p>
        </p:txBody>
      </p:sp>
      <p:sp>
        <p:nvSpPr>
          <p:cNvPr id="140" name="EdgeLabel:Terminal Operators shown"/>
          <p:cNvSpPr txBox="1"/>
          <p:nvPr/>
        </p:nvSpPr>
        <p:spPr>
          <a:xfrm>
            <a:off x="10055657" y="2980030"/>
            <a:ext cx="1403604" cy="167335"/>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Terminal Operators shown</a:t>
            </a:r>
          </a:p>
        </p:txBody>
      </p:sp>
      <p:sp>
        <p:nvSpPr>
          <p:cNvPr id="141" name="Metric:tramp_carriers"/>
          <p:cNvSpPr txBox="1"/>
          <p:nvPr/>
        </p:nvSpPr>
        <p:spPr>
          <a:xfrm>
            <a:off x="8085125" y="2781605"/>
            <a:ext cx="1441094" cy="205740"/>
          </a:xfrm>
          <a:prstGeom prst="rect">
            <a:avLst/>
          </a:prstGeom>
          <a:no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2 - 42%</a:t>
            </a:r>
          </a:p>
        </p:txBody>
      </p:sp>
      <p:sp>
        <p:nvSpPr>
          <p:cNvPr id="142" name="Metric:shipbuilders"/>
          <p:cNvSpPr txBox="1"/>
          <p:nvPr/>
        </p:nvSpPr>
        <p:spPr>
          <a:xfrm>
            <a:off x="3541471" y="6117336"/>
            <a:ext cx="1441094" cy="205740"/>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2-6%</a:t>
            </a:r>
          </a:p>
        </p:txBody>
      </p:sp>
      <p:sp>
        <p:nvSpPr>
          <p:cNvPr id="143" name="Metric:mro"/>
          <p:cNvSpPr txBox="1"/>
          <p:nvPr/>
        </p:nvSpPr>
        <p:spPr>
          <a:xfrm>
            <a:off x="6151169" y="6116422"/>
            <a:ext cx="1441094" cy="206654"/>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dirty="0">
                <a:solidFill>
                  <a:srgbClr val="000000"/>
                </a:solidFill>
                <a:latin typeface="Arial"/>
                <a:ea typeface="Arial"/>
                <a:cs typeface="Arial"/>
              </a:rPr>
              <a:t>%TBD</a:t>
            </a:r>
          </a:p>
        </p:txBody>
      </p:sp>
      <p:sp>
        <p:nvSpPr>
          <p:cNvPr id="144" name="Metric:coordination"/>
          <p:cNvSpPr txBox="1"/>
          <p:nvPr/>
        </p:nvSpPr>
        <p:spPr>
          <a:xfrm>
            <a:off x="4216298" y="2781605"/>
            <a:ext cx="1440180" cy="205740"/>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dirty="0">
                <a:solidFill>
                  <a:srgbClr val="000000"/>
                </a:solidFill>
                <a:latin typeface="Arial"/>
                <a:ea typeface="Arial"/>
                <a:cs typeface="Arial"/>
              </a:rPr>
              <a:t>%TBD</a:t>
            </a:r>
          </a:p>
        </p:txBody>
      </p:sp>
      <p:sp>
        <p:nvSpPr>
          <p:cNvPr id="145" name="Metric:origin_shoreside"/>
          <p:cNvSpPr txBox="1"/>
          <p:nvPr/>
        </p:nvSpPr>
        <p:spPr>
          <a:xfrm>
            <a:off x="6151169" y="2781605"/>
            <a:ext cx="1441094" cy="205740"/>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30-54%</a:t>
            </a:r>
          </a:p>
        </p:txBody>
      </p:sp>
      <p:sp>
        <p:nvSpPr>
          <p:cNvPr id="146" name="Metric:destination_shoreside"/>
          <p:cNvSpPr txBox="1"/>
          <p:nvPr/>
        </p:nvSpPr>
        <p:spPr>
          <a:xfrm>
            <a:off x="10018166" y="2781605"/>
            <a:ext cx="1441094" cy="205740"/>
          </a:xfrm>
          <a:prstGeom prst="rect">
            <a:avLst/>
          </a:prstGeom>
          <a:solidFill>
            <a:srgbClr val="FFFFFF"/>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30-54%</a:t>
            </a:r>
          </a:p>
        </p:txBody>
      </p:sp>
      <p:sp>
        <p:nvSpPr>
          <p:cNvPr id="147" name="Metric:charter_companies_mid"/>
          <p:cNvSpPr txBox="1"/>
          <p:nvPr/>
        </p:nvSpPr>
        <p:spPr>
          <a:xfrm>
            <a:off x="7455103" y="4547311"/>
            <a:ext cx="1440180" cy="205740"/>
          </a:xfrm>
          <a:prstGeom prst="rect">
            <a:avLst/>
          </a:prstGeom>
          <a:no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dirty="0">
                <a:solidFill>
                  <a:srgbClr val="000000"/>
                </a:solidFill>
                <a:latin typeface="Arial"/>
                <a:ea typeface="Arial"/>
                <a:cs typeface="Arial"/>
              </a:rPr>
              <a:t>%TBD</a:t>
            </a:r>
          </a:p>
        </p:txBody>
      </p:sp>
      <p:sp>
        <p:nvSpPr>
          <p:cNvPr id="148" name="Metric:charter_companies"/>
          <p:cNvSpPr txBox="1"/>
          <p:nvPr/>
        </p:nvSpPr>
        <p:spPr>
          <a:xfrm>
            <a:off x="8759038" y="6117336"/>
            <a:ext cx="1441094" cy="205740"/>
          </a:xfrm>
          <a:prstGeom prst="rect">
            <a:avLst/>
          </a:prstGeom>
          <a:no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22-53%</a:t>
            </a:r>
          </a:p>
        </p:txBody>
      </p:sp>
      <p:sp>
        <p:nvSpPr>
          <p:cNvPr id="149" name="Metric:vocc"/>
          <p:cNvSpPr txBox="1"/>
          <p:nvPr/>
        </p:nvSpPr>
        <p:spPr>
          <a:xfrm>
            <a:off x="4846320" y="4547311"/>
            <a:ext cx="1441094" cy="205740"/>
          </a:xfrm>
          <a:prstGeom prst="rect">
            <a:avLst/>
          </a:prstGeom>
          <a:no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 TBD | </a:t>
            </a:r>
            <a:r>
              <a:rPr lang="en-US" sz="1200" b="1" i="1" dirty="0">
                <a:solidFill>
                  <a:srgbClr val="000000"/>
                </a:solidFill>
                <a:latin typeface="Arial"/>
                <a:ea typeface="Arial"/>
                <a:cs typeface="Arial"/>
              </a:rPr>
              <a:t>13-42%</a:t>
            </a:r>
          </a:p>
        </p:txBody>
      </p:sp>
      <p:sp>
        <p:nvSpPr>
          <p:cNvPr id="150" name="MetricNote:RevenueAssumption"/>
          <p:cNvSpPr txBox="1"/>
          <p:nvPr/>
        </p:nvSpPr>
        <p:spPr>
          <a:xfrm>
            <a:off x="6177686" y="4521708"/>
            <a:ext cx="1522476" cy="252374"/>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Revenue shown assumes one archetype moves goods</a:t>
            </a:r>
          </a:p>
        </p:txBody>
      </p:sp>
      <p:sp>
        <p:nvSpPr>
          <p:cNvPr id="151" name="MetricNote:CharterType"/>
          <p:cNvSpPr txBox="1"/>
          <p:nvPr/>
        </p:nvSpPr>
        <p:spPr>
          <a:xfrm>
            <a:off x="9275674" y="5163617"/>
            <a:ext cx="2250338" cy="244145"/>
          </a:xfrm>
          <a:prstGeom prst="rect">
            <a:avLst/>
          </a:prstGeom>
          <a:noFill/>
          <a:ln>
            <a:noFill/>
          </a:ln>
        </p:spPr>
        <p:txBody>
          <a:bodyPr wrap="square" anchor="ctr" lIns="0" tIns="45720" rIns="0" bIns="45720"/>
          <a:lstStyle/>
          <a:p>
            <a:pPr algn="ctr">
              <a:lnSpc>
                <a:spcPct val="100000"/>
              </a:lnSpc>
              <a:buNone/>
            </a:pPr>
            <a:r>
              <a:rPr lang="en-US" sz="800" i="1" dirty="0">
                <a:solidFill>
                  <a:srgbClr val="000000"/>
                </a:solidFill>
                <a:latin typeface="Arial"/>
                <a:ea typeface="Arial"/>
                <a:cs typeface="Arial"/>
              </a:rPr>
              <a:t>Amount dependent on charter type </a:t>
            </a:r>
            <a:br/>
            <a:r>
              <a:rPr lang="en-US" sz="800" i="1" dirty="0">
                <a:solidFill>
                  <a:srgbClr val="000000"/>
                </a:solidFill>
                <a:latin typeface="Arial"/>
                <a:ea typeface="Arial"/>
                <a:cs typeface="Arial"/>
              </a:rPr>
              <a:t>(e.g., time or voyage) </a:t>
            </a:r>
          </a:p>
        </p:txBody>
      </p:sp>
      <p:sp>
        <p:nvSpPr>
          <p:cNvPr id="152" name="LegendSwatch"/>
          <p:cNvSpPr txBox="1"/>
          <p:nvPr/>
        </p:nvSpPr>
        <p:spPr>
          <a:xfrm>
            <a:off x="452628" y="1285646"/>
            <a:ext cx="182880" cy="182880"/>
          </a:xfrm>
          <a:prstGeom prst="rect">
            <a:avLst/>
          </a:prstGeom>
          <a:solidFill>
            <a:srgbClr val="0E1924"/>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3" name="LegendLabel:Maritime Transport archetypes considered in analysis"/>
          <p:cNvSpPr txBox="1"/>
          <p:nvPr/>
        </p:nvSpPr>
        <p:spPr>
          <a:xfrm>
            <a:off x="646481" y="1207922"/>
            <a:ext cx="1609344" cy="338328"/>
          </a:xfrm>
          <a:prstGeom prst="rect">
            <a:avLst/>
          </a:prstGeom>
          <a:noFill/>
          <a:ln>
            <a:noFill/>
          </a:ln>
        </p:spPr>
        <p:txBody>
          <a:bodyPr wrap="none" anchor="ctr" lIns="91440" tIns="45720" rIns="91440" bIns="45720"/>
          <a:lstStyle/>
          <a:p>
            <a:pPr algn="l">
              <a:lnSpc>
                <a:spcPct val="100000"/>
              </a:lnSpc>
              <a:buNone/>
            </a:pPr>
            <a:r>
              <a:rPr lang="en-US" sz="800" dirty="0">
                <a:solidFill>
                  <a:srgbClr val="000000"/>
                </a:solidFill>
                <a:latin typeface="Arial"/>
                <a:ea typeface="Arial"/>
                <a:cs typeface="Arial"/>
              </a:rPr>
              <a:t>Maritime Transport archetypes </a:t>
            </a:r>
            <a:br/>
            <a:r>
              <a:rPr lang="en-US" sz="800" dirty="0">
                <a:solidFill>
                  <a:srgbClr val="000000"/>
                </a:solidFill>
                <a:latin typeface="Arial"/>
                <a:ea typeface="Arial"/>
                <a:cs typeface="Arial"/>
              </a:rPr>
              <a:t>considered in analysis</a:t>
            </a:r>
          </a:p>
        </p:txBody>
      </p:sp>
      <p:sp>
        <p:nvSpPr>
          <p:cNvPr id="154" name="LegendSwatch"/>
          <p:cNvSpPr txBox="1"/>
          <p:nvPr/>
        </p:nvSpPr>
        <p:spPr>
          <a:xfrm>
            <a:off x="2267712" y="1285646"/>
            <a:ext cx="182880" cy="182880"/>
          </a:xfrm>
          <a:prstGeom prst="rect">
            <a:avLst/>
          </a:prstGeom>
          <a:solidFill>
            <a:srgbClr val="447BB2"/>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5" name="LegendLabel:Other steps considered in analysis"/>
          <p:cNvSpPr txBox="1"/>
          <p:nvPr/>
        </p:nvSpPr>
        <p:spPr>
          <a:xfrm>
            <a:off x="2462479" y="1207922"/>
            <a:ext cx="1199693" cy="338328"/>
          </a:xfrm>
          <a:prstGeom prst="rect">
            <a:avLst/>
          </a:prstGeom>
          <a:noFill/>
          <a:ln>
            <a:noFill/>
          </a:ln>
        </p:spPr>
        <p:txBody>
          <a:bodyPr wrap="none" anchor="ctr" lIns="91440" tIns="45720" rIns="91440" bIns="45720"/>
          <a:lstStyle/>
          <a:p>
            <a:pPr algn="l">
              <a:lnSpc>
                <a:spcPct val="100000"/>
              </a:lnSpc>
              <a:buNone/>
            </a:pPr>
            <a:r>
              <a:rPr lang="en-US" sz="800" dirty="0">
                <a:solidFill>
                  <a:srgbClr val="000000"/>
                </a:solidFill>
                <a:latin typeface="Arial"/>
                <a:ea typeface="Arial"/>
                <a:cs typeface="Arial"/>
              </a:rPr>
              <a:t>Other steps </a:t>
            </a:r>
            <a:br/>
            <a:r>
              <a:rPr lang="en-US" sz="800" dirty="0">
                <a:solidFill>
                  <a:srgbClr val="000000"/>
                </a:solidFill>
                <a:latin typeface="Arial"/>
                <a:ea typeface="Arial"/>
                <a:cs typeface="Arial"/>
              </a:rPr>
              <a:t>considered in analysis</a:t>
            </a:r>
          </a:p>
        </p:txBody>
      </p:sp>
      <p:sp>
        <p:nvSpPr>
          <p:cNvPr id="156" name="LegendSwatch"/>
          <p:cNvSpPr txBox="1"/>
          <p:nvPr/>
        </p:nvSpPr>
        <p:spPr>
          <a:xfrm>
            <a:off x="3673145" y="1285646"/>
            <a:ext cx="182880" cy="182880"/>
          </a:xfrm>
          <a:prstGeom prst="rect">
            <a:avLst/>
          </a:prstGeom>
          <a:solidFill>
            <a:srgbClr val="D9D9D9"/>
          </a:solidFill>
          <a:ln w="3175">
            <a:solidFill>
              <a:srgbClr val="000000"/>
            </a:solidFill>
          </a:ln>
        </p:spPr>
        <p:txBody>
          <a:bodyPr wrap="square" anchor="ctr" lIns="91440" tIns="45720" rIns="91440" bIns="45720"/>
          <a:lstStyle/>
          <a:p>
            <a:pPr algn="ctr">
              <a:lnSpc>
                <a:spcPct val="100000"/>
              </a:lnSpc>
              <a:buNone/>
            </a:pPr>
            <a:endParaRPr lang="en-US"/>
          </a:p>
        </p:txBody>
      </p:sp>
      <p:sp>
        <p:nvSpPr>
          <p:cNvPr id="157" name="LegendLabel:Future effort"/>
          <p:cNvSpPr txBox="1"/>
          <p:nvPr/>
        </p:nvSpPr>
        <p:spPr>
          <a:xfrm>
            <a:off x="3866998" y="1269187"/>
            <a:ext cx="747065" cy="215798"/>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Future effort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FunnelLayer_total_funding"/>
          <p:cNvSpPr txBox="1"/>
          <p:nvPr/>
        </p:nvSpPr>
        <p:spPr>
          <a:xfrm>
            <a:off x="436169" y="1195121"/>
            <a:ext cx="5212080" cy="5212080"/>
          </a:xfrm>
          <a:prstGeom prst="ellipse">
            <a:avLst/>
          </a:prstGeom>
          <a:solidFill>
            <a:srgbClr val="E2E9EF"/>
          </a:solidFill>
          <a:ln w="3175">
            <a:solidFill>
              <a:srgbClr val="202223"/>
            </a:solidFill>
          </a:ln>
        </p:spPr>
        <p:txBody>
          <a:bodyPr wrap="square" anchor="t" lIns="91440" tIns="45720" rIns="91440" bIns="45720"/>
          <a:lstStyle/>
          <a:p>
            <a:pPr algn="ctr">
              <a:lnSpc>
                <a:spcPct val="100000"/>
              </a:lnSpc>
              <a:buNone/>
            </a:pPr>
            <a:endParaRPr lang="en-US"/>
          </a:p>
        </p:txBody>
      </p:sp>
      <p:sp>
        <p:nvSpPr>
          <p:cNvPr id="101" name="FunnelLayer_tam"/>
          <p:cNvSpPr txBox="1"/>
          <p:nvPr/>
        </p:nvSpPr>
        <p:spPr>
          <a:xfrm>
            <a:off x="847649" y="2018081"/>
            <a:ext cx="4389120" cy="4389120"/>
          </a:xfrm>
          <a:prstGeom prst="ellipse">
            <a:avLst/>
          </a:prstGeom>
          <a:solidFill>
            <a:srgbClr val="B6C8D8"/>
          </a:solidFill>
          <a:ln w="3175">
            <a:solidFill>
              <a:srgbClr val="202223"/>
            </a:solidFill>
          </a:ln>
        </p:spPr>
        <p:txBody>
          <a:bodyPr wrap="square" anchor="t" lIns="91440" tIns="45720" rIns="91440" bIns="45720"/>
          <a:lstStyle/>
          <a:p>
            <a:pPr algn="ctr">
              <a:lnSpc>
                <a:spcPct val="100000"/>
              </a:lnSpc>
              <a:buNone/>
            </a:pPr>
            <a:endParaRPr lang="en-US"/>
          </a:p>
        </p:txBody>
      </p:sp>
      <p:sp>
        <p:nvSpPr>
          <p:cNvPr id="102" name="FunnelLayer_sam"/>
          <p:cNvSpPr txBox="1"/>
          <p:nvPr/>
        </p:nvSpPr>
        <p:spPr>
          <a:xfrm>
            <a:off x="1259129" y="2841041"/>
            <a:ext cx="3566160" cy="3566160"/>
          </a:xfrm>
          <a:prstGeom prst="ellipse">
            <a:avLst/>
          </a:prstGeom>
          <a:solidFill>
            <a:srgbClr val="6E91B1"/>
          </a:solidFill>
          <a:ln w="3175">
            <a:solidFill>
              <a:srgbClr val="202223"/>
            </a:solidFill>
          </a:ln>
        </p:spPr>
        <p:txBody>
          <a:bodyPr wrap="square" anchor="t" lIns="91440" tIns="45720" rIns="91440" bIns="45720"/>
          <a:lstStyle/>
          <a:p>
            <a:pPr algn="ctr">
              <a:lnSpc>
                <a:spcPct val="100000"/>
              </a:lnSpc>
              <a:buNone/>
            </a:pPr>
            <a:endParaRPr lang="en-US"/>
          </a:p>
        </p:txBody>
      </p:sp>
      <p:sp>
        <p:nvSpPr>
          <p:cNvPr id="103" name="FunnelLayer_company_tcv"/>
          <p:cNvSpPr txBox="1"/>
          <p:nvPr/>
        </p:nvSpPr>
        <p:spPr>
          <a:xfrm>
            <a:off x="1624889" y="3664001"/>
            <a:ext cx="2834640" cy="2743200"/>
          </a:xfrm>
          <a:prstGeom prst="ellipse">
            <a:avLst/>
          </a:prstGeom>
          <a:solidFill>
            <a:srgbClr val="3D5972"/>
          </a:solidFill>
          <a:ln w="3175">
            <a:solidFill>
              <a:srgbClr val="202223"/>
            </a:solidFill>
          </a:ln>
        </p:spPr>
        <p:txBody>
          <a:bodyPr wrap="square" anchor="t" lIns="91440" tIns="45720" rIns="91440" bIns="45720"/>
          <a:lstStyle/>
          <a:p>
            <a:pPr algn="ctr">
              <a:lnSpc>
                <a:spcPct val="100000"/>
              </a:lnSpc>
              <a:buNone/>
            </a:pPr>
            <a:endParaRPr lang="en-US"/>
          </a:p>
        </p:txBody>
      </p:sp>
      <p:sp>
        <p:nvSpPr>
          <p:cNvPr id="104" name="FunnelLayer_company_acv"/>
          <p:cNvSpPr txBox="1"/>
          <p:nvPr/>
        </p:nvSpPr>
        <p:spPr>
          <a:xfrm>
            <a:off x="2082089" y="4486961"/>
            <a:ext cx="1920240" cy="1920240"/>
          </a:xfrm>
          <a:prstGeom prst="ellipse">
            <a:avLst/>
          </a:prstGeom>
          <a:solidFill>
            <a:srgbClr val="263746"/>
          </a:solidFill>
          <a:ln w="3175">
            <a:solidFill>
              <a:srgbClr val="202223"/>
            </a:solidFill>
          </a:ln>
        </p:spPr>
        <p:txBody>
          <a:bodyPr wrap="square" anchor="t" lIns="91440" tIns="45720" rIns="91440" bIns="45720"/>
          <a:lstStyle/>
          <a:p>
            <a:pPr algn="ctr">
              <a:lnSpc>
                <a:spcPct val="100000"/>
              </a:lnSpc>
              <a:buNone/>
            </a:pPr>
            <a:endParaRPr lang="en-US"/>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2000" name="Title 3"/>
          <p:cNvSpPr>
            <a:spLocks noGrp="1"/>
          </p:cNvSpPr>
          <p:nvPr>
            <p:ph type="title"/>
          </p:nvPr>
        </p:nvSpPr>
        <p:spPr/>
        <p:txBody>
          <a:bodyPr vert="horz"/>
          <a:lstStyle/>
          <a:p>
            <a:pPr marL="0"/>
            <a:r>
              <a:rPr lang="en-US" dirty="0">
                <a:solidFill>
                  <a:srgbClr val="000000"/>
                </a:solidFill>
              </a:rPr>
              <a:t>Definitions | Sizing breaks the market down into five levels </a:t>
            </a:r>
          </a:p>
        </p:txBody>
      </p:sp>
      <p:graphicFrame>
        <p:nvGraphicFramePr>
          <p:cNvPr id="105" name="MarketLevelDefinitionTable"/>
          <p:cNvGraphicFramePr>
            <a:graphicFrameLocks noGrp="1"/>
          </p:cNvGraphicFramePr>
          <p:nvPr/>
        </p:nvGraphicFramePr>
        <p:xfrm>
          <a:off x="6014009" y="1287475"/>
          <a:ext cx="5721401" cy="5222138"/>
        </p:xfrm>
        <a:graphic>
          <a:graphicData uri="http://schemas.openxmlformats.org/drawingml/2006/table">
            <a:tbl>
              <a:tblPr firstRow="1" firstCol="1" bandRow="0">
                <a:tableStyleId>{2D5ABB26-0587-4C30-8999-92F81FD0307C}</a:tableStyleId>
              </a:tblPr>
              <a:tblGrid>
                <a:gridCol w="1599286"/>
                <a:gridCol w="4123030"/>
              </a:tblGrid>
              <a:tr h="328270">
                <a:tc>
                  <a:txBody>
                    <a:bodyPr anchor="b"/>
                    <a:lstStyle/>
                    <a:p>
                      <a:pPr algn="l">
                        <a:lnSpc>
                          <a:spcPct val="100000"/>
                        </a:lnSpc>
                      </a:pPr>
                      <a:r>
                        <a:rPr lang="en-US" sz="1400" b="1" dirty="0">
                          <a:solidFill>
                            <a:srgbClr val="000000"/>
                          </a:solidFill>
                          <a:latin typeface="Arial"/>
                          <a:ea typeface="Arial"/>
                          <a:cs typeface="Arial"/>
                        </a:rPr>
                        <a:t>Level</a:t>
                      </a:r>
                    </a:p>
                  </a:txBody>
                  <a:tcPr marL="60960" marR="60960" marT="60960" marB="60960" anchor="b">
                    <a:lnL>
                      <a:noFill/>
                    </a:lnL>
                    <a:lnR>
                      <a:noFill/>
                    </a:lnR>
                    <a:lnT>
                      <a:noFill/>
                    </a:lnT>
                    <a:lnB w="12700" cap="flat" cmpd="sng" algn="ctr">
                      <a:solidFill>
                        <a:srgbClr val="162029"/>
                      </a:solidFill>
                      <a:prstDash val="solid"/>
                    </a:lnB>
                    <a:noFill/>
                  </a:tcPr>
                </a:tc>
                <a:tc>
                  <a:txBody>
                    <a:bodyPr anchor="b"/>
                    <a:lstStyle/>
                    <a:p>
                      <a:pPr algn="l">
                        <a:lnSpc>
                          <a:spcPct val="100000"/>
                        </a:lnSpc>
                      </a:pPr>
                      <a:r>
                        <a:rPr lang="en-US" sz="1400" b="1" dirty="0">
                          <a:solidFill>
                            <a:srgbClr val="000000"/>
                          </a:solidFill>
                          <a:latin typeface="Arial"/>
                          <a:ea typeface="Arial"/>
                          <a:cs typeface="Arial"/>
                        </a:rPr>
                        <a:t>Definition</a:t>
                      </a:r>
                    </a:p>
                  </a:txBody>
                  <a:tcPr marL="60960" marR="60960" marT="60960" marB="60960" anchor="b">
                    <a:lnL>
                      <a:noFill/>
                    </a:lnL>
                    <a:lnR>
                      <a:noFill/>
                    </a:lnR>
                    <a:lnT>
                      <a:noFill/>
                    </a:lnT>
                    <a:lnB w="12700" cap="flat" cmpd="sng" algn="ctr">
                      <a:solidFill>
                        <a:srgbClr val="162029"/>
                      </a:solidFill>
                      <a:prstDash val="solid"/>
                    </a:lnB>
                    <a:noFill/>
                  </a:tcPr>
                </a:tc>
              </a:tr>
              <a:tr h="874166">
                <a:tc>
                  <a:txBody>
                    <a:bodyPr anchor="ctr"/>
                    <a:lstStyle/>
                    <a:p>
                      <a:pPr algn="l" marL="0" indent="0">
                        <a:lnSpc>
                          <a:spcPct val="100000"/>
                        </a:lnSpc>
                      </a:pPr>
                      <a:r>
                        <a:rPr lang="en-US" sz="1400" dirty="0">
                          <a:solidFill>
                            <a:srgbClr val="000000"/>
                          </a:solidFill>
                          <a:latin typeface="Arial"/>
                          <a:ea typeface="Arial"/>
                          <a:cs typeface="Arial"/>
                        </a:rPr>
                        <a:t>Total Funding</a:t>
                      </a:r>
                    </a:p>
                  </a:txBody>
                  <a:tcPr marL="60960" marR="60960" marT="60960" marB="60960" anchor="ctr">
                    <a:lnL>
                      <a:noFill/>
                    </a:lnL>
                    <a:lnR>
                      <a:noFill/>
                    </a:lnR>
                    <a:lnT w="12700" cap="flat" cmpd="sng" algn="ctr">
                      <a:solidFill>
                        <a:srgbClr val="162029"/>
                      </a:solidFill>
                      <a:prstDash val="solid"/>
                    </a:lnT>
                    <a:lnB w="6350" cap="flat" cmpd="sng" algn="ctr">
                      <a:solidFill>
                        <a:srgbClr val="162029"/>
                      </a:solidFill>
                      <a:prstDash val="solid"/>
                    </a:lnB>
                    <a:noFill/>
                  </a:tcPr>
                </a:tc>
                <a:tc>
                  <a:txBody>
                    <a:bodyPr anchor="ctr"/>
                    <a:lstStyle/>
                    <a:p>
                      <a:pPr algn="l">
                        <a:lnSpc>
                          <a:spcPct val="100000"/>
                        </a:lnSpc>
                      </a:pPr>
                      <a:r>
                        <a:rPr lang="en-US" sz="1400" dirty="0">
                          <a:solidFill>
                            <a:srgbClr val="000000"/>
                          </a:solidFill>
                          <a:latin typeface="Arial"/>
                          <a:ea typeface="Arial"/>
                          <a:cs typeface="Arial"/>
                        </a:rPr>
                        <a:t>All appropriations for relevant platforms, regardless of mission</a:t>
                      </a:r>
                    </a:p>
                  </a:txBody>
                  <a:tcPr marL="60960" marR="60960" marT="60960" marB="60960" anchor="ctr">
                    <a:lnL>
                      <a:noFill/>
                    </a:lnL>
                    <a:lnR>
                      <a:noFill/>
                    </a:lnR>
                    <a:lnT w="12700" cap="flat" cmpd="sng" algn="ctr">
                      <a:solidFill>
                        <a:srgbClr val="162029"/>
                      </a:solidFill>
                      <a:prstDash val="solid"/>
                    </a:lnT>
                    <a:lnB w="6350" cap="flat" cmpd="sng" algn="ctr">
                      <a:solidFill>
                        <a:srgbClr val="162029"/>
                      </a:solidFill>
                      <a:prstDash val="solid"/>
                    </a:lnB>
                    <a:noFill/>
                  </a:tcPr>
                </a:tc>
              </a:tr>
              <a:tr h="1163117">
                <a:tc>
                  <a:txBody>
                    <a:bodyPr anchor="ctr"/>
                    <a:lstStyle/>
                    <a:p>
                      <a:pPr algn="l" marL="0" indent="0">
                        <a:lnSpc>
                          <a:spcPct val="100000"/>
                        </a:lnSpc>
                      </a:pPr>
                      <a:r>
                        <a:rPr lang="en-US" sz="1400" dirty="0">
                          <a:solidFill>
                            <a:srgbClr val="000000"/>
                          </a:solidFill>
                          <a:latin typeface="Arial"/>
                          <a:ea typeface="Arial"/>
                          <a:cs typeface="Arial"/>
                        </a:rPr>
                        <a:t>Total Addressable Market (TAM)</a:t>
                      </a:r>
                      <a:br/>
                      <a:b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l">
                        <a:lnSpc>
                          <a:spcPct val="100000"/>
                        </a:lnSpc>
                      </a:pPr>
                      <a:r>
                        <a:rPr lang="en-US" sz="1400" dirty="0">
                          <a:solidFill>
                            <a:srgbClr val="000000"/>
                          </a:solidFill>
                          <a:latin typeface="Arial"/>
                          <a:ea typeface="Arial"/>
                          <a:cs typeface="Arial"/>
                        </a:rPr>
                        <a:t>Funding for missions that could be performed by unmanned platforms</a:t>
                      </a:r>
                      <a:br/>
                      <a:br/>
                      <a:r>
                        <a:rPr lang="en-US" sz="1400" dirty="0">
                          <a:solidFill>
                            <a:srgbClr val="000000"/>
                          </a:solidFill>
                          <a:latin typeface="Arial"/>
                          <a:ea typeface="Arial"/>
                          <a:cs typeface="Arial"/>
                        </a:rPr>
                        <a:t>Portion of Total Funding for platforms allocated to specific missions</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r>
              <a:tr h="954634">
                <a:tc>
                  <a:txBody>
                    <a:bodyPr anchor="ctr"/>
                    <a:lstStyle/>
                    <a:p>
                      <a:pPr algn="l" marL="0" indent="0">
                        <a:lnSpc>
                          <a:spcPct val="100000"/>
                        </a:lnSpc>
                      </a:pPr>
                      <a:r>
                        <a:rPr lang="en-US" sz="1400" dirty="0">
                          <a:solidFill>
                            <a:srgbClr val="000000"/>
                          </a:solidFill>
                          <a:latin typeface="Arial"/>
                          <a:ea typeface="Arial"/>
                          <a:cs typeface="Arial"/>
                        </a:rPr>
                        <a:t>Serviceable Addressable Market (SAM)</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l">
                        <a:lnSpc>
                          <a:spcPct val="100000"/>
                        </a:lnSpc>
                      </a:pPr>
                      <a:r>
                        <a:rPr lang="en-US" sz="1400" dirty="0">
                          <a:solidFill>
                            <a:srgbClr val="000000"/>
                          </a:solidFill>
                          <a:latin typeface="Arial"/>
                          <a:ea typeface="Arial"/>
                          <a:cs typeface="Arial"/>
                        </a:rPr>
                        <a:t>Funding for missions performed by unmanned platforms (i.e., adoption)</a:t>
                      </a:r>
                      <a:br/>
                    </a:p>
                    <a:p>
                      <a:pPr algn="l">
                        <a:lnSpc>
                          <a:spcPct val="100000"/>
                        </a:lnSpc>
                      </a:pPr>
                      <a:r>
                        <a:rPr lang="en-US" sz="1400" dirty="0">
                          <a:solidFill>
                            <a:srgbClr val="000000"/>
                          </a:solidFill>
                          <a:latin typeface="Arial"/>
                          <a:ea typeface="Arial"/>
                          <a:cs typeface="Arial"/>
                        </a:rPr>
                        <a:t>Portion of TAM that USVs can likely penetrate</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r>
              <a:tr h="874166">
                <a:tc>
                  <a:txBody>
                    <a:bodyPr anchor="ctr"/>
                    <a:lstStyle/>
                    <a:p>
                      <a:pPr algn="l" marL="0" indent="0">
                        <a:lnSpc>
                          <a:spcPct val="100000"/>
                        </a:lnSpc>
                      </a:pPr>
                      <a:r>
                        <a:rPr lang="en-US" sz="1400" dirty="0">
                          <a:solidFill>
                            <a:srgbClr val="000000"/>
                          </a:solidFill>
                          <a:latin typeface="Arial"/>
                          <a:ea typeface="Arial"/>
                          <a:cs typeface="Arial"/>
                        </a:rPr>
                        <a:t>Company TCV</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c>
                  <a:txBody>
                    <a:bodyPr anchor="ctr"/>
                    <a:lstStyle/>
                    <a:p>
                      <a:pPr algn="l">
                        <a:lnSpc>
                          <a:spcPct val="100000"/>
                        </a:lnSpc>
                      </a:pPr>
                      <a:r>
                        <a:rPr lang="en-US" sz="1400" dirty="0">
                          <a:solidFill>
                            <a:srgbClr val="000000"/>
                          </a:solidFill>
                          <a:latin typeface="Arial"/>
                          <a:ea typeface="Arial"/>
                          <a:cs typeface="Arial"/>
                        </a:rPr>
                        <a:t>Funding for Saronic unmanned platforms (i.e., market share)</a:t>
                      </a:r>
                    </a:p>
                    <a:p>
                      <a:pPr algn="l">
                        <a:lnSpc>
                          <a:spcPct val="100000"/>
                        </a:lnSpc>
                      </a:pPr>
                      <a:endParaRPr lang="en-US"/>
                    </a:p>
                    <a:p>
                      <a:pPr algn="l">
                        <a:lnSpc>
                          <a:spcPct val="100000"/>
                        </a:lnSpc>
                      </a:pPr>
                      <a:r>
                        <a:rPr lang="en-US" sz="1400" dirty="0">
                          <a:solidFill>
                            <a:srgbClr val="000000"/>
                          </a:solidFill>
                          <a:latin typeface="Arial"/>
                          <a:ea typeface="Arial"/>
                          <a:cs typeface="Arial"/>
                        </a:rPr>
                        <a:t>Share of SAM that Saronic can likely capture</a:t>
                      </a:r>
                    </a:p>
                  </a:txBody>
                  <a:tcPr marL="60960" marR="60960" marT="60960" marB="60960" anchor="ctr">
                    <a:lnL>
                      <a:noFill/>
                    </a:lnL>
                    <a:lnR>
                      <a:noFill/>
                    </a:lnR>
                    <a:lnT w="6350" cap="flat" cmpd="sng" algn="ctr">
                      <a:solidFill>
                        <a:srgbClr val="162029"/>
                      </a:solidFill>
                      <a:prstDash val="solid"/>
                    </a:lnT>
                    <a:lnB w="6350" cap="flat" cmpd="sng" algn="ctr">
                      <a:solidFill>
                        <a:srgbClr val="162029"/>
                      </a:solidFill>
                      <a:prstDash val="solid"/>
                    </a:lnB>
                    <a:noFill/>
                  </a:tcPr>
                </a:tc>
              </a:tr>
              <a:tr h="874166">
                <a:tc>
                  <a:txBody>
                    <a:bodyPr anchor="ctr"/>
                    <a:lstStyle/>
                    <a:p>
                      <a:pPr algn="l" marL="0" indent="0">
                        <a:lnSpc>
                          <a:spcPct val="100000"/>
                        </a:lnSpc>
                      </a:pPr>
                      <a:r>
                        <a:rPr lang="en-US" sz="1400" dirty="0">
                          <a:solidFill>
                            <a:srgbClr val="000000"/>
                          </a:solidFill>
                          <a:latin typeface="Arial"/>
                          <a:ea typeface="Arial"/>
                          <a:cs typeface="Arial"/>
                        </a:rPr>
                        <a:t>Company ACV</a:t>
                      </a:r>
                    </a:p>
                  </a:txBody>
                  <a:tcPr marL="60960" marR="60960" marT="60960" marB="60960" anchor="ctr">
                    <a:lnL>
                      <a:noFill/>
                    </a:lnL>
                    <a:lnR>
                      <a:noFill/>
                    </a:lnR>
                    <a:lnT w="6350" cap="flat" cmpd="sng" algn="ctr">
                      <a:solidFill>
                        <a:srgbClr val="162029"/>
                      </a:solidFill>
                      <a:prstDash val="solid"/>
                    </a:lnT>
                    <a:lnB>
                      <a:noFill/>
                    </a:lnB>
                    <a:noFill/>
                  </a:tcPr>
                </a:tc>
                <a:tc>
                  <a:txBody>
                    <a:bodyPr anchor="ctr"/>
                    <a:lstStyle/>
                    <a:p>
                      <a:pPr algn="l">
                        <a:lnSpc>
                          <a:spcPct val="100000"/>
                        </a:lnSpc>
                      </a:pPr>
                      <a:r>
                        <a:rPr lang="en-US" sz="1400" dirty="0">
                          <a:solidFill>
                            <a:srgbClr val="000000"/>
                          </a:solidFill>
                          <a:latin typeface="Arial"/>
                          <a:ea typeface="Arial"/>
                          <a:cs typeface="Arial"/>
                        </a:rPr>
                        <a:t>Portion of TCV exercised through Growth and Programs action</a:t>
                      </a:r>
                    </a:p>
                  </a:txBody>
                  <a:tcPr marL="60960" marR="60960" marT="60960" marB="60960" anchor="ctr">
                    <a:lnL>
                      <a:noFill/>
                    </a:lnL>
                    <a:lnR>
                      <a:noFill/>
                    </a:lnR>
                    <a:lnT w="6350" cap="flat" cmpd="sng" algn="ctr">
                      <a:solidFill>
                        <a:srgbClr val="162029"/>
                      </a:solidFill>
                      <a:prstDash val="solid"/>
                    </a:lnT>
                    <a:lnB>
                      <a:noFill/>
                    </a:lnB>
                    <a:noFill/>
                  </a:tcPr>
                </a:tc>
              </a:tr>
            </a:tbl>
          </a:graphicData>
        </a:graphic>
      </p:graphicFrame>
      <p:sp>
        <p:nvSpPr>
          <p:cNvPr id="106" name="FunnelTag_total_funding"/>
          <p:cNvSpPr txBox="1"/>
          <p:nvPr/>
        </p:nvSpPr>
        <p:spPr>
          <a:xfrm>
            <a:off x="2150669" y="1430122"/>
            <a:ext cx="1782166" cy="352958"/>
          </a:xfrm>
          <a:prstGeom prst="rect">
            <a:avLst/>
          </a:prstGeom>
          <a:solidFill>
            <a:srgbClr val="E2E9EF"/>
          </a:solidFill>
          <a:ln>
            <a:noFill/>
          </a:ln>
        </p:spPr>
        <p:txBody>
          <a:bodyPr wrap="square" anchor="ctr" lIns="91440" tIns="45720" rIns="91440" bIns="45720"/>
          <a:lstStyle/>
          <a:p>
            <a:pPr algn="ctr">
              <a:lnSpc>
                <a:spcPct val="100000"/>
              </a:lnSpc>
              <a:buNone/>
            </a:pPr>
            <a:r>
              <a:rPr lang="en-US" b="1" dirty="0">
                <a:solidFill>
                  <a:srgbClr val="000000"/>
                </a:solidFill>
                <a:latin typeface="Arial"/>
                <a:ea typeface="Arial"/>
                <a:cs typeface="Arial"/>
              </a:rPr>
              <a:t>Total Funding</a:t>
            </a:r>
          </a:p>
        </p:txBody>
      </p:sp>
      <p:sp>
        <p:nvSpPr>
          <p:cNvPr id="107" name="FunnelTag_tam"/>
          <p:cNvSpPr txBox="1"/>
          <p:nvPr/>
        </p:nvSpPr>
        <p:spPr>
          <a:xfrm>
            <a:off x="2150669" y="2253082"/>
            <a:ext cx="1782166" cy="352958"/>
          </a:xfrm>
          <a:prstGeom prst="rect">
            <a:avLst/>
          </a:prstGeom>
          <a:solidFill>
            <a:srgbClr val="B6C8D8"/>
          </a:solidFill>
          <a:ln>
            <a:noFill/>
          </a:ln>
        </p:spPr>
        <p:txBody>
          <a:bodyPr wrap="square" anchor="ctr" lIns="91440" tIns="45720" rIns="91440" bIns="45720"/>
          <a:lstStyle/>
          <a:p>
            <a:pPr algn="ctr">
              <a:lnSpc>
                <a:spcPct val="100000"/>
              </a:lnSpc>
              <a:buNone/>
            </a:pPr>
            <a:r>
              <a:rPr lang="en-US" b="1" dirty="0">
                <a:solidFill>
                  <a:srgbClr val="000000"/>
                </a:solidFill>
                <a:latin typeface="Arial"/>
                <a:ea typeface="Arial"/>
                <a:cs typeface="Arial"/>
              </a:rPr>
              <a:t>TAM</a:t>
            </a:r>
          </a:p>
        </p:txBody>
      </p:sp>
      <p:sp>
        <p:nvSpPr>
          <p:cNvPr id="108" name="FunnelTag_sam"/>
          <p:cNvSpPr txBox="1"/>
          <p:nvPr/>
        </p:nvSpPr>
        <p:spPr>
          <a:xfrm>
            <a:off x="2150669" y="3161081"/>
            <a:ext cx="1782166" cy="352958"/>
          </a:xfrm>
          <a:prstGeom prst="rect">
            <a:avLst/>
          </a:prstGeom>
          <a:solidFill>
            <a:srgbClr val="6E91B1"/>
          </a:solidFill>
          <a:ln>
            <a:noFill/>
          </a:ln>
        </p:spPr>
        <p:txBody>
          <a:bodyPr wrap="square" anchor="ctr" lIns="91440" tIns="45720" rIns="91440" bIns="45720"/>
          <a:lstStyle/>
          <a:p>
            <a:pPr algn="ctr">
              <a:lnSpc>
                <a:spcPct val="100000"/>
              </a:lnSpc>
              <a:buNone/>
            </a:pPr>
            <a:r>
              <a:rPr lang="en-US" b="1" dirty="0">
                <a:solidFill>
                  <a:srgbClr val="FFFFFF"/>
                </a:solidFill>
                <a:latin typeface="Arial"/>
                <a:ea typeface="Arial"/>
                <a:cs typeface="Arial"/>
              </a:rPr>
              <a:t>SAM</a:t>
            </a:r>
          </a:p>
        </p:txBody>
      </p:sp>
      <p:sp>
        <p:nvSpPr>
          <p:cNvPr id="109" name="FunnelTag_company_tcv"/>
          <p:cNvSpPr txBox="1"/>
          <p:nvPr/>
        </p:nvSpPr>
        <p:spPr>
          <a:xfrm>
            <a:off x="2150669" y="4069080"/>
            <a:ext cx="1782166" cy="352958"/>
          </a:xfrm>
          <a:prstGeom prst="rect">
            <a:avLst/>
          </a:prstGeom>
          <a:solidFill>
            <a:srgbClr val="3D5972"/>
          </a:solidFill>
          <a:ln>
            <a:noFill/>
          </a:ln>
        </p:spPr>
        <p:txBody>
          <a:bodyPr wrap="square" anchor="ctr" lIns="91440" tIns="45720" rIns="91440" bIns="45720"/>
          <a:lstStyle/>
          <a:p>
            <a:pPr algn="ctr">
              <a:lnSpc>
                <a:spcPct val="100000"/>
              </a:lnSpc>
              <a:buNone/>
            </a:pPr>
            <a:r>
              <a:rPr lang="en-US" b="1" dirty="0">
                <a:solidFill>
                  <a:srgbClr val="FFFFFF"/>
                </a:solidFill>
                <a:latin typeface="Arial"/>
                <a:ea typeface="Arial"/>
                <a:cs typeface="Arial"/>
              </a:rPr>
              <a:t>Company TCV</a:t>
            </a:r>
          </a:p>
        </p:txBody>
      </p:sp>
      <p:sp>
        <p:nvSpPr>
          <p:cNvPr id="110" name="FunnelTag_company_acv"/>
          <p:cNvSpPr txBox="1"/>
          <p:nvPr/>
        </p:nvSpPr>
        <p:spPr>
          <a:xfrm>
            <a:off x="2150669" y="5303520"/>
            <a:ext cx="1782166" cy="352958"/>
          </a:xfrm>
          <a:prstGeom prst="rect">
            <a:avLst/>
          </a:prstGeom>
          <a:solidFill>
            <a:srgbClr val="263746"/>
          </a:solidFill>
          <a:ln>
            <a:noFill/>
          </a:ln>
        </p:spPr>
        <p:txBody>
          <a:bodyPr wrap="square" anchor="ctr" lIns="91440" tIns="45720" rIns="91440" bIns="45720"/>
          <a:lstStyle/>
          <a:p>
            <a:pPr algn="ctr">
              <a:lnSpc>
                <a:spcPct val="100000"/>
              </a:lnSpc>
              <a:buNone/>
            </a:pPr>
            <a:r>
              <a:rPr lang="en-US" b="1" dirty="0">
                <a:solidFill>
                  <a:srgbClr val="FFFFFF"/>
                </a:solidFill>
                <a:latin typeface="Arial"/>
                <a:ea typeface="Arial"/>
                <a:cs typeface="Arial"/>
              </a:rPr>
              <a:t>Company ACV</a:t>
            </a:r>
          </a:p>
        </p:txBody>
      </p:sp>
      <p:pic>
        <p:nvPicPr>
          <p:cNvPr id="111" name="ProgramLogo"/>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Market Sizing</a:t>
            </a:r>
            <a:r>
              <a:rPr lang="en-US" sz="1000" kern="1200" dirty="0">
                <a:solidFill>
                  <a:srgbClr val="44505C"/>
                </a:solidFill>
                <a:latin typeface="Arial"/>
                <a:ea typeface="Arial"/>
                <a:cs typeface="Arial"/>
              </a:rPr>
              <a:t> / Navy (Surface incl. MDA)</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Components | The following funding inputs, sources, and colors of money are considered for sizing the Navy (Surface) market</a:t>
            </a:r>
          </a:p>
        </p:txBody>
      </p:sp>
      <p:sp>
        <p:nvSpPr>
          <p:cNvPr id="100" name="funding_header:Unmanned-specified funding (USV)"/>
          <p:cNvSpPr txBox="1"/>
          <p:nvPr/>
        </p:nvSpPr>
        <p:spPr>
          <a:xfrm>
            <a:off x="552298" y="1727302"/>
            <a:ext cx="1652321" cy="304495"/>
          </a:xfrm>
          <a:prstGeom prst="rect">
            <a:avLst/>
          </a:prstGeom>
          <a:solidFill>
            <a:srgbClr val="99B9D8"/>
          </a:solidFill>
          <a:ln w="3175">
            <a:solidFill>
              <a:srgbClr val="162029"/>
            </a:solidFill>
          </a:ln>
        </p:spPr>
        <p:txBody>
          <a:bodyPr wrap="square" anchor="ctr" lIns="91440" tIns="45720" rIns="91440" bIns="45720"/>
          <a:lstStyle/>
          <a:p>
            <a:pPr algn="ctr">
              <a:lnSpc>
                <a:spcPct val="100000"/>
              </a:lnSpc>
              <a:buNone/>
            </a:pPr>
            <a:r>
              <a:rPr lang="en-US" sz="1100" dirty="0">
                <a:solidFill>
                  <a:srgbClr val="000000"/>
                </a:solidFill>
                <a:latin typeface="Arial"/>
                <a:ea typeface="Arial"/>
                <a:cs typeface="Arial"/>
              </a:rPr>
              <a:t>Unmanned-specified funding (USV)</a:t>
            </a:r>
          </a:p>
        </p:txBody>
      </p:sp>
      <p:sp>
        <p:nvSpPr>
          <p:cNvPr id="101" name="funding_header:Currently manned capabilities (C"/>
          <p:cNvSpPr txBox="1"/>
          <p:nvPr/>
        </p:nvSpPr>
        <p:spPr>
          <a:xfrm>
            <a:off x="2272284" y="1727302"/>
            <a:ext cx="7743139" cy="304495"/>
          </a:xfrm>
          <a:prstGeom prst="rect">
            <a:avLst/>
          </a:prstGeom>
          <a:solidFill>
            <a:srgbClr val="447BB2"/>
          </a:solidFill>
          <a:ln w="3175">
            <a:solidFill>
              <a:srgbClr val="162029"/>
            </a:solidFill>
          </a:ln>
        </p:spPr>
        <p:txBody>
          <a:bodyPr wrap="square" anchor="ctr" lIns="91440" tIns="45720" rIns="91440" bIns="45720"/>
          <a:lstStyle/>
          <a:p>
            <a:pPr algn="ctr">
              <a:lnSpc>
                <a:spcPct val="100000"/>
              </a:lnSpc>
              <a:buNone/>
            </a:pPr>
            <a:r>
              <a:rPr lang="en-US" sz="1100" dirty="0">
                <a:solidFill>
                  <a:srgbClr val="FFFFFF"/>
                </a:solidFill>
                <a:latin typeface="Arial"/>
                <a:ea typeface="Arial"/>
                <a:cs typeface="Arial"/>
              </a:rPr>
              <a:t>Currently manned capabilities (CMC) funding </a:t>
            </a:r>
            <a:br/>
            <a:r>
              <a:rPr lang="en-US" sz="1100" i="1" dirty="0">
                <a:solidFill>
                  <a:srgbClr val="FFFFFF"/>
                </a:solidFill>
                <a:latin typeface="Arial"/>
                <a:ea typeface="Arial"/>
                <a:cs typeface="Arial"/>
              </a:rPr>
              <a:t>Surface missions</a:t>
            </a:r>
          </a:p>
        </p:txBody>
      </p:sp>
      <p:sp>
        <p:nvSpPr>
          <p:cNvPr id="102" name="funding_header:Kill chain roles"/>
          <p:cNvSpPr txBox="1"/>
          <p:nvPr/>
        </p:nvSpPr>
        <p:spPr>
          <a:xfrm>
            <a:off x="10082174" y="1727302"/>
            <a:ext cx="1652321" cy="304495"/>
          </a:xfrm>
          <a:prstGeom prst="rect">
            <a:avLst/>
          </a:prstGeom>
          <a:solidFill>
            <a:srgbClr val="0E1924"/>
          </a:solidFill>
          <a:ln w="3175">
            <a:solidFill>
              <a:srgbClr val="162029"/>
            </a:solidFill>
          </a:ln>
        </p:spPr>
        <p:txBody>
          <a:bodyPr wrap="square" anchor="ctr" lIns="91440" tIns="45720" rIns="91440" bIns="45720"/>
          <a:lstStyle/>
          <a:p>
            <a:pPr algn="ctr">
              <a:lnSpc>
                <a:spcPct val="100000"/>
              </a:lnSpc>
              <a:buNone/>
            </a:pPr>
            <a:r>
              <a:rPr lang="en-US" sz="1100" dirty="0">
                <a:solidFill>
                  <a:srgbClr val="FFFFFF"/>
                </a:solidFill>
                <a:latin typeface="Arial"/>
                <a:ea typeface="Arial"/>
                <a:cs typeface="Arial"/>
              </a:rPr>
              <a:t>Kill chain roles</a:t>
            </a:r>
          </a:p>
        </p:txBody>
      </p:sp>
      <p:sp>
        <p:nvSpPr>
          <p:cNvPr id="103" name="budget_source:FY26 PBR &amp; Congressional Committ"/>
          <p:cNvSpPr txBox="1"/>
          <p:nvPr/>
        </p:nvSpPr>
        <p:spPr>
          <a:xfrm>
            <a:off x="552298" y="3742639"/>
            <a:ext cx="11182198"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FY26 PBR &amp; Congressional Committee markups</a:t>
            </a:r>
          </a:p>
        </p:txBody>
      </p:sp>
      <p:sp>
        <p:nvSpPr>
          <p:cNvPr id="104" name="budget_source:OBBBA &amp; Congressional Committee "/>
          <p:cNvSpPr txBox="1"/>
          <p:nvPr/>
        </p:nvSpPr>
        <p:spPr>
          <a:xfrm>
            <a:off x="552298" y="4140403"/>
            <a:ext cx="11182198"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OBBBA &amp; Congressional Committee intent</a:t>
            </a:r>
          </a:p>
        </p:txBody>
      </p:sp>
      <p:sp>
        <p:nvSpPr>
          <p:cNvPr id="105" name="budget_source:SHIELD IDIQ"/>
          <p:cNvSpPr txBox="1"/>
          <p:nvPr/>
        </p:nvSpPr>
        <p:spPr>
          <a:xfrm>
            <a:off x="8777326" y="4538167"/>
            <a:ext cx="294619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SHIELD IDIQ</a:t>
            </a:r>
          </a:p>
        </p:txBody>
      </p:sp>
      <p:sp>
        <p:nvSpPr>
          <p:cNvPr id="106" name="color_of_money:Procurement"/>
          <p:cNvSpPr txBox="1"/>
          <p:nvPr/>
        </p:nvSpPr>
        <p:spPr>
          <a:xfrm>
            <a:off x="552298" y="4936846"/>
            <a:ext cx="11182198"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Procurement</a:t>
            </a:r>
          </a:p>
        </p:txBody>
      </p:sp>
      <p:sp>
        <p:nvSpPr>
          <p:cNvPr id="107" name="color_of_money:RDT&amp;E"/>
          <p:cNvSpPr txBox="1"/>
          <p:nvPr/>
        </p:nvSpPr>
        <p:spPr>
          <a:xfrm>
            <a:off x="552298" y="5334610"/>
            <a:ext cx="11182198"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RDT&amp;E</a:t>
            </a:r>
          </a:p>
        </p:txBody>
      </p:sp>
      <p:sp>
        <p:nvSpPr>
          <p:cNvPr id="108" name="color_of_money:O&amp;M"/>
          <p:cNvSpPr txBox="1"/>
          <p:nvPr/>
        </p:nvSpPr>
        <p:spPr>
          <a:xfrm>
            <a:off x="552298" y="5732374"/>
            <a:ext cx="11182198" cy="304495"/>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O&amp;M</a:t>
            </a:r>
          </a:p>
        </p:txBody>
      </p:sp>
      <p:sp>
        <p:nvSpPr>
          <p:cNvPr id="109" name="usv:sUSV"/>
          <p:cNvSpPr txBox="1"/>
          <p:nvPr/>
        </p:nvSpPr>
        <p:spPr>
          <a:xfrm>
            <a:off x="824789" y="2124151"/>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sUSV</a:t>
            </a:r>
          </a:p>
        </p:txBody>
      </p:sp>
      <p:sp>
        <p:nvSpPr>
          <p:cNvPr id="110" name="usv:mUSV"/>
          <p:cNvSpPr txBox="1"/>
          <p:nvPr/>
        </p:nvSpPr>
        <p:spPr>
          <a:xfrm>
            <a:off x="824789" y="2521915"/>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mUSV</a:t>
            </a:r>
          </a:p>
        </p:txBody>
      </p:sp>
      <p:sp>
        <p:nvSpPr>
          <p:cNvPr id="111" name="usv:USV Enabling Capabilities"/>
          <p:cNvSpPr txBox="1"/>
          <p:nvPr/>
        </p:nvSpPr>
        <p:spPr>
          <a:xfrm>
            <a:off x="824789" y="2916936"/>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USV Enabling Capabilities</a:t>
            </a:r>
          </a:p>
        </p:txBody>
      </p:sp>
      <p:sp>
        <p:nvSpPr>
          <p:cNvPr id="112" name="cmc:Anti-Air Warfare (incl. cUAS)"/>
          <p:cNvSpPr txBox="1"/>
          <p:nvPr/>
        </p:nvSpPr>
        <p:spPr>
          <a:xfrm>
            <a:off x="2414930"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Anti-Air Warfare (incl. cUAS)</a:t>
            </a:r>
          </a:p>
        </p:txBody>
      </p:sp>
      <p:sp>
        <p:nvSpPr>
          <p:cNvPr id="113" name="cmc:Electronic Warfare (Other)"/>
          <p:cNvSpPr txBox="1"/>
          <p:nvPr/>
        </p:nvSpPr>
        <p:spPr>
          <a:xfrm>
            <a:off x="2414930"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(Other)</a:t>
            </a:r>
          </a:p>
        </p:txBody>
      </p:sp>
      <p:sp>
        <p:nvSpPr>
          <p:cNvPr id="114" name="cmc:C4"/>
          <p:cNvSpPr txBox="1"/>
          <p:nvPr/>
        </p:nvSpPr>
        <p:spPr>
          <a:xfrm>
            <a:off x="2414930" y="2916936"/>
            <a:ext cx="1110082"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C4</a:t>
            </a:r>
            <a:r>
              <a:rPr lang="en-US" sz="900" dirty="0">
                <a:solidFill>
                  <a:srgbClr val="FFFFFF"/>
                </a:solidFill>
                <a:latin typeface="Arial"/>
                <a:ea typeface="Arial"/>
                <a:cs typeface="Arial"/>
              </a:rPr>
              <a:t>4</a:t>
            </a:r>
          </a:p>
        </p:txBody>
      </p:sp>
      <p:sp>
        <p:nvSpPr>
          <p:cNvPr id="115" name="cmc:Anti-Surface Ship Warfare"/>
          <p:cNvSpPr txBox="1"/>
          <p:nvPr/>
        </p:nvSpPr>
        <p:spPr>
          <a:xfrm>
            <a:off x="3687775"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Anti-Surface Ship Warfare</a:t>
            </a:r>
            <a:r>
              <a:rPr lang="en-US" sz="900" dirty="0">
                <a:solidFill>
                  <a:srgbClr val="FFFFFF"/>
                </a:solidFill>
                <a:latin typeface="Arial"/>
                <a:ea typeface="Arial"/>
                <a:cs typeface="Arial"/>
              </a:rPr>
              <a:t>1</a:t>
            </a:r>
          </a:p>
        </p:txBody>
      </p:sp>
      <p:sp>
        <p:nvSpPr>
          <p:cNvPr id="116" name="cmc:ISR"/>
          <p:cNvSpPr txBox="1"/>
          <p:nvPr/>
        </p:nvSpPr>
        <p:spPr>
          <a:xfrm>
            <a:off x="3687775"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ISR</a:t>
            </a:r>
            <a:r>
              <a:rPr lang="en-US" sz="900" dirty="0">
                <a:solidFill>
                  <a:srgbClr val="FFFFFF"/>
                </a:solidFill>
                <a:latin typeface="Arial"/>
                <a:ea typeface="Arial"/>
                <a:cs typeface="Arial"/>
              </a:rPr>
              <a:t>1</a:t>
            </a:r>
          </a:p>
        </p:txBody>
      </p:sp>
      <p:sp>
        <p:nvSpPr>
          <p:cNvPr id="117" name="cmc:Special Operations"/>
          <p:cNvSpPr txBox="1"/>
          <p:nvPr/>
        </p:nvSpPr>
        <p:spPr>
          <a:xfrm>
            <a:off x="3687775" y="2916936"/>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Special Operations</a:t>
            </a:r>
            <a:r>
              <a:rPr lang="en-US" sz="900" dirty="0">
                <a:solidFill>
                  <a:srgbClr val="FFFFFF"/>
                </a:solidFill>
                <a:latin typeface="Arial"/>
                <a:ea typeface="Arial"/>
                <a:cs typeface="Arial"/>
              </a:rPr>
              <a:t>5</a:t>
            </a:r>
          </a:p>
        </p:txBody>
      </p:sp>
      <p:sp>
        <p:nvSpPr>
          <p:cNvPr id="118" name="cmc:Anti-Submarine Warfare"/>
          <p:cNvSpPr txBox="1"/>
          <p:nvPr/>
        </p:nvSpPr>
        <p:spPr>
          <a:xfrm>
            <a:off x="4959706"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Anti-Submarine Warfare</a:t>
            </a:r>
            <a:r>
              <a:rPr lang="en-US" sz="900" dirty="0">
                <a:solidFill>
                  <a:srgbClr val="FFFFFF"/>
                </a:solidFill>
                <a:latin typeface="Arial"/>
                <a:ea typeface="Arial"/>
                <a:cs typeface="Arial"/>
              </a:rPr>
              <a:t>1</a:t>
            </a:r>
          </a:p>
        </p:txBody>
      </p:sp>
      <p:sp>
        <p:nvSpPr>
          <p:cNvPr id="119" name="cmc:Mine Warfare"/>
          <p:cNvSpPr txBox="1"/>
          <p:nvPr/>
        </p:nvSpPr>
        <p:spPr>
          <a:xfrm>
            <a:off x="4959706"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Mine Warfare</a:t>
            </a:r>
            <a:r>
              <a:rPr lang="en-US" sz="900" dirty="0">
                <a:solidFill>
                  <a:srgbClr val="FFFFFF"/>
                </a:solidFill>
                <a:latin typeface="Arial"/>
                <a:ea typeface="Arial"/>
                <a:cs typeface="Arial"/>
              </a:rPr>
              <a:t>1</a:t>
            </a:r>
          </a:p>
        </p:txBody>
      </p:sp>
      <p:sp>
        <p:nvSpPr>
          <p:cNvPr id="120" name="cmc:Sealift"/>
          <p:cNvSpPr txBox="1"/>
          <p:nvPr/>
        </p:nvSpPr>
        <p:spPr>
          <a:xfrm>
            <a:off x="4959706" y="2916936"/>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Sealift</a:t>
            </a:r>
            <a:r>
              <a:rPr lang="en-US" sz="900" dirty="0">
                <a:solidFill>
                  <a:srgbClr val="FFFFFF"/>
                </a:solidFill>
                <a:latin typeface="Arial"/>
                <a:ea typeface="Arial"/>
                <a:cs typeface="Arial"/>
              </a:rPr>
              <a:t>3</a:t>
            </a:r>
          </a:p>
        </p:txBody>
      </p:sp>
      <p:sp>
        <p:nvSpPr>
          <p:cNvPr id="121" name="cmc:Ballistic Missile Defense"/>
          <p:cNvSpPr txBox="1"/>
          <p:nvPr/>
        </p:nvSpPr>
        <p:spPr>
          <a:xfrm>
            <a:off x="6233465" y="2124151"/>
            <a:ext cx="1108253"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Ballistic Missile Defense</a:t>
            </a:r>
            <a:r>
              <a:rPr lang="en-US" sz="900" dirty="0">
                <a:solidFill>
                  <a:srgbClr val="FFFFFF"/>
                </a:solidFill>
                <a:latin typeface="Arial"/>
                <a:ea typeface="Arial"/>
                <a:cs typeface="Arial"/>
              </a:rPr>
              <a:t>2</a:t>
            </a:r>
          </a:p>
        </p:txBody>
      </p:sp>
      <p:sp>
        <p:nvSpPr>
          <p:cNvPr id="122" name="cmc:Strike Warfare"/>
          <p:cNvSpPr txBox="1"/>
          <p:nvPr/>
        </p:nvSpPr>
        <p:spPr>
          <a:xfrm>
            <a:off x="6232550"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Strike Warfare</a:t>
            </a:r>
            <a:r>
              <a:rPr lang="en-US" sz="900" dirty="0">
                <a:solidFill>
                  <a:srgbClr val="FFFFFF"/>
                </a:solidFill>
                <a:latin typeface="Arial"/>
                <a:ea typeface="Arial"/>
                <a:cs typeface="Arial"/>
              </a:rPr>
              <a:t>1</a:t>
            </a:r>
          </a:p>
        </p:txBody>
      </p:sp>
      <p:sp>
        <p:nvSpPr>
          <p:cNvPr id="123" name="cmc:VBSS"/>
          <p:cNvSpPr txBox="1"/>
          <p:nvPr/>
        </p:nvSpPr>
        <p:spPr>
          <a:xfrm>
            <a:off x="6232550" y="2916936"/>
            <a:ext cx="1109167" cy="304495"/>
          </a:xfrm>
          <a:prstGeom prst="rect">
            <a:avLst/>
          </a:prstGeom>
          <a:noFill/>
          <a:ln w="3175">
            <a:solidFill>
              <a:srgbClr val="BFBFBF"/>
            </a:solidFill>
          </a:ln>
        </p:spPr>
        <p:txBody>
          <a:bodyPr wrap="square" anchor="ctr" lIns="91440" tIns="45720" rIns="91440" bIns="45720"/>
          <a:lstStyle/>
          <a:p>
            <a:pPr algn="ctr">
              <a:lnSpc>
                <a:spcPct val="100000"/>
              </a:lnSpc>
              <a:buNone/>
            </a:pPr>
            <a:r>
              <a:rPr lang="en-US" sz="900" dirty="0">
                <a:solidFill>
                  <a:srgbClr val="BFBFBF"/>
                </a:solidFill>
                <a:latin typeface="Arial"/>
                <a:ea typeface="Arial"/>
                <a:cs typeface="Arial"/>
              </a:rPr>
              <a:t>VBSS</a:t>
            </a:r>
            <a:r>
              <a:rPr lang="en-US" sz="900" dirty="0">
                <a:solidFill>
                  <a:srgbClr val="BFBFBF"/>
                </a:solidFill>
                <a:latin typeface="Arial"/>
                <a:ea typeface="Arial"/>
                <a:cs typeface="Arial"/>
              </a:rPr>
              <a:t>6</a:t>
            </a:r>
          </a:p>
        </p:txBody>
      </p:sp>
      <p:sp>
        <p:nvSpPr>
          <p:cNvPr id="124" name="cmc_other_campaign:Electronic Warfare (D&amp;D)"/>
          <p:cNvSpPr txBox="1"/>
          <p:nvPr/>
        </p:nvSpPr>
        <p:spPr>
          <a:xfrm>
            <a:off x="7505395"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Electronic Warfare (D&amp;D)</a:t>
            </a:r>
          </a:p>
        </p:txBody>
      </p:sp>
      <p:sp>
        <p:nvSpPr>
          <p:cNvPr id="125" name="cmc_other_campaign:Amphibious Warfare"/>
          <p:cNvSpPr txBox="1"/>
          <p:nvPr/>
        </p:nvSpPr>
        <p:spPr>
          <a:xfrm>
            <a:off x="7505395" y="2521915"/>
            <a:ext cx="1109167" cy="304495"/>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Amphibious Warfare</a:t>
            </a:r>
            <a:r>
              <a:rPr lang="en-US" sz="900" dirty="0">
                <a:solidFill>
                  <a:srgbClr val="FFFFFF"/>
                </a:solidFill>
                <a:latin typeface="Arial"/>
                <a:ea typeface="Arial"/>
                <a:cs typeface="Arial"/>
              </a:rPr>
              <a:t>3</a:t>
            </a:r>
          </a:p>
        </p:txBody>
      </p:sp>
      <p:sp>
        <p:nvSpPr>
          <p:cNvPr id="126" name="iamd:IAMD (OBBBA)"/>
          <p:cNvSpPr txBox="1"/>
          <p:nvPr/>
        </p:nvSpPr>
        <p:spPr>
          <a:xfrm>
            <a:off x="8777326" y="2124151"/>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IAMD (OBBBA)</a:t>
            </a:r>
          </a:p>
        </p:txBody>
      </p:sp>
      <p:sp>
        <p:nvSpPr>
          <p:cNvPr id="127" name="iamd:IAMD (SHIELD)"/>
          <p:cNvSpPr txBox="1"/>
          <p:nvPr/>
        </p:nvSpPr>
        <p:spPr>
          <a:xfrm>
            <a:off x="8777326" y="2521915"/>
            <a:ext cx="1109167"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IAMD (SHIELD)</a:t>
            </a:r>
          </a:p>
        </p:txBody>
      </p:sp>
      <p:sp>
        <p:nvSpPr>
          <p:cNvPr id="128" name="kill_chain:Platforms"/>
          <p:cNvSpPr txBox="1"/>
          <p:nvPr/>
        </p:nvSpPr>
        <p:spPr>
          <a:xfrm>
            <a:off x="10100462" y="2124151"/>
            <a:ext cx="1615745" cy="304495"/>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r>
              <a:rPr lang="en-US" sz="900" dirty="0">
                <a:solidFill>
                  <a:srgbClr val="FFFFFF"/>
                </a:solidFill>
                <a:latin typeface="Arial"/>
                <a:ea typeface="Arial"/>
                <a:cs typeface="Arial"/>
              </a:rPr>
              <a:t>Platforms</a:t>
            </a:r>
          </a:p>
        </p:txBody>
      </p:sp>
      <p:sp>
        <p:nvSpPr>
          <p:cNvPr id="129" name="kill_chain:Effectors"/>
          <p:cNvSpPr txBox="1"/>
          <p:nvPr/>
        </p:nvSpPr>
        <p:spPr>
          <a:xfrm>
            <a:off x="10099548" y="2521915"/>
            <a:ext cx="1616659" cy="304495"/>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Effectors</a:t>
            </a:r>
          </a:p>
        </p:txBody>
      </p:sp>
      <p:sp>
        <p:nvSpPr>
          <p:cNvPr id="130" name="kill_chain:Sensors"/>
          <p:cNvSpPr txBox="1"/>
          <p:nvPr/>
        </p:nvSpPr>
        <p:spPr>
          <a:xfrm>
            <a:off x="10100462" y="2916936"/>
            <a:ext cx="1616659" cy="304495"/>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Sensors</a:t>
            </a:r>
          </a:p>
        </p:txBody>
      </p:sp>
      <p:sp>
        <p:nvSpPr>
          <p:cNvPr id="131" name="kill_chain:Combat Systems Integration (incl"/>
          <p:cNvSpPr txBox="1"/>
          <p:nvPr/>
        </p:nvSpPr>
        <p:spPr>
          <a:xfrm>
            <a:off x="10099548" y="3311957"/>
            <a:ext cx="1616659" cy="304495"/>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r>
              <a:rPr lang="en-US" sz="900" dirty="0">
                <a:solidFill>
                  <a:srgbClr val="000000"/>
                </a:solidFill>
                <a:latin typeface="Arial"/>
                <a:ea typeface="Arial"/>
                <a:cs typeface="Arial"/>
              </a:rPr>
              <a:t>Combat Systems Integration (incl. CEC)</a:t>
            </a:r>
          </a:p>
        </p:txBody>
      </p:sp>
      <p:sp>
        <p:nvSpPr>
          <p:cNvPr id="132" name="LegendSwatch:Included in sizing"/>
          <p:cNvSpPr txBox="1"/>
          <p:nvPr/>
        </p:nvSpPr>
        <p:spPr>
          <a:xfrm>
            <a:off x="6962242" y="1429207"/>
            <a:ext cx="182880" cy="182880"/>
          </a:xfrm>
          <a:prstGeom prst="rect">
            <a:avLst/>
          </a:prstGeom>
          <a:solidFill>
            <a:srgbClr val="000000"/>
          </a:solidFill>
          <a:ln w="3175">
            <a:solidFill>
              <a:srgbClr val="000000"/>
            </a:solidFill>
          </a:ln>
        </p:spPr>
        <p:txBody>
          <a:bodyPr wrap="square" anchor="ctr" lIns="91440" tIns="45720" rIns="91440" bIns="45720"/>
          <a:lstStyle/>
          <a:p>
            <a:pPr algn="ctr">
              <a:lnSpc>
                <a:spcPct val="100000"/>
              </a:lnSpc>
              <a:buNone/>
            </a:pPr>
            <a:endParaRPr lang="en-US"/>
          </a:p>
        </p:txBody>
      </p:sp>
      <p:sp>
        <p:nvSpPr>
          <p:cNvPr id="133" name="LegendLabel:Included in sizing"/>
          <p:cNvSpPr txBox="1"/>
          <p:nvPr/>
        </p:nvSpPr>
        <p:spPr>
          <a:xfrm>
            <a:off x="7166153" y="1429207"/>
            <a:ext cx="976579"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Included in sizing</a:t>
            </a:r>
          </a:p>
        </p:txBody>
      </p:sp>
      <p:sp>
        <p:nvSpPr>
          <p:cNvPr id="134" name="LegendSwatch:Sized in another campaign"/>
          <p:cNvSpPr txBox="1"/>
          <p:nvPr/>
        </p:nvSpPr>
        <p:spPr>
          <a:xfrm>
            <a:off x="8164678" y="1429207"/>
            <a:ext cx="182880" cy="182880"/>
          </a:xfrm>
          <a:prstGeom prst="rect">
            <a:avLst/>
          </a:prstGeom>
          <a:solidFill>
            <a:srgbClr val="A6A6A6"/>
          </a:solidFill>
          <a:ln w="3175">
            <a:solidFill>
              <a:srgbClr val="A6A6A6"/>
            </a:solidFill>
          </a:ln>
        </p:spPr>
        <p:txBody>
          <a:bodyPr wrap="square" anchor="ctr" lIns="91440" tIns="45720" rIns="91440" bIns="45720"/>
          <a:lstStyle/>
          <a:p>
            <a:pPr algn="ctr">
              <a:lnSpc>
                <a:spcPct val="100000"/>
              </a:lnSpc>
              <a:buNone/>
            </a:pPr>
            <a:endParaRPr lang="en-US"/>
          </a:p>
        </p:txBody>
      </p:sp>
      <p:sp>
        <p:nvSpPr>
          <p:cNvPr id="135" name="LegendLabel:Sized in another campaign"/>
          <p:cNvSpPr txBox="1"/>
          <p:nvPr/>
        </p:nvSpPr>
        <p:spPr>
          <a:xfrm>
            <a:off x="8368589" y="1429207"/>
            <a:ext cx="1324051"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Sized in another campaign</a:t>
            </a:r>
          </a:p>
        </p:txBody>
      </p:sp>
      <p:sp>
        <p:nvSpPr>
          <p:cNvPr id="136" name="LegendSwatch:Future effort"/>
          <p:cNvSpPr txBox="1"/>
          <p:nvPr/>
        </p:nvSpPr>
        <p:spPr>
          <a:xfrm>
            <a:off x="9713671" y="1429207"/>
            <a:ext cx="182880" cy="182880"/>
          </a:xfrm>
          <a:prstGeom prst="rect">
            <a:avLst/>
          </a:prstGeom>
          <a:solidFill>
            <a:srgbClr val="F2F2F2"/>
          </a:solidFill>
          <a:ln w="3175">
            <a:solidFill>
              <a:srgbClr val="F2F2F2"/>
            </a:solidFill>
          </a:ln>
        </p:spPr>
        <p:txBody>
          <a:bodyPr wrap="square" anchor="ctr" lIns="91440" tIns="45720" rIns="91440" bIns="45720"/>
          <a:lstStyle/>
          <a:p>
            <a:pPr algn="ctr">
              <a:lnSpc>
                <a:spcPct val="100000"/>
              </a:lnSpc>
              <a:buNone/>
            </a:pPr>
            <a:endParaRPr lang="en-US"/>
          </a:p>
        </p:txBody>
      </p:sp>
      <p:sp>
        <p:nvSpPr>
          <p:cNvPr id="137" name="LegendLabel:Future effort"/>
          <p:cNvSpPr txBox="1"/>
          <p:nvPr/>
        </p:nvSpPr>
        <p:spPr>
          <a:xfrm>
            <a:off x="9917582" y="1429207"/>
            <a:ext cx="747065"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Future effort</a:t>
            </a:r>
          </a:p>
        </p:txBody>
      </p:sp>
      <p:sp>
        <p:nvSpPr>
          <p:cNvPr id="138" name="LegendSwatch:Non-addressable"/>
          <p:cNvSpPr txBox="1"/>
          <p:nvPr/>
        </p:nvSpPr>
        <p:spPr>
          <a:xfrm>
            <a:off x="10686593" y="1429207"/>
            <a:ext cx="182880" cy="182880"/>
          </a:xfrm>
          <a:prstGeom prst="rect">
            <a:avLst/>
          </a:prstGeom>
          <a:noFill/>
          <a:ln w="3175">
            <a:solidFill>
              <a:srgbClr val="BFBFBF"/>
            </a:solidFill>
          </a:ln>
        </p:spPr>
        <p:txBody>
          <a:bodyPr wrap="square" anchor="ctr" lIns="91440" tIns="45720" rIns="91440" bIns="45720"/>
          <a:lstStyle/>
          <a:p>
            <a:pPr algn="ctr">
              <a:lnSpc>
                <a:spcPct val="100000"/>
              </a:lnSpc>
              <a:buNone/>
            </a:pPr>
            <a:endParaRPr lang="en-US"/>
          </a:p>
        </p:txBody>
      </p:sp>
      <p:sp>
        <p:nvSpPr>
          <p:cNvPr id="139" name="LegendLabel:Non-addressable"/>
          <p:cNvSpPr txBox="1"/>
          <p:nvPr/>
        </p:nvSpPr>
        <p:spPr>
          <a:xfrm>
            <a:off x="10890504" y="1429207"/>
            <a:ext cx="834847" cy="182880"/>
          </a:xfrm>
          <a:prstGeom prst="rect">
            <a:avLst/>
          </a:prstGeom>
          <a:noFill/>
          <a:ln>
            <a:noFill/>
          </a:ln>
        </p:spPr>
        <p:txBody>
          <a:bodyPr wrap="none" anchor="ctr" lIns="91440" tIns="45720" rIns="91440" bIns="45720"/>
          <a:lstStyle/>
          <a:p>
            <a:pPr algn="ctr">
              <a:lnSpc>
                <a:spcPct val="100000"/>
              </a:lnSpc>
              <a:buNone/>
            </a:pPr>
            <a:r>
              <a:rPr lang="en-US" sz="800" dirty="0">
                <a:solidFill>
                  <a:srgbClr val="000000"/>
                </a:solidFill>
                <a:latin typeface="Arial"/>
                <a:ea typeface="Arial"/>
                <a:cs typeface="Arial"/>
              </a:rPr>
              <a:t>Non-addressable</a:t>
            </a:r>
          </a:p>
        </p:txBody>
      </p:sp>
      <p:sp>
        <p:nvSpPr>
          <p:cNvPr id="140" name="row_spine:Funding Inputs"/>
          <p:cNvSpPr txBox="1"/>
          <p:nvPr/>
        </p:nvSpPr>
        <p:spPr>
          <a:xfrm rot="16200000">
            <a:off x="-714146" y="2431390"/>
            <a:ext cx="1963217" cy="514807"/>
          </a:xfrm>
          <a:prstGeom prst="rect">
            <a:avLst/>
          </a:prstGeom>
          <a:noFill/>
          <a:ln>
            <a:noFill/>
          </a:ln>
        </p:spPr>
        <p:txBody>
          <a:bodyPr wrap="square" anchor="ctr" lIns="91440" tIns="45720" rIns="91440" bIns="45720"/>
          <a:lstStyle/>
          <a:p>
            <a:pPr algn="ctr">
              <a:lnSpc>
                <a:spcPct val="100000"/>
              </a:lnSpc>
              <a:buNone/>
            </a:pPr>
            <a:r>
              <a:rPr lang="en-US" sz="1100" dirty="0">
                <a:solidFill>
                  <a:srgbClr val="000000"/>
                </a:solidFill>
                <a:latin typeface="Arial"/>
                <a:ea typeface="Arial"/>
                <a:cs typeface="Arial"/>
              </a:rPr>
              <a:t>Funding Inputs</a:t>
            </a:r>
          </a:p>
        </p:txBody>
      </p:sp>
      <p:sp>
        <p:nvSpPr>
          <p:cNvPr id="141" name="row_spine:Budget Data Sources"/>
          <p:cNvSpPr txBox="1"/>
          <p:nvPr/>
        </p:nvSpPr>
        <p:spPr>
          <a:xfrm rot="16200000">
            <a:off x="-281635" y="4034333"/>
            <a:ext cx="1097280" cy="513893"/>
          </a:xfrm>
          <a:prstGeom prst="rect">
            <a:avLst/>
          </a:prstGeom>
          <a:noFill/>
          <a:ln>
            <a:noFill/>
          </a:ln>
        </p:spPr>
        <p:txBody>
          <a:bodyPr wrap="square" anchor="ctr" lIns="91440" tIns="45720" rIns="91440" bIns="45720"/>
          <a:lstStyle/>
          <a:p>
            <a:pPr algn="ctr">
              <a:lnSpc>
                <a:spcPct val="100000"/>
              </a:lnSpc>
              <a:buNone/>
            </a:pPr>
            <a:r>
              <a:rPr lang="en-US" sz="1100" dirty="0">
                <a:solidFill>
                  <a:srgbClr val="000000"/>
                </a:solidFill>
                <a:latin typeface="Arial"/>
                <a:ea typeface="Arial"/>
                <a:cs typeface="Arial"/>
              </a:rPr>
              <a:t>Budget Data Sources</a:t>
            </a:r>
          </a:p>
        </p:txBody>
      </p:sp>
      <p:sp>
        <p:nvSpPr>
          <p:cNvPr id="142" name="row_spine:Color of Money"/>
          <p:cNvSpPr txBox="1"/>
          <p:nvPr/>
        </p:nvSpPr>
        <p:spPr>
          <a:xfrm rot="16200000">
            <a:off x="-281635" y="5224882"/>
            <a:ext cx="1097280" cy="513893"/>
          </a:xfrm>
          <a:prstGeom prst="rect">
            <a:avLst/>
          </a:prstGeom>
          <a:noFill/>
          <a:ln>
            <a:noFill/>
          </a:ln>
        </p:spPr>
        <p:txBody>
          <a:bodyPr wrap="square" anchor="ctr" lIns="91440" tIns="45720" rIns="91440" bIns="45720"/>
          <a:lstStyle/>
          <a:p>
            <a:pPr algn="ctr">
              <a:lnSpc>
                <a:spcPct val="100000"/>
              </a:lnSpc>
              <a:buNone/>
            </a:pPr>
            <a:r>
              <a:rPr lang="en-US" sz="1100" dirty="0">
                <a:solidFill>
                  <a:srgbClr val="000000"/>
                </a:solidFill>
                <a:latin typeface="Arial"/>
                <a:ea typeface="Arial"/>
                <a:cs typeface="Arial"/>
              </a:rPr>
              <a:t>Color of Money</a:t>
            </a:r>
          </a:p>
        </p:txBody>
      </p:sp>
      <p:cxnSp>
        <p:nvCxnSpPr>
          <p:cNvPr id="143" name="left_spine_top"/>
          <p:cNvCxnSpPr/>
          <p:nvPr/>
        </p:nvCxnSpPr>
        <p:spPr>
          <a:xfrm>
            <a:off x="470916" y="1727302"/>
            <a:ext cx="0" cy="1920240"/>
          </a:xfrm>
          <a:prstGeom prst="line">
            <a:avLst/>
          </a:prstGeom>
          <a:ln w="12700">
            <a:solidFill>
              <a:srgbClr val="162029"/>
            </a:solidFill>
          </a:ln>
        </p:spPr>
      </p:cxnSp>
      <p:cxnSp>
        <p:nvCxnSpPr>
          <p:cNvPr id="144" name="funding_to_budget_divider"/>
          <p:cNvCxnSpPr/>
          <p:nvPr/>
        </p:nvCxnSpPr>
        <p:spPr>
          <a:xfrm flipH="1">
            <a:off x="444398" y="3695090"/>
            <a:ext cx="11216945" cy="0"/>
          </a:xfrm>
          <a:prstGeom prst="line">
            <a:avLst/>
          </a:prstGeom>
          <a:ln w="3175">
            <a:solidFill>
              <a:srgbClr val="88AABD"/>
            </a:solidFill>
            <a:prstDash val="dash"/>
          </a:ln>
        </p:spPr>
      </p:cxnSp>
      <p:cxnSp>
        <p:nvCxnSpPr>
          <p:cNvPr id="145" name="left_spine_budget"/>
          <p:cNvCxnSpPr/>
          <p:nvPr/>
        </p:nvCxnSpPr>
        <p:spPr>
          <a:xfrm>
            <a:off x="468173" y="3742639"/>
            <a:ext cx="1829" cy="1097280"/>
          </a:xfrm>
          <a:prstGeom prst="line">
            <a:avLst/>
          </a:prstGeom>
          <a:ln w="12700">
            <a:solidFill>
              <a:srgbClr val="162029"/>
            </a:solidFill>
          </a:ln>
        </p:spPr>
      </p:cxnSp>
      <p:cxnSp>
        <p:nvCxnSpPr>
          <p:cNvPr id="146" name="budget_to_color_divider"/>
          <p:cNvCxnSpPr/>
          <p:nvPr/>
        </p:nvCxnSpPr>
        <p:spPr>
          <a:xfrm flipH="1">
            <a:off x="444398" y="4884725"/>
            <a:ext cx="11216945" cy="0"/>
          </a:xfrm>
          <a:prstGeom prst="line">
            <a:avLst/>
          </a:prstGeom>
          <a:ln w="3175">
            <a:solidFill>
              <a:srgbClr val="88AABD"/>
            </a:solidFill>
            <a:prstDash val="dash"/>
          </a:ln>
        </p:spPr>
      </p:cxnSp>
      <p:cxnSp>
        <p:nvCxnSpPr>
          <p:cNvPr id="147" name="left_spine_color"/>
          <p:cNvCxnSpPr/>
          <p:nvPr/>
        </p:nvCxnSpPr>
        <p:spPr>
          <a:xfrm>
            <a:off x="468173" y="4932274"/>
            <a:ext cx="1829" cy="1097280"/>
          </a:xfrm>
          <a:prstGeom prst="line">
            <a:avLst/>
          </a:prstGeom>
          <a:ln w="12700">
            <a:solidFill>
              <a:srgbClr val="162029"/>
            </a:solidFill>
          </a:ln>
        </p:spPr>
      </p:cxnSp>
      <p:cxnSp>
        <p:nvCxnSpPr>
          <p:cNvPr id="148" name="kill_chain_divider"/>
          <p:cNvCxnSpPr/>
          <p:nvPr/>
        </p:nvCxnSpPr>
        <p:spPr>
          <a:xfrm flipV="1">
            <a:off x="10048342" y="1727302"/>
            <a:ext cx="0" cy="1889150"/>
          </a:xfrm>
          <a:prstGeom prst="line">
            <a:avLst/>
          </a:prstGeom>
          <a:ln w="3175">
            <a:solidFill>
              <a:srgbClr val="88AABD"/>
            </a:solidFill>
            <a:prstDash val="dash"/>
          </a:ln>
        </p:spPr>
      </p:cxnSp>
      <p:sp>
        <p:nvSpPr>
          <p:cNvPr id="149" name="approach_exception:Sizing approach different vs. ot"/>
          <p:cNvSpPr txBox="1"/>
          <p:nvPr/>
        </p:nvSpPr>
        <p:spPr>
          <a:xfrm>
            <a:off x="8649310" y="2056486"/>
            <a:ext cx="1365199" cy="1559966"/>
          </a:xfrm>
          <a:prstGeom prst="rect">
            <a:avLst/>
          </a:prstGeom>
          <a:noFill/>
          <a:ln w="3175">
            <a:solidFill>
              <a:srgbClr val="162029"/>
            </a:solidFill>
          </a:ln>
        </p:spPr>
        <p:txBody>
          <a:bodyPr wrap="square" anchor="b" lIns="91440" tIns="45720" rIns="91440" bIns="45720"/>
          <a:lstStyle/>
          <a:p>
            <a:pPr algn="ctr">
              <a:lnSpc>
                <a:spcPct val="100000"/>
              </a:lnSpc>
              <a:buNone/>
            </a:pPr>
            <a:r>
              <a:rPr lang="en-US" sz="900" i="1" dirty="0">
                <a:solidFill>
                  <a:srgbClr val="000000"/>
                </a:solidFill>
                <a:latin typeface="Arial"/>
                <a:ea typeface="Arial"/>
                <a:cs typeface="Arial"/>
              </a:rPr>
              <a:t>Sizing approach different vs. other CMC</a:t>
            </a:r>
          </a:p>
        </p:txBody>
      </p:sp>
      <p:sp>
        <p:nvSpPr>
          <p:cNvPr id="150" name="footnote:Note: (1) Only addressable by Su"/>
          <p:cNvSpPr txBox="1"/>
          <p:nvPr/>
        </p:nvSpPr>
        <p:spPr>
          <a:xfrm>
            <a:off x="452628" y="6073445"/>
            <a:ext cx="11308385" cy="323698"/>
          </a:xfrm>
          <a:prstGeom prst="rect">
            <a:avLst/>
          </a:prstGeom>
          <a:noFill/>
          <a:ln>
            <a:noFill/>
          </a:ln>
        </p:spPr>
        <p:txBody>
          <a:bodyPr wrap="square" anchor="ctr" lIns="91440" tIns="45720" rIns="91440" bIns="45720"/>
          <a:lstStyle/>
          <a:p>
            <a:pPr algn="ctr">
              <a:lnSpc>
                <a:spcPct val="100000"/>
              </a:lnSpc>
              <a:buNone/>
            </a:pPr>
            <a:r>
              <a:rPr lang="en-US" sz="1000" dirty="0">
                <a:solidFill>
                  <a:srgbClr val="000000"/>
                </a:solidFill>
                <a:latin typeface="Arial"/>
                <a:ea typeface="Arial"/>
                <a:cs typeface="Arial"/>
              </a:rPr>
              <a:t>Note: (1) Only addressable by Surface materiel; (2) Current BMD mission; (3) Sized in USMC Campaign, with Sealift pertaining to Contested Logistics; (4) Undersea portion sized in Navy (Undersea) Campaign; (5) Sized in SOCOM Campaign; (6) Requires manned presence to fulfill mission</a:t>
            </a:r>
          </a:p>
        </p:txBody>
      </p:sp>
      <p:sp>
        <p:nvSpPr>
          <p:cNvPr id="151" name="Callout:sUSVCapabilities"/>
          <p:cNvSpPr txBox="1"/>
          <p:nvPr/>
        </p:nvSpPr>
        <p:spPr>
          <a:xfrm>
            <a:off x="503834" y="3268066"/>
            <a:ext cx="2546604" cy="372161"/>
          </a:xfrm>
          <a:prstGeom prst="wedgeRectCallout">
            <a:avLst>
              <a:gd name="adj1" fmla="val -48497"/>
              <a:gd name="adj2" fmla="val -3486"/>
            </a:avLst>
          </a:prstGeom>
          <a:noFill/>
          <a:ln>
            <a:noFill/>
          </a:ln>
        </p:spPr>
        <p:txBody>
          <a:bodyPr wrap="square" anchor="t" lIns="91440" tIns="45720" rIns="91440" bIns="45720"/>
          <a:lstStyle/>
          <a:p>
            <a:pPr>
              <a:lnSpc>
                <a:spcPct val="100000"/>
              </a:lnSpc>
              <a:buNone/>
            </a:pPr>
            <a:r>
              <a:rPr lang="en-US" sz="1000" i="1" dirty="0">
                <a:solidFill>
                  <a:srgbClr val="000000"/>
                </a:solidFill>
                <a:latin typeface="Arial"/>
                <a:ea typeface="Arial"/>
                <a:cs typeface="Arial"/>
              </a:rPr>
              <a:t>sUSV expected to deliver counter-UAS, Deception &amp; Decoy, and ISR capabilities</a:t>
            </a:r>
          </a:p>
        </p:txBody>
      </p:sp>
      <p:pic>
        <p:nvPicPr>
          <p:cNvPr id="152" name="Logo:Saronic"/>
          <p:cNvPicPr>
            <a:picLocks noChangeAspect="1"/>
          </p:cNvPicPr>
          <p:nvPr/>
        </p:nvPicPr>
        <p:blipFill>
          <a:blip r:embed="rId2"/>
          <a:stretch>
            <a:fillRect/>
          </a:stretch>
        </p:blipFill>
        <p:spPr>
          <a:xfrm>
            <a:off x="11313871" y="43891"/>
            <a:ext cx="843077" cy="84307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0" name="StageDivider:4.291"/>
          <p:cNvCxnSpPr/>
          <p:nvPr/>
        </p:nvCxnSpPr>
        <p:spPr>
          <a:xfrm flipH="1">
            <a:off x="3923690" y="1908353"/>
            <a:ext cx="0" cy="4480560"/>
          </a:xfrm>
          <a:prstGeom prst="line">
            <a:avLst/>
          </a:prstGeom>
          <a:ln w="3175">
            <a:solidFill>
              <a:srgbClr val="808080"/>
            </a:solidFill>
            <a:prstDash val="dash"/>
          </a:ln>
        </p:spPr>
      </p:cxnSp>
      <p:cxnSp>
        <p:nvCxnSpPr>
          <p:cNvPr id="101" name="StageDivider:6.404"/>
          <p:cNvCxnSpPr/>
          <p:nvPr/>
        </p:nvCxnSpPr>
        <p:spPr>
          <a:xfrm flipH="1">
            <a:off x="5855818" y="1908353"/>
            <a:ext cx="0" cy="4480560"/>
          </a:xfrm>
          <a:prstGeom prst="line">
            <a:avLst/>
          </a:prstGeom>
          <a:ln w="3175">
            <a:solidFill>
              <a:srgbClr val="808080"/>
            </a:solidFill>
            <a:prstDash val="dash"/>
          </a:ln>
        </p:spPr>
      </p:cxnSp>
      <p:cxnSp>
        <p:nvCxnSpPr>
          <p:cNvPr id="102" name="StageDivider:8.526"/>
          <p:cNvCxnSpPr/>
          <p:nvPr/>
        </p:nvCxnSpPr>
        <p:spPr>
          <a:xfrm flipH="1">
            <a:off x="7796174" y="1908353"/>
            <a:ext cx="0" cy="4480560"/>
          </a:xfrm>
          <a:prstGeom prst="line">
            <a:avLst/>
          </a:prstGeom>
          <a:ln w="3175">
            <a:solidFill>
              <a:srgbClr val="808080"/>
            </a:solidFill>
            <a:prstDash val="dash"/>
          </a:ln>
        </p:spPr>
      </p:cxnSp>
      <p:cxnSp>
        <p:nvCxnSpPr>
          <p:cNvPr id="103" name="StageDivider:10.631"/>
          <p:cNvCxnSpPr/>
          <p:nvPr/>
        </p:nvCxnSpPr>
        <p:spPr>
          <a:xfrm flipH="1">
            <a:off x="9720986" y="1908353"/>
            <a:ext cx="0" cy="4480560"/>
          </a:xfrm>
          <a:prstGeom prst="line">
            <a:avLst/>
          </a:prstGeom>
          <a:ln w="3175">
            <a:solidFill>
              <a:srgbClr val="808080"/>
            </a:solidFill>
            <a:prstDash val="dash"/>
          </a:ln>
        </p:spPr>
      </p:cxnSp>
      <p:sp>
        <p:nvSpPr>
          <p:cNvPr id="104" name="IntegrationSpan:shippers_private_carriers"/>
          <p:cNvSpPr txBox="1"/>
          <p:nvPr/>
        </p:nvSpPr>
        <p:spPr>
          <a:xfrm>
            <a:off x="2276856" y="5877763"/>
            <a:ext cx="9422892" cy="503834"/>
          </a:xfrm>
          <a:prstGeom prst="rect">
            <a:avLst/>
          </a:prstGeom>
          <a:solidFill>
            <a:srgbClr val="FFFFFF"/>
          </a:solidFill>
          <a:ln w="19050">
            <a:solidFill>
              <a:srgbClr val="000000"/>
            </a:solidFill>
            <a:prstDash val="dash"/>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Shippers / Private Carriers – </a:t>
            </a:r>
            <a:r>
              <a:rPr lang="en-US" sz="1000" i="1" dirty="0">
                <a:solidFill>
                  <a:srgbClr val="000000"/>
                </a:solidFill>
                <a:latin typeface="Arial"/>
                <a:ea typeface="Arial"/>
                <a:cs typeface="Arial"/>
              </a:rPr>
              <a:t>Integrated across value chain steps</a:t>
            </a:r>
          </a:p>
        </p:txBody>
      </p:sp>
      <p:sp>
        <p:nvSpPr>
          <p:cNvPr id="105" name="IntegrationSpan:vocc"/>
          <p:cNvSpPr txBox="1"/>
          <p:nvPr/>
        </p:nvSpPr>
        <p:spPr>
          <a:xfrm>
            <a:off x="3977640" y="5275174"/>
            <a:ext cx="7722108" cy="548640"/>
          </a:xfrm>
          <a:prstGeom prst="rect">
            <a:avLst/>
          </a:prstGeom>
          <a:solidFill>
            <a:srgbClr val="FFFFFF"/>
          </a:solidFill>
          <a:ln w="19050">
            <a:solidFill>
              <a:srgbClr val="0E1924"/>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Vessel Operating Common Carriers</a:t>
            </a:r>
            <a:r>
              <a:rPr lang="en-US" sz="1000" b="1" i="1" dirty="0">
                <a:solidFill>
                  <a:srgbClr val="000000"/>
                </a:solidFill>
                <a:latin typeface="Arial"/>
                <a:ea typeface="Arial"/>
                <a:cs typeface="Arial"/>
              </a:rPr>
              <a:t> – </a:t>
            </a:r>
            <a:r>
              <a:rPr lang="en-US" sz="1000" i="1" dirty="0">
                <a:solidFill>
                  <a:srgbClr val="000000"/>
                </a:solidFill>
                <a:latin typeface="Arial"/>
                <a:ea typeface="Arial"/>
                <a:cs typeface="Arial"/>
              </a:rPr>
              <a:t>Integrated across multiple value chain steps (largely Terminal Ops and/or Coordination)</a:t>
            </a:r>
          </a:p>
        </p:txBody>
      </p:sp>
      <p:sp>
        <p:nvSpPr>
          <p:cNvPr id="106" name="StageHeader:Customer / Shipper Requires Cargo Shipment"/>
          <p:cNvSpPr txBox="1"/>
          <p:nvPr/>
        </p:nvSpPr>
        <p:spPr>
          <a:xfrm>
            <a:off x="2043684" y="1500530"/>
            <a:ext cx="1920240" cy="365760"/>
          </a:xfrm>
          <a:prstGeom prst="homePlate">
            <a:avLst>
              <a:gd name="adj" fmla="val 24929"/>
            </a:avLst>
          </a:prstGeom>
          <a:solidFill>
            <a:srgbClr val="D9D9D9"/>
          </a:solidFill>
          <a:ln>
            <a:noFill/>
          </a:ln>
        </p:spPr>
        <p:txBody>
          <a:bodyPr wrap="square" anchor="ctr" lIns="144000" tIns="108000" rIns="144000" bIns="108000"/>
          <a:lstStyle/>
          <a:p>
            <a:pPr algn="ctr">
              <a:lnSpc>
                <a:spcPct val="100000"/>
              </a:lnSpc>
              <a:buNone/>
            </a:pPr>
            <a:r>
              <a:rPr lang="en-US" sz="1000" b="1" dirty="0">
                <a:solidFill>
                  <a:srgbClr val="000000"/>
                </a:solidFill>
                <a:latin typeface="Arial"/>
                <a:ea typeface="Arial"/>
                <a:cs typeface="Arial"/>
              </a:rPr>
              <a:t>Customer / Shipper Requires Cargo Shipment</a:t>
            </a:r>
          </a:p>
        </p:txBody>
      </p:sp>
      <p:sp>
        <p:nvSpPr>
          <p:cNvPr id="107" name="StageHeader:Coordination"/>
          <p:cNvSpPr txBox="1"/>
          <p:nvPr/>
        </p:nvSpPr>
        <p:spPr>
          <a:xfrm>
            <a:off x="3977640" y="1500530"/>
            <a:ext cx="1920240" cy="365760"/>
          </a:xfrm>
          <a:prstGeom prst="chevron">
            <a:avLst>
              <a:gd name="adj" fmla="val 24929"/>
            </a:avLst>
          </a:prstGeom>
          <a:solidFill>
            <a:srgbClr val="D9D9D9"/>
          </a:solidFill>
          <a:ln>
            <a:noFill/>
          </a:ln>
        </p:spPr>
        <p:txBody>
          <a:bodyPr wrap="square" anchor="ctr" lIns="144000" tIns="108000" rIns="144000" bIns="108000"/>
          <a:lstStyle/>
          <a:p>
            <a:pPr algn="ctr">
              <a:lnSpc>
                <a:spcPct val="100000"/>
              </a:lnSpc>
              <a:buNone/>
            </a:pPr>
            <a:r>
              <a:rPr lang="en-US" sz="1000" b="1" dirty="0">
                <a:solidFill>
                  <a:srgbClr val="000000"/>
                </a:solidFill>
                <a:latin typeface="Arial"/>
                <a:ea typeface="Arial"/>
                <a:cs typeface="Arial"/>
              </a:rPr>
              <a:t>Coordination</a:t>
            </a:r>
          </a:p>
        </p:txBody>
      </p:sp>
      <p:sp>
        <p:nvSpPr>
          <p:cNvPr id="108" name="StageHeader:Origin Shoreside Logistics"/>
          <p:cNvSpPr txBox="1"/>
          <p:nvPr/>
        </p:nvSpPr>
        <p:spPr>
          <a:xfrm>
            <a:off x="5911596" y="1500530"/>
            <a:ext cx="1920240" cy="365760"/>
          </a:xfrm>
          <a:prstGeom prst="chevron">
            <a:avLst>
              <a:gd name="adj" fmla="val 24929"/>
            </a:avLst>
          </a:prstGeom>
          <a:solidFill>
            <a:srgbClr val="447BB2"/>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Origin Shoreside Logistics</a:t>
            </a:r>
          </a:p>
        </p:txBody>
      </p:sp>
      <p:sp>
        <p:nvSpPr>
          <p:cNvPr id="109" name="StageHeader:Maritime Transport"/>
          <p:cNvSpPr txBox="1"/>
          <p:nvPr/>
        </p:nvSpPr>
        <p:spPr>
          <a:xfrm>
            <a:off x="7845552" y="1500530"/>
            <a:ext cx="1920240" cy="365760"/>
          </a:xfrm>
          <a:prstGeom prst="chevron">
            <a:avLst>
              <a:gd name="adj" fmla="val 24929"/>
            </a:avLst>
          </a:prstGeom>
          <a:solidFill>
            <a:srgbClr val="0E1924"/>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Maritime Transport</a:t>
            </a:r>
          </a:p>
        </p:txBody>
      </p:sp>
      <p:sp>
        <p:nvSpPr>
          <p:cNvPr id="110" name="StageHeader:Destination Shoreside Logistics"/>
          <p:cNvSpPr txBox="1"/>
          <p:nvPr/>
        </p:nvSpPr>
        <p:spPr>
          <a:xfrm>
            <a:off x="9779508" y="1500530"/>
            <a:ext cx="1920240" cy="365760"/>
          </a:xfrm>
          <a:prstGeom prst="chevron">
            <a:avLst>
              <a:gd name="adj" fmla="val 24929"/>
            </a:avLst>
          </a:prstGeom>
          <a:solidFill>
            <a:srgbClr val="447BB2"/>
          </a:solidFill>
          <a:ln>
            <a:noFill/>
          </a:ln>
        </p:spPr>
        <p:txBody>
          <a:bodyPr wrap="square" anchor="ctr" lIns="144000" tIns="108000" rIns="144000" bIns="108000"/>
          <a:lstStyle/>
          <a:p>
            <a:pPr algn="ctr">
              <a:lnSpc>
                <a:spcPct val="100000"/>
              </a:lnSpc>
              <a:buNone/>
            </a:pPr>
            <a:r>
              <a:rPr lang="en-US" sz="1000" b="1" dirty="0">
                <a:solidFill>
                  <a:srgbClr val="FFFFFF"/>
                </a:solidFill>
                <a:latin typeface="Arial"/>
                <a:ea typeface="Arial"/>
                <a:cs typeface="Arial"/>
              </a:rPr>
              <a:t>Destination Shoreside Logistics</a:t>
            </a:r>
          </a:p>
        </p:txBody>
      </p:sp>
      <p:graphicFrame>
        <p:nvGraphicFramePr>
          <p:cNvPr id="111" name="RowLabel:Value Chain Step"/>
          <p:cNvGraphicFramePr>
            <a:graphicFrameLocks noGrp="1"/>
          </p:cNvGraphicFramePr>
          <p:nvPr/>
        </p:nvGraphicFramePr>
        <p:xfrm>
          <a:off x="452628" y="1500530"/>
          <a:ext cx="1463040" cy="365760"/>
        </p:xfrm>
        <a:graphic>
          <a:graphicData uri="http://schemas.openxmlformats.org/drawingml/2006/table">
            <a:tbl>
              <a:tblPr firstRow="1" firstCol="1" bandRow="0">
                <a:tableStyleId>{2D5ABB26-0587-4C30-8999-92F81FD0307C}</a:tableStyleId>
              </a:tblPr>
              <a:tblGrid>
                <a:gridCol w="1463040"/>
              </a:tblGrid>
              <a:tr h="365760">
                <a:tc>
                  <a:txBody>
                    <a:bodyPr anchor="ctr"/>
                    <a:lstStyle/>
                    <a:p>
                      <a:pPr algn="l" marL="0" indent="0">
                        <a:lnSpc>
                          <a:spcPct val="100000"/>
                        </a:lnSpc>
                      </a:pPr>
                      <a:r>
                        <a:rPr lang="en-US" sz="1000" b="1" dirty="0">
                          <a:solidFill>
                            <a:srgbClr val="000000"/>
                          </a:solidFill>
                          <a:latin typeface="Arial"/>
                          <a:ea typeface="Arial"/>
                          <a:cs typeface="Arial"/>
                        </a:rPr>
                        <a:t>Value Chain Step</a:t>
                      </a:r>
                    </a:p>
                  </a:txBody>
                  <a:tcPr marL="45720" marR="45720" marT="45720" marB="45720" anchor="ctr">
                    <a:lnL>
                      <a:noFill/>
                    </a:lnL>
                    <a:lnR w="38100" cap="flat" cmpd="sng" algn="ctr">
                      <a:solidFill>
                        <a:srgbClr val="000000"/>
                      </a:solidFill>
                      <a:prstDash val="solid"/>
                    </a:lnR>
                    <a:lnT>
                      <a:noFill/>
                    </a:lnT>
                    <a:lnB>
                      <a:noFill/>
                    </a:lnB>
                    <a:solidFill>
                      <a:srgbClr val="FFFFFF"/>
                    </a:solidFill>
                  </a:tcPr>
                </a:tc>
              </a:tr>
            </a:tbl>
          </a:graphicData>
        </a:graphic>
      </p:graphicFrame>
      <p:graphicFrame>
        <p:nvGraphicFramePr>
          <p:cNvPr id="112" name="RowLabel:Representative players"/>
          <p:cNvGraphicFramePr>
            <a:graphicFrameLocks noGrp="1"/>
          </p:cNvGraphicFramePr>
          <p:nvPr/>
        </p:nvGraphicFramePr>
        <p:xfrm>
          <a:off x="452628" y="2005279"/>
          <a:ext cx="1463040" cy="4383634"/>
        </p:xfrm>
        <a:graphic>
          <a:graphicData uri="http://schemas.openxmlformats.org/drawingml/2006/table">
            <a:tbl>
              <a:tblPr firstRow="1" firstCol="1" bandRow="0">
                <a:tableStyleId>{2D5ABB26-0587-4C30-8999-92F81FD0307C}</a:tableStyleId>
              </a:tblPr>
              <a:tblGrid>
                <a:gridCol w="1463040"/>
              </a:tblGrid>
              <a:tr h="4383634">
                <a:tc>
                  <a:txBody>
                    <a:bodyPr anchor="ctr"/>
                    <a:lstStyle/>
                    <a:p>
                      <a:pPr algn="l" marL="0" indent="0">
                        <a:lnSpc>
                          <a:spcPct val="100000"/>
                        </a:lnSpc>
                      </a:pPr>
                      <a:r>
                        <a:rPr lang="en-US" sz="1000" b="1" dirty="0">
                          <a:solidFill>
                            <a:srgbClr val="000000"/>
                          </a:solidFill>
                          <a:latin typeface="Arial"/>
                          <a:ea typeface="Arial"/>
                          <a:cs typeface="Arial"/>
                        </a:rPr>
                        <a:t>Representative players</a:t>
                      </a:r>
                    </a:p>
                  </a:txBody>
                  <a:tcPr marL="45720" marR="45720" marT="45720" marB="45720" anchor="ctr">
                    <a:lnL>
                      <a:noFill/>
                    </a:lnL>
                    <a:lnR w="38100" cap="flat" cmpd="sng" algn="ctr">
                      <a:solidFill>
                        <a:srgbClr val="000000"/>
                      </a:solidFill>
                      <a:prstDash val="solid"/>
                    </a:lnR>
                    <a:lnT>
                      <a:noFill/>
                    </a:lnT>
                    <a:lnB>
                      <a:noFill/>
                    </a:lnB>
                    <a:solidFill>
                      <a:srgbClr val="FFFFFF"/>
                    </a:solidFill>
                  </a:tcPr>
                </a:tc>
              </a:tr>
            </a:tbl>
          </a:graphicData>
        </a:graphic>
      </p:graphicFrame>
      <p:sp>
        <p:nvSpPr>
          <p:cNvPr id="113" name="ParticipationCell:Terminal Operators"/>
          <p:cNvSpPr txBox="1"/>
          <p:nvPr/>
        </p:nvSpPr>
        <p:spPr>
          <a:xfrm>
            <a:off x="5968289" y="4372661"/>
            <a:ext cx="1715414" cy="846734"/>
          </a:xfrm>
          <a:prstGeom prst="rect">
            <a:avLst/>
          </a:prstGeom>
          <a:solidFill>
            <a:srgbClr val="FFFFFF"/>
          </a:solidFill>
          <a:ln w="19050">
            <a:solidFill>
              <a:srgbClr val="447BB2"/>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Terminal Operators</a:t>
            </a:r>
          </a:p>
        </p:txBody>
      </p:sp>
      <p:sp>
        <p:nvSpPr>
          <p:cNvPr id="114" name="ParticipationCell:Charter Companies"/>
          <p:cNvSpPr txBox="1"/>
          <p:nvPr/>
        </p:nvSpPr>
        <p:spPr>
          <a:xfrm>
            <a:off x="7903159" y="4372661"/>
            <a:ext cx="1716329" cy="846734"/>
          </a:xfrm>
          <a:prstGeom prst="rect">
            <a:avLst/>
          </a:prstGeom>
          <a:solidFill>
            <a:srgbClr val="FFFFFF"/>
          </a:solidFill>
          <a:ln w="19050">
            <a:solidFill>
              <a:srgbClr val="0E1924"/>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Charter Companies</a:t>
            </a:r>
          </a:p>
        </p:txBody>
      </p:sp>
      <p:sp>
        <p:nvSpPr>
          <p:cNvPr id="115" name="ParticipationCell:Pure-play Shipbuilders"/>
          <p:cNvSpPr txBox="1"/>
          <p:nvPr/>
        </p:nvSpPr>
        <p:spPr>
          <a:xfrm>
            <a:off x="7903159" y="2005279"/>
            <a:ext cx="1716329" cy="809244"/>
          </a:xfrm>
          <a:prstGeom prst="rect">
            <a:avLst/>
          </a:prstGeom>
          <a:solidFill>
            <a:srgbClr val="FFFFFF"/>
          </a:solidFill>
          <a:ln w="19050">
            <a:solidFill>
              <a:srgbClr val="0E1924"/>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Pure-play Shipbuilders</a:t>
            </a:r>
          </a:p>
        </p:txBody>
      </p:sp>
      <p:sp>
        <p:nvSpPr>
          <p:cNvPr id="116" name="ParticipationCell:Integrated Shipbuilders"/>
          <p:cNvSpPr txBox="1"/>
          <p:nvPr/>
        </p:nvSpPr>
        <p:spPr>
          <a:xfrm>
            <a:off x="7903159" y="2868473"/>
            <a:ext cx="1716329" cy="1450238"/>
          </a:xfrm>
          <a:prstGeom prst="rect">
            <a:avLst/>
          </a:prstGeom>
          <a:solidFill>
            <a:srgbClr val="FFFFFF"/>
          </a:solidFill>
          <a:ln w="19050">
            <a:solidFill>
              <a:srgbClr val="0E1924"/>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Integrated Shipbuilders</a:t>
            </a:r>
          </a:p>
        </p:txBody>
      </p:sp>
      <p:sp>
        <p:nvSpPr>
          <p:cNvPr id="117" name="ParticipationCell:Terminal Operators"/>
          <p:cNvSpPr txBox="1"/>
          <p:nvPr/>
        </p:nvSpPr>
        <p:spPr>
          <a:xfrm>
            <a:off x="9881921" y="4372661"/>
            <a:ext cx="1715414" cy="846734"/>
          </a:xfrm>
          <a:prstGeom prst="rect">
            <a:avLst/>
          </a:prstGeom>
          <a:solidFill>
            <a:srgbClr val="FFFFFF"/>
          </a:solidFill>
          <a:ln w="19050">
            <a:solidFill>
              <a:srgbClr val="447BB2"/>
            </a:solidFill>
          </a:ln>
        </p:spPr>
        <p:txBody>
          <a:bodyPr wrap="square" anchor="t" lIns="91440" tIns="45720" rIns="91440" bIns="45720"/>
          <a:lstStyle/>
          <a:p>
            <a:pPr algn="ctr">
              <a:lnSpc>
                <a:spcPct val="100000"/>
              </a:lnSpc>
              <a:buNone/>
            </a:pPr>
            <a:r>
              <a:rPr lang="en-US" sz="1000" b="1" dirty="0">
                <a:solidFill>
                  <a:srgbClr val="000000"/>
                </a:solidFill>
                <a:latin typeface="Arial"/>
                <a:ea typeface="Arial"/>
                <a:cs typeface="Arial"/>
              </a:rPr>
              <a:t>Terminal Operators</a:t>
            </a:r>
          </a:p>
        </p:txBody>
      </p:sp>
      <p:sp>
        <p:nvSpPr>
          <p:cNvPr id="118" name="Marker:primarily maritime transport"/>
          <p:cNvSpPr txBox="1"/>
          <p:nvPr/>
        </p:nvSpPr>
        <p:spPr>
          <a:xfrm>
            <a:off x="452628" y="1244498"/>
            <a:ext cx="182880" cy="182880"/>
          </a:xfrm>
          <a:prstGeom prst="rect">
            <a:avLst/>
          </a:prstGeom>
          <a:noFill/>
          <a:ln w="19050">
            <a:solidFill>
              <a:srgbClr val="0E1924"/>
            </a:solidFill>
          </a:ln>
        </p:spPr>
        <p:txBody>
          <a:bodyPr wrap="square" anchor="ctr" lIns="91440" tIns="45720" rIns="91440" bIns="45720"/>
          <a:lstStyle/>
          <a:p>
            <a:pPr algn="ctr">
              <a:lnSpc>
                <a:spcPct val="100000"/>
              </a:lnSpc>
              <a:buNone/>
            </a:pPr>
            <a:endParaRPr lang="en-US"/>
          </a:p>
        </p:txBody>
      </p:sp>
      <p:sp>
        <p:nvSpPr>
          <p:cNvPr id="119" name="Marker:integrated shippers"/>
          <p:cNvSpPr txBox="1"/>
          <p:nvPr/>
        </p:nvSpPr>
        <p:spPr>
          <a:xfrm>
            <a:off x="4075481" y="1244498"/>
            <a:ext cx="182880" cy="182880"/>
          </a:xfrm>
          <a:prstGeom prst="rect">
            <a:avLst/>
          </a:prstGeom>
          <a:solidFill>
            <a:srgbClr val="FFFFFF"/>
          </a:solidFill>
          <a:ln w="19050">
            <a:solidFill>
              <a:srgbClr val="000000"/>
            </a:solidFill>
            <a:prstDash val="dash"/>
          </a:ln>
        </p:spPr>
        <p:txBody>
          <a:bodyPr wrap="square" anchor="ctr" lIns="91440" tIns="45720" rIns="91440" bIns="45720"/>
          <a:lstStyle/>
          <a:p>
            <a:pPr algn="ctr">
              <a:lnSpc>
                <a:spcPct val="100000"/>
              </a:lnSpc>
              <a:buNone/>
            </a:pPr>
            <a:endParaRPr lang="en-US"/>
          </a:p>
        </p:txBody>
      </p:sp>
      <p:sp>
        <p:nvSpPr>
          <p:cNvPr id="120" name="Marker:shoreside logistics"/>
          <p:cNvSpPr txBox="1"/>
          <p:nvPr/>
        </p:nvSpPr>
        <p:spPr>
          <a:xfrm>
            <a:off x="2460650" y="1244498"/>
            <a:ext cx="182880" cy="182880"/>
          </a:xfrm>
          <a:prstGeom prst="rect">
            <a:avLst/>
          </a:prstGeom>
          <a:noFill/>
          <a:ln w="19050">
            <a:solidFill>
              <a:srgbClr val="447BB2"/>
            </a:solidFill>
          </a:ln>
        </p:spPr>
        <p:txBody>
          <a:bodyPr wrap="square" anchor="ctr" lIns="91440" tIns="45720" rIns="91440" bIns="45720"/>
          <a:lstStyle/>
          <a:p>
            <a:pPr algn="ctr">
              <a:lnSpc>
                <a:spcPct val="100000"/>
              </a:lnSpc>
              <a:buNone/>
            </a:pPr>
            <a:endParaRPr lang="en-US"/>
          </a:p>
        </p:txBody>
      </p:sp>
      <p:sp>
        <p:nvSpPr>
          <p:cNvPr id="121" name="GroupCaption:Primarily Maritime Transport Players"/>
          <p:cNvSpPr txBox="1"/>
          <p:nvPr/>
        </p:nvSpPr>
        <p:spPr>
          <a:xfrm>
            <a:off x="625450" y="1228954"/>
            <a:ext cx="1845259" cy="215798"/>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Primarily Maritime Transport Players</a:t>
            </a:r>
          </a:p>
        </p:txBody>
      </p:sp>
      <p:sp>
        <p:nvSpPr>
          <p:cNvPr id="122" name="GroupCaption:Shoreside Logistics Players"/>
          <p:cNvSpPr txBox="1"/>
          <p:nvPr/>
        </p:nvSpPr>
        <p:spPr>
          <a:xfrm>
            <a:off x="2634386" y="1228954"/>
            <a:ext cx="1451153" cy="215798"/>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Shoreside Logistics Players</a:t>
            </a:r>
          </a:p>
        </p:txBody>
      </p:sp>
      <p:sp>
        <p:nvSpPr>
          <p:cNvPr id="123" name="GroupCaption:Integrated Shippers"/>
          <p:cNvSpPr txBox="1"/>
          <p:nvPr/>
        </p:nvSpPr>
        <p:spPr>
          <a:xfrm>
            <a:off x="4248302" y="1228954"/>
            <a:ext cx="1087222" cy="215798"/>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Integrated Shippers</a:t>
            </a:r>
          </a:p>
        </p:txBody>
      </p:sp>
      <p:pic>
        <p:nvPicPr>
          <p:cNvPr id="124" name="Logo:origin_terminal:origin_terminal_logo_1"/>
          <p:cNvPicPr>
            <a:picLocks noChangeAspect="1"/>
          </p:cNvPicPr>
          <p:nvPr/>
        </p:nvPicPr>
        <p:blipFill>
          <a:blip r:embed="rId2"/>
          <a:stretch>
            <a:fillRect/>
          </a:stretch>
        </p:blipFill>
        <p:spPr>
          <a:xfrm>
            <a:off x="6282842" y="4921301"/>
            <a:ext cx="1084478" cy="249631"/>
          </a:xfrm>
          <a:prstGeom prst="rect">
            <a:avLst/>
          </a:prstGeom>
        </p:spPr>
      </p:pic>
      <p:pic>
        <p:nvPicPr>
          <p:cNvPr id="125" name="Logo:origin_terminal:origin_terminal_logo_2"/>
          <p:cNvPicPr>
            <a:picLocks noChangeAspect="1"/>
          </p:cNvPicPr>
          <p:nvPr/>
        </p:nvPicPr>
        <p:blipFill>
          <a:blip r:embed="rId3"/>
          <a:srcRect t="39246" b="40454"/>
          <a:stretch>
            <a:fillRect/>
          </a:stretch>
        </p:blipFill>
        <p:spPr>
          <a:xfrm>
            <a:off x="6267298" y="4606747"/>
            <a:ext cx="1116482" cy="226771"/>
          </a:xfrm>
          <a:prstGeom prst="rect">
            <a:avLst/>
          </a:prstGeom>
        </p:spPr>
      </p:pic>
      <p:pic>
        <p:nvPicPr>
          <p:cNvPr id="126" name="Logo:coordination:coordination_logo_1"/>
          <p:cNvPicPr>
            <a:picLocks noChangeAspect="1"/>
          </p:cNvPicPr>
          <p:nvPr/>
        </p:nvPicPr>
        <p:blipFill>
          <a:blip r:embed="rId4"/>
          <a:stretch>
            <a:fillRect/>
          </a:stretch>
        </p:blipFill>
        <p:spPr>
          <a:xfrm>
            <a:off x="4369003" y="6134710"/>
            <a:ext cx="1133856" cy="206654"/>
          </a:xfrm>
          <a:prstGeom prst="rect">
            <a:avLst/>
          </a:prstGeom>
        </p:spPr>
      </p:pic>
      <p:pic>
        <p:nvPicPr>
          <p:cNvPr id="127" name="Logo:origin_terminal:origin_terminal_logo_3"/>
          <p:cNvPicPr>
            <a:picLocks noChangeAspect="1"/>
          </p:cNvPicPr>
          <p:nvPr/>
        </p:nvPicPr>
        <p:blipFill>
          <a:blip r:embed="rId5"/>
          <a:stretch>
            <a:fillRect/>
          </a:stretch>
        </p:blipFill>
        <p:spPr>
          <a:xfrm>
            <a:off x="6240780" y="6129223"/>
            <a:ext cx="680314" cy="216713"/>
          </a:xfrm>
          <a:prstGeom prst="rect">
            <a:avLst/>
          </a:prstGeom>
        </p:spPr>
      </p:pic>
      <p:pic>
        <p:nvPicPr>
          <p:cNvPr id="128" name="Logo:shipper_private:shipper_private_logo_1"/>
          <p:cNvPicPr>
            <a:picLocks noChangeAspect="1"/>
          </p:cNvPicPr>
          <p:nvPr/>
        </p:nvPicPr>
        <p:blipFill>
          <a:blip r:embed="rId6"/>
          <a:stretch>
            <a:fillRect/>
          </a:stretch>
        </p:blipFill>
        <p:spPr>
          <a:xfrm>
            <a:off x="2499055" y="6137453"/>
            <a:ext cx="1057961" cy="200254"/>
          </a:xfrm>
          <a:prstGeom prst="rect">
            <a:avLst/>
          </a:prstGeom>
        </p:spPr>
      </p:pic>
      <p:pic>
        <p:nvPicPr>
          <p:cNvPr id="129" name="Logo:destination_terminal:destination_terminal_logo_1"/>
          <p:cNvPicPr>
            <a:picLocks noChangeAspect="1"/>
          </p:cNvPicPr>
          <p:nvPr/>
        </p:nvPicPr>
        <p:blipFill>
          <a:blip r:embed="rId7"/>
          <a:stretch>
            <a:fillRect/>
          </a:stretch>
        </p:blipFill>
        <p:spPr>
          <a:xfrm>
            <a:off x="9324137" y="6124651"/>
            <a:ext cx="982066" cy="226771"/>
          </a:xfrm>
          <a:prstGeom prst="rect">
            <a:avLst/>
          </a:prstGeom>
        </p:spPr>
      </p:pic>
      <p:pic>
        <p:nvPicPr>
          <p:cNvPr id="130" name="Logo:destination_terminal:destination_terminal_logo_2"/>
          <p:cNvPicPr>
            <a:picLocks noChangeAspect="1"/>
          </p:cNvPicPr>
          <p:nvPr/>
        </p:nvPicPr>
        <p:blipFill>
          <a:blip r:embed="rId8"/>
          <a:stretch>
            <a:fillRect/>
          </a:stretch>
        </p:blipFill>
        <p:spPr>
          <a:xfrm>
            <a:off x="10883189" y="6102706"/>
            <a:ext cx="604418" cy="270662"/>
          </a:xfrm>
          <a:prstGeom prst="rect">
            <a:avLst/>
          </a:prstGeom>
        </p:spPr>
      </p:pic>
      <p:pic>
        <p:nvPicPr>
          <p:cNvPr id="131" name="Logo:vocc_span:vocc_logo_1"/>
          <p:cNvPicPr>
            <a:picLocks noChangeAspect="1"/>
          </p:cNvPicPr>
          <p:nvPr/>
        </p:nvPicPr>
        <p:blipFill>
          <a:blip r:embed="rId9"/>
          <a:srcRect t="1" b="30297"/>
          <a:stretch>
            <a:fillRect/>
          </a:stretch>
        </p:blipFill>
        <p:spPr>
          <a:xfrm>
            <a:off x="5078578" y="5525719"/>
            <a:ext cx="914400" cy="223114"/>
          </a:xfrm>
          <a:prstGeom prst="rect">
            <a:avLst/>
          </a:prstGeom>
        </p:spPr>
      </p:pic>
      <p:pic>
        <p:nvPicPr>
          <p:cNvPr id="132" name="Logo:vocc_span:vocc_logo_2"/>
          <p:cNvPicPr>
            <a:picLocks noChangeAspect="1"/>
          </p:cNvPicPr>
          <p:nvPr/>
        </p:nvPicPr>
        <p:blipFill>
          <a:blip r:embed="rId10"/>
          <a:stretch>
            <a:fillRect/>
          </a:stretch>
        </p:blipFill>
        <p:spPr>
          <a:xfrm>
            <a:off x="8506663" y="5532120"/>
            <a:ext cx="1371600" cy="211226"/>
          </a:xfrm>
          <a:prstGeom prst="rect">
            <a:avLst/>
          </a:prstGeom>
        </p:spPr>
      </p:pic>
      <p:pic>
        <p:nvPicPr>
          <p:cNvPr id="133" name="Logo:vocc_span:vocc_logo_3"/>
          <p:cNvPicPr>
            <a:picLocks noChangeAspect="1"/>
          </p:cNvPicPr>
          <p:nvPr/>
        </p:nvPicPr>
        <p:blipFill>
          <a:blip r:embed="rId11"/>
          <a:stretch>
            <a:fillRect/>
          </a:stretch>
        </p:blipFill>
        <p:spPr>
          <a:xfrm>
            <a:off x="10525658" y="5511089"/>
            <a:ext cx="1097280" cy="252374"/>
          </a:xfrm>
          <a:prstGeom prst="rect">
            <a:avLst/>
          </a:prstGeom>
        </p:spPr>
      </p:pic>
      <p:pic>
        <p:nvPicPr>
          <p:cNvPr id="134" name="Logo:vocc_span:vocc_logo_4"/>
          <p:cNvPicPr>
            <a:picLocks noChangeAspect="1"/>
          </p:cNvPicPr>
          <p:nvPr/>
        </p:nvPicPr>
        <p:blipFill>
          <a:blip r:embed="rId12"/>
          <a:srcRect l="16902" t="18159" r="16883" b="17525"/>
          <a:stretch>
            <a:fillRect/>
          </a:stretch>
        </p:blipFill>
        <p:spPr>
          <a:xfrm>
            <a:off x="4081882" y="5490058"/>
            <a:ext cx="302666" cy="293522"/>
          </a:xfrm>
          <a:prstGeom prst="rect">
            <a:avLst/>
          </a:prstGeom>
        </p:spPr>
      </p:pic>
      <p:pic>
        <p:nvPicPr>
          <p:cNvPr id="135" name="Logo:vocc_span:vocc_logo_5"/>
          <p:cNvPicPr>
            <a:picLocks noChangeAspect="1"/>
          </p:cNvPicPr>
          <p:nvPr/>
        </p:nvPicPr>
        <p:blipFill>
          <a:blip r:embed="rId13"/>
          <a:srcRect l="1136" t="2363" r="1895"/>
          <a:stretch>
            <a:fillRect/>
          </a:stretch>
        </p:blipFill>
        <p:spPr>
          <a:xfrm>
            <a:off x="6655918" y="5480914"/>
            <a:ext cx="1188720" cy="312725"/>
          </a:xfrm>
          <a:prstGeom prst="rect">
            <a:avLst/>
          </a:prstGeom>
        </p:spPr>
      </p:pic>
      <p:pic>
        <p:nvPicPr>
          <p:cNvPr id="136" name="Logo:charter_companies:charter_logo_1"/>
          <p:cNvPicPr>
            <a:picLocks noChangeAspect="1"/>
          </p:cNvPicPr>
          <p:nvPr/>
        </p:nvPicPr>
        <p:blipFill>
          <a:blip r:embed="rId14"/>
          <a:stretch>
            <a:fillRect/>
          </a:stretch>
        </p:blipFill>
        <p:spPr>
          <a:xfrm>
            <a:off x="7948879" y="4595774"/>
            <a:ext cx="1261872" cy="249631"/>
          </a:xfrm>
          <a:prstGeom prst="rect">
            <a:avLst/>
          </a:prstGeom>
        </p:spPr>
      </p:pic>
      <p:pic>
        <p:nvPicPr>
          <p:cNvPr id="137" name="Logo:charter_companies:charter_logo_2"/>
          <p:cNvPicPr>
            <a:picLocks noChangeAspect="1"/>
          </p:cNvPicPr>
          <p:nvPr/>
        </p:nvPicPr>
        <p:blipFill>
          <a:blip r:embed="rId15"/>
          <a:stretch>
            <a:fillRect/>
          </a:stretch>
        </p:blipFill>
        <p:spPr>
          <a:xfrm>
            <a:off x="8648395" y="4801514"/>
            <a:ext cx="914400" cy="186538"/>
          </a:xfrm>
          <a:prstGeom prst="rect">
            <a:avLst/>
          </a:prstGeom>
        </p:spPr>
      </p:pic>
      <p:pic>
        <p:nvPicPr>
          <p:cNvPr id="138" name="Logo:charter_companies:charter_logo_3"/>
          <p:cNvPicPr>
            <a:picLocks noChangeAspect="1"/>
          </p:cNvPicPr>
          <p:nvPr/>
        </p:nvPicPr>
        <p:blipFill>
          <a:blip r:embed="rId16"/>
          <a:stretch>
            <a:fillRect/>
          </a:stretch>
        </p:blipFill>
        <p:spPr>
          <a:xfrm>
            <a:off x="7959852" y="4998110"/>
            <a:ext cx="808330" cy="223114"/>
          </a:xfrm>
          <a:prstGeom prst="rect">
            <a:avLst/>
          </a:prstGeom>
        </p:spPr>
      </p:pic>
      <p:pic>
        <p:nvPicPr>
          <p:cNvPr id="139" name="Logo:pure_play_shipbuilder:pureplay_logo_1"/>
          <p:cNvPicPr>
            <a:picLocks noChangeAspect="1"/>
          </p:cNvPicPr>
          <p:nvPr/>
        </p:nvPicPr>
        <p:blipFill>
          <a:blip r:embed="rId17"/>
          <a:stretch>
            <a:fillRect/>
          </a:stretch>
        </p:blipFill>
        <p:spPr>
          <a:xfrm>
            <a:off x="8786470" y="2571293"/>
            <a:ext cx="731520" cy="185623"/>
          </a:xfrm>
          <a:prstGeom prst="rect">
            <a:avLst/>
          </a:prstGeom>
        </p:spPr>
      </p:pic>
      <p:pic>
        <p:nvPicPr>
          <p:cNvPr id="140" name="Logo:pure_play_shipbuilder:pureplay_logo_2"/>
          <p:cNvPicPr>
            <a:picLocks noChangeAspect="1"/>
          </p:cNvPicPr>
          <p:nvPr/>
        </p:nvPicPr>
        <p:blipFill>
          <a:blip r:embed="rId18"/>
          <a:stretch>
            <a:fillRect/>
          </a:stretch>
        </p:blipFill>
        <p:spPr>
          <a:xfrm>
            <a:off x="8740750" y="2345436"/>
            <a:ext cx="822960" cy="94183"/>
          </a:xfrm>
          <a:prstGeom prst="rect">
            <a:avLst/>
          </a:prstGeom>
        </p:spPr>
      </p:pic>
      <p:pic>
        <p:nvPicPr>
          <p:cNvPr id="141" name="Logo:pure_play_shipbuilder:pureplay_logo_3"/>
          <p:cNvPicPr>
            <a:picLocks noChangeAspect="1"/>
          </p:cNvPicPr>
          <p:nvPr/>
        </p:nvPicPr>
        <p:blipFill>
          <a:blip r:embed="rId19"/>
          <a:stretch>
            <a:fillRect/>
          </a:stretch>
        </p:blipFill>
        <p:spPr>
          <a:xfrm>
            <a:off x="8086039" y="2279599"/>
            <a:ext cx="457200" cy="226771"/>
          </a:xfrm>
          <a:prstGeom prst="rect">
            <a:avLst/>
          </a:prstGeom>
        </p:spPr>
      </p:pic>
      <p:pic>
        <p:nvPicPr>
          <p:cNvPr id="142" name="Logo:pure_play_shipbuilder:pureplay_logo_4"/>
          <p:cNvPicPr>
            <a:picLocks noChangeAspect="1"/>
          </p:cNvPicPr>
          <p:nvPr/>
        </p:nvPicPr>
        <p:blipFill>
          <a:blip r:embed="rId20"/>
          <a:srcRect l="6989" t="38971" r="6559" b="39290"/>
          <a:stretch>
            <a:fillRect/>
          </a:stretch>
        </p:blipFill>
        <p:spPr>
          <a:xfrm>
            <a:off x="7948879" y="2588666"/>
            <a:ext cx="731520" cy="183794"/>
          </a:xfrm>
          <a:prstGeom prst="rect">
            <a:avLst/>
          </a:prstGeom>
        </p:spPr>
      </p:pic>
      <p:pic>
        <p:nvPicPr>
          <p:cNvPr id="143" name="Logo:integrated_shipbuilder:integrated_logo_1"/>
          <p:cNvPicPr>
            <a:picLocks noChangeAspect="1"/>
          </p:cNvPicPr>
          <p:nvPr/>
        </p:nvPicPr>
        <p:blipFill>
          <a:blip r:embed="rId21"/>
          <a:stretch>
            <a:fillRect/>
          </a:stretch>
        </p:blipFill>
        <p:spPr>
          <a:xfrm>
            <a:off x="8304581" y="3087929"/>
            <a:ext cx="914400" cy="253289"/>
          </a:xfrm>
          <a:prstGeom prst="rect">
            <a:avLst/>
          </a:prstGeom>
        </p:spPr>
      </p:pic>
      <p:pic>
        <p:nvPicPr>
          <p:cNvPr id="144" name="Logo:integrated_shipbuilder:integrated_logo_2"/>
          <p:cNvPicPr>
            <a:picLocks noChangeAspect="1"/>
          </p:cNvPicPr>
          <p:nvPr/>
        </p:nvPicPr>
        <p:blipFill>
          <a:blip r:embed="rId22"/>
          <a:srcRect t="43928" b="43272"/>
          <a:stretch>
            <a:fillRect/>
          </a:stretch>
        </p:blipFill>
        <p:spPr>
          <a:xfrm>
            <a:off x="8028432" y="3628339"/>
            <a:ext cx="1466698" cy="187452"/>
          </a:xfrm>
          <a:prstGeom prst="rect">
            <a:avLst/>
          </a:prstGeom>
        </p:spPr>
      </p:pic>
      <p:pic>
        <p:nvPicPr>
          <p:cNvPr id="145" name="Logo:integrated_shipbuilder:integrated_logo_3"/>
          <p:cNvPicPr>
            <a:picLocks noChangeAspect="1"/>
          </p:cNvPicPr>
          <p:nvPr/>
        </p:nvPicPr>
        <p:blipFill>
          <a:blip r:embed="rId23"/>
          <a:srcRect t="44933" b="44796"/>
          <a:stretch>
            <a:fillRect/>
          </a:stretch>
        </p:blipFill>
        <p:spPr>
          <a:xfrm>
            <a:off x="8030261" y="3881628"/>
            <a:ext cx="1463040" cy="149962"/>
          </a:xfrm>
          <a:prstGeom prst="rect">
            <a:avLst/>
          </a:prstGeom>
        </p:spPr>
      </p:pic>
      <p:pic>
        <p:nvPicPr>
          <p:cNvPr id="146" name="Logo:destination_terminal:destination_terminal_reused_logo_1"/>
          <p:cNvPicPr>
            <a:picLocks noChangeAspect="1"/>
          </p:cNvPicPr>
          <p:nvPr/>
        </p:nvPicPr>
        <p:blipFill>
          <a:blip r:embed="rId2"/>
          <a:stretch>
            <a:fillRect/>
          </a:stretch>
        </p:blipFill>
        <p:spPr>
          <a:xfrm>
            <a:off x="10196474" y="4921301"/>
            <a:ext cx="1084478" cy="249631"/>
          </a:xfrm>
          <a:prstGeom prst="rect">
            <a:avLst/>
          </a:prstGeom>
        </p:spPr>
      </p:pic>
      <p:pic>
        <p:nvPicPr>
          <p:cNvPr id="147" name="Logo:destination_terminal:destination_terminal_reused_logo_2"/>
          <p:cNvPicPr>
            <a:picLocks noChangeAspect="1"/>
          </p:cNvPicPr>
          <p:nvPr/>
        </p:nvPicPr>
        <p:blipFill>
          <a:blip r:embed="rId3"/>
          <a:srcRect t="39246" b="40454"/>
          <a:stretch>
            <a:fillRect/>
          </a:stretch>
        </p:blipFill>
        <p:spPr>
          <a:xfrm>
            <a:off x="10180930" y="4606747"/>
            <a:ext cx="1116482" cy="226771"/>
          </a:xfrm>
          <a:prstGeom prst="rect">
            <a:avLst/>
          </a:prstGeom>
        </p:spPr>
      </p:pic>
      <p:cxnSp>
        <p:nvCxnSpPr>
          <p:cNvPr id="148" name="primarily_maritime_to_matrix"/>
          <p:cNvCxnSpPr/>
          <p:nvPr/>
        </p:nvCxnSpPr>
        <p:spPr>
          <a:xfrm rot="5400000">
            <a:off x="486461" y="3656686"/>
            <a:ext cx="4262933" cy="682142"/>
          </a:xfrm>
          <a:prstGeom prst="bentConnector4">
            <a:avLst>
              <a:gd name="adj1" fmla="val 47046"/>
              <a:gd name="adj2" fmla="val 133516"/>
            </a:avLst>
          </a:prstGeom>
          <a:ln w="12700">
            <a:solidFill>
              <a:srgbClr val="000000"/>
            </a:solidFill>
            <a:tailEnd type="triangle" w="med" len="med"/>
          </a:ln>
        </p:spPr>
      </p:cxnSp>
      <p:sp>
        <p:nvSpPr>
          <p:cNvPr id="149" name="Callout:ParticipationRead"/>
          <p:cNvSpPr txBox="1"/>
          <p:nvPr/>
        </p:nvSpPr>
        <p:spPr>
          <a:xfrm>
            <a:off x="2136953" y="2121408"/>
            <a:ext cx="1777594" cy="440741"/>
          </a:xfrm>
          <a:prstGeom prst="wedgeRectCallout">
            <a:avLst>
              <a:gd name="adj1" fmla="val 44715"/>
              <a:gd name="adj2" fmla="val -24439"/>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Players shown own and operate their own vessels and charter additional ships </a:t>
            </a:r>
          </a:p>
        </p:txBody>
      </p:sp>
      <p:sp>
        <p:nvSpPr>
          <p:cNvPr id="150" name="Callout:ParticipationRead"/>
          <p:cNvSpPr txBox="1"/>
          <p:nvPr/>
        </p:nvSpPr>
        <p:spPr>
          <a:xfrm>
            <a:off x="8026603" y="3407054"/>
            <a:ext cx="1469441" cy="154534"/>
          </a:xfrm>
          <a:prstGeom prst="wedgeRectCallout">
            <a:avLst>
              <a:gd name="adj1" fmla="val 44715"/>
              <a:gd name="adj2" fmla="val -24439"/>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Entered shipping in ‘24</a:t>
            </a:r>
          </a:p>
        </p:txBody>
      </p:sp>
      <p:sp>
        <p:nvSpPr>
          <p:cNvPr id="151" name="Callout:ParticipationRead"/>
          <p:cNvSpPr txBox="1"/>
          <p:nvPr/>
        </p:nvSpPr>
        <p:spPr>
          <a:xfrm>
            <a:off x="8026603" y="4098341"/>
            <a:ext cx="1469441" cy="153619"/>
          </a:xfrm>
          <a:prstGeom prst="wedgeRectCallout">
            <a:avLst>
              <a:gd name="adj1" fmla="val 44715"/>
              <a:gd name="adj2" fmla="val -24439"/>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Chartering</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Value Chain Participation | Shipbuilders largely not observed to vertically integrate beyond chartering, whereas large shippers and VOCCs integrate across the value chain.</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 name="Title 4"/>
          <p:cNvSpPr>
            <a:spLocks noGrp="1"/>
          </p:cNvSpPr>
          <p:nvPr>
            <p:ph type="title"/>
          </p:nvPr>
        </p:nvSpPr>
        <p:spPr/>
        <p:txBody>
          <a:bodyPr vert="horz"/>
          <a:lstStyle/>
          <a:p>
            <a:r>
              <a:rPr lang="en-US"/>
              <a:t>Overview</a:t>
            </a:r>
          </a:p>
        </p:txBody>
      </p:sp>
      <p:graphicFrame>
        <p:nvGraphicFramePr>
          <p:cNvPr id="100" name="Table 1"/>
          <p:cNvGraphicFramePr>
            <a:graphicFrameLocks noGrp="1"/>
          </p:cNvGraphicFramePr>
          <p:nvPr/>
        </p:nvGraphicFramePr>
        <p:xfrm>
          <a:off x="455371" y="1511503"/>
          <a:ext cx="5212080" cy="2824582"/>
        </p:xfrm>
        <a:graphic>
          <a:graphicData uri="http://schemas.openxmlformats.org/drawingml/2006/table">
            <a:tbl>
              <a:tblPr firstRow="1" firstCol="1" bandRow="0">
                <a:tableStyleId>{2D5ABB26-0587-4C30-8999-92F81FD0307C}</a:tableStyleId>
              </a:tblPr>
              <a:tblGrid>
                <a:gridCol w="5212080"/>
              </a:tblGrid>
              <a:tr h="371246">
                <a:tc>
                  <a:txBody>
                    <a:bodyPr anchor="ctr"/>
                    <a:lstStyle/>
                    <a:p>
                      <a:pPr algn="l">
                        <a:lnSpc>
                          <a:spcPct val="100000"/>
                        </a:lnSpc>
                      </a:pPr>
                      <a:r>
                        <a:rPr lang="en-US" sz="1600" b="1" dirty="0">
                          <a:solidFill>
                            <a:srgbClr val="F2F2F2"/>
                          </a:solidFill>
                          <a:latin typeface="Arial"/>
                          <a:ea typeface="Arial"/>
                          <a:cs typeface="Arial"/>
                        </a:rPr>
                        <a:t>Context</a:t>
                      </a:r>
                    </a:p>
                  </a:txBody>
                  <a:tcPr marL="45720" marR="45720" marT="45720" marB="45720" anchor="ctr">
                    <a:lnL>
                      <a:noFill/>
                    </a:lnL>
                    <a:lnR>
                      <a:noFill/>
                    </a:lnR>
                    <a:lnT>
                      <a:noFill/>
                    </a:lnT>
                    <a:lnB w="12700" cap="flat" cmpd="sng" algn="ctr">
                      <a:solidFill>
                        <a:srgbClr val="F2F2F2"/>
                      </a:solidFill>
                      <a:prstDash val="solid"/>
                    </a:lnB>
                    <a:noFill/>
                  </a:tcPr>
                </a:tc>
              </a:tr>
              <a:tr h="371246">
                <a:tc>
                  <a:txBody>
                    <a:bodyPr anchor="ctr"/>
                    <a:lstStyle/>
                    <a:p>
                      <a:pPr algn="l" marL="285750" indent="-285750">
                        <a:lnSpc>
                          <a:spcPct val="100000"/>
                        </a:lnSpc>
                        <a:buFont typeface="Arial" panose="020B0604020202020204" pitchFamily="34" charset="0"/>
                        <a:buChar char="•"/>
                      </a:pPr>
                      <a:r>
                        <a:rPr lang="en-US" sz="1400" dirty="0">
                          <a:solidFill>
                            <a:srgbClr val="F2F2F2"/>
                          </a:solidFill>
                          <a:latin typeface="Arial"/>
                          <a:ea typeface="Arial"/>
                          <a:cs typeface="Arial"/>
                        </a:rPr>
                        <a:t>These materials provide foundational analysis to inform two key decisions:</a:t>
                      </a:r>
                    </a:p>
                    <a:p>
                      <a:pPr algn="l" marL="461963" indent="-174625">
                        <a:lnSpc>
                          <a:spcPct val="100000"/>
                        </a:lnSpc>
                        <a:buFont typeface="Arial" panose="020B0604020202020204" pitchFamily="34" charset="0"/>
                        <a:buChar char="-"/>
                      </a:pPr>
                      <a:r>
                        <a:rPr lang="en-US" sz="1400" dirty="0">
                          <a:solidFill>
                            <a:srgbClr val="F2F2F2"/>
                          </a:solidFill>
                          <a:latin typeface="Arial"/>
                          <a:ea typeface="Arial"/>
                          <a:cs typeface="Arial"/>
                        </a:rPr>
                        <a:t>Determine where Saronic should play in the maritime value chain</a:t>
                      </a:r>
                    </a:p>
                    <a:p>
                      <a:pPr algn="l" marL="461963" indent="-174625">
                        <a:lnSpc>
                          <a:spcPct val="100000"/>
                        </a:lnSpc>
                        <a:buFont typeface="Arial" panose="020B0604020202020204" pitchFamily="34" charset="0"/>
                        <a:buChar char="-"/>
                      </a:pPr>
                      <a:r>
                        <a:rPr lang="en-US" sz="1400" dirty="0">
                          <a:solidFill>
                            <a:srgbClr val="F2F2F2"/>
                          </a:solidFill>
                          <a:latin typeface="Arial"/>
                          <a:ea typeface="Arial"/>
                          <a:cs typeface="Arial"/>
                        </a:rPr>
                        <a:t>Understand how Saronic will win</a:t>
                      </a:r>
                    </a:p>
                    <a:p>
                      <a:pPr algn="l" marL="285750" indent="-285750">
                        <a:lnSpc>
                          <a:spcPct val="100000"/>
                        </a:lnSpc>
                        <a:buFont typeface="Arial" panose="020B0604020202020204" pitchFamily="34" charset="0"/>
                        <a:buChar char="•"/>
                      </a:pPr>
                      <a:r>
                        <a:rPr lang="en-US" sz="1400" dirty="0">
                          <a:solidFill>
                            <a:srgbClr val="F2F2F2"/>
                          </a:solidFill>
                          <a:latin typeface="Arial"/>
                          <a:ea typeface="Arial"/>
                          <a:cs typeface="Arial"/>
                        </a:rPr>
                        <a:t>Analysis leverages data providers (S&amp;P, Clarksons), US Government data and publications (EIA, FRED, GAO, MARAD, USACE), market participants (Saronic experts), public filings, published rate / tariff sheets, and other open-source research</a:t>
                      </a:r>
                    </a:p>
                  </a:txBody>
                  <a:tcPr marL="45720" marR="45720" marT="45720" marB="45720" anchor="ctr">
                    <a:lnL>
                      <a:noFill/>
                    </a:lnL>
                    <a:lnR>
                      <a:noFill/>
                    </a:lnR>
                    <a:lnT w="12700" cap="flat" cmpd="sng" algn="ctr">
                      <a:solidFill>
                        <a:srgbClr val="F2F2F2"/>
                      </a:solidFill>
                      <a:prstDash val="solid"/>
                    </a:lnT>
                    <a:lnB>
                      <a:noFill/>
                    </a:lnB>
                    <a:noFill/>
                  </a:tcPr>
                </a:tc>
              </a:tr>
            </a:tbl>
          </a:graphicData>
        </a:graphic>
      </p:graphicFrame>
      <p:graphicFrame>
        <p:nvGraphicFramePr>
          <p:cNvPr id="101" name="Table 9"/>
          <p:cNvGraphicFramePr>
            <a:graphicFrameLocks noGrp="1"/>
          </p:cNvGraphicFramePr>
          <p:nvPr/>
        </p:nvGraphicFramePr>
        <p:xfrm>
          <a:off x="6409030" y="1511503"/>
          <a:ext cx="5212080" cy="4134917"/>
        </p:xfrm>
        <a:graphic>
          <a:graphicData uri="http://schemas.openxmlformats.org/drawingml/2006/table">
            <a:tbl>
              <a:tblPr firstRow="1" firstCol="1" bandRow="0">
                <a:tableStyleId>{2D5ABB26-0587-4C30-8999-92F81FD0307C}</a:tableStyleId>
              </a:tblPr>
              <a:tblGrid>
                <a:gridCol w="5212080"/>
              </a:tblGrid>
              <a:tr h="371246">
                <a:tc>
                  <a:txBody>
                    <a:bodyPr anchor="ctr"/>
                    <a:lstStyle/>
                    <a:p>
                      <a:pPr algn="l">
                        <a:lnSpc>
                          <a:spcPct val="100000"/>
                        </a:lnSpc>
                      </a:pPr>
                      <a:r>
                        <a:rPr lang="en-US" sz="1600" b="1" dirty="0">
                          <a:solidFill>
                            <a:srgbClr val="000000"/>
                          </a:solidFill>
                          <a:latin typeface="Arial"/>
                          <a:ea typeface="Arial"/>
                          <a:cs typeface="Arial"/>
                        </a:rPr>
                        <a:t>Objectives of this document</a:t>
                      </a:r>
                    </a:p>
                  </a:txBody>
                  <a:tcPr marL="45720" marR="45720" marT="45720" marB="45720" anchor="ctr">
                    <a:lnL>
                      <a:noFill/>
                    </a:lnL>
                    <a:lnR>
                      <a:noFill/>
                    </a:lnR>
                    <a:lnT>
                      <a:noFill/>
                    </a:lnT>
                    <a:lnB w="12700" cap="flat" cmpd="sng" algn="ctr">
                      <a:solidFill>
                        <a:srgbClr val="162029"/>
                      </a:solidFill>
                      <a:prstDash val="solid"/>
                    </a:lnB>
                    <a:noFill/>
                  </a:tcPr>
                </a:tc>
              </a:tr>
              <a:tr h="371246">
                <a:tc>
                  <a:txBody>
                    <a:bodyPr anchor="ctr"/>
                    <a:lstStyle/>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Define the commercial strategy effort, including objectives, key questions, focus areas, and timeline</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Introduce and synthesize current economics for relevant archetypes across the maritime value chain</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Assess US built vessel demand under different industrial policy scenarios</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Compare US build cost competitiveness vs. Asian shipyards </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Compare US-flagged and foreign-flagged vessel costs</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Project BuildCo (Port Alpha) and OpCo financials</a:t>
                      </a:r>
                    </a:p>
                    <a:p>
                      <a:pPr algn="l" marL="285750" indent="-285750">
                        <a:lnSpc>
                          <a:spcPct val="100000"/>
                        </a:lnSpc>
                        <a:buFont typeface="Arial" panose="020B0604020202020204" pitchFamily="34" charset="0"/>
                        <a:buChar char="•"/>
                      </a:pPr>
                      <a:r>
                        <a:rPr lang="en-US" sz="1400" dirty="0">
                          <a:solidFill>
                            <a:srgbClr val="000000"/>
                          </a:solidFill>
                          <a:latin typeface="Arial"/>
                          <a:ea typeface="Arial"/>
                          <a:cs typeface="Arial"/>
                        </a:rPr>
                        <a:t>Delineate hypotheses for impact of automation on opex/fuel</a:t>
                      </a:r>
                    </a:p>
                    <a:p>
                      <a:pPr algn="l" marL="285750" indent="-285750">
                        <a:lnSpc>
                          <a:spcPct val="100000"/>
                        </a:lnSpc>
                        <a:buFont typeface="Arial" panose="020B0604020202020204" pitchFamily="34" charset="0"/>
                        <a:buChar char="•"/>
                      </a:pPr>
                      <a:r>
                        <a:rPr lang="en-US" sz="1400" i="1" dirty="0">
                          <a:solidFill>
                            <a:srgbClr val="000000"/>
                          </a:solidFill>
                          <a:latin typeface="Arial"/>
                          <a:ea typeface="Arial"/>
                          <a:cs typeface="Arial"/>
                        </a:rPr>
                        <a:t>(Ongoing effort) </a:t>
                      </a:r>
                      <a:r>
                        <a:rPr lang="en-US" sz="1400" dirty="0">
                          <a:solidFill>
                            <a:srgbClr val="000000"/>
                          </a:solidFill>
                          <a:latin typeface="Arial"/>
                          <a:ea typeface="Arial"/>
                          <a:cs typeface="Arial"/>
                        </a:rPr>
                        <a:t>Determine attractive carrier entry points</a:t>
                      </a:r>
                    </a:p>
                    <a:p>
                      <a:pPr algn="l" marL="285750" indent="-285750">
                        <a:lnSpc>
                          <a:spcPct val="100000"/>
                        </a:lnSpc>
                        <a:buFont typeface="Arial" panose="020B0604020202020204" pitchFamily="34" charset="0"/>
                        <a:buChar char="•"/>
                      </a:pPr>
                      <a:r>
                        <a:rPr lang="en-US" sz="1400" i="1" dirty="0">
                          <a:solidFill>
                            <a:srgbClr val="000000"/>
                          </a:solidFill>
                          <a:latin typeface="Arial"/>
                          <a:ea typeface="Arial"/>
                          <a:cs typeface="Arial"/>
                        </a:rPr>
                        <a:t>(Ongoing effort)</a:t>
                      </a:r>
                      <a:r>
                        <a:rPr lang="en-US" sz="1400" dirty="0">
                          <a:solidFill>
                            <a:srgbClr val="000000"/>
                          </a:solidFill>
                          <a:latin typeface="Arial"/>
                          <a:ea typeface="Arial"/>
                          <a:cs typeface="Arial"/>
                        </a:rPr>
                        <a:t> Assess attractiveness of alternative service models unlocked by automation</a:t>
                      </a:r>
                    </a:p>
                    <a:p>
                      <a:pPr algn="l" marL="285750" indent="-285750">
                        <a:lnSpc>
                          <a:spcPct val="100000"/>
                        </a:lnSpc>
                        <a:buFont typeface="Arial" panose="020B0604020202020204" pitchFamily="34" charset="0"/>
                        <a:buChar char="•"/>
                      </a:pPr>
                      <a:r>
                        <a:rPr lang="en-US" sz="1400" i="1" dirty="0">
                          <a:solidFill>
                            <a:srgbClr val="000000"/>
                          </a:solidFill>
                          <a:latin typeface="Arial"/>
                          <a:ea typeface="Arial"/>
                          <a:cs typeface="Arial"/>
                        </a:rPr>
                        <a:t>(Ongoing effort)</a:t>
                      </a:r>
                      <a:r>
                        <a:rPr lang="en-US" sz="1400" dirty="0">
                          <a:solidFill>
                            <a:srgbClr val="000000"/>
                          </a:solidFill>
                          <a:latin typeface="Arial"/>
                          <a:ea typeface="Arial"/>
                          <a:cs typeface="Arial"/>
                        </a:rPr>
                        <a:t> Project ComboCo financials</a:t>
                      </a:r>
                    </a:p>
                  </a:txBody>
                  <a:tcPr marL="45720" marR="45720" marT="45720" marB="45720" anchor="ctr">
                    <a:lnL>
                      <a:noFill/>
                    </a:lnL>
                    <a:lnR>
                      <a:noFill/>
                    </a:lnR>
                    <a:lnT w="12700" cap="flat" cmpd="sng" algn="ctr">
                      <a:solidFill>
                        <a:srgbClr val="162029"/>
                      </a:solidFill>
                      <a:prstDash val="solid"/>
                    </a:lnT>
                    <a:lnB>
                      <a:noFill/>
                    </a:lnB>
                    <a:noFill/>
                  </a:tcPr>
                </a:tc>
              </a:tr>
            </a:tbl>
          </a:graphicData>
        </a:graphic>
      </p:graphicFrame>
      <p:sp>
        <p:nvSpPr>
          <p:cNvPr id="102" name="Rectangle 2"/>
          <p:cNvSpPr txBox="1"/>
          <p:nvPr/>
        </p:nvSpPr>
        <p:spPr>
          <a:xfrm>
            <a:off x="6409030" y="5875020"/>
            <a:ext cx="5212080" cy="482803"/>
          </a:xfrm>
          <a:prstGeom prst="rect">
            <a:avLst/>
          </a:prstGeom>
          <a:solidFill>
            <a:srgbClr val="FFFFCC"/>
          </a:solidFill>
          <a:ln w="19050">
            <a:solidFill>
              <a:srgbClr val="121415"/>
            </a:solidFill>
          </a:ln>
        </p:spPr>
        <p:txBody>
          <a:bodyPr wrap="square" anchor="ctr" lIns="91440" tIns="45720" rIns="91440" bIns="45720"/>
          <a:lstStyle/>
          <a:p>
            <a:pPr algn="ctr">
              <a:lnSpc>
                <a:spcPct val="100000"/>
              </a:lnSpc>
              <a:buNone/>
            </a:pPr>
            <a:r>
              <a:rPr lang="en-US" sz="1200" b="1" i="1" dirty="0">
                <a:solidFill>
                  <a:srgbClr val="000000"/>
                </a:solidFill>
                <a:latin typeface="Arial"/>
                <a:ea typeface="Arial"/>
                <a:cs typeface="Arial"/>
              </a:rPr>
              <a:t>Answers shown are preliminary; fidelity and insights will increase with further analysis, additional data, and expert input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Table 8"/>
          <p:cNvGraphicFramePr>
            <a:graphicFrameLocks noGrp="1"/>
          </p:cNvGraphicFramePr>
          <p:nvPr/>
        </p:nvGraphicFramePr>
        <p:xfrm>
          <a:off x="452628" y="1363370"/>
          <a:ext cx="5486400" cy="3017520"/>
        </p:xfrm>
        <a:graphic>
          <a:graphicData uri="http://schemas.openxmlformats.org/drawingml/2006/table">
            <a:tbl>
              <a:tblPr firstRow="1" firstCol="1" bandRow="0">
                <a:tableStyleId>{2D5ABB26-0587-4C30-8999-92F81FD0307C}</a:tableStyleId>
              </a:tblPr>
              <a:tblGrid>
                <a:gridCol w="1554480"/>
                <a:gridCol w="3931920"/>
              </a:tblGrid>
              <a:tr h="0">
                <a:tc gridSpan="2">
                  <a:txBody>
                    <a:bodyPr anchor="ctr"/>
                    <a:lstStyle/>
                    <a:p>
                      <a:pPr algn="ctr">
                        <a:lnSpc>
                          <a:spcPct val="100000"/>
                        </a:lnSpc>
                      </a:pPr>
                      <a:r>
                        <a:rPr lang="en-US" sz="1200" b="1" dirty="0">
                          <a:solidFill>
                            <a:srgbClr val="000000"/>
                          </a:solidFill>
                          <a:latin typeface="Arial"/>
                          <a:ea typeface="Arial"/>
                          <a:cs typeface="Arial"/>
                        </a:rPr>
                        <a:t>Industrial Policy Terms</a:t>
                      </a:r>
                    </a:p>
                  </a:txBody>
                  <a:tcPr marL="45720" marR="45720" marT="45720" marB="45720" anchor="ctr">
                    <a:lnL>
                      <a:noFill/>
                    </a:lnL>
                    <a:lnR>
                      <a:noFill/>
                    </a:lnR>
                    <a:lnT>
                      <a:noFill/>
                    </a:lnT>
                    <a:lnB>
                      <a:noFill/>
                    </a:lnB>
                    <a:solidFill>
                      <a:srgbClr val="D9D9D9"/>
                    </a:solidFill>
                  </a:tcPr>
                </a:tc>
                <a:tc hMerge="1">
                  <a:txBody>
                    <a:bodyPr/>
                    <a:lstStyle/>
                    <a:p>
                      <a:endParaRPr lang="en-US"/>
                    </a:p>
                  </a:txBody>
                  <a:tcPr/>
                </a:tc>
              </a:tr>
              <a:tr h="0">
                <a:tc>
                  <a:txBody>
                    <a:bodyPr anchor="ctr"/>
                    <a:lstStyle/>
                    <a:p>
                      <a:pPr algn="l">
                        <a:lnSpc>
                          <a:spcPct val="100000"/>
                        </a:lnSpc>
                      </a:pPr>
                      <a:r>
                        <a:rPr lang="en-US" sz="1200" b="1" dirty="0">
                          <a:solidFill>
                            <a:srgbClr val="000000"/>
                          </a:solidFill>
                          <a:latin typeface="Arial"/>
                          <a:ea typeface="Arial"/>
                          <a:cs typeface="Arial"/>
                        </a:rPr>
                        <a:t>Abbreviation</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l">
                        <a:lnSpc>
                          <a:spcPct val="100000"/>
                        </a:lnSpc>
                      </a:pPr>
                      <a:r>
                        <a:rPr lang="en-US" sz="1200" b="1" dirty="0">
                          <a:solidFill>
                            <a:srgbClr val="000000"/>
                          </a:solidFill>
                          <a:latin typeface="Arial"/>
                          <a:ea typeface="Arial"/>
                          <a:cs typeface="Arial"/>
                        </a:rPr>
                        <a:t>Full Name</a:t>
                      </a:r>
                    </a:p>
                  </a:txBody>
                  <a:tcPr marL="45720" marR="45720" marT="45720" marB="45720" anchor="ctr">
                    <a:lnL>
                      <a:noFill/>
                    </a:lnL>
                    <a:lnR>
                      <a:noFill/>
                    </a:lnR>
                    <a:lnT>
                      <a:noFill/>
                    </a:lnT>
                    <a:lnB w="12700" cap="flat" cmpd="sng" algn="ctr">
                      <a:solidFill>
                        <a:srgbClr val="00000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ITC</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Investment Tax Credit</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MAP</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Maritime Action Plan</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MSP</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Maritime Security Program</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MSTF</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Maritime Security Trust Fund</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NDRF</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National Defense Reserve Fleet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OBBBA</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One Big Beautiful Bill Act (Reconciliation)</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SCF</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Strategic Commercial Fleet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TSP</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Tanker Security Program</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USTR</a:t>
                      </a:r>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l">
                        <a:lnSpc>
                          <a:spcPct val="100000"/>
                        </a:lnSpc>
                      </a:pPr>
                      <a:r>
                        <a:rPr lang="en-US" sz="1200" dirty="0">
                          <a:solidFill>
                            <a:srgbClr val="000000"/>
                          </a:solidFill>
                          <a:latin typeface="Arial"/>
                          <a:ea typeface="Arial"/>
                          <a:cs typeface="Arial"/>
                        </a:rPr>
                        <a:t>US Trade Representative</a:t>
                      </a:r>
                    </a:p>
                  </a:txBody>
                  <a:tcPr marL="45720" marR="45720" marT="45720" marB="45720" anchor="ctr">
                    <a:lnL>
                      <a:noFill/>
                    </a:lnL>
                    <a:lnR>
                      <a:noFill/>
                    </a:lnR>
                    <a:lnT w="6350" cap="flat" cmpd="sng" algn="ctr">
                      <a:solidFill>
                        <a:srgbClr val="808080"/>
                      </a:solidFill>
                      <a:prstDash val="solid"/>
                    </a:lnT>
                    <a:lnB>
                      <a:noFill/>
                    </a:lnB>
                    <a:noFill/>
                  </a:tcPr>
                </a:tc>
              </a:tr>
            </a:tbl>
          </a:graphicData>
        </a:graphic>
      </p:graphicFrame>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For Reference | Key Terms Glossary.</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Strategy</a:t>
            </a:r>
            <a:r>
              <a:rPr lang="en-US" sz="1000" kern="1200" dirty="0">
                <a:solidFill>
                  <a:srgbClr val="44505C"/>
                </a:solidFill>
                <a:latin typeface="Arial"/>
                <a:ea typeface="Arial"/>
                <a:cs typeface="Arial"/>
              </a:rPr>
              <a:t> / Research Overview</a:t>
            </a:r>
          </a:p>
        </p:txBody>
      </p:sp>
      <p:graphicFrame>
        <p:nvGraphicFramePr>
          <p:cNvPr id="101" name="Table 10"/>
          <p:cNvGraphicFramePr>
            <a:graphicFrameLocks noGrp="1"/>
          </p:cNvGraphicFramePr>
          <p:nvPr/>
        </p:nvGraphicFramePr>
        <p:xfrm>
          <a:off x="6249924" y="1363370"/>
          <a:ext cx="5486400" cy="3840480"/>
        </p:xfrm>
        <a:graphic>
          <a:graphicData uri="http://schemas.openxmlformats.org/drawingml/2006/table">
            <a:tbl>
              <a:tblPr firstRow="1" firstCol="1" bandRow="0">
                <a:tableStyleId>{2D5ABB26-0587-4C30-8999-92F81FD0307C}</a:tableStyleId>
              </a:tblPr>
              <a:tblGrid>
                <a:gridCol w="1554480"/>
                <a:gridCol w="3931920"/>
              </a:tblGrid>
              <a:tr h="195682">
                <a:tc gridSpan="2">
                  <a:txBody>
                    <a:bodyPr anchor="ctr"/>
                    <a:lstStyle/>
                    <a:p>
                      <a:pPr algn="ctr">
                        <a:lnSpc>
                          <a:spcPct val="100000"/>
                        </a:lnSpc>
                      </a:pPr>
                      <a:r>
                        <a:rPr lang="en-US" sz="1200" b="1" dirty="0">
                          <a:solidFill>
                            <a:srgbClr val="000000"/>
                          </a:solidFill>
                          <a:latin typeface="Arial"/>
                          <a:ea typeface="Arial"/>
                          <a:cs typeface="Arial"/>
                        </a:rPr>
                        <a:t>Market Terms</a:t>
                      </a:r>
                    </a:p>
                  </a:txBody>
                  <a:tcPr marL="45720" marR="45720" marT="45720" marB="45720" anchor="ctr">
                    <a:lnL>
                      <a:noFill/>
                    </a:lnL>
                    <a:lnR>
                      <a:noFill/>
                    </a:lnR>
                    <a:lnT>
                      <a:noFill/>
                    </a:lnT>
                    <a:lnB>
                      <a:noFill/>
                    </a:lnB>
                    <a:solidFill>
                      <a:srgbClr val="BFBFBF"/>
                    </a:solidFill>
                  </a:tcPr>
                </a:tc>
                <a:tc hMerge="1">
                  <a:txBody>
                    <a:bodyPr/>
                    <a:lstStyle/>
                    <a:p>
                      <a:endParaRPr lang="en-US"/>
                    </a:p>
                  </a:txBody>
                  <a:tcPr/>
                </a:tc>
              </a:tr>
              <a:tr h="195682">
                <a:tc>
                  <a:txBody>
                    <a:bodyPr anchor="ctr"/>
                    <a:lstStyle/>
                    <a:p>
                      <a:pPr algn="l">
                        <a:lnSpc>
                          <a:spcPct val="100000"/>
                        </a:lnSpc>
                      </a:pPr>
                      <a:r>
                        <a:rPr lang="en-US" sz="1200" b="1" dirty="0">
                          <a:solidFill>
                            <a:srgbClr val="000000"/>
                          </a:solidFill>
                          <a:latin typeface="Arial"/>
                          <a:ea typeface="Arial"/>
                          <a:cs typeface="Arial"/>
                        </a:rPr>
                        <a:t>Abbreviation</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l">
                        <a:lnSpc>
                          <a:spcPct val="100000"/>
                        </a:lnSpc>
                      </a:pPr>
                      <a:r>
                        <a:rPr lang="en-US" sz="1200" b="1" dirty="0">
                          <a:solidFill>
                            <a:srgbClr val="000000"/>
                          </a:solidFill>
                          <a:latin typeface="Arial"/>
                          <a:ea typeface="Arial"/>
                          <a:cs typeface="Arial"/>
                        </a:rPr>
                        <a:t>Full Name</a:t>
                      </a:r>
                    </a:p>
                  </a:txBody>
                  <a:tcPr marL="45720" marR="45720" marT="45720" marB="45720" anchor="ctr">
                    <a:lnL>
                      <a:noFill/>
                    </a:lnL>
                    <a:lnR>
                      <a:noFill/>
                    </a:lnR>
                    <a:lnT>
                      <a:noFill/>
                    </a:lnT>
                    <a:lnB w="12700" cap="flat" cmpd="sng" algn="ctr">
                      <a:solidFill>
                        <a:srgbClr val="00000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CGT</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Compensated Gross Ton</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DWT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Deadweight Ton</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FEU</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Forty-Foot Equivalent Unit </a:t>
                      </a:r>
                      <a:r>
                        <a:rPr lang="en-US" sz="1200" i="1" dirty="0">
                          <a:solidFill>
                            <a:srgbClr val="000000"/>
                          </a:solidFill>
                          <a:latin typeface="Arial"/>
                          <a:ea typeface="Arial"/>
                          <a:cs typeface="Arial"/>
                        </a:rPr>
                        <a:t>(Container)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FSV</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Fast Supply Vessel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GT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Gross Ton</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OSV</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Offshore Support Vessel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PSV</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Platform Supply Vessel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RORO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Roll-on, Roll-off ship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TEU</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200" dirty="0">
                          <a:solidFill>
                            <a:srgbClr val="000000"/>
                          </a:solidFill>
                          <a:latin typeface="Arial"/>
                          <a:ea typeface="Arial"/>
                          <a:cs typeface="Arial"/>
                        </a:rPr>
                        <a:t>Twenty-Foot Equivalent Unit </a:t>
                      </a:r>
                      <a:r>
                        <a:rPr lang="en-US" sz="1200" i="1" dirty="0">
                          <a:solidFill>
                            <a:srgbClr val="000000"/>
                          </a:solidFill>
                          <a:latin typeface="Arial"/>
                          <a:ea typeface="Arial"/>
                          <a:cs typeface="Arial"/>
                        </a:rPr>
                        <a:t>(Container)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THC</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000000"/>
                          </a:solidFill>
                          <a:latin typeface="Arial"/>
                          <a:ea typeface="Arial"/>
                          <a:cs typeface="Arial"/>
                        </a:rPr>
                        <a:t>Terminal Handling Charges </a:t>
                      </a:r>
                      <a:r>
                        <a:rPr lang="en-US" sz="1200" i="1" dirty="0">
                          <a:solidFill>
                            <a:srgbClr val="000000"/>
                          </a:solidFill>
                          <a:latin typeface="Arial"/>
                          <a:ea typeface="Arial"/>
                          <a:cs typeface="Arial"/>
                        </a:rPr>
                        <a:t>(Incl. stevedoring)</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VOCC</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000000"/>
                          </a:solidFill>
                          <a:latin typeface="Arial"/>
                          <a:ea typeface="Arial"/>
                          <a:cs typeface="Arial"/>
                        </a:rPr>
                        <a:t>Vessel Operating Common Carriers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195682">
                <a:tc>
                  <a:txBody>
                    <a:bodyPr anchor="ctr"/>
                    <a:lstStyle/>
                    <a:p>
                      <a:pPr algn="l">
                        <a:lnSpc>
                          <a:spcPct val="100000"/>
                        </a:lnSpc>
                      </a:pPr>
                      <a:r>
                        <a:rPr lang="en-US" sz="1200" dirty="0">
                          <a:solidFill>
                            <a:srgbClr val="000000"/>
                          </a:solidFill>
                          <a:latin typeface="Arial"/>
                          <a:ea typeface="Arial"/>
                          <a:cs typeface="Arial"/>
                        </a:rPr>
                        <a:t>WTI</a:t>
                      </a:r>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l" marL="0" indent="0">
                        <a:lnSpc>
                          <a:spcPct val="100000"/>
                        </a:lnSpc>
                      </a:pPr>
                      <a:r>
                        <a:rPr lang="en-US" sz="1200" dirty="0">
                          <a:solidFill>
                            <a:srgbClr val="000000"/>
                          </a:solidFill>
                          <a:latin typeface="Arial"/>
                          <a:ea typeface="Arial"/>
                          <a:cs typeface="Arial"/>
                        </a:rPr>
                        <a:t>West Texas Intermediate </a:t>
                      </a:r>
                      <a:r>
                        <a:rPr lang="en-US" sz="1200" i="1" dirty="0">
                          <a:solidFill>
                            <a:srgbClr val="000000"/>
                          </a:solidFill>
                          <a:latin typeface="Arial"/>
                          <a:ea typeface="Arial"/>
                          <a:cs typeface="Arial"/>
                        </a:rPr>
                        <a:t>(Crude prices, $ / barrel)</a:t>
                      </a:r>
                    </a:p>
                  </a:txBody>
                  <a:tcPr marL="45720" marR="45720" marT="45720" marB="45720" anchor="ctr">
                    <a:lnL>
                      <a:noFill/>
                    </a:lnL>
                    <a:lnR>
                      <a:noFill/>
                    </a:lnR>
                    <a:lnT w="6350" cap="flat" cmpd="sng" algn="ctr">
                      <a:solidFill>
                        <a:srgbClr val="808080"/>
                      </a:solidFill>
                      <a:prstDash val="solid"/>
                    </a:lnT>
                    <a:lnB>
                      <a:noFill/>
                    </a:lnB>
                    <a:noFill/>
                  </a:tcPr>
                </a:tc>
              </a:tr>
            </a:tbl>
          </a:graphicData>
        </a:graphic>
      </p:graphicFrame>
      <p:graphicFrame>
        <p:nvGraphicFramePr>
          <p:cNvPr id="102" name="Table 6"/>
          <p:cNvGraphicFramePr>
            <a:graphicFrameLocks noGrp="1"/>
          </p:cNvGraphicFramePr>
          <p:nvPr/>
        </p:nvGraphicFramePr>
        <p:xfrm>
          <a:off x="452628" y="4573829"/>
          <a:ext cx="5486400" cy="1645920"/>
        </p:xfrm>
        <a:graphic>
          <a:graphicData uri="http://schemas.openxmlformats.org/drawingml/2006/table">
            <a:tbl>
              <a:tblPr firstRow="1" firstCol="1" bandRow="0">
                <a:tableStyleId>{2D5ABB26-0587-4C30-8999-92F81FD0307C}</a:tableStyleId>
              </a:tblPr>
              <a:tblGrid>
                <a:gridCol w="1554480"/>
                <a:gridCol w="3931920"/>
              </a:tblGrid>
              <a:tr h="0">
                <a:tc gridSpan="2">
                  <a:txBody>
                    <a:bodyPr anchor="ctr"/>
                    <a:lstStyle/>
                    <a:p>
                      <a:pPr algn="ctr">
                        <a:lnSpc>
                          <a:spcPct val="100000"/>
                        </a:lnSpc>
                      </a:pPr>
                      <a:r>
                        <a:rPr lang="en-US" sz="1200" b="1" dirty="0">
                          <a:solidFill>
                            <a:srgbClr val="FFFFFF"/>
                          </a:solidFill>
                          <a:latin typeface="Arial"/>
                          <a:ea typeface="Arial"/>
                          <a:cs typeface="Arial"/>
                        </a:rPr>
                        <a:t>Analysis Terms</a:t>
                      </a:r>
                    </a:p>
                  </a:txBody>
                  <a:tcPr marL="45720" marR="45720" marT="45720" marB="45720" anchor="ctr">
                    <a:lnL>
                      <a:noFill/>
                    </a:lnL>
                    <a:lnR>
                      <a:noFill/>
                    </a:lnR>
                    <a:lnT>
                      <a:noFill/>
                    </a:lnT>
                    <a:lnB>
                      <a:noFill/>
                    </a:lnB>
                    <a:solidFill>
                      <a:srgbClr val="447BB2"/>
                    </a:solidFill>
                  </a:tcPr>
                </a:tc>
                <a:tc hMerge="1">
                  <a:txBody>
                    <a:bodyPr/>
                    <a:lstStyle/>
                    <a:p>
                      <a:endParaRPr lang="en-US"/>
                    </a:p>
                  </a:txBody>
                  <a:tcPr/>
                </a:tc>
              </a:tr>
              <a:tr h="0">
                <a:tc>
                  <a:txBody>
                    <a:bodyPr anchor="ctr"/>
                    <a:lstStyle/>
                    <a:p>
                      <a:pPr algn="l">
                        <a:lnSpc>
                          <a:spcPct val="100000"/>
                        </a:lnSpc>
                      </a:pPr>
                      <a:r>
                        <a:rPr lang="en-US" sz="1200" b="1" dirty="0">
                          <a:solidFill>
                            <a:srgbClr val="000000"/>
                          </a:solidFill>
                          <a:latin typeface="Arial"/>
                          <a:ea typeface="Arial"/>
                          <a:cs typeface="Arial"/>
                        </a:rPr>
                        <a:t>Term</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l">
                        <a:lnSpc>
                          <a:spcPct val="100000"/>
                        </a:lnSpc>
                      </a:pPr>
                      <a:r>
                        <a:rPr lang="en-US" sz="1200" b="1" dirty="0">
                          <a:solidFill>
                            <a:srgbClr val="000000"/>
                          </a:solidFill>
                          <a:latin typeface="Arial"/>
                          <a:ea typeface="Arial"/>
                          <a:cs typeface="Arial"/>
                        </a:rPr>
                        <a:t>Definition</a:t>
                      </a:r>
                    </a:p>
                  </a:txBody>
                  <a:tcPr marL="45720" marR="45720" marT="45720" marB="45720" anchor="ctr">
                    <a:lnL>
                      <a:noFill/>
                    </a:lnL>
                    <a:lnR>
                      <a:noFill/>
                    </a:lnR>
                    <a:lnT>
                      <a:noFill/>
                    </a:lnT>
                    <a:lnB w="12700" cap="flat" cmpd="sng" algn="ctr">
                      <a:solidFill>
                        <a:srgbClr val="00000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Reference Vessel</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162029"/>
                          </a:solidFill>
                          <a:latin typeface="Arial"/>
                          <a:ea typeface="Arial"/>
                          <a:cs typeface="Arial"/>
                        </a:rPr>
                        <a:t>~900’ 3,600 TEU containership, Panamax size</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BuildCo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162029"/>
                          </a:solidFill>
                          <a:latin typeface="Arial"/>
                          <a:ea typeface="Arial"/>
                          <a:cs typeface="Arial"/>
                        </a:rPr>
                        <a:t>Port Alpha</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OpCo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200" dirty="0">
                          <a:solidFill>
                            <a:srgbClr val="162029"/>
                          </a:solidFill>
                          <a:latin typeface="Arial"/>
                          <a:ea typeface="Arial"/>
                          <a:cs typeface="Arial"/>
                        </a:rPr>
                        <a:t>Saronic as owner/operator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a:txBody>
                    <a:bodyPr anchor="ctr"/>
                    <a:lstStyle/>
                    <a:p>
                      <a:pPr algn="l">
                        <a:lnSpc>
                          <a:spcPct val="100000"/>
                        </a:lnSpc>
                      </a:pPr>
                      <a:r>
                        <a:rPr lang="en-US" sz="1200" dirty="0">
                          <a:solidFill>
                            <a:srgbClr val="000000"/>
                          </a:solidFill>
                          <a:latin typeface="Arial"/>
                          <a:ea typeface="Arial"/>
                          <a:cs typeface="Arial"/>
                        </a:rPr>
                        <a:t>ComboCo </a:t>
                      </a:r>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BuildCo</a:t>
                      </a:r>
                      <a:r>
                        <a:rPr lang="en-US" sz="1200" dirty="0">
                          <a:solidFill>
                            <a:srgbClr val="162029"/>
                          </a:solidFill>
                          <a:latin typeface="Arial"/>
                          <a:ea typeface="Arial"/>
                          <a:cs typeface="Arial"/>
                        </a:rPr>
                        <a:t> &amp; </a:t>
                      </a:r>
                      <a:r>
                        <a:rPr lang="en-US" sz="1200" dirty="0">
                          <a:solidFill>
                            <a:srgbClr val="162029"/>
                          </a:solidFill>
                          <a:latin typeface="Arial"/>
                          <a:ea typeface="Arial"/>
                          <a:cs typeface="Arial"/>
                        </a:rPr>
                        <a:t>OpCo</a:t>
                      </a:r>
                      <a:r>
                        <a:rPr lang="en-US" sz="1200" dirty="0">
                          <a:solidFill>
                            <a:srgbClr val="162029"/>
                          </a:solidFill>
                          <a:latin typeface="Arial"/>
                          <a:ea typeface="Arial"/>
                          <a:cs typeface="Arial"/>
                        </a:rPr>
                        <a:t> combined (excl. Tech/</a:t>
                      </a:r>
                      <a:r>
                        <a:rPr lang="en-US" sz="1200" dirty="0">
                          <a:solidFill>
                            <a:srgbClr val="162029"/>
                          </a:solidFill>
                          <a:latin typeface="Arial"/>
                          <a:ea typeface="Arial"/>
                          <a:cs typeface="Arial"/>
                        </a:rPr>
                        <a:t>ParentCo</a:t>
                      </a:r>
                      <a:r>
                        <a:rPr lang="en-US" sz="1200" dirty="0">
                          <a:solidFill>
                            <a:srgbClr val="162029"/>
                          </a:solidFill>
                          <a:latin typeface="Arial"/>
                          <a:ea typeface="Arial"/>
                          <a:cs typeface="Arial"/>
                        </a:rPr>
                        <a:t>)</a:t>
                      </a:r>
                    </a:p>
                  </a:txBody>
                  <a:tcPr marL="45720" marR="45720" marT="45720" marB="45720" anchor="ctr">
                    <a:lnL>
                      <a:noFill/>
                    </a:lnL>
                    <a:lnR>
                      <a:noFill/>
                    </a:lnR>
                    <a:lnT w="6350" cap="flat" cmpd="sng" algn="ctr">
                      <a:solidFill>
                        <a:srgbClr val="808080"/>
                      </a:solidFill>
                      <a:prstDash val="solid"/>
                    </a:lnT>
                    <a:lnB>
                      <a:noFill/>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Strategy</a:t>
            </a:r>
            <a:r>
              <a:rPr lang="en-US" sz="1000" kern="1200" dirty="0">
                <a:solidFill>
                  <a:srgbClr val="44505C"/>
                </a:solidFill>
                <a:latin typeface="Arial"/>
                <a:ea typeface="Arial"/>
                <a:cs typeface="Arial"/>
              </a:rPr>
              <a:t> / Research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Key Findings (1/3) | Demand, build cost, and vessel economics.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graphicFrame>
        <p:nvGraphicFramePr>
          <p:cNvPr id="100" name="Table 13"/>
          <p:cNvGraphicFramePr>
            <a:graphicFrameLocks noGrp="1"/>
          </p:cNvGraphicFramePr>
          <p:nvPr/>
        </p:nvGraphicFramePr>
        <p:xfrm>
          <a:off x="452628" y="974750"/>
          <a:ext cx="11247120" cy="5394960"/>
        </p:xfrm>
        <a:graphic>
          <a:graphicData uri="http://schemas.openxmlformats.org/drawingml/2006/table">
            <a:tbl>
              <a:tblPr firstRow="1" firstCol="1" bandRow="0">
                <a:tableStyleId>{2D5ABB26-0587-4C30-8999-92F81FD0307C}</a:tableStyleId>
              </a:tblPr>
              <a:tblGrid>
                <a:gridCol w="11247120"/>
              </a:tblGrid>
              <a:tr h="0">
                <a:tc>
                  <a:txBody>
                    <a:bodyPr anchor="ctr"/>
                    <a:lstStyle/>
                    <a:p>
                      <a:pPr algn="l" marL="227013" indent="-227013">
                        <a:lnSpc>
                          <a:spcPct val="100000"/>
                        </a:lnSpc>
                        <a:spcAft>
                          <a:spcPts val="600"/>
                        </a:spcAft>
                        <a:buAutoNum type="arabicPeriod"/>
                      </a:pPr>
                      <a:r>
                        <a:rPr lang="en-US" sz="1200" b="1" i="1" u="sng" dirty="0">
                          <a:solidFill>
                            <a:srgbClr val="1D4D68"/>
                          </a:solidFill>
                          <a:latin typeface="Arial"/>
                          <a:ea typeface="Arial"/>
                          <a:cs typeface="Arial"/>
                        </a:rPr>
                        <a:t>What is the addressable demand for US-built ships?</a:t>
                      </a:r>
                      <a:r>
                        <a:rPr lang="en-US" sz="1200" i="1" dirty="0">
                          <a:solidFill>
                            <a:srgbClr val="000000"/>
                          </a:solidFill>
                          <a:latin typeface="Arial"/>
                          <a:ea typeface="Arial"/>
                          <a:cs typeface="Arial"/>
                        </a:rPr>
                        <a:t> </a:t>
                      </a:r>
                      <a:r>
                        <a:rPr lang="en-US" sz="1200" dirty="0">
                          <a:solidFill>
                            <a:srgbClr val="000000"/>
                          </a:solidFill>
                          <a:latin typeface="Arial"/>
                          <a:ea typeface="Arial"/>
                          <a:cs typeface="Arial"/>
                        </a:rPr>
                        <a:t>We evaluated four scenarios for oceangoing commercial ships assuming Port Alpha buildout to Phase 5: (1) Jones Act status quo, (2) SHIPS Act as written, (3) SHIPS Act “Plus” with key bill revisions and expansion of existing programs, and (4) SHIPS Act “Plus” with Heritage Foundation target fleet; </a:t>
                      </a:r>
                      <a:r>
                        <a:rPr lang="en-US" sz="1200" b="1" dirty="0">
                          <a:solidFill>
                            <a:srgbClr val="000000"/>
                          </a:solidFill>
                          <a:latin typeface="Arial"/>
                          <a:ea typeface="Arial"/>
                          <a:cs typeface="Arial"/>
                        </a:rPr>
                        <a:t>these scenarios suggest path to Port Alpha Phase</a:t>
                      </a:r>
                      <a:r>
                        <a:rPr lang="en-US" sz="1200" b="1" dirty="0">
                          <a:solidFill>
                            <a:srgbClr val="FF0000"/>
                          </a:solidFill>
                          <a:latin typeface="Arial"/>
                          <a:ea typeface="Arial"/>
                          <a:cs typeface="Arial"/>
                        </a:rPr>
                        <a:t> </a:t>
                      </a:r>
                      <a:r>
                        <a:rPr lang="en-US" sz="1200" b="1" dirty="0">
                          <a:solidFill>
                            <a:srgbClr val="162029"/>
                          </a:solidFill>
                          <a:latin typeface="Arial"/>
                          <a:ea typeface="Arial"/>
                          <a:cs typeface="Arial"/>
                        </a:rPr>
                        <a:t>2+</a:t>
                      </a:r>
                      <a:r>
                        <a:rPr lang="en-US" sz="1200" b="1" dirty="0">
                          <a:solidFill>
                            <a:srgbClr val="FF0000"/>
                          </a:solidFill>
                          <a:latin typeface="Arial"/>
                          <a:ea typeface="Arial"/>
                          <a:cs typeface="Arial"/>
                        </a:rPr>
                        <a:t> </a:t>
                      </a:r>
                      <a:r>
                        <a:rPr lang="en-US" sz="1200" b="1" dirty="0">
                          <a:solidFill>
                            <a:srgbClr val="000000"/>
                          </a:solidFill>
                          <a:latin typeface="Arial"/>
                          <a:ea typeface="Arial"/>
                          <a:cs typeface="Arial"/>
                        </a:rPr>
                        <a:t>requires additional demand signals</a:t>
                      </a:r>
                    </a:p>
                    <a:p>
                      <a:pPr algn="l" marL="227013" indent="-227013">
                        <a:lnSpc>
                          <a:spcPct val="100000"/>
                        </a:lnSpc>
                        <a:spcAft>
                          <a:spcPts val="600"/>
                        </a:spcAft>
                        <a:buAutoNum type="arabicPeriod"/>
                      </a:pPr>
                      <a:r>
                        <a:rPr lang="en-US" sz="1200" b="1" i="1" u="sng" dirty="0">
                          <a:solidFill>
                            <a:srgbClr val="1D4D68"/>
                          </a:solidFill>
                          <a:latin typeface="Arial"/>
                          <a:ea typeface="Arial"/>
                          <a:cs typeface="Arial"/>
                        </a:rPr>
                        <a:t>What does demand imply for Port Alpha’s orderbook?</a:t>
                      </a:r>
                      <a:r>
                        <a:rPr lang="en-US" sz="1200" i="1" dirty="0">
                          <a:solidFill>
                            <a:srgbClr val="000000"/>
                          </a:solidFill>
                          <a:latin typeface="Arial"/>
                          <a:ea typeface="Arial"/>
                          <a:cs typeface="Arial"/>
                        </a:rPr>
                        <a:t> </a:t>
                      </a:r>
                      <a:r>
                        <a:rPr lang="en-US" sz="1200" dirty="0">
                          <a:solidFill>
                            <a:srgbClr val="000000"/>
                          </a:solidFill>
                          <a:latin typeface="Arial"/>
                          <a:ea typeface="Arial"/>
                          <a:cs typeface="Arial"/>
                        </a:rPr>
                        <a:t>’28-’38 demand as percentage of Port Alpha Phase 2 capacity </a:t>
                      </a:r>
                      <a:r>
                        <a:rPr lang="en-US" sz="1200" i="1" dirty="0">
                          <a:solidFill>
                            <a:srgbClr val="000000"/>
                          </a:solidFill>
                          <a:latin typeface="Arial"/>
                          <a:ea typeface="Arial"/>
                          <a:cs typeface="Arial"/>
                        </a:rPr>
                        <a:t>(25 deliveries / year; containerships and tankers) </a:t>
                      </a:r>
                      <a:r>
                        <a:rPr lang="en-US" sz="1200" dirty="0">
                          <a:solidFill>
                            <a:srgbClr val="000000"/>
                          </a:solidFill>
                          <a:latin typeface="Arial"/>
                          <a:ea typeface="Arial"/>
                          <a:cs typeface="Arial"/>
                        </a:rPr>
                        <a:t>by scenario:</a:t>
                      </a:r>
                    </a:p>
                    <a:p>
                      <a:pPr algn="l" lvl="1" marL="342900" indent="-117475">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(1) Status Quo accounts for an avg. of ~5% of capacity; </a:t>
                      </a:r>
                      <a:r>
                        <a:rPr lang="en-US" sz="1200" dirty="0">
                          <a:solidFill>
                            <a:srgbClr val="000000"/>
                          </a:solidFill>
                          <a:latin typeface="Arial"/>
                          <a:ea typeface="Arial"/>
                          <a:cs typeface="Arial"/>
                        </a:rPr>
                        <a:t>outlook contingent upon Jones Act fleet recapitalization</a:t>
                      </a:r>
                    </a:p>
                    <a:p>
                      <a:pPr algn="l" lvl="1" marL="342900" indent="-117475">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(2) SHIPS Act as written accounts for ~45%;</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requires passage of both SHIPS Act and Building Ships in America Act</a:t>
                      </a:r>
                    </a:p>
                    <a:p>
                      <a:pPr algn="l" lvl="1" marL="342900" indent="-117475">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(3) SHIPS Act “Plus”</a:t>
                      </a:r>
                      <a:r>
                        <a:rPr lang="en-US" sz="1200" b="1" dirty="0">
                          <a:solidFill>
                            <a:srgbClr val="000000"/>
                          </a:solidFill>
                          <a:latin typeface="Arial"/>
                          <a:ea typeface="Arial"/>
                          <a:cs typeface="Arial"/>
                        </a:rPr>
                        <a:t>1</a:t>
                      </a:r>
                      <a:r>
                        <a:rPr lang="en-US" sz="1200" b="1" dirty="0">
                          <a:solidFill>
                            <a:srgbClr val="000000"/>
                          </a:solidFill>
                          <a:latin typeface="Arial"/>
                          <a:ea typeface="Arial"/>
                          <a:cs typeface="Arial"/>
                        </a:rPr>
                        <a:t> accounts for ~95%, </a:t>
                      </a:r>
                      <a:r>
                        <a:rPr lang="en-US" sz="1200" dirty="0">
                          <a:solidFill>
                            <a:srgbClr val="000000"/>
                          </a:solidFill>
                          <a:latin typeface="Arial"/>
                          <a:ea typeface="Arial"/>
                          <a:cs typeface="Arial"/>
                        </a:rPr>
                        <a:t>with demand</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declining by the mid-’30s and remaining low through ‘50; requires </a:t>
                      </a:r>
                      <a:r>
                        <a:rPr lang="en-US" sz="1200" b="1" dirty="0">
                          <a:solidFill>
                            <a:srgbClr val="000000"/>
                          </a:solidFill>
                          <a:latin typeface="Arial"/>
                          <a:ea typeface="Arial"/>
                          <a:cs typeface="Arial"/>
                        </a:rPr>
                        <a:t>USG to subsidize full opex and D&amp;A differential </a:t>
                      </a:r>
                      <a:r>
                        <a:rPr lang="en-US" sz="1200" dirty="0">
                          <a:solidFill>
                            <a:srgbClr val="000000"/>
                          </a:solidFill>
                          <a:latin typeface="Arial"/>
                          <a:ea typeface="Arial"/>
                          <a:cs typeface="Arial"/>
                        </a:rPr>
                        <a:t>vs. foreign ships, supported by </a:t>
                      </a:r>
                      <a:r>
                        <a:rPr lang="en-US" sz="1200" b="1" dirty="0">
                          <a:solidFill>
                            <a:srgbClr val="000000"/>
                          </a:solidFill>
                          <a:latin typeface="Arial"/>
                          <a:ea typeface="Arial"/>
                          <a:cs typeface="Arial"/>
                        </a:rPr>
                        <a:t>universal cargo fees </a:t>
                      </a:r>
                      <a:r>
                        <a:rPr lang="en-US" sz="1200" dirty="0">
                          <a:solidFill>
                            <a:srgbClr val="000000"/>
                          </a:solidFill>
                          <a:latin typeface="Arial"/>
                          <a:ea typeface="Arial"/>
                          <a:cs typeface="Arial"/>
                        </a:rPr>
                        <a:t>($0.01+ per kg imported by foreign-built ships) and other revisions to pending legislation </a:t>
                      </a:r>
                    </a:p>
                    <a:p>
                      <a:pPr algn="l" lvl="2" marL="457200" indent="-114300">
                        <a:lnSpc>
                          <a:spcPct val="100000"/>
                        </a:lnSpc>
                        <a:spcAft>
                          <a:spcPts val="600"/>
                        </a:spcAft>
                        <a:buFont typeface="Arial" panose="020B0604020202020204" pitchFamily="34" charset="0"/>
                        <a:buChar char="−"/>
                      </a:pPr>
                      <a:r>
                        <a:rPr lang="en-US" sz="1200" b="1" i="1" u="sng" dirty="0">
                          <a:solidFill>
                            <a:srgbClr val="000000"/>
                          </a:solidFill>
                          <a:latin typeface="Arial"/>
                          <a:ea typeface="Arial"/>
                          <a:cs typeface="Arial"/>
                        </a:rPr>
                        <a:t>NOTE:</a:t>
                      </a:r>
                      <a:r>
                        <a:rPr lang="en-US" sz="1200" b="1" i="1" dirty="0">
                          <a:solidFill>
                            <a:srgbClr val="000000"/>
                          </a:solidFill>
                          <a:latin typeface="Arial"/>
                          <a:ea typeface="Arial"/>
                          <a:cs typeface="Arial"/>
                        </a:rPr>
                        <a:t> Headwinds are currently impacting the legislative path for the SHIPS Act</a:t>
                      </a:r>
                    </a:p>
                    <a:p>
                      <a:pPr algn="l" lvl="1" marL="342900" indent="-117475">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(4) SHIPS Act “Plus” with Heritage accounts for ~230%</a:t>
                      </a:r>
                      <a:r>
                        <a:rPr lang="en-US" sz="1200" dirty="0">
                          <a:solidFill>
                            <a:srgbClr val="000000"/>
                          </a:solidFill>
                          <a:latin typeface="Arial"/>
                          <a:ea typeface="Arial"/>
                          <a:cs typeface="Arial"/>
                        </a:rPr>
                        <a:t>, with demand declining by the early ‘40s and remaining low through 50; </a:t>
                      </a:r>
                      <a:r>
                        <a:rPr lang="en-US" sz="1200" dirty="0">
                          <a:solidFill>
                            <a:srgbClr val="000000"/>
                          </a:solidFill>
                          <a:latin typeface="Arial"/>
                          <a:ea typeface="Arial"/>
                          <a:cs typeface="Arial"/>
                        </a:rPr>
                        <a:t>requires </a:t>
                      </a:r>
                      <a:r>
                        <a:rPr lang="en-US" sz="1200" b="1" dirty="0">
                          <a:solidFill>
                            <a:srgbClr val="000000"/>
                          </a:solidFill>
                          <a:latin typeface="Arial"/>
                          <a:ea typeface="Arial"/>
                          <a:cs typeface="Arial"/>
                        </a:rPr>
                        <a:t>universal cargo fees of $0.07+ </a:t>
                      </a:r>
                      <a:r>
                        <a:rPr lang="en-US" sz="1200" dirty="0">
                          <a:solidFill>
                            <a:srgbClr val="000000"/>
                          </a:solidFill>
                          <a:latin typeface="Arial"/>
                          <a:ea typeface="Arial"/>
                          <a:cs typeface="Arial"/>
                        </a:rPr>
                        <a:t>per kg by 2050 and Maritime Security Trust Fund balance cap increase </a:t>
                      </a:r>
                    </a:p>
                    <a:p>
                      <a:pPr algn="l" lvl="2" marL="457200" indent="-114300">
                        <a:lnSpc>
                          <a:spcPct val="100000"/>
                        </a:lnSpc>
                        <a:spcAft>
                          <a:spcPts val="600"/>
                        </a:spcAft>
                        <a:buFont typeface="Arial" panose="020B0604020202020204" pitchFamily="34" charset="0"/>
                        <a:buChar char="−"/>
                      </a:pPr>
                      <a:r>
                        <a:rPr lang="en-US" sz="1200" b="1" i="1" u="sng" dirty="0">
                          <a:solidFill>
                            <a:srgbClr val="000000"/>
                          </a:solidFill>
                          <a:latin typeface="Arial"/>
                          <a:ea typeface="Arial"/>
                          <a:cs typeface="Arial"/>
                        </a:rPr>
                        <a:t>NOTE:</a:t>
                      </a:r>
                      <a:r>
                        <a:rPr lang="en-US" sz="1200" b="1" i="1" dirty="0">
                          <a:solidFill>
                            <a:srgbClr val="000000"/>
                          </a:solidFill>
                          <a:latin typeface="Arial"/>
                          <a:ea typeface="Arial"/>
                          <a:cs typeface="Arial"/>
                        </a:rPr>
                        <a:t> Pending legislation supports &lt;20% of Heritage Foundation’s target fleet; funding required likely challenges demand materialization</a:t>
                      </a:r>
                    </a:p>
                    <a:p>
                      <a:pPr algn="l" marL="227013" indent="-227013">
                        <a:lnSpc>
                          <a:spcPct val="100000"/>
                        </a:lnSpc>
                        <a:spcAft>
                          <a:spcPts val="600"/>
                        </a:spcAft>
                        <a:buAutoNum type="arabicPeriod"/>
                      </a:pPr>
                      <a:r>
                        <a:rPr lang="en-US" sz="1200" b="1" i="1" u="sng" dirty="0">
                          <a:solidFill>
                            <a:srgbClr val="1D4D68"/>
                          </a:solidFill>
                          <a:latin typeface="Arial"/>
                          <a:ea typeface="Arial"/>
                          <a:cs typeface="Arial"/>
                        </a:rPr>
                        <a:t>What are the impacts on US newbuild prices vs. those of major international shipbuilders?</a:t>
                      </a:r>
                      <a:r>
                        <a:rPr lang="en-US" sz="1200" dirty="0">
                          <a:solidFill>
                            <a:srgbClr val="000000"/>
                          </a:solidFill>
                          <a:latin typeface="Arial"/>
                          <a:ea typeface="Arial"/>
                          <a:cs typeface="Arial"/>
                        </a:rPr>
                        <a:t> </a:t>
                      </a:r>
                      <a:r>
                        <a:rPr lang="en-US" sz="1200" dirty="0">
                          <a:solidFill>
                            <a:srgbClr val="000000"/>
                          </a:solidFill>
                          <a:latin typeface="Arial"/>
                          <a:ea typeface="Arial"/>
                          <a:cs typeface="Arial"/>
                        </a:rPr>
                        <a:t>With yard automation, SHIPS Act demand, and vessel investment tax credits, expected </a:t>
                      </a:r>
                      <a:r>
                        <a:rPr lang="en-US" sz="1200" b="1" dirty="0">
                          <a:solidFill>
                            <a:srgbClr val="000000"/>
                          </a:solidFill>
                          <a:latin typeface="Arial"/>
                          <a:ea typeface="Arial"/>
                          <a:cs typeface="Arial"/>
                        </a:rPr>
                        <a:t>Port Alpha newbuild prices remain ~1.4-2.2x above </a:t>
                      </a:r>
                      <a:r>
                        <a:rPr lang="en-US" sz="1200" dirty="0">
                          <a:solidFill>
                            <a:srgbClr val="000000"/>
                          </a:solidFill>
                          <a:latin typeface="Arial"/>
                          <a:ea typeface="Arial"/>
                          <a:cs typeface="Arial"/>
                        </a:rPr>
                        <a:t>those of Asian shipyards, down from ~4-6x today</a:t>
                      </a:r>
                    </a:p>
                    <a:p>
                      <a:pPr algn="l" lvl="1" marL="342900" indent="-114300">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Government capital subsidies required </a:t>
                      </a:r>
                      <a:r>
                        <a:rPr lang="en-US" sz="1200" dirty="0">
                          <a:solidFill>
                            <a:srgbClr val="000000"/>
                          </a:solidFill>
                          <a:latin typeface="Arial"/>
                          <a:ea typeface="Arial"/>
                          <a:cs typeface="Arial"/>
                        </a:rPr>
                        <a:t>to achieve prices below Asian yards in the </a:t>
                      </a:r>
                      <a:r>
                        <a:rPr lang="en-US" sz="1200" b="1" dirty="0">
                          <a:solidFill>
                            <a:srgbClr val="000000"/>
                          </a:solidFill>
                          <a:latin typeface="Arial"/>
                          <a:ea typeface="Arial"/>
                          <a:cs typeface="Arial"/>
                        </a:rPr>
                        <a:t>absence of vessel ITCs </a:t>
                      </a:r>
                      <a:r>
                        <a:rPr lang="en-US" sz="1200" dirty="0">
                          <a:solidFill>
                            <a:srgbClr val="000000"/>
                          </a:solidFill>
                          <a:latin typeface="Arial"/>
                          <a:ea typeface="Arial"/>
                          <a:cs typeface="Arial"/>
                        </a:rPr>
                        <a:t>(US-flag &amp; foreign trade required for ITC eligibility)</a:t>
                      </a:r>
                    </a:p>
                    <a:p>
                      <a:pPr algn="l" lvl="1" marL="342900" indent="-114300">
                        <a:lnSpc>
                          <a:spcPct val="100000"/>
                        </a:lnSpc>
                        <a:spcAft>
                          <a:spcPts val="600"/>
                        </a:spcAft>
                        <a:buFont typeface="Arial" panose="020B0604020202020204" pitchFamily="34" charset="0"/>
                        <a:buChar char="•"/>
                      </a:pPr>
                      <a:r>
                        <a:rPr lang="en-US" sz="1200" b="1" dirty="0">
                          <a:solidFill>
                            <a:srgbClr val="000000"/>
                          </a:solidFill>
                          <a:latin typeface="Arial"/>
                          <a:ea typeface="Arial"/>
                          <a:cs typeface="Arial"/>
                        </a:rPr>
                        <a:t>Labor hour reduction and volume discounts primarily drive build price reductions</a:t>
                      </a:r>
                      <a:r>
                        <a:rPr lang="en-US" sz="1200" dirty="0">
                          <a:solidFill>
                            <a:srgbClr val="000000"/>
                          </a:solidFill>
                          <a:latin typeface="Arial"/>
                          <a:ea typeface="Arial"/>
                          <a:cs typeface="Arial"/>
                        </a:rPr>
                        <a:t>; shipyard ITCs may reduce prices by ~0-1% given capex scale and D&amp;A mechanics; however, Shipyard ITCs meaningfully de-risk yard capacity expansion </a:t>
                      </a:r>
                      <a:r>
                        <a:rPr lang="en-US" sz="1200" i="1" dirty="0">
                          <a:solidFill>
                            <a:srgbClr val="000000"/>
                          </a:solidFill>
                          <a:latin typeface="Arial"/>
                          <a:ea typeface="Arial"/>
                          <a:cs typeface="Arial"/>
                        </a:rPr>
                        <a:t>(discussed on subsequent page)</a:t>
                      </a:r>
                    </a:p>
                    <a:p>
                      <a:pPr algn="l" marL="227013" indent="-227013">
                        <a:lnSpc>
                          <a:spcPct val="100000"/>
                        </a:lnSpc>
                        <a:spcAft>
                          <a:spcPts val="600"/>
                        </a:spcAft>
                        <a:buAutoNum type="arabicPeriod"/>
                      </a:pPr>
                      <a:r>
                        <a:rPr lang="en-US" sz="1200" b="1" i="1" u="sng" dirty="0">
                          <a:solidFill>
                            <a:srgbClr val="1D4D68"/>
                          </a:solidFill>
                          <a:latin typeface="Arial"/>
                          <a:ea typeface="Arial"/>
                          <a:cs typeface="Arial"/>
                        </a:rPr>
                        <a:t>How do US-flagged vessel economics compare to foreign-flagged today? How do industrial policy and automation change the gap?</a:t>
                      </a:r>
                      <a:r>
                        <a:rPr lang="en-US" sz="1200" i="1" dirty="0">
                          <a:solidFill>
                            <a:srgbClr val="000000"/>
                          </a:solidFill>
                          <a:latin typeface="Arial"/>
                          <a:ea typeface="Arial"/>
                          <a:cs typeface="Arial"/>
                        </a:rPr>
                        <a:t> </a:t>
                      </a:r>
                      <a:r>
                        <a:rPr lang="en-US" sz="1200" dirty="0">
                          <a:solidFill>
                            <a:srgbClr val="000000"/>
                          </a:solidFill>
                          <a:latin typeface="Arial"/>
                          <a:ea typeface="Arial"/>
                          <a:cs typeface="Arial"/>
                        </a:rPr>
                        <a:t>(2) SHIPS </a:t>
                      </a:r>
                      <a:r>
                        <a:rPr lang="en-US" sz="1200" dirty="0">
                          <a:solidFill>
                            <a:srgbClr val="000000"/>
                          </a:solidFill>
                          <a:latin typeface="Arial"/>
                          <a:ea typeface="Arial"/>
                          <a:cs typeface="Arial"/>
                        </a:rPr>
                        <a:t>Act as written unlikely to make US-built, US-flagged vessels attractive enough to realize full potential of SCF given estimated </a:t>
                      </a:r>
                      <a:r>
                        <a:rPr lang="en-US" sz="1200" dirty="0">
                          <a:solidFill>
                            <a:srgbClr val="000000"/>
                          </a:solidFill>
                          <a:latin typeface="Arial"/>
                          <a:ea typeface="Arial"/>
                          <a:cs typeface="Arial"/>
                        </a:rPr>
                        <a:t>US opex and D&amp;A gap vs. foreign of ~$10M after subsidies and ITCs; (3) SHIPS Act “Plus” may result in US-built and flagged vessels being cheaper to own and operate</a:t>
                      </a:r>
                    </a:p>
                    <a:p>
                      <a:pPr algn="l" lvl="1" marL="339725" indent="-112713">
                        <a:lnSpc>
                          <a:spcPct val="100000"/>
                        </a:lnSpc>
                        <a:spcAft>
                          <a:spcPts val="600"/>
                        </a:spcAft>
                        <a:buFont typeface="Arial" panose="020B0604020202020204" pitchFamily="34" charset="0"/>
                        <a:buChar char="•"/>
                      </a:pPr>
                      <a:r>
                        <a:rPr lang="en-US" sz="1200" dirty="0">
                          <a:solidFill>
                            <a:srgbClr val="000000"/>
                          </a:solidFill>
                          <a:latin typeface="Arial"/>
                          <a:ea typeface="Arial"/>
                          <a:cs typeface="Arial"/>
                        </a:rPr>
                        <a:t>With automation, </a:t>
                      </a:r>
                      <a:r>
                        <a:rPr lang="en-US" sz="1200" dirty="0">
                          <a:solidFill>
                            <a:srgbClr val="000000"/>
                          </a:solidFill>
                          <a:latin typeface="Arial"/>
                          <a:ea typeface="Arial"/>
                          <a:cs typeface="Arial"/>
                        </a:rPr>
                        <a:t>US-flagged opex likely </a:t>
                      </a:r>
                      <a:r>
                        <a:rPr lang="en-US" sz="1200" b="1" dirty="0">
                          <a:solidFill>
                            <a:srgbClr val="000000"/>
                          </a:solidFill>
                          <a:latin typeface="Arial"/>
                          <a:ea typeface="Arial"/>
                          <a:cs typeface="Arial"/>
                        </a:rPr>
                        <a:t>remains more expensive than foreign-flagged </a:t>
                      </a:r>
                      <a:r>
                        <a:rPr lang="en-US" sz="1200" dirty="0">
                          <a:solidFill>
                            <a:srgbClr val="000000"/>
                          </a:solidFill>
                          <a:latin typeface="Arial"/>
                          <a:ea typeface="Arial"/>
                          <a:cs typeface="Arial"/>
                        </a:rPr>
                        <a:t>given new autonomy-related expenses offsetting reduction in other opex categories</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Saronic may see lower opex than other Jones Act players when operating autonomous vessels, with cost advantage driven by vertical integration as ComboCo </a:t>
                      </a:r>
                    </a:p>
                  </a:txBody>
                  <a:tcPr marL="41564" marR="41564" marT="45720" marB="45720" anchor="ctr">
                    <a:lnL>
                      <a:noFill/>
                    </a:lnL>
                    <a:lnR>
                      <a:noFill/>
                    </a:lnR>
                    <a:lnT>
                      <a:noFill/>
                    </a:lnT>
                    <a:lnB>
                      <a:noFill/>
                    </a:lnB>
                    <a:noFill/>
                  </a:tcPr>
                </a:tc>
              </a:tr>
            </a:tbl>
          </a:graphicData>
        </a:graphic>
      </p:graphicFrame>
      <p:sp>
        <p:nvSpPr>
          <p:cNvPr id="101" name="Rectangle 4"/>
          <p:cNvSpPr txBox="1"/>
          <p:nvPr/>
        </p:nvSpPr>
        <p:spPr>
          <a:xfrm>
            <a:off x="452628" y="6402629"/>
            <a:ext cx="4278478" cy="274320"/>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Refer to pg. 12 for full description of modifications to SHIPS Act and other relevant USG programs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Strategy</a:t>
            </a:r>
            <a:r>
              <a:rPr lang="en-US" sz="1000" kern="1200" dirty="0">
                <a:solidFill>
                  <a:srgbClr val="44505C"/>
                </a:solidFill>
                <a:latin typeface="Arial"/>
                <a:ea typeface="Arial"/>
                <a:cs typeface="Arial"/>
              </a:rPr>
              <a:t> / Research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Key Findings (2/3) | ComboCo financial outlook.</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graphicFrame>
        <p:nvGraphicFramePr>
          <p:cNvPr id="100" name="Table 8"/>
          <p:cNvGraphicFramePr>
            <a:graphicFrameLocks noGrp="1"/>
          </p:cNvGraphicFramePr>
          <p:nvPr/>
        </p:nvGraphicFramePr>
        <p:xfrm>
          <a:off x="452628" y="974750"/>
          <a:ext cx="11247120" cy="5440680"/>
        </p:xfrm>
        <a:graphic>
          <a:graphicData uri="http://schemas.openxmlformats.org/drawingml/2006/table">
            <a:tbl>
              <a:tblPr firstRow="1" firstCol="1" bandRow="0">
                <a:tableStyleId>{2D5ABB26-0587-4C30-8999-92F81FD0307C}</a:tableStyleId>
              </a:tblPr>
              <a:tblGrid>
                <a:gridCol w="11247120"/>
              </a:tblGrid>
              <a:tr h="0">
                <a:tc>
                  <a:txBody>
                    <a:bodyPr anchor="ctr"/>
                    <a:lstStyle/>
                    <a:p>
                      <a:pPr algn="l" marL="228600" indent="-228600">
                        <a:lnSpc>
                          <a:spcPct val="100000"/>
                        </a:lnSpc>
                        <a:spcBef>
                          <a:spcPts val="300"/>
                        </a:spcBef>
                        <a:spcAft>
                          <a:spcPts val="300"/>
                        </a:spcAft>
                        <a:buAutoNum type="arabicPeriod"/>
                      </a:pPr>
                      <a:r>
                        <a:rPr lang="en-US" sz="1200" b="1" i="1" u="sng" dirty="0">
                          <a:solidFill>
                            <a:srgbClr val="1D4D68"/>
                          </a:solidFill>
                          <a:latin typeface="Arial"/>
                          <a:ea typeface="Arial"/>
                          <a:cs typeface="Arial"/>
                        </a:rPr>
                        <a:t>What do these findings imply for ComboCo financials?</a:t>
                      </a:r>
                      <a:r>
                        <a:rPr lang="en-US" sz="1200" i="1" dirty="0">
                          <a:solidFill>
                            <a:srgbClr val="000000"/>
                          </a:solidFill>
                          <a:latin typeface="Arial"/>
                          <a:ea typeface="Arial"/>
                          <a:cs typeface="Arial"/>
                        </a:rPr>
                        <a:t> </a:t>
                      </a:r>
                      <a:r>
                        <a:rPr lang="en-US" sz="1200" b="1" dirty="0">
                          <a:solidFill>
                            <a:srgbClr val="000000"/>
                          </a:solidFill>
                          <a:latin typeface="Arial"/>
                          <a:ea typeface="Arial"/>
                          <a:cs typeface="Arial"/>
                        </a:rPr>
                        <a:t>Projections were created from 2026-2038 </a:t>
                      </a:r>
                      <a:r>
                        <a:rPr lang="en-US" sz="1200" dirty="0">
                          <a:solidFill>
                            <a:srgbClr val="000000"/>
                          </a:solidFill>
                          <a:latin typeface="Arial"/>
                          <a:ea typeface="Arial"/>
                          <a:cs typeface="Arial"/>
                        </a:rPr>
                        <a:t>after alignment with </a:t>
                      </a:r>
                      <a:r>
                        <a:rPr lang="en-US" sz="1200" dirty="0">
                          <a:solidFill>
                            <a:srgbClr val="000000"/>
                          </a:solidFill>
                          <a:latin typeface="Arial"/>
                          <a:ea typeface="Arial"/>
                          <a:cs typeface="Arial"/>
                        </a:rPr>
                        <a:t>Finance and Port Alpha teams on starting assumptions (i.e., initial sale price, labor hours, CAPEX, vessel profiles)</a:t>
                      </a:r>
                    </a:p>
                    <a:p>
                      <a:pPr algn="l" lvl="1" marL="342900" indent="-114300">
                        <a:lnSpc>
                          <a:spcPct val="100000"/>
                        </a:lnSpc>
                        <a:spcBef>
                          <a:spcPts val="300"/>
                        </a:spcBef>
                        <a:spcAft>
                          <a:spcPts val="300"/>
                        </a:spcAft>
                        <a:buFont typeface="Arial" panose="020B0604020202020204" pitchFamily="34" charset="0"/>
                        <a:buChar char="•"/>
                      </a:pPr>
                      <a:r>
                        <a:rPr lang="en-US" sz="1200" b="1" u="sng" dirty="0">
                          <a:solidFill>
                            <a:srgbClr val="000000"/>
                          </a:solidFill>
                          <a:latin typeface="Arial"/>
                          <a:ea typeface="Arial"/>
                          <a:cs typeface="Arial"/>
                        </a:rPr>
                        <a:t>BuildCo (i.e., Saronic):</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Port Alpha build-out modeled to Phase 2 for $3.5B total CAPEX</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Two ships were modelled </a:t>
                      </a:r>
                      <a:r>
                        <a:rPr lang="en-US" sz="1200" dirty="0">
                          <a:solidFill>
                            <a:srgbClr val="000000"/>
                          </a:solidFill>
                          <a:latin typeface="Arial"/>
                          <a:ea typeface="Arial"/>
                          <a:cs typeface="Arial"/>
                        </a:rPr>
                        <a:t>– a Panamax containership and an Aframax / Suezmax Tanker; a</a:t>
                      </a:r>
                      <a:r>
                        <a:rPr lang="en-US" sz="1200" dirty="0">
                          <a:solidFill>
                            <a:srgbClr val="000000"/>
                          </a:solidFill>
                          <a:latin typeface="Arial"/>
                          <a:ea typeface="Arial"/>
                          <a:cs typeface="Arial"/>
                        </a:rPr>
                        <a:t>ssumes</a:t>
                      </a:r>
                      <a:r>
                        <a:rPr lang="en-US" sz="1200" b="1" dirty="0">
                          <a:solidFill>
                            <a:srgbClr val="000000"/>
                          </a:solidFill>
                          <a:latin typeface="Arial"/>
                          <a:ea typeface="Arial"/>
                          <a:cs typeface="Arial"/>
                        </a:rPr>
                        <a:t> 182 containerships and 39 tankers </a:t>
                      </a:r>
                      <a:r>
                        <a:rPr lang="en-US" sz="1200" dirty="0">
                          <a:solidFill>
                            <a:srgbClr val="000000"/>
                          </a:solidFill>
                          <a:latin typeface="Arial"/>
                          <a:ea typeface="Arial"/>
                          <a:cs typeface="Arial"/>
                        </a:rPr>
                        <a:t>are delivered during this period; n</a:t>
                      </a:r>
                      <a:r>
                        <a:rPr lang="en-US" sz="1200" dirty="0">
                          <a:solidFill>
                            <a:srgbClr val="000000"/>
                          </a:solidFill>
                          <a:latin typeface="Arial"/>
                          <a:ea typeface="Arial"/>
                          <a:cs typeface="Arial"/>
                        </a:rPr>
                        <a:t>umber of deliveries were based off (</a:t>
                      </a:r>
                      <a:r>
                        <a:rPr lang="en-US" sz="1200" dirty="0">
                          <a:solidFill>
                            <a:srgbClr val="000000"/>
                          </a:solidFill>
                          <a:latin typeface="Arial"/>
                          <a:ea typeface="Arial"/>
                          <a:cs typeface="Arial"/>
                        </a:rPr>
                        <a:t>i</a:t>
                      </a:r>
                      <a:r>
                        <a:rPr lang="en-US" sz="1200" dirty="0">
                          <a:solidFill>
                            <a:srgbClr val="000000"/>
                          </a:solidFill>
                          <a:latin typeface="Arial"/>
                          <a:ea typeface="Arial"/>
                          <a:cs typeface="Arial"/>
                        </a:rPr>
                        <a:t>) SHIPS Act “Plus” and (ii) Port Alpha capacity (25 deliveries / year)</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Gross Margins set at 44% in 2028, declining to ~40% by 2038</a:t>
                      </a:r>
                      <a:r>
                        <a:rPr lang="en-US" sz="1200" dirty="0">
                          <a:solidFill>
                            <a:srgbClr val="000000"/>
                          </a:solidFill>
                          <a:latin typeface="Arial"/>
                          <a:ea typeface="Arial"/>
                          <a:cs typeface="Arial"/>
                        </a:rPr>
                        <a:t> given increased domestic competition; overall domestic prices supported by USG subsidies for vessel owners</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EBIT margins vary, largely staying within 5-10% range in 2032+</a:t>
                      </a:r>
                    </a:p>
                    <a:p>
                      <a:pPr algn="l" lvl="2" marL="457200" indent="-114300">
                        <a:lnSpc>
                          <a:spcPct val="100000"/>
                        </a:lnSpc>
                        <a:spcBef>
                          <a:spcPts val="300"/>
                        </a:spcBef>
                        <a:spcAft>
                          <a:spcPts val="300"/>
                        </a:spcAft>
                        <a:buFont typeface="Arial" panose="020B0604020202020204" pitchFamily="34" charset="0"/>
                        <a:buChar char="−"/>
                      </a:pPr>
                      <a:r>
                        <a:rPr lang="en-US" sz="1200" dirty="0">
                          <a:solidFill>
                            <a:srgbClr val="000000"/>
                          </a:solidFill>
                          <a:latin typeface="Arial"/>
                          <a:ea typeface="Arial"/>
                          <a:cs typeface="Arial"/>
                        </a:rPr>
                        <a:t>Shipyard ITCs soften impact of capex on FCF in early years, while also reducing outside capital needs</a:t>
                      </a:r>
                    </a:p>
                    <a:p>
                      <a:pPr algn="l" lvl="1" marL="342900" indent="-114300">
                        <a:lnSpc>
                          <a:spcPct val="100000"/>
                        </a:lnSpc>
                        <a:spcBef>
                          <a:spcPts val="300"/>
                        </a:spcBef>
                        <a:spcAft>
                          <a:spcPts val="300"/>
                        </a:spcAft>
                        <a:buFont typeface="Arial" panose="020B0604020202020204" pitchFamily="34" charset="0"/>
                        <a:buChar char="•"/>
                      </a:pPr>
                      <a:r>
                        <a:rPr lang="en-US" sz="1200" b="1" u="sng" dirty="0">
                          <a:solidFill>
                            <a:srgbClr val="000000"/>
                          </a:solidFill>
                          <a:latin typeface="Arial"/>
                          <a:ea typeface="Arial"/>
                          <a:cs typeface="Arial"/>
                        </a:rPr>
                        <a:t>OpCo (Saronic as owner/operator):</a:t>
                      </a:r>
                      <a:r>
                        <a:rPr lang="en-US" sz="1200" b="1" dirty="0">
                          <a:solidFill>
                            <a:srgbClr val="000000"/>
                          </a:solidFill>
                          <a:latin typeface="Arial"/>
                          <a:ea typeface="Arial"/>
                          <a:cs typeface="Arial"/>
                        </a:rPr>
                        <a:t> </a:t>
                      </a:r>
                      <a:r>
                        <a:rPr lang="en-US" sz="1200" dirty="0">
                          <a:solidFill>
                            <a:srgbClr val="000000"/>
                          </a:solidFill>
                          <a:latin typeface="Arial"/>
                          <a:ea typeface="Arial"/>
                          <a:cs typeface="Arial"/>
                        </a:rPr>
                        <a:t>P</a:t>
                      </a:r>
                      <a:r>
                        <a:rPr lang="en-US" sz="1200" dirty="0">
                          <a:solidFill>
                            <a:srgbClr val="000000"/>
                          </a:solidFill>
                          <a:latin typeface="Arial"/>
                          <a:ea typeface="Arial"/>
                          <a:cs typeface="Arial"/>
                        </a:rPr>
                        <a:t>urchases </a:t>
                      </a:r>
                      <a:r>
                        <a:rPr lang="en-US" sz="1200" b="1" dirty="0">
                          <a:solidFill>
                            <a:srgbClr val="000000"/>
                          </a:solidFill>
                          <a:latin typeface="Arial"/>
                          <a:ea typeface="Arial"/>
                          <a:cs typeface="Arial"/>
                        </a:rPr>
                        <a:t>25 total container ships for $4.2B </a:t>
                      </a:r>
                      <a:r>
                        <a:rPr lang="en-US" sz="1200" dirty="0">
                          <a:solidFill>
                            <a:srgbClr val="000000"/>
                          </a:solidFill>
                          <a:latin typeface="Arial"/>
                          <a:ea typeface="Arial"/>
                          <a:cs typeface="Arial"/>
                        </a:rPr>
                        <a:t>in ‘33 and ‘34 that enter service the following year in the Strategic Commercial Fleet, operating on US Atlantic / Gulf Coast &lt;&gt; Europe / S. America routes </a:t>
                      </a:r>
                      <a:r>
                        <a:rPr lang="en-US" sz="1200" i="1" dirty="0">
                          <a:solidFill>
                            <a:srgbClr val="000000"/>
                          </a:solidFill>
                          <a:latin typeface="Arial"/>
                          <a:ea typeface="Arial"/>
                          <a:cs typeface="Arial"/>
                        </a:rPr>
                        <a:t>(to consider Jones Act Marine Highway / OCONUS in future efforts)</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Service starts in 2034, which softens cash outlay frequency; </a:t>
                      </a:r>
                      <a:r>
                        <a:rPr lang="en-US" sz="1200" dirty="0">
                          <a:solidFill>
                            <a:srgbClr val="000000"/>
                          </a:solidFill>
                          <a:latin typeface="Arial"/>
                          <a:ea typeface="Arial"/>
                          <a:cs typeface="Arial"/>
                        </a:rPr>
                        <a:t>earlier service start would require more equity financing and prevents potentially antagonistic messaging of immediate competition with BuildCo customers </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BuildCo sells vessels to OpCo under favorable pricing (10% gross margin)</a:t>
                      </a:r>
                    </a:p>
                    <a:p>
                      <a:pPr algn="l" lvl="2" marL="457200" indent="-114300">
                        <a:lnSpc>
                          <a:spcPct val="100000"/>
                        </a:lnSpc>
                        <a:spcBef>
                          <a:spcPts val="300"/>
                        </a:spcBef>
                        <a:spcAft>
                          <a:spcPts val="300"/>
                        </a:spcAft>
                        <a:buFont typeface="Arial" panose="020B0604020202020204" pitchFamily="34" charset="0"/>
                        <a:buChar char="−"/>
                      </a:pPr>
                      <a:r>
                        <a:rPr lang="en-US" sz="1200" dirty="0">
                          <a:solidFill>
                            <a:srgbClr val="000000"/>
                          </a:solidFill>
                          <a:latin typeface="Arial"/>
                          <a:ea typeface="Arial"/>
                          <a:cs typeface="Arial"/>
                        </a:rPr>
                        <a:t>EBIT margins (inclusive of operating and capital subsidies) of ~25%</a:t>
                      </a:r>
                    </a:p>
                    <a:p>
                      <a:pPr algn="l" lvl="1" marL="342900" indent="-114300">
                        <a:lnSpc>
                          <a:spcPct val="100000"/>
                        </a:lnSpc>
                        <a:spcBef>
                          <a:spcPts val="300"/>
                        </a:spcBef>
                        <a:spcAft>
                          <a:spcPts val="300"/>
                        </a:spcAft>
                        <a:buFont typeface="Arial" panose="020B0604020202020204" pitchFamily="34" charset="0"/>
                        <a:buChar char="•"/>
                      </a:pPr>
                      <a:r>
                        <a:rPr lang="en-US" sz="1200" b="1" u="sng" dirty="0">
                          <a:solidFill>
                            <a:srgbClr val="000000"/>
                          </a:solidFill>
                          <a:latin typeface="Arial"/>
                          <a:ea typeface="Arial"/>
                          <a:cs typeface="Arial"/>
                        </a:rPr>
                        <a:t>ComboCo (BuildCo + OpCo)</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Financing: </a:t>
                      </a:r>
                      <a:r>
                        <a:rPr lang="en-US" sz="1200" dirty="0">
                          <a:solidFill>
                            <a:srgbClr val="000000"/>
                          </a:solidFill>
                          <a:latin typeface="Arial"/>
                          <a:ea typeface="Arial"/>
                          <a:cs typeface="Arial"/>
                        </a:rPr>
                        <a:t>$2.8B OSC Loan / $500M Revolver / $2.25B in Equity + $500M in Cash; assumes only BuildCo qualifies for shipyard ITCs </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EBIT Margin reach 12-14% </a:t>
                      </a:r>
                      <a:r>
                        <a:rPr lang="en-US" sz="1200" dirty="0">
                          <a:solidFill>
                            <a:srgbClr val="000000"/>
                          </a:solidFill>
                          <a:latin typeface="Arial"/>
                          <a:ea typeface="Arial"/>
                          <a:cs typeface="Arial"/>
                        </a:rPr>
                        <a:t>in the 2030s, in between traditional shipbuilders (~4-6%) and ship owners (15-20%)</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Consistent Cash Flow positive in 2034 onwards </a:t>
                      </a:r>
                      <a:r>
                        <a:rPr lang="en-US" sz="1200" dirty="0">
                          <a:solidFill>
                            <a:srgbClr val="000000"/>
                          </a:solidFill>
                          <a:latin typeface="Arial"/>
                          <a:ea typeface="Arial"/>
                          <a:cs typeface="Arial"/>
                        </a:rPr>
                        <a:t>after conclusion of BuildCo capex and OpCo vessel procurement</a:t>
                      </a:r>
                    </a:p>
                    <a:p>
                      <a:pPr algn="l" lvl="2" marL="457200" indent="-114300">
                        <a:lnSpc>
                          <a:spcPct val="100000"/>
                        </a:lnSpc>
                        <a:spcBef>
                          <a:spcPts val="300"/>
                        </a:spcBef>
                        <a:spcAft>
                          <a:spcPts val="300"/>
                        </a:spcAft>
                        <a:buFont typeface="Arial" panose="020B0604020202020204" pitchFamily="34" charset="0"/>
                        <a:buChar char="−"/>
                      </a:pPr>
                      <a:r>
                        <a:rPr lang="en-US" sz="1200" b="1" dirty="0">
                          <a:solidFill>
                            <a:srgbClr val="000000"/>
                          </a:solidFill>
                          <a:latin typeface="Arial"/>
                          <a:ea typeface="Arial"/>
                          <a:cs typeface="Arial"/>
                        </a:rPr>
                        <a:t>FCF NPV of (~$2.5B); primarily driven by frontloaded CAPEX timing, intersegment transfers, and absence of vessel ITCs </a:t>
                      </a:r>
                      <a:r>
                        <a:rPr lang="en-US" sz="1200" i="1" dirty="0">
                          <a:solidFill>
                            <a:srgbClr val="000000"/>
                          </a:solidFill>
                          <a:latin typeface="Arial"/>
                          <a:ea typeface="Arial"/>
                          <a:cs typeface="Arial"/>
                        </a:rPr>
                        <a:t>(given current bill language)</a:t>
                      </a:r>
                    </a:p>
                    <a:p>
                      <a:pPr algn="l" lvl="2" marL="457200" indent="-114300">
                        <a:lnSpc>
                          <a:spcPct val="100000"/>
                        </a:lnSpc>
                        <a:spcBef>
                          <a:spcPts val="300"/>
                        </a:spcBef>
                        <a:spcAft>
                          <a:spcPts val="300"/>
                        </a:spcAft>
                        <a:buFont typeface="Arial" panose="020B0604020202020204" pitchFamily="34" charset="0"/>
                        <a:buChar char="−"/>
                      </a:pPr>
                      <a:r>
                        <a:rPr lang="en-US" sz="1200" dirty="0">
                          <a:solidFill>
                            <a:srgbClr val="000000"/>
                          </a:solidFill>
                          <a:latin typeface="Arial"/>
                          <a:ea typeface="Arial"/>
                          <a:cs typeface="Arial"/>
                        </a:rPr>
                        <a:t>Preliminary analysis suggests key determinants of Saronic’s commercial market success include pursuing new business models enabled by autonomy (i.e., marine highway), competing in Jones Act, developing incremental revenue streams (e.g., selling marine / cargo data), and ensuring ComboCo vessel ITC eligibility</a:t>
                      </a:r>
                    </a:p>
                  </a:txBody>
                  <a:tcPr marL="41564" marR="41564" marT="45720" marB="45720" anchor="ctr">
                    <a:lnL>
                      <a:noFill/>
                    </a:lnL>
                    <a:lnR>
                      <a:noFill/>
                    </a:lnR>
                    <a:lnT>
                      <a:noFill/>
                    </a:lnT>
                    <a:lnB>
                      <a:noFill/>
                    </a:lnB>
                    <a:noFill/>
                  </a:tcPr>
                </a:tc>
              </a:tr>
            </a:tbl>
          </a:graphicData>
        </a:graphic>
      </p:graphicFrame>
      <p:sp>
        <p:nvSpPr>
          <p:cNvPr id="101" name="Rectangle 10"/>
          <p:cNvSpPr txBox="1"/>
          <p:nvPr/>
        </p:nvSpPr>
        <p:spPr>
          <a:xfrm>
            <a:off x="7256678" y="3844138"/>
            <a:ext cx="4283964" cy="834847"/>
          </a:xfrm>
          <a:prstGeom prst="rect">
            <a:avLst/>
          </a:prstGeom>
          <a:solidFill>
            <a:srgbClr val="CEDDEC"/>
          </a:solidFill>
          <a:ln w="12700">
            <a:solidFill>
              <a:srgbClr val="162029"/>
            </a:solidFill>
            <a:prstDash val="dash"/>
          </a:ln>
          <a:effectLst>
            <a:outerShdw blurRad="50800" dist="38100" dir="2700000" algn="tl" rotWithShape="0">
              <a:prstClr val="black">
                <a:alpha val="40000"/>
              </a:prstClr>
            </a:outerShdw>
          </a:effectLst>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Results detailed contingent on:</a:t>
            </a:r>
          </a:p>
          <a:p>
            <a:pPr marL="285750" indent="-285750">
              <a:lnSpc>
                <a:spcPct val="100000"/>
              </a:lnSpc>
              <a:buFont typeface="Arial" panose="020B0604020202020204" pitchFamily="34" charset="0"/>
              <a:buChar char="•"/>
            </a:pPr>
            <a:r>
              <a:rPr lang="en-US" sz="1200" dirty="0">
                <a:solidFill>
                  <a:srgbClr val="000000"/>
                </a:solidFill>
                <a:latin typeface="Arial"/>
                <a:ea typeface="Arial"/>
                <a:cs typeface="Arial"/>
              </a:rPr>
              <a:t>Implementation of proposed legislation, subsidies, tax credits &amp; additional future policy action</a:t>
            </a:r>
          </a:p>
          <a:p>
            <a:pPr marL="285750" indent="-285750">
              <a:lnSpc>
                <a:spcPct val="100000"/>
              </a:lnSpc>
              <a:buFont typeface="Arial" panose="020B0604020202020204" pitchFamily="34" charset="0"/>
              <a:buChar char="•"/>
            </a:pPr>
            <a:r>
              <a:rPr lang="en-US" sz="1200" dirty="0">
                <a:solidFill>
                  <a:srgbClr val="000000"/>
                </a:solidFill>
                <a:latin typeface="Arial"/>
                <a:ea typeface="Arial"/>
                <a:cs typeface="Arial"/>
              </a:rPr>
              <a:t>High degree of automation and efficiency at Port Alpha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Strategy</a:t>
            </a:r>
            <a:r>
              <a:rPr lang="en-US" sz="1000" kern="1200" dirty="0">
                <a:solidFill>
                  <a:srgbClr val="44505C"/>
                </a:solidFill>
                <a:latin typeface="Arial"/>
                <a:ea typeface="Arial"/>
                <a:cs typeface="Arial"/>
              </a:rPr>
              <a:t> / Research Overview</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Key Findings (3/3) | What must be true to succeed (commercial oceangoing focus).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graphicFrame>
        <p:nvGraphicFramePr>
          <p:cNvPr id="100" name="Table 4"/>
          <p:cNvGraphicFramePr>
            <a:graphicFrameLocks noGrp="1"/>
          </p:cNvGraphicFramePr>
          <p:nvPr/>
        </p:nvGraphicFramePr>
        <p:xfrm>
          <a:off x="451714" y="1367028"/>
          <a:ext cx="11247120" cy="4572000"/>
        </p:xfrm>
        <a:graphic>
          <a:graphicData uri="http://schemas.openxmlformats.org/drawingml/2006/table">
            <a:tbl>
              <a:tblPr firstRow="1" firstCol="1" bandRow="0">
                <a:tableStyleId>{2D5ABB26-0587-4C30-8999-92F81FD0307C}</a:tableStyleId>
              </a:tblPr>
              <a:tblGrid>
                <a:gridCol w="189281"/>
                <a:gridCol w="735178"/>
                <a:gridCol w="2580437"/>
                <a:gridCol w="2580437"/>
                <a:gridCol w="2580437"/>
                <a:gridCol w="2580437"/>
              </a:tblGrid>
              <a:tr h="0">
                <a:tc gridSpan="2">
                  <a:txBody>
                    <a:bodyPr anchor="ctr"/>
                    <a:lstStyle/>
                    <a:p>
                      <a:pPr algn="r">
                        <a:lnSpc>
                          <a:spcPct val="100000"/>
                        </a:lnSpc>
                      </a:pPr>
                      <a:r>
                        <a:rPr lang="en-US" sz="1000" i="1" dirty="0">
                          <a:solidFill>
                            <a:srgbClr val="000000"/>
                          </a:solidFill>
                          <a:latin typeface="Arial"/>
                          <a:ea typeface="Arial"/>
                          <a:cs typeface="Arial"/>
                        </a:rPr>
                        <a:t>Market:</a:t>
                      </a:r>
                    </a:p>
                  </a:txBody>
                  <a:tcPr marL="45720" marR="45720" marT="45720" marB="45720" anchor="ctr">
                    <a:lnL>
                      <a:noFill/>
                    </a:lnL>
                    <a:lnR>
                      <a:noFill/>
                    </a:lnR>
                    <a:lnT>
                      <a:noFill/>
                    </a:lnT>
                    <a:lnB>
                      <a:noFill/>
                    </a:lnB>
                    <a:noFill/>
                  </a:tcPr>
                </a:tc>
                <a:tc hMerge="1">
                  <a:txBody>
                    <a:bodyPr/>
                    <a:lstStyle/>
                    <a:p>
                      <a:endParaRPr lang="en-US"/>
                    </a:p>
                  </a:txBody>
                  <a:tcPr/>
                </a:tc>
                <a:tc>
                  <a:txBody>
                    <a:bodyPr anchor="b"/>
                    <a:lstStyle/>
                    <a:p>
                      <a:pPr algn="ctr">
                        <a:lnSpc>
                          <a:spcPct val="100000"/>
                        </a:lnSpc>
                      </a:pPr>
                      <a:r>
                        <a:rPr lang="en-US" sz="1000" b="1" dirty="0">
                          <a:solidFill>
                            <a:srgbClr val="000000"/>
                          </a:solidFill>
                          <a:latin typeface="Arial"/>
                          <a:ea typeface="Arial"/>
                          <a:cs typeface="Arial"/>
                        </a:rPr>
                        <a:t>1. Marine Highway</a:t>
                      </a:r>
                    </a:p>
                  </a:txBody>
                  <a:tcPr marL="45720" marR="45720" marT="45720" marB="45720" anchor="b">
                    <a:lnL>
                      <a:noFill/>
                    </a:lnL>
                    <a:lnR w="12700" cap="flat" cmpd="sng" algn="ctr">
                      <a:solidFill>
                        <a:srgbClr val="FFFFFF"/>
                      </a:solidFill>
                      <a:prstDash val="solid"/>
                    </a:lnR>
                    <a:lnT>
                      <a:noFill/>
                    </a:lnT>
                    <a:lnB w="12700" cap="flat" cmpd="sng" algn="ctr">
                      <a:solidFill>
                        <a:srgbClr val="FFFFFF"/>
                      </a:solidFill>
                      <a:prstDash val="solid"/>
                    </a:lnB>
                    <a:solidFill>
                      <a:srgbClr val="CEDDEC"/>
                    </a:solidFill>
                  </a:tcPr>
                </a:tc>
                <a:tc>
                  <a:txBody>
                    <a:bodyPr anchor="b"/>
                    <a:lstStyle/>
                    <a:p>
                      <a:pPr algn="ctr">
                        <a:lnSpc>
                          <a:spcPct val="100000"/>
                        </a:lnSpc>
                      </a:pPr>
                      <a:r>
                        <a:rPr lang="en-US" sz="1000" b="1" dirty="0">
                          <a:solidFill>
                            <a:srgbClr val="000000"/>
                          </a:solidFill>
                          <a:latin typeface="Arial"/>
                          <a:ea typeface="Arial"/>
                          <a:cs typeface="Arial"/>
                        </a:rPr>
                        <a:t>2. Existing Jones Act Routes</a:t>
                      </a:r>
                    </a:p>
                  </a:txBody>
                  <a:tcPr marL="45720" marR="45720" marT="45720" marB="4572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FFFFFF"/>
                      </a:solidFill>
                      <a:prstDash val="solid"/>
                    </a:lnB>
                    <a:solidFill>
                      <a:srgbClr val="99B9D8"/>
                    </a:solidFill>
                  </a:tcPr>
                </a:tc>
                <a:tc>
                  <a:txBody>
                    <a:bodyPr anchor="b"/>
                    <a:lstStyle/>
                    <a:p>
                      <a:pPr algn="ctr" marL="0" indent="0">
                        <a:lnSpc>
                          <a:spcPct val="100000"/>
                        </a:lnSpc>
                      </a:pPr>
                      <a:r>
                        <a:rPr lang="en-US" sz="1000" b="1" dirty="0">
                          <a:solidFill>
                            <a:srgbClr val="F2F2F2"/>
                          </a:solidFill>
                          <a:latin typeface="Arial"/>
                          <a:ea typeface="Arial"/>
                          <a:cs typeface="Arial"/>
                        </a:rPr>
                        <a:t>3. US-Built &amp; Flagged International Trade</a:t>
                      </a:r>
                    </a:p>
                  </a:txBody>
                  <a:tcPr marL="45720" marR="45720" marT="45720" marB="4572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FFFFFF"/>
                      </a:solidFill>
                      <a:prstDash val="solid"/>
                    </a:lnB>
                    <a:solidFill>
                      <a:srgbClr val="447BB2"/>
                    </a:solidFill>
                  </a:tcPr>
                </a:tc>
                <a:tc>
                  <a:txBody>
                    <a:bodyPr anchor="b"/>
                    <a:lstStyle/>
                    <a:p>
                      <a:pPr algn="ctr" marL="0" indent="0">
                        <a:lnSpc>
                          <a:spcPct val="100000"/>
                        </a:lnSpc>
                      </a:pPr>
                      <a:r>
                        <a:rPr lang="en-US" sz="1000" b="1" dirty="0">
                          <a:solidFill>
                            <a:srgbClr val="F2F2F2"/>
                          </a:solidFill>
                          <a:latin typeface="Arial"/>
                          <a:ea typeface="Arial"/>
                          <a:cs typeface="Arial"/>
                        </a:rPr>
                        <a:t>4. Foreign-Flagged International Trade</a:t>
                      </a:r>
                    </a:p>
                  </a:txBody>
                  <a:tcPr marL="45720" marR="45720" marT="45720" marB="45720" anchor="b">
                    <a:lnL w="12700" cap="flat" cmpd="sng" algn="ctr">
                      <a:solidFill>
                        <a:srgbClr val="FFFFFF"/>
                      </a:solidFill>
                      <a:prstDash val="solid"/>
                    </a:lnL>
                    <a:lnR>
                      <a:noFill/>
                    </a:lnR>
                    <a:lnT>
                      <a:noFill/>
                    </a:lnT>
                    <a:lnB w="12700" cap="flat" cmpd="sng" algn="ctr">
                      <a:solidFill>
                        <a:srgbClr val="FFFFFF"/>
                      </a:solidFill>
                      <a:prstDash val="solid"/>
                    </a:lnB>
                    <a:solidFill>
                      <a:srgbClr val="223E59"/>
                    </a:solidFill>
                  </a:tcPr>
                </a:tc>
              </a:tr>
              <a:tr h="0">
                <a:tc gridSpan="2">
                  <a:txBody>
                    <a:bodyPr anchor="ctr"/>
                    <a:lstStyle/>
                    <a:p>
                      <a:pPr algn="r">
                        <a:lnSpc>
                          <a:spcPct val="100000"/>
                        </a:lnSpc>
                      </a:pPr>
                      <a:r>
                        <a:rPr lang="en-US" sz="1000" i="1" dirty="0">
                          <a:solidFill>
                            <a:srgbClr val="000000"/>
                          </a:solidFill>
                          <a:latin typeface="Arial"/>
                          <a:ea typeface="Arial"/>
                          <a:cs typeface="Arial"/>
                        </a:rPr>
                        <a:t>Description:</a:t>
                      </a:r>
                    </a:p>
                  </a:txBody>
                  <a:tcPr marL="45720" marR="45720" marT="45720" marB="45720" anchor="ctr">
                    <a:lnL>
                      <a:noFill/>
                    </a:lnL>
                    <a:lnR>
                      <a:noFill/>
                    </a:lnR>
                    <a:lnT>
                      <a:noFill/>
                    </a:lnT>
                    <a:lnB w="12700" cap="flat" cmpd="sng" algn="ctr">
                      <a:solidFill>
                        <a:srgbClr val="000000"/>
                      </a:solidFill>
                      <a:prstDash val="solid"/>
                    </a:lnB>
                    <a:noFill/>
                  </a:tcPr>
                </a:tc>
                <a:tc hMerge="1">
                  <a:txBody>
                    <a:bodyPr/>
                    <a:lstStyle/>
                    <a:p>
                      <a:endParaRPr lang="en-US"/>
                    </a:p>
                  </a:txBody>
                  <a:tcPr/>
                </a:tc>
                <a:tc>
                  <a:txBody>
                    <a:bodyPr anchor="ctr"/>
                    <a:lstStyle/>
                    <a:p>
                      <a:pPr algn="ctr" marL="0" indent="0">
                        <a:lnSpc>
                          <a:spcPct val="100000"/>
                        </a:lnSpc>
                      </a:pPr>
                      <a:r>
                        <a:rPr lang="en-US" sz="1000" i="1" dirty="0">
                          <a:solidFill>
                            <a:srgbClr val="000000"/>
                          </a:solidFill>
                          <a:latin typeface="Arial"/>
                          <a:ea typeface="Arial"/>
                          <a:cs typeface="Arial"/>
                        </a:rPr>
                        <a:t>Displaces domestic truck / rail</a:t>
                      </a:r>
                    </a:p>
                  </a:txBody>
                  <a:tcPr marL="45720" marR="45720" marT="45720" marB="45720" anchor="ctr">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000000"/>
                      </a:solidFill>
                      <a:prstDash val="solid"/>
                    </a:lnB>
                    <a:solidFill>
                      <a:srgbClr val="CEDDEC"/>
                    </a:solidFill>
                  </a:tcPr>
                </a:tc>
                <a:tc>
                  <a:txBody>
                    <a:bodyPr anchor="ctr"/>
                    <a:lstStyle/>
                    <a:p>
                      <a:pPr algn="ctr">
                        <a:lnSpc>
                          <a:spcPct val="100000"/>
                        </a:lnSpc>
                      </a:pPr>
                      <a:r>
                        <a:rPr lang="en-US" sz="1000" i="1" dirty="0">
                          <a:solidFill>
                            <a:srgbClr val="000000"/>
                          </a:solidFill>
                          <a:latin typeface="Arial"/>
                          <a:ea typeface="Arial"/>
                          <a:cs typeface="Arial"/>
                        </a:rPr>
                        <a:t>Current OCONUS routes</a:t>
                      </a:r>
                    </a:p>
                  </a:txBody>
                  <a:tcPr marL="45720" marR="45720" marT="45720" marB="45720" anchor="ctr">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000000"/>
                      </a:solidFill>
                      <a:prstDash val="solid"/>
                    </a:lnB>
                    <a:solidFill>
                      <a:srgbClr val="99B9D8"/>
                    </a:solidFill>
                  </a:tcPr>
                </a:tc>
                <a:tc>
                  <a:txBody>
                    <a:bodyPr anchor="ctr"/>
                    <a:lstStyle/>
                    <a:p>
                      <a:pPr algn="ctr" marL="0" indent="0">
                        <a:lnSpc>
                          <a:spcPct val="100000"/>
                        </a:lnSpc>
                      </a:pPr>
                      <a:r>
                        <a:rPr lang="en-US" sz="1000" i="1" dirty="0">
                          <a:solidFill>
                            <a:srgbClr val="FFFFFF"/>
                          </a:solidFill>
                          <a:latin typeface="Arial"/>
                          <a:ea typeface="Arial"/>
                          <a:cs typeface="Arial"/>
                        </a:rPr>
                        <a:t>SCF &amp; other USG programs</a:t>
                      </a:r>
                    </a:p>
                  </a:txBody>
                  <a:tcPr marL="45720" marR="45720" marT="45720" marB="45720" anchor="ctr">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000000"/>
                      </a:solidFill>
                      <a:prstDash val="solid"/>
                    </a:lnB>
                    <a:solidFill>
                      <a:srgbClr val="447BB2"/>
                    </a:solidFill>
                  </a:tcPr>
                </a:tc>
                <a:tc>
                  <a:txBody>
                    <a:bodyPr anchor="ctr"/>
                    <a:lstStyle/>
                    <a:p>
                      <a:pPr algn="ctr" marL="0" indent="0">
                        <a:lnSpc>
                          <a:spcPct val="100000"/>
                        </a:lnSpc>
                      </a:pPr>
                      <a:r>
                        <a:rPr lang="en-US" sz="1000" i="1" dirty="0">
                          <a:solidFill>
                            <a:srgbClr val="F2F2F2"/>
                          </a:solidFill>
                          <a:latin typeface="Arial"/>
                          <a:ea typeface="Arial"/>
                          <a:cs typeface="Arial"/>
                        </a:rPr>
                        <a:t>Ex-SCF foreign trade</a:t>
                      </a:r>
                    </a:p>
                  </a:txBody>
                  <a:tcPr marL="45720" marR="45720" marT="45720" marB="45720" anchor="ctr">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000000"/>
                      </a:solidFill>
                      <a:prstDash val="solid"/>
                    </a:lnB>
                    <a:solidFill>
                      <a:srgbClr val="223E59"/>
                    </a:solidFill>
                  </a:tcPr>
                </a:tc>
              </a:tr>
              <a:tr h="0">
                <a:tc gridSpan="2">
                  <a:txBody>
                    <a:bodyPr anchor="ctr"/>
                    <a:lstStyle/>
                    <a:p>
                      <a:pPr algn="l" marL="0" indent="0">
                        <a:lnSpc>
                          <a:spcPct val="100000"/>
                        </a:lnSpc>
                      </a:pPr>
                      <a:r>
                        <a:rPr lang="en-US" sz="1000" b="1" dirty="0">
                          <a:solidFill>
                            <a:srgbClr val="000000"/>
                          </a:solidFill>
                          <a:latin typeface="Arial"/>
                          <a:ea typeface="Arial"/>
                          <a:cs typeface="Arial"/>
                        </a:rPr>
                        <a:t>All Vessels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hMerge="1">
                  <a:txBody>
                    <a:bodyPr/>
                    <a:lstStyle/>
                    <a:p>
                      <a:endParaRPr lang="en-US"/>
                    </a:p>
                  </a:txBody>
                  <a:tcPr/>
                </a:tc>
                <a:tc gridSpan="3">
                  <a:txBody>
                    <a:bodyPr anchor="ctr"/>
                    <a:lstStyle/>
                    <a:p>
                      <a:pPr algn="ctr" marL="0" indent="0">
                        <a:lnSpc>
                          <a:spcPct val="100000"/>
                        </a:lnSpc>
                      </a:pPr>
                      <a:r>
                        <a:rPr lang="en-US" sz="1000" dirty="0">
                          <a:solidFill>
                            <a:srgbClr val="000000"/>
                          </a:solidFill>
                          <a:latin typeface="Arial"/>
                          <a:ea typeface="Arial"/>
                          <a:cs typeface="Arial"/>
                        </a:rPr>
                        <a:t>Port Alpha drives 30-40%+ lower newbuild costs vs. US-based incumbents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hMerge="1">
                  <a:txBody>
                    <a:bodyPr/>
                    <a:lstStyle/>
                    <a:p>
                      <a:endParaRPr lang="en-US"/>
                    </a:p>
                  </a:txBody>
                  <a:tcPr/>
                </a:tc>
                <a:tc hMerge="1">
                  <a:txBody>
                    <a:bodyPr/>
                    <a:lstStyle/>
                    <a:p>
                      <a:endParaRPr lang="en-US"/>
                    </a:p>
                  </a:txBody>
                  <a:tcPr/>
                </a:tc>
                <a:tc>
                  <a:txBody>
                    <a:bodyPr anchor="ctr"/>
                    <a:lstStyle/>
                    <a:p>
                      <a:pPr algn="ctr" marL="0" indent="0">
                        <a:lnSpc>
                          <a:spcPct val="100000"/>
                        </a:lnSpc>
                      </a:pPr>
                      <a:r>
                        <a:rPr lang="en-US" sz="1000" i="1" dirty="0">
                          <a:solidFill>
                            <a:srgbClr val="000000"/>
                          </a:solidFill>
                          <a:latin typeface="Arial"/>
                          <a:ea typeface="Arial"/>
                          <a:cs typeface="Arial"/>
                        </a:rPr>
                        <a:t>PA prices challenge competitiveness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2F2F2"/>
                    </a:solidFill>
                  </a:tcPr>
                </a:tc>
              </a:tr>
              <a:tr h="571500">
                <a:tc rowSpan="2">
                  <a:txBody>
                    <a:bodyPr anchor="ctr"/>
                    <a:lstStyle/>
                    <a:p>
                      <a:pPr algn="ctr" marL="0" indent="0">
                        <a:lnSpc>
                          <a:spcPct val="100000"/>
                        </a:lnSpc>
                      </a:pPr>
                      <a:r>
                        <a:rPr lang="en-US" sz="1000" b="1" dirty="0">
                          <a:solidFill>
                            <a:srgbClr val="000000"/>
                          </a:solidFill>
                          <a:latin typeface="Arial"/>
                          <a:ea typeface="Arial"/>
                          <a:cs typeface="Arial"/>
                        </a:rPr>
                        <a:t>Container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BFBFBF"/>
                    </a:solidFill>
                  </a:tcPr>
                </a:tc>
                <a:tc>
                  <a:txBody>
                    <a:bodyPr anchor="ctr"/>
                    <a:lstStyle/>
                    <a:p>
                      <a:pPr algn="l" marL="0" indent="0">
                        <a:lnSpc>
                          <a:spcPct val="100000"/>
                        </a:lnSpc>
                      </a:pPr>
                      <a:r>
                        <a:rPr lang="en-US" sz="1000" b="1" dirty="0">
                          <a:solidFill>
                            <a:srgbClr val="000000"/>
                          </a:solidFill>
                          <a:latin typeface="Arial"/>
                          <a:ea typeface="Arial"/>
                          <a:cs typeface="Arial"/>
                        </a:rPr>
                        <a:t>350’ Feeder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Jones Act remains in place </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Regulatory environment supports autonomy</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Vessel ITC eligibility extends to domestic</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Autonomy enables revenue growth and/or cost savings that offsets new expenses (i.e., SW license, remote ops. center)</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Marine transport achieves lower end-to-end costs vs. onshore modes</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Terminal access ensures requisite service level (e.g., rapid turns for fast deliveries)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gridSpan="3">
                  <a:txBody>
                    <a:bodyPr anchor="ctr"/>
                    <a:lstStyle/>
                    <a:p>
                      <a:pPr algn="ctr" lvl="2" marL="112713" indent="0">
                        <a:lnSpc>
                          <a:spcPct val="100000"/>
                        </a:lnSpc>
                      </a:pPr>
                      <a:r>
                        <a:rPr lang="en-US" sz="1000" i="1" dirty="0">
                          <a:solidFill>
                            <a:srgbClr val="000000"/>
                          </a:solidFill>
                          <a:latin typeface="Arial"/>
                          <a:ea typeface="Arial"/>
                          <a:cs typeface="Arial"/>
                        </a:rPr>
                        <a:t>Size limits TEU capacity, challenging competitiveness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2F2F2"/>
                    </a:solidFill>
                  </a:tcPr>
                </a:tc>
                <a:tc hMerge="1">
                  <a:txBody>
                    <a:bodyPr/>
                    <a:lstStyle/>
                    <a:p>
                      <a:endParaRPr lang="en-US"/>
                    </a:p>
                  </a:txBody>
                  <a:tcPr/>
                </a:tc>
                <a:tc hMerge="1">
                  <a:txBody>
                    <a:bodyPr/>
                    <a:lstStyle/>
                    <a:p>
                      <a:endParaRPr lang="en-US"/>
                    </a:p>
                  </a:txBody>
                  <a:tcPr/>
                </a:tc>
              </a:tr>
              <a:tr h="128016">
                <a:tc vMerge="1">
                  <a:txBody>
                    <a:bodyPr/>
                    <a:lstStyle/>
                    <a:p>
                      <a:endParaRPr lang="en-US"/>
                    </a:p>
                  </a:txBody>
                  <a:tcPr/>
                </a:tc>
                <a:tc>
                  <a:txBody>
                    <a:bodyPr anchor="ctr"/>
                    <a:lstStyle/>
                    <a:p>
                      <a:pPr algn="l" marL="0" indent="0">
                        <a:lnSpc>
                          <a:spcPct val="100000"/>
                        </a:lnSpc>
                      </a:pPr>
                      <a:r>
                        <a:rPr lang="en-US" sz="1000" b="1" dirty="0">
                          <a:solidFill>
                            <a:srgbClr val="000000"/>
                          </a:solidFill>
                          <a:latin typeface="Arial"/>
                          <a:ea typeface="Arial"/>
                          <a:cs typeface="Arial"/>
                        </a:rPr>
                        <a:t>900’ Panamax</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rowSpan="3">
                  <a:txBody>
                    <a:bodyPr anchor="ctr"/>
                    <a:lstStyle/>
                    <a:p>
                      <a:pPr algn="ctr" marL="0" indent="0">
                        <a:lnSpc>
                          <a:spcPct val="100000"/>
                        </a:lnSpc>
                      </a:pPr>
                      <a:endParaRPr lang="en-US"/>
                    </a:p>
                  </a:txBody>
                  <a:tcPr marL="45720" marR="45720" marT="45720" marB="45720" anchor="ctr">
                    <a:lnL>
                      <a:noFill/>
                    </a:lnL>
                    <a:lnR>
                      <a:noFill/>
                    </a:lnR>
                    <a:lnT w="6350" cap="flat" cmpd="sng" algn="ctr">
                      <a:solidFill>
                        <a:srgbClr val="808080"/>
                      </a:solidFill>
                      <a:prstDash val="solid"/>
                    </a:lnT>
                    <a:lnB>
                      <a:noFill/>
                    </a:lnB>
                    <a:solidFill>
                      <a:srgbClr val="F2F2F2"/>
                    </a:solidFill>
                  </a:tcPr>
                </a:tc>
                <a:tc>
                  <a:txBody>
                    <a:bodyPr anchor="ctr"/>
                    <a:lstStyle/>
                    <a:p>
                      <a:pPr algn="ctr" marL="0" indent="0">
                        <a:lnSpc>
                          <a:spcPct val="100000"/>
                        </a:lnSpc>
                      </a:pPr>
                      <a:r>
                        <a:rPr lang="en-US" sz="1000" dirty="0">
                          <a:solidFill>
                            <a:srgbClr val="162029"/>
                          </a:solidFill>
                          <a:latin typeface="Arial"/>
                          <a:ea typeface="Arial"/>
                          <a:cs typeface="Arial"/>
                        </a:rPr>
                        <a:t>Same considerations as 350’ Maritime Highway</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rowSpan="3">
                  <a:txBody>
                    <a:bodyPr anchor="ctr"/>
                    <a:lstStyle/>
                    <a:p>
                      <a:pPr algn="l" marL="112713" indent="-112713">
                        <a:lnSpc>
                          <a:spcPct val="100000"/>
                        </a:lnSpc>
                        <a:buFont typeface="Arial" panose="020B0604020202020204" pitchFamily="34" charset="0"/>
                        <a:buChar char="•"/>
                      </a:pPr>
                      <a:r>
                        <a:rPr lang="en-US" sz="1000" b="1" dirty="0">
                          <a:solidFill>
                            <a:srgbClr val="000000"/>
                          </a:solidFill>
                          <a:latin typeface="Arial"/>
                          <a:ea typeface="Arial"/>
                          <a:cs typeface="Arial"/>
                        </a:rPr>
                        <a:t>SHIPS Act passes with revisions:</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Universal fee imposed on all cargo imported by foreign-built ships</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Subsidies cover full opex and D&amp;A differential between US &amp; foreign</a:t>
                      </a:r>
                    </a:p>
                    <a:p>
                      <a:pPr algn="l" marL="112713" indent="-112713">
                        <a:lnSpc>
                          <a:spcPct val="100000"/>
                        </a:lnSpc>
                        <a:buFont typeface="Arial" panose="020B0604020202020204" pitchFamily="34" charset="0"/>
                        <a:buChar char="•"/>
                      </a:pPr>
                      <a:r>
                        <a:rPr lang="en-US" sz="1000" b="1" dirty="0">
                          <a:solidFill>
                            <a:srgbClr val="000000"/>
                          </a:solidFill>
                          <a:latin typeface="Arial"/>
                          <a:ea typeface="Arial"/>
                          <a:cs typeface="Arial"/>
                        </a:rPr>
                        <a:t>Building Ships in America Act passes with revisions:</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ITC eligibility increases beyond ‘32 </a:t>
                      </a:r>
                    </a:p>
                    <a:p>
                      <a:pPr algn="l" marL="112713" indent="-112713">
                        <a:lnSpc>
                          <a:spcPct val="100000"/>
                        </a:lnSpc>
                        <a:buFont typeface="Arial" panose="020B0604020202020204" pitchFamily="34" charset="0"/>
                        <a:buChar char="•"/>
                      </a:pPr>
                      <a:r>
                        <a:rPr lang="en-US" sz="1000" b="1" dirty="0">
                          <a:solidFill>
                            <a:srgbClr val="000000"/>
                          </a:solidFill>
                          <a:latin typeface="Arial"/>
                          <a:ea typeface="Arial"/>
                          <a:cs typeface="Arial"/>
                        </a:rPr>
                        <a:t>Tanker Security Program expands:</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Fleet cap increases to 30 vessels with US-built requirement</a:t>
                      </a:r>
                    </a:p>
                    <a:p>
                      <a:pPr algn="l" lvl="2" marL="227013" indent="-114300">
                        <a:lnSpc>
                          <a:spcPct val="100000"/>
                        </a:lnSpc>
                        <a:buFont typeface="Arial" panose="020B0604020202020204" pitchFamily="34" charset="0"/>
                        <a:buChar char="−"/>
                      </a:pPr>
                      <a:r>
                        <a:rPr lang="en-US" sz="1000" dirty="0">
                          <a:solidFill>
                            <a:srgbClr val="000000"/>
                          </a:solidFill>
                          <a:latin typeface="Arial"/>
                          <a:ea typeface="Arial"/>
                          <a:cs typeface="Arial"/>
                        </a:rPr>
                        <a:t>Subsidies cover full opex and D&amp;A differential between US &amp; foreign</a:t>
                      </a:r>
                    </a:p>
                  </a:txBody>
                  <a:tcPr marL="45720" marR="45720" marT="45720" marB="45720" anchor="ctr">
                    <a:lnL>
                      <a:noFill/>
                    </a:lnL>
                    <a:lnR>
                      <a:noFill/>
                    </a:lnR>
                    <a:lnT w="6350" cap="flat" cmpd="sng" algn="ctr">
                      <a:solidFill>
                        <a:srgbClr val="808080"/>
                      </a:solidFill>
                      <a:prstDash val="solid"/>
                    </a:lnT>
                    <a:lnB>
                      <a:noFill/>
                    </a:lnB>
                    <a:noFill/>
                  </a:tcPr>
                </a:tc>
                <a:tc rowSpan="3">
                  <a:txBody>
                    <a:bodyPr anchor="ctr"/>
                    <a:lstStyle/>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ROK / Japan yards build vessels </a:t>
                      </a:r>
                      <a:r>
                        <a:rPr lang="en-US" sz="1000" i="1" dirty="0">
                          <a:solidFill>
                            <a:srgbClr val="000000"/>
                          </a:solidFill>
                          <a:latin typeface="Arial"/>
                          <a:ea typeface="Arial"/>
                          <a:cs typeface="Arial"/>
                        </a:rPr>
                        <a:t>(to confirm price) </a:t>
                      </a:r>
                    </a:p>
                    <a:p>
                      <a:pPr algn="l" marL="112713" indent="-112713">
                        <a:lnSpc>
                          <a:spcPct val="100000"/>
                        </a:lnSpc>
                        <a:buFont typeface="Arial" panose="020B0604020202020204" pitchFamily="34" charset="0"/>
                        <a:buChar char="•"/>
                      </a:pPr>
                      <a:r>
                        <a:rPr lang="en-US" sz="1000" dirty="0">
                          <a:solidFill>
                            <a:srgbClr val="000000"/>
                          </a:solidFill>
                          <a:latin typeface="Arial"/>
                          <a:ea typeface="Arial"/>
                          <a:cs typeface="Arial"/>
                        </a:rPr>
                        <a:t>Autonomy enables revenue growth and/or cost savings that offsets new expenses (i.e., SW license, remote ops. center)</a:t>
                      </a:r>
                    </a:p>
                  </a:txBody>
                  <a:tcPr marL="45720" marR="45720" marT="45720" marB="45720" anchor="ctr">
                    <a:lnL>
                      <a:noFill/>
                    </a:lnL>
                    <a:lnR>
                      <a:noFill/>
                    </a:lnR>
                    <a:lnT w="6350" cap="flat" cmpd="sng" algn="ctr">
                      <a:solidFill>
                        <a:srgbClr val="808080"/>
                      </a:solidFill>
                      <a:prstDash val="solid"/>
                    </a:lnT>
                    <a:lnB>
                      <a:noFill/>
                    </a:lnB>
                    <a:noFill/>
                  </a:tcPr>
                </a:tc>
              </a:tr>
              <a:tr h="0">
                <a:tc rowSpan="2">
                  <a:txBody>
                    <a:bodyPr anchor="ctr"/>
                    <a:lstStyle/>
                    <a:p>
                      <a:pPr algn="ctr" marL="0" indent="0">
                        <a:lnSpc>
                          <a:spcPct val="100000"/>
                        </a:lnSpc>
                      </a:pPr>
                      <a:r>
                        <a:rPr lang="en-US" sz="1000" b="1" dirty="0">
                          <a:solidFill>
                            <a:srgbClr val="FFFFFF"/>
                          </a:solidFill>
                          <a:latin typeface="Arial"/>
                          <a:ea typeface="Arial"/>
                          <a:cs typeface="Arial"/>
                        </a:rPr>
                        <a:t>Tanker</a:t>
                      </a:r>
                    </a:p>
                  </a:txBody>
                  <a:tcPr marL="45720" marR="45720" marT="45720" marB="45720" anchor="ctr">
                    <a:lnL>
                      <a:noFill/>
                    </a:lnL>
                    <a:lnR>
                      <a:noFill/>
                    </a:lnR>
                    <a:lnT w="6350" cap="flat" cmpd="sng" algn="ctr">
                      <a:solidFill>
                        <a:srgbClr val="808080"/>
                      </a:solidFill>
                      <a:prstDash val="solid"/>
                    </a:lnT>
                    <a:lnB>
                      <a:noFill/>
                    </a:lnB>
                    <a:solidFill>
                      <a:srgbClr val="808080"/>
                    </a:solidFill>
                  </a:tcPr>
                </a:tc>
                <a:tc>
                  <a:txBody>
                    <a:bodyPr anchor="ctr"/>
                    <a:lstStyle/>
                    <a:p>
                      <a:pPr algn="l" marL="0" indent="0">
                        <a:lnSpc>
                          <a:spcPct val="100000"/>
                        </a:lnSpc>
                      </a:pPr>
                      <a:r>
                        <a:rPr lang="en-US" sz="1000" b="1" dirty="0">
                          <a:solidFill>
                            <a:srgbClr val="000000"/>
                          </a:solidFill>
                          <a:latin typeface="Arial"/>
                          <a:ea typeface="Arial"/>
                          <a:cs typeface="Arial"/>
                        </a:rPr>
                        <a:t>Product</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vMerge="1">
                  <a:txBody>
                    <a:bodyPr/>
                    <a:lstStyle/>
                    <a:p>
                      <a:endParaRPr lang="en-US"/>
                    </a:p>
                  </a:txBody>
                  <a:tcPr/>
                </a:tc>
                <a:tc rowSpan="2">
                  <a:txBody>
                    <a:bodyPr anchor="ctr"/>
                    <a:lstStyle/>
                    <a:p>
                      <a:pPr algn="ctr" marL="0" indent="0">
                        <a:lnSpc>
                          <a:spcPct val="100000"/>
                        </a:lnSpc>
                      </a:pPr>
                      <a:endParaRPr lang="en-US"/>
                    </a:p>
                  </a:txBody>
                  <a:tcPr marL="45720" marR="45720" marT="45720" marB="45720" anchor="ctr">
                    <a:lnL>
                      <a:noFill/>
                    </a:lnL>
                    <a:lnR>
                      <a:noFill/>
                    </a:lnR>
                    <a:lnT w="6350" cap="flat" cmpd="sng" algn="ctr">
                      <a:solidFill>
                        <a:srgbClr val="808080"/>
                      </a:solidFill>
                      <a:prstDash val="solid"/>
                    </a:lnT>
                    <a:lnB>
                      <a:noFill/>
                    </a:lnB>
                    <a:solidFill>
                      <a:srgbClr val="F2F2F2"/>
                    </a:solidFill>
                  </a:tcPr>
                </a:tc>
                <a:tc vMerge="1">
                  <a:txBody>
                    <a:bodyPr/>
                    <a:lstStyle/>
                    <a:p>
                      <a:endParaRPr lang="en-US"/>
                    </a:p>
                  </a:txBody>
                  <a:tcPr/>
                </a:tc>
                <a:tc vMerge="1">
                  <a:txBody>
                    <a:bodyPr/>
                    <a:lstStyle/>
                    <a:p>
                      <a:endParaRPr lang="en-US"/>
                    </a:p>
                  </a:txBody>
                  <a:tcPr/>
                </a:tc>
              </a:tr>
              <a:tr h="758952">
                <a:tc vMerge="1">
                  <a:txBody>
                    <a:bodyPr/>
                    <a:lstStyle/>
                    <a:p>
                      <a:endParaRPr lang="en-US"/>
                    </a:p>
                  </a:txBody>
                  <a:tcPr/>
                </a:tc>
                <a:tc>
                  <a:txBody>
                    <a:bodyPr anchor="ctr"/>
                    <a:lstStyle/>
                    <a:p>
                      <a:pPr algn="l" marL="0" indent="0">
                        <a:lnSpc>
                          <a:spcPct val="100000"/>
                        </a:lnSpc>
                      </a:pPr>
                      <a:r>
                        <a:rPr lang="en-US" sz="1000" b="1" dirty="0">
                          <a:solidFill>
                            <a:srgbClr val="000000"/>
                          </a:solidFill>
                          <a:latin typeface="Arial"/>
                          <a:ea typeface="Arial"/>
                          <a:cs typeface="Arial"/>
                        </a:rPr>
                        <a:t>Crude</a:t>
                      </a:r>
                    </a:p>
                  </a:txBody>
                  <a:tcPr marL="45720" marR="45720" marT="45720" marB="45720" anchor="ctr">
                    <a:lnL>
                      <a:noFill/>
                    </a:lnL>
                    <a:lnR>
                      <a:noFill/>
                    </a:lnR>
                    <a:lnT w="6350" cap="flat" cmpd="sng" algn="ctr">
                      <a:solidFill>
                        <a:srgbClr val="808080"/>
                      </a:solidFill>
                      <a:prstDash val="solid"/>
                    </a:lnT>
                    <a:lnB>
                      <a:noFill/>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r>
            </a:tbl>
          </a:graphicData>
        </a:graphic>
      </p:graphicFrame>
      <p:sp>
        <p:nvSpPr>
          <p:cNvPr id="101" name="TextBox 7"/>
          <p:cNvSpPr txBox="1"/>
          <p:nvPr/>
        </p:nvSpPr>
        <p:spPr>
          <a:xfrm>
            <a:off x="2814523" y="4976165"/>
            <a:ext cx="2845613" cy="245974"/>
          </a:xfrm>
          <a:prstGeom prst="rect">
            <a:avLst/>
          </a:prstGeom>
          <a:noFill/>
          <a:ln>
            <a:noFill/>
          </a:ln>
        </p:spPr>
        <p:txBody>
          <a:bodyPr wrap="square" anchor="t" lIns="91440" tIns="45720" rIns="91440" bIns="45720"/>
          <a:lstStyle/>
          <a:p>
            <a:pPr algn="ctr" marL="0" indent="0">
              <a:lnSpc>
                <a:spcPct val="100000"/>
              </a:lnSpc>
              <a:buNone/>
            </a:pPr>
            <a:r>
              <a:rPr lang="en-US" sz="1000" i="1" dirty="0">
                <a:solidFill>
                  <a:srgbClr val="162029"/>
                </a:solidFill>
                <a:latin typeface="Arial"/>
                <a:ea typeface="Arial"/>
                <a:cs typeface="Arial"/>
              </a:rPr>
              <a:t>To determine market addressability</a:t>
            </a:r>
          </a:p>
        </p:txBody>
      </p:sp>
      <p:sp>
        <p:nvSpPr>
          <p:cNvPr id="102" name="Rectangle 10"/>
          <p:cNvSpPr txBox="1"/>
          <p:nvPr/>
        </p:nvSpPr>
        <p:spPr>
          <a:xfrm>
            <a:off x="6531559" y="3497580"/>
            <a:ext cx="2564892" cy="2441448"/>
          </a:xfrm>
          <a:prstGeom prst="rect">
            <a:avLst/>
          </a:prstGeom>
          <a:noFill/>
          <a:ln w="12700">
            <a:solidFill>
              <a:srgbClr val="000000"/>
            </a:solidFill>
            <a:prstDash val="dash"/>
          </a:ln>
        </p:spPr>
        <p:txBody>
          <a:bodyPr wrap="square" anchor="t" lIns="91440" tIns="45720" rIns="91440" bIns="45720"/>
          <a:lstStyle/>
          <a:p>
            <a:pPr algn="ctr">
              <a:lnSpc>
                <a:spcPct val="100000"/>
              </a:lnSpc>
              <a:buNone/>
            </a:pPr>
            <a:r>
              <a:rPr lang="en-US" sz="1000" i="1" dirty="0">
                <a:solidFill>
                  <a:srgbClr val="000000"/>
                </a:solidFill>
                <a:latin typeface="Arial"/>
                <a:ea typeface="Arial"/>
                <a:cs typeface="Arial"/>
              </a:rPr>
              <a:t>Further analysis required to determine attractiveness for OpCo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Performance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Archetype Comps (3/3) | Shipbuilder margin profile holds across geographies and vessel types.</a:t>
            </a:r>
          </a:p>
        </p:txBody>
      </p:sp>
      <p:sp>
        <p:nvSpPr>
          <p:cNvPr id="100" name="Rectangle 1964"/>
          <p:cNvSpPr txBox="1"/>
          <p:nvPr/>
        </p:nvSpPr>
        <p:spPr>
          <a:xfrm>
            <a:off x="452628" y="6406286"/>
            <a:ext cx="4665269" cy="319126"/>
          </a:xfrm>
          <a:prstGeom prst="rect">
            <a:avLst/>
          </a:prstGeom>
          <a:noFill/>
          <a:ln>
            <a:noFill/>
          </a:ln>
        </p:spPr>
        <p:txBody>
          <a:bodyPr wrap="square" anchor="ctr" lIns="91440" tIns="45720" rIns="91440" bIns="45720"/>
          <a:lstStyle/>
          <a:p>
            <a:pPr>
              <a:lnSpc>
                <a:spcPct val="100000"/>
              </a:lnSpc>
              <a:buNone/>
            </a:pPr>
            <a:r>
              <a:rPr lang="en-US" sz="800" dirty="0">
                <a:solidFill>
                  <a:srgbClr val="000000"/>
                </a:solidFill>
                <a:latin typeface="Arial"/>
                <a:ea typeface="Arial"/>
                <a:cs typeface="Arial"/>
              </a:rPr>
              <a:t>Source: Company filings</a:t>
            </a:r>
          </a:p>
        </p:txBody>
      </p:sp>
      <p:graphicFrame>
        <p:nvGraphicFramePr>
          <p:cNvPr id="101" name="Chart"/>
          <p:cNvGraphicFramePr/>
          <p:nvPr/>
        </p:nvGraphicFramePr>
        <p:xfrm>
          <a:off x="776326" y="4946904"/>
          <a:ext cx="11263579" cy="1074420"/>
        </p:xfrm>
        <a:graphic>
          <a:graphicData uri="http://schemas.openxmlformats.org/drawingml/2006/chart">
            <c:chart xmlns:c="http://schemas.openxmlformats.org/drawingml/2006/chart" xmlns:r="http://schemas.openxmlformats.org/officeDocument/2006/relationships" r:id="rId2"/>
          </a:graphicData>
        </a:graphic>
      </p:graphicFrame>
      <p:sp>
        <p:nvSpPr>
          <p:cNvPr id="102" name="ValueLabel"/>
          <p:cNvSpPr txBox="1"/>
          <p:nvPr/>
        </p:nvSpPr>
        <p:spPr>
          <a:xfrm>
            <a:off x="735178" y="5832043"/>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sp>
        <p:nvSpPr>
          <p:cNvPr id="103" name="ValueLabel"/>
          <p:cNvSpPr txBox="1"/>
          <p:nvPr/>
        </p:nvSpPr>
        <p:spPr>
          <a:xfrm>
            <a:off x="677570" y="5628132"/>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04" name="ValueLabel"/>
          <p:cNvSpPr txBox="1"/>
          <p:nvPr/>
        </p:nvSpPr>
        <p:spPr>
          <a:xfrm>
            <a:off x="677570" y="5423306"/>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05" name="ValueLabel"/>
          <p:cNvSpPr txBox="1"/>
          <p:nvPr/>
        </p:nvSpPr>
        <p:spPr>
          <a:xfrm>
            <a:off x="677570" y="5218481"/>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06" name="ValueLabel"/>
          <p:cNvSpPr txBox="1"/>
          <p:nvPr/>
        </p:nvSpPr>
        <p:spPr>
          <a:xfrm>
            <a:off x="677570" y="5013655"/>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07" name="ValueLabel"/>
          <p:cNvSpPr txBox="1"/>
          <p:nvPr/>
        </p:nvSpPr>
        <p:spPr>
          <a:xfrm>
            <a:off x="677570" y="4684471"/>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08" name="ValueLabel"/>
          <p:cNvSpPr txBox="1"/>
          <p:nvPr/>
        </p:nvSpPr>
        <p:spPr>
          <a:xfrm>
            <a:off x="677570" y="4479646"/>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09" name="ValueLabel"/>
          <p:cNvSpPr txBox="1"/>
          <p:nvPr/>
        </p:nvSpPr>
        <p:spPr>
          <a:xfrm>
            <a:off x="677570" y="4274820"/>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10" name="ValueLabel"/>
          <p:cNvSpPr txBox="1"/>
          <p:nvPr/>
        </p:nvSpPr>
        <p:spPr>
          <a:xfrm>
            <a:off x="677570" y="4069994"/>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11" name="ValueLabel"/>
          <p:cNvSpPr txBox="1"/>
          <p:nvPr/>
        </p:nvSpPr>
        <p:spPr>
          <a:xfrm>
            <a:off x="735178" y="4889297"/>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sp>
        <p:nvSpPr>
          <p:cNvPr id="112" name="ValueLabel"/>
          <p:cNvSpPr txBox="1"/>
          <p:nvPr/>
        </p:nvSpPr>
        <p:spPr>
          <a:xfrm>
            <a:off x="677570" y="3741725"/>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13" name="ValueLabel"/>
          <p:cNvSpPr txBox="1"/>
          <p:nvPr/>
        </p:nvSpPr>
        <p:spPr>
          <a:xfrm>
            <a:off x="677570" y="3536899"/>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14" name="ValueLabel"/>
          <p:cNvSpPr txBox="1"/>
          <p:nvPr/>
        </p:nvSpPr>
        <p:spPr>
          <a:xfrm>
            <a:off x="677570" y="3332074"/>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15" name="ValueLabel"/>
          <p:cNvSpPr txBox="1"/>
          <p:nvPr/>
        </p:nvSpPr>
        <p:spPr>
          <a:xfrm>
            <a:off x="677570" y="3127248"/>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16" name="ValueLabel"/>
          <p:cNvSpPr txBox="1"/>
          <p:nvPr/>
        </p:nvSpPr>
        <p:spPr>
          <a:xfrm>
            <a:off x="735178" y="3946550"/>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sp>
        <p:nvSpPr>
          <p:cNvPr id="117" name="ValueLabel"/>
          <p:cNvSpPr txBox="1"/>
          <p:nvPr/>
        </p:nvSpPr>
        <p:spPr>
          <a:xfrm>
            <a:off x="677570" y="2798978"/>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18" name="ValueLabel"/>
          <p:cNvSpPr txBox="1"/>
          <p:nvPr/>
        </p:nvSpPr>
        <p:spPr>
          <a:xfrm>
            <a:off x="677570" y="2594153"/>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19" name="ValueLabel"/>
          <p:cNvSpPr txBox="1"/>
          <p:nvPr/>
        </p:nvSpPr>
        <p:spPr>
          <a:xfrm>
            <a:off x="677570" y="2389327"/>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20" name="ValueLabel"/>
          <p:cNvSpPr txBox="1"/>
          <p:nvPr/>
        </p:nvSpPr>
        <p:spPr>
          <a:xfrm>
            <a:off x="677570" y="2184502"/>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21" name="ValueLabel"/>
          <p:cNvSpPr txBox="1"/>
          <p:nvPr/>
        </p:nvSpPr>
        <p:spPr>
          <a:xfrm>
            <a:off x="735178" y="3003804"/>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sp>
        <p:nvSpPr>
          <p:cNvPr id="122" name="ValueLabel"/>
          <p:cNvSpPr txBox="1"/>
          <p:nvPr/>
        </p:nvSpPr>
        <p:spPr>
          <a:xfrm>
            <a:off x="677570" y="1856232"/>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a:t>
            </a:r>
          </a:p>
        </p:txBody>
      </p:sp>
      <p:sp>
        <p:nvSpPr>
          <p:cNvPr id="123" name="ValueLabel"/>
          <p:cNvSpPr txBox="1"/>
          <p:nvPr/>
        </p:nvSpPr>
        <p:spPr>
          <a:xfrm>
            <a:off x="677570" y="1651406"/>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40</a:t>
            </a:r>
          </a:p>
        </p:txBody>
      </p:sp>
      <p:sp>
        <p:nvSpPr>
          <p:cNvPr id="124" name="ValueLabel"/>
          <p:cNvSpPr txBox="1"/>
          <p:nvPr/>
        </p:nvSpPr>
        <p:spPr>
          <a:xfrm>
            <a:off x="677570" y="1446581"/>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60</a:t>
            </a:r>
          </a:p>
        </p:txBody>
      </p:sp>
      <p:sp>
        <p:nvSpPr>
          <p:cNvPr id="125" name="ValueLabel"/>
          <p:cNvSpPr txBox="1"/>
          <p:nvPr/>
        </p:nvSpPr>
        <p:spPr>
          <a:xfrm>
            <a:off x="677570" y="1241755"/>
            <a:ext cx="114300"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80</a:t>
            </a:r>
          </a:p>
        </p:txBody>
      </p:sp>
      <p:sp>
        <p:nvSpPr>
          <p:cNvPr id="126" name="ValueLabel"/>
          <p:cNvSpPr txBox="1"/>
          <p:nvPr/>
        </p:nvSpPr>
        <p:spPr>
          <a:xfrm>
            <a:off x="735178" y="2060143"/>
            <a:ext cx="56693" cy="122530"/>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0</a:t>
            </a:r>
          </a:p>
        </p:txBody>
      </p:sp>
      <p:cxnSp>
        <p:nvCxnSpPr>
          <p:cNvPr id="127" name="Straight Connector 2020"/>
          <p:cNvCxnSpPr/>
          <p:nvPr/>
        </p:nvCxnSpPr>
        <p:spPr>
          <a:xfrm>
            <a:off x="858622" y="5619902"/>
            <a:ext cx="10819181" cy="0"/>
          </a:xfrm>
          <a:prstGeom prst="line">
            <a:avLst/>
          </a:prstGeom>
          <a:ln w="9525">
            <a:solidFill>
              <a:srgbClr val="162029"/>
            </a:solidFill>
            <a:prstDash val="dash"/>
            <a:tailEnd type="triangle" w="med" len="med"/>
          </a:ln>
        </p:spPr>
      </p:cxnSp>
      <p:sp>
        <p:nvSpPr>
          <p:cNvPr id="128" name="Label"/>
          <p:cNvSpPr txBox="1"/>
          <p:nvPr/>
        </p:nvSpPr>
        <p:spPr>
          <a:xfrm>
            <a:off x="1069848" y="5984748"/>
            <a:ext cx="297180"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Austal</a:t>
            </a:r>
          </a:p>
        </p:txBody>
      </p:sp>
      <p:sp>
        <p:nvSpPr>
          <p:cNvPr id="129" name="Label"/>
          <p:cNvSpPr txBox="1"/>
          <p:nvPr/>
        </p:nvSpPr>
        <p:spPr>
          <a:xfrm>
            <a:off x="1580998" y="5984748"/>
            <a:ext cx="717804"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Hanwha Ocean</a:t>
            </a:r>
          </a:p>
        </p:txBody>
      </p:sp>
      <p:sp>
        <p:nvSpPr>
          <p:cNvPr id="130" name="Label"/>
          <p:cNvSpPr txBox="1"/>
          <p:nvPr/>
        </p:nvSpPr>
        <p:spPr>
          <a:xfrm>
            <a:off x="2419502" y="5984748"/>
            <a:ext cx="482803"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Fincantieri</a:t>
            </a:r>
          </a:p>
        </p:txBody>
      </p:sp>
      <p:sp>
        <p:nvSpPr>
          <p:cNvPr id="131" name="Label"/>
          <p:cNvSpPr txBox="1"/>
          <p:nvPr/>
        </p:nvSpPr>
        <p:spPr>
          <a:xfrm>
            <a:off x="4532681" y="5984748"/>
            <a:ext cx="584302"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Matson (OT)</a:t>
            </a:r>
          </a:p>
        </p:txBody>
      </p:sp>
      <p:sp>
        <p:nvSpPr>
          <p:cNvPr id="132" name="Label"/>
          <p:cNvSpPr txBox="1"/>
          <p:nvPr/>
        </p:nvSpPr>
        <p:spPr>
          <a:xfrm>
            <a:off x="5451653" y="5984748"/>
            <a:ext cx="187452"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ZIM</a:t>
            </a:r>
          </a:p>
        </p:txBody>
      </p:sp>
      <p:sp>
        <p:nvSpPr>
          <p:cNvPr id="133" name="Label"/>
          <p:cNvSpPr txBox="1"/>
          <p:nvPr/>
        </p:nvSpPr>
        <p:spPr>
          <a:xfrm>
            <a:off x="5973775" y="5984748"/>
            <a:ext cx="587045"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Hapag Lloyd</a:t>
            </a:r>
          </a:p>
        </p:txBody>
      </p:sp>
      <p:sp>
        <p:nvSpPr>
          <p:cNvPr id="134" name="Label"/>
          <p:cNvSpPr txBox="1"/>
          <p:nvPr/>
        </p:nvSpPr>
        <p:spPr>
          <a:xfrm>
            <a:off x="6697980" y="5984748"/>
            <a:ext cx="582473"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Maersk (OT)</a:t>
            </a:r>
          </a:p>
        </p:txBody>
      </p:sp>
      <p:sp>
        <p:nvSpPr>
          <p:cNvPr id="135" name="Label"/>
          <p:cNvSpPr txBox="1"/>
          <p:nvPr/>
        </p:nvSpPr>
        <p:spPr>
          <a:xfrm>
            <a:off x="7526426" y="5984748"/>
            <a:ext cx="364846"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Danaos</a:t>
            </a:r>
          </a:p>
        </p:txBody>
      </p:sp>
      <p:sp>
        <p:nvSpPr>
          <p:cNvPr id="136" name="Label"/>
          <p:cNvSpPr txBox="1"/>
          <p:nvPr/>
        </p:nvSpPr>
        <p:spPr>
          <a:xfrm>
            <a:off x="8175650" y="5984748"/>
            <a:ext cx="511150"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Costamare</a:t>
            </a:r>
          </a:p>
        </p:txBody>
      </p:sp>
      <p:sp>
        <p:nvSpPr>
          <p:cNvPr id="137" name="Label"/>
          <p:cNvSpPr txBox="1"/>
          <p:nvPr/>
        </p:nvSpPr>
        <p:spPr>
          <a:xfrm>
            <a:off x="8943746" y="5984748"/>
            <a:ext cx="417881"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Seaspan</a:t>
            </a:r>
          </a:p>
        </p:txBody>
      </p:sp>
      <p:sp>
        <p:nvSpPr>
          <p:cNvPr id="138" name="Label"/>
          <p:cNvSpPr txBox="1"/>
          <p:nvPr/>
        </p:nvSpPr>
        <p:spPr>
          <a:xfrm>
            <a:off x="10450678" y="5984748"/>
            <a:ext cx="288950"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HPHT</a:t>
            </a:r>
          </a:p>
        </p:txBody>
      </p:sp>
      <p:sp>
        <p:nvSpPr>
          <p:cNvPr id="139" name="Label"/>
          <p:cNvSpPr txBox="1"/>
          <p:nvPr/>
        </p:nvSpPr>
        <p:spPr>
          <a:xfrm>
            <a:off x="11193170" y="5984748"/>
            <a:ext cx="244145" cy="122530"/>
          </a:xfrm>
          <a:prstGeom prst="rect">
            <a:avLst/>
          </a:prstGeom>
          <a:noFill/>
          <a:ln>
            <a:noFill/>
          </a:ln>
        </p:spPr>
        <p:txBody>
          <a:bodyPr wrap="none" anchor="t" lIns="0" tIns="0" rIns="0" bIns="0"/>
          <a:lstStyle/>
          <a:p>
            <a:pPr algn="ctr" marL="0" indent="0">
              <a:lnSpc>
                <a:spcPct val="100000"/>
              </a:lnSpc>
              <a:buNone/>
            </a:pPr>
            <a:r>
              <a:rPr lang="en-US" sz="800" dirty="0">
                <a:solidFill>
                  <a:srgbClr val="000000"/>
                </a:solidFill>
                <a:latin typeface="Arial"/>
                <a:ea typeface="Arial"/>
                <a:cs typeface="Arial"/>
              </a:rPr>
              <a:t>ICTS</a:t>
            </a:r>
          </a:p>
        </p:txBody>
      </p:sp>
      <p:sp>
        <p:nvSpPr>
          <p:cNvPr id="140" name="Label"/>
          <p:cNvSpPr txBox="1"/>
          <p:nvPr/>
        </p:nvSpPr>
        <p:spPr>
          <a:xfrm>
            <a:off x="1852574" y="5354726"/>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141" name="Label"/>
          <p:cNvSpPr txBox="1"/>
          <p:nvPr/>
        </p:nvSpPr>
        <p:spPr>
          <a:xfrm>
            <a:off x="2574950" y="5352898"/>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42" name="Label"/>
          <p:cNvSpPr txBox="1"/>
          <p:nvPr/>
        </p:nvSpPr>
        <p:spPr>
          <a:xfrm>
            <a:off x="3998671" y="5410505"/>
            <a:ext cx="209398"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-8%</a:t>
            </a:r>
          </a:p>
        </p:txBody>
      </p:sp>
      <p:sp>
        <p:nvSpPr>
          <p:cNvPr id="143" name="Label"/>
          <p:cNvSpPr txBox="1"/>
          <p:nvPr/>
        </p:nvSpPr>
        <p:spPr>
          <a:xfrm>
            <a:off x="4710074" y="5296205"/>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13%</a:t>
            </a:r>
          </a:p>
        </p:txBody>
      </p:sp>
      <p:sp>
        <p:nvSpPr>
          <p:cNvPr id="144" name="Label"/>
          <p:cNvSpPr txBox="1"/>
          <p:nvPr/>
        </p:nvSpPr>
        <p:spPr>
          <a:xfrm>
            <a:off x="5430622" y="5266944"/>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18%</a:t>
            </a:r>
          </a:p>
        </p:txBody>
      </p:sp>
      <p:sp>
        <p:nvSpPr>
          <p:cNvPr id="145" name="Label"/>
          <p:cNvSpPr txBox="1"/>
          <p:nvPr/>
        </p:nvSpPr>
        <p:spPr>
          <a:xfrm>
            <a:off x="6151169" y="531175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10%</a:t>
            </a:r>
          </a:p>
        </p:txBody>
      </p:sp>
      <p:sp>
        <p:nvSpPr>
          <p:cNvPr id="146" name="Label"/>
          <p:cNvSpPr txBox="1"/>
          <p:nvPr/>
        </p:nvSpPr>
        <p:spPr>
          <a:xfrm>
            <a:off x="6873545" y="530717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11%</a:t>
            </a:r>
          </a:p>
        </p:txBody>
      </p:sp>
      <p:sp>
        <p:nvSpPr>
          <p:cNvPr id="147" name="Label"/>
          <p:cNvSpPr txBox="1"/>
          <p:nvPr/>
        </p:nvSpPr>
        <p:spPr>
          <a:xfrm>
            <a:off x="7595006" y="513069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43%</a:t>
            </a:r>
          </a:p>
        </p:txBody>
      </p:sp>
      <p:sp>
        <p:nvSpPr>
          <p:cNvPr id="148" name="Label"/>
          <p:cNvSpPr txBox="1"/>
          <p:nvPr/>
        </p:nvSpPr>
        <p:spPr>
          <a:xfrm>
            <a:off x="8315554" y="5296205"/>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13%</a:t>
            </a:r>
          </a:p>
        </p:txBody>
      </p:sp>
      <p:sp>
        <p:nvSpPr>
          <p:cNvPr id="149" name="Label"/>
          <p:cNvSpPr txBox="1"/>
          <p:nvPr/>
        </p:nvSpPr>
        <p:spPr>
          <a:xfrm>
            <a:off x="9037930" y="513527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42%</a:t>
            </a:r>
          </a:p>
        </p:txBody>
      </p:sp>
      <p:sp>
        <p:nvSpPr>
          <p:cNvPr id="150" name="Label"/>
          <p:cNvSpPr txBox="1"/>
          <p:nvPr/>
        </p:nvSpPr>
        <p:spPr>
          <a:xfrm>
            <a:off x="1132027" y="5330952"/>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7%</a:t>
            </a:r>
          </a:p>
        </p:txBody>
      </p:sp>
      <p:sp>
        <p:nvSpPr>
          <p:cNvPr id="151" name="Label"/>
          <p:cNvSpPr txBox="1"/>
          <p:nvPr/>
        </p:nvSpPr>
        <p:spPr>
          <a:xfrm>
            <a:off x="9758477" y="519470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32%</a:t>
            </a:r>
          </a:p>
        </p:txBody>
      </p:sp>
      <p:sp>
        <p:nvSpPr>
          <p:cNvPr id="152" name="Label"/>
          <p:cNvSpPr txBox="1"/>
          <p:nvPr/>
        </p:nvSpPr>
        <p:spPr>
          <a:xfrm>
            <a:off x="10479024" y="518830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33%</a:t>
            </a:r>
          </a:p>
        </p:txBody>
      </p:sp>
      <p:sp>
        <p:nvSpPr>
          <p:cNvPr id="153" name="Label"/>
          <p:cNvSpPr txBox="1"/>
          <p:nvPr/>
        </p:nvSpPr>
        <p:spPr>
          <a:xfrm>
            <a:off x="11201400" y="513252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43%</a:t>
            </a:r>
          </a:p>
        </p:txBody>
      </p:sp>
      <p:sp>
        <p:nvSpPr>
          <p:cNvPr id="154" name="Label"/>
          <p:cNvSpPr txBox="1"/>
          <p:nvPr/>
        </p:nvSpPr>
        <p:spPr>
          <a:xfrm>
            <a:off x="1132027" y="4381805"/>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8%</a:t>
            </a:r>
          </a:p>
        </p:txBody>
      </p:sp>
      <p:sp>
        <p:nvSpPr>
          <p:cNvPr id="155" name="Label"/>
          <p:cNvSpPr txBox="1"/>
          <p:nvPr/>
        </p:nvSpPr>
        <p:spPr>
          <a:xfrm>
            <a:off x="1806854" y="4636922"/>
            <a:ext cx="267005"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-39%</a:t>
            </a:r>
          </a:p>
        </p:txBody>
      </p:sp>
      <p:sp>
        <p:nvSpPr>
          <p:cNvPr id="156" name="Label"/>
          <p:cNvSpPr txBox="1"/>
          <p:nvPr/>
        </p:nvSpPr>
        <p:spPr>
          <a:xfrm>
            <a:off x="2574950" y="4401922"/>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a:t>
            </a:r>
          </a:p>
        </p:txBody>
      </p:sp>
      <p:sp>
        <p:nvSpPr>
          <p:cNvPr id="157" name="Label"/>
          <p:cNvSpPr txBox="1"/>
          <p:nvPr/>
        </p:nvSpPr>
        <p:spPr>
          <a:xfrm>
            <a:off x="3998671" y="4440326"/>
            <a:ext cx="209398"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58" name="Label"/>
          <p:cNvSpPr txBox="1"/>
          <p:nvPr/>
        </p:nvSpPr>
        <p:spPr>
          <a:xfrm>
            <a:off x="4710074" y="422635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36%</a:t>
            </a:r>
          </a:p>
        </p:txBody>
      </p:sp>
      <p:sp>
        <p:nvSpPr>
          <p:cNvPr id="159" name="Label"/>
          <p:cNvSpPr txBox="1"/>
          <p:nvPr/>
        </p:nvSpPr>
        <p:spPr>
          <a:xfrm>
            <a:off x="5430622" y="412943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54%</a:t>
            </a:r>
          </a:p>
        </p:txBody>
      </p:sp>
      <p:sp>
        <p:nvSpPr>
          <p:cNvPr id="160" name="Label"/>
          <p:cNvSpPr txBox="1"/>
          <p:nvPr/>
        </p:nvSpPr>
        <p:spPr>
          <a:xfrm>
            <a:off x="6151169" y="4194353"/>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42%</a:t>
            </a:r>
          </a:p>
        </p:txBody>
      </p:sp>
      <p:sp>
        <p:nvSpPr>
          <p:cNvPr id="161" name="Label"/>
          <p:cNvSpPr txBox="1"/>
          <p:nvPr/>
        </p:nvSpPr>
        <p:spPr>
          <a:xfrm>
            <a:off x="6873545" y="422087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37%</a:t>
            </a:r>
          </a:p>
        </p:txBody>
      </p:sp>
      <p:sp>
        <p:nvSpPr>
          <p:cNvPr id="162" name="Label"/>
          <p:cNvSpPr txBox="1"/>
          <p:nvPr/>
        </p:nvSpPr>
        <p:spPr>
          <a:xfrm>
            <a:off x="7595006" y="4140403"/>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52%</a:t>
            </a:r>
          </a:p>
        </p:txBody>
      </p:sp>
      <p:sp>
        <p:nvSpPr>
          <p:cNvPr id="163" name="Label"/>
          <p:cNvSpPr txBox="1"/>
          <p:nvPr/>
        </p:nvSpPr>
        <p:spPr>
          <a:xfrm>
            <a:off x="8315554" y="4121201"/>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56%</a:t>
            </a:r>
          </a:p>
        </p:txBody>
      </p:sp>
      <p:sp>
        <p:nvSpPr>
          <p:cNvPr id="164" name="Label"/>
          <p:cNvSpPr txBox="1"/>
          <p:nvPr/>
        </p:nvSpPr>
        <p:spPr>
          <a:xfrm>
            <a:off x="9037930" y="4162349"/>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48%</a:t>
            </a:r>
          </a:p>
        </p:txBody>
      </p:sp>
      <p:sp>
        <p:nvSpPr>
          <p:cNvPr id="165" name="Label"/>
          <p:cNvSpPr txBox="1"/>
          <p:nvPr/>
        </p:nvSpPr>
        <p:spPr>
          <a:xfrm>
            <a:off x="9758477" y="426384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29%</a:t>
            </a:r>
          </a:p>
        </p:txBody>
      </p:sp>
      <p:sp>
        <p:nvSpPr>
          <p:cNvPr id="166" name="Label"/>
          <p:cNvSpPr txBox="1"/>
          <p:nvPr/>
        </p:nvSpPr>
        <p:spPr>
          <a:xfrm>
            <a:off x="10479024" y="420166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41%</a:t>
            </a:r>
          </a:p>
        </p:txBody>
      </p:sp>
      <p:sp>
        <p:nvSpPr>
          <p:cNvPr id="167" name="Label"/>
          <p:cNvSpPr txBox="1"/>
          <p:nvPr/>
        </p:nvSpPr>
        <p:spPr>
          <a:xfrm>
            <a:off x="11201400" y="416417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48%</a:t>
            </a:r>
          </a:p>
        </p:txBody>
      </p:sp>
      <p:sp>
        <p:nvSpPr>
          <p:cNvPr id="168" name="Label"/>
          <p:cNvSpPr txBox="1"/>
          <p:nvPr/>
        </p:nvSpPr>
        <p:spPr>
          <a:xfrm>
            <a:off x="2574950" y="3481121"/>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0%</a:t>
            </a:r>
          </a:p>
        </p:txBody>
      </p:sp>
      <p:sp>
        <p:nvSpPr>
          <p:cNvPr id="169" name="Label"/>
          <p:cNvSpPr txBox="1"/>
          <p:nvPr/>
        </p:nvSpPr>
        <p:spPr>
          <a:xfrm>
            <a:off x="3295498" y="3480206"/>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0%</a:t>
            </a:r>
          </a:p>
        </p:txBody>
      </p:sp>
      <p:sp>
        <p:nvSpPr>
          <p:cNvPr id="170" name="Label"/>
          <p:cNvSpPr txBox="1"/>
          <p:nvPr/>
        </p:nvSpPr>
        <p:spPr>
          <a:xfrm>
            <a:off x="4016045" y="3470148"/>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171" name="Label"/>
          <p:cNvSpPr txBox="1"/>
          <p:nvPr/>
        </p:nvSpPr>
        <p:spPr>
          <a:xfrm>
            <a:off x="4710074" y="3284525"/>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36%</a:t>
            </a:r>
          </a:p>
        </p:txBody>
      </p:sp>
      <p:sp>
        <p:nvSpPr>
          <p:cNvPr id="172" name="Label"/>
          <p:cNvSpPr txBox="1"/>
          <p:nvPr/>
        </p:nvSpPr>
        <p:spPr>
          <a:xfrm>
            <a:off x="5430622" y="321503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49%</a:t>
            </a:r>
          </a:p>
        </p:txBody>
      </p:sp>
      <p:sp>
        <p:nvSpPr>
          <p:cNvPr id="173" name="Label"/>
          <p:cNvSpPr txBox="1"/>
          <p:nvPr/>
        </p:nvSpPr>
        <p:spPr>
          <a:xfrm>
            <a:off x="6873545" y="323331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45%</a:t>
            </a:r>
          </a:p>
        </p:txBody>
      </p:sp>
      <p:sp>
        <p:nvSpPr>
          <p:cNvPr id="174" name="Label"/>
          <p:cNvSpPr txBox="1"/>
          <p:nvPr/>
        </p:nvSpPr>
        <p:spPr>
          <a:xfrm>
            <a:off x="7595006" y="312267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66%</a:t>
            </a:r>
          </a:p>
        </p:txBody>
      </p:sp>
      <p:sp>
        <p:nvSpPr>
          <p:cNvPr id="175" name="Label"/>
          <p:cNvSpPr txBox="1"/>
          <p:nvPr/>
        </p:nvSpPr>
        <p:spPr>
          <a:xfrm>
            <a:off x="8315554" y="3155594"/>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60%</a:t>
            </a:r>
          </a:p>
        </p:txBody>
      </p:sp>
      <p:sp>
        <p:nvSpPr>
          <p:cNvPr id="176" name="Label"/>
          <p:cNvSpPr txBox="1"/>
          <p:nvPr/>
        </p:nvSpPr>
        <p:spPr>
          <a:xfrm>
            <a:off x="9037930" y="340339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14%</a:t>
            </a:r>
          </a:p>
        </p:txBody>
      </p:sp>
      <p:sp>
        <p:nvSpPr>
          <p:cNvPr id="177" name="Label"/>
          <p:cNvSpPr txBox="1"/>
          <p:nvPr/>
        </p:nvSpPr>
        <p:spPr>
          <a:xfrm>
            <a:off x="9758477" y="3377794"/>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19%</a:t>
            </a:r>
          </a:p>
        </p:txBody>
      </p:sp>
      <p:sp>
        <p:nvSpPr>
          <p:cNvPr id="178" name="Label"/>
          <p:cNvSpPr txBox="1"/>
          <p:nvPr/>
        </p:nvSpPr>
        <p:spPr>
          <a:xfrm>
            <a:off x="10479024" y="328909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35%</a:t>
            </a:r>
          </a:p>
        </p:txBody>
      </p:sp>
      <p:sp>
        <p:nvSpPr>
          <p:cNvPr id="179" name="Label"/>
          <p:cNvSpPr txBox="1"/>
          <p:nvPr/>
        </p:nvSpPr>
        <p:spPr>
          <a:xfrm>
            <a:off x="11201400" y="3203143"/>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51%</a:t>
            </a:r>
          </a:p>
        </p:txBody>
      </p:sp>
      <p:sp>
        <p:nvSpPr>
          <p:cNvPr id="180" name="Label"/>
          <p:cNvSpPr txBox="1"/>
          <p:nvPr/>
        </p:nvSpPr>
        <p:spPr>
          <a:xfrm>
            <a:off x="1132027" y="3461004"/>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a:t>
            </a:r>
          </a:p>
        </p:txBody>
      </p:sp>
      <p:sp>
        <p:nvSpPr>
          <p:cNvPr id="181" name="Label"/>
          <p:cNvSpPr txBox="1"/>
          <p:nvPr/>
        </p:nvSpPr>
        <p:spPr>
          <a:xfrm>
            <a:off x="1806854" y="3662172"/>
            <a:ext cx="267005"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-33%</a:t>
            </a:r>
          </a:p>
        </p:txBody>
      </p:sp>
      <p:sp>
        <p:nvSpPr>
          <p:cNvPr id="182" name="Label"/>
          <p:cNvSpPr txBox="1"/>
          <p:nvPr/>
        </p:nvSpPr>
        <p:spPr>
          <a:xfrm>
            <a:off x="6151169" y="3204972"/>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51%</a:t>
            </a:r>
          </a:p>
        </p:txBody>
      </p:sp>
      <p:sp>
        <p:nvSpPr>
          <p:cNvPr id="183" name="Label"/>
          <p:cNvSpPr txBox="1"/>
          <p:nvPr/>
        </p:nvSpPr>
        <p:spPr>
          <a:xfrm>
            <a:off x="1132027" y="2529230"/>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184" name="Label"/>
          <p:cNvSpPr txBox="1"/>
          <p:nvPr/>
        </p:nvSpPr>
        <p:spPr>
          <a:xfrm>
            <a:off x="1852574" y="2523744"/>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85" name="Label"/>
          <p:cNvSpPr txBox="1"/>
          <p:nvPr/>
        </p:nvSpPr>
        <p:spPr>
          <a:xfrm>
            <a:off x="2574950" y="2521001"/>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86" name="Label"/>
          <p:cNvSpPr txBox="1"/>
          <p:nvPr/>
        </p:nvSpPr>
        <p:spPr>
          <a:xfrm>
            <a:off x="3295498" y="2531974"/>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a:t>
            </a:r>
          </a:p>
        </p:txBody>
      </p:sp>
      <p:sp>
        <p:nvSpPr>
          <p:cNvPr id="187" name="Label"/>
          <p:cNvSpPr txBox="1"/>
          <p:nvPr/>
        </p:nvSpPr>
        <p:spPr>
          <a:xfrm>
            <a:off x="4016045" y="2521001"/>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a:t>
            </a:r>
          </a:p>
        </p:txBody>
      </p:sp>
      <p:sp>
        <p:nvSpPr>
          <p:cNvPr id="188" name="Label"/>
          <p:cNvSpPr txBox="1"/>
          <p:nvPr/>
        </p:nvSpPr>
        <p:spPr>
          <a:xfrm>
            <a:off x="4710074" y="2473452"/>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12%</a:t>
            </a:r>
          </a:p>
        </p:txBody>
      </p:sp>
      <p:sp>
        <p:nvSpPr>
          <p:cNvPr id="189" name="Label"/>
          <p:cNvSpPr txBox="1"/>
          <p:nvPr/>
        </p:nvSpPr>
        <p:spPr>
          <a:xfrm>
            <a:off x="5441594" y="2583180"/>
            <a:ext cx="209398"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-8%</a:t>
            </a:r>
          </a:p>
        </p:txBody>
      </p:sp>
      <p:sp>
        <p:nvSpPr>
          <p:cNvPr id="190" name="Label"/>
          <p:cNvSpPr txBox="1"/>
          <p:nvPr/>
        </p:nvSpPr>
        <p:spPr>
          <a:xfrm>
            <a:off x="6151169" y="246065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14%</a:t>
            </a:r>
          </a:p>
        </p:txBody>
      </p:sp>
      <p:sp>
        <p:nvSpPr>
          <p:cNvPr id="191" name="Label"/>
          <p:cNvSpPr txBox="1"/>
          <p:nvPr/>
        </p:nvSpPr>
        <p:spPr>
          <a:xfrm>
            <a:off x="6902806" y="2501798"/>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7%</a:t>
            </a:r>
          </a:p>
        </p:txBody>
      </p:sp>
      <p:sp>
        <p:nvSpPr>
          <p:cNvPr id="192" name="Label"/>
          <p:cNvSpPr txBox="1"/>
          <p:nvPr/>
        </p:nvSpPr>
        <p:spPr>
          <a:xfrm>
            <a:off x="7595006" y="2212848"/>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60%</a:t>
            </a:r>
          </a:p>
        </p:txBody>
      </p:sp>
      <p:sp>
        <p:nvSpPr>
          <p:cNvPr id="193" name="Label"/>
          <p:cNvSpPr txBox="1"/>
          <p:nvPr/>
        </p:nvSpPr>
        <p:spPr>
          <a:xfrm>
            <a:off x="8315554" y="236829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31%</a:t>
            </a:r>
          </a:p>
        </p:txBody>
      </p:sp>
      <p:sp>
        <p:nvSpPr>
          <p:cNvPr id="194" name="Label"/>
          <p:cNvSpPr txBox="1"/>
          <p:nvPr/>
        </p:nvSpPr>
        <p:spPr>
          <a:xfrm>
            <a:off x="9037930" y="242224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21%</a:t>
            </a:r>
          </a:p>
        </p:txBody>
      </p:sp>
      <p:sp>
        <p:nvSpPr>
          <p:cNvPr id="195" name="Label"/>
          <p:cNvSpPr txBox="1"/>
          <p:nvPr/>
        </p:nvSpPr>
        <p:spPr>
          <a:xfrm>
            <a:off x="9758477" y="2398471"/>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26%</a:t>
            </a:r>
          </a:p>
        </p:txBody>
      </p:sp>
      <p:sp>
        <p:nvSpPr>
          <p:cNvPr id="196" name="Label"/>
          <p:cNvSpPr txBox="1"/>
          <p:nvPr/>
        </p:nvSpPr>
        <p:spPr>
          <a:xfrm>
            <a:off x="10479024" y="236829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31%</a:t>
            </a:r>
          </a:p>
        </p:txBody>
      </p:sp>
      <p:sp>
        <p:nvSpPr>
          <p:cNvPr id="197" name="Label"/>
          <p:cNvSpPr txBox="1"/>
          <p:nvPr/>
        </p:nvSpPr>
        <p:spPr>
          <a:xfrm>
            <a:off x="11201400" y="226222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51%</a:t>
            </a:r>
          </a:p>
        </p:txBody>
      </p:sp>
      <p:sp>
        <p:nvSpPr>
          <p:cNvPr id="198" name="Label"/>
          <p:cNvSpPr txBox="1"/>
          <p:nvPr/>
        </p:nvSpPr>
        <p:spPr>
          <a:xfrm>
            <a:off x="1132027" y="1567282"/>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a:t>
            </a:r>
          </a:p>
        </p:txBody>
      </p:sp>
      <p:sp>
        <p:nvSpPr>
          <p:cNvPr id="199" name="Label"/>
          <p:cNvSpPr txBox="1"/>
          <p:nvPr/>
        </p:nvSpPr>
        <p:spPr>
          <a:xfrm>
            <a:off x="1852574" y="1582826"/>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200" name="Label"/>
          <p:cNvSpPr txBox="1"/>
          <p:nvPr/>
        </p:nvSpPr>
        <p:spPr>
          <a:xfrm>
            <a:off x="2574950" y="1584655"/>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201" name="Label"/>
          <p:cNvSpPr txBox="1"/>
          <p:nvPr/>
        </p:nvSpPr>
        <p:spPr>
          <a:xfrm>
            <a:off x="3295498" y="1565453"/>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6%</a:t>
            </a:r>
          </a:p>
        </p:txBody>
      </p:sp>
      <p:sp>
        <p:nvSpPr>
          <p:cNvPr id="202" name="Label"/>
          <p:cNvSpPr txBox="1"/>
          <p:nvPr/>
        </p:nvSpPr>
        <p:spPr>
          <a:xfrm>
            <a:off x="4016045" y="1582826"/>
            <a:ext cx="176479"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a:t>
            </a:r>
          </a:p>
        </p:txBody>
      </p:sp>
      <p:sp>
        <p:nvSpPr>
          <p:cNvPr id="203" name="Label"/>
          <p:cNvSpPr txBox="1"/>
          <p:nvPr/>
        </p:nvSpPr>
        <p:spPr>
          <a:xfrm>
            <a:off x="4710074" y="1498702"/>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18%</a:t>
            </a:r>
          </a:p>
        </p:txBody>
      </p:sp>
      <p:sp>
        <p:nvSpPr>
          <p:cNvPr id="204" name="Label"/>
          <p:cNvSpPr txBox="1"/>
          <p:nvPr/>
        </p:nvSpPr>
        <p:spPr>
          <a:xfrm>
            <a:off x="6151169" y="1522476"/>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13%</a:t>
            </a:r>
          </a:p>
        </p:txBody>
      </p:sp>
      <p:sp>
        <p:nvSpPr>
          <p:cNvPr id="205" name="Label"/>
          <p:cNvSpPr txBox="1"/>
          <p:nvPr/>
        </p:nvSpPr>
        <p:spPr>
          <a:xfrm>
            <a:off x="6873545" y="1525219"/>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13%</a:t>
            </a:r>
          </a:p>
        </p:txBody>
      </p:sp>
      <p:sp>
        <p:nvSpPr>
          <p:cNvPr id="206" name="Label"/>
          <p:cNvSpPr txBox="1"/>
          <p:nvPr/>
        </p:nvSpPr>
        <p:spPr>
          <a:xfrm>
            <a:off x="7595006" y="1304849"/>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53%</a:t>
            </a:r>
          </a:p>
        </p:txBody>
      </p:sp>
      <p:sp>
        <p:nvSpPr>
          <p:cNvPr id="207" name="Label"/>
          <p:cNvSpPr txBox="1"/>
          <p:nvPr/>
        </p:nvSpPr>
        <p:spPr>
          <a:xfrm>
            <a:off x="8315554" y="147492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22%</a:t>
            </a:r>
          </a:p>
        </p:txBody>
      </p:sp>
      <p:sp>
        <p:nvSpPr>
          <p:cNvPr id="208" name="Label"/>
          <p:cNvSpPr txBox="1"/>
          <p:nvPr/>
        </p:nvSpPr>
        <p:spPr>
          <a:xfrm>
            <a:off x="9037930" y="1446581"/>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27%</a:t>
            </a:r>
          </a:p>
        </p:txBody>
      </p:sp>
      <p:sp>
        <p:nvSpPr>
          <p:cNvPr id="209" name="Label"/>
          <p:cNvSpPr txBox="1"/>
          <p:nvPr/>
        </p:nvSpPr>
        <p:spPr>
          <a:xfrm>
            <a:off x="9758477" y="1431950"/>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30%</a:t>
            </a:r>
          </a:p>
        </p:txBody>
      </p:sp>
      <p:sp>
        <p:nvSpPr>
          <p:cNvPr id="210" name="Label"/>
          <p:cNvSpPr txBox="1"/>
          <p:nvPr/>
        </p:nvSpPr>
        <p:spPr>
          <a:xfrm>
            <a:off x="10479024" y="1388974"/>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38%</a:t>
            </a:r>
          </a:p>
        </p:txBody>
      </p:sp>
      <p:sp>
        <p:nvSpPr>
          <p:cNvPr id="211" name="Label"/>
          <p:cNvSpPr txBox="1"/>
          <p:nvPr/>
        </p:nvSpPr>
        <p:spPr>
          <a:xfrm>
            <a:off x="11201400" y="1300277"/>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54%</a:t>
            </a:r>
          </a:p>
        </p:txBody>
      </p:sp>
      <p:sp>
        <p:nvSpPr>
          <p:cNvPr id="212" name="Label"/>
          <p:cNvSpPr txBox="1"/>
          <p:nvPr/>
        </p:nvSpPr>
        <p:spPr>
          <a:xfrm>
            <a:off x="5430622" y="1365199"/>
            <a:ext cx="233172" cy="122530"/>
          </a:xfrm>
          <a:prstGeom prst="rect">
            <a:avLst/>
          </a:prstGeom>
          <a:noFill/>
          <a:ln>
            <a:noFill/>
          </a:ln>
        </p:spPr>
        <p:txBody>
          <a:bodyPr wrap="none" anchor="b" lIns="14288" tIns="0" rIns="14288" bIns="0"/>
          <a:lstStyle/>
          <a:p>
            <a:pPr algn="ctr" marL="0" indent="0">
              <a:lnSpc>
                <a:spcPct val="100000"/>
              </a:lnSpc>
              <a:buNone/>
            </a:pPr>
            <a:r>
              <a:rPr lang="en-US" sz="800" dirty="0">
                <a:solidFill>
                  <a:srgbClr val="000000"/>
                </a:solidFill>
                <a:latin typeface="Arial"/>
                <a:ea typeface="Arial"/>
                <a:cs typeface="Arial"/>
              </a:rPr>
              <a:t>42%</a:t>
            </a:r>
          </a:p>
        </p:txBody>
      </p:sp>
      <p:sp>
        <p:nvSpPr>
          <p:cNvPr id="213" name="ValueLabel"/>
          <p:cNvSpPr txBox="1"/>
          <p:nvPr/>
        </p:nvSpPr>
        <p:spPr>
          <a:xfrm>
            <a:off x="1897380" y="5799125"/>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6</a:t>
            </a:r>
          </a:p>
        </p:txBody>
      </p:sp>
      <p:sp>
        <p:nvSpPr>
          <p:cNvPr id="214" name="ValueLabel"/>
          <p:cNvSpPr txBox="1"/>
          <p:nvPr/>
        </p:nvSpPr>
        <p:spPr>
          <a:xfrm>
            <a:off x="2617927" y="5796382"/>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7</a:t>
            </a:r>
          </a:p>
        </p:txBody>
      </p:sp>
      <p:sp>
        <p:nvSpPr>
          <p:cNvPr id="215" name="ValueLabel"/>
          <p:cNvSpPr txBox="1"/>
          <p:nvPr/>
        </p:nvSpPr>
        <p:spPr>
          <a:xfrm>
            <a:off x="4032504" y="5723230"/>
            <a:ext cx="142646"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21</a:t>
            </a:r>
          </a:p>
        </p:txBody>
      </p:sp>
      <p:sp>
        <p:nvSpPr>
          <p:cNvPr id="216" name="ValueLabel"/>
          <p:cNvSpPr txBox="1"/>
          <p:nvPr/>
        </p:nvSpPr>
        <p:spPr>
          <a:xfrm>
            <a:off x="4781398" y="5822899"/>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17" name="ValueLabel"/>
          <p:cNvSpPr txBox="1"/>
          <p:nvPr/>
        </p:nvSpPr>
        <p:spPr>
          <a:xfrm>
            <a:off x="5501945" y="5811926"/>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18" name="ValueLabel"/>
          <p:cNvSpPr txBox="1"/>
          <p:nvPr/>
        </p:nvSpPr>
        <p:spPr>
          <a:xfrm>
            <a:off x="6195974" y="5757977"/>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15</a:t>
            </a:r>
          </a:p>
        </p:txBody>
      </p:sp>
      <p:sp>
        <p:nvSpPr>
          <p:cNvPr id="219" name="ValueLabel"/>
          <p:cNvSpPr txBox="1"/>
          <p:nvPr/>
        </p:nvSpPr>
        <p:spPr>
          <a:xfrm>
            <a:off x="6916522" y="5682996"/>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29</a:t>
            </a:r>
          </a:p>
        </p:txBody>
      </p:sp>
      <p:sp>
        <p:nvSpPr>
          <p:cNvPr id="220" name="ValueLabel"/>
          <p:cNvSpPr txBox="1"/>
          <p:nvPr/>
        </p:nvSpPr>
        <p:spPr>
          <a:xfrm>
            <a:off x="7666330" y="5829300"/>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0</a:t>
            </a:r>
          </a:p>
        </p:txBody>
      </p:sp>
      <p:sp>
        <p:nvSpPr>
          <p:cNvPr id="221" name="ValueLabel"/>
          <p:cNvSpPr txBox="1"/>
          <p:nvPr/>
        </p:nvSpPr>
        <p:spPr>
          <a:xfrm>
            <a:off x="8388706" y="5829300"/>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0</a:t>
            </a:r>
          </a:p>
        </p:txBody>
      </p:sp>
      <p:sp>
        <p:nvSpPr>
          <p:cNvPr id="222" name="ValueLabel"/>
          <p:cNvSpPr txBox="1"/>
          <p:nvPr/>
        </p:nvSpPr>
        <p:spPr>
          <a:xfrm>
            <a:off x="9829800" y="5811926"/>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23" name="ValueLabel"/>
          <p:cNvSpPr txBox="1"/>
          <p:nvPr/>
        </p:nvSpPr>
        <p:spPr>
          <a:xfrm>
            <a:off x="9109253" y="5826557"/>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24" name="ValueLabel"/>
          <p:cNvSpPr txBox="1"/>
          <p:nvPr/>
        </p:nvSpPr>
        <p:spPr>
          <a:xfrm>
            <a:off x="11272723" y="5824728"/>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25" name="ValueLabel"/>
          <p:cNvSpPr txBox="1"/>
          <p:nvPr/>
        </p:nvSpPr>
        <p:spPr>
          <a:xfrm>
            <a:off x="1175004" y="5824728"/>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26" name="ValueLabel"/>
          <p:cNvSpPr txBox="1"/>
          <p:nvPr/>
        </p:nvSpPr>
        <p:spPr>
          <a:xfrm>
            <a:off x="10552176" y="5824728"/>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27" name="ValueLabel"/>
          <p:cNvSpPr txBox="1"/>
          <p:nvPr/>
        </p:nvSpPr>
        <p:spPr>
          <a:xfrm>
            <a:off x="1175004" y="4882896"/>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28" name="ValueLabel"/>
          <p:cNvSpPr txBox="1"/>
          <p:nvPr/>
        </p:nvSpPr>
        <p:spPr>
          <a:xfrm>
            <a:off x="1897380" y="4870094"/>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29" name="ValueLabel"/>
          <p:cNvSpPr txBox="1"/>
          <p:nvPr/>
        </p:nvSpPr>
        <p:spPr>
          <a:xfrm>
            <a:off x="2617927" y="4849978"/>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30" name="ValueLabel"/>
          <p:cNvSpPr txBox="1"/>
          <p:nvPr/>
        </p:nvSpPr>
        <p:spPr>
          <a:xfrm>
            <a:off x="4032504" y="478779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20</a:t>
            </a:r>
          </a:p>
        </p:txBody>
      </p:sp>
      <p:sp>
        <p:nvSpPr>
          <p:cNvPr id="231" name="ValueLabel"/>
          <p:cNvSpPr txBox="1"/>
          <p:nvPr/>
        </p:nvSpPr>
        <p:spPr>
          <a:xfrm>
            <a:off x="4781398" y="4873752"/>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a:t>
            </a:r>
          </a:p>
        </p:txBody>
      </p:sp>
      <p:sp>
        <p:nvSpPr>
          <p:cNvPr id="232" name="ValueLabel"/>
          <p:cNvSpPr txBox="1"/>
          <p:nvPr/>
        </p:nvSpPr>
        <p:spPr>
          <a:xfrm>
            <a:off x="5473598" y="483351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11</a:t>
            </a:r>
          </a:p>
        </p:txBody>
      </p:sp>
      <p:sp>
        <p:nvSpPr>
          <p:cNvPr id="233" name="ValueLabel"/>
          <p:cNvSpPr txBox="1"/>
          <p:nvPr/>
        </p:nvSpPr>
        <p:spPr>
          <a:xfrm>
            <a:off x="6916522" y="4641494"/>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48</a:t>
            </a:r>
          </a:p>
        </p:txBody>
      </p:sp>
      <p:sp>
        <p:nvSpPr>
          <p:cNvPr id="234" name="ValueLabel"/>
          <p:cNvSpPr txBox="1"/>
          <p:nvPr/>
        </p:nvSpPr>
        <p:spPr>
          <a:xfrm>
            <a:off x="7666330" y="4886554"/>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35" name="ValueLabel"/>
          <p:cNvSpPr txBox="1"/>
          <p:nvPr/>
        </p:nvSpPr>
        <p:spPr>
          <a:xfrm>
            <a:off x="8388706" y="4884725"/>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36" name="ValueLabel"/>
          <p:cNvSpPr txBox="1"/>
          <p:nvPr/>
        </p:nvSpPr>
        <p:spPr>
          <a:xfrm>
            <a:off x="9109253" y="4881982"/>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37" name="ValueLabel"/>
          <p:cNvSpPr txBox="1"/>
          <p:nvPr/>
        </p:nvSpPr>
        <p:spPr>
          <a:xfrm>
            <a:off x="9829800" y="4869180"/>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38" name="ValueLabel"/>
          <p:cNvSpPr txBox="1"/>
          <p:nvPr/>
        </p:nvSpPr>
        <p:spPr>
          <a:xfrm>
            <a:off x="10552176" y="4880153"/>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39" name="ValueLabel"/>
          <p:cNvSpPr txBox="1"/>
          <p:nvPr/>
        </p:nvSpPr>
        <p:spPr>
          <a:xfrm>
            <a:off x="11272723" y="4880153"/>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40" name="ValueLabel"/>
          <p:cNvSpPr txBox="1"/>
          <p:nvPr/>
        </p:nvSpPr>
        <p:spPr>
          <a:xfrm>
            <a:off x="6195974" y="4754880"/>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26</a:t>
            </a:r>
          </a:p>
        </p:txBody>
      </p:sp>
      <p:sp>
        <p:nvSpPr>
          <p:cNvPr id="241" name="ValueLabel"/>
          <p:cNvSpPr txBox="1"/>
          <p:nvPr/>
        </p:nvSpPr>
        <p:spPr>
          <a:xfrm>
            <a:off x="1897380" y="3925519"/>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42" name="ValueLabel"/>
          <p:cNvSpPr txBox="1"/>
          <p:nvPr/>
        </p:nvSpPr>
        <p:spPr>
          <a:xfrm>
            <a:off x="2617927" y="3905402"/>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43" name="ValueLabel"/>
          <p:cNvSpPr txBox="1"/>
          <p:nvPr/>
        </p:nvSpPr>
        <p:spPr>
          <a:xfrm>
            <a:off x="3310128" y="3886200"/>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12</a:t>
            </a:r>
          </a:p>
        </p:txBody>
      </p:sp>
      <p:sp>
        <p:nvSpPr>
          <p:cNvPr id="244" name="ValueLabel"/>
          <p:cNvSpPr txBox="1"/>
          <p:nvPr/>
        </p:nvSpPr>
        <p:spPr>
          <a:xfrm>
            <a:off x="4032504" y="3840480"/>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21</a:t>
            </a:r>
          </a:p>
        </p:txBody>
      </p:sp>
      <p:sp>
        <p:nvSpPr>
          <p:cNvPr id="245" name="ValueLabel"/>
          <p:cNvSpPr txBox="1"/>
          <p:nvPr/>
        </p:nvSpPr>
        <p:spPr>
          <a:xfrm>
            <a:off x="4781398" y="3927348"/>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46" name="ValueLabel"/>
          <p:cNvSpPr txBox="1"/>
          <p:nvPr/>
        </p:nvSpPr>
        <p:spPr>
          <a:xfrm>
            <a:off x="5473598" y="388162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13</a:t>
            </a:r>
          </a:p>
        </p:txBody>
      </p:sp>
      <p:sp>
        <p:nvSpPr>
          <p:cNvPr id="247" name="ValueLabel"/>
          <p:cNvSpPr txBox="1"/>
          <p:nvPr/>
        </p:nvSpPr>
        <p:spPr>
          <a:xfrm>
            <a:off x="6195974" y="375909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36</a:t>
            </a:r>
          </a:p>
        </p:txBody>
      </p:sp>
      <p:sp>
        <p:nvSpPr>
          <p:cNvPr id="248" name="ValueLabel"/>
          <p:cNvSpPr txBox="1"/>
          <p:nvPr/>
        </p:nvSpPr>
        <p:spPr>
          <a:xfrm>
            <a:off x="6916522" y="3616452"/>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64</a:t>
            </a:r>
          </a:p>
        </p:txBody>
      </p:sp>
      <p:sp>
        <p:nvSpPr>
          <p:cNvPr id="249" name="ValueLabel"/>
          <p:cNvSpPr txBox="1"/>
          <p:nvPr/>
        </p:nvSpPr>
        <p:spPr>
          <a:xfrm>
            <a:off x="7666330" y="3941978"/>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50" name="ValueLabel"/>
          <p:cNvSpPr txBox="1"/>
          <p:nvPr/>
        </p:nvSpPr>
        <p:spPr>
          <a:xfrm>
            <a:off x="8388706" y="3940150"/>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51" name="ValueLabel"/>
          <p:cNvSpPr txBox="1"/>
          <p:nvPr/>
        </p:nvSpPr>
        <p:spPr>
          <a:xfrm>
            <a:off x="9109253" y="3938321"/>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52" name="ValueLabel"/>
          <p:cNvSpPr txBox="1"/>
          <p:nvPr/>
        </p:nvSpPr>
        <p:spPr>
          <a:xfrm>
            <a:off x="9829800" y="3924605"/>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53" name="ValueLabel"/>
          <p:cNvSpPr txBox="1"/>
          <p:nvPr/>
        </p:nvSpPr>
        <p:spPr>
          <a:xfrm>
            <a:off x="10552176" y="3938321"/>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54" name="ValueLabel"/>
          <p:cNvSpPr txBox="1"/>
          <p:nvPr/>
        </p:nvSpPr>
        <p:spPr>
          <a:xfrm>
            <a:off x="11272723" y="3935578"/>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55" name="ValueLabel"/>
          <p:cNvSpPr txBox="1"/>
          <p:nvPr/>
        </p:nvSpPr>
        <p:spPr>
          <a:xfrm>
            <a:off x="1175004" y="3940150"/>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56" name="ValueLabel"/>
          <p:cNvSpPr txBox="1"/>
          <p:nvPr/>
        </p:nvSpPr>
        <p:spPr>
          <a:xfrm>
            <a:off x="1175004" y="2997403"/>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57" name="ValueLabel"/>
          <p:cNvSpPr txBox="1"/>
          <p:nvPr/>
        </p:nvSpPr>
        <p:spPr>
          <a:xfrm>
            <a:off x="1897380" y="2973629"/>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6</a:t>
            </a:r>
          </a:p>
        </p:txBody>
      </p:sp>
      <p:sp>
        <p:nvSpPr>
          <p:cNvPr id="258" name="ValueLabel"/>
          <p:cNvSpPr txBox="1"/>
          <p:nvPr/>
        </p:nvSpPr>
        <p:spPr>
          <a:xfrm>
            <a:off x="2617927" y="2958998"/>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59" name="ValueLabel"/>
          <p:cNvSpPr txBox="1"/>
          <p:nvPr/>
        </p:nvSpPr>
        <p:spPr>
          <a:xfrm>
            <a:off x="3310128" y="2919679"/>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16</a:t>
            </a:r>
          </a:p>
        </p:txBody>
      </p:sp>
      <p:sp>
        <p:nvSpPr>
          <p:cNvPr id="260" name="ValueLabel"/>
          <p:cNvSpPr txBox="1"/>
          <p:nvPr/>
        </p:nvSpPr>
        <p:spPr>
          <a:xfrm>
            <a:off x="4032504" y="2874874"/>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25</a:t>
            </a:r>
          </a:p>
        </p:txBody>
      </p:sp>
      <p:sp>
        <p:nvSpPr>
          <p:cNvPr id="261" name="ValueLabel"/>
          <p:cNvSpPr txBox="1"/>
          <p:nvPr/>
        </p:nvSpPr>
        <p:spPr>
          <a:xfrm>
            <a:off x="4781398" y="2991002"/>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62" name="ValueLabel"/>
          <p:cNvSpPr txBox="1"/>
          <p:nvPr/>
        </p:nvSpPr>
        <p:spPr>
          <a:xfrm>
            <a:off x="6195974" y="2905049"/>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19</a:t>
            </a:r>
          </a:p>
        </p:txBody>
      </p:sp>
      <p:sp>
        <p:nvSpPr>
          <p:cNvPr id="263" name="ValueLabel"/>
          <p:cNvSpPr txBox="1"/>
          <p:nvPr/>
        </p:nvSpPr>
        <p:spPr>
          <a:xfrm>
            <a:off x="6916522" y="2830068"/>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34</a:t>
            </a:r>
          </a:p>
        </p:txBody>
      </p:sp>
      <p:sp>
        <p:nvSpPr>
          <p:cNvPr id="264" name="ValueLabel"/>
          <p:cNvSpPr txBox="1"/>
          <p:nvPr/>
        </p:nvSpPr>
        <p:spPr>
          <a:xfrm>
            <a:off x="7666330" y="2999232"/>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65" name="ValueLabel"/>
          <p:cNvSpPr txBox="1"/>
          <p:nvPr/>
        </p:nvSpPr>
        <p:spPr>
          <a:xfrm>
            <a:off x="8388706" y="2995574"/>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66" name="ValueLabel"/>
          <p:cNvSpPr txBox="1"/>
          <p:nvPr/>
        </p:nvSpPr>
        <p:spPr>
          <a:xfrm>
            <a:off x="9109253" y="2993746"/>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67" name="ValueLabel"/>
          <p:cNvSpPr txBox="1"/>
          <p:nvPr/>
        </p:nvSpPr>
        <p:spPr>
          <a:xfrm>
            <a:off x="9829800" y="2982773"/>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68" name="ValueLabel"/>
          <p:cNvSpPr txBox="1"/>
          <p:nvPr/>
        </p:nvSpPr>
        <p:spPr>
          <a:xfrm>
            <a:off x="10552176" y="2995574"/>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69" name="ValueLabel"/>
          <p:cNvSpPr txBox="1"/>
          <p:nvPr/>
        </p:nvSpPr>
        <p:spPr>
          <a:xfrm>
            <a:off x="11272723" y="2991002"/>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70" name="ValueLabel"/>
          <p:cNvSpPr txBox="1"/>
          <p:nvPr/>
        </p:nvSpPr>
        <p:spPr>
          <a:xfrm>
            <a:off x="5501945" y="2976372"/>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5</a:t>
            </a:r>
          </a:p>
        </p:txBody>
      </p:sp>
      <p:sp>
        <p:nvSpPr>
          <p:cNvPr id="271" name="ValueLabel"/>
          <p:cNvSpPr txBox="1"/>
          <p:nvPr/>
        </p:nvSpPr>
        <p:spPr>
          <a:xfrm>
            <a:off x="1175004" y="2054657"/>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72" name="ValueLabel"/>
          <p:cNvSpPr txBox="1"/>
          <p:nvPr/>
        </p:nvSpPr>
        <p:spPr>
          <a:xfrm>
            <a:off x="1897380" y="2022653"/>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7</a:t>
            </a:r>
          </a:p>
        </p:txBody>
      </p:sp>
      <p:sp>
        <p:nvSpPr>
          <p:cNvPr id="273" name="ValueLabel"/>
          <p:cNvSpPr txBox="1"/>
          <p:nvPr/>
        </p:nvSpPr>
        <p:spPr>
          <a:xfrm>
            <a:off x="2617927" y="2018081"/>
            <a:ext cx="85954" cy="122530"/>
          </a:xfrm>
          <a:prstGeom prst="rect">
            <a:avLst/>
          </a:prstGeom>
          <a:solidFill>
            <a:srgbClr val="C30C3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74" name="ValueLabel"/>
          <p:cNvSpPr txBox="1"/>
          <p:nvPr/>
        </p:nvSpPr>
        <p:spPr>
          <a:xfrm>
            <a:off x="3310128" y="1971446"/>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17</a:t>
            </a:r>
          </a:p>
        </p:txBody>
      </p:sp>
      <p:sp>
        <p:nvSpPr>
          <p:cNvPr id="275" name="ValueLabel"/>
          <p:cNvSpPr txBox="1"/>
          <p:nvPr/>
        </p:nvSpPr>
        <p:spPr>
          <a:xfrm>
            <a:off x="4032504" y="1940357"/>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23</a:t>
            </a:r>
          </a:p>
        </p:txBody>
      </p:sp>
      <p:sp>
        <p:nvSpPr>
          <p:cNvPr id="276" name="ValueLabel"/>
          <p:cNvSpPr txBox="1"/>
          <p:nvPr/>
        </p:nvSpPr>
        <p:spPr>
          <a:xfrm>
            <a:off x="4781398" y="2046427"/>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a:t>
            </a:r>
          </a:p>
        </p:txBody>
      </p:sp>
      <p:sp>
        <p:nvSpPr>
          <p:cNvPr id="277" name="ValueLabel"/>
          <p:cNvSpPr txBox="1"/>
          <p:nvPr/>
        </p:nvSpPr>
        <p:spPr>
          <a:xfrm>
            <a:off x="5501945" y="2018081"/>
            <a:ext cx="85954" cy="122530"/>
          </a:xfrm>
          <a:prstGeom prst="rect">
            <a:avLst/>
          </a:prstGeom>
          <a:solidFill>
            <a:srgbClr val="364D6E"/>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8</a:t>
            </a:r>
          </a:p>
        </p:txBody>
      </p:sp>
      <p:sp>
        <p:nvSpPr>
          <p:cNvPr id="278" name="ValueLabel"/>
          <p:cNvSpPr txBox="1"/>
          <p:nvPr/>
        </p:nvSpPr>
        <p:spPr>
          <a:xfrm>
            <a:off x="6195974" y="1955902"/>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20</a:t>
            </a:r>
          </a:p>
        </p:txBody>
      </p:sp>
      <p:sp>
        <p:nvSpPr>
          <p:cNvPr id="279" name="ValueLabel"/>
          <p:cNvSpPr txBox="1"/>
          <p:nvPr/>
        </p:nvSpPr>
        <p:spPr>
          <a:xfrm>
            <a:off x="6916522" y="1868119"/>
            <a:ext cx="142646" cy="122530"/>
          </a:xfrm>
          <a:prstGeom prst="rect">
            <a:avLst/>
          </a:prstGeom>
          <a:no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37</a:t>
            </a:r>
          </a:p>
        </p:txBody>
      </p:sp>
      <p:sp>
        <p:nvSpPr>
          <p:cNvPr id="280" name="ValueLabel"/>
          <p:cNvSpPr txBox="1"/>
          <p:nvPr/>
        </p:nvSpPr>
        <p:spPr>
          <a:xfrm>
            <a:off x="7666330" y="2054657"/>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81" name="ValueLabel"/>
          <p:cNvSpPr txBox="1"/>
          <p:nvPr/>
        </p:nvSpPr>
        <p:spPr>
          <a:xfrm>
            <a:off x="8388706" y="2049170"/>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82" name="ValueLabel"/>
          <p:cNvSpPr txBox="1"/>
          <p:nvPr/>
        </p:nvSpPr>
        <p:spPr>
          <a:xfrm>
            <a:off x="9109253" y="2048256"/>
            <a:ext cx="85954" cy="122530"/>
          </a:xfrm>
          <a:prstGeom prst="rect">
            <a:avLst/>
          </a:prstGeom>
          <a:solidFill>
            <a:srgbClr val="007770"/>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2</a:t>
            </a:r>
          </a:p>
        </p:txBody>
      </p:sp>
      <p:sp>
        <p:nvSpPr>
          <p:cNvPr id="283" name="ValueLabel"/>
          <p:cNvSpPr txBox="1"/>
          <p:nvPr/>
        </p:nvSpPr>
        <p:spPr>
          <a:xfrm>
            <a:off x="9829800" y="2036369"/>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4</a:t>
            </a:r>
          </a:p>
        </p:txBody>
      </p:sp>
      <p:sp>
        <p:nvSpPr>
          <p:cNvPr id="284" name="ValueLabel"/>
          <p:cNvSpPr txBox="1"/>
          <p:nvPr/>
        </p:nvSpPr>
        <p:spPr>
          <a:xfrm>
            <a:off x="10552176" y="2052828"/>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1</a:t>
            </a:r>
          </a:p>
        </p:txBody>
      </p:sp>
      <p:sp>
        <p:nvSpPr>
          <p:cNvPr id="285" name="ValueLabel"/>
          <p:cNvSpPr txBox="1"/>
          <p:nvPr/>
        </p:nvSpPr>
        <p:spPr>
          <a:xfrm>
            <a:off x="11272723" y="2046427"/>
            <a:ext cx="85954" cy="122530"/>
          </a:xfrm>
          <a:prstGeom prst="rect">
            <a:avLst/>
          </a:prstGeom>
          <a:solidFill>
            <a:srgbClr val="6F8DB9"/>
          </a:solidFill>
          <a:ln>
            <a:noFill/>
          </a:ln>
        </p:spPr>
        <p:txBody>
          <a:bodyPr wrap="none" anchor="ctr" lIns="14288" tIns="0" rIns="14288" bIns="0"/>
          <a:lstStyle/>
          <a:p>
            <a:pPr algn="ctr" marL="0" indent="0">
              <a:lnSpc>
                <a:spcPct val="100000"/>
              </a:lnSpc>
              <a:buNone/>
            </a:pPr>
            <a:r>
              <a:rPr lang="en-US" sz="800" dirty="0">
                <a:solidFill>
                  <a:srgbClr val="FFFFFF"/>
                </a:solidFill>
                <a:latin typeface="Arial"/>
                <a:ea typeface="Arial"/>
                <a:cs typeface="Arial"/>
              </a:rPr>
              <a:t>3</a:t>
            </a:r>
          </a:p>
        </p:txBody>
      </p:sp>
      <p:sp>
        <p:nvSpPr>
          <p:cNvPr id="286" name="Label"/>
          <p:cNvSpPr txBox="1"/>
          <p:nvPr/>
        </p:nvSpPr>
        <p:spPr>
          <a:xfrm>
            <a:off x="3100730" y="5984748"/>
            <a:ext cx="562356" cy="244145"/>
          </a:xfrm>
          <a:prstGeom prst="rect">
            <a:avLst/>
          </a:prstGeom>
          <a:noFill/>
          <a:ln>
            <a:noFill/>
          </a:ln>
        </p:spPr>
        <p:txBody>
          <a:bodyPr wrap="square" anchor="t" lIns="0" tIns="0" rIns="0" bIns="0"/>
          <a:lstStyle/>
          <a:p>
            <a:pPr algn="ctr" marL="0" indent="0">
              <a:lnSpc>
                <a:spcPct val="100000"/>
              </a:lnSpc>
              <a:buNone/>
            </a:pPr>
            <a:r>
              <a:rPr lang="en-US" sz="800" dirty="0">
                <a:solidFill>
                  <a:srgbClr val="000000"/>
                </a:solidFill>
                <a:latin typeface="Arial"/>
                <a:ea typeface="Arial"/>
                <a:cs typeface="Arial"/>
              </a:rPr>
              <a:t>HD Hyundai KSOE</a:t>
            </a:r>
          </a:p>
        </p:txBody>
      </p:sp>
      <p:sp>
        <p:nvSpPr>
          <p:cNvPr id="287" name="Label"/>
          <p:cNvSpPr txBox="1"/>
          <p:nvPr/>
        </p:nvSpPr>
        <p:spPr>
          <a:xfrm>
            <a:off x="3881628" y="5984748"/>
            <a:ext cx="444398" cy="244145"/>
          </a:xfrm>
          <a:prstGeom prst="rect">
            <a:avLst/>
          </a:prstGeom>
          <a:noFill/>
          <a:ln>
            <a:noFill/>
          </a:ln>
        </p:spPr>
        <p:txBody>
          <a:bodyPr wrap="square" anchor="t" lIns="0" tIns="0" rIns="0" bIns="0"/>
          <a:lstStyle/>
          <a:p>
            <a:pPr algn="ctr" marL="0" indent="0">
              <a:lnSpc>
                <a:spcPct val="100000"/>
              </a:lnSpc>
              <a:buNone/>
            </a:pPr>
            <a:r>
              <a:rPr lang="en-US" sz="800" dirty="0">
                <a:solidFill>
                  <a:srgbClr val="000000"/>
                </a:solidFill>
                <a:latin typeface="Arial"/>
                <a:ea typeface="Arial"/>
                <a:cs typeface="Arial"/>
              </a:rPr>
              <a:t>Samsung Heavy</a:t>
            </a:r>
          </a:p>
        </p:txBody>
      </p:sp>
      <p:sp>
        <p:nvSpPr>
          <p:cNvPr id="288" name="Label"/>
          <p:cNvSpPr txBox="1"/>
          <p:nvPr/>
        </p:nvSpPr>
        <p:spPr>
          <a:xfrm>
            <a:off x="9610344" y="5984748"/>
            <a:ext cx="525780" cy="244145"/>
          </a:xfrm>
          <a:prstGeom prst="rect">
            <a:avLst/>
          </a:prstGeom>
          <a:noFill/>
          <a:ln>
            <a:noFill/>
          </a:ln>
        </p:spPr>
        <p:txBody>
          <a:bodyPr wrap="square" anchor="t" lIns="0" tIns="0" rIns="0" bIns="0"/>
          <a:lstStyle/>
          <a:p>
            <a:pPr algn="ctr" marL="0" indent="0">
              <a:lnSpc>
                <a:spcPct val="100000"/>
              </a:lnSpc>
              <a:buNone/>
            </a:pPr>
            <a:r>
              <a:rPr lang="en-US" sz="800" dirty="0">
                <a:solidFill>
                  <a:srgbClr val="000000"/>
                </a:solidFill>
                <a:latin typeface="Arial"/>
                <a:ea typeface="Arial"/>
                <a:cs typeface="Arial"/>
              </a:rPr>
              <a:t>Maersk (Terminals)</a:t>
            </a:r>
          </a:p>
        </p:txBody>
      </p:sp>
      <p:sp>
        <p:nvSpPr>
          <p:cNvPr id="289" name="Label"/>
          <p:cNvSpPr txBox="1"/>
          <p:nvPr/>
        </p:nvSpPr>
        <p:spPr>
          <a:xfrm>
            <a:off x="1058875" y="6238037"/>
            <a:ext cx="3340303" cy="141732"/>
          </a:xfrm>
          <a:prstGeom prst="rect">
            <a:avLst/>
          </a:prstGeom>
          <a:solidFill>
            <a:srgbClr val="C30C3E"/>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Shipbuilders</a:t>
            </a:r>
          </a:p>
        </p:txBody>
      </p:sp>
      <p:sp>
        <p:nvSpPr>
          <p:cNvPr id="290" name="Label"/>
          <p:cNvSpPr txBox="1"/>
          <p:nvPr/>
        </p:nvSpPr>
        <p:spPr>
          <a:xfrm>
            <a:off x="7507224" y="6238037"/>
            <a:ext cx="1922069" cy="141732"/>
          </a:xfrm>
          <a:prstGeom prst="rect">
            <a:avLst/>
          </a:prstGeom>
          <a:solidFill>
            <a:srgbClr val="207349"/>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Charter Companies</a:t>
            </a:r>
          </a:p>
        </p:txBody>
      </p:sp>
      <p:sp>
        <p:nvSpPr>
          <p:cNvPr id="291" name="Label"/>
          <p:cNvSpPr txBox="1"/>
          <p:nvPr/>
        </p:nvSpPr>
        <p:spPr>
          <a:xfrm>
            <a:off x="9708185" y="6238037"/>
            <a:ext cx="1922069" cy="141732"/>
          </a:xfrm>
          <a:prstGeom prst="rect">
            <a:avLst/>
          </a:prstGeom>
          <a:solidFill>
            <a:srgbClr val="6F8DB9"/>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Terminal Operators</a:t>
            </a:r>
          </a:p>
        </p:txBody>
      </p:sp>
      <p:sp>
        <p:nvSpPr>
          <p:cNvPr id="292" name="Label"/>
          <p:cNvSpPr txBox="1"/>
          <p:nvPr/>
        </p:nvSpPr>
        <p:spPr>
          <a:xfrm>
            <a:off x="52121" y="2262226"/>
            <a:ext cx="556870" cy="784555"/>
          </a:xfrm>
          <a:prstGeom prst="rect">
            <a:avLst/>
          </a:prstGeom>
          <a:solidFill>
            <a:srgbClr val="A6A6A6"/>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2023</a:t>
            </a:r>
          </a:p>
        </p:txBody>
      </p:sp>
      <p:sp>
        <p:nvSpPr>
          <p:cNvPr id="293" name="Label"/>
          <p:cNvSpPr txBox="1"/>
          <p:nvPr/>
        </p:nvSpPr>
        <p:spPr>
          <a:xfrm>
            <a:off x="52121" y="1319479"/>
            <a:ext cx="556870" cy="784555"/>
          </a:xfrm>
          <a:prstGeom prst="rect">
            <a:avLst/>
          </a:prstGeom>
          <a:solidFill>
            <a:srgbClr val="808080"/>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2024</a:t>
            </a:r>
          </a:p>
        </p:txBody>
      </p:sp>
      <p:sp>
        <p:nvSpPr>
          <p:cNvPr id="294" name="Rectangle 2147"/>
          <p:cNvSpPr txBox="1"/>
          <p:nvPr/>
        </p:nvSpPr>
        <p:spPr>
          <a:xfrm>
            <a:off x="4634179" y="6238037"/>
            <a:ext cx="2590495" cy="141732"/>
          </a:xfrm>
          <a:prstGeom prst="rect">
            <a:avLst/>
          </a:prstGeom>
          <a:solidFill>
            <a:srgbClr val="364D6E"/>
          </a:solidFill>
          <a:ln>
            <a:noFill/>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Owner/Operator </a:t>
            </a:r>
            <a:r>
              <a:rPr lang="en-US" sz="1000" i="1" dirty="0">
                <a:solidFill>
                  <a:srgbClr val="FFFFFF"/>
                </a:solidFill>
                <a:latin typeface="Arial"/>
                <a:ea typeface="Arial"/>
                <a:cs typeface="Arial"/>
              </a:rPr>
              <a:t>(Carrier Segment)</a:t>
            </a:r>
          </a:p>
        </p:txBody>
      </p:sp>
      <p:graphicFrame>
        <p:nvGraphicFramePr>
          <p:cNvPr id="295" name="Chart"/>
          <p:cNvGraphicFramePr/>
          <p:nvPr/>
        </p:nvGraphicFramePr>
        <p:xfrm>
          <a:off x="776326" y="4003243"/>
          <a:ext cx="11263579" cy="1074420"/>
        </p:xfrm>
        <a:graphic>
          <a:graphicData uri="http://schemas.openxmlformats.org/drawingml/2006/chart">
            <c:chart xmlns:c="http://schemas.openxmlformats.org/drawingml/2006/chart" xmlns:r="http://schemas.openxmlformats.org/officeDocument/2006/relationships" r:id="rId3"/>
          </a:graphicData>
        </a:graphic>
      </p:graphicFrame>
      <p:cxnSp>
        <p:nvCxnSpPr>
          <p:cNvPr id="296" name="Straight Connector 384"/>
          <p:cNvCxnSpPr/>
          <p:nvPr/>
        </p:nvCxnSpPr>
        <p:spPr>
          <a:xfrm>
            <a:off x="858622" y="4677156"/>
            <a:ext cx="936346" cy="0"/>
          </a:xfrm>
          <a:prstGeom prst="line">
            <a:avLst/>
          </a:prstGeom>
          <a:ln w="9525">
            <a:solidFill>
              <a:srgbClr val="162029"/>
            </a:solidFill>
            <a:prstDash val="dash"/>
            <a:tailEnd type="triangle" w="med" len="med"/>
          </a:ln>
        </p:spPr>
      </p:cxnSp>
      <p:cxnSp>
        <p:nvCxnSpPr>
          <p:cNvPr id="297" name="Straight Connector 2529"/>
          <p:cNvCxnSpPr/>
          <p:nvPr/>
        </p:nvCxnSpPr>
        <p:spPr>
          <a:xfrm>
            <a:off x="2084832" y="4677156"/>
            <a:ext cx="4821631" cy="0"/>
          </a:xfrm>
          <a:prstGeom prst="line">
            <a:avLst/>
          </a:prstGeom>
          <a:ln w="9525">
            <a:solidFill>
              <a:srgbClr val="162029"/>
            </a:solidFill>
            <a:prstDash val="dash"/>
            <a:tailEnd type="triangle" w="med" len="med"/>
          </a:ln>
        </p:spPr>
      </p:cxnSp>
      <p:cxnSp>
        <p:nvCxnSpPr>
          <p:cNvPr id="298" name="Straight Connector 2530"/>
          <p:cNvCxnSpPr/>
          <p:nvPr/>
        </p:nvCxnSpPr>
        <p:spPr>
          <a:xfrm>
            <a:off x="7071055" y="4677156"/>
            <a:ext cx="4606747" cy="0"/>
          </a:xfrm>
          <a:prstGeom prst="line">
            <a:avLst/>
          </a:prstGeom>
          <a:ln w="9525">
            <a:solidFill>
              <a:srgbClr val="162029"/>
            </a:solidFill>
            <a:prstDash val="dash"/>
            <a:tailEnd type="triangle" w="med" len="med"/>
          </a:ln>
        </p:spPr>
      </p:cxnSp>
      <p:cxnSp>
        <p:nvCxnSpPr>
          <p:cNvPr id="299" name="Straight Connector 2528"/>
          <p:cNvCxnSpPr/>
          <p:nvPr/>
        </p:nvCxnSpPr>
        <p:spPr>
          <a:xfrm>
            <a:off x="1940357" y="4759452"/>
            <a:ext cx="0" cy="2743"/>
          </a:xfrm>
          <a:prstGeom prst="line">
            <a:avLst/>
          </a:prstGeom>
          <a:ln w="6350">
            <a:solidFill>
              <a:srgbClr val="44505C"/>
            </a:solidFill>
            <a:prstDash val="dash"/>
            <a:tailEnd type="triangle" w="med" len="med"/>
          </a:ln>
        </p:spPr>
      </p:cxnSp>
      <p:graphicFrame>
        <p:nvGraphicFramePr>
          <p:cNvPr id="300" name="Chart"/>
          <p:cNvGraphicFramePr/>
          <p:nvPr/>
        </p:nvGraphicFramePr>
        <p:xfrm>
          <a:off x="776326" y="3060497"/>
          <a:ext cx="11263579" cy="1074420"/>
        </p:xfrm>
        <a:graphic>
          <a:graphicData uri="http://schemas.openxmlformats.org/drawingml/2006/chart">
            <c:chart xmlns:c="http://schemas.openxmlformats.org/drawingml/2006/chart" xmlns:r="http://schemas.openxmlformats.org/officeDocument/2006/relationships" r:id="rId4"/>
          </a:graphicData>
        </a:graphic>
      </p:graphicFrame>
      <p:cxnSp>
        <p:nvCxnSpPr>
          <p:cNvPr id="301" name="Straight Connector 2180"/>
          <p:cNvCxnSpPr/>
          <p:nvPr/>
        </p:nvCxnSpPr>
        <p:spPr>
          <a:xfrm>
            <a:off x="858622" y="3733495"/>
            <a:ext cx="936346" cy="0"/>
          </a:xfrm>
          <a:prstGeom prst="line">
            <a:avLst/>
          </a:prstGeom>
          <a:ln w="9525">
            <a:solidFill>
              <a:srgbClr val="162029"/>
            </a:solidFill>
            <a:prstDash val="dash"/>
            <a:tailEnd type="triangle" w="med" len="med"/>
          </a:ln>
        </p:spPr>
      </p:cxnSp>
      <p:cxnSp>
        <p:nvCxnSpPr>
          <p:cNvPr id="302" name="Straight Connector 2484"/>
          <p:cNvCxnSpPr/>
          <p:nvPr/>
        </p:nvCxnSpPr>
        <p:spPr>
          <a:xfrm>
            <a:off x="2084832" y="3733495"/>
            <a:ext cx="4821631" cy="0"/>
          </a:xfrm>
          <a:prstGeom prst="line">
            <a:avLst/>
          </a:prstGeom>
          <a:ln w="9525">
            <a:solidFill>
              <a:srgbClr val="162029"/>
            </a:solidFill>
            <a:prstDash val="dash"/>
            <a:tailEnd type="triangle" w="med" len="med"/>
          </a:ln>
        </p:spPr>
      </p:cxnSp>
      <p:cxnSp>
        <p:nvCxnSpPr>
          <p:cNvPr id="303" name="Straight Connector 2485"/>
          <p:cNvCxnSpPr/>
          <p:nvPr/>
        </p:nvCxnSpPr>
        <p:spPr>
          <a:xfrm>
            <a:off x="7071055" y="3733495"/>
            <a:ext cx="4606747" cy="0"/>
          </a:xfrm>
          <a:prstGeom prst="line">
            <a:avLst/>
          </a:prstGeom>
          <a:ln w="9525">
            <a:solidFill>
              <a:srgbClr val="162029"/>
            </a:solidFill>
            <a:prstDash val="dash"/>
            <a:tailEnd type="triangle" w="med" len="med"/>
          </a:ln>
        </p:spPr>
      </p:cxnSp>
      <p:graphicFrame>
        <p:nvGraphicFramePr>
          <p:cNvPr id="304" name="Chart"/>
          <p:cNvGraphicFramePr/>
          <p:nvPr/>
        </p:nvGraphicFramePr>
        <p:xfrm>
          <a:off x="776326" y="2117750"/>
          <a:ext cx="11263579" cy="1074420"/>
        </p:xfrm>
        <a:graphic>
          <a:graphicData uri="http://schemas.openxmlformats.org/drawingml/2006/chart">
            <c:chart xmlns:c="http://schemas.openxmlformats.org/drawingml/2006/chart" xmlns:r="http://schemas.openxmlformats.org/officeDocument/2006/relationships" r:id="rId5"/>
          </a:graphicData>
        </a:graphic>
      </p:graphicFrame>
      <p:cxnSp>
        <p:nvCxnSpPr>
          <p:cNvPr id="305" name="Straight Connector 2205"/>
          <p:cNvCxnSpPr/>
          <p:nvPr/>
        </p:nvCxnSpPr>
        <p:spPr>
          <a:xfrm>
            <a:off x="858622" y="2790749"/>
            <a:ext cx="10819181" cy="0"/>
          </a:xfrm>
          <a:prstGeom prst="line">
            <a:avLst/>
          </a:prstGeom>
          <a:ln w="9525">
            <a:solidFill>
              <a:srgbClr val="162029"/>
            </a:solidFill>
            <a:prstDash val="dash"/>
            <a:tailEnd type="triangle" w="med" len="med"/>
          </a:ln>
        </p:spPr>
      </p:cxnSp>
      <p:graphicFrame>
        <p:nvGraphicFramePr>
          <p:cNvPr id="306" name="Chart"/>
          <p:cNvGraphicFramePr/>
          <p:nvPr/>
        </p:nvGraphicFramePr>
        <p:xfrm>
          <a:off x="776326" y="1175004"/>
          <a:ext cx="11263579" cy="1074420"/>
        </p:xfrm>
        <a:graphic>
          <a:graphicData uri="http://schemas.openxmlformats.org/drawingml/2006/chart">
            <c:chart xmlns:c="http://schemas.openxmlformats.org/drawingml/2006/chart" xmlns:r="http://schemas.openxmlformats.org/officeDocument/2006/relationships" r:id="rId6"/>
          </a:graphicData>
        </a:graphic>
      </p:graphicFrame>
      <p:cxnSp>
        <p:nvCxnSpPr>
          <p:cNvPr id="307" name="Straight Connector 2230"/>
          <p:cNvCxnSpPr/>
          <p:nvPr/>
        </p:nvCxnSpPr>
        <p:spPr>
          <a:xfrm>
            <a:off x="858622" y="1848002"/>
            <a:ext cx="10819181" cy="0"/>
          </a:xfrm>
          <a:prstGeom prst="line">
            <a:avLst/>
          </a:prstGeom>
          <a:ln w="9525">
            <a:solidFill>
              <a:srgbClr val="162029"/>
            </a:solidFill>
            <a:prstDash val="dash"/>
            <a:tailEnd type="triangle" w="med" len="med"/>
          </a:ln>
        </p:spPr>
      </p:cxnSp>
      <p:sp>
        <p:nvSpPr>
          <p:cNvPr id="308" name="Text Placeholder 25"/>
          <p:cNvSpPr txBox="1"/>
          <p:nvPr/>
        </p:nvSpPr>
        <p:spPr>
          <a:xfrm>
            <a:off x="10879531" y="1037844"/>
            <a:ext cx="1069848" cy="122530"/>
          </a:xfrm>
          <a:prstGeom prst="rect">
            <a:avLst/>
          </a:prstGeom>
          <a:noFill/>
          <a:ln>
            <a:noFill/>
          </a:ln>
        </p:spPr>
        <p:txBody>
          <a:bodyPr wrap="none" anchor="b" lIns="0" tIns="0" rIns="0" bIns="0"/>
          <a:lstStyle/>
          <a:p>
            <a:pPr algn="r" marL="0" indent="0">
              <a:lnSpc>
                <a:spcPct val="100000"/>
              </a:lnSpc>
              <a:buNone/>
            </a:pPr>
            <a:r>
              <a:rPr lang="en-US" sz="800" b="1" dirty="0">
                <a:solidFill>
                  <a:srgbClr val="000000"/>
                </a:solidFill>
                <a:latin typeface="Arial"/>
                <a:ea typeface="Arial"/>
                <a:cs typeface="Arial"/>
              </a:rPr>
              <a:t>EBIT Margin (%, lines)</a:t>
            </a:r>
          </a:p>
        </p:txBody>
      </p:sp>
      <p:sp>
        <p:nvSpPr>
          <p:cNvPr id="309" name="Text Placeholder 25"/>
          <p:cNvSpPr txBox="1"/>
          <p:nvPr/>
        </p:nvSpPr>
        <p:spPr>
          <a:xfrm>
            <a:off x="677570" y="1037844"/>
            <a:ext cx="923544" cy="122530"/>
          </a:xfrm>
          <a:prstGeom prst="rect">
            <a:avLst/>
          </a:prstGeom>
          <a:noFill/>
          <a:ln>
            <a:noFill/>
          </a:ln>
        </p:spPr>
        <p:txBody>
          <a:bodyPr wrap="none" anchor="b" lIns="0" tIns="0" rIns="0" bIns="0"/>
          <a:lstStyle/>
          <a:p>
            <a:pPr marL="0" indent="0">
              <a:lnSpc>
                <a:spcPct val="100000"/>
              </a:lnSpc>
              <a:buNone/>
            </a:pPr>
            <a:r>
              <a:rPr lang="en-US" sz="800" b="1" dirty="0">
                <a:solidFill>
                  <a:srgbClr val="000000"/>
                </a:solidFill>
                <a:latin typeface="Arial"/>
                <a:ea typeface="Arial"/>
                <a:cs typeface="Arial"/>
              </a:rPr>
              <a:t>Revenue ($B, bars)</a:t>
            </a:r>
          </a:p>
        </p:txBody>
      </p:sp>
      <p:sp>
        <p:nvSpPr>
          <p:cNvPr id="310" name="YearLabel"/>
          <p:cNvSpPr txBox="1"/>
          <p:nvPr/>
        </p:nvSpPr>
        <p:spPr>
          <a:xfrm>
            <a:off x="52121" y="5078578"/>
            <a:ext cx="556870" cy="784555"/>
          </a:xfrm>
          <a:prstGeom prst="rect">
            <a:avLst/>
          </a:prstGeom>
          <a:solidFill>
            <a:srgbClr val="F2F2F2"/>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2020</a:t>
            </a:r>
          </a:p>
        </p:txBody>
      </p:sp>
      <p:sp>
        <p:nvSpPr>
          <p:cNvPr id="311" name="YearLabel"/>
          <p:cNvSpPr txBox="1"/>
          <p:nvPr/>
        </p:nvSpPr>
        <p:spPr>
          <a:xfrm>
            <a:off x="52121" y="4075481"/>
            <a:ext cx="556870" cy="784555"/>
          </a:xfrm>
          <a:prstGeom prst="rect">
            <a:avLst/>
          </a:prstGeom>
          <a:solidFill>
            <a:srgbClr val="D9D9D9"/>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2021</a:t>
            </a:r>
          </a:p>
        </p:txBody>
      </p:sp>
      <p:sp>
        <p:nvSpPr>
          <p:cNvPr id="312" name="YearLabel"/>
          <p:cNvSpPr txBox="1"/>
          <p:nvPr/>
        </p:nvSpPr>
        <p:spPr>
          <a:xfrm>
            <a:off x="52121" y="3144622"/>
            <a:ext cx="556870" cy="784555"/>
          </a:xfrm>
          <a:prstGeom prst="rect">
            <a:avLst/>
          </a:prstGeom>
          <a:solidFill>
            <a:srgbClr val="BFBFBF"/>
          </a:solidFill>
          <a:ln>
            <a:noFill/>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2022</a:t>
            </a:r>
          </a:p>
        </p:txBody>
      </p:sp>
      <p:cxnSp>
        <p:nvCxnSpPr>
          <p:cNvPr id="313" name="Straight Arrow Connector 2596"/>
          <p:cNvCxnSpPr/>
          <p:nvPr/>
        </p:nvCxnSpPr>
        <p:spPr>
          <a:xfrm>
            <a:off x="4516222" y="1259129"/>
            <a:ext cx="0" cy="5120640"/>
          </a:xfrm>
          <a:prstGeom prst="line">
            <a:avLst/>
          </a:prstGeom>
          <a:ln w="12700">
            <a:solidFill>
              <a:srgbClr val="808080"/>
            </a:solidFill>
          </a:ln>
        </p:spPr>
      </p:cxnSp>
      <p:cxnSp>
        <p:nvCxnSpPr>
          <p:cNvPr id="314" name="Straight Arrow Connector 2598"/>
          <p:cNvCxnSpPr/>
          <p:nvPr/>
        </p:nvCxnSpPr>
        <p:spPr>
          <a:xfrm>
            <a:off x="7366406" y="1259129"/>
            <a:ext cx="0" cy="5120640"/>
          </a:xfrm>
          <a:prstGeom prst="line">
            <a:avLst/>
          </a:prstGeom>
          <a:ln w="12700">
            <a:solidFill>
              <a:srgbClr val="808080"/>
            </a:solidFill>
          </a:ln>
        </p:spPr>
      </p:cxnSp>
      <p:cxnSp>
        <p:nvCxnSpPr>
          <p:cNvPr id="315" name="Straight Arrow Connector 2602"/>
          <p:cNvCxnSpPr/>
          <p:nvPr/>
        </p:nvCxnSpPr>
        <p:spPr>
          <a:xfrm>
            <a:off x="9569196" y="1259129"/>
            <a:ext cx="0" cy="5120640"/>
          </a:xfrm>
          <a:prstGeom prst="line">
            <a:avLst/>
          </a:prstGeom>
          <a:ln w="12700">
            <a:solidFill>
              <a:srgbClr val="808080"/>
            </a:solidFill>
          </a:ln>
        </p:spPr>
      </p:cxn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30"/>
          <p:cNvSpPr txBox="1"/>
          <p:nvPr/>
        </p:nvSpPr>
        <p:spPr>
          <a:xfrm>
            <a:off x="715975" y="1923898"/>
            <a:ext cx="1238098" cy="3909974"/>
          </a:xfrm>
          <a:prstGeom prst="rect">
            <a:avLst/>
          </a:prstGeom>
          <a:solidFill>
            <a:srgbClr val="F2F2F2"/>
          </a:solidFill>
          <a:ln>
            <a:noFill/>
          </a:ln>
        </p:spPr>
        <p:txBody>
          <a:bodyPr wrap="square" anchor="b" lIns="91440" tIns="45720" rIns="91440" bIns="45720"/>
          <a:lstStyle/>
          <a:p>
            <a:pPr algn="r">
              <a:lnSpc>
                <a:spcPct val="100000"/>
              </a:lnSpc>
              <a:buNone/>
            </a:pPr>
            <a:r>
              <a:rPr lang="en-US" sz="1000" i="1" dirty="0">
                <a:solidFill>
                  <a:srgbClr val="000000"/>
                </a:solidFill>
                <a:latin typeface="Arial"/>
                <a:ea typeface="Arial"/>
                <a:cs typeface="Arial"/>
              </a:rPr>
              <a:t>Years with </a:t>
            </a:r>
            <a:br/>
            <a:r>
              <a:rPr lang="en-US" sz="1000" i="1" dirty="0">
                <a:solidFill>
                  <a:srgbClr val="000000"/>
                </a:solidFill>
                <a:latin typeface="Arial"/>
                <a:ea typeface="Arial"/>
                <a:cs typeface="Arial"/>
              </a:rPr>
              <a:t>orderbook </a:t>
            </a:r>
            <a:br/>
            <a:r>
              <a:rPr lang="en-US" sz="1000" i="1" dirty="0">
                <a:solidFill>
                  <a:srgbClr val="000000"/>
                </a:solidFill>
                <a:latin typeface="Arial"/>
                <a:ea typeface="Arial"/>
                <a:cs typeface="Arial"/>
              </a:rPr>
              <a:t>data</a:t>
            </a:r>
            <a:br/>
            <a:br/>
            <a:br/>
          </a:p>
        </p:txBody>
      </p:sp>
      <p:graphicFrame>
        <p:nvGraphicFramePr>
          <p:cNvPr id="101" name="Chart"/>
          <p:cNvGraphicFramePr/>
          <p:nvPr/>
        </p:nvGraphicFramePr>
        <p:xfrm>
          <a:off x="297180" y="1706270"/>
          <a:ext cx="6729070" cy="3808476"/>
        </p:xfrm>
        <a:graphic>
          <a:graphicData uri="http://schemas.openxmlformats.org/drawingml/2006/chart">
            <c:chart xmlns:c="http://schemas.openxmlformats.org/drawingml/2006/chart" xmlns:r="http://schemas.openxmlformats.org/officeDocument/2006/relationships" r:id="rId2"/>
          </a:graphicData>
        </a:graphic>
      </p:graphicFrame>
      <p:sp>
        <p:nvSpPr>
          <p:cNvPr id="102" name="YearLabel"/>
          <p:cNvSpPr txBox="1"/>
          <p:nvPr/>
        </p:nvSpPr>
        <p:spPr>
          <a:xfrm>
            <a:off x="758952"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2026</a:t>
            </a:r>
          </a:p>
        </p:txBody>
      </p:sp>
      <p:sp>
        <p:nvSpPr>
          <p:cNvPr id="103" name="YearLabel"/>
          <p:cNvSpPr txBox="1"/>
          <p:nvPr/>
        </p:nvSpPr>
        <p:spPr>
          <a:xfrm>
            <a:off x="1007669"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2027</a:t>
            </a:r>
          </a:p>
        </p:txBody>
      </p:sp>
      <p:sp>
        <p:nvSpPr>
          <p:cNvPr id="104" name="YearLabel"/>
          <p:cNvSpPr txBox="1"/>
          <p:nvPr/>
        </p:nvSpPr>
        <p:spPr>
          <a:xfrm>
            <a:off x="1257300"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2028</a:t>
            </a:r>
          </a:p>
        </p:txBody>
      </p:sp>
      <p:sp>
        <p:nvSpPr>
          <p:cNvPr id="105" name="YearLabel"/>
          <p:cNvSpPr txBox="1"/>
          <p:nvPr/>
        </p:nvSpPr>
        <p:spPr>
          <a:xfrm>
            <a:off x="1506931"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2029</a:t>
            </a:r>
          </a:p>
        </p:txBody>
      </p:sp>
      <p:sp>
        <p:nvSpPr>
          <p:cNvPr id="106" name="YearLabel"/>
          <p:cNvSpPr txBox="1"/>
          <p:nvPr/>
        </p:nvSpPr>
        <p:spPr>
          <a:xfrm>
            <a:off x="1755648"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2030</a:t>
            </a:r>
          </a:p>
        </p:txBody>
      </p:sp>
      <p:sp>
        <p:nvSpPr>
          <p:cNvPr id="107" name="YearLabel"/>
          <p:cNvSpPr txBox="1"/>
          <p:nvPr/>
        </p:nvSpPr>
        <p:spPr>
          <a:xfrm>
            <a:off x="2005279"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2031</a:t>
            </a:r>
          </a:p>
        </p:txBody>
      </p:sp>
      <p:sp>
        <p:nvSpPr>
          <p:cNvPr id="108" name="YearLabel"/>
          <p:cNvSpPr txBox="1"/>
          <p:nvPr/>
        </p:nvSpPr>
        <p:spPr>
          <a:xfrm>
            <a:off x="2253996"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2032</a:t>
            </a:r>
          </a:p>
        </p:txBody>
      </p:sp>
      <p:sp>
        <p:nvSpPr>
          <p:cNvPr id="109" name="YearLabel"/>
          <p:cNvSpPr txBox="1"/>
          <p:nvPr/>
        </p:nvSpPr>
        <p:spPr>
          <a:xfrm>
            <a:off x="2503627"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2033</a:t>
            </a:r>
          </a:p>
        </p:txBody>
      </p:sp>
      <p:sp>
        <p:nvSpPr>
          <p:cNvPr id="110" name="YearLabel"/>
          <p:cNvSpPr txBox="1"/>
          <p:nvPr/>
        </p:nvSpPr>
        <p:spPr>
          <a:xfrm>
            <a:off x="2752344"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2034</a:t>
            </a:r>
          </a:p>
        </p:txBody>
      </p:sp>
      <p:sp>
        <p:nvSpPr>
          <p:cNvPr id="111" name="YearLabel"/>
          <p:cNvSpPr txBox="1"/>
          <p:nvPr/>
        </p:nvSpPr>
        <p:spPr>
          <a:xfrm>
            <a:off x="3001975"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2035</a:t>
            </a:r>
          </a:p>
        </p:txBody>
      </p:sp>
      <p:sp>
        <p:nvSpPr>
          <p:cNvPr id="112" name="YearLabel"/>
          <p:cNvSpPr txBox="1"/>
          <p:nvPr/>
        </p:nvSpPr>
        <p:spPr>
          <a:xfrm>
            <a:off x="3251606"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2036</a:t>
            </a:r>
          </a:p>
        </p:txBody>
      </p:sp>
      <p:sp>
        <p:nvSpPr>
          <p:cNvPr id="113" name="YearLabel"/>
          <p:cNvSpPr txBox="1"/>
          <p:nvPr/>
        </p:nvSpPr>
        <p:spPr>
          <a:xfrm>
            <a:off x="3500323"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2037</a:t>
            </a:r>
          </a:p>
        </p:txBody>
      </p:sp>
      <p:sp>
        <p:nvSpPr>
          <p:cNvPr id="114" name="YearLabel"/>
          <p:cNvSpPr txBox="1"/>
          <p:nvPr/>
        </p:nvSpPr>
        <p:spPr>
          <a:xfrm>
            <a:off x="3749954"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2038</a:t>
            </a:r>
          </a:p>
        </p:txBody>
      </p:sp>
      <p:sp>
        <p:nvSpPr>
          <p:cNvPr id="115" name="YearLabel"/>
          <p:cNvSpPr txBox="1"/>
          <p:nvPr/>
        </p:nvSpPr>
        <p:spPr>
          <a:xfrm>
            <a:off x="4000500"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2039</a:t>
            </a:r>
          </a:p>
        </p:txBody>
      </p:sp>
      <p:sp>
        <p:nvSpPr>
          <p:cNvPr id="116" name="YearLabel"/>
          <p:cNvSpPr txBox="1"/>
          <p:nvPr/>
        </p:nvSpPr>
        <p:spPr>
          <a:xfrm>
            <a:off x="4250131"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2040</a:t>
            </a:r>
          </a:p>
        </p:txBody>
      </p:sp>
      <p:sp>
        <p:nvSpPr>
          <p:cNvPr id="117" name="YearLabel"/>
          <p:cNvSpPr txBox="1"/>
          <p:nvPr/>
        </p:nvSpPr>
        <p:spPr>
          <a:xfrm>
            <a:off x="4498848"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2041</a:t>
            </a:r>
          </a:p>
        </p:txBody>
      </p:sp>
      <p:sp>
        <p:nvSpPr>
          <p:cNvPr id="118" name="YearLabel"/>
          <p:cNvSpPr txBox="1"/>
          <p:nvPr/>
        </p:nvSpPr>
        <p:spPr>
          <a:xfrm>
            <a:off x="4748479"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2042</a:t>
            </a:r>
          </a:p>
        </p:txBody>
      </p:sp>
      <p:sp>
        <p:nvSpPr>
          <p:cNvPr id="119" name="YearLabel"/>
          <p:cNvSpPr txBox="1"/>
          <p:nvPr/>
        </p:nvSpPr>
        <p:spPr>
          <a:xfrm>
            <a:off x="4997196"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2043</a:t>
            </a:r>
          </a:p>
        </p:txBody>
      </p:sp>
      <p:sp>
        <p:nvSpPr>
          <p:cNvPr id="120" name="YearLabel"/>
          <p:cNvSpPr txBox="1"/>
          <p:nvPr/>
        </p:nvSpPr>
        <p:spPr>
          <a:xfrm>
            <a:off x="5495544"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2045</a:t>
            </a:r>
          </a:p>
        </p:txBody>
      </p:sp>
      <p:sp>
        <p:nvSpPr>
          <p:cNvPr id="121" name="YearLabel"/>
          <p:cNvSpPr txBox="1"/>
          <p:nvPr/>
        </p:nvSpPr>
        <p:spPr>
          <a:xfrm>
            <a:off x="5745175"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2046</a:t>
            </a:r>
          </a:p>
        </p:txBody>
      </p:sp>
      <p:sp>
        <p:nvSpPr>
          <p:cNvPr id="122" name="YearLabel"/>
          <p:cNvSpPr txBox="1"/>
          <p:nvPr/>
        </p:nvSpPr>
        <p:spPr>
          <a:xfrm>
            <a:off x="5994806"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2047</a:t>
            </a:r>
          </a:p>
        </p:txBody>
      </p:sp>
      <p:sp>
        <p:nvSpPr>
          <p:cNvPr id="123" name="YearLabel"/>
          <p:cNvSpPr txBox="1"/>
          <p:nvPr/>
        </p:nvSpPr>
        <p:spPr>
          <a:xfrm>
            <a:off x="6243523"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2048</a:t>
            </a:r>
          </a:p>
        </p:txBody>
      </p:sp>
      <p:sp>
        <p:nvSpPr>
          <p:cNvPr id="124" name="YearLabel"/>
          <p:cNvSpPr txBox="1"/>
          <p:nvPr/>
        </p:nvSpPr>
        <p:spPr>
          <a:xfrm>
            <a:off x="6493154"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2049</a:t>
            </a:r>
          </a:p>
        </p:txBody>
      </p:sp>
      <p:sp>
        <p:nvSpPr>
          <p:cNvPr id="125" name="YearLabel"/>
          <p:cNvSpPr txBox="1"/>
          <p:nvPr/>
        </p:nvSpPr>
        <p:spPr>
          <a:xfrm>
            <a:off x="6741871"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2050</a:t>
            </a:r>
          </a:p>
        </p:txBody>
      </p:sp>
      <p:sp>
        <p:nvSpPr>
          <p:cNvPr id="126" name="YearLabel"/>
          <p:cNvSpPr txBox="1"/>
          <p:nvPr/>
        </p:nvSpPr>
        <p:spPr>
          <a:xfrm>
            <a:off x="5246827" y="5510174"/>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2044</a:t>
            </a:r>
          </a:p>
        </p:txBody>
      </p:sp>
      <p:sp>
        <p:nvSpPr>
          <p:cNvPr id="127" name="Text Placeholder 25"/>
          <p:cNvSpPr txBox="1"/>
          <p:nvPr/>
        </p:nvSpPr>
        <p:spPr>
          <a:xfrm>
            <a:off x="442570" y="1602029"/>
            <a:ext cx="6132881"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Implied Retirements vs. Orderbook of US-Built, US-Flagged Oceangoing Commercial Vessels (# Hulls)</a:t>
            </a:r>
          </a:p>
        </p:txBody>
      </p:sp>
      <p:sp>
        <p:nvSpPr>
          <p:cNvPr id="128" name="Label"/>
          <p:cNvSpPr txBox="1"/>
          <p:nvPr/>
        </p:nvSpPr>
        <p:spPr>
          <a:xfrm>
            <a:off x="761695" y="531449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-9</a:t>
            </a:r>
          </a:p>
        </p:txBody>
      </p:sp>
      <p:sp>
        <p:nvSpPr>
          <p:cNvPr id="129" name="Label"/>
          <p:cNvSpPr txBox="1"/>
          <p:nvPr/>
        </p:nvSpPr>
        <p:spPr>
          <a:xfrm>
            <a:off x="1011326" y="414040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a:t>
            </a:r>
          </a:p>
        </p:txBody>
      </p:sp>
      <p:sp>
        <p:nvSpPr>
          <p:cNvPr id="130" name="Label"/>
          <p:cNvSpPr txBox="1"/>
          <p:nvPr/>
        </p:nvSpPr>
        <p:spPr>
          <a:xfrm>
            <a:off x="2257654" y="3972154"/>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a:t>
            </a:r>
          </a:p>
        </p:txBody>
      </p:sp>
      <p:sp>
        <p:nvSpPr>
          <p:cNvPr id="131" name="Label"/>
          <p:cNvSpPr txBox="1"/>
          <p:nvPr/>
        </p:nvSpPr>
        <p:spPr>
          <a:xfrm>
            <a:off x="3752698" y="3972154"/>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a:t>
            </a:r>
          </a:p>
        </p:txBody>
      </p:sp>
      <p:sp>
        <p:nvSpPr>
          <p:cNvPr id="132" name="Label"/>
          <p:cNvSpPr txBox="1"/>
          <p:nvPr/>
        </p:nvSpPr>
        <p:spPr>
          <a:xfrm>
            <a:off x="4252874" y="414040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-3</a:t>
            </a:r>
          </a:p>
        </p:txBody>
      </p:sp>
      <p:sp>
        <p:nvSpPr>
          <p:cNvPr id="133" name="Label"/>
          <p:cNvSpPr txBox="1"/>
          <p:nvPr/>
        </p:nvSpPr>
        <p:spPr>
          <a:xfrm>
            <a:off x="5000854" y="4475074"/>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-5</a:t>
            </a:r>
          </a:p>
        </p:txBody>
      </p:sp>
      <p:sp>
        <p:nvSpPr>
          <p:cNvPr id="134" name="Label"/>
          <p:cNvSpPr txBox="1"/>
          <p:nvPr/>
        </p:nvSpPr>
        <p:spPr>
          <a:xfrm>
            <a:off x="5249570" y="481157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-7</a:t>
            </a:r>
          </a:p>
        </p:txBody>
      </p:sp>
      <p:sp>
        <p:nvSpPr>
          <p:cNvPr id="135" name="Label"/>
          <p:cNvSpPr txBox="1"/>
          <p:nvPr/>
        </p:nvSpPr>
        <p:spPr>
          <a:xfrm>
            <a:off x="5499202" y="4811573"/>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-7</a:t>
            </a:r>
          </a:p>
        </p:txBody>
      </p:sp>
      <p:sp>
        <p:nvSpPr>
          <p:cNvPr id="136" name="Label"/>
          <p:cNvSpPr txBox="1"/>
          <p:nvPr/>
        </p:nvSpPr>
        <p:spPr>
          <a:xfrm>
            <a:off x="5747918" y="3972154"/>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a:t>
            </a:r>
          </a:p>
        </p:txBody>
      </p:sp>
      <p:sp>
        <p:nvSpPr>
          <p:cNvPr id="137" name="Text Placeholder 25"/>
          <p:cNvSpPr txBox="1"/>
          <p:nvPr/>
        </p:nvSpPr>
        <p:spPr>
          <a:xfrm>
            <a:off x="1530706" y="2594153"/>
            <a:ext cx="105156" cy="152705"/>
          </a:xfrm>
          <a:prstGeom prst="rect">
            <a:avLst/>
          </a:prstGeom>
          <a:noFill/>
          <a:ln>
            <a:noFill/>
          </a:ln>
        </p:spPr>
        <p:txBody>
          <a:bodyPr wrap="none" anchor="b" lIns="17463" tIns="0" rIns="17463" bIns="0"/>
          <a:lstStyle/>
          <a:p>
            <a:pPr algn="ctr" marL="0" indent="0">
              <a:lnSpc>
                <a:spcPct val="100000"/>
              </a:lnSpc>
              <a:buNone/>
            </a:pPr>
            <a:r>
              <a:rPr lang="en-US" sz="1000" dirty="0">
                <a:latin typeface="Arial"/>
                <a:ea typeface="Arial"/>
                <a:cs typeface="Arial"/>
              </a:rPr>
              <a:t>4</a:t>
            </a:r>
          </a:p>
        </p:txBody>
      </p:sp>
      <p:sp>
        <p:nvSpPr>
          <p:cNvPr id="138" name="Text Placeholder 25"/>
          <p:cNvSpPr txBox="1"/>
          <p:nvPr/>
        </p:nvSpPr>
        <p:spPr>
          <a:xfrm>
            <a:off x="1779422" y="2594153"/>
            <a:ext cx="105156" cy="152705"/>
          </a:xfrm>
          <a:prstGeom prst="rect">
            <a:avLst/>
          </a:prstGeom>
          <a:noFill/>
          <a:ln>
            <a:noFill/>
          </a:ln>
        </p:spPr>
        <p:txBody>
          <a:bodyPr wrap="none" anchor="b" lIns="17463" tIns="0" rIns="17463" bIns="0"/>
          <a:lstStyle/>
          <a:p>
            <a:pPr algn="ctr" marL="0" indent="0">
              <a:lnSpc>
                <a:spcPct val="100000"/>
              </a:lnSpc>
              <a:buNone/>
            </a:pPr>
            <a:r>
              <a:rPr lang="en-US" sz="1000" dirty="0">
                <a:latin typeface="Arial"/>
                <a:ea typeface="Arial"/>
                <a:cs typeface="Arial"/>
              </a:rPr>
              <a:t>4</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Without SHIPS Act</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Status Quo Outlook (Oceangoing Commercial) | Replacing retirements unlikely to support serial production, preventing meaningful newbuild cost reductions.</a:t>
            </a:r>
          </a:p>
        </p:txBody>
      </p:sp>
      <p:graphicFrame>
        <p:nvGraphicFramePr>
          <p:cNvPr id="139" name="Table 769"/>
          <p:cNvGraphicFramePr>
            <a:graphicFrameLocks noGrp="1"/>
          </p:cNvGraphicFramePr>
          <p:nvPr/>
        </p:nvGraphicFramePr>
        <p:xfrm>
          <a:off x="7083857" y="1540764"/>
          <a:ext cx="4616806" cy="3535985"/>
        </p:xfrm>
        <a:graphic>
          <a:graphicData uri="http://schemas.openxmlformats.org/drawingml/2006/table">
            <a:tbl>
              <a:tblPr firstRow="1" firstCol="1" bandRow="0">
                <a:tableStyleId>{2D5ABB26-0587-4C30-8999-92F81FD0307C}</a:tableStyleId>
              </a:tblPr>
              <a:tblGrid>
                <a:gridCol w="1079906"/>
                <a:gridCol w="1575511"/>
                <a:gridCol w="1961388"/>
              </a:tblGrid>
              <a:tr h="0">
                <a:tc gridSpan="3">
                  <a:txBody>
                    <a:bodyPr anchor="ctr"/>
                    <a:lstStyle/>
                    <a:p>
                      <a:pPr algn="l">
                        <a:lnSpc>
                          <a:spcPct val="100000"/>
                        </a:lnSpc>
                      </a:pPr>
                      <a:r>
                        <a:rPr lang="en-US" sz="1000" b="1" dirty="0">
                          <a:solidFill>
                            <a:srgbClr val="000000"/>
                          </a:solidFill>
                          <a:latin typeface="Arial"/>
                          <a:ea typeface="Arial"/>
                          <a:cs typeface="Arial"/>
                        </a:rPr>
                        <a:t>Average retirement replacements required per year ’26-’50</a:t>
                      </a:r>
                    </a:p>
                  </a:txBody>
                  <a:tcPr marL="45720" marR="45720" marT="45720" marB="45720" anchor="ctr">
                    <a:lnL>
                      <a:noFill/>
                    </a:lnL>
                    <a:lnR>
                      <a:noFill/>
                    </a:lnR>
                    <a:lnT>
                      <a:noFill/>
                    </a:lnT>
                    <a:lnB w="12700" cap="flat" cmpd="sng" algn="ctr">
                      <a:solidFill>
                        <a:srgbClr val="000000"/>
                      </a:solidFill>
                      <a:prstDash val="solid"/>
                    </a:lnB>
                    <a:noFill/>
                  </a:tcPr>
                </a:tc>
                <a:tc hMerge="1">
                  <a:txBody>
                    <a:bodyPr/>
                    <a:lstStyle/>
                    <a:p>
                      <a:endParaRPr lang="en-US"/>
                    </a:p>
                  </a:txBody>
                  <a:tcPr/>
                </a:tc>
                <a:tc hMerge="1">
                  <a:txBody>
                    <a:bodyPr/>
                    <a:lstStyle/>
                    <a:p>
                      <a:endParaRPr lang="en-US"/>
                    </a:p>
                  </a:txBody>
                  <a:tcPr/>
                </a:tc>
              </a:tr>
              <a:tr h="0">
                <a:tc>
                  <a:txBody>
                    <a:bodyPr anchor="ctr"/>
                    <a:lstStyle/>
                    <a:p>
                      <a:pPr algn="ctr">
                        <a:lnSpc>
                          <a:spcPct val="100000"/>
                        </a:lnSpc>
                      </a:pPr>
                      <a:r>
                        <a:rPr lang="en-US" sz="1000" b="1" dirty="0">
                          <a:solidFill>
                            <a:srgbClr val="000000"/>
                          </a:solidFill>
                          <a:latin typeface="Arial"/>
                          <a:ea typeface="Arial"/>
                          <a:cs typeface="Arial"/>
                        </a:rPr>
                        <a:t>Archetype</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Total</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Net of Orderbook Deliveries</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Container</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9DB1CF"/>
                    </a:solidFill>
                  </a:tcPr>
                </a:tc>
                <a:tc>
                  <a:txBody>
                    <a:bodyPr anchor="ctr"/>
                    <a:lstStyle/>
                    <a:p>
                      <a:pPr algn="ctr">
                        <a:lnSpc>
                          <a:spcPct val="100000"/>
                        </a:lnSpc>
                      </a:pPr>
                      <a:r>
                        <a:rPr lang="en-US" sz="1600" b="1" dirty="0">
                          <a:solidFill>
                            <a:srgbClr val="C30C3E"/>
                          </a:solidFill>
                          <a:latin typeface="Arial"/>
                          <a:ea typeface="Arial"/>
                          <a:cs typeface="Arial"/>
                        </a:rPr>
                        <a:t>~0.6</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C30C3E"/>
                          </a:solidFill>
                          <a:latin typeface="Arial"/>
                          <a:ea typeface="Arial"/>
                          <a:cs typeface="Arial"/>
                        </a:rPr>
                        <a:t>~0.4</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General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6F8DB9"/>
                    </a:solidFill>
                  </a:tcPr>
                </a:tc>
                <a:tc>
                  <a:txBody>
                    <a:bodyPr anchor="ctr"/>
                    <a:lstStyle/>
                    <a:p>
                      <a:pPr algn="ctr">
                        <a:lnSpc>
                          <a:spcPct val="100000"/>
                        </a:lnSpc>
                      </a:pPr>
                      <a:r>
                        <a:rPr lang="en-US" sz="1600" b="1" dirty="0">
                          <a:solidFill>
                            <a:srgbClr val="C30C3E"/>
                          </a:solidFill>
                          <a:latin typeface="Arial"/>
                          <a:ea typeface="Arial"/>
                          <a:cs typeface="Arial"/>
                        </a:rPr>
                        <a:t>~0.2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C30C3E"/>
                          </a:solidFill>
                          <a:latin typeface="Arial"/>
                          <a:ea typeface="Arial"/>
                          <a:cs typeface="Arial"/>
                        </a:rPr>
                        <a:t>~0.2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RORO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4C6C9C"/>
                    </a:solidFill>
                  </a:tcPr>
                </a:tc>
                <a:tc>
                  <a:txBody>
                    <a:bodyPr anchor="ctr"/>
                    <a:lstStyle/>
                    <a:p>
                      <a:pPr algn="ctr">
                        <a:lnSpc>
                          <a:spcPct val="100000"/>
                        </a:lnSpc>
                      </a:pPr>
                      <a:r>
                        <a:rPr lang="en-US" sz="1600" b="1" dirty="0">
                          <a:solidFill>
                            <a:srgbClr val="C30C3E"/>
                          </a:solidFill>
                          <a:latin typeface="Arial"/>
                          <a:ea typeface="Arial"/>
                          <a:cs typeface="Arial"/>
                        </a:rPr>
                        <a:t>~0.2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C30C3E"/>
                          </a:solidFill>
                          <a:latin typeface="Arial"/>
                          <a:ea typeface="Arial"/>
                          <a:cs typeface="Arial"/>
                        </a:rPr>
                        <a:t>~0.2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Tanker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364D6E"/>
                    </a:solidFill>
                  </a:tcPr>
                </a:tc>
                <a:tc>
                  <a:txBody>
                    <a:bodyPr anchor="ctr"/>
                    <a:lstStyle/>
                    <a:p>
                      <a:pPr algn="ctr">
                        <a:lnSpc>
                          <a:spcPct val="100000"/>
                        </a:lnSpc>
                      </a:pPr>
                      <a:r>
                        <a:rPr lang="en-US" sz="1600" b="1" dirty="0">
                          <a:solidFill>
                            <a:srgbClr val="C30C3E"/>
                          </a:solidFill>
                          <a:latin typeface="Arial"/>
                          <a:ea typeface="Arial"/>
                          <a:cs typeface="Arial"/>
                        </a:rPr>
                        <a:t>~1.7</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C30C3E"/>
                          </a:solidFill>
                          <a:latin typeface="Arial"/>
                          <a:ea typeface="Arial"/>
                          <a:cs typeface="Arial"/>
                        </a:rPr>
                        <a:t>~1.2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000000"/>
                          </a:solidFill>
                          <a:latin typeface="Arial"/>
                          <a:ea typeface="Arial"/>
                          <a:cs typeface="Arial"/>
                        </a:rPr>
                        <a:t>Commentary</a:t>
                      </a:r>
                    </a:p>
                  </a:txBody>
                  <a:tcPr marL="45720" marR="45720" marT="45720" marB="45720" anchor="ctr">
                    <a:lnL>
                      <a:noFill/>
                    </a:lnL>
                    <a:lnR>
                      <a:noFill/>
                    </a:lnR>
                    <a:lnT w="6350" cap="flat" cmpd="sng" algn="ctr">
                      <a:solidFill>
                        <a:srgbClr val="808080"/>
                      </a:solidFill>
                      <a:prstDash val="solid"/>
                    </a:lnT>
                    <a:lnB>
                      <a:noFill/>
                    </a:lnB>
                    <a:noFill/>
                  </a:tcPr>
                </a:tc>
                <a:tc gridSpan="2">
                  <a:txBody>
                    <a:bodyPr anchor="ctr"/>
                    <a:lstStyle/>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Assumes owners replace retirements 1-for-1 and at the end of estimated service life</a:t>
                      </a:r>
                    </a:p>
                    <a:p>
                      <a:pPr algn="l" marL="171450" indent="-171450">
                        <a:lnSpc>
                          <a:spcPct val="100000"/>
                        </a:lnSpc>
                        <a:buFont typeface="Arial" panose="020B0604020202020204" pitchFamily="34" charset="0"/>
                        <a:buChar char="•"/>
                      </a:pPr>
                      <a:endParaRPr lang="en-US"/>
                    </a:p>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Tanker figures include multiple types, including product, chemical &amp; oil, crude, and shuttle</a:t>
                      </a:r>
                    </a:p>
                  </a:txBody>
                  <a:tcPr marL="45720" marR="45720" marT="45720" marB="45720" anchor="ctr">
                    <a:lnL>
                      <a:noFill/>
                    </a:lnL>
                    <a:lnR>
                      <a:noFill/>
                    </a:lnR>
                    <a:lnT w="6350" cap="flat" cmpd="sng" algn="ctr">
                      <a:solidFill>
                        <a:srgbClr val="808080"/>
                      </a:solidFill>
                      <a:prstDash val="solid"/>
                    </a:lnT>
                    <a:lnB>
                      <a:noFill/>
                    </a:lnB>
                    <a:noFill/>
                  </a:tcPr>
                </a:tc>
                <a:tc hMerge="1">
                  <a:txBody>
                    <a:bodyPr/>
                    <a:lstStyle/>
                    <a:p>
                      <a:endParaRPr lang="en-US"/>
                    </a:p>
                  </a:txBody>
                  <a:tcPr/>
                </a:tc>
              </a:tr>
            </a:tbl>
          </a:graphicData>
        </a:graphic>
      </p:graphicFrame>
      <p:sp>
        <p:nvSpPr>
          <p:cNvPr id="140" name="Rectangle 840"/>
          <p:cNvSpPr txBox="1"/>
          <p:nvPr/>
        </p:nvSpPr>
        <p:spPr>
          <a:xfrm>
            <a:off x="4830775" y="2275027"/>
            <a:ext cx="852221" cy="896112"/>
          </a:xfrm>
          <a:prstGeom prst="rect">
            <a:avLst/>
          </a:prstGeom>
          <a:noFill/>
          <a:ln w="12700">
            <a:solidFill>
              <a:srgbClr val="121415"/>
            </a:solidFill>
          </a:ln>
        </p:spPr>
        <p:txBody>
          <a:bodyPr wrap="square" anchor="ctr" lIns="91440" tIns="45720" rIns="91440" bIns="45720"/>
          <a:lstStyle/>
          <a:p>
            <a:pPr algn="ctr">
              <a:lnSpc>
                <a:spcPct val="100000"/>
              </a:lnSpc>
              <a:buNone/>
            </a:pPr>
            <a:endParaRPr lang="en-US"/>
          </a:p>
        </p:txBody>
      </p:sp>
      <p:sp>
        <p:nvSpPr>
          <p:cNvPr id="141" name="LegendSwatch"/>
          <p:cNvSpPr txBox="1"/>
          <p:nvPr/>
        </p:nvSpPr>
        <p:spPr>
          <a:xfrm>
            <a:off x="4873752" y="2393899"/>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42" name="LegendSwatch"/>
          <p:cNvSpPr txBox="1"/>
          <p:nvPr/>
        </p:nvSpPr>
        <p:spPr>
          <a:xfrm>
            <a:off x="4873752" y="2596896"/>
            <a:ext cx="179222" cy="133502"/>
          </a:xfrm>
          <a:prstGeom prst="rect">
            <a:avLst/>
          </a:prstGeom>
          <a:solidFill>
            <a:srgbClr val="6F8DB9"/>
          </a:solidFill>
          <a:ln>
            <a:noFill/>
          </a:ln>
        </p:spPr>
        <p:txBody>
          <a:bodyPr wrap="square" anchor="ctr" lIns="91440" tIns="45720" rIns="91440" bIns="45720"/>
          <a:lstStyle/>
          <a:p>
            <a:pPr algn="ctr">
              <a:lnSpc>
                <a:spcPct val="100000"/>
              </a:lnSpc>
              <a:buNone/>
            </a:pPr>
            <a:endParaRPr lang="en-US"/>
          </a:p>
        </p:txBody>
      </p:sp>
      <p:sp>
        <p:nvSpPr>
          <p:cNvPr id="143" name="LegendSwatch"/>
          <p:cNvSpPr txBox="1"/>
          <p:nvPr/>
        </p:nvSpPr>
        <p:spPr>
          <a:xfrm>
            <a:off x="4873752" y="2799893"/>
            <a:ext cx="179222" cy="133502"/>
          </a:xfrm>
          <a:prstGeom prst="rect">
            <a:avLst/>
          </a:prstGeom>
          <a:solidFill>
            <a:srgbClr val="4C6C9C"/>
          </a:solidFill>
          <a:ln>
            <a:noFill/>
          </a:ln>
        </p:spPr>
        <p:txBody>
          <a:bodyPr wrap="square" anchor="ctr" lIns="91440" tIns="45720" rIns="91440" bIns="45720"/>
          <a:lstStyle/>
          <a:p>
            <a:pPr algn="ctr">
              <a:lnSpc>
                <a:spcPct val="100000"/>
              </a:lnSpc>
              <a:buNone/>
            </a:pPr>
            <a:endParaRPr lang="en-US"/>
          </a:p>
        </p:txBody>
      </p:sp>
      <p:sp>
        <p:nvSpPr>
          <p:cNvPr id="144" name="LegendSwatch"/>
          <p:cNvSpPr txBox="1"/>
          <p:nvPr/>
        </p:nvSpPr>
        <p:spPr>
          <a:xfrm>
            <a:off x="4873752" y="3003804"/>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sp>
        <p:nvSpPr>
          <p:cNvPr id="145" name="LegendSwatch"/>
          <p:cNvSpPr txBox="1"/>
          <p:nvPr/>
        </p:nvSpPr>
        <p:spPr>
          <a:xfrm>
            <a:off x="5753405" y="2393899"/>
            <a:ext cx="179222" cy="133502"/>
          </a:xfrm>
          <a:prstGeom prst="rect">
            <a:avLst/>
          </a:prstGeom>
          <a:solidFill>
            <a:srgbClr val="C0C0C0"/>
          </a:solidFill>
          <a:ln>
            <a:noFill/>
          </a:ln>
        </p:spPr>
        <p:txBody>
          <a:bodyPr wrap="square" anchor="ctr" lIns="91440" tIns="45720" rIns="91440" bIns="45720"/>
          <a:lstStyle/>
          <a:p>
            <a:pPr algn="ctr">
              <a:lnSpc>
                <a:spcPct val="100000"/>
              </a:lnSpc>
              <a:buNone/>
            </a:pPr>
            <a:endParaRPr lang="en-US"/>
          </a:p>
        </p:txBody>
      </p:sp>
      <p:sp>
        <p:nvSpPr>
          <p:cNvPr id="146" name="LegendSwatch"/>
          <p:cNvSpPr txBox="1"/>
          <p:nvPr/>
        </p:nvSpPr>
        <p:spPr>
          <a:xfrm>
            <a:off x="5753405" y="2596896"/>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47" name="LegendSwatch"/>
          <p:cNvSpPr txBox="1"/>
          <p:nvPr/>
        </p:nvSpPr>
        <p:spPr>
          <a:xfrm>
            <a:off x="5753405" y="2799893"/>
            <a:ext cx="179222" cy="133502"/>
          </a:xfrm>
          <a:prstGeom prst="rect">
            <a:avLst/>
          </a:prstGeom>
          <a:solidFill>
            <a:srgbClr val="808080"/>
          </a:solidFill>
          <a:ln>
            <a:noFill/>
          </a:ln>
        </p:spPr>
        <p:txBody>
          <a:bodyPr wrap="square" anchor="ctr" lIns="91440" tIns="45720" rIns="91440" bIns="45720"/>
          <a:lstStyle/>
          <a:p>
            <a:pPr algn="ctr">
              <a:lnSpc>
                <a:spcPct val="100000"/>
              </a:lnSpc>
              <a:buNone/>
            </a:pPr>
            <a:endParaRPr lang="en-US"/>
          </a:p>
        </p:txBody>
      </p:sp>
      <p:sp>
        <p:nvSpPr>
          <p:cNvPr id="148" name="LegendSwatch"/>
          <p:cNvSpPr txBox="1"/>
          <p:nvPr/>
        </p:nvSpPr>
        <p:spPr>
          <a:xfrm>
            <a:off x="5753405" y="3003804"/>
            <a:ext cx="179222" cy="133502"/>
          </a:xfrm>
          <a:prstGeom prst="rect">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49" name="Label"/>
          <p:cNvSpPr txBox="1"/>
          <p:nvPr/>
        </p:nvSpPr>
        <p:spPr>
          <a:xfrm>
            <a:off x="5104181" y="2389327"/>
            <a:ext cx="54772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Container</a:t>
            </a:r>
          </a:p>
        </p:txBody>
      </p:sp>
      <p:sp>
        <p:nvSpPr>
          <p:cNvPr id="150" name="Label"/>
          <p:cNvSpPr txBox="1"/>
          <p:nvPr/>
        </p:nvSpPr>
        <p:spPr>
          <a:xfrm>
            <a:off x="5104181" y="2592324"/>
            <a:ext cx="44897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General</a:t>
            </a:r>
          </a:p>
        </p:txBody>
      </p:sp>
      <p:sp>
        <p:nvSpPr>
          <p:cNvPr id="151" name="Label"/>
          <p:cNvSpPr txBox="1"/>
          <p:nvPr/>
        </p:nvSpPr>
        <p:spPr>
          <a:xfrm>
            <a:off x="5104181" y="2795321"/>
            <a:ext cx="38130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RORO</a:t>
            </a:r>
          </a:p>
        </p:txBody>
      </p:sp>
      <p:sp>
        <p:nvSpPr>
          <p:cNvPr id="152" name="Label"/>
          <p:cNvSpPr txBox="1"/>
          <p:nvPr/>
        </p:nvSpPr>
        <p:spPr>
          <a:xfrm>
            <a:off x="5104181" y="2999232"/>
            <a:ext cx="39410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Tanker</a:t>
            </a:r>
          </a:p>
        </p:txBody>
      </p:sp>
      <p:sp>
        <p:nvSpPr>
          <p:cNvPr id="153" name="Label"/>
          <p:cNvSpPr txBox="1"/>
          <p:nvPr/>
        </p:nvSpPr>
        <p:spPr>
          <a:xfrm>
            <a:off x="5982919" y="2389327"/>
            <a:ext cx="54772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Container</a:t>
            </a:r>
          </a:p>
        </p:txBody>
      </p:sp>
      <p:sp>
        <p:nvSpPr>
          <p:cNvPr id="154" name="Label"/>
          <p:cNvSpPr txBox="1"/>
          <p:nvPr/>
        </p:nvSpPr>
        <p:spPr>
          <a:xfrm>
            <a:off x="5982919" y="2592324"/>
            <a:ext cx="44897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General</a:t>
            </a:r>
          </a:p>
        </p:txBody>
      </p:sp>
      <p:sp>
        <p:nvSpPr>
          <p:cNvPr id="155" name="Label"/>
          <p:cNvSpPr txBox="1"/>
          <p:nvPr/>
        </p:nvSpPr>
        <p:spPr>
          <a:xfrm>
            <a:off x="5982919" y="2795321"/>
            <a:ext cx="38130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RORO</a:t>
            </a:r>
          </a:p>
        </p:txBody>
      </p:sp>
      <p:sp>
        <p:nvSpPr>
          <p:cNvPr id="156" name="Label"/>
          <p:cNvSpPr txBox="1"/>
          <p:nvPr/>
        </p:nvSpPr>
        <p:spPr>
          <a:xfrm>
            <a:off x="5982919" y="2999232"/>
            <a:ext cx="39410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Tanker</a:t>
            </a:r>
          </a:p>
        </p:txBody>
      </p:sp>
      <p:sp>
        <p:nvSpPr>
          <p:cNvPr id="157" name="Speech Bubble: Rectangle 645"/>
          <p:cNvSpPr txBox="1"/>
          <p:nvPr/>
        </p:nvSpPr>
        <p:spPr>
          <a:xfrm>
            <a:off x="4748479" y="1796796"/>
            <a:ext cx="2178101" cy="388620"/>
          </a:xfrm>
          <a:prstGeom prst="wedgeRectCallout">
            <a:avLst>
              <a:gd name="adj1" fmla="val -19106"/>
              <a:gd name="adj2" fmla="val -3267"/>
            </a:avLst>
          </a:prstGeom>
          <a:solidFill>
            <a:srgbClr val="FFFFFF"/>
          </a:solid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Bar total values indicate net hulls added (removed) each year</a:t>
            </a:r>
          </a:p>
        </p:txBody>
      </p:sp>
      <p:sp>
        <p:nvSpPr>
          <p:cNvPr id="158" name="Rectangle 839"/>
          <p:cNvSpPr txBox="1"/>
          <p:nvPr/>
        </p:nvSpPr>
        <p:spPr>
          <a:xfrm>
            <a:off x="4869180" y="2205533"/>
            <a:ext cx="776326" cy="145390"/>
          </a:xfrm>
          <a:prstGeom prst="rect">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Retirements</a:t>
            </a:r>
            <a:r>
              <a:rPr lang="en-US" sz="800" i="1" dirty="0">
                <a:solidFill>
                  <a:srgbClr val="000000"/>
                </a:solidFill>
                <a:latin typeface="Arial"/>
                <a:ea typeface="Arial"/>
                <a:cs typeface="Arial"/>
              </a:rPr>
              <a:t>1</a:t>
            </a:r>
          </a:p>
        </p:txBody>
      </p:sp>
      <p:sp>
        <p:nvSpPr>
          <p:cNvPr id="159" name="Rectangle 688"/>
          <p:cNvSpPr txBox="1"/>
          <p:nvPr/>
        </p:nvSpPr>
        <p:spPr>
          <a:xfrm>
            <a:off x="5712257" y="2275027"/>
            <a:ext cx="852221" cy="896112"/>
          </a:xfrm>
          <a:prstGeom prst="rect">
            <a:avLst/>
          </a:prstGeom>
          <a:noFill/>
          <a:ln w="12700">
            <a:solidFill>
              <a:srgbClr val="121415"/>
            </a:solidFill>
          </a:ln>
        </p:spPr>
        <p:txBody>
          <a:bodyPr wrap="square" anchor="ctr" lIns="91440" tIns="45720" rIns="91440" bIns="45720"/>
          <a:lstStyle/>
          <a:p>
            <a:pPr algn="ctr">
              <a:lnSpc>
                <a:spcPct val="100000"/>
              </a:lnSpc>
              <a:buNone/>
            </a:pPr>
            <a:endParaRPr lang="en-US"/>
          </a:p>
        </p:txBody>
      </p:sp>
      <p:sp>
        <p:nvSpPr>
          <p:cNvPr id="160" name="Rectangle 689"/>
          <p:cNvSpPr txBox="1"/>
          <p:nvPr/>
        </p:nvSpPr>
        <p:spPr>
          <a:xfrm>
            <a:off x="5749747" y="2205533"/>
            <a:ext cx="776326" cy="145390"/>
          </a:xfrm>
          <a:prstGeom prst="rect">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Orderbook</a:t>
            </a:r>
            <a:r>
              <a:rPr lang="en-US" sz="800" i="1" dirty="0">
                <a:solidFill>
                  <a:srgbClr val="000000"/>
                </a:solidFill>
                <a:latin typeface="Arial"/>
                <a:ea typeface="Arial"/>
                <a:cs typeface="Arial"/>
              </a:rPr>
              <a:t>2</a:t>
            </a:r>
          </a:p>
        </p:txBody>
      </p:sp>
      <p:sp>
        <p:nvSpPr>
          <p:cNvPr id="161" name="Rectangle 690"/>
          <p:cNvSpPr txBox="1"/>
          <p:nvPr/>
        </p:nvSpPr>
        <p:spPr>
          <a:xfrm>
            <a:off x="7123176" y="5168189"/>
            <a:ext cx="4657954" cy="621792"/>
          </a:xfrm>
          <a:prstGeom prst="rect">
            <a:avLst/>
          </a:prstGeom>
          <a:solidFill>
            <a:srgbClr val="CEDDEC"/>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~0.2-1.2 vessels per year is insufficient for serial production </a:t>
            </a:r>
            <a:r>
              <a:rPr lang="en-US" sz="1200" i="1" dirty="0">
                <a:solidFill>
                  <a:srgbClr val="000000"/>
                </a:solidFill>
                <a:latin typeface="Arial"/>
                <a:ea typeface="Arial"/>
                <a:cs typeface="Arial"/>
              </a:rPr>
              <a:t>(5+ hulls/yr. to achieve max labor efficiencies by end of year 2)</a:t>
            </a:r>
          </a:p>
        </p:txBody>
      </p:sp>
      <p:sp>
        <p:nvSpPr>
          <p:cNvPr id="162" name="Rectangle 694"/>
          <p:cNvSpPr txBox="1"/>
          <p:nvPr/>
        </p:nvSpPr>
        <p:spPr>
          <a:xfrm>
            <a:off x="452628" y="6108192"/>
            <a:ext cx="11308385" cy="289865"/>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Service life assumptions – 40 years for Bulk, Container, General Cargo, and RORO, 35 years for Tankers, 30 years for PSVs, and 25 years for Crew/FSVs; (2) All Oceangoing Commercial vessels in orderbook are built at Hanwha Philly, including containerships purchased by Matson and 12x tankers (10x Chemical &amp; Oil and 2x LNG) purchased by Hanwha Shipping | Source: Clarksons (US fleet size and GT data)</a:t>
            </a:r>
          </a:p>
        </p:txBody>
      </p:sp>
      <p:sp>
        <p:nvSpPr>
          <p:cNvPr id="163" name="Rectangle 715"/>
          <p:cNvSpPr txBox="1"/>
          <p:nvPr/>
        </p:nvSpPr>
        <p:spPr>
          <a:xfrm>
            <a:off x="9544507" y="1306678"/>
            <a:ext cx="275234" cy="237744"/>
          </a:xfrm>
          <a:prstGeom prst="rect">
            <a:avLst/>
          </a:prstGeom>
          <a:noFill/>
          <a:ln>
            <a:noFill/>
          </a:ln>
        </p:spPr>
        <p:txBody>
          <a:bodyPr wrap="square" anchor="ctr" lIns="91440" tIns="45720" rIns="91440" bIns="45720"/>
          <a:lstStyle/>
          <a:p>
            <a:pPr algn="ctr">
              <a:lnSpc>
                <a:spcPct val="100000"/>
              </a:lnSpc>
              <a:buNone/>
            </a:pPr>
            <a:r>
              <a:rPr lang="en-US" sz="1600" b="1" dirty="0">
                <a:solidFill>
                  <a:srgbClr val="C30C3E"/>
                </a:solidFill>
                <a:latin typeface="Arial"/>
                <a:ea typeface="Arial"/>
                <a:cs typeface="Arial"/>
              </a:rPr>
              <a:t>#</a:t>
            </a:r>
          </a:p>
        </p:txBody>
      </p:sp>
      <p:sp>
        <p:nvSpPr>
          <p:cNvPr id="164" name="TextBox 716"/>
          <p:cNvSpPr txBox="1"/>
          <p:nvPr/>
        </p:nvSpPr>
        <p:spPr>
          <a:xfrm>
            <a:off x="9778594" y="1318565"/>
            <a:ext cx="1921154" cy="213970"/>
          </a:xfrm>
          <a:prstGeom prst="rect">
            <a:avLst/>
          </a:prstGeom>
          <a:noFill/>
          <a:ln>
            <a:noFill/>
          </a:ln>
        </p:spPr>
        <p:txBody>
          <a:bodyPr wrap="none" anchor="ctr" lIns="91440" tIns="45720" rIns="91440" bIns="45720"/>
          <a:lstStyle/>
          <a:p>
            <a:pPr>
              <a:lnSpc>
                <a:spcPct val="100000"/>
              </a:lnSpc>
              <a:buNone/>
            </a:pPr>
            <a:r>
              <a:rPr lang="en-US" sz="1000" dirty="0">
                <a:latin typeface="Arial"/>
                <a:ea typeface="Arial"/>
                <a:cs typeface="Arial"/>
              </a:rPr>
              <a:t>Does not support serial production</a:t>
            </a:r>
          </a:p>
        </p:txBody>
      </p:sp>
      <p:sp>
        <p:nvSpPr>
          <p:cNvPr id="165" name="Rectangle 717"/>
          <p:cNvSpPr txBox="1"/>
          <p:nvPr/>
        </p:nvSpPr>
        <p:spPr>
          <a:xfrm>
            <a:off x="9544507" y="1085393"/>
            <a:ext cx="275234" cy="237744"/>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7770"/>
                </a:solidFill>
                <a:latin typeface="Arial"/>
                <a:ea typeface="Arial"/>
                <a:cs typeface="Arial"/>
              </a:rPr>
              <a:t>#</a:t>
            </a:r>
          </a:p>
        </p:txBody>
      </p:sp>
      <p:sp>
        <p:nvSpPr>
          <p:cNvPr id="166" name="TextBox 718"/>
          <p:cNvSpPr txBox="1"/>
          <p:nvPr/>
        </p:nvSpPr>
        <p:spPr>
          <a:xfrm>
            <a:off x="9778594" y="1097280"/>
            <a:ext cx="1921154" cy="213970"/>
          </a:xfrm>
          <a:prstGeom prst="rect">
            <a:avLst/>
          </a:prstGeom>
          <a:noFill/>
          <a:ln>
            <a:noFill/>
          </a:ln>
        </p:spPr>
        <p:txBody>
          <a:bodyPr wrap="none" anchor="ctr" lIns="91440" tIns="45720" rIns="91440" bIns="45720"/>
          <a:lstStyle/>
          <a:p>
            <a:pPr>
              <a:lnSpc>
                <a:spcPct val="100000"/>
              </a:lnSpc>
              <a:buNone/>
            </a:pPr>
            <a:r>
              <a:rPr lang="en-US" sz="1000" dirty="0">
                <a:latin typeface="Arial"/>
                <a:ea typeface="Arial"/>
                <a:cs typeface="Arial"/>
              </a:rPr>
              <a:t>Supports serial production</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67" name="Speech Bubble: Rectangle 2"/>
          <p:cNvSpPr txBox="1"/>
          <p:nvPr/>
        </p:nvSpPr>
        <p:spPr>
          <a:xfrm>
            <a:off x="2047342" y="2894990"/>
            <a:ext cx="1372514" cy="380390"/>
          </a:xfrm>
          <a:prstGeom prst="wedgeRectCallout">
            <a:avLst>
              <a:gd name="adj1" fmla="val -59329"/>
              <a:gd name="adj2" fmla="val -21373"/>
            </a:avLst>
          </a:prstGeom>
          <a:noFill/>
          <a:ln w="12700">
            <a:solidFill>
              <a:srgbClr val="000000"/>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12x purchased by Hanwha Shipping</a:t>
            </a:r>
          </a:p>
        </p:txBody>
      </p:sp>
      <p:sp>
        <p:nvSpPr>
          <p:cNvPr id="168" name="Rectangle 4"/>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(1) Status Quo Scenario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702"/>
          <p:cNvSpPr txBox="1"/>
          <p:nvPr/>
        </p:nvSpPr>
        <p:spPr>
          <a:xfrm>
            <a:off x="715975" y="1923898"/>
            <a:ext cx="1238098" cy="3909974"/>
          </a:xfrm>
          <a:prstGeom prst="rect">
            <a:avLst/>
          </a:prstGeom>
          <a:solidFill>
            <a:srgbClr val="F2F2F2"/>
          </a:solidFill>
          <a:ln>
            <a:noFill/>
          </a:ln>
        </p:spPr>
        <p:txBody>
          <a:bodyPr wrap="square" anchor="t" lIns="91440" tIns="45720" rIns="91440" bIns="45720"/>
          <a:lstStyle/>
          <a:p>
            <a:pPr algn="r">
              <a:lnSpc>
                <a:spcPct val="100000"/>
              </a:lnSpc>
              <a:buNone/>
            </a:pPr>
            <a:r>
              <a:rPr lang="en-US" sz="1000" i="1" dirty="0">
                <a:solidFill>
                  <a:srgbClr val="000000"/>
                </a:solidFill>
                <a:latin typeface="Arial"/>
                <a:ea typeface="Arial"/>
                <a:cs typeface="Arial"/>
              </a:rPr>
              <a:t>No orderbook orders for </a:t>
            </a:r>
            <a:br/>
            <a:r>
              <a:rPr lang="en-US" sz="1000" i="1" dirty="0">
                <a:solidFill>
                  <a:srgbClr val="000000"/>
                </a:solidFill>
                <a:latin typeface="Arial"/>
                <a:ea typeface="Arial"/>
                <a:cs typeface="Arial"/>
              </a:rPr>
              <a:t>FSV / PSV</a:t>
            </a:r>
            <a:br/>
            <a:br/>
            <a:br/>
          </a:p>
        </p:txBody>
      </p:sp>
      <p:graphicFrame>
        <p:nvGraphicFramePr>
          <p:cNvPr id="101" name="Chart"/>
          <p:cNvGraphicFramePr/>
          <p:nvPr/>
        </p:nvGraphicFramePr>
        <p:xfrm>
          <a:off x="297180" y="1706270"/>
          <a:ext cx="6729070" cy="3987698"/>
        </p:xfrm>
        <a:graphic>
          <a:graphicData uri="http://schemas.openxmlformats.org/drawingml/2006/chart">
            <c:chart xmlns:c="http://schemas.openxmlformats.org/drawingml/2006/chart" xmlns:r="http://schemas.openxmlformats.org/officeDocument/2006/relationships" r:id="rId2"/>
          </a:graphicData>
        </a:graphic>
      </p:graphicFrame>
      <p:sp>
        <p:nvSpPr>
          <p:cNvPr id="102" name="YearLabel"/>
          <p:cNvSpPr txBox="1"/>
          <p:nvPr/>
        </p:nvSpPr>
        <p:spPr>
          <a:xfrm>
            <a:off x="758952"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2026</a:t>
            </a:r>
          </a:p>
        </p:txBody>
      </p:sp>
      <p:sp>
        <p:nvSpPr>
          <p:cNvPr id="103" name="YearLabel"/>
          <p:cNvSpPr txBox="1"/>
          <p:nvPr/>
        </p:nvSpPr>
        <p:spPr>
          <a:xfrm>
            <a:off x="1007669"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2027</a:t>
            </a:r>
          </a:p>
        </p:txBody>
      </p:sp>
      <p:sp>
        <p:nvSpPr>
          <p:cNvPr id="104" name="YearLabel"/>
          <p:cNvSpPr txBox="1"/>
          <p:nvPr/>
        </p:nvSpPr>
        <p:spPr>
          <a:xfrm>
            <a:off x="1257300"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2028</a:t>
            </a:r>
          </a:p>
        </p:txBody>
      </p:sp>
      <p:sp>
        <p:nvSpPr>
          <p:cNvPr id="105" name="YearLabel"/>
          <p:cNvSpPr txBox="1"/>
          <p:nvPr/>
        </p:nvSpPr>
        <p:spPr>
          <a:xfrm>
            <a:off x="1506931"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2029</a:t>
            </a:r>
          </a:p>
        </p:txBody>
      </p:sp>
      <p:sp>
        <p:nvSpPr>
          <p:cNvPr id="106" name="YearLabel"/>
          <p:cNvSpPr txBox="1"/>
          <p:nvPr/>
        </p:nvSpPr>
        <p:spPr>
          <a:xfrm>
            <a:off x="1755648"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2030</a:t>
            </a:r>
          </a:p>
        </p:txBody>
      </p:sp>
      <p:sp>
        <p:nvSpPr>
          <p:cNvPr id="107" name="YearLabel"/>
          <p:cNvSpPr txBox="1"/>
          <p:nvPr/>
        </p:nvSpPr>
        <p:spPr>
          <a:xfrm>
            <a:off x="2005279"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2031</a:t>
            </a:r>
          </a:p>
        </p:txBody>
      </p:sp>
      <p:sp>
        <p:nvSpPr>
          <p:cNvPr id="108" name="YearLabel"/>
          <p:cNvSpPr txBox="1"/>
          <p:nvPr/>
        </p:nvSpPr>
        <p:spPr>
          <a:xfrm>
            <a:off x="2253996"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2032</a:t>
            </a:r>
          </a:p>
        </p:txBody>
      </p:sp>
      <p:sp>
        <p:nvSpPr>
          <p:cNvPr id="109" name="YearLabel"/>
          <p:cNvSpPr txBox="1"/>
          <p:nvPr/>
        </p:nvSpPr>
        <p:spPr>
          <a:xfrm>
            <a:off x="2503627"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2033</a:t>
            </a:r>
          </a:p>
        </p:txBody>
      </p:sp>
      <p:sp>
        <p:nvSpPr>
          <p:cNvPr id="110" name="YearLabel"/>
          <p:cNvSpPr txBox="1"/>
          <p:nvPr/>
        </p:nvSpPr>
        <p:spPr>
          <a:xfrm>
            <a:off x="2752344"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2034</a:t>
            </a:r>
          </a:p>
        </p:txBody>
      </p:sp>
      <p:sp>
        <p:nvSpPr>
          <p:cNvPr id="111" name="YearLabel"/>
          <p:cNvSpPr txBox="1"/>
          <p:nvPr/>
        </p:nvSpPr>
        <p:spPr>
          <a:xfrm>
            <a:off x="3001975"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2035</a:t>
            </a:r>
          </a:p>
        </p:txBody>
      </p:sp>
      <p:sp>
        <p:nvSpPr>
          <p:cNvPr id="112" name="YearLabel"/>
          <p:cNvSpPr txBox="1"/>
          <p:nvPr/>
        </p:nvSpPr>
        <p:spPr>
          <a:xfrm>
            <a:off x="3251606"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2036</a:t>
            </a:r>
          </a:p>
        </p:txBody>
      </p:sp>
      <p:sp>
        <p:nvSpPr>
          <p:cNvPr id="113" name="YearLabel"/>
          <p:cNvSpPr txBox="1"/>
          <p:nvPr/>
        </p:nvSpPr>
        <p:spPr>
          <a:xfrm>
            <a:off x="3500323"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2037</a:t>
            </a:r>
          </a:p>
        </p:txBody>
      </p:sp>
      <p:sp>
        <p:nvSpPr>
          <p:cNvPr id="114" name="YearLabel"/>
          <p:cNvSpPr txBox="1"/>
          <p:nvPr/>
        </p:nvSpPr>
        <p:spPr>
          <a:xfrm>
            <a:off x="3749954"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2038</a:t>
            </a:r>
          </a:p>
        </p:txBody>
      </p:sp>
      <p:sp>
        <p:nvSpPr>
          <p:cNvPr id="115" name="YearLabel"/>
          <p:cNvSpPr txBox="1"/>
          <p:nvPr/>
        </p:nvSpPr>
        <p:spPr>
          <a:xfrm>
            <a:off x="4000500"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2039</a:t>
            </a:r>
          </a:p>
        </p:txBody>
      </p:sp>
      <p:sp>
        <p:nvSpPr>
          <p:cNvPr id="116" name="YearLabel"/>
          <p:cNvSpPr txBox="1"/>
          <p:nvPr/>
        </p:nvSpPr>
        <p:spPr>
          <a:xfrm>
            <a:off x="4250131"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2040</a:t>
            </a:r>
          </a:p>
        </p:txBody>
      </p:sp>
      <p:sp>
        <p:nvSpPr>
          <p:cNvPr id="117" name="YearLabel"/>
          <p:cNvSpPr txBox="1"/>
          <p:nvPr/>
        </p:nvSpPr>
        <p:spPr>
          <a:xfrm>
            <a:off x="4498848"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2041</a:t>
            </a:r>
          </a:p>
        </p:txBody>
      </p:sp>
      <p:sp>
        <p:nvSpPr>
          <p:cNvPr id="118" name="YearLabel"/>
          <p:cNvSpPr txBox="1"/>
          <p:nvPr/>
        </p:nvSpPr>
        <p:spPr>
          <a:xfrm>
            <a:off x="4748479"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2042</a:t>
            </a:r>
          </a:p>
        </p:txBody>
      </p:sp>
      <p:sp>
        <p:nvSpPr>
          <p:cNvPr id="119" name="YearLabel"/>
          <p:cNvSpPr txBox="1"/>
          <p:nvPr/>
        </p:nvSpPr>
        <p:spPr>
          <a:xfrm>
            <a:off x="4997196"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2043</a:t>
            </a:r>
          </a:p>
        </p:txBody>
      </p:sp>
      <p:sp>
        <p:nvSpPr>
          <p:cNvPr id="120" name="YearLabel"/>
          <p:cNvSpPr txBox="1"/>
          <p:nvPr/>
        </p:nvSpPr>
        <p:spPr>
          <a:xfrm>
            <a:off x="5246827"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2044</a:t>
            </a:r>
          </a:p>
        </p:txBody>
      </p:sp>
      <p:sp>
        <p:nvSpPr>
          <p:cNvPr id="121" name="YearLabel"/>
          <p:cNvSpPr txBox="1"/>
          <p:nvPr/>
        </p:nvSpPr>
        <p:spPr>
          <a:xfrm>
            <a:off x="5495544"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2045</a:t>
            </a:r>
          </a:p>
        </p:txBody>
      </p:sp>
      <p:sp>
        <p:nvSpPr>
          <p:cNvPr id="122" name="YearLabel"/>
          <p:cNvSpPr txBox="1"/>
          <p:nvPr/>
        </p:nvSpPr>
        <p:spPr>
          <a:xfrm>
            <a:off x="5745175"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2046</a:t>
            </a:r>
          </a:p>
        </p:txBody>
      </p:sp>
      <p:sp>
        <p:nvSpPr>
          <p:cNvPr id="123" name="YearLabel"/>
          <p:cNvSpPr txBox="1"/>
          <p:nvPr/>
        </p:nvSpPr>
        <p:spPr>
          <a:xfrm>
            <a:off x="5994806"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2047</a:t>
            </a:r>
          </a:p>
        </p:txBody>
      </p:sp>
      <p:sp>
        <p:nvSpPr>
          <p:cNvPr id="124" name="YearLabel"/>
          <p:cNvSpPr txBox="1"/>
          <p:nvPr/>
        </p:nvSpPr>
        <p:spPr>
          <a:xfrm>
            <a:off x="6243523"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2048</a:t>
            </a:r>
          </a:p>
        </p:txBody>
      </p:sp>
      <p:sp>
        <p:nvSpPr>
          <p:cNvPr id="125" name="YearLabel"/>
          <p:cNvSpPr txBox="1"/>
          <p:nvPr/>
        </p:nvSpPr>
        <p:spPr>
          <a:xfrm>
            <a:off x="6493154"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2049</a:t>
            </a:r>
          </a:p>
        </p:txBody>
      </p:sp>
      <p:sp>
        <p:nvSpPr>
          <p:cNvPr id="126" name="YearLabel"/>
          <p:cNvSpPr txBox="1"/>
          <p:nvPr/>
        </p:nvSpPr>
        <p:spPr>
          <a:xfrm>
            <a:off x="6741871" y="5512003"/>
            <a:ext cx="152705" cy="279806"/>
          </a:xfrm>
          <a:prstGeom prst="rect">
            <a:avLst/>
          </a:prstGeom>
          <a:noFill/>
          <a:ln>
            <a:noFill/>
          </a:ln>
        </p:spPr>
        <p:txBody>
          <a:bodyPr wrap="none" anchor="ctr" lIns="0" tIns="0" rIns="0" bIns="0"/>
          <a:lstStyle/>
          <a:p>
            <a:pPr algn="r" marL="0" indent="0">
              <a:lnSpc>
                <a:spcPct val="100000"/>
              </a:lnSpc>
              <a:buNone/>
            </a:pPr>
            <a:r>
              <a:rPr lang="en-US" sz="800" dirty="0">
                <a:solidFill>
                  <a:srgbClr val="000000"/>
                </a:solidFill>
                <a:latin typeface="Arial"/>
                <a:ea typeface="Arial"/>
                <a:cs typeface="Arial"/>
              </a:rPr>
              <a:t>2050</a:t>
            </a:r>
          </a:p>
        </p:txBody>
      </p:sp>
      <p:sp>
        <p:nvSpPr>
          <p:cNvPr id="127" name="Label"/>
          <p:cNvSpPr txBox="1"/>
          <p:nvPr/>
        </p:nvSpPr>
        <p:spPr>
          <a:xfrm>
            <a:off x="726948" y="5257800"/>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-32</a:t>
            </a:r>
          </a:p>
        </p:txBody>
      </p:sp>
      <p:sp>
        <p:nvSpPr>
          <p:cNvPr id="128" name="Label"/>
          <p:cNvSpPr txBox="1"/>
          <p:nvPr/>
        </p:nvSpPr>
        <p:spPr>
          <a:xfrm>
            <a:off x="1225296" y="3608222"/>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-11</a:t>
            </a:r>
          </a:p>
        </p:txBody>
      </p:sp>
      <p:sp>
        <p:nvSpPr>
          <p:cNvPr id="129" name="Label"/>
          <p:cNvSpPr txBox="1"/>
          <p:nvPr/>
        </p:nvSpPr>
        <p:spPr>
          <a:xfrm>
            <a:off x="1474927" y="392277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-15</a:t>
            </a:r>
          </a:p>
        </p:txBody>
      </p:sp>
      <p:sp>
        <p:nvSpPr>
          <p:cNvPr id="130" name="Label"/>
          <p:cNvSpPr txBox="1"/>
          <p:nvPr/>
        </p:nvSpPr>
        <p:spPr>
          <a:xfrm>
            <a:off x="1723644" y="4000500"/>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-16</a:t>
            </a:r>
          </a:p>
        </p:txBody>
      </p:sp>
      <p:sp>
        <p:nvSpPr>
          <p:cNvPr id="131" name="Label"/>
          <p:cNvSpPr txBox="1"/>
          <p:nvPr/>
        </p:nvSpPr>
        <p:spPr>
          <a:xfrm>
            <a:off x="2008022" y="3293669"/>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-7</a:t>
            </a:r>
          </a:p>
        </p:txBody>
      </p:sp>
      <p:sp>
        <p:nvSpPr>
          <p:cNvPr id="132" name="Label"/>
          <p:cNvSpPr txBox="1"/>
          <p:nvPr/>
        </p:nvSpPr>
        <p:spPr>
          <a:xfrm>
            <a:off x="2222906" y="392277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-15</a:t>
            </a:r>
          </a:p>
        </p:txBody>
      </p:sp>
      <p:sp>
        <p:nvSpPr>
          <p:cNvPr id="133" name="Label"/>
          <p:cNvSpPr txBox="1"/>
          <p:nvPr/>
        </p:nvSpPr>
        <p:spPr>
          <a:xfrm>
            <a:off x="2471623" y="4550969"/>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-23</a:t>
            </a:r>
          </a:p>
        </p:txBody>
      </p:sp>
      <p:sp>
        <p:nvSpPr>
          <p:cNvPr id="134" name="Label"/>
          <p:cNvSpPr txBox="1"/>
          <p:nvPr/>
        </p:nvSpPr>
        <p:spPr>
          <a:xfrm>
            <a:off x="2721254" y="368594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-12</a:t>
            </a:r>
          </a:p>
        </p:txBody>
      </p:sp>
      <p:sp>
        <p:nvSpPr>
          <p:cNvPr id="135" name="Label"/>
          <p:cNvSpPr txBox="1"/>
          <p:nvPr/>
        </p:nvSpPr>
        <p:spPr>
          <a:xfrm>
            <a:off x="3254350" y="3372307"/>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-8</a:t>
            </a:r>
          </a:p>
        </p:txBody>
      </p:sp>
      <p:sp>
        <p:nvSpPr>
          <p:cNvPr id="136" name="Label"/>
          <p:cNvSpPr txBox="1"/>
          <p:nvPr/>
        </p:nvSpPr>
        <p:spPr>
          <a:xfrm>
            <a:off x="3468319" y="4000500"/>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-16</a:t>
            </a:r>
          </a:p>
        </p:txBody>
      </p:sp>
      <p:sp>
        <p:nvSpPr>
          <p:cNvPr id="137" name="Label"/>
          <p:cNvSpPr txBox="1"/>
          <p:nvPr/>
        </p:nvSpPr>
        <p:spPr>
          <a:xfrm>
            <a:off x="3717950" y="3765499"/>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-13</a:t>
            </a:r>
          </a:p>
        </p:txBody>
      </p:sp>
      <p:sp>
        <p:nvSpPr>
          <p:cNvPr id="138" name="Label"/>
          <p:cNvSpPr txBox="1"/>
          <p:nvPr/>
        </p:nvSpPr>
        <p:spPr>
          <a:xfrm>
            <a:off x="3968496" y="392277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-15</a:t>
            </a:r>
          </a:p>
        </p:txBody>
      </p:sp>
      <p:sp>
        <p:nvSpPr>
          <p:cNvPr id="139" name="Label"/>
          <p:cNvSpPr txBox="1"/>
          <p:nvPr/>
        </p:nvSpPr>
        <p:spPr>
          <a:xfrm>
            <a:off x="3004718" y="3293669"/>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-7</a:t>
            </a:r>
          </a:p>
        </p:txBody>
      </p:sp>
      <p:sp>
        <p:nvSpPr>
          <p:cNvPr id="140" name="Label"/>
          <p:cNvSpPr txBox="1"/>
          <p:nvPr/>
        </p:nvSpPr>
        <p:spPr>
          <a:xfrm>
            <a:off x="4502506" y="3215030"/>
            <a:ext cx="147218"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-6</a:t>
            </a:r>
          </a:p>
        </p:txBody>
      </p:sp>
      <p:sp>
        <p:nvSpPr>
          <p:cNvPr id="141" name="Label"/>
          <p:cNvSpPr txBox="1"/>
          <p:nvPr/>
        </p:nvSpPr>
        <p:spPr>
          <a:xfrm>
            <a:off x="4716475" y="3528670"/>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-10</a:t>
            </a:r>
          </a:p>
        </p:txBody>
      </p:sp>
      <p:sp>
        <p:nvSpPr>
          <p:cNvPr id="142" name="Label"/>
          <p:cNvSpPr txBox="1"/>
          <p:nvPr/>
        </p:nvSpPr>
        <p:spPr>
          <a:xfrm>
            <a:off x="4966106" y="392277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-15</a:t>
            </a:r>
          </a:p>
        </p:txBody>
      </p:sp>
      <p:sp>
        <p:nvSpPr>
          <p:cNvPr id="143" name="Label"/>
          <p:cNvSpPr txBox="1"/>
          <p:nvPr/>
        </p:nvSpPr>
        <p:spPr>
          <a:xfrm>
            <a:off x="5214823" y="4943246"/>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-28</a:t>
            </a:r>
          </a:p>
        </p:txBody>
      </p:sp>
      <p:sp>
        <p:nvSpPr>
          <p:cNvPr id="144" name="Label"/>
          <p:cNvSpPr txBox="1"/>
          <p:nvPr/>
        </p:nvSpPr>
        <p:spPr>
          <a:xfrm>
            <a:off x="4218127" y="4315054"/>
            <a:ext cx="217627" cy="152705"/>
          </a:xfrm>
          <a:prstGeom prst="rect">
            <a:avLst/>
          </a:prstGeom>
          <a:noFill/>
          <a:ln>
            <a:noFill/>
          </a:ln>
        </p:spPr>
        <p:txBody>
          <a:bodyPr wrap="none" anchor="t" lIns="17463" tIns="0" rIns="17463" bIns="0"/>
          <a:lstStyle/>
          <a:p>
            <a:pPr algn="ctr" marL="0" indent="0">
              <a:lnSpc>
                <a:spcPct val="100000"/>
              </a:lnSpc>
              <a:buNone/>
            </a:pPr>
            <a:r>
              <a:rPr lang="en-US" sz="1000" dirty="0">
                <a:latin typeface="Arial"/>
                <a:ea typeface="Arial"/>
                <a:cs typeface="Arial"/>
              </a:rPr>
              <a:t>-20</a:t>
            </a:r>
          </a:p>
        </p:txBody>
      </p:sp>
      <p:sp>
        <p:nvSpPr>
          <p:cNvPr id="145" name="Text Placeholder 25"/>
          <p:cNvSpPr txBox="1"/>
          <p:nvPr/>
        </p:nvSpPr>
        <p:spPr>
          <a:xfrm>
            <a:off x="442570" y="1602029"/>
            <a:ext cx="5235854"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Implied Retirements vs. Orderbook of US-Built, US-Flagged Offshore FSV/PSV (# Hulls)</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Status Quo</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Status Quo Outlook (Addressable Offshore 1/2) | Achieving serial production of FSVs requires capturing 60%+ of the market and more favorable upstream player capex outlook.</a:t>
            </a:r>
          </a:p>
        </p:txBody>
      </p:sp>
      <p:graphicFrame>
        <p:nvGraphicFramePr>
          <p:cNvPr id="146" name="Table 769"/>
          <p:cNvGraphicFramePr>
            <a:graphicFrameLocks noGrp="1"/>
          </p:cNvGraphicFramePr>
          <p:nvPr/>
        </p:nvGraphicFramePr>
        <p:xfrm>
          <a:off x="7083857" y="1540764"/>
          <a:ext cx="4616806" cy="3504895"/>
        </p:xfrm>
        <a:graphic>
          <a:graphicData uri="http://schemas.openxmlformats.org/drawingml/2006/table">
            <a:tbl>
              <a:tblPr firstRow="1" firstCol="1" bandRow="0">
                <a:tableStyleId>{2D5ABB26-0587-4C30-8999-92F81FD0307C}</a:tableStyleId>
              </a:tblPr>
              <a:tblGrid>
                <a:gridCol w="1079906"/>
                <a:gridCol w="1575511"/>
                <a:gridCol w="1961388"/>
              </a:tblGrid>
              <a:tr h="0">
                <a:tc gridSpan="3">
                  <a:txBody>
                    <a:bodyPr anchor="ctr"/>
                    <a:lstStyle/>
                    <a:p>
                      <a:pPr algn="l">
                        <a:lnSpc>
                          <a:spcPct val="100000"/>
                        </a:lnSpc>
                      </a:pPr>
                      <a:r>
                        <a:rPr lang="en-US" sz="1000" b="1" dirty="0">
                          <a:solidFill>
                            <a:srgbClr val="000000"/>
                          </a:solidFill>
                          <a:latin typeface="Arial"/>
                          <a:ea typeface="Arial"/>
                          <a:cs typeface="Arial"/>
                        </a:rPr>
                        <a:t>Average retirement replacements required per year ’26-’50</a:t>
                      </a:r>
                    </a:p>
                  </a:txBody>
                  <a:tcPr marL="45720" marR="45720" marT="45720" marB="45720" anchor="ctr">
                    <a:lnL>
                      <a:noFill/>
                    </a:lnL>
                    <a:lnR>
                      <a:noFill/>
                    </a:lnR>
                    <a:lnT>
                      <a:noFill/>
                    </a:lnT>
                    <a:lnB w="12700" cap="flat" cmpd="sng" algn="ctr">
                      <a:solidFill>
                        <a:srgbClr val="000000"/>
                      </a:solidFill>
                      <a:prstDash val="solid"/>
                    </a:lnB>
                    <a:noFill/>
                  </a:tcPr>
                </a:tc>
                <a:tc hMerge="1">
                  <a:txBody>
                    <a:bodyPr/>
                    <a:lstStyle/>
                    <a:p>
                      <a:endParaRPr lang="en-US"/>
                    </a:p>
                  </a:txBody>
                  <a:tcPr/>
                </a:tc>
                <a:tc hMerge="1">
                  <a:txBody>
                    <a:bodyPr/>
                    <a:lstStyle/>
                    <a:p>
                      <a:endParaRPr lang="en-US"/>
                    </a:p>
                  </a:txBody>
                  <a:tcPr/>
                </a:tc>
              </a:tr>
              <a:tr h="0">
                <a:tc>
                  <a:txBody>
                    <a:bodyPr anchor="ctr"/>
                    <a:lstStyle/>
                    <a:p>
                      <a:pPr algn="ctr">
                        <a:lnSpc>
                          <a:spcPct val="100000"/>
                        </a:lnSpc>
                      </a:pPr>
                      <a:r>
                        <a:rPr lang="en-US" sz="1000" b="1" dirty="0">
                          <a:solidFill>
                            <a:srgbClr val="000000"/>
                          </a:solidFill>
                          <a:latin typeface="Arial"/>
                          <a:ea typeface="Arial"/>
                          <a:cs typeface="Arial"/>
                        </a:rPr>
                        <a:t>Archetype</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Total</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Net of Orderbook Deliveries</a:t>
                      </a:r>
                    </a:p>
                  </a:txBody>
                  <a:tcPr marL="45720" marR="45720" marT="45720" marB="45720" anchor="ctr">
                    <a:lnL>
                      <a:noFill/>
                    </a:lnL>
                    <a:lnR>
                      <a:noFill/>
                    </a:lnR>
                    <a:lnT w="12700" cap="flat" cmpd="sng" algn="ctr">
                      <a:solidFill>
                        <a:srgbClr val="000000"/>
                      </a:solidFill>
                      <a:prstDash val="solid"/>
                    </a:lnT>
                    <a:lnB w="12700" cap="flat" cmpd="sng" algn="ctr">
                      <a:solidFill>
                        <a:srgbClr val="00000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Crew/Fast Supply</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9DB1CF"/>
                    </a:solidFill>
                  </a:tcPr>
                </a:tc>
                <a:tc>
                  <a:txBody>
                    <a:bodyPr anchor="ctr"/>
                    <a:lstStyle/>
                    <a:p>
                      <a:pPr algn="ctr">
                        <a:lnSpc>
                          <a:spcPct val="100000"/>
                        </a:lnSpc>
                      </a:pPr>
                      <a:r>
                        <a:rPr lang="en-US" sz="1600" b="1" dirty="0">
                          <a:solidFill>
                            <a:srgbClr val="000000"/>
                          </a:solidFill>
                          <a:latin typeface="Arial"/>
                          <a:ea typeface="Arial"/>
                          <a:cs typeface="Arial"/>
                        </a:rPr>
                        <a:t>~4.2</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c>
                  <a:txBody>
                    <a:bodyPr anchor="ctr"/>
                    <a:lstStyle/>
                    <a:p>
                      <a:pPr algn="ctr">
                        <a:lnSpc>
                          <a:spcPct val="100000"/>
                        </a:lnSpc>
                      </a:pPr>
                      <a:r>
                        <a:rPr lang="en-US" sz="1600" b="1" dirty="0">
                          <a:solidFill>
                            <a:srgbClr val="000000"/>
                          </a:solidFill>
                          <a:latin typeface="Arial"/>
                          <a:ea typeface="Arial"/>
                          <a:cs typeface="Arial"/>
                        </a:rPr>
                        <a:t>~4.2</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FFFFFF"/>
                          </a:solidFill>
                          <a:latin typeface="Arial"/>
                          <a:ea typeface="Arial"/>
                          <a:cs typeface="Arial"/>
                        </a:rPr>
                        <a:t>PSV</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4C6C9C"/>
                    </a:solidFill>
                  </a:tcPr>
                </a:tc>
                <a:tc>
                  <a:txBody>
                    <a:bodyPr anchor="ctr"/>
                    <a:lstStyle/>
                    <a:p>
                      <a:pPr algn="ctr" marL="0" indent="0">
                        <a:lnSpc>
                          <a:spcPct val="100000"/>
                        </a:lnSpc>
                      </a:pPr>
                      <a:r>
                        <a:rPr lang="en-US" sz="1600" b="1" dirty="0">
                          <a:solidFill>
                            <a:srgbClr val="007770"/>
                          </a:solidFill>
                          <a:latin typeface="Arial"/>
                          <a:ea typeface="Arial"/>
                          <a:cs typeface="Arial"/>
                        </a:rPr>
                        <a:t>~8.2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marL="0" indent="0">
                        <a:lnSpc>
                          <a:spcPct val="100000"/>
                        </a:lnSpc>
                      </a:pPr>
                      <a:r>
                        <a:rPr lang="en-US" sz="1600" b="1" dirty="0">
                          <a:solidFill>
                            <a:srgbClr val="007770"/>
                          </a:solidFill>
                          <a:latin typeface="Arial"/>
                          <a:ea typeface="Arial"/>
                          <a:cs typeface="Arial"/>
                        </a:rPr>
                        <a:t>~8.2</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48640">
                <a:tc>
                  <a:txBody>
                    <a:bodyPr anchor="ctr"/>
                    <a:lstStyle/>
                    <a:p>
                      <a:pPr algn="l">
                        <a:lnSpc>
                          <a:spcPct val="100000"/>
                        </a:lnSpc>
                      </a:pPr>
                      <a:r>
                        <a:rPr lang="en-US" sz="1000" b="1" dirty="0">
                          <a:solidFill>
                            <a:srgbClr val="000000"/>
                          </a:solidFill>
                          <a:latin typeface="Arial"/>
                          <a:ea typeface="Arial"/>
                          <a:cs typeface="Arial"/>
                        </a:rPr>
                        <a:t>Commentary</a:t>
                      </a:r>
                    </a:p>
                  </a:txBody>
                  <a:tcPr marL="45720" marR="45720" marT="45720" marB="45720" anchor="ctr">
                    <a:lnL>
                      <a:noFill/>
                    </a:lnL>
                    <a:lnR>
                      <a:noFill/>
                    </a:lnR>
                    <a:lnT w="6350" cap="flat" cmpd="sng" algn="ctr">
                      <a:solidFill>
                        <a:srgbClr val="808080"/>
                      </a:solidFill>
                      <a:prstDash val="solid"/>
                    </a:lnT>
                    <a:lnB>
                      <a:noFill/>
                    </a:lnB>
                    <a:noFill/>
                  </a:tcPr>
                </a:tc>
                <a:tc gridSpan="2">
                  <a:txBody>
                    <a:bodyPr anchor="ctr"/>
                    <a:lstStyle/>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1-for-1 retirement replacements potentially challenged by O&amp;G sector maintaining capital discipline that drives retirement deferrals </a:t>
                      </a:r>
                      <a:r>
                        <a:rPr lang="en-US" sz="1000" i="1" dirty="0">
                          <a:solidFill>
                            <a:srgbClr val="000000"/>
                          </a:solidFill>
                          <a:latin typeface="Arial"/>
                          <a:ea typeface="Arial"/>
                          <a:cs typeface="Arial"/>
                        </a:rPr>
                        <a:t>(potentially mitigated if crude prices remain high due to Persian Gulf disruptions)</a:t>
                      </a:r>
                    </a:p>
                    <a:p>
                      <a:pPr algn="l" marL="171450" indent="-171450">
                        <a:lnSpc>
                          <a:spcPct val="100000"/>
                        </a:lnSpc>
                        <a:buFont typeface="Arial" panose="020B0604020202020204" pitchFamily="34" charset="0"/>
                        <a:buChar char="•"/>
                      </a:pPr>
                      <a:endParaRPr lang="en-US"/>
                    </a:p>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Only Offshore O&amp;G vessel types with orders are Multipurpose Support Vessels (2x on order), providing evidence of constrained upstream capex environment</a:t>
                      </a:r>
                    </a:p>
                    <a:p>
                      <a:pPr algn="l" marL="171450" indent="-171450">
                        <a:lnSpc>
                          <a:spcPct val="100000"/>
                        </a:lnSpc>
                        <a:buFont typeface="Arial" panose="020B0604020202020204" pitchFamily="34" charset="0"/>
                        <a:buChar char="•"/>
                      </a:pPr>
                      <a:endParaRPr lang="en-US"/>
                    </a:p>
                    <a:p>
                      <a:pPr algn="l"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Other Offshore O&amp;G vessel types have smaller fleet counts than PSV and Crew/Fast Supply (1-66 vs. 206 and 105, respectively), likely precluding serial production</a:t>
                      </a:r>
                    </a:p>
                  </a:txBody>
                  <a:tcPr marL="45720" marR="45720" marT="45720" marB="45720" anchor="ctr">
                    <a:lnL>
                      <a:noFill/>
                    </a:lnL>
                    <a:lnR>
                      <a:noFill/>
                    </a:lnR>
                    <a:lnT w="6350" cap="flat" cmpd="sng" algn="ctr">
                      <a:solidFill>
                        <a:srgbClr val="808080"/>
                      </a:solidFill>
                      <a:prstDash val="solid"/>
                    </a:lnT>
                    <a:lnB>
                      <a:noFill/>
                    </a:lnB>
                    <a:noFill/>
                  </a:tcPr>
                </a:tc>
                <a:tc hMerge="1">
                  <a:txBody>
                    <a:bodyPr/>
                    <a:lstStyle/>
                    <a:p>
                      <a:endParaRPr lang="en-US"/>
                    </a:p>
                  </a:txBody>
                  <a:tcPr/>
                </a:tc>
              </a:tr>
            </a:tbl>
          </a:graphicData>
        </a:graphic>
      </p:graphicFrame>
      <p:sp>
        <p:nvSpPr>
          <p:cNvPr id="147" name="Speech Bubble: Rectangle 645"/>
          <p:cNvSpPr txBox="1"/>
          <p:nvPr/>
        </p:nvSpPr>
        <p:spPr>
          <a:xfrm>
            <a:off x="4651553" y="1796796"/>
            <a:ext cx="2275027" cy="388620"/>
          </a:xfrm>
          <a:prstGeom prst="wedgeRectCallout">
            <a:avLst>
              <a:gd name="adj1" fmla="val -19106"/>
              <a:gd name="adj2" fmla="val -3267"/>
            </a:avLst>
          </a:prstGeom>
          <a:solidFill>
            <a:srgbClr val="FFFFFF"/>
          </a:solidFill>
          <a:ln>
            <a:no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Bar total values indicate net hulls added (removed) each year</a:t>
            </a:r>
          </a:p>
        </p:txBody>
      </p:sp>
      <p:sp>
        <p:nvSpPr>
          <p:cNvPr id="148" name="Rectangle 661"/>
          <p:cNvSpPr txBox="1"/>
          <p:nvPr/>
        </p:nvSpPr>
        <p:spPr>
          <a:xfrm>
            <a:off x="4749394" y="2241194"/>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49" name="Rectangle 662"/>
          <p:cNvSpPr txBox="1"/>
          <p:nvPr/>
        </p:nvSpPr>
        <p:spPr>
          <a:xfrm>
            <a:off x="4749394" y="2445106"/>
            <a:ext cx="179222" cy="133502"/>
          </a:xfrm>
          <a:prstGeom prst="rect">
            <a:avLst/>
          </a:prstGeom>
          <a:solidFill>
            <a:srgbClr val="4C6C9C"/>
          </a:solidFill>
          <a:ln>
            <a:noFill/>
          </a:ln>
        </p:spPr>
        <p:txBody>
          <a:bodyPr wrap="square" anchor="ctr" lIns="91440" tIns="45720" rIns="91440" bIns="45720"/>
          <a:lstStyle/>
          <a:p>
            <a:pPr algn="ctr">
              <a:lnSpc>
                <a:spcPct val="100000"/>
              </a:lnSpc>
              <a:buNone/>
            </a:pPr>
            <a:endParaRPr lang="en-US"/>
          </a:p>
        </p:txBody>
      </p:sp>
      <p:sp>
        <p:nvSpPr>
          <p:cNvPr id="150" name="Text Placeholder 25"/>
          <p:cNvSpPr txBox="1"/>
          <p:nvPr/>
        </p:nvSpPr>
        <p:spPr>
          <a:xfrm>
            <a:off x="4979822" y="2236622"/>
            <a:ext cx="99852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Crew/Fast Supply</a:t>
            </a:r>
          </a:p>
        </p:txBody>
      </p:sp>
      <p:sp>
        <p:nvSpPr>
          <p:cNvPr id="151" name="Text Placeholder 25"/>
          <p:cNvSpPr txBox="1"/>
          <p:nvPr/>
        </p:nvSpPr>
        <p:spPr>
          <a:xfrm>
            <a:off x="4979822" y="2439619"/>
            <a:ext cx="2523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PSV</a:t>
            </a:r>
          </a:p>
        </p:txBody>
      </p:sp>
      <p:sp>
        <p:nvSpPr>
          <p:cNvPr id="152" name="Rectangle 701"/>
          <p:cNvSpPr txBox="1"/>
          <p:nvPr/>
        </p:nvSpPr>
        <p:spPr>
          <a:xfrm>
            <a:off x="452628" y="6119165"/>
            <a:ext cx="11308385" cy="279806"/>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Service life assumptions – 30 years for PSVs and 25 years for Crew/FSVs </a:t>
            </a:r>
            <a:br/>
            <a:r>
              <a:rPr lang="en-US" sz="800" dirty="0">
                <a:solidFill>
                  <a:srgbClr val="000000"/>
                </a:solidFill>
                <a:latin typeface="Arial"/>
                <a:ea typeface="Arial"/>
                <a:cs typeface="Arial"/>
              </a:rPr>
              <a:t>Source: Clarksons (US fleet size and GT data); </a:t>
            </a:r>
            <a:r>
              <a:rPr lang="en-US" sz="800" dirty="0">
                <a:solidFill>
                  <a:srgbClr val="000000"/>
                </a:solidFill>
                <a:latin typeface="Arial"/>
                <a:ea typeface="Arial"/>
                <a:cs typeface="Arial"/>
              </a:rPr>
              <a:t>McKinsey article on O&amp;G sector operating model</a:t>
            </a:r>
          </a:p>
        </p:txBody>
      </p:sp>
      <p:sp>
        <p:nvSpPr>
          <p:cNvPr id="153" name="Speech Bubble: Rectangle 771"/>
          <p:cNvSpPr txBox="1"/>
          <p:nvPr/>
        </p:nvSpPr>
        <p:spPr>
          <a:xfrm>
            <a:off x="1162202" y="4783226"/>
            <a:ext cx="1839773" cy="512978"/>
          </a:xfrm>
          <a:prstGeom prst="wedgeRectCallout">
            <a:avLst>
              <a:gd name="adj1" fmla="val -60475"/>
              <a:gd name="adj2" fmla="val 8630"/>
            </a:avLst>
          </a:prstGeom>
          <a:solidFill>
            <a:srgbClr val="FFFFFF"/>
          </a:solidFill>
          <a:ln w="12700">
            <a:solidFill>
              <a:srgbClr val="121415"/>
            </a:solidFill>
          </a:ln>
        </p:spPr>
        <p:txBody>
          <a:bodyPr wrap="square" anchor="ctr" lIns="91440" tIns="45720" rIns="91440" bIns="45720"/>
          <a:lstStyle/>
          <a:p>
            <a:pPr>
              <a:lnSpc>
                <a:spcPct val="100000"/>
              </a:lnSpc>
              <a:buNone/>
            </a:pPr>
            <a:r>
              <a:rPr lang="en-US" sz="1000" i="1" dirty="0">
                <a:solidFill>
                  <a:srgbClr val="000000"/>
                </a:solidFill>
                <a:latin typeface="Arial"/>
                <a:ea typeface="Arial"/>
                <a:cs typeface="Arial"/>
              </a:rPr>
              <a:t>Retirement backlog suggests owners likely to keep vessels in service despite age</a:t>
            </a:r>
          </a:p>
        </p:txBody>
      </p:sp>
      <p:sp>
        <p:nvSpPr>
          <p:cNvPr id="154" name="Rectangle 772"/>
          <p:cNvSpPr txBox="1"/>
          <p:nvPr/>
        </p:nvSpPr>
        <p:spPr>
          <a:xfrm>
            <a:off x="9544507" y="1306678"/>
            <a:ext cx="275234" cy="237744"/>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0000"/>
                </a:solidFill>
                <a:latin typeface="Arial"/>
                <a:ea typeface="Arial"/>
                <a:cs typeface="Arial"/>
              </a:rPr>
              <a:t>#</a:t>
            </a:r>
          </a:p>
        </p:txBody>
      </p:sp>
      <p:sp>
        <p:nvSpPr>
          <p:cNvPr id="155" name="TextBox 773"/>
          <p:cNvSpPr txBox="1"/>
          <p:nvPr/>
        </p:nvSpPr>
        <p:spPr>
          <a:xfrm>
            <a:off x="9778594" y="1318565"/>
            <a:ext cx="1921154" cy="213970"/>
          </a:xfrm>
          <a:prstGeom prst="rect">
            <a:avLst/>
          </a:prstGeom>
          <a:noFill/>
          <a:ln>
            <a:noFill/>
          </a:ln>
        </p:spPr>
        <p:txBody>
          <a:bodyPr wrap="none" anchor="ctr" lIns="91440" tIns="45720" rIns="91440" bIns="45720"/>
          <a:lstStyle/>
          <a:p>
            <a:pPr>
              <a:lnSpc>
                <a:spcPct val="100000"/>
              </a:lnSpc>
              <a:buNone/>
            </a:pPr>
            <a:r>
              <a:rPr lang="en-US" sz="1000" dirty="0">
                <a:latin typeface="Arial"/>
                <a:ea typeface="Arial"/>
                <a:cs typeface="Arial"/>
              </a:rPr>
              <a:t>Potentially supports serial production</a:t>
            </a:r>
          </a:p>
        </p:txBody>
      </p:sp>
      <p:sp>
        <p:nvSpPr>
          <p:cNvPr id="156" name="Rectangle 774"/>
          <p:cNvSpPr txBox="1"/>
          <p:nvPr/>
        </p:nvSpPr>
        <p:spPr>
          <a:xfrm>
            <a:off x="9544507" y="1085393"/>
            <a:ext cx="275234" cy="237744"/>
          </a:xfrm>
          <a:prstGeom prst="rect">
            <a:avLst/>
          </a:prstGeom>
          <a:noFill/>
          <a:ln>
            <a:noFill/>
          </a:ln>
        </p:spPr>
        <p:txBody>
          <a:bodyPr wrap="square" anchor="ctr" lIns="91440" tIns="45720" rIns="91440" bIns="45720"/>
          <a:lstStyle/>
          <a:p>
            <a:pPr algn="ctr">
              <a:lnSpc>
                <a:spcPct val="100000"/>
              </a:lnSpc>
              <a:buNone/>
            </a:pPr>
            <a:r>
              <a:rPr lang="en-US" sz="1600" b="1" dirty="0">
                <a:solidFill>
                  <a:srgbClr val="007770"/>
                </a:solidFill>
                <a:latin typeface="Arial"/>
                <a:ea typeface="Arial"/>
                <a:cs typeface="Arial"/>
              </a:rPr>
              <a:t>#</a:t>
            </a:r>
          </a:p>
        </p:txBody>
      </p:sp>
      <p:sp>
        <p:nvSpPr>
          <p:cNvPr id="157" name="TextBox 775"/>
          <p:cNvSpPr txBox="1"/>
          <p:nvPr/>
        </p:nvSpPr>
        <p:spPr>
          <a:xfrm>
            <a:off x="9778594" y="1097280"/>
            <a:ext cx="1921154" cy="213970"/>
          </a:xfrm>
          <a:prstGeom prst="rect">
            <a:avLst/>
          </a:prstGeom>
          <a:noFill/>
          <a:ln>
            <a:noFill/>
          </a:ln>
        </p:spPr>
        <p:txBody>
          <a:bodyPr wrap="none" anchor="ctr" lIns="91440" tIns="45720" rIns="91440" bIns="45720"/>
          <a:lstStyle/>
          <a:p>
            <a:pPr>
              <a:lnSpc>
                <a:spcPct val="100000"/>
              </a:lnSpc>
              <a:buNone/>
            </a:pPr>
            <a:r>
              <a:rPr lang="en-US" sz="1000" dirty="0">
                <a:latin typeface="Arial"/>
                <a:ea typeface="Arial"/>
                <a:cs typeface="Arial"/>
              </a:rPr>
              <a:t>Supports serial production</a:t>
            </a:r>
          </a:p>
        </p:txBody>
      </p:sp>
      <p:sp>
        <p:nvSpPr>
          <p:cNvPr id="158" name="Rectangle 776"/>
          <p:cNvSpPr txBox="1"/>
          <p:nvPr/>
        </p:nvSpPr>
        <p:spPr>
          <a:xfrm>
            <a:off x="7123176" y="5168189"/>
            <a:ext cx="4657954" cy="621792"/>
          </a:xfrm>
          <a:prstGeom prst="rect">
            <a:avLst/>
          </a:prstGeom>
          <a:solidFill>
            <a:srgbClr val="CEDDEC"/>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Achieving PSV serial production requires capturing 60%+ of the market; potential to serve international demand as US remains competitive in OSVs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59" name="Rectangle 2"/>
          <p:cNvSpPr txBox="1"/>
          <p:nvPr/>
        </p:nvSpPr>
        <p:spPr>
          <a:xfrm>
            <a:off x="7378294" y="159106"/>
            <a:ext cx="2722169" cy="198425"/>
          </a:xfrm>
          <a:prstGeom prst="rect">
            <a:avLst/>
          </a:prstGeom>
          <a:solidFill>
            <a:srgbClr val="CEDDEC"/>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(1) Status Quo Scenario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SHIPS Act Volume | Current bill language specifying total funding for subsidies limits annual fleet additions to single digits by mid-2030s; revisions required to increase demand.</a:t>
            </a:r>
          </a:p>
        </p:txBody>
      </p:sp>
      <p:sp>
        <p:nvSpPr>
          <p:cNvPr id="9999" name="Source"/>
          <p:cNvSpPr txBox="1"/>
          <p:nvPr/>
        </p:nvSpPr>
        <p:spPr>
          <a:xfrm>
            <a:off x="453079" y="5930000"/>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Note: (1) Assumes avg. 50K GT per newbuild (~13K higher than current fleet avg.); 10M GT target may be achieved with 140-160 deliveries / year with 60K-70K GT per newbuild | Source: MAP; SHIPS Act; Building Ships in America; 46 USC 53106 (MSP subsidy); 46 USC 53406 (TSP subsidy); MARAD (MSP / TSP participation); MARAD (vessel characteristics); MARAD (US vs. foreign-flag operating costs); GAO report on Maritime Security; FRED (PPI, BE Inflation); EIA AEO (Crude &amp; LNG exports); BP (conversions); USTR (Section 301 Actions); USTR (Section 301 Action modifications); GAO (USG/USDA volume); IMF (Import forecast); S&amp;P (Current and forecast prices, FX rates, US trade volumes and destinations); Drewry (foreign-flag opex; near-term cost growth outlook); Clarksons (Orderbook, current fleet, retirements, capacity, observed service life); Press releases (competitor expansion); Market participant feedback (Service life, build assumptions)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00" name="Rectangle 724"/>
          <p:cNvSpPr txBox="1"/>
          <p:nvPr/>
        </p:nvSpPr>
        <p:spPr>
          <a:xfrm>
            <a:off x="7378294" y="158191"/>
            <a:ext cx="2722169" cy="199339"/>
          </a:xfrm>
          <a:prstGeom prst="rect">
            <a:avLst/>
          </a:prstGeom>
          <a:solidFill>
            <a:srgbClr val="447BB2"/>
          </a:solidFill>
          <a:ln w="12700">
            <a:solidFill>
              <a:srgbClr val="000000"/>
            </a:solidFill>
          </a:ln>
        </p:spPr>
        <p:txBody>
          <a:bodyPr wrap="square" anchor="ctr" lIns="91440" tIns="45720" rIns="91440" bIns="45720"/>
          <a:lstStyle/>
          <a:p>
            <a:pPr algn="ctr">
              <a:lnSpc>
                <a:spcPct val="100000"/>
              </a:lnSpc>
              <a:buNone/>
            </a:pPr>
            <a:r>
              <a:rPr lang="en-US" sz="1200" b="1" dirty="0">
                <a:latin typeface="Arial"/>
                <a:ea typeface="Arial"/>
                <a:cs typeface="Arial"/>
              </a:rPr>
              <a:t>(2) SHIPS Act Scenario</a:t>
            </a:r>
          </a:p>
        </p:txBody>
      </p:sp>
      <p:graphicFrame>
        <p:nvGraphicFramePr>
          <p:cNvPr id="101" name="Chart"/>
          <p:cNvGraphicFramePr/>
          <p:nvPr/>
        </p:nvGraphicFramePr>
        <p:xfrm>
          <a:off x="392278" y="1550822"/>
          <a:ext cx="10353751" cy="3571646"/>
        </p:xfrm>
        <a:graphic>
          <a:graphicData uri="http://schemas.openxmlformats.org/drawingml/2006/chart">
            <c:chart xmlns:c="http://schemas.openxmlformats.org/drawingml/2006/chart" xmlns:r="http://schemas.openxmlformats.org/officeDocument/2006/relationships" r:id="rId2"/>
          </a:graphicData>
        </a:graphic>
      </p:graphicFrame>
      <p:sp>
        <p:nvSpPr>
          <p:cNvPr id="102" name="LegendSwatch"/>
          <p:cNvSpPr txBox="1"/>
          <p:nvPr/>
        </p:nvSpPr>
        <p:spPr>
          <a:xfrm rot="10800000">
            <a:off x="10714025" y="192755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3" name="LegendSwatch"/>
          <p:cNvSpPr txBox="1"/>
          <p:nvPr/>
        </p:nvSpPr>
        <p:spPr>
          <a:xfrm rot="10800000">
            <a:off x="10714025" y="243047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4" name="LegendSwatch"/>
          <p:cNvSpPr txBox="1"/>
          <p:nvPr/>
        </p:nvSpPr>
        <p:spPr>
          <a:xfrm rot="10800000">
            <a:off x="10714025" y="272765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5" name="LegendSwatch"/>
          <p:cNvSpPr txBox="1"/>
          <p:nvPr/>
        </p:nvSpPr>
        <p:spPr>
          <a:xfrm rot="10800000">
            <a:off x="10714025" y="3319272"/>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6" name="LegendSwatch"/>
          <p:cNvSpPr txBox="1"/>
          <p:nvPr/>
        </p:nvSpPr>
        <p:spPr>
          <a:xfrm rot="10800000">
            <a:off x="10714025" y="4194353"/>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7" name="LegendSwatch"/>
          <p:cNvSpPr txBox="1"/>
          <p:nvPr/>
        </p:nvSpPr>
        <p:spPr>
          <a:xfrm rot="10800000">
            <a:off x="10714025" y="3913632"/>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cxnSp>
        <p:nvCxnSpPr>
          <p:cNvPr id="108" name="Straight Connector 734"/>
          <p:cNvCxnSpPr/>
          <p:nvPr/>
        </p:nvCxnSpPr>
        <p:spPr>
          <a:xfrm>
            <a:off x="833018" y="2803550"/>
            <a:ext cx="9829800" cy="0"/>
          </a:xfrm>
          <a:prstGeom prst="line">
            <a:avLst/>
          </a:prstGeom>
          <a:ln w="9525">
            <a:solidFill>
              <a:srgbClr val="000000"/>
            </a:solidFill>
            <a:prstDash val="dash"/>
            <a:tailEnd type="triangle" w="med" len="med"/>
          </a:ln>
        </p:spPr>
      </p:cxnSp>
      <p:cxnSp>
        <p:nvCxnSpPr>
          <p:cNvPr id="109" name="Straight Connector 735"/>
          <p:cNvCxnSpPr/>
          <p:nvPr/>
        </p:nvCxnSpPr>
        <p:spPr>
          <a:xfrm>
            <a:off x="833018" y="2003450"/>
            <a:ext cx="9829800" cy="0"/>
          </a:xfrm>
          <a:prstGeom prst="line">
            <a:avLst/>
          </a:prstGeom>
          <a:ln w="9525">
            <a:solidFill>
              <a:srgbClr val="000000"/>
            </a:solidFill>
            <a:prstDash val="dash"/>
            <a:tailEnd type="triangle" w="med" len="med"/>
          </a:ln>
        </p:spPr>
      </p:cxnSp>
      <p:cxnSp>
        <p:nvCxnSpPr>
          <p:cNvPr id="110" name="Straight Connector 737"/>
          <p:cNvCxnSpPr/>
          <p:nvPr/>
        </p:nvCxnSpPr>
        <p:spPr>
          <a:xfrm>
            <a:off x="833018" y="2506370"/>
            <a:ext cx="9829800" cy="0"/>
          </a:xfrm>
          <a:prstGeom prst="line">
            <a:avLst/>
          </a:prstGeom>
          <a:ln w="9525">
            <a:solidFill>
              <a:srgbClr val="000000"/>
            </a:solidFill>
            <a:prstDash val="dash"/>
            <a:tailEnd type="triangle" w="med" len="med"/>
          </a:ln>
        </p:spPr>
      </p:cxnSp>
      <p:cxnSp>
        <p:nvCxnSpPr>
          <p:cNvPr id="111" name="Straight Connector 740"/>
          <p:cNvCxnSpPr/>
          <p:nvPr/>
        </p:nvCxnSpPr>
        <p:spPr>
          <a:xfrm>
            <a:off x="833018" y="3396082"/>
            <a:ext cx="9829800" cy="0"/>
          </a:xfrm>
          <a:prstGeom prst="line">
            <a:avLst/>
          </a:prstGeom>
          <a:ln w="9525">
            <a:solidFill>
              <a:srgbClr val="000000"/>
            </a:solidFill>
            <a:prstDash val="dash"/>
            <a:tailEnd type="triangle" w="med" len="med"/>
          </a:ln>
        </p:spPr>
      </p:cxnSp>
      <p:cxnSp>
        <p:nvCxnSpPr>
          <p:cNvPr id="112" name="Straight Connector 741"/>
          <p:cNvCxnSpPr/>
          <p:nvPr/>
        </p:nvCxnSpPr>
        <p:spPr>
          <a:xfrm>
            <a:off x="833018" y="3989527"/>
            <a:ext cx="9829800" cy="0"/>
          </a:xfrm>
          <a:prstGeom prst="line">
            <a:avLst/>
          </a:prstGeom>
          <a:ln w="9525">
            <a:solidFill>
              <a:srgbClr val="000000"/>
            </a:solidFill>
            <a:prstDash val="dash"/>
            <a:tailEnd type="triangle" w="med" len="med"/>
          </a:ln>
        </p:spPr>
      </p:cxnSp>
      <p:cxnSp>
        <p:nvCxnSpPr>
          <p:cNvPr id="113" name="Straight Connector 743"/>
          <p:cNvCxnSpPr/>
          <p:nvPr/>
        </p:nvCxnSpPr>
        <p:spPr>
          <a:xfrm>
            <a:off x="833018" y="4270248"/>
            <a:ext cx="9829800" cy="0"/>
          </a:xfrm>
          <a:prstGeom prst="line">
            <a:avLst/>
          </a:prstGeom>
          <a:ln w="9525">
            <a:solidFill>
              <a:srgbClr val="000000"/>
            </a:solidFill>
            <a:prstDash val="dash"/>
            <a:tailEnd type="triangle" w="med" len="med"/>
          </a:ln>
        </p:spPr>
      </p:cxnSp>
      <p:sp>
        <p:nvSpPr>
          <p:cNvPr id="114" name="YearLabel"/>
          <p:cNvSpPr txBox="1"/>
          <p:nvPr/>
        </p:nvSpPr>
        <p:spPr>
          <a:xfrm>
            <a:off x="526237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2037</a:t>
            </a:r>
          </a:p>
        </p:txBody>
      </p:sp>
      <p:sp>
        <p:nvSpPr>
          <p:cNvPr id="115" name="YearLabel"/>
          <p:cNvSpPr txBox="1"/>
          <p:nvPr/>
        </p:nvSpPr>
        <p:spPr>
          <a:xfrm>
            <a:off x="56720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2038</a:t>
            </a:r>
          </a:p>
        </p:txBody>
      </p:sp>
      <p:sp>
        <p:nvSpPr>
          <p:cNvPr id="116" name="YearLabel"/>
          <p:cNvSpPr txBox="1"/>
          <p:nvPr/>
        </p:nvSpPr>
        <p:spPr>
          <a:xfrm>
            <a:off x="6081674"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2039</a:t>
            </a:r>
          </a:p>
        </p:txBody>
      </p:sp>
      <p:sp>
        <p:nvSpPr>
          <p:cNvPr id="117" name="YearLabel"/>
          <p:cNvSpPr txBox="1"/>
          <p:nvPr/>
        </p:nvSpPr>
        <p:spPr>
          <a:xfrm>
            <a:off x="6491326"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2040</a:t>
            </a:r>
          </a:p>
        </p:txBody>
      </p:sp>
      <p:sp>
        <p:nvSpPr>
          <p:cNvPr id="118" name="YearLabel"/>
          <p:cNvSpPr txBox="1"/>
          <p:nvPr/>
        </p:nvSpPr>
        <p:spPr>
          <a:xfrm>
            <a:off x="6900977"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2041</a:t>
            </a:r>
          </a:p>
        </p:txBody>
      </p:sp>
      <p:sp>
        <p:nvSpPr>
          <p:cNvPr id="119" name="YearLabel"/>
          <p:cNvSpPr txBox="1"/>
          <p:nvPr/>
        </p:nvSpPr>
        <p:spPr>
          <a:xfrm>
            <a:off x="7720279"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2043</a:t>
            </a:r>
          </a:p>
        </p:txBody>
      </p:sp>
      <p:sp>
        <p:nvSpPr>
          <p:cNvPr id="120" name="YearLabel"/>
          <p:cNvSpPr txBox="1"/>
          <p:nvPr/>
        </p:nvSpPr>
        <p:spPr>
          <a:xfrm>
            <a:off x="812993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2044</a:t>
            </a:r>
          </a:p>
        </p:txBody>
      </p:sp>
      <p:sp>
        <p:nvSpPr>
          <p:cNvPr id="121" name="YearLabel"/>
          <p:cNvSpPr txBox="1"/>
          <p:nvPr/>
        </p:nvSpPr>
        <p:spPr>
          <a:xfrm>
            <a:off x="853958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2045</a:t>
            </a:r>
          </a:p>
        </p:txBody>
      </p:sp>
      <p:sp>
        <p:nvSpPr>
          <p:cNvPr id="122" name="YearLabel"/>
          <p:cNvSpPr txBox="1"/>
          <p:nvPr/>
        </p:nvSpPr>
        <p:spPr>
          <a:xfrm>
            <a:off x="894831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2046</a:t>
            </a:r>
          </a:p>
        </p:txBody>
      </p:sp>
      <p:sp>
        <p:nvSpPr>
          <p:cNvPr id="123" name="YearLabel"/>
          <p:cNvSpPr txBox="1"/>
          <p:nvPr/>
        </p:nvSpPr>
        <p:spPr>
          <a:xfrm>
            <a:off x="239572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2030</a:t>
            </a:r>
          </a:p>
        </p:txBody>
      </p:sp>
      <p:sp>
        <p:nvSpPr>
          <p:cNvPr id="124" name="YearLabel"/>
          <p:cNvSpPr txBox="1"/>
          <p:nvPr/>
        </p:nvSpPr>
        <p:spPr>
          <a:xfrm>
            <a:off x="9767621"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2048</a:t>
            </a:r>
          </a:p>
        </p:txBody>
      </p:sp>
      <p:sp>
        <p:nvSpPr>
          <p:cNvPr id="125" name="YearLabel"/>
          <p:cNvSpPr txBox="1"/>
          <p:nvPr/>
        </p:nvSpPr>
        <p:spPr>
          <a:xfrm>
            <a:off x="1017727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2049</a:t>
            </a:r>
          </a:p>
        </p:txBody>
      </p:sp>
      <p:sp>
        <p:nvSpPr>
          <p:cNvPr id="126" name="YearLabel"/>
          <p:cNvSpPr txBox="1"/>
          <p:nvPr/>
        </p:nvSpPr>
        <p:spPr>
          <a:xfrm>
            <a:off x="105869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2050</a:t>
            </a:r>
          </a:p>
        </p:txBody>
      </p:sp>
      <p:sp>
        <p:nvSpPr>
          <p:cNvPr id="127" name="YearLabel"/>
          <p:cNvSpPr txBox="1"/>
          <p:nvPr/>
        </p:nvSpPr>
        <p:spPr>
          <a:xfrm>
            <a:off x="935797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2047</a:t>
            </a:r>
          </a:p>
        </p:txBody>
      </p:sp>
      <p:sp>
        <p:nvSpPr>
          <p:cNvPr id="128" name="YearLabel"/>
          <p:cNvSpPr txBox="1"/>
          <p:nvPr/>
        </p:nvSpPr>
        <p:spPr>
          <a:xfrm>
            <a:off x="7571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2026</a:t>
            </a:r>
          </a:p>
        </p:txBody>
      </p:sp>
      <p:sp>
        <p:nvSpPr>
          <p:cNvPr id="129" name="YearLabel"/>
          <p:cNvSpPr txBox="1"/>
          <p:nvPr/>
        </p:nvSpPr>
        <p:spPr>
          <a:xfrm>
            <a:off x="1166774"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2027</a:t>
            </a:r>
          </a:p>
        </p:txBody>
      </p:sp>
      <p:sp>
        <p:nvSpPr>
          <p:cNvPr id="130" name="YearLabel"/>
          <p:cNvSpPr txBox="1"/>
          <p:nvPr/>
        </p:nvSpPr>
        <p:spPr>
          <a:xfrm>
            <a:off x="1576426"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2028</a:t>
            </a:r>
          </a:p>
        </p:txBody>
      </p:sp>
      <p:sp>
        <p:nvSpPr>
          <p:cNvPr id="131" name="YearLabel"/>
          <p:cNvSpPr txBox="1"/>
          <p:nvPr/>
        </p:nvSpPr>
        <p:spPr>
          <a:xfrm>
            <a:off x="1986077"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2029</a:t>
            </a:r>
          </a:p>
        </p:txBody>
      </p:sp>
      <p:sp>
        <p:nvSpPr>
          <p:cNvPr id="132" name="YearLabel"/>
          <p:cNvSpPr txBox="1"/>
          <p:nvPr/>
        </p:nvSpPr>
        <p:spPr>
          <a:xfrm>
            <a:off x="2805379"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2031</a:t>
            </a:r>
          </a:p>
        </p:txBody>
      </p:sp>
      <p:sp>
        <p:nvSpPr>
          <p:cNvPr id="133" name="YearLabel"/>
          <p:cNvSpPr txBox="1"/>
          <p:nvPr/>
        </p:nvSpPr>
        <p:spPr>
          <a:xfrm>
            <a:off x="321503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2032</a:t>
            </a:r>
          </a:p>
        </p:txBody>
      </p:sp>
      <p:sp>
        <p:nvSpPr>
          <p:cNvPr id="134" name="YearLabel"/>
          <p:cNvSpPr txBox="1"/>
          <p:nvPr/>
        </p:nvSpPr>
        <p:spPr>
          <a:xfrm>
            <a:off x="731062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2042</a:t>
            </a:r>
          </a:p>
        </p:txBody>
      </p:sp>
      <p:sp>
        <p:nvSpPr>
          <p:cNvPr id="135" name="YearLabel"/>
          <p:cNvSpPr txBox="1"/>
          <p:nvPr/>
        </p:nvSpPr>
        <p:spPr>
          <a:xfrm>
            <a:off x="362468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2033</a:t>
            </a:r>
          </a:p>
        </p:txBody>
      </p:sp>
      <p:sp>
        <p:nvSpPr>
          <p:cNvPr id="136" name="YearLabel"/>
          <p:cNvSpPr txBox="1"/>
          <p:nvPr/>
        </p:nvSpPr>
        <p:spPr>
          <a:xfrm>
            <a:off x="403341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2034</a:t>
            </a:r>
          </a:p>
        </p:txBody>
      </p:sp>
      <p:sp>
        <p:nvSpPr>
          <p:cNvPr id="137" name="YearLabel"/>
          <p:cNvSpPr txBox="1"/>
          <p:nvPr/>
        </p:nvSpPr>
        <p:spPr>
          <a:xfrm>
            <a:off x="444307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2035</a:t>
            </a:r>
          </a:p>
        </p:txBody>
      </p:sp>
      <p:sp>
        <p:nvSpPr>
          <p:cNvPr id="138" name="YearLabel"/>
          <p:cNvSpPr txBox="1"/>
          <p:nvPr/>
        </p:nvSpPr>
        <p:spPr>
          <a:xfrm>
            <a:off x="4852721"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2036</a:t>
            </a:r>
          </a:p>
        </p:txBody>
      </p:sp>
      <p:sp>
        <p:nvSpPr>
          <p:cNvPr id="139" name="Text Placeholder 25"/>
          <p:cNvSpPr txBox="1"/>
          <p:nvPr/>
        </p:nvSpPr>
        <p:spPr>
          <a:xfrm>
            <a:off x="10893247" y="1927555"/>
            <a:ext cx="504749"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10M GT</a:t>
            </a:r>
            <a:r>
              <a:rPr lang="en-US" sz="1000" dirty="0">
                <a:solidFill>
                  <a:srgbClr val="000000"/>
                </a:solidFill>
                <a:latin typeface="Arial"/>
                <a:ea typeface="Arial"/>
                <a:cs typeface="Arial"/>
              </a:rPr>
              <a:t>1</a:t>
            </a:r>
          </a:p>
        </p:txBody>
      </p:sp>
      <p:sp>
        <p:nvSpPr>
          <p:cNvPr id="140" name="Text Placeholder 25"/>
          <p:cNvSpPr txBox="1"/>
          <p:nvPr/>
        </p:nvSpPr>
        <p:spPr>
          <a:xfrm>
            <a:off x="495605" y="1376172"/>
            <a:ext cx="3974897"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Additions to US-Built, Oceangoing Commercial Fleet (# deliveries)</a:t>
            </a:r>
          </a:p>
        </p:txBody>
      </p:sp>
      <p:sp>
        <p:nvSpPr>
          <p:cNvPr id="141" name="Label"/>
          <p:cNvSpPr txBox="1"/>
          <p:nvPr/>
        </p:nvSpPr>
        <p:spPr>
          <a:xfrm>
            <a:off x="10893247" y="2430475"/>
            <a:ext cx="11713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5 (125/yr.)</a:t>
            </a:r>
          </a:p>
        </p:txBody>
      </p:sp>
      <p:sp>
        <p:nvSpPr>
          <p:cNvPr id="142" name="Label"/>
          <p:cNvSpPr txBox="1"/>
          <p:nvPr/>
        </p:nvSpPr>
        <p:spPr>
          <a:xfrm>
            <a:off x="10893247" y="2727655"/>
            <a:ext cx="11713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4 (105/yr.)</a:t>
            </a:r>
          </a:p>
        </p:txBody>
      </p:sp>
      <p:sp>
        <p:nvSpPr>
          <p:cNvPr id="143" name="Label"/>
          <p:cNvSpPr txBox="1"/>
          <p:nvPr/>
        </p:nvSpPr>
        <p:spPr>
          <a:xfrm>
            <a:off x="10893247" y="3319272"/>
            <a:ext cx="110185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3 (65/yr.)</a:t>
            </a:r>
          </a:p>
        </p:txBody>
      </p:sp>
      <p:sp>
        <p:nvSpPr>
          <p:cNvPr id="144" name="Label"/>
          <p:cNvSpPr txBox="1"/>
          <p:nvPr/>
        </p:nvSpPr>
        <p:spPr>
          <a:xfrm>
            <a:off x="10893247" y="3913632"/>
            <a:ext cx="110185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2 (25/yr.)</a:t>
            </a:r>
          </a:p>
        </p:txBody>
      </p:sp>
      <p:sp>
        <p:nvSpPr>
          <p:cNvPr id="145" name="Label"/>
          <p:cNvSpPr txBox="1"/>
          <p:nvPr/>
        </p:nvSpPr>
        <p:spPr>
          <a:xfrm>
            <a:off x="10893247" y="4194353"/>
            <a:ext cx="1031443"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1 (6/yr.)</a:t>
            </a:r>
          </a:p>
        </p:txBody>
      </p:sp>
      <p:sp>
        <p:nvSpPr>
          <p:cNvPr id="146" name="Label"/>
          <p:cNvSpPr txBox="1"/>
          <p:nvPr/>
        </p:nvSpPr>
        <p:spPr>
          <a:xfrm>
            <a:off x="1227125" y="1757477"/>
            <a:ext cx="111739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Excess US capacity</a:t>
            </a:r>
          </a:p>
        </p:txBody>
      </p:sp>
      <p:sp>
        <p:nvSpPr>
          <p:cNvPr id="147" name="Label"/>
          <p:cNvSpPr txBox="1"/>
          <p:nvPr/>
        </p:nvSpPr>
        <p:spPr>
          <a:xfrm>
            <a:off x="1227125" y="1960474"/>
            <a:ext cx="227502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Heritage Foundation target (incremental)</a:t>
            </a:r>
          </a:p>
        </p:txBody>
      </p:sp>
      <p:sp>
        <p:nvSpPr>
          <p:cNvPr id="148" name="Label"/>
          <p:cNvSpPr txBox="1"/>
          <p:nvPr/>
        </p:nvSpPr>
        <p:spPr>
          <a:xfrm>
            <a:off x="1227125" y="2163470"/>
            <a:ext cx="113019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SHIPS Act Scenario</a:t>
            </a:r>
          </a:p>
        </p:txBody>
      </p:sp>
      <p:sp>
        <p:nvSpPr>
          <p:cNvPr id="149" name="Label"/>
          <p:cNvSpPr txBox="1"/>
          <p:nvPr/>
        </p:nvSpPr>
        <p:spPr>
          <a:xfrm>
            <a:off x="1227125" y="2367382"/>
            <a:ext cx="141274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Retirement replacements</a:t>
            </a:r>
          </a:p>
        </p:txBody>
      </p:sp>
      <p:sp>
        <p:nvSpPr>
          <p:cNvPr id="150" name="Label"/>
          <p:cNvSpPr txBox="1"/>
          <p:nvPr/>
        </p:nvSpPr>
        <p:spPr>
          <a:xfrm>
            <a:off x="1227125" y="2570378"/>
            <a:ext cx="597103"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Orderbook</a:t>
            </a:r>
          </a:p>
        </p:txBody>
      </p:sp>
      <p:cxnSp>
        <p:nvCxnSpPr>
          <p:cNvPr id="151" name="Straight Arrow Connector 777"/>
          <p:cNvCxnSpPr/>
          <p:nvPr/>
        </p:nvCxnSpPr>
        <p:spPr>
          <a:xfrm>
            <a:off x="834847" y="2495398"/>
            <a:ext cx="9966960" cy="7315"/>
          </a:xfrm>
          <a:prstGeom prst="line">
            <a:avLst/>
          </a:prstGeom>
          <a:ln w="9525">
            <a:solidFill>
              <a:srgbClr val="000000"/>
            </a:solidFill>
            <a:prstDash val="dash"/>
          </a:ln>
        </p:spPr>
      </p:cxnSp>
      <p:cxnSp>
        <p:nvCxnSpPr>
          <p:cNvPr id="152" name="Straight Arrow Connector 778"/>
          <p:cNvCxnSpPr/>
          <p:nvPr/>
        </p:nvCxnSpPr>
        <p:spPr>
          <a:xfrm>
            <a:off x="834847" y="1996135"/>
            <a:ext cx="9966960" cy="7315"/>
          </a:xfrm>
          <a:prstGeom prst="line">
            <a:avLst/>
          </a:prstGeom>
          <a:ln w="9525">
            <a:solidFill>
              <a:srgbClr val="000000"/>
            </a:solidFill>
            <a:prstDash val="dash"/>
          </a:ln>
        </p:spPr>
      </p:cxnSp>
      <p:sp>
        <p:nvSpPr>
          <p:cNvPr id="153" name="LegendSwatch"/>
          <p:cNvSpPr txBox="1"/>
          <p:nvPr/>
        </p:nvSpPr>
        <p:spPr>
          <a:xfrm>
            <a:off x="895198" y="1691640"/>
            <a:ext cx="3575304" cy="1089050"/>
          </a:xfrm>
          <a:prstGeom prst="rect">
            <a:avLst/>
          </a:prstGeom>
          <a:solidFill>
            <a:srgbClr val="FFFFFF"/>
          </a:solidFill>
          <a:ln>
            <a:noFill/>
          </a:ln>
        </p:spPr>
        <p:txBody>
          <a:bodyPr wrap="square" anchor="ctr" lIns="91440" tIns="45720" rIns="91440" bIns="45720"/>
          <a:lstStyle/>
          <a:p>
            <a:pPr algn="ctr">
              <a:lnSpc>
                <a:spcPct val="100000"/>
              </a:lnSpc>
              <a:buNone/>
            </a:pPr>
            <a:endParaRPr lang="en-US"/>
          </a:p>
        </p:txBody>
      </p:sp>
      <p:sp>
        <p:nvSpPr>
          <p:cNvPr id="154" name="LegendSwatch"/>
          <p:cNvSpPr txBox="1"/>
          <p:nvPr/>
        </p:nvSpPr>
        <p:spPr>
          <a:xfrm>
            <a:off x="996696" y="1762049"/>
            <a:ext cx="179222" cy="133502"/>
          </a:xfrm>
          <a:prstGeom prst="rect">
            <a:avLst/>
          </a:prstGeom>
          <a:solidFill>
            <a:srgbClr val="C30C3E"/>
          </a:solidFill>
          <a:ln>
            <a:noFill/>
          </a:ln>
        </p:spPr>
        <p:txBody>
          <a:bodyPr wrap="square" anchor="ctr" lIns="91440" tIns="45720" rIns="91440" bIns="45720"/>
          <a:lstStyle/>
          <a:p>
            <a:pPr algn="ctr">
              <a:lnSpc>
                <a:spcPct val="100000"/>
              </a:lnSpc>
              <a:buNone/>
            </a:pPr>
            <a:endParaRPr lang="en-US"/>
          </a:p>
        </p:txBody>
      </p:sp>
      <p:sp>
        <p:nvSpPr>
          <p:cNvPr id="155" name="LegendSwatch"/>
          <p:cNvSpPr txBox="1"/>
          <p:nvPr/>
        </p:nvSpPr>
        <p:spPr>
          <a:xfrm>
            <a:off x="996696" y="2168957"/>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sp>
        <p:nvSpPr>
          <p:cNvPr id="156" name="LegendSwatch"/>
          <p:cNvSpPr txBox="1"/>
          <p:nvPr/>
        </p:nvSpPr>
        <p:spPr>
          <a:xfrm>
            <a:off x="996696" y="2371954"/>
            <a:ext cx="179222" cy="133502"/>
          </a:xfrm>
          <a:prstGeom prst="rect">
            <a:avLst/>
          </a:prstGeom>
          <a:solidFill>
            <a:srgbClr val="C0C0C0"/>
          </a:solidFill>
          <a:ln>
            <a:noFill/>
          </a:ln>
        </p:spPr>
        <p:txBody>
          <a:bodyPr wrap="square" anchor="ctr" lIns="91440" tIns="45720" rIns="91440" bIns="45720"/>
          <a:lstStyle/>
          <a:p>
            <a:pPr algn="ctr">
              <a:lnSpc>
                <a:spcPct val="100000"/>
              </a:lnSpc>
              <a:buNone/>
            </a:pPr>
            <a:endParaRPr lang="en-US"/>
          </a:p>
        </p:txBody>
      </p:sp>
      <p:sp>
        <p:nvSpPr>
          <p:cNvPr id="157" name="LegendSwatch"/>
          <p:cNvSpPr txBox="1"/>
          <p:nvPr/>
        </p:nvSpPr>
        <p:spPr>
          <a:xfrm>
            <a:off x="996696" y="2574950"/>
            <a:ext cx="179222" cy="133502"/>
          </a:xfrm>
          <a:prstGeom prst="rect">
            <a:avLst/>
          </a:prstGeom>
          <a:solidFill>
            <a:srgbClr val="808080"/>
          </a:solidFill>
          <a:ln>
            <a:noFill/>
          </a:ln>
        </p:spPr>
        <p:txBody>
          <a:bodyPr wrap="square" anchor="ctr" lIns="91440" tIns="45720" rIns="91440" bIns="45720"/>
          <a:lstStyle/>
          <a:p>
            <a:pPr algn="ctr">
              <a:lnSpc>
                <a:spcPct val="100000"/>
              </a:lnSpc>
              <a:buNone/>
            </a:pPr>
            <a:endParaRPr lang="en-US"/>
          </a:p>
        </p:txBody>
      </p:sp>
      <p:sp>
        <p:nvSpPr>
          <p:cNvPr id="158" name="Rectangle 787"/>
          <p:cNvSpPr txBox="1"/>
          <p:nvPr/>
        </p:nvSpPr>
        <p:spPr>
          <a:xfrm>
            <a:off x="996696" y="1965046"/>
            <a:ext cx="179222" cy="133502"/>
          </a:xfrm>
          <a:prstGeom prst="rect">
            <a:avLst/>
          </a:prstGeom>
          <a:pattFill prst="ltUpDiag">
            <a:fgClr>
              <a:schemeClr val="tx1"/>
            </a:fgClr>
            <a:bgClr>
              <a:schemeClr val="bg1"/>
            </a:bgClr>
          </a:pattFill>
          <a:ln>
            <a:noFill/>
          </a:ln>
        </p:spPr>
        <p:txBody>
          <a:bodyPr wrap="square" anchor="ctr" lIns="91440" tIns="45720" rIns="91440" bIns="45720"/>
          <a:lstStyle/>
          <a:p>
            <a:pPr algn="ctr">
              <a:lnSpc>
                <a:spcPct val="100000"/>
              </a:lnSpc>
              <a:buNone/>
            </a:pPr>
            <a:endParaRPr lang="en-US"/>
          </a:p>
        </p:txBody>
      </p:sp>
      <p:cxnSp>
        <p:nvCxnSpPr>
          <p:cNvPr id="159" name="Straight Arrow Connector 796"/>
          <p:cNvCxnSpPr/>
          <p:nvPr/>
        </p:nvCxnSpPr>
        <p:spPr>
          <a:xfrm>
            <a:off x="834847" y="2790749"/>
            <a:ext cx="9966960" cy="7315"/>
          </a:xfrm>
          <a:prstGeom prst="line">
            <a:avLst/>
          </a:prstGeom>
          <a:ln w="9525">
            <a:solidFill>
              <a:srgbClr val="000000"/>
            </a:solidFill>
            <a:prstDash val="dash"/>
          </a:ln>
        </p:spPr>
      </p:cxnSp>
      <p:cxnSp>
        <p:nvCxnSpPr>
          <p:cNvPr id="160" name="Straight Arrow Connector 797"/>
          <p:cNvCxnSpPr/>
          <p:nvPr/>
        </p:nvCxnSpPr>
        <p:spPr>
          <a:xfrm>
            <a:off x="834847" y="3394253"/>
            <a:ext cx="9966960" cy="7315"/>
          </a:xfrm>
          <a:prstGeom prst="line">
            <a:avLst/>
          </a:prstGeom>
          <a:ln w="9525">
            <a:solidFill>
              <a:srgbClr val="000000"/>
            </a:solidFill>
            <a:prstDash val="dash"/>
          </a:ln>
        </p:spPr>
      </p:cxnSp>
      <p:cxnSp>
        <p:nvCxnSpPr>
          <p:cNvPr id="161" name="Straight Arrow Connector 798"/>
          <p:cNvCxnSpPr/>
          <p:nvPr/>
        </p:nvCxnSpPr>
        <p:spPr>
          <a:xfrm>
            <a:off x="834847" y="3976726"/>
            <a:ext cx="9966960" cy="7315"/>
          </a:xfrm>
          <a:prstGeom prst="line">
            <a:avLst/>
          </a:prstGeom>
          <a:ln w="9525">
            <a:solidFill>
              <a:srgbClr val="000000"/>
            </a:solidFill>
            <a:prstDash val="dash"/>
          </a:ln>
        </p:spPr>
      </p:cxnSp>
      <p:sp>
        <p:nvSpPr>
          <p:cNvPr id="162" name="Label"/>
          <p:cNvSpPr txBox="1"/>
          <p:nvPr/>
        </p:nvSpPr>
        <p:spPr>
          <a:xfrm>
            <a:off x="3740810" y="2662733"/>
            <a:ext cx="548640" cy="91440"/>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Higher</a:t>
            </a:r>
          </a:p>
        </p:txBody>
      </p:sp>
      <p:sp>
        <p:nvSpPr>
          <p:cNvPr id="163" name="Label"/>
          <p:cNvSpPr txBox="1"/>
          <p:nvPr/>
        </p:nvSpPr>
        <p:spPr>
          <a:xfrm>
            <a:off x="3740810" y="1893722"/>
            <a:ext cx="548640" cy="91440"/>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Lower</a:t>
            </a:r>
          </a:p>
        </p:txBody>
      </p:sp>
      <p:sp>
        <p:nvSpPr>
          <p:cNvPr id="164" name="Label"/>
          <p:cNvSpPr txBox="1"/>
          <p:nvPr/>
        </p:nvSpPr>
        <p:spPr>
          <a:xfrm>
            <a:off x="3529584" y="2263140"/>
            <a:ext cx="972007" cy="121615"/>
          </a:xfrm>
          <a:prstGeom prst="rect">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Confidence level</a:t>
            </a:r>
          </a:p>
        </p:txBody>
      </p:sp>
      <p:cxnSp>
        <p:nvCxnSpPr>
          <p:cNvPr id="165" name="Straight Arrow Connector 800"/>
          <p:cNvCxnSpPr/>
          <p:nvPr/>
        </p:nvCxnSpPr>
        <p:spPr>
          <a:xfrm>
            <a:off x="4015130" y="1985162"/>
            <a:ext cx="0" cy="677570"/>
          </a:xfrm>
          <a:prstGeom prst="line">
            <a:avLst/>
          </a:prstGeom>
          <a:ln w="28575">
            <a:solidFill>
              <a:srgbClr val="000000"/>
            </a:solidFill>
            <a:tailEnd type="triangle" w="med" len="med"/>
          </a:ln>
        </p:spPr>
      </p:cxnSp>
      <p:cxnSp>
        <p:nvCxnSpPr>
          <p:cNvPr id="166" name="Straight Arrow Connector 803"/>
          <p:cNvCxnSpPr/>
          <p:nvPr/>
        </p:nvCxnSpPr>
        <p:spPr>
          <a:xfrm>
            <a:off x="833018" y="4257446"/>
            <a:ext cx="9966960" cy="7315"/>
          </a:xfrm>
          <a:prstGeom prst="line">
            <a:avLst/>
          </a:prstGeom>
          <a:ln w="9525">
            <a:solidFill>
              <a:srgbClr val="000000"/>
            </a:solidFill>
            <a:prstDash val="dash"/>
          </a:ln>
        </p:spPr>
      </p:cxnSp>
      <p:sp>
        <p:nvSpPr>
          <p:cNvPr id="167" name="Rectangle 804"/>
          <p:cNvSpPr txBox="1"/>
          <p:nvPr/>
        </p:nvSpPr>
        <p:spPr>
          <a:xfrm>
            <a:off x="4693615" y="1370686"/>
            <a:ext cx="4817059" cy="399593"/>
          </a:xfrm>
          <a:prstGeom prst="rect">
            <a:avLst/>
          </a:prstGeom>
          <a:solidFill>
            <a:srgbClr val="CEDDEC"/>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Demand modeled with Port Alpha Phase 5 capacity; demand would spread over more years if capacity held at earlier phases </a:t>
            </a:r>
          </a:p>
        </p:txBody>
      </p:sp>
      <p:sp>
        <p:nvSpPr>
          <p:cNvPr id="168" name="Rectangle 6"/>
          <p:cNvSpPr txBox="1"/>
          <p:nvPr/>
        </p:nvSpPr>
        <p:spPr>
          <a:xfrm>
            <a:off x="227686" y="5327294"/>
            <a:ext cx="1758391" cy="310896"/>
          </a:xfrm>
          <a:prstGeom prst="rect">
            <a:avLst/>
          </a:prstGeom>
          <a:noFill/>
          <a:ln>
            <a:noFill/>
          </a:ln>
        </p:spPr>
        <p:txBody>
          <a:bodyPr wrap="square" anchor="ctr" lIns="91440" tIns="45720" rIns="91440" bIns="45720"/>
          <a:lstStyle/>
          <a:p>
            <a:pPr>
              <a:lnSpc>
                <a:spcPct val="100000"/>
              </a:lnSpc>
              <a:buNone/>
            </a:pPr>
            <a:r>
              <a:rPr lang="en-US" sz="1000" b="1" i="1" dirty="0">
                <a:solidFill>
                  <a:srgbClr val="000000"/>
                </a:solidFill>
                <a:latin typeface="Arial"/>
                <a:ea typeface="Arial"/>
                <a:cs typeface="Arial"/>
              </a:rPr>
              <a:t>Modeled % deliveries attributable to Port Alpha:</a:t>
            </a:r>
          </a:p>
        </p:txBody>
      </p:sp>
      <p:sp>
        <p:nvSpPr>
          <p:cNvPr id="169" name="ValueLabel"/>
          <p:cNvSpPr txBox="1"/>
          <p:nvPr/>
        </p:nvSpPr>
        <p:spPr>
          <a:xfrm>
            <a:off x="2276856"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70%</a:t>
            </a:r>
          </a:p>
        </p:txBody>
      </p:sp>
      <p:sp>
        <p:nvSpPr>
          <p:cNvPr id="170" name="ValueLabel"/>
          <p:cNvSpPr txBox="1"/>
          <p:nvPr/>
        </p:nvSpPr>
        <p:spPr>
          <a:xfrm>
            <a:off x="4313225"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a:t>
            </a:r>
          </a:p>
        </p:txBody>
      </p:sp>
      <p:sp>
        <p:nvSpPr>
          <p:cNvPr id="171" name="ValueLabel"/>
          <p:cNvSpPr txBox="1"/>
          <p:nvPr/>
        </p:nvSpPr>
        <p:spPr>
          <a:xfrm>
            <a:off x="6361481"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78%</a:t>
            </a:r>
          </a:p>
        </p:txBody>
      </p:sp>
      <p:sp>
        <p:nvSpPr>
          <p:cNvPr id="172" name="ValueLabel"/>
          <p:cNvSpPr txBox="1"/>
          <p:nvPr/>
        </p:nvSpPr>
        <p:spPr>
          <a:xfrm>
            <a:off x="8408822"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73" name="ValueLabel"/>
          <p:cNvSpPr txBox="1"/>
          <p:nvPr/>
        </p:nvSpPr>
        <p:spPr>
          <a:xfrm>
            <a:off x="10456164" y="5365699"/>
            <a:ext cx="41330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74" name="Speech Bubble: Rectangle 9"/>
          <p:cNvSpPr txBox="1"/>
          <p:nvPr/>
        </p:nvSpPr>
        <p:spPr>
          <a:xfrm>
            <a:off x="2742286" y="4511650"/>
            <a:ext cx="1098194" cy="254203"/>
          </a:xfrm>
          <a:prstGeom prst="wedgeRectCallout">
            <a:avLst>
              <a:gd name="adj1" fmla="val 19859"/>
              <a:gd name="adj2" fmla="val -3695"/>
            </a:avLst>
          </a:prstGeom>
          <a:noFill/>
          <a:ln>
            <a:noFill/>
          </a:ln>
        </p:spPr>
        <p:txBody>
          <a:bodyPr wrap="square" anchor="ctr" lIns="91440" tIns="45720" rIns="91440" bIns="45720"/>
          <a:lstStyle/>
          <a:p>
            <a:pPr algn="ctr">
              <a:lnSpc>
                <a:spcPct val="100000"/>
              </a:lnSpc>
              <a:buNone/>
            </a:pPr>
            <a:r>
              <a:rPr lang="en-US" sz="800" i="1" dirty="0">
                <a:solidFill>
                  <a:srgbClr val="FFFFFF"/>
                </a:solidFill>
                <a:latin typeface="Arial"/>
                <a:ea typeface="Arial"/>
                <a:cs typeface="Arial"/>
              </a:rPr>
              <a:t>Contingent upon SHIPS Act passing</a:t>
            </a:r>
          </a:p>
        </p:txBody>
      </p:sp>
      <p:sp>
        <p:nvSpPr>
          <p:cNvPr id="175" name="Rectangle 709"/>
          <p:cNvSpPr txBox="1"/>
          <p:nvPr/>
        </p:nvSpPr>
        <p:spPr>
          <a:xfrm>
            <a:off x="9601200" y="1370686"/>
            <a:ext cx="2463394" cy="462686"/>
          </a:xfrm>
          <a:prstGeom prst="rect">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Total US delivery capacity by 2050 w/ PA phases and competitor expansion; PA deliveries in parenthetical</a:t>
            </a:r>
          </a:p>
        </p:txBody>
      </p:sp>
      <p:sp>
        <p:nvSpPr>
          <p:cNvPr id="176" name="Speech Bubble: Rectangle 851"/>
          <p:cNvSpPr txBox="1"/>
          <p:nvPr/>
        </p:nvSpPr>
        <p:spPr>
          <a:xfrm>
            <a:off x="4817974" y="4511650"/>
            <a:ext cx="2139696" cy="254203"/>
          </a:xfrm>
          <a:prstGeom prst="wedgeRectCallout">
            <a:avLst>
              <a:gd name="adj1" fmla="val 19859"/>
              <a:gd name="adj2" fmla="val -3695"/>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Requires increased universal cargo fees and MSTF balance cap increase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Chart"/>
          <p:cNvGraphicFramePr/>
          <p:nvPr/>
        </p:nvGraphicFramePr>
        <p:xfrm>
          <a:off x="392278" y="1550822"/>
          <a:ext cx="10353751" cy="3571646"/>
        </p:xfrm>
        <a:graphic>
          <a:graphicData uri="http://schemas.openxmlformats.org/drawingml/2006/chart">
            <c:chart xmlns:c="http://schemas.openxmlformats.org/drawingml/2006/chart" xmlns:r="http://schemas.openxmlformats.org/officeDocument/2006/relationships" r:id="rId2"/>
          </a:graphicData>
        </a:graphic>
      </p:graphicFrame>
      <p:sp>
        <p:nvSpPr>
          <p:cNvPr id="101" name="LegendSwatch"/>
          <p:cNvSpPr txBox="1"/>
          <p:nvPr/>
        </p:nvSpPr>
        <p:spPr>
          <a:xfrm rot="10800000">
            <a:off x="10714025" y="192755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2" name="LegendSwatch"/>
          <p:cNvSpPr txBox="1"/>
          <p:nvPr/>
        </p:nvSpPr>
        <p:spPr>
          <a:xfrm rot="10800000">
            <a:off x="10714025" y="243047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3" name="LegendSwatch"/>
          <p:cNvSpPr txBox="1"/>
          <p:nvPr/>
        </p:nvSpPr>
        <p:spPr>
          <a:xfrm rot="10800000">
            <a:off x="10714025" y="2727655"/>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4" name="LegendSwatch"/>
          <p:cNvSpPr txBox="1"/>
          <p:nvPr/>
        </p:nvSpPr>
        <p:spPr>
          <a:xfrm rot="10800000">
            <a:off x="10714025" y="3319272"/>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5" name="LegendSwatch"/>
          <p:cNvSpPr txBox="1"/>
          <p:nvPr/>
        </p:nvSpPr>
        <p:spPr>
          <a:xfrm rot="10800000">
            <a:off x="10714025" y="4194353"/>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sp>
        <p:nvSpPr>
          <p:cNvPr id="106" name="LegendSwatch"/>
          <p:cNvSpPr txBox="1"/>
          <p:nvPr/>
        </p:nvSpPr>
        <p:spPr>
          <a:xfrm rot="10800000">
            <a:off x="10714025" y="3913632"/>
            <a:ext cx="128930" cy="152705"/>
          </a:xfrm>
          <a:prstGeom prst="rightArrow">
            <a:avLst>
              <a:gd name="adj1" fmla="val 100000"/>
              <a:gd name="adj2" fmla="val 100000"/>
            </a:avLst>
          </a:prstGeom>
          <a:solidFill>
            <a:srgbClr val="162029"/>
          </a:solidFill>
          <a:ln>
            <a:noFill/>
          </a:ln>
        </p:spPr>
        <p:txBody>
          <a:bodyPr wrap="square" anchor="ctr" lIns="91440" tIns="45720" rIns="91440" bIns="45720"/>
          <a:lstStyle/>
          <a:p>
            <a:pPr algn="ctr">
              <a:lnSpc>
                <a:spcPct val="100000"/>
              </a:lnSpc>
              <a:buNone/>
            </a:pPr>
            <a:endParaRPr lang="en-US"/>
          </a:p>
        </p:txBody>
      </p:sp>
      <p:cxnSp>
        <p:nvCxnSpPr>
          <p:cNvPr id="107" name="Straight Connector 451"/>
          <p:cNvCxnSpPr/>
          <p:nvPr/>
        </p:nvCxnSpPr>
        <p:spPr>
          <a:xfrm>
            <a:off x="833018" y="2803550"/>
            <a:ext cx="9829800" cy="0"/>
          </a:xfrm>
          <a:prstGeom prst="line">
            <a:avLst/>
          </a:prstGeom>
          <a:ln w="9525">
            <a:solidFill>
              <a:srgbClr val="000000"/>
            </a:solidFill>
            <a:prstDash val="dash"/>
            <a:tailEnd type="triangle" w="med" len="med"/>
          </a:ln>
        </p:spPr>
      </p:cxnSp>
      <p:cxnSp>
        <p:nvCxnSpPr>
          <p:cNvPr id="108" name="Straight Connector 33"/>
          <p:cNvCxnSpPr/>
          <p:nvPr/>
        </p:nvCxnSpPr>
        <p:spPr>
          <a:xfrm>
            <a:off x="833018" y="2003450"/>
            <a:ext cx="9829800" cy="0"/>
          </a:xfrm>
          <a:prstGeom prst="line">
            <a:avLst/>
          </a:prstGeom>
          <a:ln w="9525">
            <a:solidFill>
              <a:srgbClr val="000000"/>
            </a:solidFill>
            <a:prstDash val="dash"/>
            <a:tailEnd type="triangle" w="med" len="med"/>
          </a:ln>
        </p:spPr>
      </p:cxnSp>
      <p:cxnSp>
        <p:nvCxnSpPr>
          <p:cNvPr id="109" name="Straight Connector 50"/>
          <p:cNvCxnSpPr/>
          <p:nvPr/>
        </p:nvCxnSpPr>
        <p:spPr>
          <a:xfrm>
            <a:off x="833018" y="2506370"/>
            <a:ext cx="9829800" cy="0"/>
          </a:xfrm>
          <a:prstGeom prst="line">
            <a:avLst/>
          </a:prstGeom>
          <a:ln w="9525">
            <a:solidFill>
              <a:srgbClr val="000000"/>
            </a:solidFill>
            <a:prstDash val="dash"/>
            <a:tailEnd type="triangle" w="med" len="med"/>
          </a:ln>
        </p:spPr>
      </p:cxnSp>
      <p:cxnSp>
        <p:nvCxnSpPr>
          <p:cNvPr id="110" name="Straight Connector 462"/>
          <p:cNvCxnSpPr/>
          <p:nvPr/>
        </p:nvCxnSpPr>
        <p:spPr>
          <a:xfrm>
            <a:off x="833018" y="3396082"/>
            <a:ext cx="9829800" cy="0"/>
          </a:xfrm>
          <a:prstGeom prst="line">
            <a:avLst/>
          </a:prstGeom>
          <a:ln w="9525">
            <a:solidFill>
              <a:srgbClr val="000000"/>
            </a:solidFill>
            <a:prstDash val="dash"/>
            <a:tailEnd type="triangle" w="med" len="med"/>
          </a:ln>
        </p:spPr>
      </p:cxnSp>
      <p:cxnSp>
        <p:nvCxnSpPr>
          <p:cNvPr id="111" name="Straight Connector 473"/>
          <p:cNvCxnSpPr/>
          <p:nvPr/>
        </p:nvCxnSpPr>
        <p:spPr>
          <a:xfrm>
            <a:off x="833018" y="3989527"/>
            <a:ext cx="9829800" cy="0"/>
          </a:xfrm>
          <a:prstGeom prst="line">
            <a:avLst/>
          </a:prstGeom>
          <a:ln w="9525">
            <a:solidFill>
              <a:srgbClr val="000000"/>
            </a:solidFill>
            <a:prstDash val="dash"/>
            <a:tailEnd type="triangle" w="med" len="med"/>
          </a:ln>
        </p:spPr>
      </p:cxnSp>
      <p:cxnSp>
        <p:nvCxnSpPr>
          <p:cNvPr id="112" name="Straight Connector 486"/>
          <p:cNvCxnSpPr/>
          <p:nvPr/>
        </p:nvCxnSpPr>
        <p:spPr>
          <a:xfrm>
            <a:off x="833018" y="4270248"/>
            <a:ext cx="9829800" cy="0"/>
          </a:xfrm>
          <a:prstGeom prst="line">
            <a:avLst/>
          </a:prstGeom>
          <a:ln w="9525">
            <a:solidFill>
              <a:srgbClr val="000000"/>
            </a:solidFill>
            <a:prstDash val="dash"/>
            <a:tailEnd type="triangle" w="med" len="med"/>
          </a:ln>
        </p:spPr>
      </p:cxnSp>
      <p:sp>
        <p:nvSpPr>
          <p:cNvPr id="113" name="YearLabel"/>
          <p:cNvSpPr txBox="1"/>
          <p:nvPr/>
        </p:nvSpPr>
        <p:spPr>
          <a:xfrm>
            <a:off x="526237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2037</a:t>
            </a:r>
          </a:p>
        </p:txBody>
      </p:sp>
      <p:sp>
        <p:nvSpPr>
          <p:cNvPr id="114" name="YearLabel"/>
          <p:cNvSpPr txBox="1"/>
          <p:nvPr/>
        </p:nvSpPr>
        <p:spPr>
          <a:xfrm>
            <a:off x="56720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2038</a:t>
            </a:r>
          </a:p>
        </p:txBody>
      </p:sp>
      <p:sp>
        <p:nvSpPr>
          <p:cNvPr id="115" name="YearLabel"/>
          <p:cNvSpPr txBox="1"/>
          <p:nvPr/>
        </p:nvSpPr>
        <p:spPr>
          <a:xfrm>
            <a:off x="6081674"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2039</a:t>
            </a:r>
          </a:p>
        </p:txBody>
      </p:sp>
      <p:sp>
        <p:nvSpPr>
          <p:cNvPr id="116" name="YearLabel"/>
          <p:cNvSpPr txBox="1"/>
          <p:nvPr/>
        </p:nvSpPr>
        <p:spPr>
          <a:xfrm>
            <a:off x="6491326"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2040</a:t>
            </a:r>
          </a:p>
        </p:txBody>
      </p:sp>
      <p:sp>
        <p:nvSpPr>
          <p:cNvPr id="117" name="YearLabel"/>
          <p:cNvSpPr txBox="1"/>
          <p:nvPr/>
        </p:nvSpPr>
        <p:spPr>
          <a:xfrm>
            <a:off x="6900977"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2041</a:t>
            </a:r>
          </a:p>
        </p:txBody>
      </p:sp>
      <p:sp>
        <p:nvSpPr>
          <p:cNvPr id="118" name="YearLabel"/>
          <p:cNvSpPr txBox="1"/>
          <p:nvPr/>
        </p:nvSpPr>
        <p:spPr>
          <a:xfrm>
            <a:off x="7720279"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2043</a:t>
            </a:r>
          </a:p>
        </p:txBody>
      </p:sp>
      <p:sp>
        <p:nvSpPr>
          <p:cNvPr id="119" name="YearLabel"/>
          <p:cNvSpPr txBox="1"/>
          <p:nvPr/>
        </p:nvSpPr>
        <p:spPr>
          <a:xfrm>
            <a:off x="812993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2044</a:t>
            </a:r>
          </a:p>
        </p:txBody>
      </p:sp>
      <p:sp>
        <p:nvSpPr>
          <p:cNvPr id="120" name="YearLabel"/>
          <p:cNvSpPr txBox="1"/>
          <p:nvPr/>
        </p:nvSpPr>
        <p:spPr>
          <a:xfrm>
            <a:off x="853958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2045</a:t>
            </a:r>
          </a:p>
        </p:txBody>
      </p:sp>
      <p:sp>
        <p:nvSpPr>
          <p:cNvPr id="121" name="YearLabel"/>
          <p:cNvSpPr txBox="1"/>
          <p:nvPr/>
        </p:nvSpPr>
        <p:spPr>
          <a:xfrm>
            <a:off x="894831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2046</a:t>
            </a:r>
          </a:p>
        </p:txBody>
      </p:sp>
      <p:sp>
        <p:nvSpPr>
          <p:cNvPr id="122" name="YearLabel"/>
          <p:cNvSpPr txBox="1"/>
          <p:nvPr/>
        </p:nvSpPr>
        <p:spPr>
          <a:xfrm>
            <a:off x="239572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2030</a:t>
            </a:r>
          </a:p>
        </p:txBody>
      </p:sp>
      <p:sp>
        <p:nvSpPr>
          <p:cNvPr id="123" name="YearLabel"/>
          <p:cNvSpPr txBox="1"/>
          <p:nvPr/>
        </p:nvSpPr>
        <p:spPr>
          <a:xfrm>
            <a:off x="9767621"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2048</a:t>
            </a:r>
          </a:p>
        </p:txBody>
      </p:sp>
      <p:sp>
        <p:nvSpPr>
          <p:cNvPr id="124" name="YearLabel"/>
          <p:cNvSpPr txBox="1"/>
          <p:nvPr/>
        </p:nvSpPr>
        <p:spPr>
          <a:xfrm>
            <a:off x="1017727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2049</a:t>
            </a:r>
          </a:p>
        </p:txBody>
      </p:sp>
      <p:sp>
        <p:nvSpPr>
          <p:cNvPr id="125" name="YearLabel"/>
          <p:cNvSpPr txBox="1"/>
          <p:nvPr/>
        </p:nvSpPr>
        <p:spPr>
          <a:xfrm>
            <a:off x="105869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2050</a:t>
            </a:r>
          </a:p>
        </p:txBody>
      </p:sp>
      <p:sp>
        <p:nvSpPr>
          <p:cNvPr id="126" name="YearLabel"/>
          <p:cNvSpPr txBox="1"/>
          <p:nvPr/>
        </p:nvSpPr>
        <p:spPr>
          <a:xfrm>
            <a:off x="935797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2047</a:t>
            </a:r>
          </a:p>
        </p:txBody>
      </p:sp>
      <p:sp>
        <p:nvSpPr>
          <p:cNvPr id="127" name="YearLabel"/>
          <p:cNvSpPr txBox="1"/>
          <p:nvPr/>
        </p:nvSpPr>
        <p:spPr>
          <a:xfrm>
            <a:off x="757123"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2026</a:t>
            </a:r>
          </a:p>
        </p:txBody>
      </p:sp>
      <p:sp>
        <p:nvSpPr>
          <p:cNvPr id="128" name="YearLabel"/>
          <p:cNvSpPr txBox="1"/>
          <p:nvPr/>
        </p:nvSpPr>
        <p:spPr>
          <a:xfrm>
            <a:off x="1166774"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2027</a:t>
            </a:r>
          </a:p>
        </p:txBody>
      </p:sp>
      <p:sp>
        <p:nvSpPr>
          <p:cNvPr id="129" name="YearLabel"/>
          <p:cNvSpPr txBox="1"/>
          <p:nvPr/>
        </p:nvSpPr>
        <p:spPr>
          <a:xfrm>
            <a:off x="1576426"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2028</a:t>
            </a:r>
          </a:p>
        </p:txBody>
      </p:sp>
      <p:sp>
        <p:nvSpPr>
          <p:cNvPr id="130" name="YearLabel"/>
          <p:cNvSpPr txBox="1"/>
          <p:nvPr/>
        </p:nvSpPr>
        <p:spPr>
          <a:xfrm>
            <a:off x="1986077"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2029</a:t>
            </a:r>
          </a:p>
        </p:txBody>
      </p:sp>
      <p:sp>
        <p:nvSpPr>
          <p:cNvPr id="131" name="YearLabel"/>
          <p:cNvSpPr txBox="1"/>
          <p:nvPr/>
        </p:nvSpPr>
        <p:spPr>
          <a:xfrm>
            <a:off x="2805379"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2031</a:t>
            </a:r>
          </a:p>
        </p:txBody>
      </p:sp>
      <p:sp>
        <p:nvSpPr>
          <p:cNvPr id="132" name="YearLabel"/>
          <p:cNvSpPr txBox="1"/>
          <p:nvPr/>
        </p:nvSpPr>
        <p:spPr>
          <a:xfrm>
            <a:off x="321503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2032</a:t>
            </a:r>
          </a:p>
        </p:txBody>
      </p:sp>
      <p:sp>
        <p:nvSpPr>
          <p:cNvPr id="133" name="YearLabel"/>
          <p:cNvSpPr txBox="1"/>
          <p:nvPr/>
        </p:nvSpPr>
        <p:spPr>
          <a:xfrm>
            <a:off x="731062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2042</a:t>
            </a:r>
          </a:p>
        </p:txBody>
      </p:sp>
      <p:sp>
        <p:nvSpPr>
          <p:cNvPr id="134" name="YearLabel"/>
          <p:cNvSpPr txBox="1"/>
          <p:nvPr/>
        </p:nvSpPr>
        <p:spPr>
          <a:xfrm>
            <a:off x="3624682"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2033</a:t>
            </a:r>
          </a:p>
        </p:txBody>
      </p:sp>
      <p:sp>
        <p:nvSpPr>
          <p:cNvPr id="135" name="YearLabel"/>
          <p:cNvSpPr txBox="1"/>
          <p:nvPr/>
        </p:nvSpPr>
        <p:spPr>
          <a:xfrm>
            <a:off x="4033418"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2034</a:t>
            </a:r>
          </a:p>
        </p:txBody>
      </p:sp>
      <p:sp>
        <p:nvSpPr>
          <p:cNvPr id="136" name="YearLabel"/>
          <p:cNvSpPr txBox="1"/>
          <p:nvPr/>
        </p:nvSpPr>
        <p:spPr>
          <a:xfrm>
            <a:off x="4443070"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2035</a:t>
            </a:r>
          </a:p>
        </p:txBody>
      </p:sp>
      <p:sp>
        <p:nvSpPr>
          <p:cNvPr id="137" name="YearLabel"/>
          <p:cNvSpPr txBox="1"/>
          <p:nvPr/>
        </p:nvSpPr>
        <p:spPr>
          <a:xfrm>
            <a:off x="4852721" y="5009998"/>
            <a:ext cx="152705" cy="279806"/>
          </a:xfrm>
          <a:prstGeom prst="rect">
            <a:avLst/>
          </a:prstGeom>
          <a:noFill/>
          <a:ln>
            <a:noFill/>
          </a:ln>
        </p:spPr>
        <p:txBody>
          <a:bodyPr wrap="none" anchor="ctr" lIns="0" tIns="0" rIns="0" bIns="0"/>
          <a:lstStyle/>
          <a:p>
            <a:pPr algn="r" marL="0" indent="0">
              <a:lnSpc>
                <a:spcPct val="100000"/>
              </a:lnSpc>
              <a:buNone/>
            </a:pPr>
            <a:r>
              <a:rPr lang="en-US" sz="1000" dirty="0">
                <a:solidFill>
                  <a:srgbClr val="000000"/>
                </a:solidFill>
                <a:latin typeface="Arial"/>
                <a:ea typeface="Arial"/>
                <a:cs typeface="Arial"/>
              </a:rPr>
              <a:t>2036</a:t>
            </a:r>
          </a:p>
        </p:txBody>
      </p:sp>
      <p:sp>
        <p:nvSpPr>
          <p:cNvPr id="138" name="Text Placeholder 25"/>
          <p:cNvSpPr txBox="1"/>
          <p:nvPr/>
        </p:nvSpPr>
        <p:spPr>
          <a:xfrm>
            <a:off x="10893247" y="1927555"/>
            <a:ext cx="504749"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10M GT</a:t>
            </a:r>
            <a:r>
              <a:rPr lang="en-US" sz="1000" dirty="0">
                <a:solidFill>
                  <a:srgbClr val="000000"/>
                </a:solidFill>
                <a:latin typeface="Arial"/>
                <a:ea typeface="Arial"/>
                <a:cs typeface="Arial"/>
              </a:rPr>
              <a:t>1</a:t>
            </a:r>
          </a:p>
        </p:txBody>
      </p:sp>
      <p:sp>
        <p:nvSpPr>
          <p:cNvPr id="139" name="Text Placeholder 25"/>
          <p:cNvSpPr txBox="1"/>
          <p:nvPr/>
        </p:nvSpPr>
        <p:spPr>
          <a:xfrm>
            <a:off x="495605" y="1376172"/>
            <a:ext cx="3974897"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Additions to US-Built, Oceangoing Commercial Fleet (# deliveries)</a:t>
            </a:r>
          </a:p>
        </p:txBody>
      </p:sp>
      <p:sp>
        <p:nvSpPr>
          <p:cNvPr id="140" name="Label"/>
          <p:cNvSpPr txBox="1"/>
          <p:nvPr/>
        </p:nvSpPr>
        <p:spPr>
          <a:xfrm>
            <a:off x="10893247" y="2430475"/>
            <a:ext cx="11713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5 (125/yr.)</a:t>
            </a:r>
          </a:p>
        </p:txBody>
      </p:sp>
      <p:sp>
        <p:nvSpPr>
          <p:cNvPr id="141" name="Label"/>
          <p:cNvSpPr txBox="1"/>
          <p:nvPr/>
        </p:nvSpPr>
        <p:spPr>
          <a:xfrm>
            <a:off x="10893247" y="2727655"/>
            <a:ext cx="117134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4 (105/yr.)</a:t>
            </a:r>
          </a:p>
        </p:txBody>
      </p:sp>
      <p:sp>
        <p:nvSpPr>
          <p:cNvPr id="142" name="Label"/>
          <p:cNvSpPr txBox="1"/>
          <p:nvPr/>
        </p:nvSpPr>
        <p:spPr>
          <a:xfrm>
            <a:off x="10893247" y="3319272"/>
            <a:ext cx="110185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3 (65/yr.)</a:t>
            </a:r>
          </a:p>
        </p:txBody>
      </p:sp>
      <p:sp>
        <p:nvSpPr>
          <p:cNvPr id="143" name="Label"/>
          <p:cNvSpPr txBox="1"/>
          <p:nvPr/>
        </p:nvSpPr>
        <p:spPr>
          <a:xfrm>
            <a:off x="10893247" y="3913632"/>
            <a:ext cx="110185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2 (25/yr.)</a:t>
            </a:r>
          </a:p>
        </p:txBody>
      </p:sp>
      <p:sp>
        <p:nvSpPr>
          <p:cNvPr id="144" name="Label"/>
          <p:cNvSpPr txBox="1"/>
          <p:nvPr/>
        </p:nvSpPr>
        <p:spPr>
          <a:xfrm>
            <a:off x="10893247" y="4194353"/>
            <a:ext cx="1031443"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PA Phase 1 (6/yr.)</a:t>
            </a:r>
          </a:p>
        </p:txBody>
      </p:sp>
      <p:sp>
        <p:nvSpPr>
          <p:cNvPr id="145" name="Label"/>
          <p:cNvSpPr txBox="1"/>
          <p:nvPr/>
        </p:nvSpPr>
        <p:spPr>
          <a:xfrm>
            <a:off x="1227125" y="1757477"/>
            <a:ext cx="111739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Excess US capacity</a:t>
            </a:r>
          </a:p>
        </p:txBody>
      </p:sp>
      <p:sp>
        <p:nvSpPr>
          <p:cNvPr id="146" name="Label"/>
          <p:cNvSpPr txBox="1"/>
          <p:nvPr/>
        </p:nvSpPr>
        <p:spPr>
          <a:xfrm>
            <a:off x="1227125" y="1960474"/>
            <a:ext cx="227502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Heritage Foundation target (incremental)</a:t>
            </a:r>
          </a:p>
        </p:txBody>
      </p:sp>
      <p:sp>
        <p:nvSpPr>
          <p:cNvPr id="147" name="Label"/>
          <p:cNvSpPr txBox="1"/>
          <p:nvPr/>
        </p:nvSpPr>
        <p:spPr>
          <a:xfrm>
            <a:off x="1227125" y="2163470"/>
            <a:ext cx="1500530"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SHIPS Act "Plus" Scenario</a:t>
            </a:r>
          </a:p>
        </p:txBody>
      </p:sp>
      <p:sp>
        <p:nvSpPr>
          <p:cNvPr id="148" name="Label"/>
          <p:cNvSpPr txBox="1"/>
          <p:nvPr/>
        </p:nvSpPr>
        <p:spPr>
          <a:xfrm>
            <a:off x="1227125" y="2367382"/>
            <a:ext cx="141274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Retirement replacements</a:t>
            </a:r>
          </a:p>
        </p:txBody>
      </p:sp>
      <p:sp>
        <p:nvSpPr>
          <p:cNvPr id="149" name="Label"/>
          <p:cNvSpPr txBox="1"/>
          <p:nvPr/>
        </p:nvSpPr>
        <p:spPr>
          <a:xfrm>
            <a:off x="1227125" y="2570378"/>
            <a:ext cx="597103"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Orderbook</a:t>
            </a:r>
          </a:p>
        </p:txBody>
      </p:sp>
      <p:cxnSp>
        <p:nvCxnSpPr>
          <p:cNvPr id="150" name="Straight Arrow Connector 556"/>
          <p:cNvCxnSpPr/>
          <p:nvPr/>
        </p:nvCxnSpPr>
        <p:spPr>
          <a:xfrm>
            <a:off x="834847" y="2495398"/>
            <a:ext cx="9966960" cy="7315"/>
          </a:xfrm>
          <a:prstGeom prst="line">
            <a:avLst/>
          </a:prstGeom>
          <a:ln w="9525">
            <a:solidFill>
              <a:srgbClr val="000000"/>
            </a:solidFill>
            <a:prstDash val="dash"/>
          </a:ln>
        </p:spPr>
      </p:cxnSp>
      <p:cxnSp>
        <p:nvCxnSpPr>
          <p:cNvPr id="151" name="Straight Arrow Connector 531"/>
          <p:cNvCxnSpPr/>
          <p:nvPr/>
        </p:nvCxnSpPr>
        <p:spPr>
          <a:xfrm>
            <a:off x="834847" y="1996135"/>
            <a:ext cx="9966960" cy="7315"/>
          </a:xfrm>
          <a:prstGeom prst="line">
            <a:avLst/>
          </a:prstGeom>
          <a:ln w="9525">
            <a:solidFill>
              <a:srgbClr val="000000"/>
            </a:solidFill>
            <a:prstDash val="dash"/>
          </a:ln>
        </p:spPr>
      </p:cxnSp>
      <p:sp>
        <p:nvSpPr>
          <p:cNvPr id="152" name="LegendSwatch"/>
          <p:cNvSpPr txBox="1"/>
          <p:nvPr/>
        </p:nvSpPr>
        <p:spPr>
          <a:xfrm>
            <a:off x="895198" y="1691640"/>
            <a:ext cx="3575304" cy="1089050"/>
          </a:xfrm>
          <a:prstGeom prst="rect">
            <a:avLst/>
          </a:prstGeom>
          <a:solidFill>
            <a:srgbClr val="FFFFFF"/>
          </a:solidFill>
          <a:ln>
            <a:noFill/>
          </a:ln>
        </p:spPr>
        <p:txBody>
          <a:bodyPr wrap="square" anchor="ctr" lIns="91440" tIns="45720" rIns="91440" bIns="45720"/>
          <a:lstStyle/>
          <a:p>
            <a:pPr algn="ctr">
              <a:lnSpc>
                <a:spcPct val="100000"/>
              </a:lnSpc>
              <a:buNone/>
            </a:pPr>
            <a:endParaRPr lang="en-US"/>
          </a:p>
        </p:txBody>
      </p:sp>
      <p:sp>
        <p:nvSpPr>
          <p:cNvPr id="153" name="LegendSwatch"/>
          <p:cNvSpPr txBox="1"/>
          <p:nvPr/>
        </p:nvSpPr>
        <p:spPr>
          <a:xfrm>
            <a:off x="996696" y="1762049"/>
            <a:ext cx="179222" cy="133502"/>
          </a:xfrm>
          <a:prstGeom prst="rect">
            <a:avLst/>
          </a:prstGeom>
          <a:solidFill>
            <a:srgbClr val="C30C3E"/>
          </a:solidFill>
          <a:ln>
            <a:noFill/>
          </a:ln>
        </p:spPr>
        <p:txBody>
          <a:bodyPr wrap="square" anchor="ctr" lIns="91440" tIns="45720" rIns="91440" bIns="45720"/>
          <a:lstStyle/>
          <a:p>
            <a:pPr algn="ctr">
              <a:lnSpc>
                <a:spcPct val="100000"/>
              </a:lnSpc>
              <a:buNone/>
            </a:pPr>
            <a:endParaRPr lang="en-US"/>
          </a:p>
        </p:txBody>
      </p:sp>
      <p:sp>
        <p:nvSpPr>
          <p:cNvPr id="154" name="LegendSwatch"/>
          <p:cNvSpPr txBox="1"/>
          <p:nvPr/>
        </p:nvSpPr>
        <p:spPr>
          <a:xfrm>
            <a:off x="996696" y="2168957"/>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sp>
        <p:nvSpPr>
          <p:cNvPr id="155" name="LegendSwatch"/>
          <p:cNvSpPr txBox="1"/>
          <p:nvPr/>
        </p:nvSpPr>
        <p:spPr>
          <a:xfrm>
            <a:off x="996696" y="2371954"/>
            <a:ext cx="179222" cy="133502"/>
          </a:xfrm>
          <a:prstGeom prst="rect">
            <a:avLst/>
          </a:prstGeom>
          <a:solidFill>
            <a:srgbClr val="C0C0C0"/>
          </a:solidFill>
          <a:ln>
            <a:noFill/>
          </a:ln>
        </p:spPr>
        <p:txBody>
          <a:bodyPr wrap="square" anchor="ctr" lIns="91440" tIns="45720" rIns="91440" bIns="45720"/>
          <a:lstStyle/>
          <a:p>
            <a:pPr algn="ctr">
              <a:lnSpc>
                <a:spcPct val="100000"/>
              </a:lnSpc>
              <a:buNone/>
            </a:pPr>
            <a:endParaRPr lang="en-US"/>
          </a:p>
        </p:txBody>
      </p:sp>
      <p:sp>
        <p:nvSpPr>
          <p:cNvPr id="156" name="LegendSwatch"/>
          <p:cNvSpPr txBox="1"/>
          <p:nvPr/>
        </p:nvSpPr>
        <p:spPr>
          <a:xfrm>
            <a:off x="996696" y="2574950"/>
            <a:ext cx="179222" cy="133502"/>
          </a:xfrm>
          <a:prstGeom prst="rect">
            <a:avLst/>
          </a:prstGeom>
          <a:solidFill>
            <a:srgbClr val="808080"/>
          </a:solidFill>
          <a:ln>
            <a:noFill/>
          </a:ln>
        </p:spPr>
        <p:txBody>
          <a:bodyPr wrap="square" anchor="ctr" lIns="91440" tIns="45720" rIns="91440" bIns="45720"/>
          <a:lstStyle/>
          <a:p>
            <a:pPr algn="ctr">
              <a:lnSpc>
                <a:spcPct val="100000"/>
              </a:lnSpc>
              <a:buNone/>
            </a:pPr>
            <a:endParaRPr lang="en-US"/>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SHIPS Act “Plus” Volume | Demand declines after mid-2030s as SCF and other programs reach fleet caps; path to Phase 2 and beyond requires additional demand signals.</a:t>
            </a:r>
          </a:p>
        </p:txBody>
      </p:sp>
      <p:sp>
        <p:nvSpPr>
          <p:cNvPr id="157" name="Rectangle 394"/>
          <p:cNvSpPr txBox="1"/>
          <p:nvPr/>
        </p:nvSpPr>
        <p:spPr>
          <a:xfrm>
            <a:off x="227686" y="5327294"/>
            <a:ext cx="1758391" cy="310896"/>
          </a:xfrm>
          <a:prstGeom prst="rect">
            <a:avLst/>
          </a:prstGeom>
          <a:noFill/>
          <a:ln>
            <a:noFill/>
          </a:ln>
        </p:spPr>
        <p:txBody>
          <a:bodyPr wrap="square" anchor="ctr" lIns="91440" tIns="45720" rIns="91440" bIns="45720"/>
          <a:lstStyle/>
          <a:p>
            <a:pPr>
              <a:lnSpc>
                <a:spcPct val="100000"/>
              </a:lnSpc>
              <a:buNone/>
            </a:pPr>
            <a:r>
              <a:rPr lang="en-US" sz="1000" b="1" i="1" dirty="0">
                <a:solidFill>
                  <a:srgbClr val="000000"/>
                </a:solidFill>
                <a:latin typeface="Arial"/>
                <a:ea typeface="Arial"/>
                <a:cs typeface="Arial"/>
              </a:rPr>
              <a:t>Modeled % deliveries attributable to Port Alpha:</a:t>
            </a:r>
          </a:p>
        </p:txBody>
      </p:sp>
      <p:sp>
        <p:nvSpPr>
          <p:cNvPr id="158" name="ValueLabel"/>
          <p:cNvSpPr txBox="1"/>
          <p:nvPr/>
        </p:nvSpPr>
        <p:spPr>
          <a:xfrm>
            <a:off x="2276856"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70%</a:t>
            </a:r>
          </a:p>
        </p:txBody>
      </p:sp>
      <p:sp>
        <p:nvSpPr>
          <p:cNvPr id="159" name="ValueLabel"/>
          <p:cNvSpPr txBox="1"/>
          <p:nvPr/>
        </p:nvSpPr>
        <p:spPr>
          <a:xfrm>
            <a:off x="4313225"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83%</a:t>
            </a:r>
          </a:p>
        </p:txBody>
      </p:sp>
      <p:sp>
        <p:nvSpPr>
          <p:cNvPr id="160" name="ValueLabel"/>
          <p:cNvSpPr txBox="1"/>
          <p:nvPr/>
        </p:nvSpPr>
        <p:spPr>
          <a:xfrm>
            <a:off x="6361481"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78%</a:t>
            </a:r>
          </a:p>
        </p:txBody>
      </p:sp>
      <p:sp>
        <p:nvSpPr>
          <p:cNvPr id="161" name="ValueLabel"/>
          <p:cNvSpPr txBox="1"/>
          <p:nvPr/>
        </p:nvSpPr>
        <p:spPr>
          <a:xfrm>
            <a:off x="8408822" y="5365699"/>
            <a:ext cx="412394"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62" name="ValueLabel"/>
          <p:cNvSpPr txBox="1"/>
          <p:nvPr/>
        </p:nvSpPr>
        <p:spPr>
          <a:xfrm>
            <a:off x="10456164" y="5365699"/>
            <a:ext cx="413309" cy="234086"/>
          </a:xfrm>
          <a:prstGeom prst="ellipse">
            <a:avLst/>
          </a:prstGeom>
          <a:noFill/>
          <a:ln w="6350">
            <a:solidFill>
              <a:srgbClr val="000000"/>
            </a:solidFill>
          </a:ln>
        </p:spPr>
        <p:txBody>
          <a:bodyPr wrap="square" anchor="ctr" lIns="0" tIns="45720" rIns="0" bIns="45720"/>
          <a:lstStyle/>
          <a:p>
            <a:pPr algn="ctr">
              <a:lnSpc>
                <a:spcPct val="100000"/>
              </a:lnSpc>
              <a:buNone/>
            </a:pPr>
            <a:r>
              <a:rPr lang="en-US" sz="1000" dirty="0">
                <a:solidFill>
                  <a:srgbClr val="000000"/>
                </a:solidFill>
                <a:latin typeface="Arial"/>
                <a:ea typeface="Arial"/>
                <a:cs typeface="Arial"/>
              </a:rPr>
              <a:t>75%</a:t>
            </a:r>
          </a:p>
        </p:txBody>
      </p:sp>
      <p:sp>
        <p:nvSpPr>
          <p:cNvPr id="163" name="Rectangle 413"/>
          <p:cNvSpPr txBox="1"/>
          <p:nvPr/>
        </p:nvSpPr>
        <p:spPr>
          <a:xfrm>
            <a:off x="996696" y="1965046"/>
            <a:ext cx="179222" cy="133502"/>
          </a:xfrm>
          <a:prstGeom prst="rect">
            <a:avLst/>
          </a:prstGeom>
          <a:pattFill prst="ltUpDiag">
            <a:fgClr>
              <a:schemeClr val="tx1"/>
            </a:fgClr>
            <a:bgClr>
              <a:schemeClr val="bg1"/>
            </a:bgClr>
          </a:pattFill>
          <a:ln>
            <a:noFill/>
          </a:ln>
        </p:spPr>
        <p:txBody>
          <a:bodyPr wrap="square" anchor="ctr" lIns="91440" tIns="45720" rIns="91440" bIns="45720"/>
          <a:lstStyle/>
          <a:p>
            <a:pPr algn="ctr">
              <a:lnSpc>
                <a:spcPct val="100000"/>
              </a:lnSpc>
              <a:buNone/>
            </a:pPr>
            <a:endParaRPr lang="en-US"/>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64" name="Rectangle 23"/>
          <p:cNvSpPr txBox="1"/>
          <p:nvPr/>
        </p:nvSpPr>
        <p:spPr>
          <a:xfrm>
            <a:off x="7378294" y="158191"/>
            <a:ext cx="2722169" cy="199339"/>
          </a:xfrm>
          <a:prstGeom prst="rect">
            <a:avLst/>
          </a:prstGeom>
          <a:solidFill>
            <a:srgbClr val="0E1924"/>
          </a:solidFill>
          <a:ln w="12700">
            <a:solidFill>
              <a:srgbClr val="000000"/>
            </a:solidFill>
          </a:ln>
        </p:spPr>
        <p:txBody>
          <a:bodyPr wrap="square" anchor="ctr" lIns="91440" tIns="45720" rIns="91440" bIns="45720"/>
          <a:lstStyle/>
          <a:p>
            <a:pPr algn="ctr">
              <a:lnSpc>
                <a:spcPct val="100000"/>
              </a:lnSpc>
              <a:buNone/>
            </a:pPr>
            <a:r>
              <a:rPr lang="en-US" sz="1200" b="1" dirty="0">
                <a:latin typeface="Arial"/>
                <a:ea typeface="Arial"/>
                <a:cs typeface="Arial"/>
              </a:rPr>
              <a:t>(3) SHIPS Act “Plus” Scenario</a:t>
            </a:r>
          </a:p>
        </p:txBody>
      </p:sp>
      <p:cxnSp>
        <p:nvCxnSpPr>
          <p:cNvPr id="165" name="Straight Arrow Connector 559"/>
          <p:cNvCxnSpPr/>
          <p:nvPr/>
        </p:nvCxnSpPr>
        <p:spPr>
          <a:xfrm>
            <a:off x="834847" y="2790749"/>
            <a:ext cx="9966960" cy="7315"/>
          </a:xfrm>
          <a:prstGeom prst="line">
            <a:avLst/>
          </a:prstGeom>
          <a:ln w="9525">
            <a:solidFill>
              <a:srgbClr val="000000"/>
            </a:solidFill>
            <a:prstDash val="dash"/>
          </a:ln>
        </p:spPr>
      </p:cxnSp>
      <p:cxnSp>
        <p:nvCxnSpPr>
          <p:cNvPr id="166" name="Straight Arrow Connector 562"/>
          <p:cNvCxnSpPr/>
          <p:nvPr/>
        </p:nvCxnSpPr>
        <p:spPr>
          <a:xfrm>
            <a:off x="834847" y="3394253"/>
            <a:ext cx="9966960" cy="7315"/>
          </a:xfrm>
          <a:prstGeom prst="line">
            <a:avLst/>
          </a:prstGeom>
          <a:ln w="9525">
            <a:solidFill>
              <a:srgbClr val="000000"/>
            </a:solidFill>
            <a:prstDash val="dash"/>
          </a:ln>
        </p:spPr>
      </p:cxnSp>
      <p:cxnSp>
        <p:nvCxnSpPr>
          <p:cNvPr id="167" name="Straight Arrow Connector 566"/>
          <p:cNvCxnSpPr/>
          <p:nvPr/>
        </p:nvCxnSpPr>
        <p:spPr>
          <a:xfrm>
            <a:off x="833018" y="3977640"/>
            <a:ext cx="9966960" cy="7315"/>
          </a:xfrm>
          <a:prstGeom prst="line">
            <a:avLst/>
          </a:prstGeom>
          <a:ln w="9525">
            <a:solidFill>
              <a:srgbClr val="000000"/>
            </a:solidFill>
            <a:prstDash val="dash"/>
          </a:ln>
        </p:spPr>
      </p:cxnSp>
      <p:sp>
        <p:nvSpPr>
          <p:cNvPr id="168" name="Label"/>
          <p:cNvSpPr txBox="1"/>
          <p:nvPr/>
        </p:nvSpPr>
        <p:spPr>
          <a:xfrm>
            <a:off x="3740810" y="2662733"/>
            <a:ext cx="548640" cy="91440"/>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Higher</a:t>
            </a:r>
          </a:p>
        </p:txBody>
      </p:sp>
      <p:sp>
        <p:nvSpPr>
          <p:cNvPr id="169" name="Label"/>
          <p:cNvSpPr txBox="1"/>
          <p:nvPr/>
        </p:nvSpPr>
        <p:spPr>
          <a:xfrm>
            <a:off x="3740810" y="1893722"/>
            <a:ext cx="548640" cy="91440"/>
          </a:xfrm>
          <a:prstGeom prst="rect">
            <a:avLst/>
          </a:prstGeom>
          <a:no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Lower</a:t>
            </a:r>
          </a:p>
        </p:txBody>
      </p:sp>
      <p:sp>
        <p:nvSpPr>
          <p:cNvPr id="170" name="Label"/>
          <p:cNvSpPr txBox="1"/>
          <p:nvPr/>
        </p:nvSpPr>
        <p:spPr>
          <a:xfrm>
            <a:off x="3529584" y="2263140"/>
            <a:ext cx="972007" cy="121615"/>
          </a:xfrm>
          <a:prstGeom prst="rect">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Confidence level</a:t>
            </a:r>
          </a:p>
        </p:txBody>
      </p:sp>
      <p:cxnSp>
        <p:nvCxnSpPr>
          <p:cNvPr id="171" name="Straight Arrow Connector 568"/>
          <p:cNvCxnSpPr/>
          <p:nvPr/>
        </p:nvCxnSpPr>
        <p:spPr>
          <a:xfrm>
            <a:off x="4015130" y="1985162"/>
            <a:ext cx="0" cy="677570"/>
          </a:xfrm>
          <a:prstGeom prst="line">
            <a:avLst/>
          </a:prstGeom>
          <a:ln w="28575">
            <a:solidFill>
              <a:srgbClr val="000000"/>
            </a:solidFill>
            <a:tailEnd type="triangle" w="med" len="med"/>
          </a:ln>
        </p:spPr>
      </p:cxnSp>
      <p:cxnSp>
        <p:nvCxnSpPr>
          <p:cNvPr id="172" name="Straight Arrow Connector 63"/>
          <p:cNvCxnSpPr/>
          <p:nvPr/>
        </p:nvCxnSpPr>
        <p:spPr>
          <a:xfrm>
            <a:off x="833018" y="4254703"/>
            <a:ext cx="9966960" cy="7315"/>
          </a:xfrm>
          <a:prstGeom prst="line">
            <a:avLst/>
          </a:prstGeom>
          <a:ln w="9525">
            <a:solidFill>
              <a:srgbClr val="000000"/>
            </a:solidFill>
            <a:prstDash val="dash"/>
          </a:ln>
        </p:spPr>
      </p:cxnSp>
      <p:sp>
        <p:nvSpPr>
          <p:cNvPr id="9999" name="Source"/>
          <p:cNvSpPr txBox="1"/>
          <p:nvPr/>
        </p:nvSpPr>
        <p:spPr>
          <a:xfrm>
            <a:off x="453079" y="5930000"/>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Note: (1) Assumes avg. 50K GT per newbuild (~13K higher than current fleet avg.); 10M GT target may be achieved with 140-160 deliveries / year with 60K-70K GT per newbuild | Source: MAP; SHIPS Act; Building Ships in America; 46 USC 53106 (MSP subsidy); 46 USC 53406 (TSP subsidy); MARAD (MSP / TSP participation); MARAD (vessel characteristics); MARAD (US vs. foreign-flag operating costs); GAO report on Maritime Security; FRED (PPI, BE Inflation); EIA AEO (Crude &amp; LNG exports); BP (conversions); USTR (Section 301 Actions); USTR (Section 301 Action modifications); GAO (USG/USDA volume); IMF (Import forecast); S&amp;P (Current and forecast prices, FX rates, US trade volumes and destinations); Drewry (foreign-flag opex; near-term cost growth outlook); Clarksons (Orderbook, current fleet, retirements, capacity, observed service life); Press releases (competitor expansion); Market participant feedback (Service life, build assumptions)</a:t>
            </a:r>
          </a:p>
        </p:txBody>
      </p:sp>
      <p:sp>
        <p:nvSpPr>
          <p:cNvPr id="173" name="Speech Bubble: Rectangle 8"/>
          <p:cNvSpPr txBox="1"/>
          <p:nvPr/>
        </p:nvSpPr>
        <p:spPr>
          <a:xfrm>
            <a:off x="2914193" y="4402836"/>
            <a:ext cx="1846174" cy="409651"/>
          </a:xfrm>
          <a:prstGeom prst="wedgeRectCallout">
            <a:avLst>
              <a:gd name="adj1" fmla="val 19859"/>
              <a:gd name="adj2" fmla="val -3695"/>
            </a:avLst>
          </a:prstGeom>
          <a:noFill/>
          <a:ln>
            <a:noFill/>
          </a:ln>
        </p:spPr>
        <p:txBody>
          <a:bodyPr wrap="square" anchor="ctr" lIns="91440" tIns="45720" rIns="91440" bIns="45720"/>
          <a:lstStyle/>
          <a:p>
            <a:pPr algn="ctr">
              <a:lnSpc>
                <a:spcPct val="100000"/>
              </a:lnSpc>
              <a:buNone/>
            </a:pPr>
            <a:r>
              <a:rPr lang="en-US" sz="800" i="1" dirty="0">
                <a:solidFill>
                  <a:srgbClr val="FFFFFF"/>
                </a:solidFill>
                <a:latin typeface="Arial"/>
                <a:ea typeface="Arial"/>
                <a:cs typeface="Arial"/>
              </a:rPr>
              <a:t>Contingent upon revisions to SHIPS Act, Building Ships in America Act, and existing programs</a:t>
            </a:r>
          </a:p>
        </p:txBody>
      </p:sp>
      <p:sp>
        <p:nvSpPr>
          <p:cNvPr id="174" name="Rectangle 7"/>
          <p:cNvSpPr txBox="1"/>
          <p:nvPr/>
        </p:nvSpPr>
        <p:spPr>
          <a:xfrm>
            <a:off x="4693615" y="1370686"/>
            <a:ext cx="4817059" cy="399593"/>
          </a:xfrm>
          <a:prstGeom prst="rect">
            <a:avLst/>
          </a:prstGeom>
          <a:solidFill>
            <a:srgbClr val="CEDDEC"/>
          </a:solidFill>
          <a:ln>
            <a:no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Demand modeled with Port Alpha Phase 5 capacity; demand would spread over more years if capacity held at earlier phases </a:t>
            </a:r>
          </a:p>
        </p:txBody>
      </p:sp>
      <p:sp>
        <p:nvSpPr>
          <p:cNvPr id="175" name="Rectangle 9"/>
          <p:cNvSpPr txBox="1"/>
          <p:nvPr/>
        </p:nvSpPr>
        <p:spPr>
          <a:xfrm>
            <a:off x="9601200" y="1370686"/>
            <a:ext cx="2463394" cy="462686"/>
          </a:xfrm>
          <a:prstGeom prst="rect">
            <a:avLst/>
          </a:prstGeom>
          <a:no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Total US delivery capacity by 2050 w/ PA phases and competitor expansion; PA deliveries in parenthetical</a:t>
            </a:r>
          </a:p>
        </p:txBody>
      </p:sp>
      <p:sp>
        <p:nvSpPr>
          <p:cNvPr id="176" name="Speech Bubble: Rectangle 12"/>
          <p:cNvSpPr txBox="1"/>
          <p:nvPr/>
        </p:nvSpPr>
        <p:spPr>
          <a:xfrm>
            <a:off x="5184648" y="4481474"/>
            <a:ext cx="1997964" cy="254203"/>
          </a:xfrm>
          <a:prstGeom prst="wedgeRectCallout">
            <a:avLst>
              <a:gd name="adj1" fmla="val 19859"/>
              <a:gd name="adj2" fmla="val -3695"/>
            </a:avLst>
          </a:prstGeom>
          <a:solidFill>
            <a:srgbClr val="FFFFFF"/>
          </a:solidFill>
          <a:ln>
            <a:noFill/>
          </a:ln>
        </p:spPr>
        <p:txBody>
          <a:bodyPr wrap="square" anchor="ctr" lIns="91440" tIns="45720" rIns="91440" bIns="45720"/>
          <a:lstStyle/>
          <a:p>
            <a:pPr algn="ctr">
              <a:lnSpc>
                <a:spcPct val="100000"/>
              </a:lnSpc>
              <a:buNone/>
            </a:pPr>
            <a:r>
              <a:rPr lang="en-US" sz="800" i="1" dirty="0">
                <a:solidFill>
                  <a:srgbClr val="000000"/>
                </a:solidFill>
                <a:latin typeface="Arial"/>
                <a:ea typeface="Arial"/>
                <a:cs typeface="Arial"/>
              </a:rPr>
              <a:t>Requires increased universal cargo fees and MSTF balance cap increase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SHIPS Act Captive Demand | MSTF can support ~100 more vessels than legally mandated demand for SHIPS Act.</a:t>
            </a:r>
          </a:p>
        </p:txBody>
      </p:sp>
      <p:sp>
        <p:nvSpPr>
          <p:cNvPr id="100" name="Rectangle 4"/>
          <p:cNvSpPr txBox="1"/>
          <p:nvPr/>
        </p:nvSpPr>
        <p:spPr>
          <a:xfrm>
            <a:off x="452628" y="6103620"/>
            <a:ext cx="11308385" cy="294437"/>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Captive demand considers current cargo volumes, growth rates, and annual vessel capacity (driven by number of trips / year, cargo capacity, and utilization)</a:t>
            </a:r>
            <a:br/>
            <a:r>
              <a:rPr lang="en-US" sz="800" dirty="0">
                <a:solidFill>
                  <a:srgbClr val="000000"/>
                </a:solidFill>
                <a:latin typeface="Arial"/>
                <a:ea typeface="Arial"/>
                <a:cs typeface="Arial"/>
              </a:rPr>
              <a:t>Source: S&amp;P Panjiva; Clarksons; </a:t>
            </a:r>
            <a:r>
              <a:rPr lang="en-US" sz="800" dirty="0">
                <a:solidFill>
                  <a:srgbClr val="000000"/>
                </a:solidFill>
                <a:latin typeface="Arial"/>
                <a:ea typeface="Arial"/>
                <a:cs typeface="Arial"/>
              </a:rPr>
              <a:t>SHIPS Act text</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EIA AEO LNG Export Table</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EIA AEO Crude Export Table</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EIA Crude Tanker Descriptions</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GAO Report on Government Preference Cargo</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US-Built Ship Demand</a:t>
            </a:r>
            <a:r>
              <a:rPr lang="en-US" sz="1000" kern="1200" dirty="0">
                <a:solidFill>
                  <a:srgbClr val="44505C"/>
                </a:solidFill>
                <a:latin typeface="Arial"/>
                <a:ea typeface="Arial"/>
                <a:cs typeface="Arial"/>
              </a:rPr>
              <a:t> / With SHIPS Act</a:t>
            </a:r>
          </a:p>
        </p:txBody>
      </p:sp>
      <p:graphicFrame>
        <p:nvGraphicFramePr>
          <p:cNvPr id="101" name="Table 10"/>
          <p:cNvGraphicFramePr>
            <a:graphicFrameLocks noGrp="1"/>
          </p:cNvGraphicFramePr>
          <p:nvPr/>
        </p:nvGraphicFramePr>
        <p:xfrm>
          <a:off x="5214823" y="1356055"/>
          <a:ext cx="6482182" cy="3664001"/>
        </p:xfrm>
        <a:graphic>
          <a:graphicData uri="http://schemas.openxmlformats.org/drawingml/2006/table">
            <a:tbl>
              <a:tblPr firstRow="1" firstCol="1" bandRow="0">
                <a:tableStyleId>{2D5ABB26-0587-4C30-8999-92F81FD0307C}</a:tableStyleId>
              </a:tblPr>
              <a:tblGrid>
                <a:gridCol w="2567635"/>
                <a:gridCol w="1645006"/>
                <a:gridCol w="1134770"/>
                <a:gridCol w="1134770"/>
              </a:tblGrid>
              <a:tr h="0">
                <a:tc gridSpan="4">
                  <a:txBody>
                    <a:bodyPr anchor="b"/>
                    <a:lstStyle/>
                    <a:p>
                      <a:pPr algn="ctr">
                        <a:lnSpc>
                          <a:spcPct val="100000"/>
                        </a:lnSpc>
                      </a:pPr>
                      <a:r>
                        <a:rPr lang="en-US" sz="1000" b="1" dirty="0">
                          <a:solidFill>
                            <a:srgbClr val="000000"/>
                          </a:solidFill>
                          <a:latin typeface="Arial"/>
                          <a:ea typeface="Arial"/>
                          <a:cs typeface="Arial"/>
                        </a:rPr>
                        <a:t>Legally mandated demand from SHIPS Act Provisions</a:t>
                      </a:r>
                    </a:p>
                  </a:txBody>
                  <a:tcPr marL="45720" marR="45720" marT="45720" marB="45720" anchor="b">
                    <a:lnL>
                      <a:noFill/>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0">
                <a:tc>
                  <a:txBody>
                    <a:bodyPr anchor="b"/>
                    <a:lstStyle/>
                    <a:p>
                      <a:pPr algn="l">
                        <a:lnSpc>
                          <a:spcPct val="100000"/>
                        </a:lnSpc>
                      </a:pPr>
                      <a:r>
                        <a:rPr lang="en-US" sz="1000" b="1" dirty="0">
                          <a:solidFill>
                            <a:srgbClr val="000000"/>
                          </a:solidFill>
                          <a:latin typeface="Arial"/>
                          <a:ea typeface="Arial"/>
                          <a:cs typeface="Arial"/>
                        </a:rPr>
                        <a:t>Provision </a:t>
                      </a:r>
                      <a:r>
                        <a:rPr lang="en-US" sz="1000" i="1" dirty="0">
                          <a:solidFill>
                            <a:srgbClr val="000000"/>
                          </a:solidFill>
                          <a:latin typeface="Arial"/>
                          <a:ea typeface="Arial"/>
                          <a:cs typeface="Arial"/>
                        </a:rPr>
                        <a:t>(Bill Section)</a:t>
                      </a:r>
                      <a:br/>
                      <a:r>
                        <a:rPr lang="en-US" sz="1000" dirty="0">
                          <a:solidFill>
                            <a:srgbClr val="000000"/>
                          </a:solidFill>
                          <a:latin typeface="Arial"/>
                          <a:ea typeface="Arial"/>
                          <a:cs typeface="Arial"/>
                        </a:rPr>
                        <a:t>Vessel Type Impacted</a:t>
                      </a:r>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 of Cargo</a:t>
                      </a:r>
                      <a:br/>
                      <a:r>
                        <a:rPr lang="en-US" sz="1000" i="1" dirty="0">
                          <a:solidFill>
                            <a:srgbClr val="000000"/>
                          </a:solidFill>
                          <a:latin typeface="Arial"/>
                          <a:ea typeface="Arial"/>
                          <a:cs typeface="Arial"/>
                        </a:rPr>
                        <a:t>(Start – ramp end)</a:t>
                      </a:r>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US-Built</a:t>
                      </a:r>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a:lnSpc>
                          <a:spcPct val="100000"/>
                        </a:lnSpc>
                      </a:pPr>
                      <a:r>
                        <a:rPr lang="en-US" sz="1000" b="1" dirty="0">
                          <a:solidFill>
                            <a:srgbClr val="000000"/>
                          </a:solidFill>
                          <a:latin typeface="Arial"/>
                          <a:ea typeface="Arial"/>
                          <a:cs typeface="Arial"/>
                        </a:rPr>
                        <a:t>US-Flagged</a:t>
                      </a:r>
                    </a:p>
                  </a:txBody>
                  <a:tcPr marL="45720" marR="45720" marT="45720" marB="45720" anchor="b">
                    <a:lnL>
                      <a:noFill/>
                    </a:lnL>
                    <a:lnR>
                      <a:noFill/>
                    </a:lnR>
                    <a:lnT>
                      <a:noFill/>
                    </a:lnT>
                    <a:lnB w="12700" cap="flat" cmpd="sng" algn="ctr">
                      <a:solidFill>
                        <a:srgbClr val="000000"/>
                      </a:solidFill>
                      <a:prstDash val="solid"/>
                    </a:lnB>
                    <a:noFill/>
                  </a:tcPr>
                </a:tc>
              </a:tr>
              <a:tr h="604418">
                <a:tc>
                  <a:txBody>
                    <a:bodyPr anchor="ctr"/>
                    <a:lstStyle/>
                    <a:p>
                      <a:pPr algn="l">
                        <a:lnSpc>
                          <a:spcPct val="100000"/>
                        </a:lnSpc>
                      </a:pPr>
                      <a:r>
                        <a:rPr lang="en-US" sz="1000" b="1" dirty="0">
                          <a:solidFill>
                            <a:srgbClr val="FFFFFF"/>
                          </a:solidFill>
                          <a:latin typeface="Arial"/>
                          <a:ea typeface="Arial"/>
                          <a:cs typeface="Arial"/>
                        </a:rPr>
                        <a:t>Crude Exports from the US</a:t>
                      </a:r>
                    </a:p>
                    <a:p>
                      <a:pPr algn="l">
                        <a:lnSpc>
                          <a:spcPct val="100000"/>
                        </a:lnSpc>
                      </a:pPr>
                      <a:r>
                        <a:rPr lang="en-US" sz="1000" i="1" dirty="0">
                          <a:solidFill>
                            <a:srgbClr val="FFFFFF"/>
                          </a:solidFill>
                          <a:latin typeface="Arial"/>
                          <a:ea typeface="Arial"/>
                          <a:cs typeface="Arial"/>
                        </a:rPr>
                        <a:t>SEC. 420</a:t>
                      </a:r>
                      <a:br/>
                      <a:r>
                        <a:rPr lang="en-US" sz="1000" dirty="0">
                          <a:solidFill>
                            <a:srgbClr val="FFFFFF"/>
                          </a:solidFill>
                          <a:latin typeface="Arial"/>
                          <a:ea typeface="Arial"/>
                          <a:cs typeface="Arial"/>
                        </a:rPr>
                        <a:t>Crude Tankers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1D4D68"/>
                    </a:solidFill>
                  </a:tcPr>
                </a:tc>
                <a:tc>
                  <a:txBody>
                    <a:bodyPr anchor="ctr"/>
                    <a:lstStyle/>
                    <a:p>
                      <a:pPr algn="ctr">
                        <a:lnSpc>
                          <a:spcPct val="100000"/>
                        </a:lnSpc>
                      </a:pPr>
                      <a:r>
                        <a:rPr lang="en-US" sz="1000" b="1" dirty="0">
                          <a:solidFill>
                            <a:srgbClr val="000000"/>
                          </a:solidFill>
                          <a:latin typeface="Arial"/>
                          <a:ea typeface="Arial"/>
                          <a:cs typeface="Arial"/>
                        </a:rPr>
                        <a:t>3% to 10%</a:t>
                      </a:r>
                      <a:br/>
                      <a:r>
                        <a:rPr lang="en-US" sz="1000" i="1" dirty="0">
                          <a:solidFill>
                            <a:srgbClr val="000000"/>
                          </a:solidFill>
                          <a:latin typeface="Arial"/>
                          <a:ea typeface="Arial"/>
                          <a:cs typeface="Arial"/>
                        </a:rPr>
                        <a:t>2027-2040</a:t>
                      </a:r>
                      <a:r>
                        <a:rPr lang="en-US" sz="1000" b="1" dirty="0">
                          <a:solidFill>
                            <a:srgbClr val="000000"/>
                          </a:solidFill>
                          <a:latin typeface="Arial"/>
                          <a:ea typeface="Arial"/>
                          <a:cs typeface="Arial"/>
                        </a:rPr>
                        <a:t> </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r>
              <a:tr h="604418">
                <a:tc>
                  <a:txBody>
                    <a:bodyPr anchor="ctr"/>
                    <a:lstStyle/>
                    <a:p>
                      <a:pPr algn="l">
                        <a:lnSpc>
                          <a:spcPct val="100000"/>
                        </a:lnSpc>
                      </a:pPr>
                      <a:r>
                        <a:rPr lang="en-US" sz="1000" b="1" dirty="0">
                          <a:solidFill>
                            <a:srgbClr val="000000"/>
                          </a:solidFill>
                          <a:latin typeface="Arial"/>
                          <a:ea typeface="Arial"/>
                          <a:cs typeface="Arial"/>
                        </a:rPr>
                        <a:t>LNG Exports from the US</a:t>
                      </a:r>
                      <a:br/>
                      <a:r>
                        <a:rPr lang="en-US" sz="1000" i="1" dirty="0">
                          <a:solidFill>
                            <a:srgbClr val="000000"/>
                          </a:solidFill>
                          <a:latin typeface="Arial"/>
                          <a:ea typeface="Arial"/>
                          <a:cs typeface="Arial"/>
                        </a:rPr>
                        <a:t>SEC. 420</a:t>
                      </a:r>
                      <a:br/>
                      <a:r>
                        <a:rPr lang="en-US" sz="1000" dirty="0">
                          <a:solidFill>
                            <a:srgbClr val="000000"/>
                          </a:solidFill>
                          <a:latin typeface="Arial"/>
                          <a:ea typeface="Arial"/>
                          <a:cs typeface="Arial"/>
                        </a:rPr>
                        <a:t>LNG Ships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C0C0C0"/>
                    </a:solidFill>
                  </a:tcPr>
                </a:tc>
                <a:tc>
                  <a:txBody>
                    <a:bodyPr anchor="ctr"/>
                    <a:lstStyle/>
                    <a:p>
                      <a:pPr algn="ctr">
                        <a:lnSpc>
                          <a:spcPct val="100000"/>
                        </a:lnSpc>
                      </a:pPr>
                      <a:r>
                        <a:rPr lang="en-US" sz="1000" b="1" dirty="0">
                          <a:solidFill>
                            <a:srgbClr val="000000"/>
                          </a:solidFill>
                          <a:latin typeface="Arial"/>
                          <a:ea typeface="Arial"/>
                          <a:cs typeface="Arial"/>
                        </a:rPr>
                        <a:t>2% to 15%</a:t>
                      </a:r>
                      <a:br/>
                      <a:r>
                        <a:rPr lang="en-US" sz="1000" i="1" dirty="0">
                          <a:solidFill>
                            <a:srgbClr val="000000"/>
                          </a:solidFill>
                          <a:latin typeface="Arial"/>
                          <a:ea typeface="Arial"/>
                          <a:cs typeface="Arial"/>
                        </a:rPr>
                        <a:t>2027-2047</a:t>
                      </a:r>
                      <a:r>
                        <a:rPr lang="en-US" sz="1000" b="1" dirty="0">
                          <a:solidFill>
                            <a:srgbClr val="000000"/>
                          </a:solidFill>
                          <a:latin typeface="Arial"/>
                          <a:ea typeface="Arial"/>
                          <a:cs typeface="Arial"/>
                        </a:rPr>
                        <a:t>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r>
              <a:tr h="604418">
                <a:tc>
                  <a:txBody>
                    <a:bodyPr anchor="ctr"/>
                    <a:lstStyle/>
                    <a:p>
                      <a:pPr algn="l">
                        <a:lnSpc>
                          <a:spcPct val="100000"/>
                        </a:lnSpc>
                      </a:pPr>
                      <a:r>
                        <a:rPr lang="en-US" sz="1000" b="1" dirty="0">
                          <a:solidFill>
                            <a:srgbClr val="FFFFFF"/>
                          </a:solidFill>
                          <a:latin typeface="Arial"/>
                          <a:ea typeface="Arial"/>
                          <a:cs typeface="Arial"/>
                        </a:rPr>
                        <a:t>China Imports to the US</a:t>
                      </a:r>
                      <a:br/>
                      <a:r>
                        <a:rPr lang="en-US" sz="1000" i="1" dirty="0">
                          <a:solidFill>
                            <a:srgbClr val="FFFFFF"/>
                          </a:solidFill>
                          <a:latin typeface="Arial"/>
                          <a:ea typeface="Arial"/>
                          <a:cs typeface="Arial"/>
                        </a:rPr>
                        <a:t>SEC. 415</a:t>
                      </a:r>
                      <a:br/>
                      <a:r>
                        <a:rPr lang="en-US" sz="1000" dirty="0">
                          <a:solidFill>
                            <a:srgbClr val="FFFFFF"/>
                          </a:solidFill>
                          <a:latin typeface="Arial"/>
                          <a:ea typeface="Arial"/>
                          <a:cs typeface="Arial"/>
                        </a:rPr>
                        <a:t>Containerships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007770"/>
                    </a:solidFill>
                  </a:tcPr>
                </a:tc>
                <a:tc>
                  <a:txBody>
                    <a:bodyPr anchor="ctr"/>
                    <a:lstStyle/>
                    <a:p>
                      <a:pPr algn="ctr">
                        <a:lnSpc>
                          <a:spcPct val="100000"/>
                        </a:lnSpc>
                      </a:pPr>
                      <a:r>
                        <a:rPr lang="en-US" sz="1000" b="1" dirty="0">
                          <a:solidFill>
                            <a:srgbClr val="000000"/>
                          </a:solidFill>
                          <a:latin typeface="Arial"/>
                          <a:ea typeface="Arial"/>
                          <a:cs typeface="Arial"/>
                        </a:rPr>
                        <a:t>1% to 10%</a:t>
                      </a:r>
                      <a:br/>
                      <a:r>
                        <a:rPr lang="en-US" sz="1000" i="1" dirty="0">
                          <a:solidFill>
                            <a:srgbClr val="000000"/>
                          </a:solidFill>
                          <a:latin typeface="Arial"/>
                          <a:ea typeface="Arial"/>
                          <a:cs typeface="Arial"/>
                        </a:rPr>
                        <a:t>2031-2040</a:t>
                      </a:r>
                      <a:r>
                        <a:rPr lang="en-US" sz="1000" b="1" dirty="0">
                          <a:solidFill>
                            <a:srgbClr val="000000"/>
                          </a:solidFill>
                          <a:latin typeface="Arial"/>
                          <a:ea typeface="Arial"/>
                          <a:cs typeface="Arial"/>
                        </a:rPr>
                        <a:t>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r>
              <a:tr h="604418">
                <a:tc>
                  <a:txBody>
                    <a:bodyPr anchor="ctr"/>
                    <a:lstStyle/>
                    <a:p>
                      <a:pPr algn="l">
                        <a:lnSpc>
                          <a:spcPct val="100000"/>
                        </a:lnSpc>
                      </a:pPr>
                      <a:r>
                        <a:rPr lang="en-US" sz="1000" b="1" dirty="0">
                          <a:solidFill>
                            <a:srgbClr val="FFFFFF"/>
                          </a:solidFill>
                          <a:latin typeface="Arial"/>
                          <a:ea typeface="Arial"/>
                          <a:cs typeface="Arial"/>
                        </a:rPr>
                        <a:t>US Government Cargo Preference</a:t>
                      </a:r>
                      <a:br/>
                      <a:r>
                        <a:rPr lang="en-US" sz="1000" i="1" dirty="0">
                          <a:solidFill>
                            <a:srgbClr val="FFFFFF"/>
                          </a:solidFill>
                          <a:latin typeface="Arial"/>
                          <a:ea typeface="Arial"/>
                          <a:cs typeface="Arial"/>
                        </a:rPr>
                        <a:t>SEC. 411</a:t>
                      </a:r>
                      <a:br/>
                      <a:r>
                        <a:rPr lang="en-US" sz="1000" dirty="0">
                          <a:solidFill>
                            <a:srgbClr val="FFFFFF"/>
                          </a:solidFill>
                          <a:latin typeface="Arial"/>
                          <a:ea typeface="Arial"/>
                          <a:cs typeface="Arial"/>
                        </a:rPr>
                        <a:t>Containerships &amp; Bulk</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007770"/>
                    </a:solidFill>
                  </a:tcPr>
                </a:tc>
                <a:tc rowSpan="2">
                  <a:txBody>
                    <a:bodyPr anchor="ctr"/>
                    <a:lstStyle/>
                    <a:p>
                      <a:pPr algn="ctr">
                        <a:lnSpc>
                          <a:spcPct val="100000"/>
                        </a:lnSpc>
                      </a:pPr>
                      <a:r>
                        <a:rPr lang="en-US" sz="1000" b="1" dirty="0">
                          <a:solidFill>
                            <a:srgbClr val="000000"/>
                          </a:solidFill>
                          <a:latin typeface="Arial"/>
                          <a:ea typeface="Arial"/>
                          <a:cs typeface="Arial"/>
                        </a:rPr>
                        <a:t>50% to 100%</a:t>
                      </a:r>
                      <a:r>
                        <a:rPr lang="en-US" sz="1000" dirty="0">
                          <a:solidFill>
                            <a:srgbClr val="000000"/>
                          </a:solidFill>
                          <a:latin typeface="Arial"/>
                          <a:ea typeface="Arial"/>
                          <a:cs typeface="Arial"/>
                        </a:rPr>
                        <a:t> </a:t>
                      </a:r>
                      <a:br/>
                      <a:r>
                        <a:rPr lang="en-US" sz="1000" i="1" dirty="0">
                          <a:solidFill>
                            <a:srgbClr val="000000"/>
                          </a:solidFill>
                          <a:latin typeface="Arial"/>
                          <a:ea typeface="Arial"/>
                          <a:cs typeface="Arial"/>
                        </a:rPr>
                        <a:t>180 days after bill passage</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c>
                  <a:txBody>
                    <a:bodyPr anchor="ctr"/>
                    <a:lstStyle/>
                    <a:p>
                      <a:pPr algn="ctr">
                        <a:lnSpc>
                          <a:spcPct val="100000"/>
                        </a:lnSpc>
                      </a:pPr>
                      <a:r>
                        <a:rPr lang="en-US" sz="1200" b="1" dirty="0">
                          <a:solidFill>
                            <a:srgbClr val="C00000"/>
                          </a:solidFill>
                          <a:latin typeface="Arial"/>
                          <a:ea typeface="Arial"/>
                          <a:cs typeface="Arial"/>
                        </a:rPr>
                        <a:t>No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r>
              <a:tr h="604418">
                <a:tc>
                  <a:txBody>
                    <a:bodyPr anchor="ctr"/>
                    <a:lstStyle/>
                    <a:p>
                      <a:pPr algn="l">
                        <a:lnSpc>
                          <a:spcPct val="100000"/>
                        </a:lnSpc>
                      </a:pPr>
                      <a:r>
                        <a:rPr lang="en-US" sz="1000" b="1" dirty="0">
                          <a:solidFill>
                            <a:srgbClr val="FFFFFF"/>
                          </a:solidFill>
                          <a:latin typeface="Arial"/>
                          <a:ea typeface="Arial"/>
                          <a:cs typeface="Arial"/>
                        </a:rPr>
                        <a:t>USDA Program Exports</a:t>
                      </a:r>
                      <a:br/>
                      <a:r>
                        <a:rPr lang="en-US" sz="1000" i="1" dirty="0">
                          <a:solidFill>
                            <a:srgbClr val="FFFFFF"/>
                          </a:solidFill>
                          <a:latin typeface="Arial"/>
                          <a:ea typeface="Arial"/>
                          <a:cs typeface="Arial"/>
                        </a:rPr>
                        <a:t>SEC. 418</a:t>
                      </a:r>
                      <a:br/>
                      <a:r>
                        <a:rPr lang="en-US" sz="1000" dirty="0">
                          <a:solidFill>
                            <a:srgbClr val="FFFFFF"/>
                          </a:solidFill>
                          <a:latin typeface="Arial"/>
                          <a:ea typeface="Arial"/>
                          <a:cs typeface="Arial"/>
                        </a:rPr>
                        <a:t>Containerships</a:t>
                      </a:r>
                    </a:p>
                  </a:txBody>
                  <a:tcPr marL="45720" marR="45720" marT="45720" marB="45720" anchor="ctr">
                    <a:lnL>
                      <a:noFill/>
                    </a:lnL>
                    <a:lnR>
                      <a:noFill/>
                    </a:lnR>
                    <a:lnT w="6350" cap="flat" cmpd="sng" algn="ctr">
                      <a:solidFill>
                        <a:srgbClr val="808080"/>
                      </a:solidFill>
                      <a:prstDash val="solid"/>
                    </a:lnT>
                    <a:lnB>
                      <a:noFill/>
                    </a:lnB>
                    <a:solidFill>
                      <a:srgbClr val="007770"/>
                    </a:solidFill>
                  </a:tcPr>
                </a:tc>
                <a:tc vMerge="1">
                  <a:txBody>
                    <a:bodyPr/>
                    <a:lstStyle/>
                    <a:p>
                      <a:endParaRPr lang="en-US"/>
                    </a:p>
                  </a:txBody>
                  <a:tcPr/>
                </a:tc>
                <a:tc>
                  <a:txBody>
                    <a:bodyPr anchor="ctr"/>
                    <a:lstStyle/>
                    <a:p>
                      <a:pPr algn="ctr">
                        <a:lnSpc>
                          <a:spcPct val="100000"/>
                        </a:lnSpc>
                      </a:pPr>
                      <a:r>
                        <a:rPr lang="en-US" sz="1200" b="1" dirty="0">
                          <a:solidFill>
                            <a:srgbClr val="C00000"/>
                          </a:solidFill>
                          <a:latin typeface="Arial"/>
                          <a:ea typeface="Arial"/>
                          <a:cs typeface="Arial"/>
                        </a:rPr>
                        <a:t>No</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c>
                  <a:txBody>
                    <a:bodyPr anchor="ctr"/>
                    <a:lstStyle/>
                    <a:p>
                      <a:pPr algn="ctr">
                        <a:lnSpc>
                          <a:spcPct val="100000"/>
                        </a:lnSpc>
                      </a:pPr>
                      <a:r>
                        <a:rPr lang="en-US" sz="1200" b="1" dirty="0">
                          <a:solidFill>
                            <a:srgbClr val="007770"/>
                          </a:solidFill>
                          <a:latin typeface="Arial"/>
                          <a:ea typeface="Arial"/>
                          <a:cs typeface="Arial"/>
                        </a:rPr>
                        <a:t>Yes</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r>
            </a:tbl>
          </a:graphicData>
        </a:graphic>
      </p:graphicFrame>
      <p:graphicFrame>
        <p:nvGraphicFramePr>
          <p:cNvPr id="102" name="Chart"/>
          <p:cNvGraphicFramePr/>
          <p:nvPr/>
        </p:nvGraphicFramePr>
        <p:xfrm>
          <a:off x="392278" y="1481328"/>
          <a:ext cx="4684471" cy="4273906"/>
        </p:xfrm>
        <a:graphic>
          <a:graphicData uri="http://schemas.openxmlformats.org/drawingml/2006/chart">
            <c:chart xmlns:c="http://schemas.openxmlformats.org/drawingml/2006/chart" xmlns:r="http://schemas.openxmlformats.org/officeDocument/2006/relationships" r:id="rId2"/>
          </a:graphicData>
        </a:graphic>
      </p:graphicFrame>
      <p:cxnSp>
        <p:nvCxnSpPr>
          <p:cNvPr id="103" name="Straight Connector 74"/>
          <p:cNvCxnSpPr/>
          <p:nvPr/>
        </p:nvCxnSpPr>
        <p:spPr>
          <a:xfrm flipH="1" flipV="1">
            <a:off x="2376526" y="2079346"/>
            <a:ext cx="92354" cy="63094"/>
          </a:xfrm>
          <a:prstGeom prst="line">
            <a:avLst/>
          </a:prstGeom>
          <a:ln w="6350">
            <a:solidFill>
              <a:srgbClr val="44505C"/>
            </a:solidFill>
            <a:prstDash val="dash"/>
            <a:tailEnd type="triangle" w="med" len="med"/>
          </a:ln>
        </p:spPr>
      </p:cxnSp>
      <p:cxnSp>
        <p:nvCxnSpPr>
          <p:cNvPr id="104" name="Straight Connector 75"/>
          <p:cNvCxnSpPr/>
          <p:nvPr/>
        </p:nvCxnSpPr>
        <p:spPr>
          <a:xfrm flipH="1">
            <a:off x="2376526" y="1990649"/>
            <a:ext cx="92354" cy="63094"/>
          </a:xfrm>
          <a:prstGeom prst="line">
            <a:avLst/>
          </a:prstGeom>
          <a:ln w="6350">
            <a:solidFill>
              <a:srgbClr val="44505C"/>
            </a:solidFill>
            <a:prstDash val="dash"/>
            <a:tailEnd type="triangle" w="med" len="med"/>
          </a:ln>
        </p:spPr>
      </p:cxnSp>
      <p:sp>
        <p:nvSpPr>
          <p:cNvPr id="105" name="Text Placeholder 25"/>
          <p:cNvSpPr txBox="1"/>
          <p:nvPr/>
        </p:nvSpPr>
        <p:spPr>
          <a:xfrm>
            <a:off x="495605" y="1376172"/>
            <a:ext cx="4008730"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SCF Supported by MSTF vs. Legally Mandated Demand (# vessels)</a:t>
            </a:r>
          </a:p>
        </p:txBody>
      </p:sp>
      <p:sp>
        <p:nvSpPr>
          <p:cNvPr id="106" name="ValueLabel"/>
          <p:cNvSpPr txBox="1"/>
          <p:nvPr/>
        </p:nvSpPr>
        <p:spPr>
          <a:xfrm>
            <a:off x="2111350" y="2020824"/>
            <a:ext cx="105156" cy="152705"/>
          </a:xfrm>
          <a:prstGeom prst="rect">
            <a:avLst/>
          </a:prstGeom>
          <a:solidFill>
            <a:srgbClr val="4C6C9C"/>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1</a:t>
            </a:r>
          </a:p>
        </p:txBody>
      </p:sp>
      <p:sp>
        <p:nvSpPr>
          <p:cNvPr id="107" name="ValueLabel"/>
          <p:cNvSpPr txBox="1"/>
          <p:nvPr/>
        </p:nvSpPr>
        <p:spPr>
          <a:xfrm>
            <a:off x="4190695" y="3654857"/>
            <a:ext cx="105156" cy="152705"/>
          </a:xfrm>
          <a:prstGeom prst="rect">
            <a:avLst/>
          </a:prstGeom>
          <a:solidFill>
            <a:srgbClr val="000000"/>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1</a:t>
            </a:r>
          </a:p>
        </p:txBody>
      </p:sp>
      <p:sp>
        <p:nvSpPr>
          <p:cNvPr id="108" name="ValueLabel"/>
          <p:cNvSpPr txBox="1"/>
          <p:nvPr/>
        </p:nvSpPr>
        <p:spPr>
          <a:xfrm>
            <a:off x="3612794" y="3672230"/>
            <a:ext cx="105156" cy="152705"/>
          </a:xfrm>
          <a:prstGeom prst="rect">
            <a:avLst/>
          </a:prstGeom>
          <a:solidFill>
            <a:srgbClr val="4C6C9C"/>
          </a:solid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1</a:t>
            </a:r>
          </a:p>
        </p:txBody>
      </p:sp>
      <p:sp>
        <p:nvSpPr>
          <p:cNvPr id="109" name="Text Placeholder 25"/>
          <p:cNvSpPr txBox="1"/>
          <p:nvPr/>
        </p:nvSpPr>
        <p:spPr>
          <a:xfrm>
            <a:off x="1110996" y="5572354"/>
            <a:ext cx="1524305" cy="304495"/>
          </a:xfrm>
          <a:prstGeom prst="rect">
            <a:avLst/>
          </a:prstGeom>
          <a:noFill/>
          <a:ln>
            <a:noFill/>
          </a:ln>
        </p:spPr>
        <p:txBody>
          <a:bodyPr wrap="square" anchor="t" lIns="0" tIns="0" rIns="0" bIns="0"/>
          <a:lstStyle/>
          <a:p>
            <a:pPr algn="ctr" marL="0" indent="0">
              <a:lnSpc>
                <a:spcPct val="100000"/>
              </a:lnSpc>
              <a:buNone/>
            </a:pPr>
            <a:r>
              <a:rPr lang="en-US" sz="1000" dirty="0">
                <a:solidFill>
                  <a:srgbClr val="000000"/>
                </a:solidFill>
                <a:latin typeface="Arial"/>
                <a:ea typeface="Arial"/>
                <a:cs typeface="Arial"/>
              </a:rPr>
              <a:t>Strategic Commercial Fleet (supported by MSTF)</a:t>
            </a:r>
          </a:p>
        </p:txBody>
      </p:sp>
      <p:sp>
        <p:nvSpPr>
          <p:cNvPr id="110" name="Text Placeholder 25"/>
          <p:cNvSpPr txBox="1"/>
          <p:nvPr/>
        </p:nvSpPr>
        <p:spPr>
          <a:xfrm>
            <a:off x="3193999" y="5572354"/>
            <a:ext cx="1520647"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Legally Mandated Demand</a:t>
            </a:r>
          </a:p>
        </p:txBody>
      </p:sp>
      <p:sp>
        <p:nvSpPr>
          <p:cNvPr id="111" name="Text Placeholder 25"/>
          <p:cNvSpPr txBox="1"/>
          <p:nvPr/>
        </p:nvSpPr>
        <p:spPr>
          <a:xfrm>
            <a:off x="1751076" y="1858975"/>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201</a:t>
            </a:r>
          </a:p>
        </p:txBody>
      </p:sp>
      <p:sp>
        <p:nvSpPr>
          <p:cNvPr id="112" name="Text Placeholder 25"/>
          <p:cNvSpPr txBox="1"/>
          <p:nvPr/>
        </p:nvSpPr>
        <p:spPr>
          <a:xfrm>
            <a:off x="3832250" y="3502152"/>
            <a:ext cx="24414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104</a:t>
            </a:r>
          </a:p>
        </p:txBody>
      </p:sp>
      <p:sp>
        <p:nvSpPr>
          <p:cNvPr id="113" name="Rectangle 109"/>
          <p:cNvSpPr txBox="1"/>
          <p:nvPr/>
        </p:nvSpPr>
        <p:spPr>
          <a:xfrm>
            <a:off x="3554273" y="1762049"/>
            <a:ext cx="179222" cy="133502"/>
          </a:xfrm>
          <a:prstGeom prst="rect">
            <a:avLst/>
          </a:prstGeom>
          <a:pattFill prst="ltDnDiag">
            <a:fgClr>
              <a:schemeClr val="tx1"/>
            </a:fgClr>
            <a:bgClr>
              <a:schemeClr val="bg1"/>
            </a:bgClr>
          </a:pattFill>
          <a:ln>
            <a:noFill/>
          </a:ln>
        </p:spPr>
        <p:txBody>
          <a:bodyPr wrap="square" anchor="ctr" lIns="91440" tIns="45720" rIns="91440" bIns="45720"/>
          <a:lstStyle/>
          <a:p>
            <a:pPr algn="ctr">
              <a:lnSpc>
                <a:spcPct val="100000"/>
              </a:lnSpc>
              <a:buNone/>
            </a:pPr>
            <a:endParaRPr lang="en-US"/>
          </a:p>
        </p:txBody>
      </p:sp>
      <p:sp>
        <p:nvSpPr>
          <p:cNvPr id="114" name="LegendSwatch"/>
          <p:cNvSpPr txBox="1"/>
          <p:nvPr/>
        </p:nvSpPr>
        <p:spPr>
          <a:xfrm>
            <a:off x="3554273" y="1965046"/>
            <a:ext cx="179222" cy="133502"/>
          </a:xfrm>
          <a:prstGeom prst="rect">
            <a:avLst/>
          </a:prstGeom>
          <a:solidFill>
            <a:srgbClr val="969696"/>
          </a:solidFill>
          <a:ln>
            <a:noFill/>
          </a:ln>
        </p:spPr>
        <p:txBody>
          <a:bodyPr wrap="square" anchor="ctr" lIns="91440" tIns="45720" rIns="91440" bIns="45720"/>
          <a:lstStyle/>
          <a:p>
            <a:pPr algn="ctr">
              <a:lnSpc>
                <a:spcPct val="100000"/>
              </a:lnSpc>
              <a:buNone/>
            </a:pPr>
            <a:endParaRPr lang="en-US"/>
          </a:p>
        </p:txBody>
      </p:sp>
      <p:sp>
        <p:nvSpPr>
          <p:cNvPr id="115" name="LegendSwatch"/>
          <p:cNvSpPr txBox="1"/>
          <p:nvPr/>
        </p:nvSpPr>
        <p:spPr>
          <a:xfrm>
            <a:off x="3554273" y="2168957"/>
            <a:ext cx="179222" cy="133502"/>
          </a:xfrm>
          <a:prstGeom prst="rect">
            <a:avLst/>
          </a:prstGeom>
          <a:solidFill>
            <a:srgbClr val="000000"/>
          </a:solidFill>
          <a:ln>
            <a:noFill/>
          </a:ln>
        </p:spPr>
        <p:txBody>
          <a:bodyPr wrap="square" anchor="ctr" lIns="91440" tIns="45720" rIns="91440" bIns="45720"/>
          <a:lstStyle/>
          <a:p>
            <a:pPr algn="ctr">
              <a:lnSpc>
                <a:spcPct val="100000"/>
              </a:lnSpc>
              <a:buNone/>
            </a:pPr>
            <a:endParaRPr lang="en-US"/>
          </a:p>
        </p:txBody>
      </p:sp>
      <p:sp>
        <p:nvSpPr>
          <p:cNvPr id="116" name="LegendSwatch"/>
          <p:cNvSpPr txBox="1"/>
          <p:nvPr/>
        </p:nvSpPr>
        <p:spPr>
          <a:xfrm>
            <a:off x="3554273" y="2371954"/>
            <a:ext cx="179222" cy="133502"/>
          </a:xfrm>
          <a:prstGeom prst="rect">
            <a:avLst/>
          </a:prstGeom>
          <a:solidFill>
            <a:srgbClr val="4C6C9C"/>
          </a:solidFill>
          <a:ln>
            <a:noFill/>
          </a:ln>
        </p:spPr>
        <p:txBody>
          <a:bodyPr wrap="square" anchor="ctr" lIns="91440" tIns="45720" rIns="91440" bIns="45720"/>
          <a:lstStyle/>
          <a:p>
            <a:pPr algn="ctr">
              <a:lnSpc>
                <a:spcPct val="100000"/>
              </a:lnSpc>
              <a:buNone/>
            </a:pPr>
            <a:endParaRPr lang="en-US"/>
          </a:p>
        </p:txBody>
      </p:sp>
      <p:sp>
        <p:nvSpPr>
          <p:cNvPr id="117" name="LegendSwatch"/>
          <p:cNvSpPr txBox="1"/>
          <p:nvPr/>
        </p:nvSpPr>
        <p:spPr>
          <a:xfrm>
            <a:off x="3554273" y="2574950"/>
            <a:ext cx="179222" cy="133502"/>
          </a:xfrm>
          <a:prstGeom prst="rect">
            <a:avLst/>
          </a:prstGeom>
          <a:solidFill>
            <a:srgbClr val="1D4D68"/>
          </a:solidFill>
          <a:ln>
            <a:noFill/>
          </a:ln>
        </p:spPr>
        <p:txBody>
          <a:bodyPr wrap="square" anchor="ctr" lIns="91440" tIns="45720" rIns="91440" bIns="45720"/>
          <a:lstStyle/>
          <a:p>
            <a:pPr algn="ctr">
              <a:lnSpc>
                <a:spcPct val="100000"/>
              </a:lnSpc>
              <a:buNone/>
            </a:pPr>
            <a:endParaRPr lang="en-US"/>
          </a:p>
        </p:txBody>
      </p:sp>
      <p:sp>
        <p:nvSpPr>
          <p:cNvPr id="118" name="LegendSwatch"/>
          <p:cNvSpPr txBox="1"/>
          <p:nvPr/>
        </p:nvSpPr>
        <p:spPr>
          <a:xfrm>
            <a:off x="3554273" y="2777947"/>
            <a:ext cx="179222" cy="133502"/>
          </a:xfrm>
          <a:prstGeom prst="rect">
            <a:avLst/>
          </a:prstGeom>
          <a:solidFill>
            <a:srgbClr val="C0C0C0"/>
          </a:solidFill>
          <a:ln>
            <a:noFill/>
          </a:ln>
        </p:spPr>
        <p:txBody>
          <a:bodyPr wrap="square" anchor="ctr" lIns="91440" tIns="45720" rIns="91440" bIns="45720"/>
          <a:lstStyle/>
          <a:p>
            <a:pPr algn="ctr">
              <a:lnSpc>
                <a:spcPct val="100000"/>
              </a:lnSpc>
              <a:buNone/>
            </a:pPr>
            <a:endParaRPr lang="en-US"/>
          </a:p>
        </p:txBody>
      </p:sp>
      <p:sp>
        <p:nvSpPr>
          <p:cNvPr id="119" name="LegendSwatch"/>
          <p:cNvSpPr txBox="1"/>
          <p:nvPr/>
        </p:nvSpPr>
        <p:spPr>
          <a:xfrm>
            <a:off x="3554273" y="2980944"/>
            <a:ext cx="179222" cy="133502"/>
          </a:xfrm>
          <a:prstGeom prst="rect">
            <a:avLst/>
          </a:prstGeom>
          <a:solidFill>
            <a:srgbClr val="007770"/>
          </a:solidFill>
          <a:ln>
            <a:noFill/>
          </a:ln>
        </p:spPr>
        <p:txBody>
          <a:bodyPr wrap="square" anchor="ctr" lIns="91440" tIns="45720" rIns="91440" bIns="45720"/>
          <a:lstStyle/>
          <a:p>
            <a:pPr algn="ctr">
              <a:lnSpc>
                <a:spcPct val="100000"/>
              </a:lnSpc>
              <a:buNone/>
            </a:pPr>
            <a:endParaRPr lang="en-US"/>
          </a:p>
        </p:txBody>
      </p:sp>
      <p:sp>
        <p:nvSpPr>
          <p:cNvPr id="120" name="Label"/>
          <p:cNvSpPr txBox="1"/>
          <p:nvPr/>
        </p:nvSpPr>
        <p:spPr>
          <a:xfrm>
            <a:off x="3784702" y="1757477"/>
            <a:ext cx="31546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Other</a:t>
            </a:r>
          </a:p>
        </p:txBody>
      </p:sp>
      <p:sp>
        <p:nvSpPr>
          <p:cNvPr id="121" name="Label"/>
          <p:cNvSpPr txBox="1"/>
          <p:nvPr/>
        </p:nvSpPr>
        <p:spPr>
          <a:xfrm>
            <a:off x="3784702" y="1960474"/>
            <a:ext cx="3666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Ro-Ro</a:t>
            </a:r>
          </a:p>
        </p:txBody>
      </p:sp>
      <p:sp>
        <p:nvSpPr>
          <p:cNvPr id="122" name="Label"/>
          <p:cNvSpPr txBox="1"/>
          <p:nvPr/>
        </p:nvSpPr>
        <p:spPr>
          <a:xfrm>
            <a:off x="3784702" y="2163470"/>
            <a:ext cx="2459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Bulk</a:t>
            </a:r>
          </a:p>
        </p:txBody>
      </p:sp>
      <p:sp>
        <p:nvSpPr>
          <p:cNvPr id="123" name="Label"/>
          <p:cNvSpPr txBox="1"/>
          <p:nvPr/>
        </p:nvSpPr>
        <p:spPr>
          <a:xfrm>
            <a:off x="3784702" y="2367382"/>
            <a:ext cx="86319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Product Tanker</a:t>
            </a:r>
          </a:p>
        </p:txBody>
      </p:sp>
      <p:sp>
        <p:nvSpPr>
          <p:cNvPr id="124" name="Label"/>
          <p:cNvSpPr txBox="1"/>
          <p:nvPr/>
        </p:nvSpPr>
        <p:spPr>
          <a:xfrm>
            <a:off x="3784702" y="2570378"/>
            <a:ext cx="772668"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Crude Tanker</a:t>
            </a:r>
          </a:p>
        </p:txBody>
      </p:sp>
      <p:sp>
        <p:nvSpPr>
          <p:cNvPr id="125" name="Label"/>
          <p:cNvSpPr txBox="1"/>
          <p:nvPr/>
        </p:nvSpPr>
        <p:spPr>
          <a:xfrm>
            <a:off x="3784702" y="2773375"/>
            <a:ext cx="26060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LNG</a:t>
            </a:r>
          </a:p>
        </p:txBody>
      </p:sp>
      <p:sp>
        <p:nvSpPr>
          <p:cNvPr id="126" name="Label"/>
          <p:cNvSpPr txBox="1"/>
          <p:nvPr/>
        </p:nvSpPr>
        <p:spPr>
          <a:xfrm>
            <a:off x="3784702" y="2976372"/>
            <a:ext cx="547726"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Container</a:t>
            </a:r>
          </a:p>
        </p:txBody>
      </p:sp>
      <p:sp>
        <p:nvSpPr>
          <p:cNvPr id="127" name="Rectangle 329"/>
          <p:cNvSpPr txBox="1"/>
          <p:nvPr/>
        </p:nvSpPr>
        <p:spPr>
          <a:xfrm>
            <a:off x="5214823" y="5084064"/>
            <a:ext cx="6482182" cy="792785"/>
          </a:xfrm>
          <a:prstGeom prst="rect">
            <a:avLst/>
          </a:prstGeom>
          <a:solidFill>
            <a:srgbClr val="CEDDEC"/>
          </a:solidFill>
          <a:ln w="12700">
            <a:solidFill>
              <a:srgbClr val="000000"/>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Reaching ~200 vessels assumes owners accept Opex and D&amp;A differential of operating US-built and flagged vessels vs. foreign-built and flagged</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28" name="Rectangle 336"/>
          <p:cNvSpPr txBox="1"/>
          <p:nvPr/>
        </p:nvSpPr>
        <p:spPr>
          <a:xfrm>
            <a:off x="7378294" y="158191"/>
            <a:ext cx="2722169" cy="199339"/>
          </a:xfrm>
          <a:prstGeom prst="rect">
            <a:avLst/>
          </a:prstGeom>
          <a:solidFill>
            <a:srgbClr val="447BB2"/>
          </a:solidFill>
          <a:ln w="12700">
            <a:solidFill>
              <a:srgbClr val="000000"/>
            </a:solidFill>
          </a:ln>
        </p:spPr>
        <p:txBody>
          <a:bodyPr wrap="square" anchor="ctr" lIns="91440" tIns="45720" rIns="91440" bIns="45720"/>
          <a:lstStyle/>
          <a:p>
            <a:pPr algn="ctr">
              <a:lnSpc>
                <a:spcPct val="100000"/>
              </a:lnSpc>
              <a:buNone/>
            </a:pPr>
            <a:r>
              <a:rPr lang="en-US" sz="1200" b="1" dirty="0">
                <a:latin typeface="Arial"/>
                <a:ea typeface="Arial"/>
                <a:cs typeface="Arial"/>
              </a:rPr>
              <a:t>(2) SHIPS Act Scenario</a:t>
            </a:r>
          </a:p>
        </p:txBody>
      </p:sp>
      <p:cxnSp>
        <p:nvCxnSpPr>
          <p:cNvPr id="129" name="Straight Connector 351"/>
          <p:cNvCxnSpPr/>
          <p:nvPr/>
        </p:nvCxnSpPr>
        <p:spPr>
          <a:xfrm flipV="1">
            <a:off x="4533595" y="2000707"/>
            <a:ext cx="681228" cy="1762049"/>
          </a:xfrm>
          <a:prstGeom prst="line">
            <a:avLst/>
          </a:prstGeom>
          <a:ln w="6350">
            <a:solidFill>
              <a:srgbClr val="808080"/>
            </a:solidFill>
            <a:prstDash val="dash"/>
          </a:ln>
        </p:spPr>
      </p:cxnSp>
      <p:cxnSp>
        <p:nvCxnSpPr>
          <p:cNvPr id="130" name="Straight Connector 355"/>
          <p:cNvCxnSpPr/>
          <p:nvPr/>
        </p:nvCxnSpPr>
        <p:spPr>
          <a:xfrm flipV="1">
            <a:off x="4533595" y="2609698"/>
            <a:ext cx="681228" cy="1404518"/>
          </a:xfrm>
          <a:prstGeom prst="line">
            <a:avLst/>
          </a:prstGeom>
          <a:ln w="6350">
            <a:solidFill>
              <a:srgbClr val="808080"/>
            </a:solidFill>
            <a:prstDash val="dash"/>
          </a:ln>
        </p:spPr>
      </p:cxnSp>
      <p:cxnSp>
        <p:nvCxnSpPr>
          <p:cNvPr id="131" name="Straight Connector 358"/>
          <p:cNvCxnSpPr/>
          <p:nvPr/>
        </p:nvCxnSpPr>
        <p:spPr>
          <a:xfrm flipV="1">
            <a:off x="4533595" y="3188513"/>
            <a:ext cx="681228" cy="1538935"/>
          </a:xfrm>
          <a:prstGeom prst="line">
            <a:avLst/>
          </a:prstGeom>
          <a:ln w="6350">
            <a:solidFill>
              <a:srgbClr val="808080"/>
            </a:solidFill>
            <a:prstDash val="dash"/>
          </a:ln>
        </p:spPr>
      </p:cxnSp>
      <p:sp>
        <p:nvSpPr>
          <p:cNvPr id="132" name="Rectangle 53"/>
          <p:cNvSpPr txBox="1"/>
          <p:nvPr/>
        </p:nvSpPr>
        <p:spPr>
          <a:xfrm>
            <a:off x="9724644" y="1089050"/>
            <a:ext cx="91440" cy="213970"/>
          </a:xfrm>
          <a:prstGeom prst="rect">
            <a:avLst/>
          </a:prstGeom>
          <a:noFill/>
          <a:ln w="19050">
            <a:solidFill>
              <a:srgbClr val="FB6B3C"/>
            </a:solidFill>
          </a:ln>
        </p:spPr>
        <p:txBody>
          <a:bodyPr wrap="square" anchor="ctr" lIns="91440" tIns="45720" rIns="91440" bIns="45720"/>
          <a:lstStyle/>
          <a:p>
            <a:pPr algn="ctr">
              <a:lnSpc>
                <a:spcPct val="100000"/>
              </a:lnSpc>
              <a:buNone/>
            </a:pPr>
            <a:endParaRPr lang="en-US"/>
          </a:p>
        </p:txBody>
      </p:sp>
      <p:sp>
        <p:nvSpPr>
          <p:cNvPr id="133" name="TextBox 54"/>
          <p:cNvSpPr txBox="1"/>
          <p:nvPr/>
        </p:nvSpPr>
        <p:spPr>
          <a:xfrm>
            <a:off x="9775850" y="1089050"/>
            <a:ext cx="1921154" cy="213970"/>
          </a:xfrm>
          <a:prstGeom prst="rect">
            <a:avLst/>
          </a:prstGeom>
          <a:noFill/>
          <a:ln>
            <a:noFill/>
          </a:ln>
        </p:spPr>
        <p:txBody>
          <a:bodyPr wrap="none" anchor="ctr" lIns="91440" tIns="45720" rIns="91440" bIns="45720"/>
          <a:lstStyle/>
          <a:p>
            <a:pPr>
              <a:lnSpc>
                <a:spcPct val="100000"/>
              </a:lnSpc>
              <a:buNone/>
            </a:pPr>
            <a:r>
              <a:rPr lang="en-US" sz="1000" dirty="0">
                <a:solidFill>
                  <a:srgbClr val="000000"/>
                </a:solidFill>
                <a:latin typeface="Arial"/>
                <a:ea typeface="Arial"/>
                <a:cs typeface="Arial"/>
              </a:rPr>
              <a:t>Port Alpha production modeled</a:t>
            </a:r>
          </a:p>
        </p:txBody>
      </p:sp>
      <p:sp>
        <p:nvSpPr>
          <p:cNvPr id="134" name="Rectangle 55"/>
          <p:cNvSpPr txBox="1"/>
          <p:nvPr/>
        </p:nvSpPr>
        <p:spPr>
          <a:xfrm>
            <a:off x="3506724" y="2349094"/>
            <a:ext cx="1188720" cy="389534"/>
          </a:xfrm>
          <a:prstGeom prst="rect">
            <a:avLst/>
          </a:prstGeom>
          <a:noFill/>
          <a:ln w="19050">
            <a:solidFill>
              <a:srgbClr val="FB6B3C"/>
            </a:solidFill>
          </a:ln>
        </p:spPr>
        <p:txBody>
          <a:bodyPr wrap="square" anchor="b" lIns="91440" tIns="45720" rIns="91440" bIns="45720"/>
          <a:lstStyle/>
          <a:p>
            <a:pPr algn="ctr">
              <a:lnSpc>
                <a:spcPct val="100000"/>
              </a:lnSpc>
              <a:buNone/>
            </a:pPr>
            <a:endParaRPr lang="en-US"/>
          </a:p>
        </p:txBody>
      </p:sp>
      <p:sp>
        <p:nvSpPr>
          <p:cNvPr id="135" name="Rectangle 56"/>
          <p:cNvSpPr txBox="1"/>
          <p:nvPr/>
        </p:nvSpPr>
        <p:spPr>
          <a:xfrm>
            <a:off x="3506724" y="2958998"/>
            <a:ext cx="1188720" cy="189281"/>
          </a:xfrm>
          <a:prstGeom prst="rect">
            <a:avLst/>
          </a:prstGeom>
          <a:noFill/>
          <a:ln w="19050">
            <a:solidFill>
              <a:srgbClr val="FB6B3C"/>
            </a:solidFill>
          </a:ln>
        </p:spPr>
        <p:txBody>
          <a:bodyPr wrap="square" anchor="b" lIns="91440" tIns="45720" rIns="91440" bIns="45720"/>
          <a:lstStyle/>
          <a:p>
            <a:pPr algn="ctr">
              <a:lnSpc>
                <a:spcPct val="100000"/>
              </a:lnSpc>
              <a:buNone/>
            </a:pP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 name="Text Placeholder 1"/>
          <p:cNvSpPr>
            <a:spLocks noGrp="1"/>
          </p:cNvSpPr>
          <p:nvPr>
            <p:ph type="body" sz="quarter" idx="10"/>
          </p:nvPr>
        </p:nvSpPr>
        <p:spPr/>
        <p:txBody>
          <a:bodyPr/>
          <a:lstStyle/>
          <a:p>
            <a:r>
              <a:rPr lang="en-US" b="1"/>
              <a:t>BuildCo Financial Projections </a:t>
            </a:r>
            <a:r>
              <a:rPr lang="en-US"/>
              <a:t>/ Assumptions &amp; Methodology</a:t>
            </a:r>
          </a:p>
        </p:txBody>
      </p:sp>
      <p:sp>
        <p:nvSpPr>
          <p:cNvPr id="2001" name="Title 2"/>
          <p:cNvSpPr>
            <a:spLocks noGrp="1"/>
          </p:cNvSpPr>
          <p:nvPr>
            <p:ph type="title"/>
          </p:nvPr>
        </p:nvSpPr>
        <p:spPr/>
        <p:txBody>
          <a:bodyPr vert="horz" rIns="0">
            <a:normAutofit/>
          </a:bodyPr>
          <a:lstStyle/>
          <a:p>
            <a:r>
              <a:rPr lang="en-US"/>
              <a:t>Assumptions &amp; Methodology | Income Statement (1/2).</a:t>
            </a:r>
          </a:p>
        </p:txBody>
      </p:sp>
      <p:graphicFrame>
        <p:nvGraphicFramePr>
          <p:cNvPr id="100" name="Table 3"/>
          <p:cNvGraphicFramePr>
            <a:graphicFrameLocks noGrp="1"/>
          </p:cNvGraphicFramePr>
          <p:nvPr/>
        </p:nvGraphicFramePr>
        <p:xfrm>
          <a:off x="431597" y="1019556"/>
          <a:ext cx="11281867" cy="3342132"/>
        </p:xfrm>
        <a:graphic>
          <a:graphicData uri="http://schemas.openxmlformats.org/drawingml/2006/table">
            <a:tbl>
              <a:tblPr firstRow="1" firstCol="1" bandRow="0">
                <a:tableStyleId>{2D5ABB26-0587-4C30-8999-92F81FD0307C}</a:tableStyleId>
              </a:tblPr>
              <a:tblGrid>
                <a:gridCol w="1650492"/>
                <a:gridCol w="2940710"/>
                <a:gridCol w="6691579"/>
              </a:tblGrid>
              <a:tr h="457200">
                <a:tc>
                  <a:txBody>
                    <a:bodyPr anchor="b"/>
                    <a:lstStyle/>
                    <a:p>
                      <a:pPr algn="l" marL="0" indent="0">
                        <a:lnSpc>
                          <a:spcPct val="100000"/>
                        </a:lnSpc>
                      </a:pPr>
                      <a:r>
                        <a:rPr lang="en-US" sz="1200" b="1" dirty="0">
                          <a:solidFill>
                            <a:srgbClr val="162029"/>
                          </a:solidFill>
                          <a:latin typeface="Arial"/>
                          <a:ea typeface="Arial"/>
                          <a:cs typeface="Arial"/>
                        </a:rPr>
                        <a:t>Category:</a:t>
                      </a:r>
                    </a:p>
                  </a:txBody>
                  <a:tcPr marL="45720" marR="45720" marT="45720" marB="45720" anchor="b">
                    <a:lnL>
                      <a:noFill/>
                    </a:lnL>
                    <a:lnR>
                      <a:noFill/>
                    </a:lnR>
                    <a:lnT>
                      <a:noFill/>
                    </a:lnT>
                    <a:lnB w="12700" cap="flat" cmpd="sng" algn="ctr">
                      <a:solidFill>
                        <a:srgbClr val="162029"/>
                      </a:solidFill>
                      <a:prstDash val="solid"/>
                    </a:lnB>
                    <a:noFill/>
                  </a:tcPr>
                </a:tc>
                <a:tc>
                  <a:txBody>
                    <a:bodyPr anchor="b"/>
                    <a:lstStyle/>
                    <a:p>
                      <a:pPr algn="l" marL="0" indent="0">
                        <a:lnSpc>
                          <a:spcPct val="100000"/>
                        </a:lnSpc>
                      </a:pPr>
                      <a:r>
                        <a:rPr lang="en-US" sz="1200" b="1" dirty="0">
                          <a:solidFill>
                            <a:srgbClr val="162029"/>
                          </a:solidFill>
                          <a:latin typeface="Arial"/>
                          <a:ea typeface="Arial"/>
                          <a:cs typeface="Arial"/>
                        </a:rPr>
                        <a:t>Component</a:t>
                      </a:r>
                    </a:p>
                  </a:txBody>
                  <a:tcPr marL="45720" marR="45720" marT="45720" marB="45720" anchor="b">
                    <a:lnL>
                      <a:noFill/>
                    </a:lnL>
                    <a:lnR w="12700" cap="flat" cmpd="sng" algn="ctr">
                      <a:solidFill>
                        <a:srgbClr val="79838F"/>
                      </a:solidFill>
                      <a:prstDash val="solid"/>
                    </a:lnR>
                    <a:lnT>
                      <a:noFill/>
                    </a:lnT>
                    <a:lnB w="12700" cap="flat" cmpd="sng" algn="ctr">
                      <a:solidFill>
                        <a:srgbClr val="162029"/>
                      </a:solidFill>
                      <a:prstDash val="solid"/>
                    </a:lnB>
                    <a:noFill/>
                  </a:tcPr>
                </a:tc>
                <a:tc>
                  <a:txBody>
                    <a:bodyPr anchor="b"/>
                    <a:lstStyle/>
                    <a:p>
                      <a:pPr algn="l" marL="0" indent="0">
                        <a:lnSpc>
                          <a:spcPct val="100000"/>
                        </a:lnSpc>
                      </a:pPr>
                      <a:r>
                        <a:rPr lang="en-US" sz="1200" b="1" dirty="0">
                          <a:solidFill>
                            <a:srgbClr val="162029"/>
                          </a:solidFill>
                          <a:latin typeface="Arial"/>
                          <a:ea typeface="Arial"/>
                          <a:cs typeface="Arial"/>
                        </a:rPr>
                        <a:t>Methodology – </a:t>
                      </a:r>
                      <a:r>
                        <a:rPr lang="en-US" sz="1200" i="1" dirty="0">
                          <a:solidFill>
                            <a:srgbClr val="162029"/>
                          </a:solidFill>
                          <a:latin typeface="Arial"/>
                          <a:ea typeface="Arial"/>
                          <a:cs typeface="Arial"/>
                        </a:rPr>
                        <a:t>Revenue and Direct Costs recognized on POC basis</a:t>
                      </a:r>
                    </a:p>
                  </a:txBody>
                  <a:tcPr marL="45720" marR="45720" marT="45720" marB="45720" anchor="b">
                    <a:lnL w="12700" cap="flat" cmpd="sng" algn="ctr">
                      <a:solidFill>
                        <a:srgbClr val="79838F"/>
                      </a:solidFill>
                      <a:prstDash val="solid"/>
                    </a:lnL>
                    <a:lnR>
                      <a:noFill/>
                    </a:lnR>
                    <a:lnT>
                      <a:noFill/>
                    </a:lnT>
                    <a:lnB w="12700" cap="flat" cmpd="sng" algn="ctr">
                      <a:solidFill>
                        <a:srgbClr val="162029"/>
                      </a:solidFill>
                      <a:prstDash val="solid"/>
                    </a:lnB>
                    <a:noFill/>
                  </a:tcPr>
                </a:tc>
              </a:tr>
              <a:tr h="373990">
                <a:tc>
                  <a:txBody>
                    <a:bodyPr anchor="ctr"/>
                    <a:lstStyle/>
                    <a:p>
                      <a:pPr algn="l" marL="0" indent="0">
                        <a:lnSpc>
                          <a:spcPct val="100000"/>
                        </a:lnSpc>
                      </a:pPr>
                      <a:r>
                        <a:rPr lang="en-US" sz="1200" b="1" dirty="0">
                          <a:solidFill>
                            <a:srgbClr val="162029"/>
                          </a:solidFill>
                          <a:latin typeface="Arial"/>
                          <a:ea typeface="Arial"/>
                          <a:cs typeface="Arial"/>
                        </a:rPr>
                        <a:t>Revenue (POC)</a:t>
                      </a:r>
                    </a:p>
                  </a:txBody>
                  <a:tcPr marL="45720" marR="45720" marT="45720" marB="45720" anchor="ctr">
                    <a:lnL>
                      <a:noFill/>
                    </a:lnL>
                    <a:lnR>
                      <a:noFill/>
                    </a:lnR>
                    <a:lnT w="12700" cap="flat" cmpd="sng" algn="ctr">
                      <a:solidFill>
                        <a:srgbClr val="162029"/>
                      </a:solidFill>
                      <a:prstDash val="solid"/>
                    </a:lnT>
                    <a:lnB w="12700" cap="flat" cmpd="sng" algn="ctr">
                      <a:solidFill>
                        <a:srgbClr val="162029"/>
                      </a:solidFill>
                      <a:prstDash val="solid"/>
                    </a:lnB>
                    <a:noFill/>
                  </a:tcPr>
                </a:tc>
                <a:tc>
                  <a:txBody>
                    <a:bodyPr anchor="ctr"/>
                    <a:lstStyle/>
                    <a:p>
                      <a:pPr algn="l" marL="0" indent="0">
                        <a:lnSpc>
                          <a:spcPct val="100000"/>
                        </a:lnSpc>
                      </a:pPr>
                      <a:r>
                        <a:rPr lang="en-US" sz="1200" dirty="0">
                          <a:solidFill>
                            <a:srgbClr val="162029"/>
                          </a:solidFill>
                          <a:latin typeface="Arial"/>
                          <a:ea typeface="Arial"/>
                          <a:cs typeface="Arial"/>
                        </a:rPr>
                        <a:t>Vessel Sale Price</a:t>
                      </a:r>
                    </a:p>
                  </a:txBody>
                  <a:tcPr marL="45720" marR="45720" marT="45720" marB="45720" anchor="ctr">
                    <a:lnL>
                      <a:noFill/>
                    </a:lnL>
                    <a:lnR w="12700" cap="flat" cmpd="sng" algn="ctr">
                      <a:solidFill>
                        <a:srgbClr val="79838F"/>
                      </a:solidFill>
                      <a:prstDash val="solid"/>
                    </a:lnR>
                    <a:lnT w="12700" cap="flat" cmpd="sng" algn="ctr">
                      <a:solidFill>
                        <a:srgbClr val="162029"/>
                      </a:solidFill>
                      <a:prstDash val="solid"/>
                    </a:lnT>
                    <a:lnB w="12700" cap="flat" cmpd="sng" algn="ctr">
                      <a:solidFill>
                        <a:srgbClr val="162029"/>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Container: ~40-44% Gross Margin applied to Direct Costs to set sale price</a:t>
                      </a:r>
                    </a:p>
                  </a:txBody>
                  <a:tcPr marL="45720" marR="45720" marT="45720" marB="45720" anchor="ctr">
                    <a:lnL w="12700" cap="flat" cmpd="sng" algn="ctr">
                      <a:solidFill>
                        <a:srgbClr val="79838F"/>
                      </a:solidFill>
                      <a:prstDash val="solid"/>
                    </a:lnL>
                    <a:lnR>
                      <a:noFill/>
                    </a:lnR>
                    <a:lnT w="12700" cap="flat" cmpd="sng" algn="ctr">
                      <a:solidFill>
                        <a:srgbClr val="162029"/>
                      </a:solidFill>
                      <a:prstDash val="solid"/>
                    </a:lnT>
                    <a:lnB w="12700" cap="flat" cmpd="sng" algn="ctr">
                      <a:solidFill>
                        <a:srgbClr val="162029"/>
                      </a:solidFill>
                      <a:prstDash val="solid"/>
                    </a:lnB>
                    <a:noFill/>
                  </a:tcPr>
                </a:tc>
              </a:tr>
              <a:tr h="623621">
                <a:tc>
                  <a:txBody>
                    <a:bodyPr anchor="ctr"/>
                    <a:lstStyle/>
                    <a:p>
                      <a:pPr algn="l" marL="0" indent="0">
                        <a:lnSpc>
                          <a:spcPct val="100000"/>
                        </a:lnSpc>
                      </a:pPr>
                      <a:r>
                        <a:rPr lang="en-US" sz="1200" b="1" dirty="0">
                          <a:solidFill>
                            <a:srgbClr val="162029"/>
                          </a:solidFill>
                          <a:latin typeface="Arial"/>
                          <a:ea typeface="Arial"/>
                          <a:cs typeface="Arial"/>
                        </a:rPr>
                        <a:t>Direct Costs (POC)</a:t>
                      </a:r>
                    </a:p>
                  </a:txBody>
                  <a:tcPr marL="45720" marR="45720" marT="45720" marB="45720" anchor="ctr">
                    <a:lnL>
                      <a:noFill/>
                    </a:lnL>
                    <a:lnR>
                      <a:noFill/>
                    </a:lnR>
                    <a:lnT w="12700" cap="flat" cmpd="sng" algn="ctr">
                      <a:solidFill>
                        <a:srgbClr val="162029"/>
                      </a:solidFill>
                      <a:prstDash val="solid"/>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Equipment </a:t>
                      </a:r>
                    </a:p>
                  </a:txBody>
                  <a:tcPr marL="45720" marR="45720" marT="45720" marB="45720" anchor="ctr">
                    <a:lnL>
                      <a:noFill/>
                    </a:lnL>
                    <a:lnR w="12700" cap="flat" cmpd="sng" algn="ctr">
                      <a:solidFill>
                        <a:srgbClr val="79838F"/>
                      </a:solidFill>
                      <a:prstDash val="solid"/>
                    </a:lnR>
                    <a:lnT w="12700" cap="flat" cmpd="sng" algn="ctr">
                      <a:solidFill>
                        <a:srgbClr val="162029"/>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Assumed to be ~65-75% of Total Equipment + Raw Materials costs</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3% YoY increase in equipment costs</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volume purchase discount applied on equipment</a:t>
                      </a:r>
                    </a:p>
                  </a:txBody>
                  <a:tcPr marL="45720" marR="45720" marT="45720" marB="45720" anchor="ctr">
                    <a:lnL w="12700" cap="flat" cmpd="sng" algn="ctr">
                      <a:solidFill>
                        <a:srgbClr val="79838F"/>
                      </a:solidFill>
                      <a:prstDash val="solid"/>
                    </a:lnL>
                    <a:lnR>
                      <a:noFill/>
                    </a:lnR>
                    <a:lnT w="12700" cap="flat" cmpd="sng" algn="ctr">
                      <a:solidFill>
                        <a:srgbClr val="162029"/>
                      </a:solidFill>
                      <a:prstDash val="solid"/>
                    </a:lnT>
                    <a:lnB w="12700" cap="flat" cmpd="sng" algn="ctr">
                      <a:solidFill>
                        <a:srgbClr val="BFBFBF"/>
                      </a:solidFill>
                      <a:prstDash val="solid"/>
                    </a:lnB>
                    <a:noFill/>
                  </a:tcPr>
                </a:tc>
              </a:tr>
              <a:tr h="623621">
                <a:tc>
                  <a:txBody>
                    <a:bodyPr anchor="ctr"/>
                    <a:lstStyle/>
                    <a:p>
                      <a:pPr algn="l" marL="0" indent="0">
                        <a:lnSpc>
                          <a:spcPct val="100000"/>
                        </a:lnSpc>
                      </a:pPr>
                      <a:endParaRPr lang="en-US"/>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Direct Labor</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Production tech labor rate * hours required to build vessel </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YoY increase in labor rate ’26-’30; 3% ’31+</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373990">
                <a:tc>
                  <a:txBody>
                    <a:bodyPr anchor="ctr"/>
                    <a:lstStyle/>
                    <a:p>
                      <a:pPr algn="l" marL="0" indent="0">
                        <a:lnSpc>
                          <a:spcPct val="100000"/>
                        </a:lnSpc>
                      </a:pPr>
                      <a:endParaRPr lang="en-US"/>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Direct Labor Fringe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Fringe rate of 37.6% applied to Direct Labor</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873252">
                <a:tc>
                  <a:txBody>
                    <a:bodyPr anchor="ctr"/>
                    <a:lstStyle/>
                    <a:p>
                      <a:pPr algn="l" marL="0" indent="0">
                        <a:lnSpc>
                          <a:spcPct val="100000"/>
                        </a:lnSpc>
                      </a:pPr>
                      <a:endParaRPr lang="en-US"/>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Raw Materials (Steel)</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a:noFill/>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Steel portion of hull estimated from LWT in units of MT. Multiplied with $1,200 / MT rate</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YoY price changes indexed to S&amp;P steel price forecast</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volume purchase discount applied on raw materials</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a:noFill/>
                    </a:lnB>
                    <a:noFill/>
                  </a:tcPr>
                </a:tc>
              </a:tr>
            </a:tbl>
          </a:graphicData>
        </a:graphic>
      </p:graphicFrame>
      <p:sp>
        <p:nvSpPr>
          <p:cNvPr id="101" name="Rectangle 5"/>
          <p:cNvSpPr txBox="1"/>
          <p:nvPr/>
        </p:nvSpPr>
        <p:spPr>
          <a:xfrm>
            <a:off x="431597" y="4506163"/>
            <a:ext cx="11303813" cy="754380"/>
          </a:xfrm>
          <a:prstGeom prst="rect">
            <a:avLst/>
          </a:prstGeom>
          <a:solidFill>
            <a:srgbClr val="E2E9EF"/>
          </a:solidFill>
          <a:ln w="12700">
            <a:solidFill>
              <a:srgbClr val="000000"/>
            </a:solidFill>
          </a:ln>
        </p:spPr>
        <p:txBody>
          <a:bodyPr wrap="square" anchor="ctr" lIns="91440" tIns="0" rIns="91440" bIns="0"/>
          <a:lstStyle/>
          <a:p>
            <a:pPr algn="ctr">
              <a:lnSpc>
                <a:spcPct val="100000"/>
              </a:lnSpc>
              <a:buNone/>
            </a:pPr>
            <a:r>
              <a:rPr lang="en-US" sz="1200" b="1" i="1" dirty="0">
                <a:solidFill>
                  <a:srgbClr val="000000"/>
                </a:solidFill>
                <a:latin typeface="Arial"/>
                <a:ea typeface="Arial"/>
                <a:cs typeface="Arial"/>
              </a:rPr>
              <a:t>Revenue and Direct Costs are recognized on the Income Statement on a Percentage of Completion (POC) basis. Recognition is allocated ratably based on Build Time </a:t>
            </a:r>
          </a:p>
          <a:p>
            <a:pPr algn="ctr">
              <a:lnSpc>
                <a:spcPct val="100000"/>
              </a:lnSpc>
              <a:buNone/>
            </a:pPr>
            <a:r>
              <a:rPr lang="en-US" sz="1200" b="1" i="1" dirty="0">
                <a:solidFill>
                  <a:srgbClr val="000000"/>
                </a:solidFill>
                <a:latin typeface="Arial"/>
                <a:ea typeface="Arial"/>
                <a:cs typeface="Arial"/>
              </a:rPr>
              <a:t>(e.g., Build Time = 12 Months, Price = $120M, Monthly Revenue = $10M)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02" name="Rectangle 13"/>
          <p:cNvSpPr txBox="1"/>
          <p:nvPr/>
        </p:nvSpPr>
        <p:spPr>
          <a:xfrm>
            <a:off x="452628" y="6109106"/>
            <a:ext cx="11308385" cy="289865"/>
          </a:xfrm>
          <a:prstGeom prst="rect">
            <a:avLst/>
          </a:prstGeom>
          <a:noFill/>
          <a:ln>
            <a:noFill/>
          </a:ln>
        </p:spPr>
        <p:txBody>
          <a:bodyPr wrap="square" anchor="t" lIns="91440" tIns="45720" rIns="91440" bIns="45720"/>
          <a:lstStyle/>
          <a:p>
            <a:pPr>
              <a:lnSpc>
                <a:spcPct val="100000"/>
              </a:lnSpc>
              <a:buNone/>
            </a:pPr>
            <a:br/>
            <a:r>
              <a:rPr lang="en-US" sz="800" dirty="0">
                <a:solidFill>
                  <a:srgbClr val="000000"/>
                </a:solidFill>
                <a:latin typeface="Arial"/>
                <a:ea typeface="Arial"/>
                <a:cs typeface="Arial"/>
              </a:rPr>
              <a:t>Source: S&amp;P Intelligence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 name="Text Placeholder 1"/>
          <p:cNvSpPr>
            <a:spLocks noGrp="1"/>
          </p:cNvSpPr>
          <p:nvPr>
            <p:ph type="body" sz="quarter" idx="10"/>
          </p:nvPr>
        </p:nvSpPr>
        <p:spPr/>
        <p:txBody>
          <a:bodyPr/>
          <a:lstStyle/>
          <a:p>
            <a:r>
              <a:rPr lang="en-US" b="1"/>
              <a:t>BuildCo Financial Projections </a:t>
            </a:r>
            <a:r>
              <a:rPr lang="en-US"/>
              <a:t>/ Assumptions &amp; Methodology</a:t>
            </a:r>
          </a:p>
        </p:txBody>
      </p:sp>
      <p:sp>
        <p:nvSpPr>
          <p:cNvPr id="2001" name="Title 2"/>
          <p:cNvSpPr>
            <a:spLocks noGrp="1"/>
          </p:cNvSpPr>
          <p:nvPr>
            <p:ph type="title"/>
          </p:nvPr>
        </p:nvSpPr>
        <p:spPr/>
        <p:txBody>
          <a:bodyPr vert="horz" rIns="0">
            <a:normAutofit/>
          </a:bodyPr>
          <a:lstStyle/>
          <a:p>
            <a:r>
              <a:rPr lang="en-US"/>
              <a:t>Assumptions &amp; Methodology | Income Statement (2/2).</a:t>
            </a:r>
          </a:p>
        </p:txBody>
      </p:sp>
      <p:graphicFrame>
        <p:nvGraphicFramePr>
          <p:cNvPr id="100" name="Table 3"/>
          <p:cNvGraphicFramePr>
            <a:graphicFrameLocks noGrp="1"/>
          </p:cNvGraphicFramePr>
          <p:nvPr/>
        </p:nvGraphicFramePr>
        <p:xfrm>
          <a:off x="355702" y="1047902"/>
          <a:ext cx="11281867" cy="4933188"/>
        </p:xfrm>
        <a:graphic>
          <a:graphicData uri="http://schemas.openxmlformats.org/drawingml/2006/table">
            <a:tbl>
              <a:tblPr firstRow="1" firstCol="1" bandRow="0">
                <a:tableStyleId>{2D5ABB26-0587-4C30-8999-92F81FD0307C}</a:tableStyleId>
              </a:tblPr>
              <a:tblGrid>
                <a:gridCol w="1650492"/>
                <a:gridCol w="2940710"/>
                <a:gridCol w="6690665"/>
              </a:tblGrid>
              <a:tr h="457200">
                <a:tc>
                  <a:txBody>
                    <a:bodyPr anchor="b"/>
                    <a:lstStyle/>
                    <a:p>
                      <a:pPr algn="l" marL="0" indent="0">
                        <a:lnSpc>
                          <a:spcPct val="100000"/>
                        </a:lnSpc>
                      </a:pPr>
                      <a:r>
                        <a:rPr lang="en-US" sz="1200" b="1" dirty="0">
                          <a:solidFill>
                            <a:srgbClr val="162029"/>
                          </a:solidFill>
                          <a:latin typeface="Arial"/>
                          <a:ea typeface="Arial"/>
                          <a:cs typeface="Arial"/>
                        </a:rPr>
                        <a:t>Category:</a:t>
                      </a:r>
                    </a:p>
                  </a:txBody>
                  <a:tcPr marL="45720" marR="45720" marT="45720" marB="45720" anchor="b">
                    <a:lnL>
                      <a:noFill/>
                    </a:lnL>
                    <a:lnR>
                      <a:noFill/>
                    </a:lnR>
                    <a:lnT>
                      <a:noFill/>
                    </a:lnT>
                    <a:lnB w="12700" cap="flat" cmpd="sng" algn="ctr">
                      <a:solidFill>
                        <a:srgbClr val="162029"/>
                      </a:solidFill>
                      <a:prstDash val="solid"/>
                    </a:lnB>
                    <a:noFill/>
                  </a:tcPr>
                </a:tc>
                <a:tc>
                  <a:txBody>
                    <a:bodyPr anchor="b"/>
                    <a:lstStyle/>
                    <a:p>
                      <a:pPr algn="l" marL="0" indent="0">
                        <a:lnSpc>
                          <a:spcPct val="100000"/>
                        </a:lnSpc>
                      </a:pPr>
                      <a:r>
                        <a:rPr lang="en-US" sz="1200" b="1" dirty="0">
                          <a:solidFill>
                            <a:srgbClr val="162029"/>
                          </a:solidFill>
                          <a:latin typeface="Arial"/>
                          <a:ea typeface="Arial"/>
                          <a:cs typeface="Arial"/>
                        </a:rPr>
                        <a:t>Component</a:t>
                      </a:r>
                    </a:p>
                  </a:txBody>
                  <a:tcPr marL="45720" marR="45720" marT="45720" marB="45720" anchor="b">
                    <a:lnL>
                      <a:noFill/>
                    </a:lnL>
                    <a:lnR w="12700" cap="flat" cmpd="sng" algn="ctr">
                      <a:solidFill>
                        <a:srgbClr val="79838F"/>
                      </a:solidFill>
                      <a:prstDash val="solid"/>
                    </a:lnR>
                    <a:lnT>
                      <a:noFill/>
                    </a:lnT>
                    <a:lnB w="12700" cap="flat" cmpd="sng" algn="ctr">
                      <a:solidFill>
                        <a:srgbClr val="162029"/>
                      </a:solidFill>
                      <a:prstDash val="solid"/>
                    </a:lnB>
                    <a:noFill/>
                  </a:tcPr>
                </a:tc>
                <a:tc>
                  <a:txBody>
                    <a:bodyPr anchor="b"/>
                    <a:lstStyle/>
                    <a:p>
                      <a:pPr algn="l" marL="0" indent="0">
                        <a:lnSpc>
                          <a:spcPct val="100000"/>
                        </a:lnSpc>
                      </a:pPr>
                      <a:r>
                        <a:rPr lang="en-US" sz="1200" b="1" dirty="0">
                          <a:solidFill>
                            <a:srgbClr val="162029"/>
                          </a:solidFill>
                          <a:latin typeface="Arial"/>
                          <a:ea typeface="Arial"/>
                          <a:cs typeface="Arial"/>
                        </a:rPr>
                        <a:t>Methodology</a:t>
                      </a:r>
                    </a:p>
                  </a:txBody>
                  <a:tcPr marL="45720" marR="45720" marT="45720" marB="45720" anchor="b">
                    <a:lnL w="12700" cap="flat" cmpd="sng" algn="ctr">
                      <a:solidFill>
                        <a:srgbClr val="79838F"/>
                      </a:solidFill>
                      <a:prstDash val="solid"/>
                    </a:lnL>
                    <a:lnR>
                      <a:noFill/>
                    </a:lnR>
                    <a:lnT>
                      <a:noFill/>
                    </a:lnT>
                    <a:lnB w="12700" cap="flat" cmpd="sng" algn="ctr">
                      <a:solidFill>
                        <a:srgbClr val="162029"/>
                      </a:solidFill>
                      <a:prstDash val="solid"/>
                    </a:lnB>
                    <a:noFill/>
                  </a:tcPr>
                </a:tc>
              </a:tr>
              <a:tr h="389534">
                <a:tc>
                  <a:txBody>
                    <a:bodyPr anchor="ctr"/>
                    <a:lstStyle/>
                    <a:p>
                      <a:pPr algn="l" marL="0" indent="0">
                        <a:lnSpc>
                          <a:spcPct val="100000"/>
                        </a:lnSpc>
                      </a:pPr>
                      <a:r>
                        <a:rPr lang="en-US" sz="1200" b="1" dirty="0">
                          <a:solidFill>
                            <a:srgbClr val="162029"/>
                          </a:solidFill>
                          <a:latin typeface="Arial"/>
                          <a:ea typeface="Arial"/>
                          <a:cs typeface="Arial"/>
                        </a:rPr>
                        <a:t>Operating Expenses</a:t>
                      </a:r>
                    </a:p>
                  </a:txBody>
                  <a:tcPr marL="45720" marR="45720" marT="45720" marB="45720" anchor="ctr">
                    <a:lnL>
                      <a:noFill/>
                    </a:lnL>
                    <a:lnR>
                      <a:noFill/>
                    </a:lnR>
                    <a:lnT w="12700" cap="flat" cmpd="sng" algn="ctr">
                      <a:solidFill>
                        <a:srgbClr val="162029"/>
                      </a:solidFill>
                      <a:prstDash val="solid"/>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Compensation</a:t>
                      </a:r>
                    </a:p>
                  </a:txBody>
                  <a:tcPr marL="45720" marR="45720" marT="45720" marB="45720" anchor="ctr">
                    <a:lnL>
                      <a:noFill/>
                    </a:lnL>
                    <a:lnR w="12700" cap="flat" cmpd="sng" algn="ctr">
                      <a:solidFill>
                        <a:srgbClr val="79838F"/>
                      </a:solidFill>
                      <a:prstDash val="solid"/>
                    </a:lnR>
                    <a:lnT w="12700" cap="flat" cmpd="sng" algn="ctr">
                      <a:solidFill>
                        <a:srgbClr val="162029"/>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Bucketed across R&amp;D Engineers, Manufacturing OH, G&amp;A, and S&amp;M</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YoY increase in rates</a:t>
                      </a:r>
                    </a:p>
                  </a:txBody>
                  <a:tcPr marL="45720" marR="45720" marT="45720" marB="45720" anchor="ctr">
                    <a:lnL w="12700" cap="flat" cmpd="sng" algn="ctr">
                      <a:solidFill>
                        <a:srgbClr val="79838F"/>
                      </a:solidFill>
                      <a:prstDash val="solid"/>
                    </a:lnL>
                    <a:lnR>
                      <a:noFill/>
                    </a:lnR>
                    <a:lnT w="12700" cap="flat" cmpd="sng" algn="ctr">
                      <a:solidFill>
                        <a:srgbClr val="162029"/>
                      </a:solidFill>
                      <a:prstDash val="solid"/>
                    </a:lnT>
                    <a:lnB w="12700" cap="flat" cmpd="sng" algn="ctr">
                      <a:solidFill>
                        <a:srgbClr val="BFBFBF"/>
                      </a:solidFill>
                      <a:prstDash val="solid"/>
                    </a:lnB>
                    <a:noFill/>
                  </a:tcPr>
                </a:tc>
              </a:tr>
              <a:tr h="250546">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Professional Services</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6-7% of revenue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0546">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Fringe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Fringe rate of 37.6% applied to Compensation</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0546">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Legal</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1.5-2.2% of revenue (decreases over time)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IT &amp; Software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$25K / head in R&amp;D. 5% YoY increase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D&amp;A</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Construction depreciated over 40-yr. useful life</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Equipment depreciated over 15-yr. useful life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SBC</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10% rate applied to Compensation – extra incentives for hiring. Added back in Cash Flows</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Travel &amp; Entertainment</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$12K / head in R&amp;D and G&amp;A. $60K / head in S&amp;M. 5% YoY increase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Equipment &amp; Material Maintenance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~1-2% of cumulative Capex</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258775">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Facilities</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Utilities, Building Maintenance, Janitorial, Property Taxes, Other rates applied on a per sqft. Basis. Collectively $17 / sqft</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YoY increase (except Property Taxes - ~1%)</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Land Lease also included in cost at $7,500 / acre (rate kept constant YoY)</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361188">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Marketing, PR, Events</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w="12700" cap="flat" cmpd="sng" algn="ctr">
                      <a:solidFill>
                        <a:srgbClr val="BFBFBF"/>
                      </a:solidFill>
                      <a:prstDash val="solid"/>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1.5-2% of revenue (decreases over time)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w="12700" cap="flat" cmpd="sng" algn="ctr">
                      <a:solidFill>
                        <a:srgbClr val="BFBFBF"/>
                      </a:solidFill>
                      <a:prstDash val="solid"/>
                    </a:lnB>
                    <a:noFill/>
                  </a:tcPr>
                </a:tc>
              </a:tr>
              <a:tr h="361188">
                <a:tc>
                  <a:txBody>
                    <a:bodyPr anchor="ctr"/>
                    <a:lstStyle/>
                    <a:p>
                      <a:pPr algn="l" marL="0" indent="0">
                        <a:lnSpc>
                          <a:spcPct val="100000"/>
                        </a:lnSpc>
                      </a:pPr>
                      <a:endParaRPr lang="en-US" sz="100"/>
                    </a:p>
                  </a:txBody>
                  <a:tcPr marL="45720" marR="45720" marT="45720" marB="45720" anchor="ctr">
                    <a:lnL>
                      <a:noFill/>
                    </a:lnL>
                    <a:lnR>
                      <a:noFill/>
                    </a:lnR>
                    <a:lnT>
                      <a:noFill/>
                    </a:lnT>
                    <a:lnB>
                      <a:noFill/>
                    </a:lnB>
                    <a:noFill/>
                  </a:tcPr>
                </a:tc>
                <a:tc>
                  <a:txBody>
                    <a:bodyPr anchor="ctr"/>
                    <a:lstStyle/>
                    <a:p>
                      <a:pPr algn="l" marL="0" indent="0">
                        <a:lnSpc>
                          <a:spcPct val="100000"/>
                        </a:lnSpc>
                      </a:pPr>
                      <a:r>
                        <a:rPr lang="en-US" sz="1200" dirty="0">
                          <a:solidFill>
                            <a:srgbClr val="162029"/>
                          </a:solidFill>
                          <a:latin typeface="Arial"/>
                          <a:ea typeface="Arial"/>
                          <a:cs typeface="Arial"/>
                        </a:rPr>
                        <a:t>Insurance</a:t>
                      </a:r>
                    </a:p>
                  </a:txBody>
                  <a:tcPr marL="45720" marR="45720" marT="45720" marB="45720" anchor="ctr">
                    <a:lnL>
                      <a:noFill/>
                    </a:lnL>
                    <a:lnR w="12700" cap="flat" cmpd="sng" algn="ctr">
                      <a:solidFill>
                        <a:srgbClr val="79838F"/>
                      </a:solidFill>
                      <a:prstDash val="solid"/>
                    </a:lnR>
                    <a:lnT w="12700" cap="flat" cmpd="sng" algn="ctr">
                      <a:solidFill>
                        <a:srgbClr val="BFBFBF"/>
                      </a:solidFill>
                      <a:prstDash val="solid"/>
                    </a:lnT>
                    <a:lnB>
                      <a:noFill/>
                    </a:lnB>
                    <a:noFill/>
                  </a:tcPr>
                </a:tc>
                <a:tc>
                  <a:txBody>
                    <a:bodyPr anchor="ctr"/>
                    <a:lstStyle/>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Applied on a per sqft basis - $1.20 / sqft</a:t>
                      </a:r>
                    </a:p>
                    <a:p>
                      <a:pPr algn="l" marL="171450" indent="-171450">
                        <a:lnSpc>
                          <a:spcPct val="100000"/>
                        </a:lnSpc>
                        <a:buFont typeface="Arial" panose="020B0604020202020204" pitchFamily="34" charset="0"/>
                        <a:buChar char="•"/>
                      </a:pPr>
                      <a:r>
                        <a:rPr lang="en-US" sz="1200" dirty="0">
                          <a:solidFill>
                            <a:srgbClr val="000000"/>
                          </a:solidFill>
                          <a:latin typeface="Arial"/>
                          <a:ea typeface="Arial"/>
                          <a:cs typeface="Arial"/>
                        </a:rPr>
                        <a:t>5% YoY increase</a:t>
                      </a:r>
                    </a:p>
                  </a:txBody>
                  <a:tcPr marL="45720" marR="45720" marT="45720" marB="45720" anchor="ctr">
                    <a:lnL w="12700" cap="flat" cmpd="sng" algn="ctr">
                      <a:solidFill>
                        <a:srgbClr val="79838F"/>
                      </a:solidFill>
                      <a:prstDash val="solid"/>
                    </a:lnL>
                    <a:lnR>
                      <a:noFill/>
                    </a:lnR>
                    <a:lnT w="12700" cap="flat" cmpd="sng" algn="ctr">
                      <a:solidFill>
                        <a:srgbClr val="BFBFBF"/>
                      </a:solidFill>
                      <a:prstDash val="solid"/>
                    </a:lnT>
                    <a:lnB>
                      <a:noFill/>
                    </a:lnB>
                    <a:noFill/>
                  </a:tcPr>
                </a:tc>
              </a:tr>
            </a:tbl>
          </a:graphicData>
        </a:graphic>
      </p:graphicFrame>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01" name="Rectangle 8"/>
          <p:cNvSpPr txBox="1"/>
          <p:nvPr/>
        </p:nvSpPr>
        <p:spPr>
          <a:xfrm>
            <a:off x="452628" y="6109106"/>
            <a:ext cx="11308385" cy="289865"/>
          </a:xfrm>
          <a:prstGeom prst="rect">
            <a:avLst/>
          </a:prstGeom>
          <a:noFill/>
          <a:ln>
            <a:noFill/>
          </a:ln>
        </p:spPr>
        <p:txBody>
          <a:bodyPr wrap="square" anchor="t" lIns="91440" tIns="45720" rIns="91440" bIns="45720"/>
          <a:lstStyle/>
          <a:p>
            <a:pPr>
              <a:lnSpc>
                <a:spcPct val="100000"/>
              </a:lnSpc>
              <a:buNone/>
            </a:pPr>
            <a:br/>
            <a:r>
              <a:rPr lang="en-US" sz="800" dirty="0">
                <a:solidFill>
                  <a:srgbClr val="000000"/>
                </a:solidFill>
                <a:latin typeface="Arial"/>
                <a:ea typeface="Arial"/>
                <a:cs typeface="Arial"/>
              </a:rPr>
              <a:t>Source: Internal Saronic data and estimates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Carrier Entry Point Attractiveness</a:t>
            </a:r>
            <a:r>
              <a:rPr lang="en-US" sz="1000" kern="1200" dirty="0">
                <a:solidFill>
                  <a:srgbClr val="44505C"/>
                </a:solidFill>
                <a:latin typeface="Arial"/>
                <a:ea typeface="Arial"/>
                <a:cs typeface="Arial"/>
              </a:rPr>
              <a:t> / Matson Test Case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Approach (1/2) | Determining unit economics requires normalizing annual operating expenses and per-voyage cost of sales to a per-unit of cargo basis ($ / TEU).</a:t>
            </a:r>
          </a:p>
        </p:txBody>
      </p:sp>
      <p:graphicFrame>
        <p:nvGraphicFramePr>
          <p:cNvPr id="100" name="Table 8"/>
          <p:cNvGraphicFramePr>
            <a:graphicFrameLocks noGrp="1"/>
          </p:cNvGraphicFramePr>
          <p:nvPr/>
        </p:nvGraphicFramePr>
        <p:xfrm>
          <a:off x="472745" y="1286561"/>
          <a:ext cx="11247120" cy="5074920"/>
        </p:xfrm>
        <a:graphic>
          <a:graphicData uri="http://schemas.openxmlformats.org/drawingml/2006/table">
            <a:tbl>
              <a:tblPr firstRow="1" firstCol="1" bandRow="0">
                <a:tableStyleId>{2D5ABB26-0587-4C30-8999-92F81FD0307C}</a:tableStyleId>
              </a:tblPr>
              <a:tblGrid>
                <a:gridCol w="1371600"/>
                <a:gridCol w="274320"/>
                <a:gridCol w="3017520"/>
                <a:gridCol w="274320"/>
                <a:gridCol w="3017520"/>
                <a:gridCol w="274320"/>
                <a:gridCol w="3017520"/>
              </a:tblGrid>
              <a:tr h="117958">
                <a:tc rowSpan="2">
                  <a:txBody>
                    <a:bodyPr anchor="b"/>
                    <a:lstStyle/>
                    <a:p>
                      <a:pPr algn="l" marL="0" indent="0">
                        <a:lnSpc>
                          <a:spcPct val="100000"/>
                        </a:lnSpc>
                      </a:pPr>
                      <a:r>
                        <a:rPr lang="en-US" sz="900" i="1" dirty="0">
                          <a:solidFill>
                            <a:srgbClr val="000000"/>
                          </a:solidFill>
                          <a:latin typeface="Arial"/>
                          <a:ea typeface="Arial"/>
                          <a:cs typeface="Arial"/>
                        </a:rPr>
                        <a:t>For each route and vessel size / type</a:t>
                      </a:r>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marL="0" indent="0">
                        <a:lnSpc>
                          <a:spcPct val="100000"/>
                        </a:lnSpc>
                      </a:pPr>
                      <a:endParaRPr lang="en-US" sz="100"/>
                    </a:p>
                  </a:txBody>
                  <a:tcPr marL="45720" marR="45720" marT="45720" marB="45720" anchor="b">
                    <a:lnL>
                      <a:noFill/>
                    </a:lnL>
                    <a:lnR>
                      <a:noFill/>
                    </a:lnR>
                    <a:lnT>
                      <a:noFill/>
                    </a:lnT>
                    <a:lnB>
                      <a:noFill/>
                    </a:lnB>
                    <a:noFill/>
                  </a:tcPr>
                </a:tc>
                <a:tc gridSpan="5">
                  <a:txBody>
                    <a:bodyPr anchor="b"/>
                    <a:lstStyle/>
                    <a:p>
                      <a:pPr algn="ctr" marL="0" indent="0">
                        <a:lnSpc>
                          <a:spcPct val="100000"/>
                        </a:lnSpc>
                      </a:pPr>
                      <a:r>
                        <a:rPr lang="en-US" sz="900" b="1" dirty="0">
                          <a:solidFill>
                            <a:srgbClr val="000000"/>
                          </a:solidFill>
                          <a:latin typeface="Arial"/>
                          <a:ea typeface="Arial"/>
                          <a:cs typeface="Arial"/>
                        </a:rPr>
                        <a:t>Price / cost categories by frequency (reported or incurred)</a:t>
                      </a:r>
                    </a:p>
                  </a:txBody>
                  <a:tcPr marL="45720" marR="45720" marT="45720" marB="45720" anchor="b">
                    <a:lnL>
                      <a:noFill/>
                    </a:lnL>
                    <a:lnR>
                      <a:noFill/>
                    </a:lnR>
                    <a:lnT>
                      <a:noFill/>
                    </a:lnT>
                    <a:lnB w="12700" cap="flat" cmpd="sng" algn="ctr">
                      <a:solidFill>
                        <a:srgbClr val="162029"/>
                      </a:solidFill>
                      <a:prstDash val="soli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a:noFill/>
                    </a:lnL>
                    <a:lnR>
                      <a:noFill/>
                    </a:lnR>
                    <a:lnT>
                      <a:noFill/>
                    </a:lnT>
                    <a:lnB w="12700" cap="flat" cmpd="sng" algn="ctr">
                      <a:solidFill>
                        <a:srgbClr val="000000"/>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Annual</a:t>
                      </a:r>
                    </a:p>
                  </a:txBody>
                  <a:tcPr marL="45720" marR="45720" marT="45720" marB="45720" anchor="b">
                    <a:lnL>
                      <a:noFill/>
                    </a:lnL>
                    <a:lnR w="12700" cap="flat" cmpd="sng" algn="ctr">
                      <a:solidFill>
                        <a:srgbClr val="FFFFFF"/>
                      </a:solidFill>
                      <a:prstDash val="solid"/>
                    </a:lnR>
                    <a:lnT w="12700" cap="flat" cmpd="sng" algn="ctr">
                      <a:solidFill>
                        <a:srgbClr val="162029"/>
                      </a:solidFill>
                      <a:prstDash val="solid"/>
                    </a:lnT>
                    <a:lnB w="12700" cap="flat" cmpd="sng" algn="ctr">
                      <a:solidFill>
                        <a:srgbClr val="000000"/>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162029"/>
                      </a:solidFill>
                      <a:prstDash val="solid"/>
                    </a:lnT>
                    <a:lnB w="12700" cap="flat" cmpd="sng" algn="ctr">
                      <a:solidFill>
                        <a:srgbClr val="000000"/>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Per Voyage</a:t>
                      </a:r>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162029"/>
                      </a:solidFill>
                      <a:prstDash val="solid"/>
                    </a:lnT>
                    <a:lnB w="12700" cap="flat" cmpd="sng" algn="ctr">
                      <a:solidFill>
                        <a:srgbClr val="000000"/>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162029"/>
                      </a:solidFill>
                      <a:prstDash val="solid"/>
                    </a:lnT>
                    <a:lnB w="12700" cap="flat" cmpd="sng" algn="ctr">
                      <a:solidFill>
                        <a:srgbClr val="000000"/>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Per Unit (TEU)</a:t>
                      </a:r>
                    </a:p>
                  </a:txBody>
                  <a:tcPr marL="60960" marR="60960" marT="60960" marB="60960" anchor="b">
                    <a:lnL w="12700" cap="flat" cmpd="sng" algn="ctr">
                      <a:solidFill>
                        <a:srgbClr val="FFFFFF"/>
                      </a:solidFill>
                      <a:prstDash val="solid"/>
                    </a:lnL>
                    <a:lnR>
                      <a:noFill/>
                    </a:lnR>
                    <a:lnT w="12700" cap="flat" cmpd="sng" algn="ctr">
                      <a:solidFill>
                        <a:srgbClr val="162029"/>
                      </a:solidFill>
                      <a:prstDash val="solid"/>
                    </a:lnT>
                    <a:lnB w="12700" cap="flat" cmpd="sng" algn="ctr">
                      <a:solidFill>
                        <a:srgbClr val="000000"/>
                      </a:solidFill>
                      <a:prstDash val="solid"/>
                    </a:lnB>
                    <a:noFill/>
                  </a:tcPr>
                </a:tc>
              </a:tr>
              <a:tr h="0">
                <a:tc>
                  <a:txBody>
                    <a:bodyPr anchor="ctr"/>
                    <a:lstStyle/>
                    <a:p>
                      <a:pPr algn="l" marL="0" indent="0">
                        <a:lnSpc>
                          <a:spcPct val="100000"/>
                        </a:lnSpc>
                      </a:pPr>
                      <a:endParaRPr lang="en-US" sz="100"/>
                    </a:p>
                  </a:txBody>
                  <a:tcPr marL="45720" marR="45720" marT="45720" marB="45720" anchor="ctr">
                    <a:lnL>
                      <a:noFill/>
                    </a:lnL>
                    <a:lnR>
                      <a:noFill/>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45720" marR="45720" marT="45720" marB="45720" anchor="b">
                    <a:lnL>
                      <a:noFill/>
                    </a:lnL>
                    <a:lnR>
                      <a:noFill/>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000000"/>
                      </a:solidFill>
                      <a:prstDash val="solid"/>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000000"/>
                      </a:solidFill>
                      <a:prstDash val="solid"/>
                    </a:lnT>
                    <a:lnB>
                      <a:noFill/>
                    </a:lnB>
                    <a:noFill/>
                  </a:tcPr>
                </a:tc>
              </a:tr>
              <a:tr h="0">
                <a:tc>
                  <a:txBody>
                    <a:bodyPr anchor="ctr"/>
                    <a:lstStyle/>
                    <a:p>
                      <a:pPr algn="l" marL="0" indent="0">
                        <a:lnSpc>
                          <a:spcPct val="100000"/>
                        </a:lnSpc>
                      </a:pPr>
                      <a:r>
                        <a:rPr lang="en-US" sz="900" b="1" dirty="0">
                          <a:solidFill>
                            <a:srgbClr val="000000"/>
                          </a:solidFill>
                          <a:latin typeface="Arial"/>
                          <a:ea typeface="Arial"/>
                          <a:cs typeface="Arial"/>
                        </a:rPr>
                        <a:t>Price</a:t>
                      </a:r>
                    </a:p>
                  </a:txBody>
                  <a:tcPr marL="45720" marR="45720" marT="45720" marB="45720" anchor="ctr">
                    <a:lnL>
                      <a:noFill/>
                    </a:lnL>
                    <a:lnR w="76200" cap="flat" cmpd="sng" algn="ctr">
                      <a:solidFill>
                        <a:srgbClr val="2E7D32"/>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2E7D32"/>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Basic Ocean Rate</a:t>
                      </a:r>
                    </a:p>
                  </a:txBody>
                  <a:tcPr marL="60960" marR="60960" marT="60960" marB="60960" anchor="b">
                    <a:lnL w="12700" cap="flat" cmpd="sng" algn="ctr">
                      <a:solidFill>
                        <a:srgbClr val="FFFFFF"/>
                      </a:solidFill>
                      <a:prstDash val="solid"/>
                    </a:lnL>
                    <a:lnR>
                      <a:noFill/>
                    </a:lnR>
                    <a:lnT>
                      <a:noFill/>
                    </a:lnT>
                    <a:lnB w="12700" cap="flat" cmpd="sng" algn="ctr">
                      <a:solidFill>
                        <a:srgbClr val="FFFFFF"/>
                      </a:solidFill>
                      <a:prstDash val="solid"/>
                    </a:lnB>
                    <a:solidFill>
                      <a:srgbClr val="2E7D32"/>
                    </a:solid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2E7D32"/>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2E7D32"/>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Fuel Adjustment Factor</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2E7D32"/>
                    </a:solid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2E7D32"/>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2E7D32"/>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Terminal Handling / Stevedoring</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2E7D32"/>
                    </a:solid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2E7D32"/>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2E7D32"/>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Wharfage / Other Fees</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6350" cap="flat" cmpd="sng" algn="ctr">
                      <a:solidFill>
                        <a:srgbClr val="FFFFFF"/>
                      </a:solidFill>
                      <a:prstDash val="solid"/>
                    </a:lnB>
                    <a:solidFill>
                      <a:srgbClr val="2E7D32"/>
                    </a:solidFill>
                  </a:tcPr>
                </a:tc>
              </a:tr>
              <a:tr h="0">
                <a:tc>
                  <a:txBody>
                    <a:bodyPr anchor="ctr"/>
                    <a:lstStyle/>
                    <a:p>
                      <a:pPr algn="l" marL="0" indent="0">
                        <a:lnSpc>
                          <a:spcPct val="100000"/>
                        </a:lnSpc>
                      </a:pPr>
                      <a:endParaRPr lang="en-US" sz="100"/>
                    </a:p>
                  </a:txBody>
                  <a:tcPr marL="45720" marR="45720" marT="45720" marB="45720" anchor="ctr">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12700" cap="flat" cmpd="sng" algn="ctr">
                      <a:solidFill>
                        <a:srgbClr val="FFFFF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a:noFill/>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635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6350" cap="flat" cmpd="sng" algn="ctr">
                      <a:solidFill>
                        <a:srgbClr val="FFFFFF"/>
                      </a:solidFill>
                      <a:prstDash val="solid"/>
                    </a:lnT>
                    <a:lnB w="12700" cap="flat" cmpd="sng" algn="ctr">
                      <a:solidFill>
                        <a:srgbClr val="FFFFFF"/>
                      </a:solidFill>
                      <a:prstDash val="solid"/>
                    </a:lnB>
                    <a:noFill/>
                  </a:tcPr>
                </a:tc>
              </a:tr>
              <a:tr h="0">
                <a:tc rowSpan="2">
                  <a:txBody>
                    <a:bodyPr anchor="ctr"/>
                    <a:lstStyle/>
                    <a:p>
                      <a:pPr algn="l" marL="0" indent="0">
                        <a:lnSpc>
                          <a:spcPct val="100000"/>
                        </a:lnSpc>
                      </a:pPr>
                      <a:r>
                        <a:rPr lang="en-US" sz="900" b="1" dirty="0">
                          <a:solidFill>
                            <a:srgbClr val="000000"/>
                          </a:solidFill>
                          <a:latin typeface="Arial"/>
                          <a:ea typeface="Arial"/>
                          <a:cs typeface="Arial"/>
                        </a:rPr>
                        <a:t>Variable Costs </a:t>
                      </a:r>
                    </a:p>
                  </a:txBody>
                  <a:tcPr marL="45720" marR="45720" marT="45720" marB="45720" anchor="ctr">
                    <a:lnL>
                      <a:noFill/>
                    </a:lnL>
                    <a:lnR w="76200" cap="flat" cmpd="sng" algn="ctr">
                      <a:solidFill>
                        <a:srgbClr val="BFBFBF"/>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BFBFB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a:noFill/>
                    </a:lnR>
                    <a:lnT>
                      <a:noFill/>
                    </a:lnT>
                    <a:lnB>
                      <a:noFill/>
                    </a:lnB>
                    <a:noFill/>
                  </a:tcPr>
                </a:tc>
                <a:tc>
                  <a:txBody>
                    <a:bodyPr anchor="b"/>
                    <a:lstStyle/>
                    <a:p>
                      <a:pPr algn="ctr" marL="0" indent="0">
                        <a:lnSpc>
                          <a:spcPct val="100000"/>
                        </a:lnSpc>
                      </a:pPr>
                      <a:endParaRPr lang="en-US" sz="100"/>
                    </a:p>
                  </a:txBody>
                  <a:tcPr marL="60960" marR="60960" marT="60960" marB="60960" anchor="b">
                    <a:lnL>
                      <a:noFill/>
                    </a:lnL>
                    <a:lnR>
                      <a:noFill/>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Pilotage &amp; Tugboats</a:t>
                      </a:r>
                    </a:p>
                  </a:txBody>
                  <a:tcPr marL="60960" marR="60960" marT="60960" marB="6096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BFBFBF"/>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Terminal Handling &amp; Stevedoring</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263746"/>
                    </a:solid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BFBFB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a:noFill/>
                    </a:lnR>
                    <a:lnT>
                      <a:noFill/>
                    </a:lnT>
                    <a:lnB>
                      <a:noFill/>
                    </a:lnB>
                    <a:noFill/>
                  </a:tcPr>
                </a:tc>
                <a:tc>
                  <a:txBody>
                    <a:bodyPr anchor="b"/>
                    <a:lstStyle/>
                    <a:p>
                      <a:pPr algn="ctr" marL="0" indent="0">
                        <a:lnSpc>
                          <a:spcPct val="100000"/>
                        </a:lnSpc>
                      </a:pPr>
                      <a:endParaRPr lang="en-US" sz="100"/>
                    </a:p>
                  </a:txBody>
                  <a:tcPr marL="60960" marR="60960" marT="60960" marB="60960" anchor="b">
                    <a:lnL>
                      <a:noFill/>
                    </a:lnL>
                    <a:lnR>
                      <a:noFill/>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000000"/>
                          </a:solidFill>
                          <a:latin typeface="Arial"/>
                          <a:ea typeface="Arial"/>
                          <a:cs typeface="Arial"/>
                        </a:rPr>
                        <a:t>Bunker fuel</a:t>
                      </a:r>
                    </a:p>
                  </a:txBody>
                  <a:tcPr marL="60960" marR="60960" marT="60960" marB="6096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BFBFBF"/>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Wharfage &amp; Other Fees</a:t>
                      </a:r>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263746"/>
                    </a:solid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BFBFBF"/>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BFBFB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a:noFill/>
                    </a:lnR>
                    <a:lnT>
                      <a:noFill/>
                    </a:lnT>
                    <a:lnB>
                      <a:noFill/>
                    </a:lnB>
                    <a:noFill/>
                  </a:tcPr>
                </a:tc>
                <a:tc>
                  <a:txBody>
                    <a:bodyPr anchor="b"/>
                    <a:lstStyle/>
                    <a:p>
                      <a:pPr algn="ctr" marL="0" indent="0">
                        <a:lnSpc>
                          <a:spcPct val="100000"/>
                        </a:lnSpc>
                      </a:pPr>
                      <a:endParaRPr lang="en-US" sz="100"/>
                    </a:p>
                  </a:txBody>
                  <a:tcPr marL="60960" marR="60960" marT="60960" marB="60960" anchor="b">
                    <a:lnL>
                      <a:noFill/>
                    </a:lnL>
                    <a:lnR>
                      <a:noFill/>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r>
                        <a:rPr lang="en-US" sz="900" b="1" dirty="0">
                          <a:solidFill>
                            <a:srgbClr val="FFFFFF"/>
                          </a:solidFill>
                          <a:latin typeface="Arial"/>
                          <a:ea typeface="Arial"/>
                          <a:cs typeface="Arial"/>
                        </a:rPr>
                        <a:t>Dockage &amp; Other Usage Fees</a:t>
                      </a:r>
                    </a:p>
                  </a:txBody>
                  <a:tcPr marL="60960" marR="60960" marT="60960" marB="6096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263746"/>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solidFill>
                      <a:srgbClr val="BFBFBF"/>
                    </a:solidFill>
                  </a:tcPr>
                </a:tc>
              </a:tr>
              <a:tr h="0">
                <a:tc>
                  <a:txBody>
                    <a:bodyPr anchor="ctr"/>
                    <a:lstStyle/>
                    <a:p>
                      <a:pPr algn="l" marL="0" indent="0">
                        <a:lnSpc>
                          <a:spcPct val="100000"/>
                        </a:lnSpc>
                      </a:pPr>
                      <a:endParaRPr lang="en-US" sz="100"/>
                    </a:p>
                  </a:txBody>
                  <a:tcPr marL="45720" marR="45720" marT="45720" marB="45720" anchor="ctr">
                    <a:lnL>
                      <a:noFill/>
                    </a:lnL>
                    <a:lnR w="12700" cap="flat" cmpd="sng" algn="ctr">
                      <a:solidFill>
                        <a:srgbClr val="FFFFFF"/>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12700" cap="flat" cmpd="sng" algn="ctr">
                      <a:solidFill>
                        <a:srgbClr val="FFFFFF"/>
                      </a:solidFill>
                      <a:prstDash val="solid"/>
                    </a:lnL>
                    <a:lnR>
                      <a:noFill/>
                    </a:lnR>
                    <a:lnT>
                      <a:noFill/>
                    </a:lnT>
                    <a:lnB>
                      <a:noFill/>
                    </a:lnB>
                    <a:noFill/>
                  </a:tcPr>
                </a:tc>
                <a:tc>
                  <a:txBody>
                    <a:bodyPr anchor="b"/>
                    <a:lstStyle/>
                    <a:p>
                      <a:pPr algn="ctr" marL="0" indent="0">
                        <a:lnSpc>
                          <a:spcPct val="100000"/>
                        </a:lnSpc>
                      </a:pPr>
                      <a:endParaRPr lang="en-US" sz="100"/>
                    </a:p>
                  </a:txBody>
                  <a:tcPr marL="45720" marR="45720" marT="45720" marB="45720" anchor="b">
                    <a:lnL>
                      <a:noFill/>
                    </a:lnL>
                    <a:lnR w="12700" cap="flat" cmpd="sng" algn="ctr">
                      <a:solidFill>
                        <a:srgbClr val="FFFFFF"/>
                      </a:solidFill>
                      <a:prstDash val="solid"/>
                    </a:lnR>
                    <a:lnT>
                      <a:noFill/>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rowSpan="8">
                  <a:txBody>
                    <a:bodyPr anchor="ctr"/>
                    <a:lstStyle/>
                    <a:p>
                      <a:pPr algn="l" marL="0" indent="0">
                        <a:lnSpc>
                          <a:spcPct val="100000"/>
                        </a:lnSpc>
                      </a:pPr>
                      <a:r>
                        <a:rPr lang="en-US" sz="900" b="1" dirty="0">
                          <a:solidFill>
                            <a:srgbClr val="000000"/>
                          </a:solidFill>
                          <a:latin typeface="Arial"/>
                          <a:ea typeface="Arial"/>
                          <a:cs typeface="Arial"/>
                        </a:rPr>
                        <a:t>Operating Expenses</a:t>
                      </a:r>
                    </a:p>
                  </a:txBody>
                  <a:tcPr marL="45720" marR="45720" marT="45720" marB="45720" anchor="ctr">
                    <a:lnL>
                      <a:noFill/>
                    </a:lnL>
                    <a:lnR w="76200" cap="flat" cmpd="sng" algn="ctr">
                      <a:solidFill>
                        <a:srgbClr val="808080"/>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Crew</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Insurance</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Stores &amp; Spares</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Lubricating Oils</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Repair &amp; Maintenance</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Dry-dock</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Management &amp; Administration</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vMerge="1">
                  <a:txBody>
                    <a:bodyPr/>
                    <a:lstStyle/>
                    <a:p>
                      <a:endParaRPr lang="en-US"/>
                    </a:p>
                  </a:txBody>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Depreciation &amp; Amortization</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r h="0">
                <a:tc>
                  <a:txBody>
                    <a:bodyPr anchor="ctr"/>
                    <a:lstStyle/>
                    <a:p>
                      <a:pPr algn="l" marL="0" indent="0">
                        <a:lnSpc>
                          <a:spcPct val="100000"/>
                        </a:lnSpc>
                      </a:pPr>
                      <a:endParaRPr lang="en-US" sz="100"/>
                    </a:p>
                  </a:txBody>
                  <a:tcPr marL="45720" marR="45720" marT="45720" marB="45720" anchor="ctr">
                    <a:lnL>
                      <a:noFill/>
                    </a:lnL>
                    <a:lnR w="76200" cap="flat" cmpd="sng" algn="ctr">
                      <a:solidFill>
                        <a:srgbClr val="808080"/>
                      </a:solidFill>
                      <a:prstDash val="solid"/>
                    </a:lnR>
                    <a:lnT>
                      <a:noFill/>
                    </a:lnT>
                    <a:lnB>
                      <a:noFill/>
                    </a:lnB>
                    <a:noFill/>
                  </a:tcPr>
                </a:tc>
                <a:tc>
                  <a:txBody>
                    <a:bodyPr anchor="b"/>
                    <a:lstStyle/>
                    <a:p>
                      <a:pPr algn="ctr" marL="0" indent="0">
                        <a:lnSpc>
                          <a:spcPct val="100000"/>
                        </a:lnSpc>
                      </a:pPr>
                      <a:endParaRPr lang="en-US" sz="100"/>
                    </a:p>
                  </a:txBody>
                  <a:tcPr marL="45720" marR="45720" marT="45720" marB="45720" anchor="b">
                    <a:lnL w="76200" cap="flat" cmpd="sng" algn="ctr">
                      <a:solidFill>
                        <a:srgbClr val="808080"/>
                      </a:solidFill>
                      <a:prstDash val="solid"/>
                    </a:lnL>
                    <a:lnR>
                      <a:noFill/>
                    </a:lnR>
                    <a:lnT>
                      <a:noFill/>
                    </a:lnT>
                    <a:lnB>
                      <a:noFill/>
                    </a:lnB>
                    <a:noFill/>
                  </a:tcPr>
                </a:tc>
                <a:tc>
                  <a:txBody>
                    <a:bodyPr anchor="b"/>
                    <a:lstStyle/>
                    <a:p>
                      <a:pPr algn="ctr" marL="0" indent="0">
                        <a:lnSpc>
                          <a:spcPct val="100000"/>
                        </a:lnSpc>
                      </a:pPr>
                      <a:r>
                        <a:rPr lang="en-US" sz="900" b="1" dirty="0">
                          <a:solidFill>
                            <a:srgbClr val="FFFFFF"/>
                          </a:solidFill>
                          <a:latin typeface="Arial"/>
                          <a:ea typeface="Arial"/>
                          <a:cs typeface="Arial"/>
                        </a:rPr>
                        <a:t>Other (e.g., Travel)</a:t>
                      </a:r>
                    </a:p>
                  </a:txBody>
                  <a:tcPr marL="45720" marR="45720" marT="45720" marB="45720" anchor="b">
                    <a:lnL>
                      <a:noFill/>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808080"/>
                    </a:solid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noFill/>
                  </a:tcPr>
                </a:tc>
                <a:tc>
                  <a:txBody>
                    <a:bodyPr anchor="b"/>
                    <a:lstStyle/>
                    <a:p>
                      <a:pPr algn="ctr" marL="0" indent="0">
                        <a:lnSpc>
                          <a:spcPct val="100000"/>
                        </a:lnSpc>
                      </a:pPr>
                      <a:endParaRPr lang="en-US" sz="100"/>
                    </a:p>
                  </a:txBody>
                  <a:tcPr marL="60960" marR="60960" marT="60960" marB="60960" anchor="b">
                    <a:lnL w="12700" cap="flat" cmpd="sng" algn="ctr">
                      <a:solidFill>
                        <a:srgbClr val="FFFFFF"/>
                      </a:solidFill>
                      <a:prstDash val="solid"/>
                    </a:lnL>
                    <a:lnR>
                      <a:noFill/>
                    </a:lnR>
                    <a:lnT w="12700" cap="flat" cmpd="sng" algn="ctr">
                      <a:solidFill>
                        <a:srgbClr val="FFFFFF"/>
                      </a:solidFill>
                      <a:prstDash val="solid"/>
                    </a:lnT>
                    <a:lnB w="12700" cap="flat" cmpd="sng" algn="ctr">
                      <a:solidFill>
                        <a:srgbClr val="FFFFFF"/>
                      </a:solidFill>
                      <a:prstDash val="solid"/>
                    </a:lnB>
                    <a:noFill/>
                  </a:tcPr>
                </a:tc>
              </a:tr>
            </a:tbl>
          </a:graphicData>
        </a:graphic>
      </p:graphicFrame>
      <p:sp>
        <p:nvSpPr>
          <p:cNvPr id="101" name="Rectangle 19"/>
          <p:cNvSpPr txBox="1"/>
          <p:nvPr/>
        </p:nvSpPr>
        <p:spPr>
          <a:xfrm>
            <a:off x="5328209" y="3032150"/>
            <a:ext cx="3157423" cy="1205179"/>
          </a:xfrm>
          <a:prstGeom prst="rect">
            <a:avLst/>
          </a:prstGeom>
          <a:noFill/>
          <a:ln w="12700">
            <a:solidFill>
              <a:srgbClr val="000000"/>
            </a:solidFill>
            <a:prstDash val="dash"/>
          </a:ln>
        </p:spPr>
        <p:txBody>
          <a:bodyPr wrap="square" anchor="b" lIns="0" tIns="45720" rIns="0" bIns="45720"/>
          <a:lstStyle/>
          <a:p>
            <a:pPr algn="ctr">
              <a:lnSpc>
                <a:spcPct val="100000"/>
              </a:lnSpc>
              <a:buNone/>
            </a:pPr>
            <a:r>
              <a:rPr lang="en-US" sz="900" i="1" dirty="0">
                <a:solidFill>
                  <a:srgbClr val="000000"/>
                </a:solidFill>
                <a:latin typeface="Arial"/>
                <a:ea typeface="Arial"/>
                <a:cs typeface="Arial"/>
              </a:rPr>
              <a:t>To find Normalized Cost of Sales: Divide by </a:t>
            </a:r>
            <a:r>
              <a:rPr lang="en-US" sz="900" i="1" dirty="0">
                <a:solidFill>
                  <a:srgbClr val="000000"/>
                </a:solidFill>
                <a:latin typeface="Arial"/>
                <a:ea typeface="Arial"/>
                <a:cs typeface="Arial"/>
              </a:rPr>
              <a:t>average cargo units per relevant voyage</a:t>
            </a:r>
            <a:r>
              <a:rPr lang="en-US" sz="900" i="1" dirty="0">
                <a:solidFill>
                  <a:srgbClr val="000000"/>
                </a:solidFill>
                <a:latin typeface="Arial"/>
                <a:ea typeface="Arial"/>
                <a:cs typeface="Arial"/>
              </a:rPr>
              <a:t> (route-specific volume)</a:t>
            </a:r>
          </a:p>
        </p:txBody>
      </p:sp>
      <p:sp>
        <p:nvSpPr>
          <p:cNvPr id="102" name="Rectangle 20"/>
          <p:cNvSpPr txBox="1"/>
          <p:nvPr/>
        </p:nvSpPr>
        <p:spPr>
          <a:xfrm>
            <a:off x="2057400" y="3981298"/>
            <a:ext cx="3157423" cy="2392070"/>
          </a:xfrm>
          <a:prstGeom prst="rect">
            <a:avLst/>
          </a:prstGeom>
          <a:noFill/>
          <a:ln w="12700">
            <a:solidFill>
              <a:srgbClr val="000000"/>
            </a:solidFill>
            <a:prstDash val="dash"/>
          </a:ln>
        </p:spPr>
        <p:txBody>
          <a:bodyPr wrap="square" anchor="b" lIns="91440" tIns="45720" rIns="91440" bIns="45720"/>
          <a:lstStyle/>
          <a:p>
            <a:pPr algn="ctr">
              <a:lnSpc>
                <a:spcPct val="100000"/>
              </a:lnSpc>
              <a:buNone/>
            </a:pPr>
            <a:endParaRPr lang="en-US"/>
          </a:p>
        </p:txBody>
      </p:sp>
      <p:cxnSp>
        <p:nvCxnSpPr>
          <p:cNvPr id="103" name="Connector: Elbow 22"/>
          <p:cNvCxnSpPr/>
          <p:nvPr/>
        </p:nvCxnSpPr>
        <p:spPr>
          <a:xfrm>
            <a:off x="8485632" y="3634740"/>
            <a:ext cx="205740" cy="113386"/>
          </a:xfrm>
          <a:prstGeom prst="bentConnector3">
            <a:avLst/>
          </a:prstGeom>
          <a:ln w="12700">
            <a:solidFill>
              <a:srgbClr val="000000"/>
            </a:solidFill>
            <a:tailEnd type="triangle" w="med" len="med"/>
          </a:ln>
        </p:spPr>
      </p:cxnSp>
      <p:sp>
        <p:nvSpPr>
          <p:cNvPr id="104" name="Rectangle 25"/>
          <p:cNvSpPr txBox="1"/>
          <p:nvPr/>
        </p:nvSpPr>
        <p:spPr>
          <a:xfrm>
            <a:off x="8691372" y="3623767"/>
            <a:ext cx="3007462" cy="249631"/>
          </a:xfrm>
          <a:prstGeom prst="rect">
            <a:avLst/>
          </a:prstGeom>
          <a:noFill/>
          <a:ln w="12700">
            <a:solidFill>
              <a:srgbClr val="000000"/>
            </a:solidFill>
            <a:prstDash val="dash"/>
          </a:ln>
        </p:spPr>
        <p:txBody>
          <a:bodyPr wrap="square" anchor="ctr" lIns="91440" tIns="45720" rIns="91440" bIns="45720"/>
          <a:lstStyle/>
          <a:p>
            <a:pPr algn="ctr">
              <a:lnSpc>
                <a:spcPct val="100000"/>
              </a:lnSpc>
              <a:buNone/>
            </a:pPr>
            <a:r>
              <a:rPr lang="en-US" sz="1000" b="1" dirty="0">
                <a:solidFill>
                  <a:srgbClr val="000000"/>
                </a:solidFill>
                <a:latin typeface="Arial"/>
                <a:ea typeface="Arial"/>
                <a:cs typeface="Arial"/>
              </a:rPr>
              <a:t>Normalized (per unit) Variable Costs</a:t>
            </a:r>
          </a:p>
        </p:txBody>
      </p:sp>
      <p:sp>
        <p:nvSpPr>
          <p:cNvPr id="105" name="Rectangle 32"/>
          <p:cNvSpPr txBox="1"/>
          <p:nvPr/>
        </p:nvSpPr>
        <p:spPr>
          <a:xfrm>
            <a:off x="8714232" y="4033418"/>
            <a:ext cx="3007462" cy="2146097"/>
          </a:xfrm>
          <a:prstGeom prst="rect">
            <a:avLst/>
          </a:prstGeom>
          <a:solidFill>
            <a:srgbClr val="808080"/>
          </a:solidFill>
          <a:ln w="12700">
            <a:solidFill>
              <a:srgbClr val="000000"/>
            </a:solidFill>
            <a:prstDash val="dash"/>
          </a:ln>
        </p:spPr>
        <p:txBody>
          <a:bodyPr wrap="square" anchor="ctr" lIns="91440" tIns="45720" rIns="91440" bIns="45720"/>
          <a:lstStyle/>
          <a:p>
            <a:pPr algn="ctr">
              <a:lnSpc>
                <a:spcPct val="100000"/>
              </a:lnSpc>
              <a:buNone/>
            </a:pPr>
            <a:r>
              <a:rPr lang="en-US" sz="1000" b="1" dirty="0">
                <a:solidFill>
                  <a:srgbClr val="FFFFFF"/>
                </a:solidFill>
                <a:latin typeface="Arial"/>
                <a:ea typeface="Arial"/>
                <a:cs typeface="Arial"/>
              </a:rPr>
              <a:t>Normalized (per unit) Opex</a:t>
            </a:r>
          </a:p>
        </p:txBody>
      </p:sp>
      <p:sp>
        <p:nvSpPr>
          <p:cNvPr id="106" name="TextBox 41"/>
          <p:cNvSpPr txBox="1"/>
          <p:nvPr/>
        </p:nvSpPr>
        <p:spPr>
          <a:xfrm>
            <a:off x="5209337" y="5188306"/>
            <a:ext cx="3507638" cy="1200607"/>
          </a:xfrm>
          <a:prstGeom prst="rect">
            <a:avLst/>
          </a:prstGeom>
          <a:noFill/>
          <a:ln>
            <a:noFill/>
          </a:ln>
        </p:spPr>
        <p:txBody>
          <a:bodyPr wrap="square" anchor="ctr" lIns="0" tIns="45720" rIns="0" bIns="45720"/>
          <a:lstStyle/>
          <a:p>
            <a:pPr algn="ctr">
              <a:lnSpc>
                <a:spcPct val="100000"/>
              </a:lnSpc>
              <a:buNone/>
            </a:pPr>
            <a:r>
              <a:rPr lang="en-US" sz="900" i="1" dirty="0">
                <a:solidFill>
                  <a:srgbClr val="000000"/>
                </a:solidFill>
                <a:latin typeface="Arial"/>
                <a:ea typeface="Arial"/>
                <a:cs typeface="Arial"/>
              </a:rPr>
              <a:t>To find Normalized Opex:</a:t>
            </a:r>
          </a:p>
          <a:p>
            <a:pPr algn="ctr">
              <a:lnSpc>
                <a:spcPct val="100000"/>
              </a:lnSpc>
              <a:buNone/>
            </a:pPr>
            <a:r>
              <a:rPr lang="en-US" sz="900" i="1" dirty="0">
                <a:solidFill>
                  <a:srgbClr val="000000"/>
                </a:solidFill>
                <a:latin typeface="Arial"/>
                <a:ea typeface="Arial"/>
                <a:cs typeface="Arial"/>
              </a:rPr>
              <a:t>Multiply </a:t>
            </a:r>
            <a:r>
              <a:rPr lang="en-US" sz="900" i="1" dirty="0">
                <a:solidFill>
                  <a:srgbClr val="000000"/>
                </a:solidFill>
                <a:latin typeface="Arial"/>
                <a:ea typeface="Arial"/>
                <a:cs typeface="Arial"/>
              </a:rPr>
              <a:t>annual Opex</a:t>
            </a:r>
            <a:r>
              <a:rPr lang="en-US" sz="900" i="1" dirty="0">
                <a:solidFill>
                  <a:srgbClr val="000000"/>
                </a:solidFill>
                <a:latin typeface="Arial"/>
                <a:ea typeface="Arial"/>
                <a:cs typeface="Arial"/>
              </a:rPr>
              <a:t> by </a:t>
            </a:r>
            <a:r>
              <a:rPr lang="en-US" sz="900" i="1" dirty="0">
                <a:solidFill>
                  <a:srgbClr val="000000"/>
                </a:solidFill>
                <a:latin typeface="Arial"/>
                <a:ea typeface="Arial"/>
                <a:cs typeface="Arial"/>
              </a:rPr>
              <a:t>proportion of relevant days</a:t>
            </a:r>
            <a:r>
              <a:rPr lang="en-US" sz="900" i="1" dirty="0">
                <a:solidFill>
                  <a:srgbClr val="000000"/>
                </a:solidFill>
                <a:latin typeface="Arial"/>
                <a:ea typeface="Arial"/>
                <a:cs typeface="Arial"/>
              </a:rPr>
              <a:t> to find annual Opex per route, then divide by </a:t>
            </a:r>
            <a:r>
              <a:rPr lang="en-US" sz="900" i="1" dirty="0">
                <a:solidFill>
                  <a:srgbClr val="000000"/>
                </a:solidFill>
                <a:latin typeface="Arial"/>
                <a:ea typeface="Arial"/>
                <a:cs typeface="Arial"/>
              </a:rPr>
              <a:t>annual relevant voyages</a:t>
            </a:r>
            <a:r>
              <a:rPr lang="en-US" sz="900" i="1" dirty="0">
                <a:solidFill>
                  <a:srgbClr val="000000"/>
                </a:solidFill>
                <a:latin typeface="Arial"/>
                <a:ea typeface="Arial"/>
                <a:cs typeface="Arial"/>
              </a:rPr>
              <a:t> to find Opex per voyage, then divide by </a:t>
            </a:r>
            <a:r>
              <a:rPr lang="en-US" sz="900" i="1" dirty="0">
                <a:solidFill>
                  <a:srgbClr val="000000"/>
                </a:solidFill>
                <a:latin typeface="Arial"/>
                <a:ea typeface="Arial"/>
                <a:cs typeface="Arial"/>
              </a:rPr>
              <a:t>average cargo units per relevant voyage</a:t>
            </a:r>
            <a:r>
              <a:rPr lang="en-US" sz="900" i="1" dirty="0">
                <a:solidFill>
                  <a:srgbClr val="000000"/>
                </a:solidFill>
                <a:latin typeface="Arial"/>
                <a:ea typeface="Arial"/>
                <a:cs typeface="Arial"/>
              </a:rPr>
              <a:t> (route-specific volume)</a:t>
            </a:r>
            <a:br/>
            <a:br/>
            <a:r>
              <a:rPr lang="en-US" sz="900" i="1" dirty="0">
                <a:solidFill>
                  <a:srgbClr val="000000"/>
                </a:solidFill>
                <a:latin typeface="Arial"/>
                <a:ea typeface="Arial"/>
                <a:cs typeface="Arial"/>
              </a:rPr>
              <a:t>To find proportion of relevant days: Days on route + days idle (loiter, maintenance, in port) attributable to a given route / 365 days</a:t>
            </a:r>
          </a:p>
        </p:txBody>
      </p:sp>
      <p:cxnSp>
        <p:nvCxnSpPr>
          <p:cNvPr id="107" name="Connector: Elbow 42"/>
          <p:cNvCxnSpPr/>
          <p:nvPr/>
        </p:nvCxnSpPr>
        <p:spPr>
          <a:xfrm flipV="1">
            <a:off x="5214823" y="5106924"/>
            <a:ext cx="3499409" cy="70409"/>
          </a:xfrm>
          <a:prstGeom prst="bentConnector3">
            <a:avLst/>
          </a:prstGeom>
          <a:ln w="12700">
            <a:solidFill>
              <a:srgbClr val="000000"/>
            </a:solidFill>
            <a:tailEnd type="triangle" w="med" len="med"/>
          </a:ln>
        </p:spPr>
      </p:cxnSp>
      <p:sp>
        <p:nvSpPr>
          <p:cNvPr id="108" name="TextBox 46"/>
          <p:cNvSpPr txBox="1"/>
          <p:nvPr/>
        </p:nvSpPr>
        <p:spPr>
          <a:xfrm>
            <a:off x="8321040" y="1064362"/>
            <a:ext cx="731520"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Price</a:t>
            </a:r>
            <a:br/>
            <a:r>
              <a:rPr lang="en-US" sz="800" dirty="0">
                <a:solidFill>
                  <a:srgbClr val="000000"/>
                </a:solidFill>
                <a:latin typeface="Arial"/>
                <a:ea typeface="Arial"/>
                <a:cs typeface="Arial"/>
              </a:rPr>
              <a:t>Components</a:t>
            </a:r>
          </a:p>
        </p:txBody>
      </p:sp>
      <p:sp>
        <p:nvSpPr>
          <p:cNvPr id="109" name="LegendSwatch"/>
          <p:cNvSpPr txBox="1"/>
          <p:nvPr/>
        </p:nvSpPr>
        <p:spPr>
          <a:xfrm>
            <a:off x="9069934" y="1064362"/>
            <a:ext cx="182880" cy="182880"/>
          </a:xfrm>
          <a:prstGeom prst="rect">
            <a:avLst/>
          </a:prstGeom>
          <a:solidFill>
            <a:srgbClr val="263746"/>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10" name="LegendSwatch"/>
          <p:cNvSpPr txBox="1"/>
          <p:nvPr/>
        </p:nvSpPr>
        <p:spPr>
          <a:xfrm>
            <a:off x="8119872" y="1064362"/>
            <a:ext cx="182880" cy="182880"/>
          </a:xfrm>
          <a:prstGeom prst="rect">
            <a:avLst/>
          </a:prstGeom>
          <a:solidFill>
            <a:srgbClr val="2E7D32"/>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11" name="LegendSwatch"/>
          <p:cNvSpPr txBox="1"/>
          <p:nvPr/>
        </p:nvSpPr>
        <p:spPr>
          <a:xfrm>
            <a:off x="10111435" y="1064362"/>
            <a:ext cx="182880" cy="182880"/>
          </a:xfrm>
          <a:prstGeom prst="rect">
            <a:avLst/>
          </a:prstGeom>
          <a:solidFill>
            <a:srgbClr val="BFBFBF"/>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12" name="LegendSwatch"/>
          <p:cNvSpPr txBox="1"/>
          <p:nvPr/>
        </p:nvSpPr>
        <p:spPr>
          <a:xfrm>
            <a:off x="11152937" y="1064362"/>
            <a:ext cx="182880" cy="182880"/>
          </a:xfrm>
          <a:prstGeom prst="rect">
            <a:avLst/>
          </a:prstGeom>
          <a:solidFill>
            <a:srgbClr val="7F7F7F"/>
          </a:solidFill>
          <a:ln w="12700">
            <a:solidFill>
              <a:srgbClr val="000000"/>
            </a:solidFill>
          </a:ln>
        </p:spPr>
        <p:txBody>
          <a:bodyPr wrap="square" anchor="ctr" lIns="91440" tIns="45720" rIns="91440" bIns="45720"/>
          <a:lstStyle/>
          <a:p>
            <a:pPr algn="ctr">
              <a:lnSpc>
                <a:spcPct val="100000"/>
              </a:lnSpc>
              <a:buNone/>
            </a:pPr>
            <a:endParaRPr lang="en-US"/>
          </a:p>
        </p:txBody>
      </p:sp>
      <p:sp>
        <p:nvSpPr>
          <p:cNvPr id="113" name="TextBox 48"/>
          <p:cNvSpPr txBox="1"/>
          <p:nvPr/>
        </p:nvSpPr>
        <p:spPr>
          <a:xfrm>
            <a:off x="9271102" y="1064362"/>
            <a:ext cx="822960"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Shoreside </a:t>
            </a:r>
            <a:br/>
            <a:r>
              <a:rPr lang="en-US" sz="800" dirty="0">
                <a:solidFill>
                  <a:srgbClr val="000000"/>
                </a:solidFill>
                <a:latin typeface="Arial"/>
                <a:ea typeface="Arial"/>
                <a:cs typeface="Arial"/>
              </a:rPr>
              <a:t>variable costs</a:t>
            </a:r>
          </a:p>
        </p:txBody>
      </p:sp>
      <p:sp>
        <p:nvSpPr>
          <p:cNvPr id="114" name="TextBox 51"/>
          <p:cNvSpPr txBox="1"/>
          <p:nvPr/>
        </p:nvSpPr>
        <p:spPr>
          <a:xfrm>
            <a:off x="10312603" y="1065276"/>
            <a:ext cx="822960"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Vessel-related </a:t>
            </a:r>
            <a:br/>
            <a:r>
              <a:rPr lang="en-US" sz="800" dirty="0">
                <a:solidFill>
                  <a:srgbClr val="000000"/>
                </a:solidFill>
                <a:latin typeface="Arial"/>
                <a:ea typeface="Arial"/>
                <a:cs typeface="Arial"/>
              </a:rPr>
              <a:t>variable costs</a:t>
            </a:r>
          </a:p>
        </p:txBody>
      </p:sp>
      <p:sp>
        <p:nvSpPr>
          <p:cNvPr id="115" name="TextBox 53"/>
          <p:cNvSpPr txBox="1"/>
          <p:nvPr/>
        </p:nvSpPr>
        <p:spPr>
          <a:xfrm>
            <a:off x="11354105" y="1064362"/>
            <a:ext cx="365760" cy="182880"/>
          </a:xfrm>
          <a:prstGeom prst="rect">
            <a:avLst/>
          </a:prstGeom>
          <a:noFill/>
          <a:ln>
            <a:noFill/>
          </a:ln>
        </p:spPr>
        <p:txBody>
          <a:bodyPr wrap="none" anchor="ctr" lIns="91440" tIns="45720" rIns="91440" bIns="45720"/>
          <a:lstStyle/>
          <a:p>
            <a:pPr>
              <a:lnSpc>
                <a:spcPct val="100000"/>
              </a:lnSpc>
              <a:buNone/>
            </a:pPr>
            <a:r>
              <a:rPr lang="en-US" sz="800" dirty="0">
                <a:solidFill>
                  <a:srgbClr val="000000"/>
                </a:solidFill>
                <a:latin typeface="Arial"/>
                <a:ea typeface="Arial"/>
                <a:cs typeface="Arial"/>
              </a:rPr>
              <a:t>Opex</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Chart"/>
          <p:cNvGraphicFramePr/>
          <p:nvPr/>
        </p:nvGraphicFramePr>
        <p:xfrm>
          <a:off x="401422" y="1885493"/>
          <a:ext cx="5091379" cy="3757270"/>
        </p:xfrm>
        <a:graphic>
          <a:graphicData uri="http://schemas.openxmlformats.org/drawingml/2006/chart">
            <c:chart xmlns:c="http://schemas.openxmlformats.org/drawingml/2006/chart" xmlns:r="http://schemas.openxmlformats.org/officeDocument/2006/relationships" r:id="rId2"/>
          </a:graphicData>
        </a:graphic>
      </p:graphicFrame>
      <p:sp>
        <p:nvSpPr>
          <p:cNvPr id="101" name="Text Placeholder 25"/>
          <p:cNvSpPr txBox="1"/>
          <p:nvPr/>
        </p:nvSpPr>
        <p:spPr>
          <a:xfrm>
            <a:off x="484632" y="1709928"/>
            <a:ext cx="4051706"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Weighted avg. freight charges, normalized on TEU basis ($K, CY25)</a:t>
            </a:r>
          </a:p>
        </p:txBody>
      </p:sp>
      <p:sp>
        <p:nvSpPr>
          <p:cNvPr id="102" name="Label"/>
          <p:cNvSpPr txBox="1"/>
          <p:nvPr/>
        </p:nvSpPr>
        <p:spPr>
          <a:xfrm>
            <a:off x="2841955" y="4550969"/>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2.8</a:t>
            </a:r>
          </a:p>
        </p:txBody>
      </p:sp>
      <p:sp>
        <p:nvSpPr>
          <p:cNvPr id="103" name="Label"/>
          <p:cNvSpPr txBox="1"/>
          <p:nvPr/>
        </p:nvSpPr>
        <p:spPr>
          <a:xfrm>
            <a:off x="2841955" y="3450946"/>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0.5</a:t>
            </a:r>
          </a:p>
        </p:txBody>
      </p:sp>
      <p:sp>
        <p:nvSpPr>
          <p:cNvPr id="104" name="Label"/>
          <p:cNvSpPr txBox="1"/>
          <p:nvPr/>
        </p:nvSpPr>
        <p:spPr>
          <a:xfrm>
            <a:off x="2841955" y="3017520"/>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0.8</a:t>
            </a:r>
          </a:p>
        </p:txBody>
      </p:sp>
      <p:sp>
        <p:nvSpPr>
          <p:cNvPr id="105" name="Label"/>
          <p:cNvSpPr txBox="1"/>
          <p:nvPr/>
        </p:nvSpPr>
        <p:spPr>
          <a:xfrm>
            <a:off x="2841955" y="2585923"/>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0.5</a:t>
            </a:r>
          </a:p>
        </p:txBody>
      </p:sp>
      <p:sp>
        <p:nvSpPr>
          <p:cNvPr id="106" name="Label"/>
          <p:cNvSpPr txBox="1"/>
          <p:nvPr/>
        </p:nvSpPr>
        <p:spPr>
          <a:xfrm>
            <a:off x="2490826" y="2385670"/>
            <a:ext cx="209398" cy="152705"/>
          </a:xfrm>
          <a:prstGeom prst="rect">
            <a:avLst/>
          </a:prstGeom>
          <a:solidFill>
            <a:srgbClr val="C0C0C0"/>
          </a:solidFill>
          <a:ln>
            <a:noFill/>
          </a:ln>
        </p:spPr>
        <p:txBody>
          <a:bodyPr wrap="none" anchor="ctr" lIns="17463" tIns="0" rIns="17463" bIns="0"/>
          <a:lstStyle/>
          <a:p>
            <a:pPr algn="ctr" marL="0" indent="0">
              <a:lnSpc>
                <a:spcPct val="100000"/>
              </a:lnSpc>
              <a:buNone/>
            </a:pPr>
            <a:r>
              <a:rPr lang="en-US" sz="1000" dirty="0">
                <a:latin typeface="Arial"/>
                <a:ea typeface="Arial"/>
                <a:cs typeface="Arial"/>
              </a:rPr>
              <a:t>0.1</a:t>
            </a:r>
          </a:p>
        </p:txBody>
      </p:sp>
      <p:sp>
        <p:nvSpPr>
          <p:cNvPr id="107" name="Label"/>
          <p:cNvSpPr txBox="1"/>
          <p:nvPr/>
        </p:nvSpPr>
        <p:spPr>
          <a:xfrm>
            <a:off x="3193999" y="2286000"/>
            <a:ext cx="209398" cy="152705"/>
          </a:xfrm>
          <a:prstGeom prst="rect">
            <a:avLst/>
          </a:prstGeom>
          <a:noFill/>
          <a:ln>
            <a:noFill/>
          </a:ln>
        </p:spPr>
        <p:txBody>
          <a:bodyPr wrap="none" anchor="ctr" lIns="17463" tIns="0" rIns="17463" bIns="0"/>
          <a:lstStyle/>
          <a:p>
            <a:pPr algn="ctr" marL="0" indent="0">
              <a:lnSpc>
                <a:spcPct val="100000"/>
              </a:lnSpc>
              <a:buNone/>
            </a:pPr>
            <a:r>
              <a:rPr lang="en-US" sz="1000" dirty="0">
                <a:latin typeface="Arial"/>
                <a:ea typeface="Arial"/>
                <a:cs typeface="Arial"/>
              </a:rPr>
              <a:t>0.2</a:t>
            </a:r>
          </a:p>
        </p:txBody>
      </p:sp>
      <p:sp>
        <p:nvSpPr>
          <p:cNvPr id="108" name="Label"/>
          <p:cNvSpPr txBox="1"/>
          <p:nvPr/>
        </p:nvSpPr>
        <p:spPr>
          <a:xfrm>
            <a:off x="2454250" y="2219249"/>
            <a:ext cx="284378" cy="152705"/>
          </a:xfrm>
          <a:prstGeom prst="rect">
            <a:avLst/>
          </a:prstGeom>
          <a:solidFill>
            <a:srgbClr val="FFFFFF"/>
          </a:solidFill>
          <a:ln>
            <a:noFill/>
          </a:ln>
        </p:spPr>
        <p:txBody>
          <a:bodyPr wrap="none" anchor="ctr" lIns="17463" tIns="0" rIns="17463" bIns="0"/>
          <a:lstStyle/>
          <a:p>
            <a:pPr algn="ctr" marL="0" indent="0">
              <a:lnSpc>
                <a:spcPct val="100000"/>
              </a:lnSpc>
              <a:buNone/>
            </a:pPr>
            <a:r>
              <a:rPr lang="en-US" sz="1000" dirty="0">
                <a:latin typeface="Arial"/>
                <a:ea typeface="Arial"/>
                <a:cs typeface="Arial"/>
              </a:rPr>
              <a:t>&lt;0.1</a:t>
            </a:r>
          </a:p>
        </p:txBody>
      </p:sp>
      <p:sp>
        <p:nvSpPr>
          <p:cNvPr id="109" name="Text Placeholder 25"/>
          <p:cNvSpPr txBox="1"/>
          <p:nvPr/>
        </p:nvSpPr>
        <p:spPr>
          <a:xfrm>
            <a:off x="2841955" y="2066544"/>
            <a:ext cx="209398"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4.9</a:t>
            </a:r>
          </a:p>
        </p:txBody>
      </p:sp>
      <p:sp>
        <p:nvSpPr>
          <p:cNvPr id="110" name="Text Placeholder 25"/>
          <p:cNvSpPr txBox="1"/>
          <p:nvPr/>
        </p:nvSpPr>
        <p:spPr>
          <a:xfrm>
            <a:off x="2268626" y="5603443"/>
            <a:ext cx="1356970"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Long Beach to Honolulu</a:t>
            </a:r>
          </a:p>
        </p:txBody>
      </p:sp>
      <p:sp>
        <p:nvSpPr>
          <p:cNvPr id="111" name="Rectangle 304"/>
          <p:cNvSpPr txBox="1"/>
          <p:nvPr/>
        </p:nvSpPr>
        <p:spPr>
          <a:xfrm>
            <a:off x="401422" y="4843577"/>
            <a:ext cx="1796796" cy="555955"/>
          </a:xfrm>
          <a:prstGeom prst="rect">
            <a:avLst/>
          </a:prstGeom>
          <a:solidFill>
            <a:srgbClr val="FFFFFF"/>
          </a:solidFill>
          <a:ln w="12700">
            <a:solidFill>
              <a:srgbClr val="364D6E"/>
            </a:solidFill>
          </a:ln>
        </p:spPr>
        <p:txBody>
          <a:bodyPr wrap="square" anchor="ctr" lIns="91440" tIns="45720" rIns="91440" bIns="45720"/>
          <a:lstStyle/>
          <a:p>
            <a:pPr algn="ctr">
              <a:lnSpc>
                <a:spcPct val="100000"/>
              </a:lnSpc>
              <a:buNone/>
            </a:pPr>
            <a:endParaRPr lang="en-US"/>
          </a:p>
        </p:txBody>
      </p:sp>
      <p:sp>
        <p:nvSpPr>
          <p:cNvPr id="112" name="LegendSwatch"/>
          <p:cNvSpPr txBox="1"/>
          <p:nvPr/>
        </p:nvSpPr>
        <p:spPr>
          <a:xfrm>
            <a:off x="534924" y="3841394"/>
            <a:ext cx="179222" cy="133502"/>
          </a:xfrm>
          <a:prstGeom prst="rect">
            <a:avLst/>
          </a:prstGeom>
          <a:solidFill>
            <a:srgbClr val="FFFFFF"/>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3" name="LegendSwatch"/>
          <p:cNvSpPr txBox="1"/>
          <p:nvPr/>
        </p:nvSpPr>
        <p:spPr>
          <a:xfrm>
            <a:off x="534924" y="4045306"/>
            <a:ext cx="179222" cy="133502"/>
          </a:xfrm>
          <a:prstGeom prst="rect">
            <a:avLst/>
          </a:prstGeom>
          <a:solidFill>
            <a:srgbClr val="C0C0C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4" name="LegendSwatch"/>
          <p:cNvSpPr txBox="1"/>
          <p:nvPr/>
        </p:nvSpPr>
        <p:spPr>
          <a:xfrm>
            <a:off x="534924" y="4248302"/>
            <a:ext cx="179222" cy="133502"/>
          </a:xfrm>
          <a:prstGeom prst="rect">
            <a:avLst/>
          </a:prstGeom>
          <a:solidFill>
            <a:srgbClr val="C0C0C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5" name="LegendSwatch"/>
          <p:cNvSpPr txBox="1"/>
          <p:nvPr/>
        </p:nvSpPr>
        <p:spPr>
          <a:xfrm>
            <a:off x="534924" y="4451299"/>
            <a:ext cx="179222" cy="133502"/>
          </a:xfrm>
          <a:prstGeom prst="rect">
            <a:avLst/>
          </a:prstGeom>
          <a:solidFill>
            <a:srgbClr val="80808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6" name="LegendSwatch"/>
          <p:cNvSpPr txBox="1"/>
          <p:nvPr/>
        </p:nvSpPr>
        <p:spPr>
          <a:xfrm>
            <a:off x="534924" y="4654296"/>
            <a:ext cx="179222" cy="133502"/>
          </a:xfrm>
          <a:prstGeom prst="rect">
            <a:avLst/>
          </a:prstGeom>
          <a:solidFill>
            <a:srgbClr val="808080"/>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7" name="LegendSwatch"/>
          <p:cNvSpPr txBox="1"/>
          <p:nvPr/>
        </p:nvSpPr>
        <p:spPr>
          <a:xfrm>
            <a:off x="534924" y="4857293"/>
            <a:ext cx="179222" cy="133502"/>
          </a:xfrm>
          <a:prstGeom prst="rect">
            <a:avLst/>
          </a:prstGeom>
          <a:solidFill>
            <a:srgbClr val="4C6C9C"/>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8" name="LegendSwatch"/>
          <p:cNvSpPr txBox="1"/>
          <p:nvPr/>
        </p:nvSpPr>
        <p:spPr>
          <a:xfrm>
            <a:off x="534924" y="5061204"/>
            <a:ext cx="179222" cy="133502"/>
          </a:xfrm>
          <a:prstGeom prst="rect">
            <a:avLst/>
          </a:prstGeom>
          <a:solidFill>
            <a:srgbClr val="364D6E"/>
          </a:solidFill>
          <a:ln w="3175">
            <a:solidFill>
              <a:srgbClr val="162029"/>
            </a:solidFill>
          </a:ln>
        </p:spPr>
        <p:txBody>
          <a:bodyPr wrap="square" anchor="ctr" lIns="91440" tIns="45720" rIns="91440" bIns="45720"/>
          <a:lstStyle/>
          <a:p>
            <a:pPr algn="ctr">
              <a:lnSpc>
                <a:spcPct val="100000"/>
              </a:lnSpc>
              <a:buNone/>
            </a:pPr>
            <a:endParaRPr lang="en-US"/>
          </a:p>
        </p:txBody>
      </p:sp>
      <p:sp>
        <p:nvSpPr>
          <p:cNvPr id="119" name="Label"/>
          <p:cNvSpPr txBox="1"/>
          <p:nvPr/>
        </p:nvSpPr>
        <p:spPr>
          <a:xfrm>
            <a:off x="765353" y="3836822"/>
            <a:ext cx="588874"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Other fees</a:t>
            </a:r>
          </a:p>
        </p:txBody>
      </p:sp>
      <p:sp>
        <p:nvSpPr>
          <p:cNvPr id="120" name="Label"/>
          <p:cNvSpPr txBox="1"/>
          <p:nvPr/>
        </p:nvSpPr>
        <p:spPr>
          <a:xfrm>
            <a:off x="765353" y="4039819"/>
            <a:ext cx="115854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Wharfage - Honolulu</a:t>
            </a:r>
          </a:p>
        </p:txBody>
      </p:sp>
      <p:sp>
        <p:nvSpPr>
          <p:cNvPr id="121" name="Label"/>
          <p:cNvSpPr txBox="1"/>
          <p:nvPr/>
        </p:nvSpPr>
        <p:spPr>
          <a:xfrm>
            <a:off x="765353" y="4243730"/>
            <a:ext cx="1332281"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Wharfage - Long Beach</a:t>
            </a:r>
          </a:p>
        </p:txBody>
      </p:sp>
      <p:sp>
        <p:nvSpPr>
          <p:cNvPr id="122" name="Label"/>
          <p:cNvSpPr txBox="1"/>
          <p:nvPr/>
        </p:nvSpPr>
        <p:spPr>
          <a:xfrm>
            <a:off x="765353" y="4446727"/>
            <a:ext cx="1104595"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 Honolulu</a:t>
            </a:r>
          </a:p>
        </p:txBody>
      </p:sp>
      <p:sp>
        <p:nvSpPr>
          <p:cNvPr id="123" name="Label"/>
          <p:cNvSpPr txBox="1"/>
          <p:nvPr/>
        </p:nvSpPr>
        <p:spPr>
          <a:xfrm>
            <a:off x="765353" y="4649724"/>
            <a:ext cx="1278331"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Terminal - Long Beach</a:t>
            </a:r>
          </a:p>
        </p:txBody>
      </p:sp>
      <p:sp>
        <p:nvSpPr>
          <p:cNvPr id="124" name="Label"/>
          <p:cNvSpPr txBox="1"/>
          <p:nvPr/>
        </p:nvSpPr>
        <p:spPr>
          <a:xfrm>
            <a:off x="765353" y="5056632"/>
            <a:ext cx="101772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Basic Ocean Rate</a:t>
            </a:r>
          </a:p>
        </p:txBody>
      </p:sp>
      <p:sp>
        <p:nvSpPr>
          <p:cNvPr id="125" name="Text Placeholder 25"/>
          <p:cNvSpPr txBox="1"/>
          <p:nvPr/>
        </p:nvSpPr>
        <p:spPr>
          <a:xfrm>
            <a:off x="765353" y="4852721"/>
            <a:ext cx="911657"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Fuel Surcharge</a:t>
            </a:r>
            <a:r>
              <a:rPr lang="en-US" sz="1000" dirty="0">
                <a:solidFill>
                  <a:srgbClr val="000000"/>
                </a:solidFill>
                <a:latin typeface="Arial"/>
                <a:ea typeface="Arial"/>
                <a:cs typeface="Arial"/>
              </a:rPr>
              <a:t>1</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Carrier Entry Point Attractiveness</a:t>
            </a:r>
            <a:r>
              <a:rPr lang="en-US" sz="1000" kern="1200" dirty="0">
                <a:solidFill>
                  <a:srgbClr val="44505C"/>
                </a:solidFill>
                <a:latin typeface="Arial"/>
                <a:ea typeface="Arial"/>
                <a:cs typeface="Arial"/>
              </a:rPr>
              <a:t> / Matson Test Case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Freight Charges | ~70% of westbound freight charges are directly related to vessel operations; other charges pertain to shoreside activities.</a:t>
            </a:r>
          </a:p>
        </p:txBody>
      </p:sp>
      <p:graphicFrame>
        <p:nvGraphicFramePr>
          <p:cNvPr id="126" name="Table 238"/>
          <p:cNvGraphicFramePr>
            <a:graphicFrameLocks noGrp="1"/>
          </p:cNvGraphicFramePr>
          <p:nvPr/>
        </p:nvGraphicFramePr>
        <p:xfrm>
          <a:off x="5634533" y="1604772"/>
          <a:ext cx="6066130" cy="3886200"/>
        </p:xfrm>
        <a:graphic>
          <a:graphicData uri="http://schemas.openxmlformats.org/drawingml/2006/table">
            <a:tbl>
              <a:tblPr firstRow="1" firstCol="1" bandRow="0">
                <a:tableStyleId>{2D5ABB26-0587-4C30-8999-92F81FD0307C}</a:tableStyleId>
              </a:tblPr>
              <a:tblGrid>
                <a:gridCol w="1524305"/>
                <a:gridCol w="1114654"/>
                <a:gridCol w="2633472"/>
                <a:gridCol w="793699"/>
              </a:tblGrid>
              <a:tr h="294437">
                <a:tc>
                  <a:txBody>
                    <a:bodyPr anchor="ctr"/>
                    <a:lstStyle/>
                    <a:p>
                      <a:pPr algn="ctr">
                        <a:lnSpc>
                          <a:spcPct val="100000"/>
                        </a:lnSpc>
                      </a:pPr>
                      <a:r>
                        <a:rPr lang="en-US" sz="1000" b="1" dirty="0">
                          <a:solidFill>
                            <a:srgbClr val="000000"/>
                          </a:solidFill>
                          <a:latin typeface="Arial"/>
                          <a:ea typeface="Arial"/>
                          <a:cs typeface="Arial"/>
                        </a:rPr>
                        <a:t>Freight Charges</a:t>
                      </a:r>
                    </a:p>
                  </a:txBody>
                  <a:tcPr marL="45720" marR="45720" marT="45720" marB="45720" anchor="ctr">
                    <a:lnL>
                      <a:noFill/>
                    </a:lnL>
                    <a:lnR>
                      <a:noFill/>
                    </a:lnR>
                    <a:lnT>
                      <a:noFill/>
                    </a:lnT>
                    <a:lnB w="12700" cap="flat" cmpd="sng" algn="ctr">
                      <a:solidFill>
                        <a:srgbClr val="162029"/>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ASV Addressability</a:t>
                      </a:r>
                    </a:p>
                  </a:txBody>
                  <a:tcPr marL="45720" marR="45720" marT="45720" marB="45720" anchor="ctr">
                    <a:lnL>
                      <a:noFill/>
                    </a:lnL>
                    <a:lnR>
                      <a:noFill/>
                    </a:lnR>
                    <a:lnT>
                      <a:noFill/>
                    </a:lnT>
                    <a:lnB w="12700" cap="flat" cmpd="sng" algn="ctr">
                      <a:solidFill>
                        <a:srgbClr val="162029"/>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Description</a:t>
                      </a:r>
                    </a:p>
                  </a:txBody>
                  <a:tcPr marL="45720" marR="45720" marT="45720" marB="45720" anchor="ctr">
                    <a:lnL>
                      <a:noFill/>
                    </a:lnL>
                    <a:lnR>
                      <a:noFill/>
                    </a:lnR>
                    <a:lnT>
                      <a:noFill/>
                    </a:lnT>
                    <a:lnB w="12700" cap="flat" cmpd="sng" algn="ctr">
                      <a:solidFill>
                        <a:srgbClr val="162029"/>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 of total</a:t>
                      </a:r>
                    </a:p>
                  </a:txBody>
                  <a:tcPr marL="45720" marR="45720" marT="45720" marB="45720" anchor="ctr">
                    <a:lnL>
                      <a:noFill/>
                    </a:lnL>
                    <a:lnR>
                      <a:noFill/>
                    </a:lnR>
                    <a:lnT>
                      <a:noFill/>
                    </a:lnT>
                    <a:lnB w="12700" cap="flat" cmpd="sng" algn="ctr">
                      <a:solidFill>
                        <a:srgbClr val="162029"/>
                      </a:solidFill>
                      <a:prstDash val="solid"/>
                    </a:lnB>
                    <a:noFill/>
                  </a:tcPr>
                </a:tc>
              </a:tr>
              <a:tr h="581558">
                <a:tc>
                  <a:txBody>
                    <a:bodyPr anchor="ctr"/>
                    <a:lstStyle/>
                    <a:p>
                      <a:pPr algn="l">
                        <a:lnSpc>
                          <a:spcPct val="100000"/>
                        </a:lnSpc>
                      </a:pPr>
                      <a:r>
                        <a:rPr lang="en-US" sz="1000" b="1" dirty="0">
                          <a:solidFill>
                            <a:srgbClr val="000000"/>
                          </a:solidFill>
                          <a:latin typeface="Arial"/>
                          <a:ea typeface="Arial"/>
                          <a:cs typeface="Arial"/>
                        </a:rPr>
                        <a:t>Other Fees</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a:txBody>
                    <a:bodyPr anchor="ctr"/>
                    <a:lstStyle/>
                    <a:p>
                      <a:pPr algn="ctr">
                        <a:lnSpc>
                          <a:spcPct val="100000"/>
                        </a:lnSpc>
                      </a:pPr>
                      <a:endParaRPr lang="en-US" sz="1000"/>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a:txBody>
                    <a:bodyPr anchor="ctr"/>
                    <a:lstStyle/>
                    <a:p>
                      <a:pPr algn="l">
                        <a:lnSpc>
                          <a:spcPct val="100000"/>
                        </a:lnSpc>
                      </a:pPr>
                      <a:r>
                        <a:rPr lang="en-US" sz="1000" dirty="0">
                          <a:solidFill>
                            <a:srgbClr val="000000"/>
                          </a:solidFill>
                          <a:latin typeface="Arial"/>
                          <a:ea typeface="Arial"/>
                          <a:cs typeface="Arial"/>
                        </a:rPr>
                        <a:t>Port security fees and Hawaii State Invasive Species tax; passed-through to customers</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&lt;1%</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r>
              <a:tr h="581558">
                <a:tc>
                  <a:txBody>
                    <a:bodyPr anchor="ctr"/>
                    <a:lstStyle/>
                    <a:p>
                      <a:pPr algn="l">
                        <a:lnSpc>
                          <a:spcPct val="100000"/>
                        </a:lnSpc>
                      </a:pPr>
                      <a:r>
                        <a:rPr lang="en-US" sz="1000" b="1" dirty="0">
                          <a:solidFill>
                            <a:srgbClr val="000000"/>
                          </a:solidFill>
                          <a:latin typeface="Arial"/>
                          <a:ea typeface="Arial"/>
                          <a:cs typeface="Arial"/>
                        </a:rPr>
                        <a:t>Wharfage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C0C0C0"/>
                    </a:solidFill>
                  </a:tcPr>
                </a:tc>
                <a:tc>
                  <a:txBody>
                    <a:bodyPr anchor="ctr"/>
                    <a:lstStyle/>
                    <a:p>
                      <a:pPr algn="ctr">
                        <a:lnSpc>
                          <a:spcPct val="100000"/>
                        </a:lnSpc>
                      </a:pPr>
                      <a:endParaRPr lang="en-US" sz="1000"/>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000" dirty="0">
                          <a:solidFill>
                            <a:srgbClr val="162029"/>
                          </a:solidFill>
                          <a:latin typeface="Arial"/>
                          <a:ea typeface="Arial"/>
                          <a:cs typeface="Arial"/>
                        </a:rPr>
                        <a:t>Pier usage fee charged by Ports of Long Beach and Honolulu; passed-through to customers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~6%</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81558">
                <a:tc>
                  <a:txBody>
                    <a:bodyPr anchor="ctr"/>
                    <a:lstStyle/>
                    <a:p>
                      <a:pPr algn="l">
                        <a:lnSpc>
                          <a:spcPct val="100000"/>
                        </a:lnSpc>
                      </a:pPr>
                      <a:r>
                        <a:rPr lang="en-US" sz="1000" b="1" dirty="0">
                          <a:solidFill>
                            <a:srgbClr val="FFFFFF"/>
                          </a:solidFill>
                          <a:latin typeface="Arial"/>
                          <a:ea typeface="Arial"/>
                          <a:cs typeface="Arial"/>
                        </a:rPr>
                        <a:t>Terminal Charges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808080"/>
                    </a:solidFill>
                  </a:tcPr>
                </a:tc>
                <a:tc>
                  <a:txBody>
                    <a:bodyPr anchor="ctr"/>
                    <a:lstStyle/>
                    <a:p>
                      <a:pPr algn="ctr">
                        <a:lnSpc>
                          <a:spcPct val="100000"/>
                        </a:lnSpc>
                      </a:pPr>
                      <a:endParaRPr lang="en-US" sz="1000"/>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000" dirty="0">
                          <a:solidFill>
                            <a:srgbClr val="000000"/>
                          </a:solidFill>
                          <a:latin typeface="Arial"/>
                          <a:ea typeface="Arial"/>
                          <a:cs typeface="Arial"/>
                        </a:rPr>
                        <a:t>Handling and stevedoring fees for loading in Long Beach and unloading in Honolulu; likely passed-through but collected by carriers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~26%</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81558">
                <a:tc>
                  <a:txBody>
                    <a:bodyPr anchor="ctr"/>
                    <a:lstStyle/>
                    <a:p>
                      <a:pPr algn="l">
                        <a:lnSpc>
                          <a:spcPct val="100000"/>
                        </a:lnSpc>
                      </a:pPr>
                      <a:r>
                        <a:rPr lang="en-US" sz="1000" b="1" dirty="0">
                          <a:solidFill>
                            <a:srgbClr val="FFFFFF"/>
                          </a:solidFill>
                          <a:latin typeface="Arial"/>
                          <a:ea typeface="Arial"/>
                          <a:cs typeface="Arial"/>
                        </a:rPr>
                        <a:t>Fuel Surcharge </a:t>
                      </a:r>
                      <a:br/>
                      <a:r>
                        <a:rPr lang="en-US" sz="1000" i="1" dirty="0">
                          <a:solidFill>
                            <a:srgbClr val="FFFFFF"/>
                          </a:solidFill>
                          <a:latin typeface="Arial"/>
                          <a:ea typeface="Arial"/>
                          <a:cs typeface="Arial"/>
                        </a:rPr>
                        <a:t>(or Adjustment Factor)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4C6C9C"/>
                    </a:solidFill>
                  </a:tcPr>
                </a:tc>
                <a:tc>
                  <a:txBody>
                    <a:bodyPr anchor="ctr"/>
                    <a:lstStyle/>
                    <a:p>
                      <a:pPr algn="ctr">
                        <a:lnSpc>
                          <a:spcPct val="100000"/>
                        </a:lnSpc>
                      </a:pPr>
                      <a:endParaRPr lang="en-US" sz="1000"/>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a:lnSpc>
                          <a:spcPct val="100000"/>
                        </a:lnSpc>
                      </a:pPr>
                      <a:r>
                        <a:rPr lang="en-US" sz="1000" dirty="0">
                          <a:solidFill>
                            <a:srgbClr val="000000"/>
                          </a:solidFill>
                          <a:latin typeface="Arial"/>
                          <a:ea typeface="Arial"/>
                          <a:cs typeface="Arial"/>
                        </a:rPr>
                        <a:t>Floating fee to protect carrier from fuel price volatility</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ctr">
                        <a:lnSpc>
                          <a:spcPct val="100000"/>
                        </a:lnSpc>
                      </a:pPr>
                      <a:r>
                        <a:rPr lang="en-US" sz="1000" b="1" dirty="0">
                          <a:solidFill>
                            <a:srgbClr val="000000"/>
                          </a:solidFill>
                          <a:latin typeface="Arial"/>
                          <a:ea typeface="Arial"/>
                          <a:cs typeface="Arial"/>
                        </a:rPr>
                        <a:t>~10%</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581558">
                <a:tc>
                  <a:txBody>
                    <a:bodyPr anchor="ctr"/>
                    <a:lstStyle/>
                    <a:p>
                      <a:pPr algn="l">
                        <a:lnSpc>
                          <a:spcPct val="100000"/>
                        </a:lnSpc>
                      </a:pPr>
                      <a:r>
                        <a:rPr lang="en-US" sz="1000" b="1" dirty="0">
                          <a:solidFill>
                            <a:srgbClr val="FFFFFF"/>
                          </a:solidFill>
                          <a:latin typeface="Arial"/>
                          <a:ea typeface="Arial"/>
                          <a:cs typeface="Arial"/>
                        </a:rPr>
                        <a:t>Basic Ocean Rate</a:t>
                      </a:r>
                    </a:p>
                  </a:txBody>
                  <a:tcPr marL="45720" marR="45720" marT="45720" marB="45720" anchor="ctr">
                    <a:lnL>
                      <a:noFill/>
                    </a:lnL>
                    <a:lnR>
                      <a:noFill/>
                    </a:lnR>
                    <a:lnT w="6350" cap="flat" cmpd="sng" algn="ctr">
                      <a:solidFill>
                        <a:srgbClr val="808080"/>
                      </a:solidFill>
                      <a:prstDash val="solid"/>
                    </a:lnT>
                    <a:lnB>
                      <a:noFill/>
                    </a:lnB>
                    <a:solidFill>
                      <a:srgbClr val="364D6E"/>
                    </a:solidFill>
                  </a:tcPr>
                </a:tc>
                <a:tc>
                  <a:txBody>
                    <a:bodyPr anchor="ctr"/>
                    <a:lstStyle/>
                    <a:p>
                      <a:pPr algn="ctr">
                        <a:lnSpc>
                          <a:spcPct val="100000"/>
                        </a:lnSpc>
                      </a:pPr>
                      <a:endParaRPr lang="en-US" sz="1000"/>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l">
                        <a:lnSpc>
                          <a:spcPct val="100000"/>
                        </a:lnSpc>
                      </a:pPr>
                      <a:r>
                        <a:rPr lang="en-US" sz="1000" dirty="0">
                          <a:solidFill>
                            <a:srgbClr val="000000"/>
                          </a:solidFill>
                          <a:latin typeface="Arial"/>
                          <a:ea typeface="Arial"/>
                          <a:cs typeface="Arial"/>
                        </a:rPr>
                        <a:t>Core charge for ocean transport; spot rate shown (discounts likely given to high-volume shippers)</a:t>
                      </a:r>
                    </a:p>
                  </a:txBody>
                  <a:tcPr marL="45720" marR="45720" marT="45720" marB="45720" anchor="ctr">
                    <a:lnL>
                      <a:noFill/>
                    </a:lnL>
                    <a:lnR>
                      <a:noFill/>
                    </a:lnR>
                    <a:lnT w="6350" cap="flat" cmpd="sng" algn="ctr">
                      <a:solidFill>
                        <a:srgbClr val="808080"/>
                      </a:solidFill>
                      <a:prstDash val="solid"/>
                    </a:lnT>
                    <a:lnB>
                      <a:noFill/>
                    </a:lnB>
                    <a:noFill/>
                  </a:tcPr>
                </a:tc>
                <a:tc>
                  <a:txBody>
                    <a:bodyPr anchor="ctr"/>
                    <a:lstStyle/>
                    <a:p>
                      <a:pPr algn="ctr">
                        <a:lnSpc>
                          <a:spcPct val="100000"/>
                        </a:lnSpc>
                      </a:pPr>
                      <a:r>
                        <a:rPr lang="en-US" sz="1000" b="1" dirty="0">
                          <a:solidFill>
                            <a:srgbClr val="000000"/>
                          </a:solidFill>
                          <a:latin typeface="Arial"/>
                          <a:ea typeface="Arial"/>
                          <a:cs typeface="Arial"/>
                        </a:rPr>
                        <a:t>~58%</a:t>
                      </a:r>
                    </a:p>
                  </a:txBody>
                  <a:tcPr marL="45720" marR="45720" marT="45720" marB="45720" anchor="ctr">
                    <a:lnL>
                      <a:noFill/>
                    </a:lnL>
                    <a:lnR>
                      <a:noFill/>
                    </a:lnR>
                    <a:lnT w="6350" cap="flat" cmpd="sng" algn="ctr">
                      <a:solidFill>
                        <a:srgbClr val="808080"/>
                      </a:solidFill>
                      <a:prstDash val="solid"/>
                    </a:lnT>
                    <a:lnB>
                      <a:noFill/>
                    </a:lnB>
                    <a:noFill/>
                  </a:tcPr>
                </a:tc>
              </a:tr>
              <a:tr h="581558">
                <a:tc gridSpan="4">
                  <a:txBody>
                    <a:bodyPr anchor="ctr"/>
                    <a:lstStyle/>
                    <a:p>
                      <a:pPr algn="ctr">
                        <a:lnSpc>
                          <a:spcPct val="100000"/>
                        </a:lnSpc>
                      </a:pPr>
                      <a:r>
                        <a:rPr lang="en-US" sz="1000" b="1" i="1" dirty="0">
                          <a:solidFill>
                            <a:srgbClr val="000000"/>
                          </a:solidFill>
                          <a:latin typeface="Arial"/>
                          <a:ea typeface="Arial"/>
                          <a:cs typeface="Arial"/>
                        </a:rPr>
                        <a:t>Pasha’s rates calculator breaks out each charge, allowing for isolation of Basic Ocean Rate and Fuel Adjustment Factor</a:t>
                      </a:r>
                    </a:p>
                  </a:txBody>
                  <a:tcPr marL="45720" marR="45720" marT="45720" marB="45720"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
        <p:nvSpPr>
          <p:cNvPr id="127" name="Haken, check"/>
          <p:cNvSpPr/>
          <p:nvPr/>
        </p:nvSpPr>
        <p:spPr>
          <a:xfrm>
            <a:off x="7591349" y="3899002"/>
            <a:ext cx="274320" cy="274320"/>
          </a:xfrm>
          <a:custGeom>
            <a:avLst/>
            <a:gdLst>
              <a:gd name="T0" fmla="*/ 4549 w 4878"/>
              <a:gd name="T1" fmla="*/ 3658 h 4877"/>
              <a:gd name="T2" fmla="*/ 3659 w 4878"/>
              <a:gd name="T3" fmla="*/ 4548 h 4877"/>
              <a:gd name="T4" fmla="*/ 2439 w 4878"/>
              <a:gd name="T5" fmla="*/ 4877 h 4877"/>
              <a:gd name="T6" fmla="*/ 1220 w 4878"/>
              <a:gd name="T7" fmla="*/ 4548 h 4877"/>
              <a:gd name="T8" fmla="*/ 330 w 4878"/>
              <a:gd name="T9" fmla="*/ 3658 h 4877"/>
              <a:gd name="T10" fmla="*/ 0 w 4878"/>
              <a:gd name="T11" fmla="*/ 2439 h 4877"/>
              <a:gd name="T12" fmla="*/ 330 w 4878"/>
              <a:gd name="T13" fmla="*/ 1219 h 4877"/>
              <a:gd name="T14" fmla="*/ 1220 w 4878"/>
              <a:gd name="T15" fmla="*/ 329 h 4877"/>
              <a:gd name="T16" fmla="*/ 2439 w 4878"/>
              <a:gd name="T17" fmla="*/ 0 h 4877"/>
              <a:gd name="T18" fmla="*/ 3659 w 4878"/>
              <a:gd name="T19" fmla="*/ 329 h 4877"/>
              <a:gd name="T20" fmla="*/ 4549 w 4878"/>
              <a:gd name="T21" fmla="*/ 1219 h 4877"/>
              <a:gd name="T22" fmla="*/ 4878 w 4878"/>
              <a:gd name="T23" fmla="*/ 2439 h 4877"/>
              <a:gd name="T24" fmla="*/ 4549 w 4878"/>
              <a:gd name="T25" fmla="*/ 3658 h 4877"/>
              <a:gd name="T26" fmla="*/ 3963 w 4878"/>
              <a:gd name="T27" fmla="*/ 1917 h 4877"/>
              <a:gd name="T28" fmla="*/ 4013 w 4878"/>
              <a:gd name="T29" fmla="*/ 1809 h 4877"/>
              <a:gd name="T30" fmla="*/ 3963 w 4878"/>
              <a:gd name="T31" fmla="*/ 1701 h 4877"/>
              <a:gd name="T32" fmla="*/ 3747 w 4878"/>
              <a:gd name="T33" fmla="*/ 1475 h 4877"/>
              <a:gd name="T34" fmla="*/ 3634 w 4878"/>
              <a:gd name="T35" fmla="*/ 1426 h 4877"/>
              <a:gd name="T36" fmla="*/ 3521 w 4878"/>
              <a:gd name="T37" fmla="*/ 1475 h 4877"/>
              <a:gd name="T38" fmla="*/ 2046 w 4878"/>
              <a:gd name="T39" fmla="*/ 2950 h 4877"/>
              <a:gd name="T40" fmla="*/ 1358 w 4878"/>
              <a:gd name="T41" fmla="*/ 2262 h 4877"/>
              <a:gd name="T42" fmla="*/ 1244 w 4878"/>
              <a:gd name="T43" fmla="*/ 2212 h 4877"/>
              <a:gd name="T44" fmla="*/ 1131 w 4878"/>
              <a:gd name="T45" fmla="*/ 2262 h 4877"/>
              <a:gd name="T46" fmla="*/ 915 w 4878"/>
              <a:gd name="T47" fmla="*/ 2488 h 4877"/>
              <a:gd name="T48" fmla="*/ 866 w 4878"/>
              <a:gd name="T49" fmla="*/ 2596 h 4877"/>
              <a:gd name="T50" fmla="*/ 915 w 4878"/>
              <a:gd name="T51" fmla="*/ 2704 h 4877"/>
              <a:gd name="T52" fmla="*/ 1938 w 4878"/>
              <a:gd name="T53" fmla="*/ 3727 h 4877"/>
              <a:gd name="T54" fmla="*/ 2046 w 4878"/>
              <a:gd name="T55" fmla="*/ 3776 h 4877"/>
              <a:gd name="T56" fmla="*/ 2154 w 4878"/>
              <a:gd name="T57" fmla="*/ 3727 h 4877"/>
              <a:gd name="T58" fmla="*/ 3963 w 4878"/>
              <a:gd name="T59" fmla="*/ 1917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78" h="4877">
                <a:moveTo>
                  <a:pt x="4549" y="3658"/>
                </a:moveTo>
                <a:cubicBezTo>
                  <a:pt x="4329" y="4032"/>
                  <a:pt x="4032" y="4328"/>
                  <a:pt x="3659" y="4548"/>
                </a:cubicBezTo>
                <a:cubicBezTo>
                  <a:pt x="3285" y="4768"/>
                  <a:pt x="2879" y="4877"/>
                  <a:pt x="2439" y="4877"/>
                </a:cubicBezTo>
                <a:cubicBezTo>
                  <a:pt x="2000" y="4877"/>
                  <a:pt x="1594" y="4768"/>
                  <a:pt x="1220" y="4548"/>
                </a:cubicBezTo>
                <a:cubicBezTo>
                  <a:pt x="846" y="4328"/>
                  <a:pt x="550" y="4032"/>
                  <a:pt x="330" y="3658"/>
                </a:cubicBezTo>
                <a:cubicBezTo>
                  <a:pt x="110" y="3284"/>
                  <a:pt x="0" y="2878"/>
                  <a:pt x="0" y="2439"/>
                </a:cubicBezTo>
                <a:cubicBezTo>
                  <a:pt x="0" y="1999"/>
                  <a:pt x="110" y="1593"/>
                  <a:pt x="330" y="1219"/>
                </a:cubicBezTo>
                <a:cubicBezTo>
                  <a:pt x="550" y="846"/>
                  <a:pt x="846" y="549"/>
                  <a:pt x="1220" y="329"/>
                </a:cubicBezTo>
                <a:cubicBezTo>
                  <a:pt x="1594" y="110"/>
                  <a:pt x="2000" y="0"/>
                  <a:pt x="2439" y="0"/>
                </a:cubicBezTo>
                <a:cubicBezTo>
                  <a:pt x="2879" y="0"/>
                  <a:pt x="3285" y="110"/>
                  <a:pt x="3659" y="329"/>
                </a:cubicBezTo>
                <a:cubicBezTo>
                  <a:pt x="4032" y="549"/>
                  <a:pt x="4329" y="846"/>
                  <a:pt x="4549" y="1219"/>
                </a:cubicBezTo>
                <a:cubicBezTo>
                  <a:pt x="4768" y="1593"/>
                  <a:pt x="4878" y="1999"/>
                  <a:pt x="4878" y="2439"/>
                </a:cubicBezTo>
                <a:cubicBezTo>
                  <a:pt x="4878" y="2878"/>
                  <a:pt x="4768" y="3284"/>
                  <a:pt x="4549" y="3658"/>
                </a:cubicBezTo>
                <a:close/>
                <a:moveTo>
                  <a:pt x="3963" y="1917"/>
                </a:moveTo>
                <a:cubicBezTo>
                  <a:pt x="3996" y="1891"/>
                  <a:pt x="4013" y="1855"/>
                  <a:pt x="4013" y="1809"/>
                </a:cubicBezTo>
                <a:cubicBezTo>
                  <a:pt x="4013" y="1763"/>
                  <a:pt x="3996" y="1727"/>
                  <a:pt x="3963" y="1701"/>
                </a:cubicBezTo>
                <a:cubicBezTo>
                  <a:pt x="3747" y="1475"/>
                  <a:pt x="3747" y="1475"/>
                  <a:pt x="3747" y="1475"/>
                </a:cubicBezTo>
                <a:cubicBezTo>
                  <a:pt x="3714" y="1442"/>
                  <a:pt x="3677" y="1426"/>
                  <a:pt x="3634" y="1426"/>
                </a:cubicBezTo>
                <a:cubicBezTo>
                  <a:pt x="3591" y="1426"/>
                  <a:pt x="3554" y="1442"/>
                  <a:pt x="3521" y="1475"/>
                </a:cubicBezTo>
                <a:cubicBezTo>
                  <a:pt x="2046" y="2950"/>
                  <a:pt x="2046" y="2950"/>
                  <a:pt x="2046" y="2950"/>
                </a:cubicBezTo>
                <a:cubicBezTo>
                  <a:pt x="1358" y="2262"/>
                  <a:pt x="1358" y="2262"/>
                  <a:pt x="1358" y="2262"/>
                </a:cubicBezTo>
                <a:cubicBezTo>
                  <a:pt x="1325" y="2229"/>
                  <a:pt x="1287" y="2212"/>
                  <a:pt x="1244" y="2212"/>
                </a:cubicBezTo>
                <a:cubicBezTo>
                  <a:pt x="1202" y="2212"/>
                  <a:pt x="1164" y="2229"/>
                  <a:pt x="1131" y="2262"/>
                </a:cubicBezTo>
                <a:cubicBezTo>
                  <a:pt x="915" y="2488"/>
                  <a:pt x="915" y="2488"/>
                  <a:pt x="915" y="2488"/>
                </a:cubicBezTo>
                <a:cubicBezTo>
                  <a:pt x="882" y="2514"/>
                  <a:pt x="866" y="2550"/>
                  <a:pt x="866" y="2596"/>
                </a:cubicBezTo>
                <a:cubicBezTo>
                  <a:pt x="866" y="2642"/>
                  <a:pt x="882" y="2678"/>
                  <a:pt x="915" y="2704"/>
                </a:cubicBezTo>
                <a:cubicBezTo>
                  <a:pt x="1938" y="3727"/>
                  <a:pt x="1938" y="3727"/>
                  <a:pt x="1938" y="3727"/>
                </a:cubicBezTo>
                <a:cubicBezTo>
                  <a:pt x="1964" y="3760"/>
                  <a:pt x="2000" y="3776"/>
                  <a:pt x="2046" y="3776"/>
                </a:cubicBezTo>
                <a:cubicBezTo>
                  <a:pt x="2092" y="3776"/>
                  <a:pt x="2128" y="3760"/>
                  <a:pt x="2154" y="3727"/>
                </a:cubicBezTo>
                <a:lnTo>
                  <a:pt x="3963" y="1917"/>
                </a:lnTo>
                <a:close/>
              </a:path>
            </a:pathLst>
          </a:custGeom>
          <a:solidFill>
            <a:srgbClr val="2E7D32"/>
          </a:solidFill>
          <a:ln>
            <a:noFill/>
          </a:ln>
        </p:spPr>
        <p:txBody>
          <a:bodyPr rtlCol="0"/>
          <a:lstStyle/>
          <a:p>
            <a:endParaRPr lang="en-US"/>
          </a:p>
        </p:txBody>
      </p:sp>
      <p:sp>
        <p:nvSpPr>
          <p:cNvPr id="128" name="Haken, check"/>
          <p:cNvSpPr/>
          <p:nvPr/>
        </p:nvSpPr>
        <p:spPr>
          <a:xfrm>
            <a:off x="7591349" y="4490618"/>
            <a:ext cx="274320" cy="274320"/>
          </a:xfrm>
          <a:custGeom>
            <a:avLst/>
            <a:gdLst>
              <a:gd name="T0" fmla="*/ 4549 w 4878"/>
              <a:gd name="T1" fmla="*/ 3658 h 4877"/>
              <a:gd name="T2" fmla="*/ 3659 w 4878"/>
              <a:gd name="T3" fmla="*/ 4548 h 4877"/>
              <a:gd name="T4" fmla="*/ 2439 w 4878"/>
              <a:gd name="T5" fmla="*/ 4877 h 4877"/>
              <a:gd name="T6" fmla="*/ 1220 w 4878"/>
              <a:gd name="T7" fmla="*/ 4548 h 4877"/>
              <a:gd name="T8" fmla="*/ 330 w 4878"/>
              <a:gd name="T9" fmla="*/ 3658 h 4877"/>
              <a:gd name="T10" fmla="*/ 0 w 4878"/>
              <a:gd name="T11" fmla="*/ 2439 h 4877"/>
              <a:gd name="T12" fmla="*/ 330 w 4878"/>
              <a:gd name="T13" fmla="*/ 1219 h 4877"/>
              <a:gd name="T14" fmla="*/ 1220 w 4878"/>
              <a:gd name="T15" fmla="*/ 329 h 4877"/>
              <a:gd name="T16" fmla="*/ 2439 w 4878"/>
              <a:gd name="T17" fmla="*/ 0 h 4877"/>
              <a:gd name="T18" fmla="*/ 3659 w 4878"/>
              <a:gd name="T19" fmla="*/ 329 h 4877"/>
              <a:gd name="T20" fmla="*/ 4549 w 4878"/>
              <a:gd name="T21" fmla="*/ 1219 h 4877"/>
              <a:gd name="T22" fmla="*/ 4878 w 4878"/>
              <a:gd name="T23" fmla="*/ 2439 h 4877"/>
              <a:gd name="T24" fmla="*/ 4549 w 4878"/>
              <a:gd name="T25" fmla="*/ 3658 h 4877"/>
              <a:gd name="T26" fmla="*/ 3963 w 4878"/>
              <a:gd name="T27" fmla="*/ 1917 h 4877"/>
              <a:gd name="T28" fmla="*/ 4013 w 4878"/>
              <a:gd name="T29" fmla="*/ 1809 h 4877"/>
              <a:gd name="T30" fmla="*/ 3963 w 4878"/>
              <a:gd name="T31" fmla="*/ 1701 h 4877"/>
              <a:gd name="T32" fmla="*/ 3747 w 4878"/>
              <a:gd name="T33" fmla="*/ 1475 h 4877"/>
              <a:gd name="T34" fmla="*/ 3634 w 4878"/>
              <a:gd name="T35" fmla="*/ 1426 h 4877"/>
              <a:gd name="T36" fmla="*/ 3521 w 4878"/>
              <a:gd name="T37" fmla="*/ 1475 h 4877"/>
              <a:gd name="T38" fmla="*/ 2046 w 4878"/>
              <a:gd name="T39" fmla="*/ 2950 h 4877"/>
              <a:gd name="T40" fmla="*/ 1358 w 4878"/>
              <a:gd name="T41" fmla="*/ 2262 h 4877"/>
              <a:gd name="T42" fmla="*/ 1244 w 4878"/>
              <a:gd name="T43" fmla="*/ 2212 h 4877"/>
              <a:gd name="T44" fmla="*/ 1131 w 4878"/>
              <a:gd name="T45" fmla="*/ 2262 h 4877"/>
              <a:gd name="T46" fmla="*/ 915 w 4878"/>
              <a:gd name="T47" fmla="*/ 2488 h 4877"/>
              <a:gd name="T48" fmla="*/ 866 w 4878"/>
              <a:gd name="T49" fmla="*/ 2596 h 4877"/>
              <a:gd name="T50" fmla="*/ 915 w 4878"/>
              <a:gd name="T51" fmla="*/ 2704 h 4877"/>
              <a:gd name="T52" fmla="*/ 1938 w 4878"/>
              <a:gd name="T53" fmla="*/ 3727 h 4877"/>
              <a:gd name="T54" fmla="*/ 2046 w 4878"/>
              <a:gd name="T55" fmla="*/ 3776 h 4877"/>
              <a:gd name="T56" fmla="*/ 2154 w 4878"/>
              <a:gd name="T57" fmla="*/ 3727 h 4877"/>
              <a:gd name="T58" fmla="*/ 3963 w 4878"/>
              <a:gd name="T59" fmla="*/ 1917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78" h="4877">
                <a:moveTo>
                  <a:pt x="4549" y="3658"/>
                </a:moveTo>
                <a:cubicBezTo>
                  <a:pt x="4329" y="4032"/>
                  <a:pt x="4032" y="4328"/>
                  <a:pt x="3659" y="4548"/>
                </a:cubicBezTo>
                <a:cubicBezTo>
                  <a:pt x="3285" y="4768"/>
                  <a:pt x="2879" y="4877"/>
                  <a:pt x="2439" y="4877"/>
                </a:cubicBezTo>
                <a:cubicBezTo>
                  <a:pt x="2000" y="4877"/>
                  <a:pt x="1594" y="4768"/>
                  <a:pt x="1220" y="4548"/>
                </a:cubicBezTo>
                <a:cubicBezTo>
                  <a:pt x="846" y="4328"/>
                  <a:pt x="550" y="4032"/>
                  <a:pt x="330" y="3658"/>
                </a:cubicBezTo>
                <a:cubicBezTo>
                  <a:pt x="110" y="3284"/>
                  <a:pt x="0" y="2878"/>
                  <a:pt x="0" y="2439"/>
                </a:cubicBezTo>
                <a:cubicBezTo>
                  <a:pt x="0" y="1999"/>
                  <a:pt x="110" y="1593"/>
                  <a:pt x="330" y="1219"/>
                </a:cubicBezTo>
                <a:cubicBezTo>
                  <a:pt x="550" y="846"/>
                  <a:pt x="846" y="549"/>
                  <a:pt x="1220" y="329"/>
                </a:cubicBezTo>
                <a:cubicBezTo>
                  <a:pt x="1594" y="110"/>
                  <a:pt x="2000" y="0"/>
                  <a:pt x="2439" y="0"/>
                </a:cubicBezTo>
                <a:cubicBezTo>
                  <a:pt x="2879" y="0"/>
                  <a:pt x="3285" y="110"/>
                  <a:pt x="3659" y="329"/>
                </a:cubicBezTo>
                <a:cubicBezTo>
                  <a:pt x="4032" y="549"/>
                  <a:pt x="4329" y="846"/>
                  <a:pt x="4549" y="1219"/>
                </a:cubicBezTo>
                <a:cubicBezTo>
                  <a:pt x="4768" y="1593"/>
                  <a:pt x="4878" y="1999"/>
                  <a:pt x="4878" y="2439"/>
                </a:cubicBezTo>
                <a:cubicBezTo>
                  <a:pt x="4878" y="2878"/>
                  <a:pt x="4768" y="3284"/>
                  <a:pt x="4549" y="3658"/>
                </a:cubicBezTo>
                <a:close/>
                <a:moveTo>
                  <a:pt x="3963" y="1917"/>
                </a:moveTo>
                <a:cubicBezTo>
                  <a:pt x="3996" y="1891"/>
                  <a:pt x="4013" y="1855"/>
                  <a:pt x="4013" y="1809"/>
                </a:cubicBezTo>
                <a:cubicBezTo>
                  <a:pt x="4013" y="1763"/>
                  <a:pt x="3996" y="1727"/>
                  <a:pt x="3963" y="1701"/>
                </a:cubicBezTo>
                <a:cubicBezTo>
                  <a:pt x="3747" y="1475"/>
                  <a:pt x="3747" y="1475"/>
                  <a:pt x="3747" y="1475"/>
                </a:cubicBezTo>
                <a:cubicBezTo>
                  <a:pt x="3714" y="1442"/>
                  <a:pt x="3677" y="1426"/>
                  <a:pt x="3634" y="1426"/>
                </a:cubicBezTo>
                <a:cubicBezTo>
                  <a:pt x="3591" y="1426"/>
                  <a:pt x="3554" y="1442"/>
                  <a:pt x="3521" y="1475"/>
                </a:cubicBezTo>
                <a:cubicBezTo>
                  <a:pt x="2046" y="2950"/>
                  <a:pt x="2046" y="2950"/>
                  <a:pt x="2046" y="2950"/>
                </a:cubicBezTo>
                <a:cubicBezTo>
                  <a:pt x="1358" y="2262"/>
                  <a:pt x="1358" y="2262"/>
                  <a:pt x="1358" y="2262"/>
                </a:cubicBezTo>
                <a:cubicBezTo>
                  <a:pt x="1325" y="2229"/>
                  <a:pt x="1287" y="2212"/>
                  <a:pt x="1244" y="2212"/>
                </a:cubicBezTo>
                <a:cubicBezTo>
                  <a:pt x="1202" y="2212"/>
                  <a:pt x="1164" y="2229"/>
                  <a:pt x="1131" y="2262"/>
                </a:cubicBezTo>
                <a:cubicBezTo>
                  <a:pt x="915" y="2488"/>
                  <a:pt x="915" y="2488"/>
                  <a:pt x="915" y="2488"/>
                </a:cubicBezTo>
                <a:cubicBezTo>
                  <a:pt x="882" y="2514"/>
                  <a:pt x="866" y="2550"/>
                  <a:pt x="866" y="2596"/>
                </a:cubicBezTo>
                <a:cubicBezTo>
                  <a:pt x="866" y="2642"/>
                  <a:pt x="882" y="2678"/>
                  <a:pt x="915" y="2704"/>
                </a:cubicBezTo>
                <a:cubicBezTo>
                  <a:pt x="1938" y="3727"/>
                  <a:pt x="1938" y="3727"/>
                  <a:pt x="1938" y="3727"/>
                </a:cubicBezTo>
                <a:cubicBezTo>
                  <a:pt x="1964" y="3760"/>
                  <a:pt x="2000" y="3776"/>
                  <a:pt x="2046" y="3776"/>
                </a:cubicBezTo>
                <a:cubicBezTo>
                  <a:pt x="2092" y="3776"/>
                  <a:pt x="2128" y="3760"/>
                  <a:pt x="2154" y="3727"/>
                </a:cubicBezTo>
                <a:lnTo>
                  <a:pt x="3963" y="1917"/>
                </a:lnTo>
                <a:close/>
              </a:path>
            </a:pathLst>
          </a:custGeom>
          <a:solidFill>
            <a:srgbClr val="2E7D32"/>
          </a:solidFill>
          <a:ln>
            <a:noFill/>
          </a:ln>
        </p:spPr>
        <p:txBody>
          <a:bodyPr rtlCol="0"/>
          <a:lstStyle/>
          <a:p>
            <a:endParaRPr lang="en-US"/>
          </a:p>
        </p:txBody>
      </p:sp>
      <p:sp>
        <p:nvSpPr>
          <p:cNvPr id="129" name="Cross, kreuz"/>
          <p:cNvSpPr/>
          <p:nvPr/>
        </p:nvSpPr>
        <p:spPr>
          <a:xfrm>
            <a:off x="7591349" y="2164385"/>
            <a:ext cx="274320" cy="274320"/>
          </a:xfrm>
          <a:custGeom>
            <a:avLst/>
            <a:gdLst>
              <a:gd name="T0" fmla="*/ 2438 w 4877"/>
              <a:gd name="T1" fmla="*/ 0 h 4877"/>
              <a:gd name="T2" fmla="*/ 3658 w 4877"/>
              <a:gd name="T3" fmla="*/ 329 h 4877"/>
              <a:gd name="T4" fmla="*/ 4548 w 4877"/>
              <a:gd name="T5" fmla="*/ 1219 h 4877"/>
              <a:gd name="T6" fmla="*/ 4877 w 4877"/>
              <a:gd name="T7" fmla="*/ 2439 h 4877"/>
              <a:gd name="T8" fmla="*/ 4548 w 4877"/>
              <a:gd name="T9" fmla="*/ 3658 h 4877"/>
              <a:gd name="T10" fmla="*/ 3658 w 4877"/>
              <a:gd name="T11" fmla="*/ 4548 h 4877"/>
              <a:gd name="T12" fmla="*/ 2438 w 4877"/>
              <a:gd name="T13" fmla="*/ 4877 h 4877"/>
              <a:gd name="T14" fmla="*/ 1219 w 4877"/>
              <a:gd name="T15" fmla="*/ 4548 h 4877"/>
              <a:gd name="T16" fmla="*/ 329 w 4877"/>
              <a:gd name="T17" fmla="*/ 3658 h 4877"/>
              <a:gd name="T18" fmla="*/ 0 w 4877"/>
              <a:gd name="T19" fmla="*/ 2439 h 4877"/>
              <a:gd name="T20" fmla="*/ 329 w 4877"/>
              <a:gd name="T21" fmla="*/ 1219 h 4877"/>
              <a:gd name="T22" fmla="*/ 1219 w 4877"/>
              <a:gd name="T23" fmla="*/ 329 h 4877"/>
              <a:gd name="T24" fmla="*/ 2438 w 4877"/>
              <a:gd name="T25" fmla="*/ 0 h 4877"/>
              <a:gd name="T26" fmla="*/ 3638 w 4877"/>
              <a:gd name="T27" fmla="*/ 3078 h 4877"/>
              <a:gd name="T28" fmla="*/ 2989 w 4877"/>
              <a:gd name="T29" fmla="*/ 2439 h 4877"/>
              <a:gd name="T30" fmla="*/ 3638 w 4877"/>
              <a:gd name="T31" fmla="*/ 1799 h 4877"/>
              <a:gd name="T32" fmla="*/ 3668 w 4877"/>
              <a:gd name="T33" fmla="*/ 1716 h 4877"/>
              <a:gd name="T34" fmla="*/ 3638 w 4877"/>
              <a:gd name="T35" fmla="*/ 1632 h 4877"/>
              <a:gd name="T36" fmla="*/ 3245 w 4877"/>
              <a:gd name="T37" fmla="*/ 1239 h 4877"/>
              <a:gd name="T38" fmla="*/ 3166 w 4877"/>
              <a:gd name="T39" fmla="*/ 1209 h 4877"/>
              <a:gd name="T40" fmla="*/ 3078 w 4877"/>
              <a:gd name="T41" fmla="*/ 1239 h 4877"/>
              <a:gd name="T42" fmla="*/ 2438 w 4877"/>
              <a:gd name="T43" fmla="*/ 1888 h 4877"/>
              <a:gd name="T44" fmla="*/ 1799 w 4877"/>
              <a:gd name="T45" fmla="*/ 1239 h 4877"/>
              <a:gd name="T46" fmla="*/ 1716 w 4877"/>
              <a:gd name="T47" fmla="*/ 1209 h 4877"/>
              <a:gd name="T48" fmla="*/ 1632 w 4877"/>
              <a:gd name="T49" fmla="*/ 1239 h 4877"/>
              <a:gd name="T50" fmla="*/ 1239 w 4877"/>
              <a:gd name="T51" fmla="*/ 1632 h 4877"/>
              <a:gd name="T52" fmla="*/ 1209 w 4877"/>
              <a:gd name="T53" fmla="*/ 1711 h 4877"/>
              <a:gd name="T54" fmla="*/ 1239 w 4877"/>
              <a:gd name="T55" fmla="*/ 1799 h 4877"/>
              <a:gd name="T56" fmla="*/ 1888 w 4877"/>
              <a:gd name="T57" fmla="*/ 2439 h 4877"/>
              <a:gd name="T58" fmla="*/ 1239 w 4877"/>
              <a:gd name="T59" fmla="*/ 3078 h 4877"/>
              <a:gd name="T60" fmla="*/ 1209 w 4877"/>
              <a:gd name="T61" fmla="*/ 3161 h 4877"/>
              <a:gd name="T62" fmla="*/ 1239 w 4877"/>
              <a:gd name="T63" fmla="*/ 3245 h 4877"/>
              <a:gd name="T64" fmla="*/ 1632 w 4877"/>
              <a:gd name="T65" fmla="*/ 3638 h 4877"/>
              <a:gd name="T66" fmla="*/ 1711 w 4877"/>
              <a:gd name="T67" fmla="*/ 3668 h 4877"/>
              <a:gd name="T68" fmla="*/ 1799 w 4877"/>
              <a:gd name="T69" fmla="*/ 3638 h 4877"/>
              <a:gd name="T70" fmla="*/ 2438 w 4877"/>
              <a:gd name="T71" fmla="*/ 2989 h 4877"/>
              <a:gd name="T72" fmla="*/ 3078 w 4877"/>
              <a:gd name="T73" fmla="*/ 3638 h 4877"/>
              <a:gd name="T74" fmla="*/ 3161 w 4877"/>
              <a:gd name="T75" fmla="*/ 3668 h 4877"/>
              <a:gd name="T76" fmla="*/ 3245 w 4877"/>
              <a:gd name="T77" fmla="*/ 3638 h 4877"/>
              <a:gd name="T78" fmla="*/ 3638 w 4877"/>
              <a:gd name="T79" fmla="*/ 3245 h 4877"/>
              <a:gd name="T80" fmla="*/ 3668 w 4877"/>
              <a:gd name="T81" fmla="*/ 3166 h 4877"/>
              <a:gd name="T82" fmla="*/ 3638 w 4877"/>
              <a:gd name="T83" fmla="*/ 3078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877" h="4877">
                <a:moveTo>
                  <a:pt x="2438" y="0"/>
                </a:moveTo>
                <a:cubicBezTo>
                  <a:pt x="2878" y="0"/>
                  <a:pt x="3284" y="110"/>
                  <a:pt x="3658" y="329"/>
                </a:cubicBezTo>
                <a:cubicBezTo>
                  <a:pt x="4032" y="549"/>
                  <a:pt x="4328" y="846"/>
                  <a:pt x="4548" y="1219"/>
                </a:cubicBezTo>
                <a:cubicBezTo>
                  <a:pt x="4767" y="1593"/>
                  <a:pt x="4877" y="1999"/>
                  <a:pt x="4877" y="2439"/>
                </a:cubicBezTo>
                <a:cubicBezTo>
                  <a:pt x="4877" y="2878"/>
                  <a:pt x="4767" y="3284"/>
                  <a:pt x="4548" y="3658"/>
                </a:cubicBezTo>
                <a:cubicBezTo>
                  <a:pt x="4328" y="4032"/>
                  <a:pt x="4032" y="4328"/>
                  <a:pt x="3658" y="4548"/>
                </a:cubicBezTo>
                <a:cubicBezTo>
                  <a:pt x="3284" y="4768"/>
                  <a:pt x="2878" y="4877"/>
                  <a:pt x="2438" y="4877"/>
                </a:cubicBezTo>
                <a:cubicBezTo>
                  <a:pt x="1999" y="4877"/>
                  <a:pt x="1593" y="4768"/>
                  <a:pt x="1219" y="4548"/>
                </a:cubicBezTo>
                <a:cubicBezTo>
                  <a:pt x="845" y="4328"/>
                  <a:pt x="549" y="4032"/>
                  <a:pt x="329" y="3658"/>
                </a:cubicBezTo>
                <a:cubicBezTo>
                  <a:pt x="109" y="3284"/>
                  <a:pt x="0" y="2878"/>
                  <a:pt x="0" y="2439"/>
                </a:cubicBezTo>
                <a:cubicBezTo>
                  <a:pt x="0" y="1999"/>
                  <a:pt x="109" y="1593"/>
                  <a:pt x="329" y="1219"/>
                </a:cubicBezTo>
                <a:cubicBezTo>
                  <a:pt x="549" y="846"/>
                  <a:pt x="845" y="549"/>
                  <a:pt x="1219" y="329"/>
                </a:cubicBezTo>
                <a:cubicBezTo>
                  <a:pt x="1593" y="110"/>
                  <a:pt x="1999" y="0"/>
                  <a:pt x="2438" y="0"/>
                </a:cubicBezTo>
                <a:close/>
                <a:moveTo>
                  <a:pt x="3638" y="3078"/>
                </a:moveTo>
                <a:cubicBezTo>
                  <a:pt x="2989" y="2439"/>
                  <a:pt x="2989" y="2439"/>
                  <a:pt x="2989" y="2439"/>
                </a:cubicBezTo>
                <a:cubicBezTo>
                  <a:pt x="3638" y="1799"/>
                  <a:pt x="3638" y="1799"/>
                  <a:pt x="3638" y="1799"/>
                </a:cubicBezTo>
                <a:cubicBezTo>
                  <a:pt x="3658" y="1773"/>
                  <a:pt x="3668" y="1745"/>
                  <a:pt x="3668" y="1716"/>
                </a:cubicBezTo>
                <a:cubicBezTo>
                  <a:pt x="3668" y="1686"/>
                  <a:pt x="3658" y="1659"/>
                  <a:pt x="3638" y="1632"/>
                </a:cubicBezTo>
                <a:cubicBezTo>
                  <a:pt x="3245" y="1239"/>
                  <a:pt x="3245" y="1239"/>
                  <a:pt x="3245" y="1239"/>
                </a:cubicBezTo>
                <a:cubicBezTo>
                  <a:pt x="3225" y="1219"/>
                  <a:pt x="3199" y="1209"/>
                  <a:pt x="3166" y="1209"/>
                </a:cubicBezTo>
                <a:cubicBezTo>
                  <a:pt x="3133" y="1209"/>
                  <a:pt x="3104" y="1219"/>
                  <a:pt x="3078" y="1239"/>
                </a:cubicBezTo>
                <a:cubicBezTo>
                  <a:pt x="2438" y="1888"/>
                  <a:pt x="2438" y="1888"/>
                  <a:pt x="2438" y="1888"/>
                </a:cubicBezTo>
                <a:cubicBezTo>
                  <a:pt x="1799" y="1239"/>
                  <a:pt x="1799" y="1239"/>
                  <a:pt x="1799" y="1239"/>
                </a:cubicBezTo>
                <a:cubicBezTo>
                  <a:pt x="1773" y="1219"/>
                  <a:pt x="1745" y="1209"/>
                  <a:pt x="1716" y="1209"/>
                </a:cubicBezTo>
                <a:cubicBezTo>
                  <a:pt x="1686" y="1209"/>
                  <a:pt x="1658" y="1219"/>
                  <a:pt x="1632" y="1239"/>
                </a:cubicBezTo>
                <a:cubicBezTo>
                  <a:pt x="1239" y="1632"/>
                  <a:pt x="1239" y="1632"/>
                  <a:pt x="1239" y="1632"/>
                </a:cubicBezTo>
                <a:cubicBezTo>
                  <a:pt x="1219" y="1652"/>
                  <a:pt x="1209" y="1678"/>
                  <a:pt x="1209" y="1711"/>
                </a:cubicBezTo>
                <a:cubicBezTo>
                  <a:pt x="1209" y="1744"/>
                  <a:pt x="1219" y="1773"/>
                  <a:pt x="1239" y="1799"/>
                </a:cubicBezTo>
                <a:cubicBezTo>
                  <a:pt x="1888" y="2439"/>
                  <a:pt x="1888" y="2439"/>
                  <a:pt x="1888" y="2439"/>
                </a:cubicBezTo>
                <a:cubicBezTo>
                  <a:pt x="1239" y="3078"/>
                  <a:pt x="1239" y="3078"/>
                  <a:pt x="1239" y="3078"/>
                </a:cubicBezTo>
                <a:cubicBezTo>
                  <a:pt x="1219" y="3104"/>
                  <a:pt x="1209" y="3132"/>
                  <a:pt x="1209" y="3161"/>
                </a:cubicBezTo>
                <a:cubicBezTo>
                  <a:pt x="1209" y="3191"/>
                  <a:pt x="1219" y="3219"/>
                  <a:pt x="1239" y="3245"/>
                </a:cubicBezTo>
                <a:cubicBezTo>
                  <a:pt x="1632" y="3638"/>
                  <a:pt x="1632" y="3638"/>
                  <a:pt x="1632" y="3638"/>
                </a:cubicBezTo>
                <a:cubicBezTo>
                  <a:pt x="1652" y="3658"/>
                  <a:pt x="1678" y="3668"/>
                  <a:pt x="1711" y="3668"/>
                </a:cubicBezTo>
                <a:cubicBezTo>
                  <a:pt x="1744" y="3668"/>
                  <a:pt x="1773" y="3658"/>
                  <a:pt x="1799" y="3638"/>
                </a:cubicBezTo>
                <a:cubicBezTo>
                  <a:pt x="2438" y="2989"/>
                  <a:pt x="2438" y="2989"/>
                  <a:pt x="2438" y="2989"/>
                </a:cubicBezTo>
                <a:cubicBezTo>
                  <a:pt x="3078" y="3638"/>
                  <a:pt x="3078" y="3638"/>
                  <a:pt x="3078" y="3638"/>
                </a:cubicBezTo>
                <a:cubicBezTo>
                  <a:pt x="3104" y="3658"/>
                  <a:pt x="3132" y="3668"/>
                  <a:pt x="3161" y="3668"/>
                </a:cubicBezTo>
                <a:cubicBezTo>
                  <a:pt x="3191" y="3668"/>
                  <a:pt x="3219" y="3658"/>
                  <a:pt x="3245" y="3638"/>
                </a:cubicBezTo>
                <a:cubicBezTo>
                  <a:pt x="3638" y="3245"/>
                  <a:pt x="3638" y="3245"/>
                  <a:pt x="3638" y="3245"/>
                </a:cubicBezTo>
                <a:cubicBezTo>
                  <a:pt x="3658" y="3225"/>
                  <a:pt x="3668" y="3199"/>
                  <a:pt x="3668" y="3166"/>
                </a:cubicBezTo>
                <a:cubicBezTo>
                  <a:pt x="3668" y="3134"/>
                  <a:pt x="3658" y="3104"/>
                  <a:pt x="3638" y="3078"/>
                </a:cubicBezTo>
                <a:close/>
              </a:path>
            </a:pathLst>
          </a:custGeom>
          <a:solidFill>
            <a:srgbClr val="C00000"/>
          </a:solidFill>
          <a:ln>
            <a:noFill/>
          </a:ln>
        </p:spPr>
        <p:txBody>
          <a:bodyPr rtlCol="0"/>
          <a:lstStyle/>
          <a:p>
            <a:endParaRPr lang="en-US"/>
          </a:p>
        </p:txBody>
      </p:sp>
      <p:sp>
        <p:nvSpPr>
          <p:cNvPr id="130" name="Cross, kreuz"/>
          <p:cNvSpPr/>
          <p:nvPr/>
        </p:nvSpPr>
        <p:spPr>
          <a:xfrm>
            <a:off x="7591349" y="2738628"/>
            <a:ext cx="274320" cy="274320"/>
          </a:xfrm>
          <a:custGeom>
            <a:avLst/>
            <a:gdLst>
              <a:gd name="T0" fmla="*/ 2438 w 4877"/>
              <a:gd name="T1" fmla="*/ 0 h 4877"/>
              <a:gd name="T2" fmla="*/ 3658 w 4877"/>
              <a:gd name="T3" fmla="*/ 329 h 4877"/>
              <a:gd name="T4" fmla="*/ 4548 w 4877"/>
              <a:gd name="T5" fmla="*/ 1219 h 4877"/>
              <a:gd name="T6" fmla="*/ 4877 w 4877"/>
              <a:gd name="T7" fmla="*/ 2439 h 4877"/>
              <a:gd name="T8" fmla="*/ 4548 w 4877"/>
              <a:gd name="T9" fmla="*/ 3658 h 4877"/>
              <a:gd name="T10" fmla="*/ 3658 w 4877"/>
              <a:gd name="T11" fmla="*/ 4548 h 4877"/>
              <a:gd name="T12" fmla="*/ 2438 w 4877"/>
              <a:gd name="T13" fmla="*/ 4877 h 4877"/>
              <a:gd name="T14" fmla="*/ 1219 w 4877"/>
              <a:gd name="T15" fmla="*/ 4548 h 4877"/>
              <a:gd name="T16" fmla="*/ 329 w 4877"/>
              <a:gd name="T17" fmla="*/ 3658 h 4877"/>
              <a:gd name="T18" fmla="*/ 0 w 4877"/>
              <a:gd name="T19" fmla="*/ 2439 h 4877"/>
              <a:gd name="T20" fmla="*/ 329 w 4877"/>
              <a:gd name="T21" fmla="*/ 1219 h 4877"/>
              <a:gd name="T22" fmla="*/ 1219 w 4877"/>
              <a:gd name="T23" fmla="*/ 329 h 4877"/>
              <a:gd name="T24" fmla="*/ 2438 w 4877"/>
              <a:gd name="T25" fmla="*/ 0 h 4877"/>
              <a:gd name="T26" fmla="*/ 3638 w 4877"/>
              <a:gd name="T27" fmla="*/ 3078 h 4877"/>
              <a:gd name="T28" fmla="*/ 2989 w 4877"/>
              <a:gd name="T29" fmla="*/ 2439 h 4877"/>
              <a:gd name="T30" fmla="*/ 3638 w 4877"/>
              <a:gd name="T31" fmla="*/ 1799 h 4877"/>
              <a:gd name="T32" fmla="*/ 3668 w 4877"/>
              <a:gd name="T33" fmla="*/ 1716 h 4877"/>
              <a:gd name="T34" fmla="*/ 3638 w 4877"/>
              <a:gd name="T35" fmla="*/ 1632 h 4877"/>
              <a:gd name="T36" fmla="*/ 3245 w 4877"/>
              <a:gd name="T37" fmla="*/ 1239 h 4877"/>
              <a:gd name="T38" fmla="*/ 3166 w 4877"/>
              <a:gd name="T39" fmla="*/ 1209 h 4877"/>
              <a:gd name="T40" fmla="*/ 3078 w 4877"/>
              <a:gd name="T41" fmla="*/ 1239 h 4877"/>
              <a:gd name="T42" fmla="*/ 2438 w 4877"/>
              <a:gd name="T43" fmla="*/ 1888 h 4877"/>
              <a:gd name="T44" fmla="*/ 1799 w 4877"/>
              <a:gd name="T45" fmla="*/ 1239 h 4877"/>
              <a:gd name="T46" fmla="*/ 1716 w 4877"/>
              <a:gd name="T47" fmla="*/ 1209 h 4877"/>
              <a:gd name="T48" fmla="*/ 1632 w 4877"/>
              <a:gd name="T49" fmla="*/ 1239 h 4877"/>
              <a:gd name="T50" fmla="*/ 1239 w 4877"/>
              <a:gd name="T51" fmla="*/ 1632 h 4877"/>
              <a:gd name="T52" fmla="*/ 1209 w 4877"/>
              <a:gd name="T53" fmla="*/ 1711 h 4877"/>
              <a:gd name="T54" fmla="*/ 1239 w 4877"/>
              <a:gd name="T55" fmla="*/ 1799 h 4877"/>
              <a:gd name="T56" fmla="*/ 1888 w 4877"/>
              <a:gd name="T57" fmla="*/ 2439 h 4877"/>
              <a:gd name="T58" fmla="*/ 1239 w 4877"/>
              <a:gd name="T59" fmla="*/ 3078 h 4877"/>
              <a:gd name="T60" fmla="*/ 1209 w 4877"/>
              <a:gd name="T61" fmla="*/ 3161 h 4877"/>
              <a:gd name="T62" fmla="*/ 1239 w 4877"/>
              <a:gd name="T63" fmla="*/ 3245 h 4877"/>
              <a:gd name="T64" fmla="*/ 1632 w 4877"/>
              <a:gd name="T65" fmla="*/ 3638 h 4877"/>
              <a:gd name="T66" fmla="*/ 1711 w 4877"/>
              <a:gd name="T67" fmla="*/ 3668 h 4877"/>
              <a:gd name="T68" fmla="*/ 1799 w 4877"/>
              <a:gd name="T69" fmla="*/ 3638 h 4877"/>
              <a:gd name="T70" fmla="*/ 2438 w 4877"/>
              <a:gd name="T71" fmla="*/ 2989 h 4877"/>
              <a:gd name="T72" fmla="*/ 3078 w 4877"/>
              <a:gd name="T73" fmla="*/ 3638 h 4877"/>
              <a:gd name="T74" fmla="*/ 3161 w 4877"/>
              <a:gd name="T75" fmla="*/ 3668 h 4877"/>
              <a:gd name="T76" fmla="*/ 3245 w 4877"/>
              <a:gd name="T77" fmla="*/ 3638 h 4877"/>
              <a:gd name="T78" fmla="*/ 3638 w 4877"/>
              <a:gd name="T79" fmla="*/ 3245 h 4877"/>
              <a:gd name="T80" fmla="*/ 3668 w 4877"/>
              <a:gd name="T81" fmla="*/ 3166 h 4877"/>
              <a:gd name="T82" fmla="*/ 3638 w 4877"/>
              <a:gd name="T83" fmla="*/ 3078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877" h="4877">
                <a:moveTo>
                  <a:pt x="2438" y="0"/>
                </a:moveTo>
                <a:cubicBezTo>
                  <a:pt x="2878" y="0"/>
                  <a:pt x="3284" y="110"/>
                  <a:pt x="3658" y="329"/>
                </a:cubicBezTo>
                <a:cubicBezTo>
                  <a:pt x="4032" y="549"/>
                  <a:pt x="4328" y="846"/>
                  <a:pt x="4548" y="1219"/>
                </a:cubicBezTo>
                <a:cubicBezTo>
                  <a:pt x="4767" y="1593"/>
                  <a:pt x="4877" y="1999"/>
                  <a:pt x="4877" y="2439"/>
                </a:cubicBezTo>
                <a:cubicBezTo>
                  <a:pt x="4877" y="2878"/>
                  <a:pt x="4767" y="3284"/>
                  <a:pt x="4548" y="3658"/>
                </a:cubicBezTo>
                <a:cubicBezTo>
                  <a:pt x="4328" y="4032"/>
                  <a:pt x="4032" y="4328"/>
                  <a:pt x="3658" y="4548"/>
                </a:cubicBezTo>
                <a:cubicBezTo>
                  <a:pt x="3284" y="4768"/>
                  <a:pt x="2878" y="4877"/>
                  <a:pt x="2438" y="4877"/>
                </a:cubicBezTo>
                <a:cubicBezTo>
                  <a:pt x="1999" y="4877"/>
                  <a:pt x="1593" y="4768"/>
                  <a:pt x="1219" y="4548"/>
                </a:cubicBezTo>
                <a:cubicBezTo>
                  <a:pt x="845" y="4328"/>
                  <a:pt x="549" y="4032"/>
                  <a:pt x="329" y="3658"/>
                </a:cubicBezTo>
                <a:cubicBezTo>
                  <a:pt x="109" y="3284"/>
                  <a:pt x="0" y="2878"/>
                  <a:pt x="0" y="2439"/>
                </a:cubicBezTo>
                <a:cubicBezTo>
                  <a:pt x="0" y="1999"/>
                  <a:pt x="109" y="1593"/>
                  <a:pt x="329" y="1219"/>
                </a:cubicBezTo>
                <a:cubicBezTo>
                  <a:pt x="549" y="846"/>
                  <a:pt x="845" y="549"/>
                  <a:pt x="1219" y="329"/>
                </a:cubicBezTo>
                <a:cubicBezTo>
                  <a:pt x="1593" y="110"/>
                  <a:pt x="1999" y="0"/>
                  <a:pt x="2438" y="0"/>
                </a:cubicBezTo>
                <a:close/>
                <a:moveTo>
                  <a:pt x="3638" y="3078"/>
                </a:moveTo>
                <a:cubicBezTo>
                  <a:pt x="2989" y="2439"/>
                  <a:pt x="2989" y="2439"/>
                  <a:pt x="2989" y="2439"/>
                </a:cubicBezTo>
                <a:cubicBezTo>
                  <a:pt x="3638" y="1799"/>
                  <a:pt x="3638" y="1799"/>
                  <a:pt x="3638" y="1799"/>
                </a:cubicBezTo>
                <a:cubicBezTo>
                  <a:pt x="3658" y="1773"/>
                  <a:pt x="3668" y="1745"/>
                  <a:pt x="3668" y="1716"/>
                </a:cubicBezTo>
                <a:cubicBezTo>
                  <a:pt x="3668" y="1686"/>
                  <a:pt x="3658" y="1659"/>
                  <a:pt x="3638" y="1632"/>
                </a:cubicBezTo>
                <a:cubicBezTo>
                  <a:pt x="3245" y="1239"/>
                  <a:pt x="3245" y="1239"/>
                  <a:pt x="3245" y="1239"/>
                </a:cubicBezTo>
                <a:cubicBezTo>
                  <a:pt x="3225" y="1219"/>
                  <a:pt x="3199" y="1209"/>
                  <a:pt x="3166" y="1209"/>
                </a:cubicBezTo>
                <a:cubicBezTo>
                  <a:pt x="3133" y="1209"/>
                  <a:pt x="3104" y="1219"/>
                  <a:pt x="3078" y="1239"/>
                </a:cubicBezTo>
                <a:cubicBezTo>
                  <a:pt x="2438" y="1888"/>
                  <a:pt x="2438" y="1888"/>
                  <a:pt x="2438" y="1888"/>
                </a:cubicBezTo>
                <a:cubicBezTo>
                  <a:pt x="1799" y="1239"/>
                  <a:pt x="1799" y="1239"/>
                  <a:pt x="1799" y="1239"/>
                </a:cubicBezTo>
                <a:cubicBezTo>
                  <a:pt x="1773" y="1219"/>
                  <a:pt x="1745" y="1209"/>
                  <a:pt x="1716" y="1209"/>
                </a:cubicBezTo>
                <a:cubicBezTo>
                  <a:pt x="1686" y="1209"/>
                  <a:pt x="1658" y="1219"/>
                  <a:pt x="1632" y="1239"/>
                </a:cubicBezTo>
                <a:cubicBezTo>
                  <a:pt x="1239" y="1632"/>
                  <a:pt x="1239" y="1632"/>
                  <a:pt x="1239" y="1632"/>
                </a:cubicBezTo>
                <a:cubicBezTo>
                  <a:pt x="1219" y="1652"/>
                  <a:pt x="1209" y="1678"/>
                  <a:pt x="1209" y="1711"/>
                </a:cubicBezTo>
                <a:cubicBezTo>
                  <a:pt x="1209" y="1744"/>
                  <a:pt x="1219" y="1773"/>
                  <a:pt x="1239" y="1799"/>
                </a:cubicBezTo>
                <a:cubicBezTo>
                  <a:pt x="1888" y="2439"/>
                  <a:pt x="1888" y="2439"/>
                  <a:pt x="1888" y="2439"/>
                </a:cubicBezTo>
                <a:cubicBezTo>
                  <a:pt x="1239" y="3078"/>
                  <a:pt x="1239" y="3078"/>
                  <a:pt x="1239" y="3078"/>
                </a:cubicBezTo>
                <a:cubicBezTo>
                  <a:pt x="1219" y="3104"/>
                  <a:pt x="1209" y="3132"/>
                  <a:pt x="1209" y="3161"/>
                </a:cubicBezTo>
                <a:cubicBezTo>
                  <a:pt x="1209" y="3191"/>
                  <a:pt x="1219" y="3219"/>
                  <a:pt x="1239" y="3245"/>
                </a:cubicBezTo>
                <a:cubicBezTo>
                  <a:pt x="1632" y="3638"/>
                  <a:pt x="1632" y="3638"/>
                  <a:pt x="1632" y="3638"/>
                </a:cubicBezTo>
                <a:cubicBezTo>
                  <a:pt x="1652" y="3658"/>
                  <a:pt x="1678" y="3668"/>
                  <a:pt x="1711" y="3668"/>
                </a:cubicBezTo>
                <a:cubicBezTo>
                  <a:pt x="1744" y="3668"/>
                  <a:pt x="1773" y="3658"/>
                  <a:pt x="1799" y="3638"/>
                </a:cubicBezTo>
                <a:cubicBezTo>
                  <a:pt x="2438" y="2989"/>
                  <a:pt x="2438" y="2989"/>
                  <a:pt x="2438" y="2989"/>
                </a:cubicBezTo>
                <a:cubicBezTo>
                  <a:pt x="3078" y="3638"/>
                  <a:pt x="3078" y="3638"/>
                  <a:pt x="3078" y="3638"/>
                </a:cubicBezTo>
                <a:cubicBezTo>
                  <a:pt x="3104" y="3658"/>
                  <a:pt x="3132" y="3668"/>
                  <a:pt x="3161" y="3668"/>
                </a:cubicBezTo>
                <a:cubicBezTo>
                  <a:pt x="3191" y="3668"/>
                  <a:pt x="3219" y="3658"/>
                  <a:pt x="3245" y="3638"/>
                </a:cubicBezTo>
                <a:cubicBezTo>
                  <a:pt x="3638" y="3245"/>
                  <a:pt x="3638" y="3245"/>
                  <a:pt x="3638" y="3245"/>
                </a:cubicBezTo>
                <a:cubicBezTo>
                  <a:pt x="3658" y="3225"/>
                  <a:pt x="3668" y="3199"/>
                  <a:pt x="3668" y="3166"/>
                </a:cubicBezTo>
                <a:cubicBezTo>
                  <a:pt x="3668" y="3134"/>
                  <a:pt x="3658" y="3104"/>
                  <a:pt x="3638" y="3078"/>
                </a:cubicBezTo>
                <a:close/>
              </a:path>
            </a:pathLst>
          </a:custGeom>
          <a:solidFill>
            <a:srgbClr val="C00000"/>
          </a:solidFill>
          <a:ln>
            <a:noFill/>
          </a:ln>
        </p:spPr>
        <p:txBody>
          <a:bodyPr rtlCol="0"/>
          <a:lstStyle/>
          <a:p>
            <a:endParaRPr lang="en-US"/>
          </a:p>
        </p:txBody>
      </p:sp>
      <p:sp>
        <p:nvSpPr>
          <p:cNvPr id="131" name="Cross, kreuz"/>
          <p:cNvSpPr/>
          <p:nvPr/>
        </p:nvSpPr>
        <p:spPr>
          <a:xfrm>
            <a:off x="7591349" y="3325673"/>
            <a:ext cx="274320" cy="274320"/>
          </a:xfrm>
          <a:custGeom>
            <a:avLst/>
            <a:gdLst>
              <a:gd name="T0" fmla="*/ 2438 w 4877"/>
              <a:gd name="T1" fmla="*/ 0 h 4877"/>
              <a:gd name="T2" fmla="*/ 3658 w 4877"/>
              <a:gd name="T3" fmla="*/ 329 h 4877"/>
              <a:gd name="T4" fmla="*/ 4548 w 4877"/>
              <a:gd name="T5" fmla="*/ 1219 h 4877"/>
              <a:gd name="T6" fmla="*/ 4877 w 4877"/>
              <a:gd name="T7" fmla="*/ 2439 h 4877"/>
              <a:gd name="T8" fmla="*/ 4548 w 4877"/>
              <a:gd name="T9" fmla="*/ 3658 h 4877"/>
              <a:gd name="T10" fmla="*/ 3658 w 4877"/>
              <a:gd name="T11" fmla="*/ 4548 h 4877"/>
              <a:gd name="T12" fmla="*/ 2438 w 4877"/>
              <a:gd name="T13" fmla="*/ 4877 h 4877"/>
              <a:gd name="T14" fmla="*/ 1219 w 4877"/>
              <a:gd name="T15" fmla="*/ 4548 h 4877"/>
              <a:gd name="T16" fmla="*/ 329 w 4877"/>
              <a:gd name="T17" fmla="*/ 3658 h 4877"/>
              <a:gd name="T18" fmla="*/ 0 w 4877"/>
              <a:gd name="T19" fmla="*/ 2439 h 4877"/>
              <a:gd name="T20" fmla="*/ 329 w 4877"/>
              <a:gd name="T21" fmla="*/ 1219 h 4877"/>
              <a:gd name="T22" fmla="*/ 1219 w 4877"/>
              <a:gd name="T23" fmla="*/ 329 h 4877"/>
              <a:gd name="T24" fmla="*/ 2438 w 4877"/>
              <a:gd name="T25" fmla="*/ 0 h 4877"/>
              <a:gd name="T26" fmla="*/ 3638 w 4877"/>
              <a:gd name="T27" fmla="*/ 3078 h 4877"/>
              <a:gd name="T28" fmla="*/ 2989 w 4877"/>
              <a:gd name="T29" fmla="*/ 2439 h 4877"/>
              <a:gd name="T30" fmla="*/ 3638 w 4877"/>
              <a:gd name="T31" fmla="*/ 1799 h 4877"/>
              <a:gd name="T32" fmla="*/ 3668 w 4877"/>
              <a:gd name="T33" fmla="*/ 1716 h 4877"/>
              <a:gd name="T34" fmla="*/ 3638 w 4877"/>
              <a:gd name="T35" fmla="*/ 1632 h 4877"/>
              <a:gd name="T36" fmla="*/ 3245 w 4877"/>
              <a:gd name="T37" fmla="*/ 1239 h 4877"/>
              <a:gd name="T38" fmla="*/ 3166 w 4877"/>
              <a:gd name="T39" fmla="*/ 1209 h 4877"/>
              <a:gd name="T40" fmla="*/ 3078 w 4877"/>
              <a:gd name="T41" fmla="*/ 1239 h 4877"/>
              <a:gd name="T42" fmla="*/ 2438 w 4877"/>
              <a:gd name="T43" fmla="*/ 1888 h 4877"/>
              <a:gd name="T44" fmla="*/ 1799 w 4877"/>
              <a:gd name="T45" fmla="*/ 1239 h 4877"/>
              <a:gd name="T46" fmla="*/ 1716 w 4877"/>
              <a:gd name="T47" fmla="*/ 1209 h 4877"/>
              <a:gd name="T48" fmla="*/ 1632 w 4877"/>
              <a:gd name="T49" fmla="*/ 1239 h 4877"/>
              <a:gd name="T50" fmla="*/ 1239 w 4877"/>
              <a:gd name="T51" fmla="*/ 1632 h 4877"/>
              <a:gd name="T52" fmla="*/ 1209 w 4877"/>
              <a:gd name="T53" fmla="*/ 1711 h 4877"/>
              <a:gd name="T54" fmla="*/ 1239 w 4877"/>
              <a:gd name="T55" fmla="*/ 1799 h 4877"/>
              <a:gd name="T56" fmla="*/ 1888 w 4877"/>
              <a:gd name="T57" fmla="*/ 2439 h 4877"/>
              <a:gd name="T58" fmla="*/ 1239 w 4877"/>
              <a:gd name="T59" fmla="*/ 3078 h 4877"/>
              <a:gd name="T60" fmla="*/ 1209 w 4877"/>
              <a:gd name="T61" fmla="*/ 3161 h 4877"/>
              <a:gd name="T62" fmla="*/ 1239 w 4877"/>
              <a:gd name="T63" fmla="*/ 3245 h 4877"/>
              <a:gd name="T64" fmla="*/ 1632 w 4877"/>
              <a:gd name="T65" fmla="*/ 3638 h 4877"/>
              <a:gd name="T66" fmla="*/ 1711 w 4877"/>
              <a:gd name="T67" fmla="*/ 3668 h 4877"/>
              <a:gd name="T68" fmla="*/ 1799 w 4877"/>
              <a:gd name="T69" fmla="*/ 3638 h 4877"/>
              <a:gd name="T70" fmla="*/ 2438 w 4877"/>
              <a:gd name="T71" fmla="*/ 2989 h 4877"/>
              <a:gd name="T72" fmla="*/ 3078 w 4877"/>
              <a:gd name="T73" fmla="*/ 3638 h 4877"/>
              <a:gd name="T74" fmla="*/ 3161 w 4877"/>
              <a:gd name="T75" fmla="*/ 3668 h 4877"/>
              <a:gd name="T76" fmla="*/ 3245 w 4877"/>
              <a:gd name="T77" fmla="*/ 3638 h 4877"/>
              <a:gd name="T78" fmla="*/ 3638 w 4877"/>
              <a:gd name="T79" fmla="*/ 3245 h 4877"/>
              <a:gd name="T80" fmla="*/ 3668 w 4877"/>
              <a:gd name="T81" fmla="*/ 3166 h 4877"/>
              <a:gd name="T82" fmla="*/ 3638 w 4877"/>
              <a:gd name="T83" fmla="*/ 3078 h 4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877" h="4877">
                <a:moveTo>
                  <a:pt x="2438" y="0"/>
                </a:moveTo>
                <a:cubicBezTo>
                  <a:pt x="2878" y="0"/>
                  <a:pt x="3284" y="110"/>
                  <a:pt x="3658" y="329"/>
                </a:cubicBezTo>
                <a:cubicBezTo>
                  <a:pt x="4032" y="549"/>
                  <a:pt x="4328" y="846"/>
                  <a:pt x="4548" y="1219"/>
                </a:cubicBezTo>
                <a:cubicBezTo>
                  <a:pt x="4767" y="1593"/>
                  <a:pt x="4877" y="1999"/>
                  <a:pt x="4877" y="2439"/>
                </a:cubicBezTo>
                <a:cubicBezTo>
                  <a:pt x="4877" y="2878"/>
                  <a:pt x="4767" y="3284"/>
                  <a:pt x="4548" y="3658"/>
                </a:cubicBezTo>
                <a:cubicBezTo>
                  <a:pt x="4328" y="4032"/>
                  <a:pt x="4032" y="4328"/>
                  <a:pt x="3658" y="4548"/>
                </a:cubicBezTo>
                <a:cubicBezTo>
                  <a:pt x="3284" y="4768"/>
                  <a:pt x="2878" y="4877"/>
                  <a:pt x="2438" y="4877"/>
                </a:cubicBezTo>
                <a:cubicBezTo>
                  <a:pt x="1999" y="4877"/>
                  <a:pt x="1593" y="4768"/>
                  <a:pt x="1219" y="4548"/>
                </a:cubicBezTo>
                <a:cubicBezTo>
                  <a:pt x="845" y="4328"/>
                  <a:pt x="549" y="4032"/>
                  <a:pt x="329" y="3658"/>
                </a:cubicBezTo>
                <a:cubicBezTo>
                  <a:pt x="109" y="3284"/>
                  <a:pt x="0" y="2878"/>
                  <a:pt x="0" y="2439"/>
                </a:cubicBezTo>
                <a:cubicBezTo>
                  <a:pt x="0" y="1999"/>
                  <a:pt x="109" y="1593"/>
                  <a:pt x="329" y="1219"/>
                </a:cubicBezTo>
                <a:cubicBezTo>
                  <a:pt x="549" y="846"/>
                  <a:pt x="845" y="549"/>
                  <a:pt x="1219" y="329"/>
                </a:cubicBezTo>
                <a:cubicBezTo>
                  <a:pt x="1593" y="110"/>
                  <a:pt x="1999" y="0"/>
                  <a:pt x="2438" y="0"/>
                </a:cubicBezTo>
                <a:close/>
                <a:moveTo>
                  <a:pt x="3638" y="3078"/>
                </a:moveTo>
                <a:cubicBezTo>
                  <a:pt x="2989" y="2439"/>
                  <a:pt x="2989" y="2439"/>
                  <a:pt x="2989" y="2439"/>
                </a:cubicBezTo>
                <a:cubicBezTo>
                  <a:pt x="3638" y="1799"/>
                  <a:pt x="3638" y="1799"/>
                  <a:pt x="3638" y="1799"/>
                </a:cubicBezTo>
                <a:cubicBezTo>
                  <a:pt x="3658" y="1773"/>
                  <a:pt x="3668" y="1745"/>
                  <a:pt x="3668" y="1716"/>
                </a:cubicBezTo>
                <a:cubicBezTo>
                  <a:pt x="3668" y="1686"/>
                  <a:pt x="3658" y="1659"/>
                  <a:pt x="3638" y="1632"/>
                </a:cubicBezTo>
                <a:cubicBezTo>
                  <a:pt x="3245" y="1239"/>
                  <a:pt x="3245" y="1239"/>
                  <a:pt x="3245" y="1239"/>
                </a:cubicBezTo>
                <a:cubicBezTo>
                  <a:pt x="3225" y="1219"/>
                  <a:pt x="3199" y="1209"/>
                  <a:pt x="3166" y="1209"/>
                </a:cubicBezTo>
                <a:cubicBezTo>
                  <a:pt x="3133" y="1209"/>
                  <a:pt x="3104" y="1219"/>
                  <a:pt x="3078" y="1239"/>
                </a:cubicBezTo>
                <a:cubicBezTo>
                  <a:pt x="2438" y="1888"/>
                  <a:pt x="2438" y="1888"/>
                  <a:pt x="2438" y="1888"/>
                </a:cubicBezTo>
                <a:cubicBezTo>
                  <a:pt x="1799" y="1239"/>
                  <a:pt x="1799" y="1239"/>
                  <a:pt x="1799" y="1239"/>
                </a:cubicBezTo>
                <a:cubicBezTo>
                  <a:pt x="1773" y="1219"/>
                  <a:pt x="1745" y="1209"/>
                  <a:pt x="1716" y="1209"/>
                </a:cubicBezTo>
                <a:cubicBezTo>
                  <a:pt x="1686" y="1209"/>
                  <a:pt x="1658" y="1219"/>
                  <a:pt x="1632" y="1239"/>
                </a:cubicBezTo>
                <a:cubicBezTo>
                  <a:pt x="1239" y="1632"/>
                  <a:pt x="1239" y="1632"/>
                  <a:pt x="1239" y="1632"/>
                </a:cubicBezTo>
                <a:cubicBezTo>
                  <a:pt x="1219" y="1652"/>
                  <a:pt x="1209" y="1678"/>
                  <a:pt x="1209" y="1711"/>
                </a:cubicBezTo>
                <a:cubicBezTo>
                  <a:pt x="1209" y="1744"/>
                  <a:pt x="1219" y="1773"/>
                  <a:pt x="1239" y="1799"/>
                </a:cubicBezTo>
                <a:cubicBezTo>
                  <a:pt x="1888" y="2439"/>
                  <a:pt x="1888" y="2439"/>
                  <a:pt x="1888" y="2439"/>
                </a:cubicBezTo>
                <a:cubicBezTo>
                  <a:pt x="1239" y="3078"/>
                  <a:pt x="1239" y="3078"/>
                  <a:pt x="1239" y="3078"/>
                </a:cubicBezTo>
                <a:cubicBezTo>
                  <a:pt x="1219" y="3104"/>
                  <a:pt x="1209" y="3132"/>
                  <a:pt x="1209" y="3161"/>
                </a:cubicBezTo>
                <a:cubicBezTo>
                  <a:pt x="1209" y="3191"/>
                  <a:pt x="1219" y="3219"/>
                  <a:pt x="1239" y="3245"/>
                </a:cubicBezTo>
                <a:cubicBezTo>
                  <a:pt x="1632" y="3638"/>
                  <a:pt x="1632" y="3638"/>
                  <a:pt x="1632" y="3638"/>
                </a:cubicBezTo>
                <a:cubicBezTo>
                  <a:pt x="1652" y="3658"/>
                  <a:pt x="1678" y="3668"/>
                  <a:pt x="1711" y="3668"/>
                </a:cubicBezTo>
                <a:cubicBezTo>
                  <a:pt x="1744" y="3668"/>
                  <a:pt x="1773" y="3658"/>
                  <a:pt x="1799" y="3638"/>
                </a:cubicBezTo>
                <a:cubicBezTo>
                  <a:pt x="2438" y="2989"/>
                  <a:pt x="2438" y="2989"/>
                  <a:pt x="2438" y="2989"/>
                </a:cubicBezTo>
                <a:cubicBezTo>
                  <a:pt x="3078" y="3638"/>
                  <a:pt x="3078" y="3638"/>
                  <a:pt x="3078" y="3638"/>
                </a:cubicBezTo>
                <a:cubicBezTo>
                  <a:pt x="3104" y="3658"/>
                  <a:pt x="3132" y="3668"/>
                  <a:pt x="3161" y="3668"/>
                </a:cubicBezTo>
                <a:cubicBezTo>
                  <a:pt x="3191" y="3668"/>
                  <a:pt x="3219" y="3658"/>
                  <a:pt x="3245" y="3638"/>
                </a:cubicBezTo>
                <a:cubicBezTo>
                  <a:pt x="3638" y="3245"/>
                  <a:pt x="3638" y="3245"/>
                  <a:pt x="3638" y="3245"/>
                </a:cubicBezTo>
                <a:cubicBezTo>
                  <a:pt x="3658" y="3225"/>
                  <a:pt x="3668" y="3199"/>
                  <a:pt x="3668" y="3166"/>
                </a:cubicBezTo>
                <a:cubicBezTo>
                  <a:pt x="3668" y="3134"/>
                  <a:pt x="3658" y="3104"/>
                  <a:pt x="3638" y="3078"/>
                </a:cubicBezTo>
                <a:close/>
              </a:path>
            </a:pathLst>
          </a:custGeom>
          <a:solidFill>
            <a:srgbClr val="C00000"/>
          </a:solidFill>
          <a:ln>
            <a:noFill/>
          </a:ln>
        </p:spPr>
        <p:txBody>
          <a:bodyPr rtlCol="0"/>
          <a:lstStyle/>
          <a:p>
            <a:endParaRPr lang="en-US"/>
          </a:p>
        </p:txBody>
      </p:sp>
      <p:sp>
        <p:nvSpPr>
          <p:cNvPr id="132" name="Label"/>
          <p:cNvSpPr txBox="1"/>
          <p:nvPr/>
        </p:nvSpPr>
        <p:spPr>
          <a:xfrm>
            <a:off x="649224" y="5252314"/>
            <a:ext cx="1250899" cy="280721"/>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Directly related to vessel operations</a:t>
            </a:r>
          </a:p>
        </p:txBody>
      </p:sp>
      <p:sp>
        <p:nvSpPr>
          <p:cNvPr id="133" name="Label"/>
          <p:cNvSpPr txBox="1"/>
          <p:nvPr/>
        </p:nvSpPr>
        <p:spPr>
          <a:xfrm>
            <a:off x="647395" y="3584448"/>
            <a:ext cx="1252728" cy="159106"/>
          </a:xfrm>
          <a:prstGeom prst="rect">
            <a:avLst/>
          </a:prstGeom>
          <a:solidFill>
            <a:srgbClr val="FFFFFF"/>
          </a:solidFill>
          <a:ln>
            <a:no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Shoreside charges</a:t>
            </a:r>
          </a:p>
        </p:txBody>
      </p:sp>
      <p:sp>
        <p:nvSpPr>
          <p:cNvPr id="134" name="Label"/>
          <p:cNvSpPr txBox="1"/>
          <p:nvPr/>
        </p:nvSpPr>
        <p:spPr>
          <a:xfrm>
            <a:off x="6580022" y="111557"/>
            <a:ext cx="3566160" cy="265176"/>
          </a:xfrm>
          <a:prstGeom prst="rect">
            <a:avLst/>
          </a:prstGeom>
          <a:solidFill>
            <a:srgbClr val="F2F2F2"/>
          </a:solidFill>
          <a:ln w="12700">
            <a:solidFill>
              <a:srgbClr val="000000"/>
            </a:solidFill>
          </a:ln>
        </p:spPr>
        <p:txBody>
          <a:bodyPr wrap="square" anchor="ctr" lIns="91440" tIns="45720" rIns="91440" bIns="45720"/>
          <a:lstStyle/>
          <a:p>
            <a:pPr algn="ctr">
              <a:lnSpc>
                <a:spcPct val="100000"/>
              </a:lnSpc>
              <a:buNone/>
            </a:pPr>
            <a:r>
              <a:rPr lang="en-US" sz="1000" i="1" dirty="0">
                <a:solidFill>
                  <a:srgbClr val="000000"/>
                </a:solidFill>
                <a:latin typeface="Arial"/>
                <a:ea typeface="Arial"/>
                <a:cs typeface="Arial"/>
              </a:rPr>
              <a:t>Jan. ’26 analysis; Matson reported ’25 results end of Feb ‘26</a:t>
            </a:r>
          </a:p>
        </p:txBody>
      </p:sp>
      <p:sp>
        <p:nvSpPr>
          <p:cNvPr id="135" name="Rectangle 326"/>
          <p:cNvSpPr txBox="1"/>
          <p:nvPr/>
        </p:nvSpPr>
        <p:spPr>
          <a:xfrm>
            <a:off x="401422" y="3665830"/>
            <a:ext cx="1796796" cy="1155802"/>
          </a:xfrm>
          <a:prstGeom prst="rect">
            <a:avLst/>
          </a:prstGeom>
          <a:noFill/>
          <a:ln w="12700">
            <a:solidFill>
              <a:srgbClr val="969696"/>
            </a:solidFill>
          </a:ln>
        </p:spPr>
        <p:txBody>
          <a:bodyPr wrap="square" anchor="ctr" lIns="91440" tIns="45720" rIns="91440" bIns="45720"/>
          <a:lstStyle/>
          <a:p>
            <a:pPr algn="ctr">
              <a:lnSpc>
                <a:spcPct val="100000"/>
              </a:lnSpc>
              <a:buNone/>
            </a:pPr>
            <a:endParaRPr lang="en-US"/>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136" name="Rectangle 407"/>
          <p:cNvSpPr txBox="1"/>
          <p:nvPr/>
        </p:nvSpPr>
        <p:spPr>
          <a:xfrm>
            <a:off x="452628" y="6109106"/>
            <a:ext cx="11308385" cy="289865"/>
          </a:xfrm>
          <a:prstGeom prst="rect">
            <a:avLst/>
          </a:prstGeom>
          <a:noFill/>
          <a:ln>
            <a:noFill/>
          </a:ln>
        </p:spPr>
        <p:txBody>
          <a:bodyPr wrap="square" anchor="t" lIns="91440" tIns="45720" rIns="91440" bIns="45720"/>
          <a:lstStyle/>
          <a:p>
            <a:pPr>
              <a:lnSpc>
                <a:spcPct val="100000"/>
              </a:lnSpc>
              <a:buNone/>
            </a:pPr>
            <a:r>
              <a:rPr lang="en-US" sz="800" dirty="0">
                <a:solidFill>
                  <a:srgbClr val="000000"/>
                </a:solidFill>
                <a:latin typeface="Arial"/>
                <a:ea typeface="Arial"/>
                <a:cs typeface="Arial"/>
              </a:rPr>
              <a:t>Note: (1) Matson and Pasha charge a Fuel Surcharge of 16.5% as of September 2025; Basic Ocean Rates largely derived from Pasha Hawaii, whereas Terminal Charges are specific to Matson</a:t>
            </a:r>
            <a:br/>
            <a:r>
              <a:rPr lang="en-US" sz="800" dirty="0">
                <a:solidFill>
                  <a:srgbClr val="000000"/>
                </a:solidFill>
                <a:latin typeface="Arial"/>
                <a:ea typeface="Arial"/>
                <a:cs typeface="Arial"/>
              </a:rPr>
              <a:t>Source: </a:t>
            </a:r>
            <a:r>
              <a:rPr lang="en-US" sz="800" dirty="0">
                <a:solidFill>
                  <a:srgbClr val="000000"/>
                </a:solidFill>
                <a:latin typeface="Arial"/>
                <a:ea typeface="Arial"/>
                <a:cs typeface="Arial"/>
              </a:rPr>
              <a:t>Pasha Hawaii</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Aloha Freight</a:t>
            </a:r>
            <a:r>
              <a:rPr lang="en-US" sz="800" dirty="0">
                <a:solidFill>
                  <a:srgbClr val="000000"/>
                </a:solidFill>
                <a:latin typeface="Arial"/>
                <a:ea typeface="Arial"/>
                <a:cs typeface="Arial"/>
              </a:rPr>
              <a:t>; </a:t>
            </a:r>
            <a:r>
              <a:rPr lang="en-US" sz="800" dirty="0">
                <a:solidFill>
                  <a:srgbClr val="000000"/>
                </a:solidFill>
                <a:latin typeface="Arial"/>
                <a:ea typeface="Arial"/>
                <a:cs typeface="Arial"/>
              </a:rPr>
              <a:t>Hawaii Department of Transportation</a:t>
            </a:r>
          </a:p>
        </p:txBody>
      </p:sp>
      <p:sp>
        <p:nvSpPr>
          <p:cNvPr id="137" name="Rectangle 453"/>
          <p:cNvSpPr txBox="1"/>
          <p:nvPr/>
        </p:nvSpPr>
        <p:spPr>
          <a:xfrm>
            <a:off x="5626303" y="3743554"/>
            <a:ext cx="6074359" cy="1791310"/>
          </a:xfrm>
          <a:prstGeom prst="rect">
            <a:avLst/>
          </a:prstGeom>
          <a:noFill/>
          <a:ln w="19050">
            <a:solidFill>
              <a:srgbClr val="FB6B3C"/>
            </a:solidFill>
          </a:ln>
        </p:spPr>
        <p:txBody>
          <a:bodyPr wrap="square" anchor="ctr" lIns="91440" tIns="45720" rIns="91440" bIns="45720"/>
          <a:lstStyle/>
          <a:p>
            <a:pPr algn="ctr">
              <a:lnSpc>
                <a:spcPct val="100000"/>
              </a:lnSpc>
              <a:buNone/>
            </a:pPr>
            <a:endParaRPr lang="en-US"/>
          </a:p>
        </p:txBody>
      </p:sp>
      <p:sp>
        <p:nvSpPr>
          <p:cNvPr id="138" name="Rectangle 465"/>
          <p:cNvSpPr txBox="1"/>
          <p:nvPr/>
        </p:nvSpPr>
        <p:spPr>
          <a:xfrm>
            <a:off x="6901891" y="5403190"/>
            <a:ext cx="4621378" cy="267919"/>
          </a:xfrm>
          <a:prstGeom prst="rect">
            <a:avLst/>
          </a:prstGeom>
          <a:solidFill>
            <a:srgbClr val="FFFFFF"/>
          </a:solidFill>
          <a:ln>
            <a:noFill/>
          </a:ln>
        </p:spPr>
        <p:txBody>
          <a:bodyPr wrap="square" anchor="ctr" lIns="91440" tIns="45720" rIns="91440" bIns="45720"/>
          <a:lstStyle/>
          <a:p>
            <a:pPr algn="ctr">
              <a:lnSpc>
                <a:spcPct val="100000"/>
              </a:lnSpc>
              <a:buNone/>
            </a:pPr>
            <a:r>
              <a:rPr lang="en-US" sz="1000" b="1" dirty="0">
                <a:solidFill>
                  <a:srgbClr val="FB6B3C"/>
                </a:solidFill>
                <a:latin typeface="Arial"/>
                <a:ea typeface="Arial"/>
                <a:cs typeface="Arial"/>
              </a:rPr>
              <a:t>Directly related to vessel operations; percentage varies based on basic ocean rate, fuel surcharge, discounts, and other factors </a:t>
            </a:r>
          </a:p>
        </p:txBody>
      </p:sp>
      <p:cxnSp>
        <p:nvCxnSpPr>
          <p:cNvPr id="139" name="Straight Arrow Connector 597"/>
          <p:cNvCxnSpPr/>
          <p:nvPr/>
        </p:nvCxnSpPr>
        <p:spPr>
          <a:xfrm>
            <a:off x="3648456" y="3705149"/>
            <a:ext cx="1976933" cy="636422"/>
          </a:xfrm>
          <a:prstGeom prst="line">
            <a:avLst/>
          </a:prstGeom>
          <a:ln w="12700">
            <a:solidFill>
              <a:srgbClr val="808080"/>
            </a:solidFill>
            <a:prstDash val="dash"/>
          </a:ln>
        </p:spPr>
      </p:cxnSp>
      <p:cxnSp>
        <p:nvCxnSpPr>
          <p:cNvPr id="140" name="Straight Arrow Connector 637"/>
          <p:cNvCxnSpPr/>
          <p:nvPr/>
        </p:nvCxnSpPr>
        <p:spPr>
          <a:xfrm>
            <a:off x="3648456" y="3375050"/>
            <a:ext cx="1985162" cy="389534"/>
          </a:xfrm>
          <a:prstGeom prst="line">
            <a:avLst/>
          </a:prstGeom>
          <a:ln w="12700">
            <a:solidFill>
              <a:srgbClr val="808080"/>
            </a:solidFill>
            <a:prstDash val="dash"/>
          </a:ln>
        </p:spPr>
      </p:cxnSp>
      <p:cxnSp>
        <p:nvCxnSpPr>
          <p:cNvPr id="141" name="Straight Arrow Connector 640"/>
          <p:cNvCxnSpPr/>
          <p:nvPr/>
        </p:nvCxnSpPr>
        <p:spPr>
          <a:xfrm>
            <a:off x="3648456" y="2495398"/>
            <a:ext cx="1976933" cy="643738"/>
          </a:xfrm>
          <a:prstGeom prst="line">
            <a:avLst/>
          </a:prstGeom>
          <a:ln w="12700">
            <a:solidFill>
              <a:srgbClr val="808080"/>
            </a:solidFill>
            <a:prstDash val="dash"/>
          </a:ln>
        </p:spPr>
      </p:cxnSp>
      <p:cxnSp>
        <p:nvCxnSpPr>
          <p:cNvPr id="142" name="Straight Arrow Connector 646"/>
          <p:cNvCxnSpPr/>
          <p:nvPr/>
        </p:nvCxnSpPr>
        <p:spPr>
          <a:xfrm>
            <a:off x="3648456" y="2311603"/>
            <a:ext cx="1985162" cy="281635"/>
          </a:xfrm>
          <a:prstGeom prst="line">
            <a:avLst/>
          </a:prstGeom>
          <a:ln w="12700">
            <a:solidFill>
              <a:srgbClr val="808080"/>
            </a:solidFill>
            <a:prstDash val="dash"/>
          </a:ln>
        </p:spPr>
      </p:cxnSp>
      <p:cxnSp>
        <p:nvCxnSpPr>
          <p:cNvPr id="143" name="Straight Arrow Connector 471"/>
          <p:cNvCxnSpPr/>
          <p:nvPr/>
        </p:nvCxnSpPr>
        <p:spPr>
          <a:xfrm flipV="1">
            <a:off x="3648456" y="2011680"/>
            <a:ext cx="1952244" cy="274320"/>
          </a:xfrm>
          <a:prstGeom prst="line">
            <a:avLst/>
          </a:prstGeom>
          <a:ln w="12700">
            <a:solidFill>
              <a:srgbClr val="808080"/>
            </a:solidFill>
            <a:prstDash val="dash"/>
          </a:ln>
        </p:spPr>
      </p:cxnSp>
      <p:sp>
        <p:nvSpPr>
          <p:cNvPr id="144" name="Rectangle 36"/>
          <p:cNvSpPr txBox="1"/>
          <p:nvPr/>
        </p:nvSpPr>
        <p:spPr>
          <a:xfrm>
            <a:off x="484632" y="1323137"/>
            <a:ext cx="2926080" cy="223114"/>
          </a:xfrm>
          <a:prstGeom prst="rect">
            <a:avLst/>
          </a:prstGeom>
          <a:solidFill>
            <a:srgbClr val="CEDDEC"/>
          </a:solidFill>
          <a:ln>
            <a:noFill/>
          </a:ln>
        </p:spPr>
        <p:txBody>
          <a:bodyPr wrap="square" anchor="ctr" lIns="91440" tIns="45720" rIns="91440" bIns="45720"/>
          <a:lstStyle/>
          <a:p>
            <a:pPr algn="ctr">
              <a:lnSpc>
                <a:spcPct val="100000"/>
              </a:lnSpc>
              <a:buNone/>
            </a:pPr>
            <a:r>
              <a:rPr lang="en-US" sz="1100" b="1" i="1" dirty="0">
                <a:solidFill>
                  <a:srgbClr val="000000"/>
                </a:solidFill>
                <a:latin typeface="Arial"/>
                <a:ea typeface="Arial"/>
                <a:cs typeface="Arial"/>
              </a:rPr>
              <a:t>Spot Rate from CONUS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Commercial Maritime Value Chain</a:t>
            </a:r>
            <a:r>
              <a:rPr lang="en-US" sz="1000" kern="1200" dirty="0">
                <a:solidFill>
                  <a:srgbClr val="44505C"/>
                </a:solidFill>
                <a:latin typeface="Arial"/>
                <a:ea typeface="Arial"/>
                <a:cs typeface="Arial"/>
              </a:rPr>
              <a:t> / Coordination Archetypes</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Coordination Archetypes | Numerous entities play in the Coordination step of the value chain.</a:t>
            </a:r>
          </a:p>
        </p:txBody>
      </p:sp>
      <p:graphicFrame>
        <p:nvGraphicFramePr>
          <p:cNvPr id="100" name="Table 11"/>
          <p:cNvGraphicFramePr>
            <a:graphicFrameLocks noGrp="1"/>
          </p:cNvGraphicFramePr>
          <p:nvPr/>
        </p:nvGraphicFramePr>
        <p:xfrm>
          <a:off x="452628" y="1500530"/>
          <a:ext cx="11247120" cy="4389120"/>
        </p:xfrm>
        <a:graphic>
          <a:graphicData uri="http://schemas.openxmlformats.org/drawingml/2006/table">
            <a:tbl>
              <a:tblPr firstRow="1" firstCol="1" bandRow="0">
                <a:tableStyleId>{2D5ABB26-0587-4C30-8999-92F81FD0307C}</a:tableStyleId>
              </a:tblPr>
              <a:tblGrid>
                <a:gridCol w="1413662"/>
                <a:gridCol w="2366467"/>
                <a:gridCol w="7467905"/>
              </a:tblGrid>
              <a:tr h="0">
                <a:tc>
                  <a:txBody>
                    <a:bodyPr anchor="b"/>
                    <a:lstStyle/>
                    <a:p>
                      <a:pPr algn="l" marL="0" indent="0">
                        <a:lnSpc>
                          <a:spcPct val="100000"/>
                        </a:lnSpc>
                      </a:pPr>
                      <a:r>
                        <a:rPr lang="en-US" sz="1000" b="1" dirty="0">
                          <a:solidFill>
                            <a:srgbClr val="000000"/>
                          </a:solidFill>
                          <a:latin typeface="Arial"/>
                          <a:ea typeface="Arial"/>
                          <a:cs typeface="Arial"/>
                        </a:rPr>
                        <a:t>Categories</a:t>
                      </a:r>
                    </a:p>
                  </a:txBody>
                  <a:tcPr marL="45720" marR="45720" marT="45720" marB="45720" anchor="b">
                    <a:lnL>
                      <a:noFill/>
                    </a:lnL>
                    <a:lnR>
                      <a:noFill/>
                    </a:lnR>
                    <a:lnT>
                      <a:noFill/>
                    </a:lnT>
                    <a:lnB w="12700" cap="flat" cmpd="sng" algn="ctr">
                      <a:solidFill>
                        <a:srgbClr val="000000"/>
                      </a:solidFill>
                      <a:prstDash val="solid"/>
                    </a:lnB>
                    <a:solidFill>
                      <a:srgbClr val="FFFFFF"/>
                    </a:solidFill>
                  </a:tcPr>
                </a:tc>
                <a:tc>
                  <a:txBody>
                    <a:bodyPr anchor="b"/>
                    <a:lstStyle/>
                    <a:p>
                      <a:pPr algn="l" marL="0" indent="0">
                        <a:lnSpc>
                          <a:spcPct val="100000"/>
                        </a:lnSpc>
                      </a:pPr>
                      <a:r>
                        <a:rPr lang="en-US" sz="1000" b="1" dirty="0">
                          <a:solidFill>
                            <a:srgbClr val="000000"/>
                          </a:solidFill>
                          <a:latin typeface="Arial"/>
                          <a:ea typeface="Arial"/>
                          <a:cs typeface="Arial"/>
                        </a:rPr>
                        <a:t>Archetypes</a:t>
                      </a:r>
                    </a:p>
                  </a:txBody>
                  <a:tcPr marL="45720" marR="45720" marT="45720" marB="45720" anchor="b">
                    <a:lnL>
                      <a:noFill/>
                    </a:lnL>
                    <a:lnR>
                      <a:noFill/>
                    </a:lnR>
                    <a:lnT>
                      <a:noFill/>
                    </a:lnT>
                    <a:lnB w="12700" cap="flat" cmpd="sng" algn="ctr">
                      <a:solidFill>
                        <a:srgbClr val="000000"/>
                      </a:solidFill>
                      <a:prstDash val="solid"/>
                    </a:lnB>
                    <a:solidFill>
                      <a:srgbClr val="FFFFFF"/>
                    </a:solidFill>
                  </a:tcPr>
                </a:tc>
                <a:tc>
                  <a:txBody>
                    <a:bodyPr anchor="b"/>
                    <a:lstStyle/>
                    <a:p>
                      <a:pPr algn="l" marL="0" indent="0">
                        <a:lnSpc>
                          <a:spcPct val="100000"/>
                        </a:lnSpc>
                      </a:pPr>
                      <a:r>
                        <a:rPr lang="en-US" sz="1000" b="1" dirty="0">
                          <a:solidFill>
                            <a:srgbClr val="000000"/>
                          </a:solidFill>
                          <a:latin typeface="Arial"/>
                          <a:ea typeface="Arial"/>
                          <a:cs typeface="Arial"/>
                        </a:rPr>
                        <a:t>Responsibilities</a:t>
                      </a:r>
                    </a:p>
                  </a:txBody>
                  <a:tcPr marL="45720" marR="45720" marT="45720" marB="45720" anchor="b">
                    <a:lnL>
                      <a:noFill/>
                    </a:lnL>
                    <a:lnR w="12700" cap="flat" cmpd="sng" algn="ctr">
                      <a:solidFill>
                        <a:srgbClr val="FFFFFF"/>
                      </a:solidFill>
                      <a:prstDash val="solid"/>
                    </a:lnR>
                    <a:lnT>
                      <a:noFill/>
                    </a:lnT>
                    <a:lnB w="12700" cap="flat" cmpd="sng" algn="ctr">
                      <a:solidFill>
                        <a:srgbClr val="000000"/>
                      </a:solidFill>
                      <a:prstDash val="solid"/>
                    </a:lnB>
                    <a:solidFill>
                      <a:srgbClr val="FFFFFF"/>
                    </a:solidFill>
                  </a:tcPr>
                </a:tc>
              </a:tr>
              <a:tr h="0">
                <a:tc rowSpan="2">
                  <a:txBody>
                    <a:bodyPr anchor="ctr"/>
                    <a:lstStyle/>
                    <a:p>
                      <a:pPr algn="l">
                        <a:lnSpc>
                          <a:spcPct val="100000"/>
                        </a:lnSpc>
                      </a:pPr>
                      <a:r>
                        <a:rPr lang="en-US" sz="1000" dirty="0">
                          <a:solidFill>
                            <a:srgbClr val="000000"/>
                          </a:solidFill>
                          <a:latin typeface="Arial"/>
                          <a:ea typeface="Arial"/>
                          <a:cs typeface="Arial"/>
                        </a:rPr>
                        <a:t>Strategic &amp; Integrated Coordinators </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Beneficial Cargo Owner (BCO)</a:t>
                      </a:r>
                    </a:p>
                  </a:txBody>
                  <a:tcPr marL="45720" marR="45720" marT="45720" marB="45720" anchor="ctr">
                    <a:lnL>
                      <a:noFill/>
                    </a:lnL>
                    <a:lnR>
                      <a:noFill/>
                    </a:lnR>
                    <a:lnT w="12700" cap="flat" cmpd="sng" algn="ctr">
                      <a:solidFill>
                        <a:srgbClr val="00000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Owns cargo and manages logistics using internal staff and direct carrier contracts</a:t>
                      </a:r>
                    </a:p>
                  </a:txBody>
                  <a:tcPr marL="45720" marR="45720" marT="45720" marB="45720" anchor="ctr">
                    <a:lnL>
                      <a:noFill/>
                    </a:lnL>
                    <a:lnR w="12700" cap="flat" cmpd="sng" algn="ctr">
                      <a:solidFill>
                        <a:srgbClr val="FFFFFF"/>
                      </a:solidFill>
                      <a:prstDash val="solid"/>
                    </a:lnR>
                    <a:lnT w="12700" cap="flat" cmpd="sng" algn="ctr">
                      <a:solidFill>
                        <a:srgbClr val="00000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Fourth-Party Logistics (4PL)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Manages and optimizes entire supply chain for shippers; </a:t>
                      </a:r>
                      <a:r>
                        <a:rPr lang="en-US" sz="1000" dirty="0">
                          <a:solidFill>
                            <a:srgbClr val="000000"/>
                          </a:solidFill>
                          <a:latin typeface="Arial"/>
                          <a:ea typeface="Arial"/>
                          <a:cs typeface="Arial"/>
                        </a:rPr>
                        <a:t>does not own assets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rowSpan="5">
                  <a:txBody>
                    <a:bodyPr anchor="ctr"/>
                    <a:lstStyle/>
                    <a:p>
                      <a:pPr algn="l">
                        <a:lnSpc>
                          <a:spcPct val="100000"/>
                        </a:lnSpc>
                      </a:pPr>
                      <a:r>
                        <a:rPr lang="en-US" sz="1000" dirty="0">
                          <a:solidFill>
                            <a:srgbClr val="000000"/>
                          </a:solidFill>
                          <a:latin typeface="Arial"/>
                          <a:ea typeface="Arial"/>
                          <a:cs typeface="Arial"/>
                        </a:rPr>
                        <a:t>Operational &amp; Execution Coordinators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Third-Party Logistics (3PL)</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Coordinates functional tasks such as warehousing, fulfillment, picking/packing, and regional distribution for shippers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Freight Forwarders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Orchestrates multimodal transport and manages documentation; acts on behalf of shippers but does not assume liability of carriers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Intermodal Marketing Company</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Secures rail capacity by purchasing slots in bulk to provide inland rail transport</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Domestic Freight Broker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Coordinates domestic trucking capacity, matching independent drivers or small fleets with the inland needs of 3PLs or BCOs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Origin &amp; Destination Drayage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Moves containers between factories, rail ramps, and port terminals via truck</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rowSpan="4">
                  <a:txBody>
                    <a:bodyPr anchor="ctr"/>
                    <a:lstStyle/>
                    <a:p>
                      <a:pPr algn="l">
                        <a:lnSpc>
                          <a:spcPct val="100000"/>
                        </a:lnSpc>
                      </a:pPr>
                      <a:r>
                        <a:rPr lang="en-US" sz="1000" dirty="0">
                          <a:solidFill>
                            <a:srgbClr val="000000"/>
                          </a:solidFill>
                          <a:latin typeface="Arial"/>
                          <a:ea typeface="Arial"/>
                          <a:cs typeface="Arial"/>
                        </a:rPr>
                        <a:t>Legal &amp; Contractual Coordinators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Non-Vessel Operating Common Carrier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marL="0" indent="0">
                        <a:lnSpc>
                          <a:spcPct val="100000"/>
                        </a:lnSpc>
                      </a:pPr>
                      <a:r>
                        <a:rPr lang="en-US" sz="1000" dirty="0">
                          <a:solidFill>
                            <a:srgbClr val="000000"/>
                          </a:solidFill>
                          <a:latin typeface="Arial"/>
                          <a:ea typeface="Arial"/>
                          <a:cs typeface="Arial"/>
                        </a:rPr>
                        <a:t>Books space on operator vessels and resells to shippers without owning ships; a</a:t>
                      </a:r>
                      <a:r>
                        <a:rPr lang="en-US" sz="1000" dirty="0">
                          <a:solidFill>
                            <a:srgbClr val="000000"/>
                          </a:solidFill>
                          <a:latin typeface="Arial"/>
                          <a:ea typeface="Arial"/>
                          <a:cs typeface="Arial"/>
                        </a:rPr>
                        <a:t>ssumes direct legal liability for cargo</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Customs Broker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Manages import/export customs and compliance</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Slot Charterer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Purchases container space on another carrier’s vessel to expand network without capital risk of operating an entire ship</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Shipbroker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Negotiates "Charter Parties" (leasing contracts) and vessel sale-and-purchase transactions between owners and operators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rowSpan="3">
                  <a:txBody>
                    <a:bodyPr anchor="ctr"/>
                    <a:lstStyle/>
                    <a:p>
                      <a:pPr algn="l">
                        <a:lnSpc>
                          <a:spcPct val="100000"/>
                        </a:lnSpc>
                      </a:pPr>
                      <a:r>
                        <a:rPr lang="en-US" sz="1000" dirty="0">
                          <a:solidFill>
                            <a:srgbClr val="000000"/>
                          </a:solidFill>
                          <a:latin typeface="Arial"/>
                          <a:ea typeface="Arial"/>
                          <a:cs typeface="Arial"/>
                        </a:rPr>
                        <a:t>Asset &amp; Equipment Coordinators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IEP (Intermodal Equipment Provider)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Owns and distributes chassis (trailers required to transport containers by road)</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Container Leasing Companies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Leases containers to ocean liners and NVOCCs, managing global inventory and repositioning of equipment</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0">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Empty Container Depots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Coordinates storage, inspection, and repositioning of empty boxes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rowSpan="3">
                  <a:txBody>
                    <a:bodyPr anchor="ctr"/>
                    <a:lstStyle/>
                    <a:p>
                      <a:pPr algn="l">
                        <a:lnSpc>
                          <a:spcPct val="100000"/>
                        </a:lnSpc>
                      </a:pPr>
                      <a:r>
                        <a:rPr lang="en-US" sz="1000" dirty="0">
                          <a:solidFill>
                            <a:srgbClr val="000000"/>
                          </a:solidFill>
                          <a:latin typeface="Arial"/>
                          <a:ea typeface="Arial"/>
                          <a:cs typeface="Arial"/>
                        </a:rPr>
                        <a:t>Financia &amp; Risk Coordinators</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Commercial Banks &amp; Trade Finance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Facilitates movement of money via Letters of Credit (LC), ensuring payment only when proof of shipment (Bill of Lading) is provided</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P&amp;I Clubs / Marine Insurers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Provides liability coverage for global ocean tonnage, managing the "legal safety net" for cargo loss or ship collisions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w="6350" cap="flat" cmpd="sng" algn="ctr">
                      <a:solidFill>
                        <a:srgbClr val="808080"/>
                      </a:solidFill>
                      <a:prstDash val="solid"/>
                    </a:lnB>
                    <a:solidFill>
                      <a:srgbClr val="FFFFFF"/>
                    </a:solidFill>
                  </a:tcPr>
                </a:tc>
              </a:tr>
              <a:tr h="159106">
                <a:tc vMerge="1">
                  <a:txBody>
                    <a:bodyPr/>
                    <a:lstStyle/>
                    <a:p>
                      <a:endParaRPr lang="en-US"/>
                    </a:p>
                  </a:txBody>
                  <a:tcPr/>
                </a:tc>
                <a:tc>
                  <a:txBody>
                    <a:bodyPr anchor="ctr"/>
                    <a:lstStyle/>
                    <a:p>
                      <a:pPr algn="l">
                        <a:lnSpc>
                          <a:spcPct val="100000"/>
                        </a:lnSpc>
                      </a:pPr>
                      <a:r>
                        <a:rPr lang="en-US" sz="1000" dirty="0">
                          <a:solidFill>
                            <a:srgbClr val="000000"/>
                          </a:solidFill>
                          <a:latin typeface="Arial"/>
                          <a:ea typeface="Arial"/>
                          <a:cs typeface="Arial"/>
                        </a:rPr>
                        <a:t>Marine Cargo Surveyor</a:t>
                      </a:r>
                    </a:p>
                  </a:txBody>
                  <a:tcPr marL="45720" marR="45720" marT="45720" marB="45720" anchor="ctr">
                    <a:lnL>
                      <a:noFill/>
                    </a:lnL>
                    <a:lnR>
                      <a:noFill/>
                    </a:lnR>
                    <a:lnT w="6350" cap="flat" cmpd="sng" algn="ctr">
                      <a:solidFill>
                        <a:srgbClr val="808080"/>
                      </a:solidFill>
                      <a:prstDash val="solid"/>
                    </a:lnT>
                    <a:lnB>
                      <a:noFill/>
                    </a:lnB>
                    <a:solidFill>
                      <a:srgbClr val="FFFFFF"/>
                    </a:solidFill>
                  </a:tcPr>
                </a:tc>
                <a:tc>
                  <a:txBody>
                    <a:bodyPr anchor="ctr"/>
                    <a:lstStyle/>
                    <a:p>
                      <a:pPr algn="l">
                        <a:lnSpc>
                          <a:spcPct val="100000"/>
                        </a:lnSpc>
                      </a:pPr>
                      <a:r>
                        <a:rPr lang="en-US" sz="1000" dirty="0">
                          <a:solidFill>
                            <a:srgbClr val="000000"/>
                          </a:solidFill>
                          <a:latin typeface="Arial"/>
                          <a:ea typeface="Arial"/>
                          <a:cs typeface="Arial"/>
                        </a:rPr>
                        <a:t>Verifies cargo condition and proper stowage, providing data needed to coordinate insurance claims between carriers and shippers</a:t>
                      </a:r>
                    </a:p>
                  </a:txBody>
                  <a:tcPr marL="45720" marR="45720" marT="45720" marB="45720" anchor="ctr">
                    <a:lnL>
                      <a:noFill/>
                    </a:lnL>
                    <a:lnR w="12700" cap="flat" cmpd="sng" algn="ctr">
                      <a:solidFill>
                        <a:srgbClr val="FFFFFF"/>
                      </a:solidFill>
                      <a:prstDash val="solid"/>
                    </a:lnR>
                    <a:lnT w="6350" cap="flat" cmpd="sng" algn="ctr">
                      <a:solidFill>
                        <a:srgbClr val="808080"/>
                      </a:solidFill>
                      <a:prstDash val="solid"/>
                    </a:lnT>
                    <a:lnB>
                      <a:noFill/>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Carrier Entry Point Attractiveness</a:t>
            </a:r>
            <a:r>
              <a:rPr lang="en-US" sz="1000" kern="1200" dirty="0">
                <a:solidFill>
                  <a:srgbClr val="44505C"/>
                </a:solidFill>
                <a:latin typeface="Arial"/>
                <a:ea typeface="Arial"/>
                <a:cs typeface="Arial"/>
              </a:rPr>
              <a:t> / Matson Test Case</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Key Inputs | </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graphicFrame>
        <p:nvGraphicFramePr>
          <p:cNvPr id="100" name="Table 610"/>
          <p:cNvGraphicFramePr>
            <a:graphicFrameLocks noGrp="1"/>
          </p:cNvGraphicFramePr>
          <p:nvPr/>
        </p:nvGraphicFramePr>
        <p:xfrm>
          <a:off x="442570" y="968350"/>
          <a:ext cx="11247120" cy="5425135"/>
        </p:xfrm>
        <a:graphic>
          <a:graphicData uri="http://schemas.openxmlformats.org/drawingml/2006/table">
            <a:tbl>
              <a:tblPr firstRow="1" firstCol="1" bandRow="0">
                <a:tableStyleId>{2D5ABB26-0587-4C30-8999-92F81FD0307C}</a:tableStyleId>
              </a:tblPr>
              <a:tblGrid>
                <a:gridCol w="1376172"/>
                <a:gridCol w="2713939"/>
                <a:gridCol w="2713939"/>
                <a:gridCol w="4443984"/>
              </a:tblGrid>
              <a:tr h="0">
                <a:tc>
                  <a:txBody>
                    <a:bodyPr anchor="ctr"/>
                    <a:lstStyle/>
                    <a:p>
                      <a:pPr algn="ctr" marL="0" indent="0">
                        <a:lnSpc>
                          <a:spcPct val="100000"/>
                        </a:lnSpc>
                      </a:pPr>
                      <a:r>
                        <a:rPr lang="en-US" sz="1000" b="1" dirty="0">
                          <a:solidFill>
                            <a:srgbClr val="000000"/>
                          </a:solidFill>
                          <a:latin typeface="Arial"/>
                          <a:ea typeface="Arial"/>
                          <a:cs typeface="Arial"/>
                        </a:rPr>
                        <a:t>Category</a:t>
                      </a:r>
                    </a:p>
                  </a:txBody>
                  <a:tcPr marL="45720" marR="45720" marT="45720" marB="45720" anchor="ctr">
                    <a:lnL>
                      <a:noFill/>
                    </a:lnL>
                    <a:lnR>
                      <a:noFill/>
                    </a:lnR>
                    <a:lnT>
                      <a:noFill/>
                    </a:lnT>
                    <a:lnB w="12700" cap="flat" cmpd="sng" algn="ctr">
                      <a:solidFill>
                        <a:srgbClr val="162029"/>
                      </a:solidFill>
                      <a:prstDash val="solid"/>
                    </a:lnB>
                    <a:noFill/>
                  </a:tcPr>
                </a:tc>
                <a:tc gridSpan="2">
                  <a:txBody>
                    <a:bodyPr anchor="ctr"/>
                    <a:lstStyle/>
                    <a:p>
                      <a:pPr algn="ctr" marL="0" indent="0">
                        <a:lnSpc>
                          <a:spcPct val="100000"/>
                        </a:lnSpc>
                      </a:pPr>
                      <a:r>
                        <a:rPr lang="en-US" sz="1000" b="1" dirty="0">
                          <a:solidFill>
                            <a:srgbClr val="000000"/>
                          </a:solidFill>
                          <a:latin typeface="Arial"/>
                          <a:ea typeface="Arial"/>
                          <a:cs typeface="Arial"/>
                        </a:rPr>
                        <a:t>Inputs</a:t>
                      </a:r>
                    </a:p>
                  </a:txBody>
                  <a:tcPr marL="45720" marR="45720" marT="45720" marB="45720" anchor="ctr">
                    <a:lnL>
                      <a:noFill/>
                    </a:lnL>
                    <a:lnR>
                      <a:noFill/>
                    </a:lnR>
                    <a:lnT>
                      <a:noFill/>
                    </a:lnT>
                    <a:lnB w="12700" cap="flat" cmpd="sng" algn="ctr">
                      <a:solidFill>
                        <a:srgbClr val="162029"/>
                      </a:solidFill>
                      <a:prstDash val="solid"/>
                    </a:lnB>
                    <a:noFill/>
                  </a:tcPr>
                </a:tc>
                <a:tc hMerge="1">
                  <a:txBody>
                    <a:bodyPr/>
                    <a:lstStyle/>
                    <a:p>
                      <a:endParaRPr lang="en-US"/>
                    </a:p>
                  </a:txBody>
                  <a:tcPr/>
                </a:tc>
                <a:tc>
                  <a:txBody>
                    <a:bodyPr anchor="ctr"/>
                    <a:lstStyle/>
                    <a:p>
                      <a:pPr algn="ctr" marL="0" indent="0">
                        <a:lnSpc>
                          <a:spcPct val="100000"/>
                        </a:lnSpc>
                      </a:pPr>
                      <a:r>
                        <a:rPr lang="en-US" sz="1000" b="1" dirty="0">
                          <a:solidFill>
                            <a:srgbClr val="000000"/>
                          </a:solidFill>
                          <a:latin typeface="Arial"/>
                          <a:ea typeface="Arial"/>
                          <a:cs typeface="Arial"/>
                        </a:rPr>
                        <a:t>Source</a:t>
                      </a:r>
                    </a:p>
                  </a:txBody>
                  <a:tcPr marL="45720" marR="45720" marT="45720" marB="45720" anchor="ctr">
                    <a:lnL>
                      <a:noFill/>
                    </a:lnL>
                    <a:lnR>
                      <a:noFill/>
                    </a:lnR>
                    <a:lnT>
                      <a:noFill/>
                    </a:lnT>
                    <a:lnB w="12700" cap="flat" cmpd="sng" algn="ctr">
                      <a:solidFill>
                        <a:srgbClr val="162029"/>
                      </a:solidFill>
                      <a:prstDash val="solid"/>
                    </a:lnB>
                    <a:noFill/>
                  </a:tcPr>
                </a:tc>
              </a:tr>
              <a:tr h="0">
                <a:tc rowSpan="7">
                  <a:txBody>
                    <a:bodyPr anchor="ctr"/>
                    <a:lstStyle/>
                    <a:p>
                      <a:pPr algn="l" marL="0" indent="0">
                        <a:lnSpc>
                          <a:spcPct val="100000"/>
                        </a:lnSpc>
                      </a:pPr>
                      <a:r>
                        <a:rPr lang="en-US" sz="1000" dirty="0">
                          <a:solidFill>
                            <a:srgbClr val="000000"/>
                          </a:solidFill>
                          <a:latin typeface="Arial"/>
                          <a:ea typeface="Arial"/>
                          <a:cs typeface="Arial"/>
                        </a:rPr>
                        <a:t>Volume</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gridSpan="2">
                  <a:txBody>
                    <a:bodyPr anchor="ctr"/>
                    <a:lstStyle/>
                    <a:p>
                      <a:pPr algn="l" marL="0" indent="0">
                        <a:lnSpc>
                          <a:spcPct val="100000"/>
                        </a:lnSpc>
                      </a:pPr>
                      <a:r>
                        <a:rPr lang="en-US" sz="1000" dirty="0">
                          <a:solidFill>
                            <a:srgbClr val="000000"/>
                          </a:solidFill>
                          <a:latin typeface="Arial"/>
                          <a:ea typeface="Arial"/>
                          <a:cs typeface="Arial"/>
                        </a:rPr>
                        <a:t>Number of voyages per vessel</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c hMerge="1">
                  <a:txBody>
                    <a:bodyPr/>
                    <a:lstStyle/>
                    <a:p>
                      <a:endParaRPr lang="en-US"/>
                    </a:p>
                  </a:txBody>
                  <a:tcPr/>
                </a:tc>
                <a:tc>
                  <a:txBody>
                    <a:bodyPr anchor="ctr"/>
                    <a:lstStyle/>
                    <a:p>
                      <a:pPr algn="l" marL="0" indent="0">
                        <a:lnSpc>
                          <a:spcPct val="100000"/>
                        </a:lnSpc>
                      </a:pPr>
                      <a:r>
                        <a:rPr lang="en-US" sz="1000" dirty="0">
                          <a:solidFill>
                            <a:srgbClr val="000000"/>
                          </a:solidFill>
                          <a:latin typeface="Arial"/>
                          <a:ea typeface="Arial"/>
                          <a:cs typeface="Arial"/>
                        </a:rPr>
                        <a:t>Historical AIS data (accessed via Global Fishing Watch)</a:t>
                      </a:r>
                    </a:p>
                  </a:txBody>
                  <a:tcPr marL="45720" marR="45720" marT="45720" marB="45720" anchor="ctr">
                    <a:lnL>
                      <a:noFill/>
                    </a:lnL>
                    <a:lnR>
                      <a:noFill/>
                    </a:lnR>
                    <a:lnT w="12700" cap="flat" cmpd="sng" algn="ctr">
                      <a:solidFill>
                        <a:srgbClr val="162029"/>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Cargo capacity by vessel (TEUs, Reefer, and Autos)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rowSpan="3">
                  <a:txBody>
                    <a:bodyPr anchor="ctr"/>
                    <a:lstStyle/>
                    <a:p>
                      <a:pPr algn="l" marL="0" indent="0">
                        <a:lnSpc>
                          <a:spcPct val="100000"/>
                        </a:lnSpc>
                      </a:pPr>
                      <a:r>
                        <a:rPr lang="en-US" sz="1000" dirty="0">
                          <a:solidFill>
                            <a:srgbClr val="000000"/>
                          </a:solidFill>
                          <a:latin typeface="Arial"/>
                          <a:ea typeface="Arial"/>
                          <a:cs typeface="Arial"/>
                        </a:rPr>
                        <a:t>Matson public filings</a:t>
                      </a:r>
                      <a:br/>
                      <a:r>
                        <a:rPr lang="en-US" sz="1000" dirty="0">
                          <a:solidFill>
                            <a:srgbClr val="000000"/>
                          </a:solidFill>
                          <a:latin typeface="Arial"/>
                          <a:ea typeface="Arial"/>
                          <a:cs typeface="Arial"/>
                        </a:rPr>
                        <a:t>Matson investor presentations</a:t>
                      </a:r>
                      <a:br/>
                      <a:r>
                        <a:rPr lang="en-US" sz="1000" dirty="0">
                          <a:solidFill>
                            <a:srgbClr val="000000"/>
                          </a:solidFill>
                          <a:latin typeface="Arial"/>
                          <a:ea typeface="Arial"/>
                          <a:cs typeface="Arial"/>
                        </a:rPr>
                        <a:t>Internal estimates (utilization levels and Q4 ’25 volume)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Utilization levels by cargo type and route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Matson Hawaii and Guam service volumes (2024 and 2025)</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Proportion of loaded Hawaii cargo by direction (WB and EB)</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rowSpan="2">
                  <a:txBody>
                    <a:bodyPr anchor="ctr"/>
                    <a:lstStyle/>
                    <a:p>
                      <a:pPr algn="l" marL="0" indent="0">
                        <a:lnSpc>
                          <a:spcPct val="100000"/>
                        </a:lnSpc>
                      </a:pPr>
                      <a:r>
                        <a:rPr lang="en-US" sz="1000" dirty="0">
                          <a:solidFill>
                            <a:srgbClr val="000000"/>
                          </a:solidFill>
                          <a:latin typeface="Arial"/>
                          <a:ea typeface="Arial"/>
                          <a:cs typeface="Arial"/>
                        </a:rPr>
                        <a:t>Reeve &amp; Associates</a:t>
                      </a:r>
                      <a:br/>
                      <a:r>
                        <a:rPr lang="en-US" sz="1000" dirty="0">
                          <a:solidFill>
                            <a:srgbClr val="000000"/>
                          </a:solidFill>
                          <a:latin typeface="Arial"/>
                          <a:ea typeface="Arial"/>
                          <a:cs typeface="Arial"/>
                        </a:rPr>
                        <a:t>US Army Corps of Engineers (proportion of loaded cargo)</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Composition of Hawaii cargo by direction (WB and EB)</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000000"/>
                          </a:solidFill>
                          <a:latin typeface="Arial"/>
                          <a:ea typeface="Arial"/>
                          <a:cs typeface="Arial"/>
                        </a:rPr>
                        <a:t>TEU / FEU mix by cargo type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a:txBody>
                    <a:bodyPr anchor="ctr"/>
                    <a:lstStyle/>
                    <a:p>
                      <a:pPr algn="l" marL="0" indent="0">
                        <a:lnSpc>
                          <a:spcPct val="100000"/>
                        </a:lnSpc>
                      </a:pPr>
                      <a:r>
                        <a:rPr lang="en-US" sz="1000" dirty="0">
                          <a:solidFill>
                            <a:srgbClr val="000000"/>
                          </a:solidFill>
                          <a:latin typeface="Arial"/>
                          <a:ea typeface="Arial"/>
                          <a:cs typeface="Arial"/>
                        </a:rPr>
                        <a:t>Hapag-Lloyd (container payload); Internal estimates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rowSpan="3">
                  <a:txBody>
                    <a:bodyPr anchor="ctr"/>
                    <a:lstStyle/>
                    <a:p>
                      <a:pPr algn="l" marL="0" indent="0">
                        <a:lnSpc>
                          <a:spcPct val="100000"/>
                        </a:lnSpc>
                      </a:pPr>
                      <a:r>
                        <a:rPr lang="en-US" sz="1000" dirty="0">
                          <a:solidFill>
                            <a:srgbClr val="162029"/>
                          </a:solidFill>
                          <a:latin typeface="Arial"/>
                          <a:ea typeface="Arial"/>
                          <a:cs typeface="Arial"/>
                        </a:rPr>
                        <a:t>Price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gridSpan="2">
                  <a:txBody>
                    <a:bodyPr anchor="ctr"/>
                    <a:lstStyle/>
                    <a:p>
                      <a:pPr algn="l" marL="0" indent="0">
                        <a:lnSpc>
                          <a:spcPct val="100000"/>
                        </a:lnSpc>
                      </a:pPr>
                      <a:r>
                        <a:rPr lang="en-US" sz="1000" dirty="0">
                          <a:solidFill>
                            <a:srgbClr val="000000"/>
                          </a:solidFill>
                          <a:latin typeface="Arial"/>
                          <a:ea typeface="Arial"/>
                          <a:cs typeface="Arial"/>
                        </a:rPr>
                        <a:t>Commodity-level TEU / FEU rates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rowSpan="3">
                  <a:txBody>
                    <a:bodyPr anchor="ctr"/>
                    <a:lstStyle/>
                    <a:p>
                      <a:pPr algn="l" marL="0" indent="0">
                        <a:lnSpc>
                          <a:spcPct val="100000"/>
                        </a:lnSpc>
                      </a:pPr>
                      <a:r>
                        <a:rPr lang="en-US" sz="1000" dirty="0">
                          <a:solidFill>
                            <a:srgbClr val="000000"/>
                          </a:solidFill>
                          <a:latin typeface="Arial"/>
                          <a:ea typeface="Arial"/>
                          <a:cs typeface="Arial"/>
                        </a:rPr>
                        <a:t>Pasha Hawaii</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Fuel Adjustment Factor</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Shoreside charges (handling/stevedoring, wharfage, and other fees)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rowSpan="3">
                  <a:txBody>
                    <a:bodyPr anchor="ctr"/>
                    <a:lstStyle/>
                    <a:p>
                      <a:pPr algn="l" marL="0" indent="0">
                        <a:lnSpc>
                          <a:spcPct val="100000"/>
                        </a:lnSpc>
                      </a:pPr>
                      <a:r>
                        <a:rPr lang="en-US" sz="1000" dirty="0">
                          <a:solidFill>
                            <a:srgbClr val="162029"/>
                          </a:solidFill>
                          <a:latin typeface="Arial"/>
                          <a:ea typeface="Arial"/>
                          <a:cs typeface="Arial"/>
                        </a:rPr>
                        <a:t>Variable Costs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000" dirty="0">
                          <a:solidFill>
                            <a:srgbClr val="162029"/>
                          </a:solidFill>
                          <a:latin typeface="Arial"/>
                          <a:ea typeface="Arial"/>
                          <a:cs typeface="Arial"/>
                        </a:rPr>
                        <a:t>Fuel Costs:</a:t>
                      </a:r>
                    </a:p>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Distance traveled by vessel and route</a:t>
                      </a:r>
                    </a:p>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Transit speeds by vessel and route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Fuel type used (scrubber presence)</a:t>
                      </a:r>
                    </a:p>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Other fuel burn / engine parameters</a:t>
                      </a:r>
                    </a:p>
                    <a:p>
                      <a:pPr algn="l" marL="171450" indent="-171450">
                        <a:lnSpc>
                          <a:spcPct val="100000"/>
                        </a:lnSpc>
                        <a:buFont typeface="Arial" panose="020B0604020202020204" pitchFamily="34" charset="0"/>
                        <a:buChar char="•"/>
                      </a:pPr>
                      <a:r>
                        <a:rPr lang="en-US" sz="1000" dirty="0">
                          <a:solidFill>
                            <a:srgbClr val="162029"/>
                          </a:solidFill>
                          <a:latin typeface="Arial"/>
                          <a:ea typeface="Arial"/>
                          <a:cs typeface="Arial"/>
                        </a:rPr>
                        <a:t>Bunker fuel prices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a:txBody>
                    <a:bodyPr anchor="ctr"/>
                    <a:lstStyle/>
                    <a:p>
                      <a:pPr algn="l" marL="0" indent="0">
                        <a:lnSpc>
                          <a:spcPct val="100000"/>
                        </a:lnSpc>
                      </a:pPr>
                      <a:r>
                        <a:rPr lang="en-US" sz="1000" dirty="0">
                          <a:solidFill>
                            <a:srgbClr val="000000"/>
                          </a:solidFill>
                          <a:latin typeface="Arial"/>
                          <a:ea typeface="Arial"/>
                          <a:cs typeface="Arial"/>
                        </a:rPr>
                        <a:t>Historical AIS data (accessed via Global Fishing Watch)</a:t>
                      </a:r>
                      <a:r>
                        <a:rPr lang="en-US" sz="1000" dirty="0">
                          <a:solidFill>
                            <a:srgbClr val="000000"/>
                          </a:solidFill>
                          <a:latin typeface="Arial"/>
                          <a:ea typeface="Arial"/>
                          <a:cs typeface="Arial"/>
                        </a:rPr>
                        <a:t>; Open-source research; Internal estimates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Pilotage, dockage, tugboat, and port due fees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a:txBody>
                    <a:bodyPr anchor="ctr"/>
                    <a:lstStyle/>
                    <a:p>
                      <a:pPr algn="l" marL="0" indent="0">
                        <a:lnSpc>
                          <a:spcPct val="100000"/>
                        </a:lnSpc>
                      </a:pPr>
                      <a:r>
                        <a:rPr lang="en-US" sz="1000" dirty="0">
                          <a:solidFill>
                            <a:srgbClr val="000000"/>
                          </a:solidFill>
                          <a:latin typeface="Arial"/>
                          <a:ea typeface="Arial"/>
                          <a:cs typeface="Arial"/>
                        </a:rPr>
                        <a:t>Open-source research</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Shoreside charges </a:t>
                      </a:r>
                      <a:r>
                        <a:rPr lang="en-US" sz="1000" i="1" dirty="0">
                          <a:solidFill>
                            <a:srgbClr val="162029"/>
                          </a:solidFill>
                          <a:latin typeface="Arial"/>
                          <a:ea typeface="Arial"/>
                          <a:cs typeface="Arial"/>
                        </a:rPr>
                        <a:t>(same as above)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a:txBody>
                    <a:bodyPr anchor="ctr"/>
                    <a:lstStyle/>
                    <a:p>
                      <a:pPr algn="l" marL="0" indent="0">
                        <a:lnSpc>
                          <a:spcPct val="100000"/>
                        </a:lnSpc>
                      </a:pPr>
                      <a:r>
                        <a:rPr lang="en-US" sz="1000" dirty="0">
                          <a:solidFill>
                            <a:srgbClr val="000000"/>
                          </a:solidFill>
                          <a:latin typeface="Arial"/>
                          <a:ea typeface="Arial"/>
                          <a:cs typeface="Arial"/>
                        </a:rPr>
                        <a:t>Pasha Hawaii </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r>
              <a:tr h="0">
                <a:tc rowSpan="7">
                  <a:txBody>
                    <a:bodyPr anchor="ctr"/>
                    <a:lstStyle/>
                    <a:p>
                      <a:pPr algn="l" marL="0" indent="0">
                        <a:lnSpc>
                          <a:spcPct val="100000"/>
                        </a:lnSpc>
                      </a:pPr>
                      <a:r>
                        <a:rPr lang="en-US" sz="1000" dirty="0">
                          <a:solidFill>
                            <a:srgbClr val="162029"/>
                          </a:solidFill>
                          <a:latin typeface="Arial"/>
                          <a:ea typeface="Arial"/>
                          <a:cs typeface="Arial"/>
                        </a:rPr>
                        <a:t>Operating Expenses</a:t>
                      </a:r>
                    </a:p>
                  </a:txBody>
                  <a:tcPr marL="45720" marR="45720" marT="45720" marB="45720" anchor="ctr">
                    <a:lnL>
                      <a:noFill/>
                    </a:lnL>
                    <a:lnR>
                      <a:noFill/>
                    </a:lnR>
                    <a:lnT w="6350" cap="flat" cmpd="sng" algn="ctr">
                      <a:solidFill>
                        <a:srgbClr val="808080"/>
                      </a:solidFill>
                      <a:prstDash val="solid"/>
                    </a:lnT>
                    <a:lnB>
                      <a:noFill/>
                    </a:lnB>
                    <a:noFill/>
                  </a:tcPr>
                </a:tc>
                <a:tc gridSpan="2">
                  <a:txBody>
                    <a:bodyPr anchor="ctr"/>
                    <a:lstStyle/>
                    <a:p>
                      <a:pPr algn="l" marL="0" indent="0">
                        <a:lnSpc>
                          <a:spcPct val="100000"/>
                        </a:lnSpc>
                      </a:pPr>
                      <a:r>
                        <a:rPr lang="en-US" sz="1000" dirty="0">
                          <a:solidFill>
                            <a:srgbClr val="162029"/>
                          </a:solidFill>
                          <a:latin typeface="Arial"/>
                          <a:ea typeface="Arial"/>
                          <a:cs typeface="Arial"/>
                        </a:rPr>
                        <a:t>Crew</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rowSpan="7">
                  <a:txBody>
                    <a:bodyPr anchor="ctr"/>
                    <a:lstStyle/>
                    <a:p>
                      <a:pPr algn="l" marL="0" indent="0">
                        <a:lnSpc>
                          <a:spcPct val="100000"/>
                        </a:lnSpc>
                      </a:pPr>
                      <a:r>
                        <a:rPr lang="en-US" sz="1000" dirty="0">
                          <a:solidFill>
                            <a:srgbClr val="000000"/>
                          </a:solidFill>
                          <a:latin typeface="Arial"/>
                          <a:ea typeface="Arial"/>
                          <a:cs typeface="Arial"/>
                        </a:rPr>
                        <a:t>Open-source research</a:t>
                      </a:r>
                      <a:br/>
                      <a:r>
                        <a:rPr lang="en-US" sz="1000" dirty="0">
                          <a:solidFill>
                            <a:srgbClr val="000000"/>
                          </a:solidFill>
                          <a:latin typeface="Arial"/>
                          <a:ea typeface="Arial"/>
                          <a:cs typeface="Arial"/>
                        </a:rPr>
                        <a:t>Internal estimates (based on industry experience)</a:t>
                      </a:r>
                    </a:p>
                  </a:txBody>
                  <a:tcPr marL="45720" marR="45720" marT="45720" marB="45720" anchor="ctr">
                    <a:lnL>
                      <a:noFill/>
                    </a:lnL>
                    <a:lnR>
                      <a:noFill/>
                    </a:lnR>
                    <a:lnT w="6350" cap="flat" cmpd="sng" algn="ctr">
                      <a:solidFill>
                        <a:srgbClr val="808080"/>
                      </a:solidFill>
                      <a:prstDash val="solid"/>
                    </a:lnT>
                    <a:lnB>
                      <a:noFill/>
                    </a:lnB>
                    <a:noFill/>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Insurance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Stores &amp; spares</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R&amp;M</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Dry-dock (annualized)</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Management &amp; administrative</a:t>
                      </a:r>
                    </a:p>
                  </a:txBody>
                  <a:tcPr marL="45720" marR="45720" marT="45720" marB="45720" anchor="ctr">
                    <a:lnL>
                      <a:noFill/>
                    </a:lnL>
                    <a:lnR>
                      <a:noFill/>
                    </a:lnR>
                    <a:lnT w="6350" cap="flat" cmpd="sng" algn="ctr">
                      <a:solidFill>
                        <a:srgbClr val="808080"/>
                      </a:solidFill>
                      <a:prstDash val="solid"/>
                    </a:lnT>
                    <a:lnB w="6350" cap="flat" cmpd="sng" algn="ctr">
                      <a:solidFill>
                        <a:srgbClr val="808080"/>
                      </a:solidFill>
                      <a:prstDash val="solid"/>
                    </a:lnB>
                    <a:noFill/>
                  </a:tcPr>
                </a:tc>
                <a:tc hMerge="1">
                  <a:txBody>
                    <a:bodyPr/>
                    <a:lstStyle/>
                    <a:p>
                      <a:endParaRPr lang="en-US"/>
                    </a:p>
                  </a:txBody>
                  <a:tcPr/>
                </a:tc>
                <a:tc vMerge="1">
                  <a:txBody>
                    <a:bodyPr/>
                    <a:lstStyle/>
                    <a:p>
                      <a:endParaRPr lang="en-US"/>
                    </a:p>
                  </a:txBody>
                  <a:tcPr/>
                </a:tc>
              </a:tr>
              <a:tr h="0">
                <a:tc vMerge="1">
                  <a:txBody>
                    <a:bodyPr/>
                    <a:lstStyle/>
                    <a:p>
                      <a:endParaRPr lang="en-US"/>
                    </a:p>
                  </a:txBody>
                  <a:tcPr/>
                </a:tc>
                <a:tc gridSpan="2">
                  <a:txBody>
                    <a:bodyPr anchor="ctr"/>
                    <a:lstStyle/>
                    <a:p>
                      <a:pPr algn="l" marL="0" indent="0">
                        <a:lnSpc>
                          <a:spcPct val="100000"/>
                        </a:lnSpc>
                      </a:pPr>
                      <a:r>
                        <a:rPr lang="en-US" sz="1000" dirty="0">
                          <a:solidFill>
                            <a:srgbClr val="162029"/>
                          </a:solidFill>
                          <a:latin typeface="Arial"/>
                          <a:ea typeface="Arial"/>
                          <a:cs typeface="Arial"/>
                        </a:rPr>
                        <a:t>Depreciation &amp; amortization</a:t>
                      </a:r>
                    </a:p>
                  </a:txBody>
                  <a:tcPr marL="45720" marR="45720" marT="45720" marB="45720" anchor="ctr">
                    <a:lnL>
                      <a:noFill/>
                    </a:lnL>
                    <a:lnR>
                      <a:noFill/>
                    </a:lnR>
                    <a:lnT w="6350" cap="flat" cmpd="sng" algn="ctr">
                      <a:solidFill>
                        <a:srgbClr val="808080"/>
                      </a:solidFill>
                      <a:prstDash val="solid"/>
                    </a:lnT>
                    <a:lnB>
                      <a:noFill/>
                    </a:lnB>
                    <a:noFill/>
                  </a:tcPr>
                </a:tc>
                <a:tc hMerge="1">
                  <a:txBody>
                    <a:bodyPr/>
                    <a:lstStyle/>
                    <a:p>
                      <a:endParaRPr lang="en-US"/>
                    </a:p>
                  </a:txBody>
                  <a:tcPr/>
                </a:tc>
                <a:tc vMerge="1">
                  <a:txBody>
                    <a:bodyPr/>
                    <a:lstStyle/>
                    <a:p>
                      <a:endParaRPr lang="en-US"/>
                    </a:p>
                  </a:txBody>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Golden Dome Requirements</a:t>
            </a:r>
            <a:r>
              <a:rPr lang="en-US" sz="1000" kern="1200" dirty="0">
                <a:solidFill>
                  <a:srgbClr val="44505C"/>
                </a:solidFill>
                <a:latin typeface="Arial"/>
                <a:ea typeface="Arial"/>
                <a:cs typeface="Arial"/>
              </a:rPr>
              <a:t> / Platform Quantities</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Comparison vs. DDGs | Total GD MR procurement cost is roughly the same as four Arleigh Burke-class destroyers while delivering 10x+ the interceptor capacity</a:t>
            </a:r>
          </a:p>
        </p:txBody>
      </p:sp>
      <p:pic>
        <p:nvPicPr>
          <p:cNvPr id="100" name="Picture 2"/>
          <p:cNvPicPr>
            <a:picLocks noChangeAspect="1"/>
          </p:cNvPicPr>
          <p:nvPr/>
        </p:nvPicPr>
        <p:blipFill>
          <a:blip r:embed="rId3"/>
          <a:stretch>
            <a:fillRect/>
          </a:stretch>
        </p:blipFill>
        <p:spPr>
          <a:xfrm>
            <a:off x="10452506" y="43891"/>
            <a:ext cx="843077" cy="843077"/>
          </a:xfrm>
          <a:prstGeom prst="rect">
            <a:avLst/>
          </a:prstGeom>
        </p:spPr>
      </p:pic>
      <p:pic>
        <p:nvPicPr>
          <p:cNvPr id="101" name="Picture 8"/>
          <p:cNvPicPr>
            <a:picLocks noChangeAspect="1"/>
          </p:cNvPicPr>
          <p:nvPr/>
        </p:nvPicPr>
        <p:blipFill>
          <a:blip r:embed="rId4"/>
          <a:stretch>
            <a:fillRect/>
          </a:stretch>
        </p:blipFill>
        <p:spPr>
          <a:xfrm>
            <a:off x="11312957" y="43891"/>
            <a:ext cx="843077" cy="843077"/>
          </a:xfrm>
          <a:prstGeom prst="rect">
            <a:avLst/>
          </a:prstGeom>
        </p:spPr>
      </p:pic>
      <p:graphicFrame>
        <p:nvGraphicFramePr>
          <p:cNvPr id="102" name="Chart"/>
          <p:cNvGraphicFramePr/>
          <p:nvPr/>
        </p:nvGraphicFramePr>
        <p:xfrm>
          <a:off x="382219" y="2468880"/>
          <a:ext cx="5548579" cy="3343046"/>
        </p:xfrm>
        <a:graphic>
          <a:graphicData uri="http://schemas.openxmlformats.org/drawingml/2006/chart">
            <c:chart xmlns:c="http://schemas.openxmlformats.org/drawingml/2006/chart" xmlns:r="http://schemas.openxmlformats.org/officeDocument/2006/relationships" r:id="rId2"/>
          </a:graphicData>
        </a:graphic>
      </p:graphicFrame>
      <p:sp>
        <p:nvSpPr>
          <p:cNvPr id="103" name="Text Placeholder 25"/>
          <p:cNvSpPr txBox="1"/>
          <p:nvPr/>
        </p:nvSpPr>
        <p:spPr>
          <a:xfrm>
            <a:off x="485546" y="2294230"/>
            <a:ext cx="1373429"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P</a:t>
            </a:r>
            <a:r>
              <a:rPr lang="en-US" sz="1000" b="1" dirty="0">
                <a:solidFill>
                  <a:srgbClr val="000000"/>
                </a:solidFill>
                <a:latin typeface="Arial"/>
                <a:ea typeface="Arial"/>
                <a:cs typeface="Arial"/>
              </a:rPr>
              <a:t>rocurement cost ($M)</a:t>
            </a:r>
          </a:p>
        </p:txBody>
      </p:sp>
      <p:sp>
        <p:nvSpPr>
          <p:cNvPr id="104" name="Label"/>
          <p:cNvSpPr txBox="1"/>
          <p:nvPr/>
        </p:nvSpPr>
        <p:spPr>
          <a:xfrm>
            <a:off x="1964131" y="5206594"/>
            <a:ext cx="491947"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DDG #1</a:t>
            </a:r>
          </a:p>
        </p:txBody>
      </p:sp>
      <p:sp>
        <p:nvSpPr>
          <p:cNvPr id="105" name="Label"/>
          <p:cNvSpPr txBox="1"/>
          <p:nvPr/>
        </p:nvSpPr>
        <p:spPr>
          <a:xfrm>
            <a:off x="1964131" y="4462272"/>
            <a:ext cx="491947"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DDG #2</a:t>
            </a:r>
          </a:p>
        </p:txBody>
      </p:sp>
      <p:sp>
        <p:nvSpPr>
          <p:cNvPr id="106" name="Label"/>
          <p:cNvSpPr txBox="1"/>
          <p:nvPr/>
        </p:nvSpPr>
        <p:spPr>
          <a:xfrm>
            <a:off x="1964131" y="3719779"/>
            <a:ext cx="491947"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DDG #4</a:t>
            </a:r>
          </a:p>
        </p:txBody>
      </p:sp>
      <p:sp>
        <p:nvSpPr>
          <p:cNvPr id="107" name="Text Placeholder 25"/>
          <p:cNvSpPr txBox="1"/>
          <p:nvPr/>
        </p:nvSpPr>
        <p:spPr>
          <a:xfrm>
            <a:off x="1964131" y="2974543"/>
            <a:ext cx="491947" cy="15270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000000"/>
                </a:solidFill>
                <a:latin typeface="Arial"/>
                <a:ea typeface="Arial"/>
                <a:cs typeface="Arial"/>
              </a:rPr>
              <a:t>DDG #4</a:t>
            </a:r>
          </a:p>
        </p:txBody>
      </p:sp>
      <p:sp>
        <p:nvSpPr>
          <p:cNvPr id="108" name="Text Placeholder 25"/>
          <p:cNvSpPr txBox="1"/>
          <p:nvPr/>
        </p:nvSpPr>
        <p:spPr>
          <a:xfrm>
            <a:off x="1322222" y="5699455"/>
            <a:ext cx="1776679"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Arleigh Burke-class destroyers</a:t>
            </a:r>
            <a:r>
              <a:rPr lang="en-US" sz="1000" dirty="0">
                <a:solidFill>
                  <a:srgbClr val="000000"/>
                </a:solidFill>
                <a:latin typeface="Arial"/>
                <a:ea typeface="Arial"/>
                <a:cs typeface="Arial"/>
              </a:rPr>
              <a:t>1</a:t>
            </a:r>
          </a:p>
        </p:txBody>
      </p:sp>
      <p:sp>
        <p:nvSpPr>
          <p:cNvPr id="109" name="Text Placeholder 25"/>
          <p:cNvSpPr txBox="1"/>
          <p:nvPr/>
        </p:nvSpPr>
        <p:spPr>
          <a:xfrm>
            <a:off x="4052621" y="4732020"/>
            <a:ext cx="1166774" cy="457200"/>
          </a:xfrm>
          <a:prstGeom prst="rect">
            <a:avLst/>
          </a:prstGeom>
          <a:noFill/>
          <a:ln>
            <a:noFill/>
          </a:ln>
        </p:spPr>
        <p:txBody>
          <a:bodyPr wrap="none" anchor="ctr" lIns="17463" tIns="0" rIns="17463" bIns="0"/>
          <a:lstStyle/>
          <a:p>
            <a:pPr algn="ctr" marL="0" indent="0">
              <a:lnSpc>
                <a:spcPct val="100000"/>
              </a:lnSpc>
              <a:buNone/>
            </a:pPr>
            <a:r>
              <a:rPr lang="en-US" sz="1000" dirty="0">
                <a:solidFill>
                  <a:srgbClr val="FFFFFF"/>
                </a:solidFill>
                <a:latin typeface="Arial"/>
                <a:ea typeface="Arial"/>
                <a:cs typeface="Arial"/>
              </a:rPr>
              <a:t>MR #1-#120</a:t>
            </a:r>
            <a:br/>
            <a:r>
              <a:rPr lang="en-US" sz="1000" dirty="0">
                <a:solidFill>
                  <a:srgbClr val="FFFFFF"/>
                </a:solidFill>
                <a:latin typeface="Arial"/>
                <a:ea typeface="Arial"/>
                <a:cs typeface="Arial"/>
              </a:rPr>
              <a:t>(Co-located sensors</a:t>
            </a:r>
            <a:br/>
            <a:r>
              <a:rPr lang="en-US" sz="1000" dirty="0">
                <a:solidFill>
                  <a:srgbClr val="FFFFFF"/>
                </a:solidFill>
                <a:latin typeface="Arial"/>
                <a:ea typeface="Arial"/>
                <a:cs typeface="Arial"/>
              </a:rPr>
              <a:t>and interceptors)</a:t>
            </a:r>
          </a:p>
        </p:txBody>
      </p:sp>
      <p:sp>
        <p:nvSpPr>
          <p:cNvPr id="110" name="Text Placeholder 25"/>
          <p:cNvSpPr txBox="1"/>
          <p:nvPr/>
        </p:nvSpPr>
        <p:spPr>
          <a:xfrm>
            <a:off x="3895344" y="5699455"/>
            <a:ext cx="1479499"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Golden Dome Marauders</a:t>
            </a:r>
            <a:r>
              <a:rPr lang="en-US" sz="1000" dirty="0">
                <a:solidFill>
                  <a:srgbClr val="000000"/>
                </a:solidFill>
                <a:latin typeface="Arial"/>
                <a:ea typeface="Arial"/>
                <a:cs typeface="Arial"/>
              </a:rPr>
              <a:t>2</a:t>
            </a:r>
          </a:p>
        </p:txBody>
      </p:sp>
      <p:sp>
        <p:nvSpPr>
          <p:cNvPr id="111" name="Text Placeholder 25"/>
          <p:cNvSpPr txBox="1"/>
          <p:nvPr/>
        </p:nvSpPr>
        <p:spPr>
          <a:xfrm>
            <a:off x="2000707" y="2501798"/>
            <a:ext cx="41879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10,800</a:t>
            </a:r>
          </a:p>
        </p:txBody>
      </p:sp>
      <p:sp>
        <p:nvSpPr>
          <p:cNvPr id="112" name="Text Placeholder 25"/>
          <p:cNvSpPr txBox="1"/>
          <p:nvPr/>
        </p:nvSpPr>
        <p:spPr>
          <a:xfrm>
            <a:off x="4425696" y="2700223"/>
            <a:ext cx="418795"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10,080</a:t>
            </a:r>
          </a:p>
        </p:txBody>
      </p:sp>
      <p:sp>
        <p:nvSpPr>
          <p:cNvPr id="113" name="Text Placeholder 25"/>
          <p:cNvSpPr txBox="1"/>
          <p:nvPr/>
        </p:nvSpPr>
        <p:spPr>
          <a:xfrm>
            <a:off x="4041648" y="3419856"/>
            <a:ext cx="1187806" cy="304495"/>
          </a:xfrm>
          <a:prstGeom prst="rect">
            <a:avLst/>
          </a:prstGeom>
          <a:noFill/>
          <a:ln>
            <a:noFill/>
          </a:ln>
        </p:spPr>
        <p:txBody>
          <a:bodyPr wrap="none" anchor="ctr" lIns="17463" tIns="0" rIns="17463" bIns="0"/>
          <a:lstStyle/>
          <a:p>
            <a:pPr algn="ctr" marL="0" indent="0">
              <a:lnSpc>
                <a:spcPct val="100000"/>
              </a:lnSpc>
              <a:buNone/>
            </a:pPr>
            <a:r>
              <a:rPr lang="en-US" sz="1000" dirty="0">
                <a:solidFill>
                  <a:srgbClr val="000000"/>
                </a:solidFill>
                <a:latin typeface="Arial"/>
                <a:ea typeface="Arial"/>
                <a:cs typeface="Arial"/>
              </a:rPr>
              <a:t>MR #121-#240 </a:t>
            </a:r>
            <a:br/>
            <a:r>
              <a:rPr lang="en-US" sz="1000" dirty="0">
                <a:solidFill>
                  <a:srgbClr val="000000"/>
                </a:solidFill>
                <a:latin typeface="Arial"/>
                <a:ea typeface="Arial"/>
                <a:cs typeface="Arial"/>
              </a:rPr>
              <a:t>(Separate platforms)</a:t>
            </a:r>
          </a:p>
        </p:txBody>
      </p:sp>
      <p:graphicFrame>
        <p:nvGraphicFramePr>
          <p:cNvPr id="114" name="Table 435"/>
          <p:cNvGraphicFramePr>
            <a:graphicFrameLocks noGrp="1"/>
          </p:cNvGraphicFramePr>
          <p:nvPr/>
        </p:nvGraphicFramePr>
        <p:xfrm>
          <a:off x="452628" y="1548994"/>
          <a:ext cx="5395874" cy="304495"/>
        </p:xfrm>
        <a:graphic>
          <a:graphicData uri="http://schemas.openxmlformats.org/drawingml/2006/table">
            <a:tbl>
              <a:tblPr firstRow="1" firstCol="1" bandRow="0">
                <a:tableStyleId>{2D5ABB26-0587-4C30-8999-92F81FD0307C}</a:tableStyleId>
              </a:tblPr>
              <a:tblGrid>
                <a:gridCol w="5395874"/>
              </a:tblGrid>
              <a:tr h="0">
                <a:tc>
                  <a:txBody>
                    <a:bodyPr anchor="b"/>
                    <a:lstStyle/>
                    <a:p>
                      <a:pPr algn="l">
                        <a:lnSpc>
                          <a:spcPct val="100000"/>
                        </a:lnSpc>
                      </a:pPr>
                      <a:r>
                        <a:rPr lang="en-US" sz="1200" b="1" dirty="0">
                          <a:solidFill>
                            <a:srgbClr val="000000"/>
                          </a:solidFill>
                          <a:latin typeface="Arial"/>
                          <a:ea typeface="Arial"/>
                          <a:cs typeface="Arial"/>
                        </a:rPr>
                        <a:t>Cost comparison – </a:t>
                      </a:r>
                      <a:r>
                        <a:rPr lang="en-US" sz="1200" b="1" i="1" dirty="0">
                          <a:solidFill>
                            <a:srgbClr val="000000"/>
                          </a:solidFill>
                          <a:latin typeface="Arial"/>
                          <a:ea typeface="Arial"/>
                          <a:cs typeface="Arial"/>
                        </a:rPr>
                        <a:t>Arleigh Burke</a:t>
                      </a:r>
                      <a:r>
                        <a:rPr lang="en-US" sz="1200" b="1" dirty="0">
                          <a:solidFill>
                            <a:srgbClr val="000000"/>
                          </a:solidFill>
                          <a:latin typeface="Arial"/>
                          <a:ea typeface="Arial"/>
                          <a:cs typeface="Arial"/>
                        </a:rPr>
                        <a:t>-class destroyers </a:t>
                      </a:r>
                      <a:r>
                        <a:rPr lang="en-US" sz="1200" b="1" dirty="0">
                          <a:solidFill>
                            <a:srgbClr val="000000"/>
                          </a:solidFill>
                          <a:latin typeface="Arial"/>
                          <a:ea typeface="Arial"/>
                          <a:cs typeface="Arial"/>
                        </a:rPr>
                        <a:t>vs. GD Marauders</a:t>
                      </a:r>
                    </a:p>
                  </a:txBody>
                  <a:tcPr marL="60960" marR="60960" marT="60960" marB="60960" anchor="b">
                    <a:lnL>
                      <a:noFill/>
                    </a:lnL>
                    <a:lnR>
                      <a:noFill/>
                    </a:lnR>
                    <a:lnT>
                      <a:noFill/>
                    </a:lnT>
                    <a:lnB w="12700" cap="flat" cmpd="sng" algn="ctr">
                      <a:solidFill>
                        <a:srgbClr val="162029"/>
                      </a:solidFill>
                      <a:prstDash val="solid"/>
                    </a:lnB>
                    <a:noFill/>
                  </a:tcPr>
                </a:tc>
              </a:tr>
            </a:tbl>
          </a:graphicData>
        </a:graphic>
      </p:graphicFrame>
      <p:graphicFrame>
        <p:nvGraphicFramePr>
          <p:cNvPr id="115" name="Table 578"/>
          <p:cNvGraphicFramePr>
            <a:graphicFrameLocks noGrp="1"/>
          </p:cNvGraphicFramePr>
          <p:nvPr/>
        </p:nvGraphicFramePr>
        <p:xfrm>
          <a:off x="6366053" y="1548994"/>
          <a:ext cx="5486400" cy="4114800"/>
        </p:xfrm>
        <a:graphic>
          <a:graphicData uri="http://schemas.openxmlformats.org/drawingml/2006/table">
            <a:tbl>
              <a:tblPr firstRow="1" firstCol="1" bandRow="0">
                <a:tableStyleId>{2D5ABB26-0587-4C30-8999-92F81FD0307C}</a:tableStyleId>
              </a:tblPr>
              <a:tblGrid>
                <a:gridCol w="2550262"/>
                <a:gridCol w="386791"/>
                <a:gridCol w="2550262"/>
              </a:tblGrid>
              <a:tr h="309067">
                <a:tc gridSpan="3">
                  <a:txBody>
                    <a:bodyPr anchor="b"/>
                    <a:lstStyle/>
                    <a:p>
                      <a:pPr algn="l">
                        <a:lnSpc>
                          <a:spcPct val="100000"/>
                        </a:lnSpc>
                      </a:pPr>
                      <a:r>
                        <a:rPr lang="en-US" sz="1200" b="1" dirty="0">
                          <a:solidFill>
                            <a:srgbClr val="000000"/>
                          </a:solidFill>
                          <a:latin typeface="Arial"/>
                          <a:ea typeface="Arial"/>
                          <a:cs typeface="Arial"/>
                        </a:rPr>
                        <a:t>Capability comparison – Strike munitions capacity</a:t>
                      </a:r>
                    </a:p>
                  </a:txBody>
                  <a:tcPr marL="60960" marR="60960" marT="60960" marB="60960" anchor="b">
                    <a:lnL>
                      <a:noFill/>
                    </a:lnL>
                    <a:lnR>
                      <a:noFill/>
                    </a:lnR>
                    <a:lnT>
                      <a:noFill/>
                    </a:lnT>
                    <a:lnB w="12700" cap="flat" cmpd="sng" algn="ctr">
                      <a:solidFill>
                        <a:srgbClr val="162029"/>
                      </a:solidFill>
                      <a:prstDash val="solid"/>
                    </a:lnB>
                    <a:noFill/>
                  </a:tcPr>
                </a:tc>
                <a:tc hMerge="1">
                  <a:txBody>
                    <a:bodyPr/>
                    <a:lstStyle/>
                    <a:p>
                      <a:endParaRPr lang="en-US"/>
                    </a:p>
                  </a:txBody>
                  <a:tcPr/>
                </a:tc>
                <a:tc hMerge="1">
                  <a:txBody>
                    <a:bodyPr/>
                    <a:lstStyle/>
                    <a:p>
                      <a:endParaRPr lang="en-US"/>
                    </a:p>
                  </a:txBody>
                  <a:tcPr/>
                </a:tc>
              </a:tr>
              <a:tr h="201168">
                <a:tc>
                  <a:txBody>
                    <a:bodyPr anchor="b"/>
                    <a:lstStyle/>
                    <a:p>
                      <a:pPr algn="ctr">
                        <a:lnSpc>
                          <a:spcPct val="100000"/>
                        </a:lnSpc>
                      </a:pPr>
                      <a:endParaRPr lang="en-US" sz="100"/>
                    </a:p>
                  </a:txBody>
                  <a:tcPr marL="60960" marR="60960" marT="60960" marB="60960" anchor="b">
                    <a:lnL>
                      <a:noFill/>
                    </a:lnL>
                    <a:lnR>
                      <a:noFill/>
                    </a:lnR>
                    <a:lnT w="12700" cap="flat" cmpd="sng" algn="ctr">
                      <a:solidFill>
                        <a:srgbClr val="162029"/>
                      </a:solidFill>
                      <a:prstDash val="solid"/>
                    </a:lnT>
                    <a:lnB>
                      <a:noFill/>
                    </a:lnB>
                    <a:noFill/>
                  </a:tcPr>
                </a:tc>
                <a:tc>
                  <a:txBody>
                    <a:bodyPr anchor="b"/>
                    <a:lstStyle/>
                    <a:p>
                      <a:pPr algn="ctr">
                        <a:lnSpc>
                          <a:spcPct val="100000"/>
                        </a:lnSpc>
                      </a:pPr>
                      <a:endParaRPr lang="en-US" sz="100"/>
                    </a:p>
                  </a:txBody>
                  <a:tcPr marL="60960" marR="60960" marT="60960" marB="60960" anchor="b">
                    <a:lnL>
                      <a:noFill/>
                    </a:lnL>
                    <a:lnR>
                      <a:noFill/>
                    </a:lnR>
                    <a:lnT w="12700" cap="flat" cmpd="sng" algn="ctr">
                      <a:solidFill>
                        <a:srgbClr val="162029"/>
                      </a:solidFill>
                      <a:prstDash val="solid"/>
                    </a:lnT>
                    <a:lnB>
                      <a:noFill/>
                    </a:lnB>
                    <a:noFill/>
                  </a:tcPr>
                </a:tc>
                <a:tc>
                  <a:txBody>
                    <a:bodyPr anchor="b"/>
                    <a:lstStyle/>
                    <a:p>
                      <a:pPr algn="ctr">
                        <a:lnSpc>
                          <a:spcPct val="100000"/>
                        </a:lnSpc>
                      </a:pPr>
                      <a:endParaRPr lang="en-US" sz="100"/>
                    </a:p>
                  </a:txBody>
                  <a:tcPr marL="60960" marR="60960" marT="60960" marB="60960" anchor="b">
                    <a:lnL>
                      <a:noFill/>
                    </a:lnL>
                    <a:lnR>
                      <a:noFill/>
                    </a:lnR>
                    <a:lnT w="12700" cap="flat" cmpd="sng" algn="ctr">
                      <a:solidFill>
                        <a:srgbClr val="162029"/>
                      </a:solidFill>
                      <a:prstDash val="solid"/>
                    </a:lnT>
                    <a:lnB>
                      <a:noFill/>
                    </a:lnB>
                    <a:noFill/>
                  </a:tcPr>
                </a:tc>
              </a:tr>
              <a:tr h="493776">
                <a:tc>
                  <a:txBody>
                    <a:bodyPr anchor="ctr"/>
                    <a:lstStyle/>
                    <a:p>
                      <a:pPr algn="ctr">
                        <a:lnSpc>
                          <a:spcPct val="100000"/>
                        </a:lnSpc>
                      </a:pPr>
                      <a:r>
                        <a:rPr lang="en-US" sz="1200" b="1" dirty="0">
                          <a:solidFill>
                            <a:srgbClr val="FFFFFF"/>
                          </a:solidFill>
                          <a:latin typeface="Arial"/>
                          <a:ea typeface="Arial"/>
                          <a:cs typeface="Arial"/>
                        </a:rPr>
                        <a:t>4x </a:t>
                      </a:r>
                      <a:r>
                        <a:rPr lang="en-US" sz="1200" b="1" i="1" dirty="0">
                          <a:solidFill>
                            <a:srgbClr val="FFFFFF"/>
                          </a:solidFill>
                          <a:latin typeface="Arial"/>
                          <a:ea typeface="Arial"/>
                          <a:cs typeface="Arial"/>
                        </a:rPr>
                        <a:t>Arleigh Burke-</a:t>
                      </a:r>
                      <a:r>
                        <a:rPr lang="en-US" sz="1200" b="1" dirty="0">
                          <a:solidFill>
                            <a:srgbClr val="FFFFFF"/>
                          </a:solidFill>
                          <a:latin typeface="Arial"/>
                          <a:ea typeface="Arial"/>
                          <a:cs typeface="Arial"/>
                        </a:rPr>
                        <a:t>class</a:t>
                      </a:r>
                      <a:r>
                        <a:rPr lang="en-US" sz="1200" b="1" i="1" dirty="0">
                          <a:solidFill>
                            <a:srgbClr val="FFFFFF"/>
                          </a:solidFill>
                          <a:latin typeface="Arial"/>
                          <a:ea typeface="Arial"/>
                          <a:cs typeface="Arial"/>
                        </a:rPr>
                        <a:t> </a:t>
                      </a:r>
                      <a:r>
                        <a:rPr lang="en-US" sz="1200" b="1" dirty="0">
                          <a:solidFill>
                            <a:srgbClr val="FFFFFF"/>
                          </a:solidFill>
                          <a:latin typeface="Arial"/>
                          <a:ea typeface="Arial"/>
                          <a:cs typeface="Arial"/>
                        </a:rPr>
                        <a:t>destroyers</a:t>
                      </a:r>
                      <a:r>
                        <a:rPr lang="en-US" sz="1200" b="1" dirty="0">
                          <a:solidFill>
                            <a:srgbClr val="FFFFFF"/>
                          </a:solidFill>
                          <a:latin typeface="Arial"/>
                          <a:ea typeface="Arial"/>
                          <a:cs typeface="Arial"/>
                        </a:rPr>
                        <a:t>1</a:t>
                      </a:r>
                    </a:p>
                  </a:txBody>
                  <a:tcPr marL="60960" marR="60960" marT="60960" marB="60960" anchor="ctr">
                    <a:lnL>
                      <a:noFill/>
                    </a:lnL>
                    <a:lnR>
                      <a:noFill/>
                    </a:lnR>
                    <a:lnT>
                      <a:noFill/>
                    </a:lnT>
                    <a:lnB>
                      <a:noFill/>
                    </a:lnB>
                    <a:solidFill>
                      <a:srgbClr val="808080"/>
                    </a:solidFill>
                  </a:tcPr>
                </a:tc>
                <a:tc>
                  <a:txBody>
                    <a:bodyPr anchor="ctr"/>
                    <a:lstStyle/>
                    <a:p>
                      <a:pPr algn="ctr">
                        <a:lnSpc>
                          <a:spcPct val="100000"/>
                        </a:lnSpc>
                      </a:pPr>
                      <a:endParaRPr lang="en-US" sz="1200"/>
                    </a:p>
                  </a:txBody>
                  <a:tcPr marL="60960" marR="60960" marT="60960" marB="60960" anchor="ctr">
                    <a:lnL>
                      <a:noFill/>
                    </a:lnL>
                    <a:lnR>
                      <a:noFill/>
                    </a:lnR>
                    <a:lnT>
                      <a:noFill/>
                    </a:lnT>
                    <a:lnB>
                      <a:noFill/>
                    </a:lnB>
                    <a:noFill/>
                  </a:tcPr>
                </a:tc>
                <a:tc>
                  <a:txBody>
                    <a:bodyPr anchor="ctr"/>
                    <a:lstStyle/>
                    <a:p>
                      <a:pPr algn="ctr">
                        <a:lnSpc>
                          <a:spcPct val="100000"/>
                        </a:lnSpc>
                      </a:pPr>
                      <a:r>
                        <a:rPr lang="en-US" sz="1200" b="1" dirty="0">
                          <a:solidFill>
                            <a:srgbClr val="FFFFFF"/>
                          </a:solidFill>
                          <a:latin typeface="Arial"/>
                          <a:ea typeface="Arial"/>
                          <a:cs typeface="Arial"/>
                        </a:rPr>
                        <a:t>240x Marauders</a:t>
                      </a:r>
                      <a:r>
                        <a:rPr lang="en-US" sz="1200" b="1" dirty="0">
                          <a:solidFill>
                            <a:srgbClr val="FFFFFF"/>
                          </a:solidFill>
                          <a:latin typeface="Arial"/>
                          <a:ea typeface="Arial"/>
                          <a:cs typeface="Arial"/>
                        </a:rPr>
                        <a:t>3</a:t>
                      </a:r>
                    </a:p>
                  </a:txBody>
                  <a:tcPr marL="60960" marR="60960" marT="60960" marB="60960" anchor="ctr">
                    <a:lnL>
                      <a:noFill/>
                    </a:lnL>
                    <a:lnR>
                      <a:noFill/>
                    </a:lnR>
                    <a:lnT>
                      <a:noFill/>
                    </a:lnT>
                    <a:lnB>
                      <a:noFill/>
                    </a:lnB>
                    <a:solidFill>
                      <a:srgbClr val="4C6C9C"/>
                    </a:solidFill>
                  </a:tcPr>
                </a:tc>
              </a:tr>
              <a:tr h="175565">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r>
              <a:tr h="669341">
                <a:tc rowSpan="5">
                  <a:txBody>
                    <a:bodyPr anchor="ctr"/>
                    <a:lstStyle/>
                    <a:p>
                      <a:pPr algn="ctr" marL="0" indent="0">
                        <a:lnSpc>
                          <a:spcPct val="100000"/>
                        </a:lnSpc>
                      </a:pPr>
                      <a:r>
                        <a:rPr lang="en-US" sz="2000" b="1" dirty="0">
                          <a:solidFill>
                            <a:srgbClr val="000000"/>
                          </a:solidFill>
                          <a:latin typeface="Arial"/>
                          <a:ea typeface="Arial"/>
                          <a:cs typeface="Arial"/>
                        </a:rPr>
                        <a:t>Up to 384</a:t>
                      </a:r>
                      <a:br/>
                      <a:r>
                        <a:rPr lang="en-US" sz="1200" dirty="0">
                          <a:solidFill>
                            <a:srgbClr val="000000"/>
                          </a:solidFill>
                          <a:latin typeface="Arial"/>
                          <a:ea typeface="Arial"/>
                          <a:cs typeface="Arial"/>
                        </a:rPr>
                        <a:t>SM-3 / SM-6</a:t>
                      </a:r>
                      <a:br/>
                      <a:br/>
                      <a:r>
                        <a:rPr lang="en-US" sz="1200" i="1" dirty="0">
                          <a:solidFill>
                            <a:srgbClr val="000000"/>
                          </a:solidFill>
                          <a:latin typeface="Arial"/>
                          <a:ea typeface="Arial"/>
                          <a:cs typeface="Arial"/>
                        </a:rPr>
                        <a:t>(384 represents total VLS capacity; actual interceptor quantity dependent on mission) </a:t>
                      </a:r>
                    </a:p>
                  </a:txBody>
                  <a:tcPr marL="60960" marR="60960" marT="60960" marB="60960" anchor="ctr">
                    <a:lnL>
                      <a:noFill/>
                    </a:lnL>
                    <a:lnR>
                      <a:noFill/>
                    </a:lnR>
                    <a:lnT>
                      <a:noFill/>
                    </a:lnT>
                    <a:lnB>
                      <a:noFill/>
                    </a:lnB>
                    <a:solidFill>
                      <a:srgbClr val="F2F2F2"/>
                    </a:solidFill>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rowSpan="5">
                  <a:txBody>
                    <a:bodyPr anchor="ctr"/>
                    <a:lstStyle/>
                    <a:p>
                      <a:pPr algn="ctr" marL="0" indent="0">
                        <a:lnSpc>
                          <a:spcPct val="100000"/>
                        </a:lnSpc>
                      </a:pPr>
                      <a:r>
                        <a:rPr lang="en-US" sz="2000" b="1" dirty="0">
                          <a:solidFill>
                            <a:srgbClr val="000000"/>
                          </a:solidFill>
                          <a:latin typeface="Arial"/>
                          <a:ea typeface="Arial"/>
                          <a:cs typeface="Arial"/>
                        </a:rPr>
                        <a:t>3,840 </a:t>
                      </a:r>
                      <a:br/>
                      <a:r>
                        <a:rPr lang="en-US" sz="1200" dirty="0">
                          <a:solidFill>
                            <a:srgbClr val="000000"/>
                          </a:solidFill>
                          <a:latin typeface="Arial"/>
                          <a:ea typeface="Arial"/>
                          <a:cs typeface="Arial"/>
                        </a:rPr>
                        <a:t>SM-3 / SM-6</a:t>
                      </a:r>
                      <a:br/>
                      <a:br/>
                      <a:r>
                        <a:rPr lang="en-US" sz="1200" dirty="0">
                          <a:solidFill>
                            <a:srgbClr val="000000"/>
                          </a:solidFill>
                          <a:latin typeface="Arial"/>
                          <a:ea typeface="Arial"/>
                          <a:cs typeface="Arial"/>
                        </a:rPr>
                        <a:t>10x+ </a:t>
                      </a:r>
                      <a:r>
                        <a:rPr lang="en-US" sz="1200" i="1" dirty="0">
                          <a:solidFill>
                            <a:srgbClr val="000000"/>
                          </a:solidFill>
                          <a:latin typeface="Arial"/>
                          <a:ea typeface="Arial"/>
                          <a:cs typeface="Arial"/>
                        </a:rPr>
                        <a:t>Arleigh Burke</a:t>
                      </a:r>
                      <a:r>
                        <a:rPr lang="en-US" sz="1200" dirty="0">
                          <a:solidFill>
                            <a:srgbClr val="000000"/>
                          </a:solidFill>
                          <a:latin typeface="Arial"/>
                          <a:ea typeface="Arial"/>
                          <a:cs typeface="Arial"/>
                        </a:rPr>
                        <a:t> capacity</a:t>
                      </a:r>
                    </a:p>
                  </a:txBody>
                  <a:tcPr marL="60960" marR="60960" marT="60960" marB="60960" anchor="ctr">
                    <a:lnL>
                      <a:noFill/>
                    </a:lnL>
                    <a:lnR>
                      <a:noFill/>
                    </a:lnR>
                    <a:lnT>
                      <a:noFill/>
                    </a:lnT>
                    <a:lnB>
                      <a:noFill/>
                    </a:lnB>
                    <a:solidFill>
                      <a:srgbClr val="CEDDEC"/>
                    </a:solidFill>
                  </a:tcPr>
                </a:tc>
              </a:tr>
              <a:tr h="334670">
                <a:tc vMerge="1">
                  <a:txBody>
                    <a:bodyPr/>
                    <a:lstStyle/>
                    <a:p>
                      <a:endParaRPr lang="en-US"/>
                    </a:p>
                  </a:txBody>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vMerge="1">
                  <a:txBody>
                    <a:bodyPr/>
                    <a:lstStyle/>
                    <a:p>
                      <a:endParaRPr lang="en-US"/>
                    </a:p>
                  </a:txBody>
                  <a:tcPr/>
                </a:tc>
              </a:tr>
              <a:tr h="669341">
                <a:tc vMerge="1">
                  <a:txBody>
                    <a:bodyPr/>
                    <a:lstStyle/>
                    <a:p>
                      <a:endParaRPr lang="en-US"/>
                    </a:p>
                  </a:txBody>
                  <a:tcPr/>
                </a:tc>
                <a:tc>
                  <a:txBody>
                    <a:bodyPr anchor="ctr"/>
                    <a:lstStyle/>
                    <a:p>
                      <a:pPr algn="ctr" marL="0" indent="0">
                        <a:lnSpc>
                          <a:spcPct val="100000"/>
                        </a:lnSpc>
                      </a:pPr>
                      <a:r>
                        <a:rPr lang="en-US" sz="1200" dirty="0">
                          <a:solidFill>
                            <a:srgbClr val="000000"/>
                          </a:solidFill>
                          <a:latin typeface="Arial"/>
                          <a:ea typeface="Arial"/>
                          <a:cs typeface="Arial"/>
                        </a:rPr>
                        <a:t>Vs.</a:t>
                      </a:r>
                    </a:p>
                  </a:txBody>
                  <a:tcPr marL="60960" marR="60960" marT="60960" marB="60960" anchor="ctr">
                    <a:lnL>
                      <a:noFill/>
                    </a:lnL>
                    <a:lnR>
                      <a:noFill/>
                    </a:lnR>
                    <a:lnT>
                      <a:noFill/>
                    </a:lnT>
                    <a:lnB>
                      <a:noFill/>
                    </a:lnB>
                    <a:noFill/>
                  </a:tcPr>
                </a:tc>
                <a:tc vMerge="1">
                  <a:txBody>
                    <a:bodyPr/>
                    <a:lstStyle/>
                    <a:p>
                      <a:endParaRPr lang="en-US"/>
                    </a:p>
                  </a:txBody>
                  <a:tcPr/>
                </a:tc>
              </a:tr>
              <a:tr h="334670">
                <a:tc vMerge="1">
                  <a:txBody>
                    <a:bodyPr/>
                    <a:lstStyle/>
                    <a:p>
                      <a:endParaRPr lang="en-US"/>
                    </a:p>
                  </a:txBody>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vMerge="1">
                  <a:txBody>
                    <a:bodyPr/>
                    <a:lstStyle/>
                    <a:p>
                      <a:endParaRPr lang="en-US"/>
                    </a:p>
                  </a:txBody>
                  <a:tcPr/>
                </a:tc>
              </a:tr>
              <a:tr h="926287">
                <a:tc vMerge="1">
                  <a:txBody>
                    <a:bodyPr/>
                    <a:lstStyle/>
                    <a:p>
                      <a:endParaRPr lang="en-US"/>
                    </a:p>
                  </a:txBody>
                  <a:tcPr/>
                </a:tc>
                <a:tc>
                  <a:txBody>
                    <a:bodyPr anchor="ctr"/>
                    <a:lstStyle/>
                    <a:p>
                      <a:pPr algn="ctr" marL="0" indent="0">
                        <a:lnSpc>
                          <a:spcPct val="100000"/>
                        </a:lnSpc>
                      </a:pPr>
                      <a:endParaRPr lang="en-US"/>
                    </a:p>
                  </a:txBody>
                  <a:tcPr marL="60960" marR="60960" marT="60960" marB="60960" anchor="ctr">
                    <a:lnL>
                      <a:noFill/>
                    </a:lnL>
                    <a:lnR>
                      <a:noFill/>
                    </a:lnR>
                    <a:lnT>
                      <a:noFill/>
                    </a:lnT>
                    <a:lnB>
                      <a:noFill/>
                    </a:lnB>
                    <a:noFill/>
                  </a:tcPr>
                </a:tc>
                <a:tc vMerge="1">
                  <a:txBody>
                    <a:bodyPr/>
                    <a:lstStyle/>
                    <a:p>
                      <a:endParaRPr lang="en-US"/>
                    </a:p>
                  </a:txBody>
                  <a:tcPr/>
                </a:tc>
              </a:tr>
            </a:tbl>
          </a:graphicData>
        </a:graphic>
      </p:graphicFrame>
      <p:sp>
        <p:nvSpPr>
          <p:cNvPr id="9999" name="Source"/>
          <p:cNvSpPr txBox="1"/>
          <p:nvPr/>
        </p:nvSpPr>
        <p:spPr>
          <a:xfrm>
            <a:off x="453079" y="5930000"/>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Note: (1) Flight III destroyers; Assumes $2.7B unit price based on OBBBA ($5.4B for 2x), CRS estimate ($2.7B apiece), and FY26 Shipbuilding and Conversion, Navy Justification Book Exhibit P-5c, Ship Cost Analysis ($5.5B for 2x in FY24, $7.86B for 3x in FY25); (2) Marauder priced at $42M / unit excluding launcher costs; (3) 4x SM-3 or SM-6 per MK-70, with 4x MK-70 per Marauder for total of 16x SM-3 or SM-6 per Marauder | Source: Congressional Research Service; OBBBA text; FY26 Budget Estimate; Lockheed Martin MK 70 Product Card; Lockheed Martin MK 41 Product Card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117"/>
          <p:cNvSpPr txBox="1"/>
          <p:nvPr/>
        </p:nvSpPr>
        <p:spPr>
          <a:xfrm>
            <a:off x="7315200" y="1986077"/>
            <a:ext cx="4421124" cy="4147718"/>
          </a:xfrm>
          <a:prstGeom prst="rect">
            <a:avLst/>
          </a:prstGeom>
          <a:solidFill>
            <a:srgbClr val="D9D9D9"/>
          </a:solidFill>
          <a:ln>
            <a:noFill/>
          </a:ln>
        </p:spPr>
        <p:txBody>
          <a:bodyPr wrap="square" anchor="t" lIns="91440" tIns="45720" rIns="91440" bIns="45720"/>
          <a:lstStyle/>
          <a:p>
            <a:pPr>
              <a:lnSpc>
                <a:spcPct val="100000"/>
              </a:lnSpc>
              <a:buNone/>
            </a:pPr>
            <a:endParaRPr lang="en-US"/>
          </a:p>
        </p:txBody>
      </p:sp>
      <p:sp>
        <p:nvSpPr>
          <p:cNvPr id="101" name="Rectangle 116"/>
          <p:cNvSpPr txBox="1"/>
          <p:nvPr/>
        </p:nvSpPr>
        <p:spPr>
          <a:xfrm>
            <a:off x="1640434" y="1986077"/>
            <a:ext cx="5674766" cy="4147718"/>
          </a:xfrm>
          <a:prstGeom prst="rect">
            <a:avLst/>
          </a:prstGeom>
          <a:solidFill>
            <a:srgbClr val="F2F2F2"/>
          </a:solidFill>
          <a:ln>
            <a:noFill/>
          </a:ln>
        </p:spPr>
        <p:txBody>
          <a:bodyPr wrap="square" anchor="t" lIns="91440" tIns="45720" rIns="91440" bIns="45720"/>
          <a:lstStyle/>
          <a:p>
            <a:pPr>
              <a:lnSpc>
                <a:spcPct val="100000"/>
              </a:lnSpc>
              <a:buNone/>
            </a:pPr>
            <a:endParaRPr lang="en-US"/>
          </a:p>
        </p:txBody>
      </p:sp>
      <p:graphicFrame>
        <p:nvGraphicFramePr>
          <p:cNvPr id="102" name="Chart"/>
          <p:cNvGraphicFramePr/>
          <p:nvPr/>
        </p:nvGraphicFramePr>
        <p:xfrm>
          <a:off x="363931" y="1765706"/>
          <a:ext cx="11455603" cy="3227832"/>
        </p:xfrm>
        <a:graphic>
          <a:graphicData uri="http://schemas.openxmlformats.org/drawingml/2006/chart">
            <c:chart xmlns:c="http://schemas.openxmlformats.org/drawingml/2006/chart" xmlns:r="http://schemas.openxmlformats.org/officeDocument/2006/relationships" r:id="rId2"/>
          </a:graphicData>
        </a:graphic>
      </p:graphicFrame>
      <p:sp>
        <p:nvSpPr>
          <p:cNvPr id="103" name="Text Placeholder 25"/>
          <p:cNvSpPr txBox="1"/>
          <p:nvPr/>
        </p:nvSpPr>
        <p:spPr>
          <a:xfrm>
            <a:off x="466344" y="1660550"/>
            <a:ext cx="2438705"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Golden Dome Marauder starts by phase</a:t>
            </a:r>
            <a:r>
              <a:rPr lang="en-US" sz="1000" b="1" dirty="0">
                <a:solidFill>
                  <a:srgbClr val="000000"/>
                </a:solidFill>
                <a:latin typeface="Arial"/>
                <a:ea typeface="Arial"/>
                <a:cs typeface="Arial"/>
              </a:rPr>
              <a:t>1</a:t>
            </a:r>
          </a:p>
        </p:txBody>
      </p:sp>
      <p:sp>
        <p:nvSpPr>
          <p:cNvPr id="104" name="Label"/>
          <p:cNvSpPr txBox="1"/>
          <p:nvPr/>
        </p:nvSpPr>
        <p:spPr>
          <a:xfrm>
            <a:off x="1127455"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FY26</a:t>
            </a:r>
          </a:p>
        </p:txBody>
      </p:sp>
      <p:sp>
        <p:nvSpPr>
          <p:cNvPr id="105" name="Label"/>
          <p:cNvSpPr txBox="1"/>
          <p:nvPr/>
        </p:nvSpPr>
        <p:spPr>
          <a:xfrm>
            <a:off x="2227478"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FY27</a:t>
            </a:r>
          </a:p>
        </p:txBody>
      </p:sp>
      <p:sp>
        <p:nvSpPr>
          <p:cNvPr id="106" name="Label"/>
          <p:cNvSpPr txBox="1"/>
          <p:nvPr/>
        </p:nvSpPr>
        <p:spPr>
          <a:xfrm>
            <a:off x="3327502"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FY28</a:t>
            </a:r>
          </a:p>
        </p:txBody>
      </p:sp>
      <p:sp>
        <p:nvSpPr>
          <p:cNvPr id="107" name="Label"/>
          <p:cNvSpPr txBox="1"/>
          <p:nvPr/>
        </p:nvSpPr>
        <p:spPr>
          <a:xfrm>
            <a:off x="4427525"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FY29</a:t>
            </a:r>
          </a:p>
        </p:txBody>
      </p:sp>
      <p:sp>
        <p:nvSpPr>
          <p:cNvPr id="108" name="Label"/>
          <p:cNvSpPr txBox="1"/>
          <p:nvPr/>
        </p:nvSpPr>
        <p:spPr>
          <a:xfrm>
            <a:off x="5527548"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FY30</a:t>
            </a:r>
          </a:p>
        </p:txBody>
      </p:sp>
      <p:sp>
        <p:nvSpPr>
          <p:cNvPr id="109" name="Label"/>
          <p:cNvSpPr txBox="1"/>
          <p:nvPr/>
        </p:nvSpPr>
        <p:spPr>
          <a:xfrm>
            <a:off x="6627571"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FY31</a:t>
            </a:r>
          </a:p>
        </p:txBody>
      </p:sp>
      <p:sp>
        <p:nvSpPr>
          <p:cNvPr id="110" name="Label"/>
          <p:cNvSpPr txBox="1"/>
          <p:nvPr/>
        </p:nvSpPr>
        <p:spPr>
          <a:xfrm>
            <a:off x="7727594"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FY32</a:t>
            </a:r>
          </a:p>
        </p:txBody>
      </p:sp>
      <p:sp>
        <p:nvSpPr>
          <p:cNvPr id="111" name="Label"/>
          <p:cNvSpPr txBox="1"/>
          <p:nvPr/>
        </p:nvSpPr>
        <p:spPr>
          <a:xfrm>
            <a:off x="8828532"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FY33</a:t>
            </a:r>
          </a:p>
        </p:txBody>
      </p:sp>
      <p:sp>
        <p:nvSpPr>
          <p:cNvPr id="112" name="Label"/>
          <p:cNvSpPr txBox="1"/>
          <p:nvPr/>
        </p:nvSpPr>
        <p:spPr>
          <a:xfrm>
            <a:off x="9928555"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FY34</a:t>
            </a:r>
          </a:p>
        </p:txBody>
      </p:sp>
      <p:sp>
        <p:nvSpPr>
          <p:cNvPr id="113" name="Label"/>
          <p:cNvSpPr txBox="1"/>
          <p:nvPr/>
        </p:nvSpPr>
        <p:spPr>
          <a:xfrm>
            <a:off x="11028578" y="4809744"/>
            <a:ext cx="314554" cy="152705"/>
          </a:xfrm>
          <a:prstGeom prst="rect">
            <a:avLst/>
          </a:prstGeom>
          <a:noFill/>
          <a:ln>
            <a:noFill/>
          </a:ln>
        </p:spPr>
        <p:txBody>
          <a:bodyPr wrap="none" anchor="t" lIns="0" tIns="0" rIns="0" bIns="0"/>
          <a:lstStyle/>
          <a:p>
            <a:pPr algn="ctr" marL="0" indent="0">
              <a:lnSpc>
                <a:spcPct val="100000"/>
              </a:lnSpc>
              <a:buNone/>
            </a:pPr>
            <a:r>
              <a:rPr lang="en-US" sz="1000" dirty="0">
                <a:solidFill>
                  <a:srgbClr val="000000"/>
                </a:solidFill>
                <a:latin typeface="Arial"/>
                <a:ea typeface="Arial"/>
                <a:cs typeface="Arial"/>
              </a:rPr>
              <a:t>FY35</a:t>
            </a:r>
          </a:p>
        </p:txBody>
      </p:sp>
      <p:sp>
        <p:nvSpPr>
          <p:cNvPr id="114" name="Text Placeholder 25"/>
          <p:cNvSpPr txBox="1"/>
          <p:nvPr/>
        </p:nvSpPr>
        <p:spPr>
          <a:xfrm>
            <a:off x="5597957" y="3557930"/>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26</a:t>
            </a:r>
          </a:p>
        </p:txBody>
      </p:sp>
      <p:sp>
        <p:nvSpPr>
          <p:cNvPr id="115" name="Text Placeholder 25"/>
          <p:cNvSpPr txBox="1"/>
          <p:nvPr/>
        </p:nvSpPr>
        <p:spPr>
          <a:xfrm>
            <a:off x="6697980" y="3557930"/>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26</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Golden Dome Requirements</a:t>
            </a:r>
            <a:r>
              <a:rPr lang="en-US" sz="1000" kern="1200" dirty="0">
                <a:solidFill>
                  <a:srgbClr val="44505C"/>
                </a:solidFill>
                <a:latin typeface="Arial"/>
                <a:ea typeface="Arial"/>
                <a:cs typeface="Arial"/>
              </a:rPr>
              <a:t> / Production Outlook</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Production Outlook (co-located sensors and interceptors) | All Phase 1 vessels started by FY30, Phase 2 by FY31, and Phase 3 by FY32</a:t>
            </a:r>
          </a:p>
        </p:txBody>
      </p:sp>
      <p:pic>
        <p:nvPicPr>
          <p:cNvPr id="116" name="Picture 2"/>
          <p:cNvPicPr>
            <a:picLocks noChangeAspect="1"/>
          </p:cNvPicPr>
          <p:nvPr/>
        </p:nvPicPr>
        <p:blipFill>
          <a:blip r:embed="rId3"/>
          <a:stretch>
            <a:fillRect/>
          </a:stretch>
        </p:blipFill>
        <p:spPr>
          <a:xfrm>
            <a:off x="10452506" y="43891"/>
            <a:ext cx="843077" cy="843077"/>
          </a:xfrm>
          <a:prstGeom prst="rect">
            <a:avLst/>
          </a:prstGeom>
        </p:spPr>
      </p:pic>
      <p:pic>
        <p:nvPicPr>
          <p:cNvPr id="117" name="Picture 8"/>
          <p:cNvPicPr>
            <a:picLocks noChangeAspect="1"/>
          </p:cNvPicPr>
          <p:nvPr/>
        </p:nvPicPr>
        <p:blipFill>
          <a:blip r:embed="rId4"/>
          <a:stretch>
            <a:fillRect/>
          </a:stretch>
        </p:blipFill>
        <p:spPr>
          <a:xfrm>
            <a:off x="11312957" y="43891"/>
            <a:ext cx="843077" cy="843077"/>
          </a:xfrm>
          <a:prstGeom prst="rect">
            <a:avLst/>
          </a:prstGeom>
        </p:spPr>
      </p:pic>
      <p:sp>
        <p:nvSpPr>
          <p:cNvPr id="118" name="LegendSwatch"/>
          <p:cNvSpPr txBox="1"/>
          <p:nvPr/>
        </p:nvSpPr>
        <p:spPr>
          <a:xfrm>
            <a:off x="7300570" y="1655978"/>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19" name="LegendSwatch"/>
          <p:cNvSpPr txBox="1"/>
          <p:nvPr/>
        </p:nvSpPr>
        <p:spPr>
          <a:xfrm>
            <a:off x="8094269" y="1655978"/>
            <a:ext cx="179222" cy="133502"/>
          </a:xfrm>
          <a:prstGeom prst="rect">
            <a:avLst/>
          </a:prstGeom>
          <a:solidFill>
            <a:srgbClr val="6F8DB9"/>
          </a:solidFill>
          <a:ln>
            <a:noFill/>
          </a:ln>
        </p:spPr>
        <p:txBody>
          <a:bodyPr wrap="square" anchor="ctr" lIns="91440" tIns="45720" rIns="91440" bIns="45720"/>
          <a:lstStyle/>
          <a:p>
            <a:pPr algn="ctr">
              <a:lnSpc>
                <a:spcPct val="100000"/>
              </a:lnSpc>
              <a:buNone/>
            </a:pPr>
            <a:endParaRPr lang="en-US"/>
          </a:p>
        </p:txBody>
      </p:sp>
      <p:sp>
        <p:nvSpPr>
          <p:cNvPr id="120" name="LegendSwatch"/>
          <p:cNvSpPr txBox="1"/>
          <p:nvPr/>
        </p:nvSpPr>
        <p:spPr>
          <a:xfrm>
            <a:off x="8887968" y="1655978"/>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cxnSp>
        <p:nvCxnSpPr>
          <p:cNvPr id="121" name="Straight Connector 64"/>
          <p:cNvCxnSpPr/>
          <p:nvPr/>
        </p:nvCxnSpPr>
        <p:spPr>
          <a:xfrm>
            <a:off x="9691726" y="1722730"/>
            <a:ext cx="160020" cy="0"/>
          </a:xfrm>
          <a:prstGeom prst="line">
            <a:avLst/>
          </a:prstGeom>
          <a:ln w="19050">
            <a:solidFill>
              <a:srgbClr val="000000"/>
            </a:solidFill>
            <a:prstDash val="dash"/>
            <a:tailEnd type="triangle" w="med" len="med"/>
          </a:ln>
        </p:spPr>
      </p:cxnSp>
      <p:sp>
        <p:nvSpPr>
          <p:cNvPr id="122" name="Label"/>
          <p:cNvSpPr txBox="1"/>
          <p:nvPr/>
        </p:nvSpPr>
        <p:spPr>
          <a:xfrm>
            <a:off x="7530998"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1</a:t>
            </a:r>
          </a:p>
        </p:txBody>
      </p:sp>
      <p:sp>
        <p:nvSpPr>
          <p:cNvPr id="123" name="Label"/>
          <p:cNvSpPr txBox="1"/>
          <p:nvPr/>
        </p:nvSpPr>
        <p:spPr>
          <a:xfrm>
            <a:off x="8324698"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2</a:t>
            </a:r>
          </a:p>
        </p:txBody>
      </p:sp>
      <p:sp>
        <p:nvSpPr>
          <p:cNvPr id="124" name="Label"/>
          <p:cNvSpPr txBox="1"/>
          <p:nvPr/>
        </p:nvSpPr>
        <p:spPr>
          <a:xfrm>
            <a:off x="9118397"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3</a:t>
            </a:r>
          </a:p>
        </p:txBody>
      </p:sp>
      <p:sp>
        <p:nvSpPr>
          <p:cNvPr id="125" name="Label"/>
          <p:cNvSpPr txBox="1"/>
          <p:nvPr/>
        </p:nvSpPr>
        <p:spPr>
          <a:xfrm>
            <a:off x="9912096" y="1651406"/>
            <a:ext cx="177302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Franklin capacity (vessel starts)</a:t>
            </a:r>
          </a:p>
        </p:txBody>
      </p:sp>
      <p:sp>
        <p:nvSpPr>
          <p:cNvPr id="126" name="TextBox 268"/>
          <p:cNvSpPr txBox="1"/>
          <p:nvPr/>
        </p:nvSpPr>
        <p:spPr>
          <a:xfrm>
            <a:off x="1640434" y="4964278"/>
            <a:ext cx="5674766" cy="1169518"/>
          </a:xfrm>
          <a:prstGeom prst="rect">
            <a:avLst/>
          </a:prstGeom>
          <a:noFill/>
          <a:ln>
            <a:noFill/>
          </a:ln>
        </p:spPr>
        <p:txBody>
          <a:bodyPr wrap="square" anchor="t" lIns="91440" tIns="45720" rIns="91440" bIns="45720"/>
          <a:lstStyle/>
          <a:p>
            <a:pPr>
              <a:lnSpc>
                <a:spcPct val="100000"/>
              </a:lnSpc>
              <a:buNone/>
            </a:pPr>
            <a:r>
              <a:rPr lang="en-US" sz="1000" b="1" dirty="0">
                <a:solidFill>
                  <a:srgbClr val="000000"/>
                </a:solidFill>
                <a:latin typeface="Arial"/>
                <a:ea typeface="Arial"/>
                <a:cs typeface="Arial"/>
              </a:rPr>
              <a:t>FY27-FY31 forecast assumes: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Franklin Phase 2 completion pulled forward to JUN ‘28 (vs. DEC ‘28), increasing capacity to 50x vessels / year</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Navy purchases 10x MASC vessels / year, with FY29-FY31 vessels incremental to OBBBA amount</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Army purchases 14-15 ARV / year FY29-FY31 </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Fulfilling MASC and ARV orders takes precedence and GD consumes remaining yard capacity</a:t>
            </a:r>
          </a:p>
        </p:txBody>
      </p:sp>
      <p:sp>
        <p:nvSpPr>
          <p:cNvPr id="127" name="TextBox 270"/>
          <p:cNvSpPr txBox="1"/>
          <p:nvPr/>
        </p:nvSpPr>
        <p:spPr>
          <a:xfrm>
            <a:off x="7315200" y="4964278"/>
            <a:ext cx="4421124" cy="1015898"/>
          </a:xfrm>
          <a:prstGeom prst="rect">
            <a:avLst/>
          </a:prstGeom>
          <a:noFill/>
          <a:ln>
            <a:noFill/>
          </a:ln>
        </p:spPr>
        <p:txBody>
          <a:bodyPr wrap="square" anchor="t" lIns="91440" tIns="45720" rIns="91440" bIns="45720"/>
          <a:lstStyle/>
          <a:p>
            <a:pPr>
              <a:lnSpc>
                <a:spcPct val="100000"/>
              </a:lnSpc>
              <a:buNone/>
            </a:pPr>
            <a:r>
              <a:rPr lang="en-US" sz="1000" b="1" dirty="0">
                <a:solidFill>
                  <a:srgbClr val="000000"/>
                </a:solidFill>
                <a:latin typeface="Arial"/>
                <a:ea typeface="Arial"/>
                <a:cs typeface="Arial"/>
              </a:rPr>
              <a:t>FY32-FY35 forecast assumes: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Fulfilling GD orders takes precedence (70% of yard capacity), with remaining capacity for other customers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Interceptor and sensor production constraints limit FOC node fielding, driving relatively even production distribution throughout period</a:t>
            </a:r>
          </a:p>
          <a:p>
            <a:pPr>
              <a:lnSpc>
                <a:spcPct val="100000"/>
              </a:lnSpc>
              <a:buNone/>
            </a:pPr>
            <a:endParaRPr lang="en-US"/>
          </a:p>
        </p:txBody>
      </p:sp>
      <p:sp>
        <p:nvSpPr>
          <p:cNvPr id="128" name="Rectangle 370"/>
          <p:cNvSpPr txBox="1"/>
          <p:nvPr/>
        </p:nvSpPr>
        <p:spPr>
          <a:xfrm>
            <a:off x="452628" y="6208776"/>
            <a:ext cx="11308385" cy="188366"/>
          </a:xfrm>
          <a:prstGeom prst="rect">
            <a:avLst/>
          </a:prstGeom>
          <a:noFill/>
          <a:ln>
            <a:noFill/>
          </a:ln>
        </p:spPr>
        <p:txBody>
          <a:bodyPr wrap="square" anchor="ctr" lIns="91440" tIns="45720" rIns="91440" bIns="45720"/>
          <a:lstStyle/>
          <a:p>
            <a:pPr>
              <a:lnSpc>
                <a:spcPct val="100000"/>
              </a:lnSpc>
              <a:buNone/>
            </a:pPr>
            <a:r>
              <a:rPr lang="en-US" sz="1000" dirty="0">
                <a:solidFill>
                  <a:srgbClr val="000000"/>
                </a:solidFill>
                <a:latin typeface="Arial"/>
                <a:ea typeface="Arial"/>
                <a:cs typeface="Arial"/>
              </a:rPr>
              <a:t>Note: (1) Assumes vessels are only produced at Franklin facility </a:t>
            </a:r>
          </a:p>
        </p:txBody>
      </p:sp>
      <p:sp>
        <p:nvSpPr>
          <p:cNvPr id="129" name="ValueLabel"/>
          <p:cNvSpPr txBox="1"/>
          <p:nvPr/>
        </p:nvSpPr>
        <p:spPr>
          <a:xfrm>
            <a:off x="7620610"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0" name="ValueLabel"/>
          <p:cNvSpPr txBox="1"/>
          <p:nvPr/>
        </p:nvSpPr>
        <p:spPr>
          <a:xfrm>
            <a:off x="10911535"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1" name="ValueLabel"/>
          <p:cNvSpPr txBox="1"/>
          <p:nvPr/>
        </p:nvSpPr>
        <p:spPr>
          <a:xfrm>
            <a:off x="8713318"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2" name="ValueLabel"/>
          <p:cNvSpPr txBox="1"/>
          <p:nvPr/>
        </p:nvSpPr>
        <p:spPr>
          <a:xfrm>
            <a:off x="9807854"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3" name="ValueLabel"/>
          <p:cNvSpPr txBox="1"/>
          <p:nvPr/>
        </p:nvSpPr>
        <p:spPr>
          <a:xfrm>
            <a:off x="6511442"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4" name="ValueLabel"/>
          <p:cNvSpPr txBox="1"/>
          <p:nvPr/>
        </p:nvSpPr>
        <p:spPr>
          <a:xfrm>
            <a:off x="2113178"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5" name="ValueLabel"/>
          <p:cNvSpPr txBox="1"/>
          <p:nvPr/>
        </p:nvSpPr>
        <p:spPr>
          <a:xfrm>
            <a:off x="3222346"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6" name="ValueLabel"/>
          <p:cNvSpPr txBox="1"/>
          <p:nvPr/>
        </p:nvSpPr>
        <p:spPr>
          <a:xfrm>
            <a:off x="4313225"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7" name="ValueLabel"/>
          <p:cNvSpPr txBox="1"/>
          <p:nvPr/>
        </p:nvSpPr>
        <p:spPr>
          <a:xfrm>
            <a:off x="5404104"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8" name="ValueLabel"/>
          <p:cNvSpPr txBox="1"/>
          <p:nvPr/>
        </p:nvSpPr>
        <p:spPr>
          <a:xfrm>
            <a:off x="5835701" y="1668780"/>
            <a:ext cx="192938" cy="11978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9" name="ValueLabel"/>
          <p:cNvSpPr txBox="1"/>
          <p:nvPr/>
        </p:nvSpPr>
        <p:spPr>
          <a:xfrm>
            <a:off x="7696505"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120</a:t>
            </a:r>
          </a:p>
        </p:txBody>
      </p:sp>
      <p:sp>
        <p:nvSpPr>
          <p:cNvPr id="140" name="ValueLabel"/>
          <p:cNvSpPr txBox="1"/>
          <p:nvPr/>
        </p:nvSpPr>
        <p:spPr>
          <a:xfrm>
            <a:off x="10987430"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120</a:t>
            </a:r>
          </a:p>
        </p:txBody>
      </p:sp>
      <p:sp>
        <p:nvSpPr>
          <p:cNvPr id="141" name="ValueLabel"/>
          <p:cNvSpPr txBox="1"/>
          <p:nvPr/>
        </p:nvSpPr>
        <p:spPr>
          <a:xfrm>
            <a:off x="8789213"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120</a:t>
            </a:r>
          </a:p>
        </p:txBody>
      </p:sp>
      <p:sp>
        <p:nvSpPr>
          <p:cNvPr id="142" name="ValueLabel"/>
          <p:cNvSpPr txBox="1"/>
          <p:nvPr/>
        </p:nvSpPr>
        <p:spPr>
          <a:xfrm>
            <a:off x="9883750"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120</a:t>
            </a:r>
          </a:p>
        </p:txBody>
      </p:sp>
      <p:sp>
        <p:nvSpPr>
          <p:cNvPr id="143" name="ValueLabel"/>
          <p:cNvSpPr txBox="1"/>
          <p:nvPr/>
        </p:nvSpPr>
        <p:spPr>
          <a:xfrm>
            <a:off x="6588252" y="2324405"/>
            <a:ext cx="397764"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100</a:t>
            </a:r>
          </a:p>
        </p:txBody>
      </p:sp>
      <p:sp>
        <p:nvSpPr>
          <p:cNvPr id="144" name="ValueLabel"/>
          <p:cNvSpPr txBox="1"/>
          <p:nvPr/>
        </p:nvSpPr>
        <p:spPr>
          <a:xfrm>
            <a:off x="2260397" y="2324405"/>
            <a:ext cx="255118"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5</a:t>
            </a:r>
          </a:p>
        </p:txBody>
      </p:sp>
      <p:sp>
        <p:nvSpPr>
          <p:cNvPr id="145" name="ValueLabel"/>
          <p:cNvSpPr txBox="1"/>
          <p:nvPr/>
        </p:nvSpPr>
        <p:spPr>
          <a:xfrm>
            <a:off x="3333902" y="2324405"/>
            <a:ext cx="327355"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23</a:t>
            </a:r>
          </a:p>
        </p:txBody>
      </p:sp>
      <p:sp>
        <p:nvSpPr>
          <p:cNvPr id="146" name="ValueLabel"/>
          <p:cNvSpPr txBox="1"/>
          <p:nvPr/>
        </p:nvSpPr>
        <p:spPr>
          <a:xfrm>
            <a:off x="4424782" y="2324405"/>
            <a:ext cx="327355"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48</a:t>
            </a:r>
          </a:p>
        </p:txBody>
      </p:sp>
      <p:sp>
        <p:nvSpPr>
          <p:cNvPr id="147" name="ValueLabel"/>
          <p:cNvSpPr txBox="1"/>
          <p:nvPr/>
        </p:nvSpPr>
        <p:spPr>
          <a:xfrm>
            <a:off x="5515661" y="2324405"/>
            <a:ext cx="327355" cy="245974"/>
          </a:xfrm>
          <a:prstGeom prst="rect">
            <a:avLst/>
          </a:prstGeom>
          <a:noFill/>
          <a:ln>
            <a:noFill/>
          </a:ln>
        </p:spPr>
        <p:txBody>
          <a:bodyPr wrap="none" anchor="t" lIns="91440" tIns="45720" rIns="91440" bIns="45720"/>
          <a:lstStyle/>
          <a:p>
            <a:pPr algn="ctr">
              <a:lnSpc>
                <a:spcPct val="100000"/>
              </a:lnSpc>
              <a:buNone/>
            </a:pPr>
            <a:r>
              <a:rPr lang="en-US" sz="1000" dirty="0">
                <a:solidFill>
                  <a:srgbClr val="000000"/>
                </a:solidFill>
                <a:latin typeface="Arial"/>
                <a:ea typeface="Arial"/>
                <a:cs typeface="Arial"/>
              </a:rPr>
              <a:t>74</a:t>
            </a:r>
          </a:p>
        </p:txBody>
      </p:sp>
      <p:sp>
        <p:nvSpPr>
          <p:cNvPr id="148" name="TextBox 398"/>
          <p:cNvSpPr txBox="1"/>
          <p:nvPr/>
        </p:nvSpPr>
        <p:spPr>
          <a:xfrm>
            <a:off x="5835701" y="1637690"/>
            <a:ext cx="1463040" cy="182880"/>
          </a:xfrm>
          <a:prstGeom prst="rect">
            <a:avLst/>
          </a:prstGeom>
          <a:noFill/>
          <a:ln>
            <a:noFill/>
          </a:ln>
        </p:spPr>
        <p:txBody>
          <a:bodyPr wrap="none" anchor="ctr" lIns="91440" tIns="45720" rIns="91440" bIns="45720"/>
          <a:lstStyle/>
          <a:p>
            <a:pPr algn="r">
              <a:lnSpc>
                <a:spcPct val="100000"/>
              </a:lnSpc>
              <a:buNone/>
            </a:pPr>
            <a:r>
              <a:rPr lang="en-US" sz="1000" dirty="0">
                <a:solidFill>
                  <a:srgbClr val="000000"/>
                </a:solidFill>
                <a:latin typeface="Arial"/>
                <a:ea typeface="Arial"/>
                <a:cs typeface="Arial"/>
              </a:rPr>
              <a:t>Cumulative vessels</a:t>
            </a:r>
          </a:p>
        </p:txBody>
      </p:sp>
      <p:sp>
        <p:nvSpPr>
          <p:cNvPr id="149" name="Rectangle 16"/>
          <p:cNvSpPr txBox="1"/>
          <p:nvPr/>
        </p:nvSpPr>
        <p:spPr>
          <a:xfrm>
            <a:off x="7233818" y="111557"/>
            <a:ext cx="1467612" cy="265176"/>
          </a:xfrm>
          <a:prstGeom prst="rect">
            <a:avLst/>
          </a:prstGeom>
          <a:solidFill>
            <a:srgbClr val="FFFFCC"/>
          </a:solidFill>
          <a:ln w="19050">
            <a:solidFill>
              <a:srgbClr val="121415"/>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Preliminary</a:t>
            </a:r>
          </a:p>
        </p:txBody>
      </p:sp>
      <p:sp>
        <p:nvSpPr>
          <p:cNvPr id="150" name="Rectangle 4"/>
          <p:cNvSpPr txBox="1"/>
          <p:nvPr/>
        </p:nvSpPr>
        <p:spPr>
          <a:xfrm>
            <a:off x="8538667" y="2048256"/>
            <a:ext cx="3079699" cy="634594"/>
          </a:xfrm>
          <a:prstGeom prst="rect">
            <a:avLst/>
          </a:prstGeom>
          <a:noFill/>
          <a:ln w="12700">
            <a:solidFill>
              <a:srgbClr val="162029"/>
            </a:solidFill>
          </a:ln>
        </p:spPr>
        <p:txBody>
          <a:bodyPr wrap="square" anchor="t" lIns="91440" tIns="45720" rIns="91440" bIns="45720"/>
          <a:lstStyle/>
          <a:p>
            <a:pPr algn="ctr">
              <a:lnSpc>
                <a:spcPct val="100000"/>
              </a:lnSpc>
              <a:buNone/>
            </a:pPr>
            <a:r>
              <a:rPr lang="en-US" sz="1000" i="1" dirty="0">
                <a:solidFill>
                  <a:srgbClr val="000000"/>
                </a:solidFill>
                <a:latin typeface="Arial"/>
                <a:ea typeface="Arial"/>
                <a:cs typeface="Arial"/>
              </a:rPr>
              <a:t>Est. requirement of 120x MR met in FY32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ForecastPanel_FY32_FY35"/>
          <p:cNvSpPr txBox="1"/>
          <p:nvPr/>
        </p:nvSpPr>
        <p:spPr>
          <a:xfrm>
            <a:off x="7315200" y="1986077"/>
            <a:ext cx="4421124" cy="4147718"/>
          </a:xfrm>
          <a:prstGeom prst="rect">
            <a:avLst/>
          </a:prstGeom>
          <a:solidFill>
            <a:srgbClr val="D9D9D9"/>
          </a:solidFill>
          <a:ln>
            <a:noFill/>
          </a:ln>
        </p:spPr>
        <p:txBody>
          <a:bodyPr wrap="square" anchor="t" lIns="91440" tIns="45720" rIns="91440" bIns="45720"/>
          <a:lstStyle/>
          <a:p>
            <a:pPr>
              <a:lnSpc>
                <a:spcPct val="100000"/>
              </a:lnSpc>
              <a:buNone/>
            </a:pPr>
            <a:endParaRPr lang="en-US"/>
          </a:p>
        </p:txBody>
      </p:sp>
      <p:sp>
        <p:nvSpPr>
          <p:cNvPr id="101" name="ForecastPanel_FY27_FY31"/>
          <p:cNvSpPr txBox="1"/>
          <p:nvPr/>
        </p:nvSpPr>
        <p:spPr>
          <a:xfrm>
            <a:off x="1640434" y="1986077"/>
            <a:ext cx="5674766" cy="4147718"/>
          </a:xfrm>
          <a:prstGeom prst="rect">
            <a:avLst/>
          </a:prstGeom>
          <a:solidFill>
            <a:srgbClr val="F2F2F2"/>
          </a:solidFill>
          <a:ln>
            <a:noFill/>
          </a:ln>
        </p:spPr>
        <p:txBody>
          <a:bodyPr wrap="square" anchor="t" lIns="91440" tIns="45720" rIns="91440" bIns="45720"/>
          <a:lstStyle/>
          <a:p>
            <a:pPr>
              <a:lnSpc>
                <a:spcPct val="100000"/>
              </a:lnSpc>
              <a:buNone/>
            </a:pPr>
            <a:endParaRPr lang="en-US"/>
          </a:p>
        </p:txBody>
      </p:sp>
      <p:graphicFrame>
        <p:nvGraphicFramePr>
          <p:cNvPr id="102" name="ProductionStartsChart"/>
          <p:cNvGraphicFramePr/>
          <p:nvPr/>
        </p:nvGraphicFramePr>
        <p:xfrm>
          <a:off x="363931" y="1765706"/>
          <a:ext cx="11455603" cy="3227832"/>
        </p:xfrm>
        <a:graphic>
          <a:graphicData uri="http://schemas.openxmlformats.org/drawingml/2006/chart">
            <c:chart xmlns:c="http://schemas.openxmlformats.org/drawingml/2006/chart" xmlns:r="http://schemas.openxmlformats.org/officeDocument/2006/relationships" r:id="rId2"/>
          </a:graphicData>
        </a:graphic>
      </p:graphicFrame>
      <p:cxnSp>
        <p:nvCxnSpPr>
          <p:cNvPr id="103" name="FranklinCapacityReferenceLine"/>
          <p:cNvCxnSpPr/>
          <p:nvPr/>
        </p:nvCxnSpPr>
        <p:spPr>
          <a:xfrm flipV="1">
            <a:off x="1284778" y="3978646"/>
            <a:ext cx="1100115" cy="417241"/>
          </a:xfrm>
          <a:prstGeom prst="line">
            <a:avLst/>
          </a:prstGeom>
          <a:ln w="19050">
            <a:solidFill>
              <a:srgbClr val="000000"/>
            </a:solidFill>
            <a:prstDash val="dash"/>
          </a:ln>
        </p:spPr>
      </p:cxnSp>
      <p:cxnSp>
        <p:nvCxnSpPr>
          <p:cNvPr id="104" name="FranklinCapacityReferenceLine"/>
          <p:cNvCxnSpPr/>
          <p:nvPr/>
        </p:nvCxnSpPr>
        <p:spPr>
          <a:xfrm flipV="1">
            <a:off x="2384892" y="3468685"/>
            <a:ext cx="1100115" cy="509961"/>
          </a:xfrm>
          <a:prstGeom prst="line">
            <a:avLst/>
          </a:prstGeom>
          <a:ln w="19050">
            <a:solidFill>
              <a:srgbClr val="000000"/>
            </a:solidFill>
            <a:prstDash val="dash"/>
          </a:ln>
        </p:spPr>
      </p:cxnSp>
      <p:cxnSp>
        <p:nvCxnSpPr>
          <p:cNvPr id="105" name="FranklinCapacityReferenceLine"/>
          <p:cNvCxnSpPr/>
          <p:nvPr/>
        </p:nvCxnSpPr>
        <p:spPr>
          <a:xfrm flipV="1">
            <a:off x="3485007" y="2448763"/>
            <a:ext cx="1100115" cy="1019922"/>
          </a:xfrm>
          <a:prstGeom prst="line">
            <a:avLst/>
          </a:prstGeom>
          <a:ln w="19050">
            <a:solidFill>
              <a:srgbClr val="000000"/>
            </a:solidFill>
            <a:prstDash val="dash"/>
          </a:ln>
        </p:spPr>
      </p:cxnSp>
      <p:cxnSp>
        <p:nvCxnSpPr>
          <p:cNvPr id="106" name="FranklinCapacityReferenceLine"/>
          <p:cNvCxnSpPr/>
          <p:nvPr/>
        </p:nvCxnSpPr>
        <p:spPr>
          <a:xfrm>
            <a:off x="4585122" y="2448763"/>
            <a:ext cx="1100115" cy="0"/>
          </a:xfrm>
          <a:prstGeom prst="line">
            <a:avLst/>
          </a:prstGeom>
          <a:ln w="19050">
            <a:solidFill>
              <a:srgbClr val="000000"/>
            </a:solidFill>
            <a:prstDash val="dash"/>
          </a:ln>
        </p:spPr>
      </p:cxnSp>
      <p:cxnSp>
        <p:nvCxnSpPr>
          <p:cNvPr id="107" name="FranklinCapacityReferenceLine"/>
          <p:cNvCxnSpPr/>
          <p:nvPr/>
        </p:nvCxnSpPr>
        <p:spPr>
          <a:xfrm>
            <a:off x="5685236" y="2448763"/>
            <a:ext cx="1100115" cy="0"/>
          </a:xfrm>
          <a:prstGeom prst="line">
            <a:avLst/>
          </a:prstGeom>
          <a:ln w="19050">
            <a:solidFill>
              <a:srgbClr val="000000"/>
            </a:solidFill>
            <a:prstDash val="dash"/>
          </a:ln>
        </p:spPr>
      </p:cxnSp>
      <p:cxnSp>
        <p:nvCxnSpPr>
          <p:cNvPr id="108" name="FranklinCapacityReferenceLine"/>
          <p:cNvCxnSpPr/>
          <p:nvPr/>
        </p:nvCxnSpPr>
        <p:spPr>
          <a:xfrm>
            <a:off x="6785351" y="2448763"/>
            <a:ext cx="1100115" cy="0"/>
          </a:xfrm>
          <a:prstGeom prst="line">
            <a:avLst/>
          </a:prstGeom>
          <a:ln w="19050">
            <a:solidFill>
              <a:srgbClr val="000000"/>
            </a:solidFill>
            <a:prstDash val="dash"/>
          </a:ln>
        </p:spPr>
      </p:cxnSp>
      <p:cxnSp>
        <p:nvCxnSpPr>
          <p:cNvPr id="109" name="FranklinCapacityReferenceLine"/>
          <p:cNvCxnSpPr/>
          <p:nvPr/>
        </p:nvCxnSpPr>
        <p:spPr>
          <a:xfrm>
            <a:off x="7885466" y="2448763"/>
            <a:ext cx="1100115" cy="0"/>
          </a:xfrm>
          <a:prstGeom prst="line">
            <a:avLst/>
          </a:prstGeom>
          <a:ln w="19050">
            <a:solidFill>
              <a:srgbClr val="000000"/>
            </a:solidFill>
            <a:prstDash val="dash"/>
          </a:ln>
        </p:spPr>
      </p:cxnSp>
      <p:cxnSp>
        <p:nvCxnSpPr>
          <p:cNvPr id="110" name="FranklinCapacityReferenceLine"/>
          <p:cNvCxnSpPr/>
          <p:nvPr/>
        </p:nvCxnSpPr>
        <p:spPr>
          <a:xfrm>
            <a:off x="8985580" y="2448763"/>
            <a:ext cx="1100115" cy="0"/>
          </a:xfrm>
          <a:prstGeom prst="line">
            <a:avLst/>
          </a:prstGeom>
          <a:ln w="19050">
            <a:solidFill>
              <a:srgbClr val="000000"/>
            </a:solidFill>
            <a:prstDash val="dash"/>
          </a:ln>
        </p:spPr>
      </p:cxnSp>
      <p:cxnSp>
        <p:nvCxnSpPr>
          <p:cNvPr id="111" name="FranklinCapacityReferenceLine"/>
          <p:cNvCxnSpPr/>
          <p:nvPr/>
        </p:nvCxnSpPr>
        <p:spPr>
          <a:xfrm>
            <a:off x="10085695" y="2448763"/>
            <a:ext cx="1100115" cy="0"/>
          </a:xfrm>
          <a:prstGeom prst="line">
            <a:avLst/>
          </a:prstGeom>
          <a:ln w="19050">
            <a:solidFill>
              <a:srgbClr val="000000"/>
            </a:solidFill>
            <a:prstDash val="dash"/>
          </a:ln>
        </p:spPr>
      </p:cxnSp>
      <p:sp>
        <p:nvSpPr>
          <p:cNvPr id="112" name="ChartTitle"/>
          <p:cNvSpPr txBox="1"/>
          <p:nvPr/>
        </p:nvSpPr>
        <p:spPr>
          <a:xfrm>
            <a:off x="466344" y="1660550"/>
            <a:ext cx="2438705" cy="152705"/>
          </a:xfrm>
          <a:prstGeom prst="rect">
            <a:avLst/>
          </a:prstGeom>
          <a:noFill/>
          <a:ln>
            <a:noFill/>
          </a:ln>
        </p:spPr>
        <p:txBody>
          <a:bodyPr wrap="none" anchor="b" lIns="0" tIns="0" rIns="0" bIns="0"/>
          <a:lstStyle/>
          <a:p>
            <a:pPr marL="0" indent="0">
              <a:lnSpc>
                <a:spcPct val="100000"/>
              </a:lnSpc>
              <a:buNone/>
            </a:pPr>
            <a:r>
              <a:rPr lang="en-US" sz="1000" b="1" dirty="0">
                <a:solidFill>
                  <a:srgbClr val="000000"/>
                </a:solidFill>
                <a:latin typeface="Arial"/>
                <a:ea typeface="Arial"/>
                <a:cs typeface="Arial"/>
              </a:rPr>
              <a:t>Golden Dome Marauder starts by phase</a:t>
            </a:r>
            <a:r>
              <a:rPr lang="en-US" sz="1000" b="1" dirty="0">
                <a:solidFill>
                  <a:srgbClr val="000000"/>
                </a:solidFill>
                <a:latin typeface="Arial"/>
                <a:ea typeface="Arial"/>
                <a:cs typeface="Arial"/>
              </a:rPr>
              <a:t>1</a:t>
            </a:r>
          </a:p>
        </p:txBody>
      </p:sp>
      <p:sp>
        <p:nvSpPr>
          <p:cNvPr id="113" name="FiscalYearTick"/>
          <p:cNvSpPr txBox="1"/>
          <p:nvPr/>
        </p:nvSpPr>
        <p:spPr>
          <a:xfrm>
            <a:off x="1127455"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FY26</a:t>
            </a:r>
          </a:p>
        </p:txBody>
      </p:sp>
      <p:sp>
        <p:nvSpPr>
          <p:cNvPr id="114" name="FiscalYearTick"/>
          <p:cNvSpPr txBox="1"/>
          <p:nvPr/>
        </p:nvSpPr>
        <p:spPr>
          <a:xfrm>
            <a:off x="2227478"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FY27</a:t>
            </a:r>
          </a:p>
        </p:txBody>
      </p:sp>
      <p:sp>
        <p:nvSpPr>
          <p:cNvPr id="115" name="FiscalYearTick"/>
          <p:cNvSpPr txBox="1"/>
          <p:nvPr/>
        </p:nvSpPr>
        <p:spPr>
          <a:xfrm>
            <a:off x="3327502"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FY28</a:t>
            </a:r>
          </a:p>
        </p:txBody>
      </p:sp>
      <p:sp>
        <p:nvSpPr>
          <p:cNvPr id="116" name="FiscalYearTick"/>
          <p:cNvSpPr txBox="1"/>
          <p:nvPr/>
        </p:nvSpPr>
        <p:spPr>
          <a:xfrm>
            <a:off x="4427525"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FY29</a:t>
            </a:r>
          </a:p>
        </p:txBody>
      </p:sp>
      <p:sp>
        <p:nvSpPr>
          <p:cNvPr id="117" name="FiscalYearTick"/>
          <p:cNvSpPr txBox="1"/>
          <p:nvPr/>
        </p:nvSpPr>
        <p:spPr>
          <a:xfrm>
            <a:off x="5527548"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FY30</a:t>
            </a:r>
          </a:p>
        </p:txBody>
      </p:sp>
      <p:sp>
        <p:nvSpPr>
          <p:cNvPr id="118" name="FiscalYearTick"/>
          <p:cNvSpPr txBox="1"/>
          <p:nvPr/>
        </p:nvSpPr>
        <p:spPr>
          <a:xfrm>
            <a:off x="6627571"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FY31</a:t>
            </a:r>
          </a:p>
        </p:txBody>
      </p:sp>
      <p:sp>
        <p:nvSpPr>
          <p:cNvPr id="119" name="FiscalYearTick"/>
          <p:cNvSpPr txBox="1"/>
          <p:nvPr/>
        </p:nvSpPr>
        <p:spPr>
          <a:xfrm>
            <a:off x="7727594"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FY32</a:t>
            </a:r>
          </a:p>
        </p:txBody>
      </p:sp>
      <p:sp>
        <p:nvSpPr>
          <p:cNvPr id="120" name="FiscalYearTick"/>
          <p:cNvSpPr txBox="1"/>
          <p:nvPr/>
        </p:nvSpPr>
        <p:spPr>
          <a:xfrm>
            <a:off x="8828532"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FY33</a:t>
            </a:r>
          </a:p>
        </p:txBody>
      </p:sp>
      <p:sp>
        <p:nvSpPr>
          <p:cNvPr id="121" name="FiscalYearTick"/>
          <p:cNvSpPr txBox="1"/>
          <p:nvPr/>
        </p:nvSpPr>
        <p:spPr>
          <a:xfrm>
            <a:off x="9928555"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FY34</a:t>
            </a:r>
          </a:p>
        </p:txBody>
      </p:sp>
      <p:sp>
        <p:nvSpPr>
          <p:cNvPr id="122" name="FiscalYearTick"/>
          <p:cNvSpPr txBox="1"/>
          <p:nvPr/>
        </p:nvSpPr>
        <p:spPr>
          <a:xfrm>
            <a:off x="11028578" y="4809744"/>
            <a:ext cx="314554" cy="152705"/>
          </a:xfrm>
          <a:prstGeom prst="rect">
            <a:avLst/>
          </a:prstGeom>
          <a:noFill/>
          <a:ln>
            <a:noFill/>
          </a:ln>
        </p:spPr>
        <p:txBody>
          <a:bodyPr wrap="none" anchor="ctr" lIns="0" tIns="0" rIns="0" bIns="0"/>
          <a:lstStyle/>
          <a:p>
            <a:pPr algn="ctr" marL="0" indent="0">
              <a:lnSpc>
                <a:spcPct val="100000"/>
              </a:lnSpc>
              <a:buNone/>
            </a:pPr>
            <a:r>
              <a:rPr lang="en-US" sz="1000" dirty="0">
                <a:solidFill>
                  <a:srgbClr val="000000"/>
                </a:solidFill>
                <a:latin typeface="Arial"/>
                <a:ea typeface="Arial"/>
                <a:cs typeface="Arial"/>
              </a:rPr>
              <a:t>FY35</a:t>
            </a:r>
          </a:p>
        </p:txBody>
      </p:sp>
      <p:sp>
        <p:nvSpPr>
          <p:cNvPr id="123" name="AnnualStartLabel"/>
          <p:cNvSpPr txBox="1"/>
          <p:nvPr/>
        </p:nvSpPr>
        <p:spPr>
          <a:xfrm>
            <a:off x="7798003" y="3202229"/>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35</a:t>
            </a:r>
          </a:p>
        </p:txBody>
      </p:sp>
      <p:sp>
        <p:nvSpPr>
          <p:cNvPr id="124" name="AnnualStartLabel"/>
          <p:cNvSpPr txBox="1"/>
          <p:nvPr/>
        </p:nvSpPr>
        <p:spPr>
          <a:xfrm>
            <a:off x="8898026" y="3202229"/>
            <a:ext cx="174650" cy="152705"/>
          </a:xfrm>
          <a:prstGeom prst="rect">
            <a:avLst/>
          </a:prstGeom>
          <a:noFill/>
          <a:ln>
            <a:noFill/>
          </a:ln>
        </p:spPr>
        <p:txBody>
          <a:bodyPr wrap="none" anchor="b" lIns="17463" tIns="0" rIns="17463" bIns="0"/>
          <a:lstStyle/>
          <a:p>
            <a:pPr algn="ctr" marL="0" indent="0">
              <a:lnSpc>
                <a:spcPct val="100000"/>
              </a:lnSpc>
              <a:buNone/>
            </a:pPr>
            <a:r>
              <a:rPr lang="en-US" sz="1000" dirty="0">
                <a:solidFill>
                  <a:srgbClr val="000000"/>
                </a:solidFill>
                <a:latin typeface="Arial"/>
                <a:ea typeface="Arial"/>
                <a:cs typeface="Arial"/>
              </a:rPr>
              <a:t>35</a:t>
            </a:r>
          </a:p>
        </p:txBody>
      </p:sp>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Golden Dome Requirements</a:t>
            </a:r>
            <a:r>
              <a:rPr lang="en-US" sz="1000" kern="1200" dirty="0">
                <a:solidFill>
                  <a:srgbClr val="44505C"/>
                </a:solidFill>
                <a:latin typeface="Arial"/>
                <a:ea typeface="Arial"/>
                <a:cs typeface="Arial"/>
              </a:rPr>
              <a:t> / Production Outlook</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Production Outlook (separate platforms) | All Phase 1 vessels started by FY32, Phase 2 by FY33, and Phase 3 by FY35</a:t>
            </a:r>
          </a:p>
        </p:txBody>
      </p:sp>
      <p:pic>
        <p:nvPicPr>
          <p:cNvPr id="125" name="Picture 2"/>
          <p:cNvPicPr>
            <a:picLocks noChangeAspect="1"/>
          </p:cNvPicPr>
          <p:nvPr/>
        </p:nvPicPr>
        <p:blipFill>
          <a:blip r:embed="rId3"/>
          <a:stretch>
            <a:fillRect/>
          </a:stretch>
        </p:blipFill>
        <p:spPr>
          <a:xfrm>
            <a:off x="10452506" y="43891"/>
            <a:ext cx="843077" cy="843077"/>
          </a:xfrm>
          <a:prstGeom prst="rect">
            <a:avLst/>
          </a:prstGeom>
        </p:spPr>
      </p:pic>
      <p:pic>
        <p:nvPicPr>
          <p:cNvPr id="126" name="Picture 8"/>
          <p:cNvPicPr>
            <a:picLocks noChangeAspect="1"/>
          </p:cNvPicPr>
          <p:nvPr/>
        </p:nvPicPr>
        <p:blipFill>
          <a:blip r:embed="rId4"/>
          <a:stretch>
            <a:fillRect/>
          </a:stretch>
        </p:blipFill>
        <p:spPr>
          <a:xfrm>
            <a:off x="11312957" y="43891"/>
            <a:ext cx="843077" cy="843077"/>
          </a:xfrm>
          <a:prstGeom prst="rect">
            <a:avLst/>
          </a:prstGeom>
        </p:spPr>
      </p:pic>
      <p:sp>
        <p:nvSpPr>
          <p:cNvPr id="127" name="PhaseLegendSwatch"/>
          <p:cNvSpPr txBox="1"/>
          <p:nvPr/>
        </p:nvSpPr>
        <p:spPr>
          <a:xfrm>
            <a:off x="7300570" y="1655978"/>
            <a:ext cx="179222" cy="133502"/>
          </a:xfrm>
          <a:prstGeom prst="rect">
            <a:avLst/>
          </a:prstGeom>
          <a:solidFill>
            <a:srgbClr val="9DB1CF"/>
          </a:solidFill>
          <a:ln>
            <a:noFill/>
          </a:ln>
        </p:spPr>
        <p:txBody>
          <a:bodyPr wrap="square" anchor="ctr" lIns="91440" tIns="45720" rIns="91440" bIns="45720"/>
          <a:lstStyle/>
          <a:p>
            <a:pPr algn="ctr">
              <a:lnSpc>
                <a:spcPct val="100000"/>
              </a:lnSpc>
              <a:buNone/>
            </a:pPr>
            <a:endParaRPr lang="en-US"/>
          </a:p>
        </p:txBody>
      </p:sp>
      <p:sp>
        <p:nvSpPr>
          <p:cNvPr id="128" name="PhaseLegendSwatch"/>
          <p:cNvSpPr txBox="1"/>
          <p:nvPr/>
        </p:nvSpPr>
        <p:spPr>
          <a:xfrm>
            <a:off x="8094269" y="1655978"/>
            <a:ext cx="179222" cy="133502"/>
          </a:xfrm>
          <a:prstGeom prst="rect">
            <a:avLst/>
          </a:prstGeom>
          <a:solidFill>
            <a:srgbClr val="6F8DB9"/>
          </a:solidFill>
          <a:ln>
            <a:noFill/>
          </a:ln>
        </p:spPr>
        <p:txBody>
          <a:bodyPr wrap="square" anchor="ctr" lIns="91440" tIns="45720" rIns="91440" bIns="45720"/>
          <a:lstStyle/>
          <a:p>
            <a:pPr algn="ctr">
              <a:lnSpc>
                <a:spcPct val="100000"/>
              </a:lnSpc>
              <a:buNone/>
            </a:pPr>
            <a:endParaRPr lang="en-US"/>
          </a:p>
        </p:txBody>
      </p:sp>
      <p:sp>
        <p:nvSpPr>
          <p:cNvPr id="129" name="PhaseLegendSwatch"/>
          <p:cNvSpPr txBox="1"/>
          <p:nvPr/>
        </p:nvSpPr>
        <p:spPr>
          <a:xfrm>
            <a:off x="8887968" y="1655978"/>
            <a:ext cx="179222" cy="133502"/>
          </a:xfrm>
          <a:prstGeom prst="rect">
            <a:avLst/>
          </a:prstGeom>
          <a:solidFill>
            <a:srgbClr val="364D6E"/>
          </a:solidFill>
          <a:ln>
            <a:noFill/>
          </a:ln>
        </p:spPr>
        <p:txBody>
          <a:bodyPr wrap="square" anchor="ctr" lIns="91440" tIns="45720" rIns="91440" bIns="45720"/>
          <a:lstStyle/>
          <a:p>
            <a:pPr algn="ctr">
              <a:lnSpc>
                <a:spcPct val="100000"/>
              </a:lnSpc>
              <a:buNone/>
            </a:pPr>
            <a:endParaRPr lang="en-US"/>
          </a:p>
        </p:txBody>
      </p:sp>
      <p:cxnSp>
        <p:nvCxnSpPr>
          <p:cNvPr id="130" name="FranklinCapacityLegendMark"/>
          <p:cNvCxnSpPr/>
          <p:nvPr/>
        </p:nvCxnSpPr>
        <p:spPr>
          <a:xfrm>
            <a:off x="9691726" y="1722730"/>
            <a:ext cx="160020" cy="0"/>
          </a:xfrm>
          <a:prstGeom prst="line">
            <a:avLst/>
          </a:prstGeom>
          <a:ln w="19050">
            <a:solidFill>
              <a:srgbClr val="000000"/>
            </a:solidFill>
            <a:prstDash val="dash"/>
            <a:tailEnd type="triangle" w="med" len="med"/>
          </a:ln>
        </p:spPr>
      </p:cxnSp>
      <p:sp>
        <p:nvSpPr>
          <p:cNvPr id="131" name="LegendLabel"/>
          <p:cNvSpPr txBox="1"/>
          <p:nvPr/>
        </p:nvSpPr>
        <p:spPr>
          <a:xfrm>
            <a:off x="7530998"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1</a:t>
            </a:r>
          </a:p>
        </p:txBody>
      </p:sp>
      <p:sp>
        <p:nvSpPr>
          <p:cNvPr id="132" name="LegendLabel"/>
          <p:cNvSpPr txBox="1"/>
          <p:nvPr/>
        </p:nvSpPr>
        <p:spPr>
          <a:xfrm>
            <a:off x="8324698"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2</a:t>
            </a:r>
          </a:p>
        </p:txBody>
      </p:sp>
      <p:sp>
        <p:nvSpPr>
          <p:cNvPr id="133" name="LegendLabel"/>
          <p:cNvSpPr txBox="1"/>
          <p:nvPr/>
        </p:nvSpPr>
        <p:spPr>
          <a:xfrm>
            <a:off x="9118397" y="1651406"/>
            <a:ext cx="46177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Phase 3</a:t>
            </a:r>
          </a:p>
        </p:txBody>
      </p:sp>
      <p:sp>
        <p:nvSpPr>
          <p:cNvPr id="134" name="LegendLabel"/>
          <p:cNvSpPr txBox="1"/>
          <p:nvPr/>
        </p:nvSpPr>
        <p:spPr>
          <a:xfrm>
            <a:off x="9912096" y="1651406"/>
            <a:ext cx="1773022" cy="152705"/>
          </a:xfrm>
          <a:prstGeom prst="rect">
            <a:avLst/>
          </a:prstGeom>
          <a:noFill/>
          <a:ln>
            <a:noFill/>
          </a:ln>
        </p:spPr>
        <p:txBody>
          <a:bodyPr wrap="none" anchor="ctr" lIns="0" tIns="0" rIns="0" bIns="0"/>
          <a:lstStyle/>
          <a:p>
            <a:pPr marL="0" indent="0">
              <a:lnSpc>
                <a:spcPct val="100000"/>
              </a:lnSpc>
              <a:buNone/>
            </a:pPr>
            <a:r>
              <a:rPr lang="en-US" sz="1000" dirty="0">
                <a:solidFill>
                  <a:srgbClr val="000000"/>
                </a:solidFill>
                <a:latin typeface="Arial"/>
                <a:ea typeface="Arial"/>
                <a:cs typeface="Arial"/>
              </a:rPr>
              <a:t>Franklin capacity (vessel starts)</a:t>
            </a:r>
          </a:p>
        </p:txBody>
      </p:sp>
      <p:sp>
        <p:nvSpPr>
          <p:cNvPr id="135" name="ForecastAssumptions"/>
          <p:cNvSpPr txBox="1"/>
          <p:nvPr/>
        </p:nvSpPr>
        <p:spPr>
          <a:xfrm>
            <a:off x="1640434" y="4964278"/>
            <a:ext cx="5674766" cy="1169518"/>
          </a:xfrm>
          <a:prstGeom prst="rect">
            <a:avLst/>
          </a:prstGeom>
          <a:noFill/>
          <a:ln>
            <a:noFill/>
          </a:ln>
        </p:spPr>
        <p:txBody>
          <a:bodyPr wrap="square" anchor="t" lIns="91440" tIns="45720" rIns="91440" bIns="45720"/>
          <a:lstStyle/>
          <a:p>
            <a:pPr marL="0" indent="0">
              <a:lnSpc>
                <a:spcPct val="100000"/>
              </a:lnSpc>
              <a:buNone/>
            </a:pPr>
            <a:r>
              <a:rPr lang="en-US" sz="1000" b="1" dirty="0">
                <a:solidFill>
                  <a:srgbClr val="000000"/>
                </a:solidFill>
                <a:latin typeface="Arial"/>
                <a:ea typeface="Arial"/>
                <a:cs typeface="Arial"/>
              </a:rPr>
              <a:t>FY27-FY31 forecast assumes: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Franklin Phase 2 completion pulled forward to JUN ‘28 (vs. DEC ‘28), increasing capacity to 50x vessels / year</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Navy purchases 10x MASC vessels / year, with FY29-FY31 vessels incremental to OBBBA amount</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US Army purchases 14-15 ARV / year FY29-FY31 </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Fulfilling MASC and ARV orders takes precedence and GD consumes remaining yard capacity</a:t>
            </a:r>
          </a:p>
        </p:txBody>
      </p:sp>
      <p:sp>
        <p:nvSpPr>
          <p:cNvPr id="136" name="ForecastAssumptions"/>
          <p:cNvSpPr txBox="1"/>
          <p:nvPr/>
        </p:nvSpPr>
        <p:spPr>
          <a:xfrm>
            <a:off x="7315200" y="4964278"/>
            <a:ext cx="4421124" cy="1015898"/>
          </a:xfrm>
          <a:prstGeom prst="rect">
            <a:avLst/>
          </a:prstGeom>
          <a:noFill/>
          <a:ln>
            <a:noFill/>
          </a:ln>
        </p:spPr>
        <p:txBody>
          <a:bodyPr wrap="square" anchor="t" lIns="91440" tIns="45720" rIns="91440" bIns="45720"/>
          <a:lstStyle/>
          <a:p>
            <a:pPr marL="0" indent="0">
              <a:lnSpc>
                <a:spcPct val="100000"/>
              </a:lnSpc>
              <a:buNone/>
            </a:pPr>
            <a:r>
              <a:rPr lang="en-US" sz="1000" b="1" dirty="0">
                <a:solidFill>
                  <a:srgbClr val="000000"/>
                </a:solidFill>
                <a:latin typeface="Arial"/>
                <a:ea typeface="Arial"/>
                <a:cs typeface="Arial"/>
              </a:rPr>
              <a:t>FY32-FY35 forecast assumes: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Fulfilling GD orders takes precedence (70% of yard capacity), with remaining capacity for other customers</a:t>
            </a:r>
          </a:p>
          <a:p>
            <a:pPr marL="171450" indent="-171450">
              <a:lnSpc>
                <a:spcPct val="100000"/>
              </a:lnSpc>
              <a:buFont typeface="Arial" panose="020B0604020202020204" pitchFamily="34" charset="0"/>
              <a:buChar char="•"/>
            </a:pPr>
            <a:r>
              <a:rPr lang="en-US" sz="1000" dirty="0">
                <a:solidFill>
                  <a:srgbClr val="000000"/>
                </a:solidFill>
                <a:latin typeface="Arial"/>
                <a:ea typeface="Arial"/>
                <a:cs typeface="Arial"/>
              </a:rPr>
              <a:t>Interceptor and sensor production constraints limit FOC node fielding, driving relatively even production distribution throughout period</a:t>
            </a:r>
          </a:p>
          <a:p>
            <a:pPr>
              <a:lnSpc>
                <a:spcPct val="100000"/>
              </a:lnSpc>
              <a:buNone/>
            </a:pPr>
            <a:endParaRPr lang="en-US"/>
          </a:p>
        </p:txBody>
      </p:sp>
      <p:sp>
        <p:nvSpPr>
          <p:cNvPr id="137" name="NoteLine"/>
          <p:cNvSpPr txBox="1"/>
          <p:nvPr/>
        </p:nvSpPr>
        <p:spPr>
          <a:xfrm>
            <a:off x="452628" y="6208776"/>
            <a:ext cx="11308385" cy="188366"/>
          </a:xfrm>
          <a:prstGeom prst="rect">
            <a:avLst/>
          </a:prstGeom>
          <a:noFill/>
          <a:ln>
            <a:noFill/>
          </a:ln>
        </p:spPr>
        <p:txBody>
          <a:bodyPr wrap="square" anchor="ctr" lIns="91440" tIns="45720" rIns="91440" bIns="45720"/>
          <a:lstStyle/>
          <a:p>
            <a:pPr marL="0" indent="0">
              <a:lnSpc>
                <a:spcPct val="100000"/>
              </a:lnSpc>
              <a:buNone/>
            </a:pPr>
            <a:r>
              <a:rPr lang="en-US" sz="1000" dirty="0">
                <a:solidFill>
                  <a:srgbClr val="000000"/>
                </a:solidFill>
                <a:latin typeface="Arial"/>
                <a:ea typeface="Arial"/>
                <a:cs typeface="Arial"/>
              </a:rPr>
              <a:t>Note: (1) Assumes vessels are only produced at Franklin facility </a:t>
            </a:r>
          </a:p>
        </p:txBody>
      </p:sp>
      <p:sp>
        <p:nvSpPr>
          <p:cNvPr id="138" name="CumulativeValueRing"/>
          <p:cNvSpPr txBox="1"/>
          <p:nvPr/>
        </p:nvSpPr>
        <p:spPr>
          <a:xfrm>
            <a:off x="7620610"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39" name="CumulativeValueRing"/>
          <p:cNvSpPr txBox="1"/>
          <p:nvPr/>
        </p:nvSpPr>
        <p:spPr>
          <a:xfrm>
            <a:off x="10911535"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0" name="CumulativeValueRing"/>
          <p:cNvSpPr txBox="1"/>
          <p:nvPr/>
        </p:nvSpPr>
        <p:spPr>
          <a:xfrm>
            <a:off x="8713318"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1" name="CumulativeValueRing"/>
          <p:cNvSpPr txBox="1"/>
          <p:nvPr/>
        </p:nvSpPr>
        <p:spPr>
          <a:xfrm>
            <a:off x="9807854"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2" name="CumulativeValueRing"/>
          <p:cNvSpPr txBox="1"/>
          <p:nvPr/>
        </p:nvSpPr>
        <p:spPr>
          <a:xfrm>
            <a:off x="6511442"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3" name="CumulativeValueRing"/>
          <p:cNvSpPr txBox="1"/>
          <p:nvPr/>
        </p:nvSpPr>
        <p:spPr>
          <a:xfrm>
            <a:off x="2113178"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4" name="CumulativeValueRing"/>
          <p:cNvSpPr txBox="1"/>
          <p:nvPr/>
        </p:nvSpPr>
        <p:spPr>
          <a:xfrm>
            <a:off x="3222346"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5" name="CumulativeValueRing"/>
          <p:cNvSpPr txBox="1"/>
          <p:nvPr/>
        </p:nvSpPr>
        <p:spPr>
          <a:xfrm>
            <a:off x="4313225"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6" name="CumulativeValueRing"/>
          <p:cNvSpPr txBox="1"/>
          <p:nvPr/>
        </p:nvSpPr>
        <p:spPr>
          <a:xfrm>
            <a:off x="5404104" y="2292401"/>
            <a:ext cx="550469" cy="31089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7" name="CumulativeValueRing"/>
          <p:cNvSpPr txBox="1"/>
          <p:nvPr/>
        </p:nvSpPr>
        <p:spPr>
          <a:xfrm>
            <a:off x="5835701" y="1668780"/>
            <a:ext cx="192938" cy="119786"/>
          </a:xfrm>
          <a:prstGeom prst="ellipse">
            <a:avLst/>
          </a:prstGeom>
          <a:noFill/>
          <a:ln w="12700">
            <a:solidFill>
              <a:srgbClr val="000000"/>
            </a:solidFill>
          </a:ln>
        </p:spPr>
        <p:txBody>
          <a:bodyPr wrap="square" anchor="ctr" lIns="91440" tIns="45720" rIns="91440" bIns="45720"/>
          <a:lstStyle/>
          <a:p>
            <a:pPr algn="ctr">
              <a:lnSpc>
                <a:spcPct val="100000"/>
              </a:lnSpc>
              <a:buNone/>
            </a:pPr>
            <a:endParaRPr lang="en-US"/>
          </a:p>
        </p:txBody>
      </p:sp>
      <p:sp>
        <p:nvSpPr>
          <p:cNvPr id="148" name="CumulativeValueLabel"/>
          <p:cNvSpPr txBox="1"/>
          <p:nvPr/>
        </p:nvSpPr>
        <p:spPr>
          <a:xfrm>
            <a:off x="7696505" y="2324405"/>
            <a:ext cx="397764" cy="245974"/>
          </a:xfrm>
          <a:prstGeom prst="rect">
            <a:avLst/>
          </a:prstGeom>
          <a:noFill/>
          <a:ln>
            <a:noFill/>
          </a:ln>
        </p:spPr>
        <p:txBody>
          <a:bodyPr wrap="none" anchor="t" lIns="91440" tIns="45720" rIns="91440" bIns="45720"/>
          <a:lstStyle/>
          <a:p>
            <a:pPr algn="ctr" marL="0" indent="0">
              <a:lnSpc>
                <a:spcPct val="100000"/>
              </a:lnSpc>
              <a:buNone/>
            </a:pPr>
            <a:r>
              <a:rPr lang="en-US" sz="1000" dirty="0">
                <a:solidFill>
                  <a:srgbClr val="000000"/>
                </a:solidFill>
                <a:latin typeface="Arial"/>
                <a:ea typeface="Arial"/>
                <a:cs typeface="Arial"/>
              </a:rPr>
              <a:t>135</a:t>
            </a:r>
          </a:p>
        </p:txBody>
      </p:sp>
      <p:sp>
        <p:nvSpPr>
          <p:cNvPr id="149" name="CumulativeValueLabel"/>
          <p:cNvSpPr txBox="1"/>
          <p:nvPr/>
        </p:nvSpPr>
        <p:spPr>
          <a:xfrm>
            <a:off x="10987430" y="2324405"/>
            <a:ext cx="397764" cy="245974"/>
          </a:xfrm>
          <a:prstGeom prst="rect">
            <a:avLst/>
          </a:prstGeom>
          <a:noFill/>
          <a:ln>
            <a:noFill/>
          </a:ln>
        </p:spPr>
        <p:txBody>
          <a:bodyPr wrap="none" anchor="t" lIns="91440" tIns="45720" rIns="91440" bIns="45720"/>
          <a:lstStyle/>
          <a:p>
            <a:pPr algn="ctr" marL="0" indent="0">
              <a:lnSpc>
                <a:spcPct val="100000"/>
              </a:lnSpc>
              <a:buNone/>
            </a:pPr>
            <a:r>
              <a:rPr lang="en-US" sz="1000" dirty="0">
                <a:solidFill>
                  <a:srgbClr val="000000"/>
                </a:solidFill>
                <a:latin typeface="Arial"/>
                <a:ea typeface="Arial"/>
                <a:cs typeface="Arial"/>
              </a:rPr>
              <a:t>240</a:t>
            </a:r>
          </a:p>
        </p:txBody>
      </p:sp>
      <p:sp>
        <p:nvSpPr>
          <p:cNvPr id="150" name="CumulativeValueLabel"/>
          <p:cNvSpPr txBox="1"/>
          <p:nvPr/>
        </p:nvSpPr>
        <p:spPr>
          <a:xfrm>
            <a:off x="8789213" y="2324405"/>
            <a:ext cx="397764" cy="245974"/>
          </a:xfrm>
          <a:prstGeom prst="rect">
            <a:avLst/>
          </a:prstGeom>
          <a:noFill/>
          <a:ln>
            <a:noFill/>
          </a:ln>
        </p:spPr>
        <p:txBody>
          <a:bodyPr wrap="none" anchor="t" lIns="91440" tIns="45720" rIns="91440" bIns="45720"/>
          <a:lstStyle/>
          <a:p>
            <a:pPr algn="ctr" marL="0" indent="0">
              <a:lnSpc>
                <a:spcPct val="100000"/>
              </a:lnSpc>
              <a:buNone/>
            </a:pPr>
            <a:r>
              <a:rPr lang="en-US" sz="1000" dirty="0">
                <a:solidFill>
                  <a:srgbClr val="000000"/>
                </a:solidFill>
                <a:latin typeface="Arial"/>
                <a:ea typeface="Arial"/>
                <a:cs typeface="Arial"/>
              </a:rPr>
              <a:t>170</a:t>
            </a:r>
          </a:p>
        </p:txBody>
      </p:sp>
      <p:sp>
        <p:nvSpPr>
          <p:cNvPr id="151" name="CumulativeValueLabel"/>
          <p:cNvSpPr txBox="1"/>
          <p:nvPr/>
        </p:nvSpPr>
        <p:spPr>
          <a:xfrm>
            <a:off x="9883750" y="2324405"/>
            <a:ext cx="397764" cy="245974"/>
          </a:xfrm>
          <a:prstGeom prst="rect">
            <a:avLst/>
          </a:prstGeom>
          <a:noFill/>
          <a:ln>
            <a:noFill/>
          </a:ln>
        </p:spPr>
        <p:txBody>
          <a:bodyPr wrap="none" anchor="t" lIns="91440" tIns="45720" rIns="91440" bIns="45720"/>
          <a:lstStyle/>
          <a:p>
            <a:pPr algn="ctr" marL="0" indent="0">
              <a:lnSpc>
                <a:spcPct val="100000"/>
              </a:lnSpc>
              <a:buNone/>
            </a:pPr>
            <a:r>
              <a:rPr lang="en-US" sz="1000" dirty="0">
                <a:solidFill>
                  <a:srgbClr val="000000"/>
                </a:solidFill>
                <a:latin typeface="Arial"/>
                <a:ea typeface="Arial"/>
                <a:cs typeface="Arial"/>
              </a:rPr>
              <a:t>205</a:t>
            </a:r>
          </a:p>
        </p:txBody>
      </p:sp>
      <p:sp>
        <p:nvSpPr>
          <p:cNvPr id="152" name="CumulativeValueLabel"/>
          <p:cNvSpPr txBox="1"/>
          <p:nvPr/>
        </p:nvSpPr>
        <p:spPr>
          <a:xfrm>
            <a:off x="6588252" y="2324405"/>
            <a:ext cx="397764" cy="245974"/>
          </a:xfrm>
          <a:prstGeom prst="rect">
            <a:avLst/>
          </a:prstGeom>
          <a:noFill/>
          <a:ln>
            <a:noFill/>
          </a:ln>
        </p:spPr>
        <p:txBody>
          <a:bodyPr wrap="none" anchor="t" lIns="91440" tIns="45720" rIns="91440" bIns="45720"/>
          <a:lstStyle/>
          <a:p>
            <a:pPr algn="ctr" marL="0" indent="0">
              <a:lnSpc>
                <a:spcPct val="100000"/>
              </a:lnSpc>
              <a:buNone/>
            </a:pPr>
            <a:r>
              <a:rPr lang="en-US" sz="1000" dirty="0">
                <a:solidFill>
                  <a:srgbClr val="000000"/>
                </a:solidFill>
                <a:latin typeface="Arial"/>
                <a:ea typeface="Arial"/>
                <a:cs typeface="Arial"/>
              </a:rPr>
              <a:t>100</a:t>
            </a:r>
          </a:p>
        </p:txBody>
      </p:sp>
      <p:sp>
        <p:nvSpPr>
          <p:cNvPr id="153" name="CumulativeValueLabel"/>
          <p:cNvSpPr txBox="1"/>
          <p:nvPr/>
        </p:nvSpPr>
        <p:spPr>
          <a:xfrm>
            <a:off x="2260397" y="2324405"/>
            <a:ext cx="255118" cy="245974"/>
          </a:xfrm>
          <a:prstGeom prst="rect">
            <a:avLst/>
          </a:prstGeom>
          <a:noFill/>
          <a:ln>
            <a:noFill/>
          </a:ln>
        </p:spPr>
        <p:txBody>
          <a:bodyPr wrap="none" anchor="t" lIns="91440" tIns="45720" rIns="91440" bIns="45720"/>
          <a:lstStyle/>
          <a:p>
            <a:pPr algn="ctr" marL="0" indent="0">
              <a:lnSpc>
                <a:spcPct val="100000"/>
              </a:lnSpc>
              <a:buNone/>
            </a:pPr>
            <a:r>
              <a:rPr lang="en-US" sz="1000" dirty="0">
                <a:solidFill>
                  <a:srgbClr val="000000"/>
                </a:solidFill>
                <a:latin typeface="Arial"/>
                <a:ea typeface="Arial"/>
                <a:cs typeface="Arial"/>
              </a:rPr>
              <a:t>5</a:t>
            </a:r>
          </a:p>
        </p:txBody>
      </p:sp>
      <p:sp>
        <p:nvSpPr>
          <p:cNvPr id="154" name="CumulativeValueLabel"/>
          <p:cNvSpPr txBox="1"/>
          <p:nvPr/>
        </p:nvSpPr>
        <p:spPr>
          <a:xfrm>
            <a:off x="3333902" y="2324405"/>
            <a:ext cx="327355" cy="245974"/>
          </a:xfrm>
          <a:prstGeom prst="rect">
            <a:avLst/>
          </a:prstGeom>
          <a:noFill/>
          <a:ln>
            <a:noFill/>
          </a:ln>
        </p:spPr>
        <p:txBody>
          <a:bodyPr wrap="none" anchor="t" lIns="91440" tIns="45720" rIns="91440" bIns="45720"/>
          <a:lstStyle/>
          <a:p>
            <a:pPr algn="ctr" marL="0" indent="0">
              <a:lnSpc>
                <a:spcPct val="100000"/>
              </a:lnSpc>
              <a:buNone/>
            </a:pPr>
            <a:r>
              <a:rPr lang="en-US" sz="1000" dirty="0">
                <a:solidFill>
                  <a:srgbClr val="000000"/>
                </a:solidFill>
                <a:latin typeface="Arial"/>
                <a:ea typeface="Arial"/>
                <a:cs typeface="Arial"/>
              </a:rPr>
              <a:t>23</a:t>
            </a:r>
          </a:p>
        </p:txBody>
      </p:sp>
      <p:sp>
        <p:nvSpPr>
          <p:cNvPr id="155" name="CumulativeValueLabel"/>
          <p:cNvSpPr txBox="1"/>
          <p:nvPr/>
        </p:nvSpPr>
        <p:spPr>
          <a:xfrm>
            <a:off x="4424782" y="2324405"/>
            <a:ext cx="327355" cy="245974"/>
          </a:xfrm>
          <a:prstGeom prst="rect">
            <a:avLst/>
          </a:prstGeom>
          <a:noFill/>
          <a:ln>
            <a:noFill/>
          </a:ln>
        </p:spPr>
        <p:txBody>
          <a:bodyPr wrap="none" anchor="t" lIns="91440" tIns="45720" rIns="91440" bIns="45720"/>
          <a:lstStyle/>
          <a:p>
            <a:pPr algn="ctr" marL="0" indent="0">
              <a:lnSpc>
                <a:spcPct val="100000"/>
              </a:lnSpc>
              <a:buNone/>
            </a:pPr>
            <a:r>
              <a:rPr lang="en-US" sz="1000" dirty="0">
                <a:solidFill>
                  <a:srgbClr val="000000"/>
                </a:solidFill>
                <a:latin typeface="Arial"/>
                <a:ea typeface="Arial"/>
                <a:cs typeface="Arial"/>
              </a:rPr>
              <a:t>48</a:t>
            </a:r>
          </a:p>
        </p:txBody>
      </p:sp>
      <p:sp>
        <p:nvSpPr>
          <p:cNvPr id="156" name="CumulativeValueLabel"/>
          <p:cNvSpPr txBox="1"/>
          <p:nvPr/>
        </p:nvSpPr>
        <p:spPr>
          <a:xfrm>
            <a:off x="5515661" y="2324405"/>
            <a:ext cx="327355" cy="245974"/>
          </a:xfrm>
          <a:prstGeom prst="rect">
            <a:avLst/>
          </a:prstGeom>
          <a:noFill/>
          <a:ln>
            <a:noFill/>
          </a:ln>
        </p:spPr>
        <p:txBody>
          <a:bodyPr wrap="none" anchor="t" lIns="91440" tIns="45720" rIns="91440" bIns="45720"/>
          <a:lstStyle/>
          <a:p>
            <a:pPr algn="ctr" marL="0" indent="0">
              <a:lnSpc>
                <a:spcPct val="100000"/>
              </a:lnSpc>
              <a:buNone/>
            </a:pPr>
            <a:r>
              <a:rPr lang="en-US" sz="1000" dirty="0">
                <a:solidFill>
                  <a:srgbClr val="000000"/>
                </a:solidFill>
                <a:latin typeface="Arial"/>
                <a:ea typeface="Arial"/>
                <a:cs typeface="Arial"/>
              </a:rPr>
              <a:t>74</a:t>
            </a:r>
          </a:p>
        </p:txBody>
      </p:sp>
      <p:sp>
        <p:nvSpPr>
          <p:cNvPr id="157" name="CumulativeAxisCaption"/>
          <p:cNvSpPr txBox="1"/>
          <p:nvPr/>
        </p:nvSpPr>
        <p:spPr>
          <a:xfrm>
            <a:off x="5835701" y="1637690"/>
            <a:ext cx="1463040" cy="182880"/>
          </a:xfrm>
          <a:prstGeom prst="rect">
            <a:avLst/>
          </a:prstGeom>
          <a:noFill/>
          <a:ln>
            <a:noFill/>
          </a:ln>
        </p:spPr>
        <p:txBody>
          <a:bodyPr wrap="none" anchor="ctr" lIns="91440" tIns="45720" rIns="91440" bIns="45720"/>
          <a:lstStyle/>
          <a:p>
            <a:pPr algn="r" marL="0" indent="0">
              <a:lnSpc>
                <a:spcPct val="100000"/>
              </a:lnSpc>
              <a:buNone/>
            </a:pPr>
            <a:r>
              <a:rPr lang="en-US" sz="1000" dirty="0">
                <a:solidFill>
                  <a:srgbClr val="000000"/>
                </a:solidFill>
                <a:latin typeface="Arial"/>
                <a:ea typeface="Arial"/>
                <a:cs typeface="Arial"/>
              </a:rPr>
              <a:t>Cumulative vessels</a:t>
            </a:r>
          </a:p>
        </p:txBody>
      </p:sp>
      <p:sp>
        <p:nvSpPr>
          <p:cNvPr id="158" name="OffHousePreliminaryChip"/>
          <p:cNvSpPr txBox="1"/>
          <p:nvPr/>
        </p:nvSpPr>
        <p:spPr>
          <a:xfrm>
            <a:off x="7233818" y="111557"/>
            <a:ext cx="1467612" cy="265176"/>
          </a:xfrm>
          <a:prstGeom prst="rect">
            <a:avLst/>
          </a:prstGeom>
          <a:solidFill>
            <a:srgbClr val="FFFFCC"/>
          </a:solidFill>
          <a:ln w="19050">
            <a:solidFill>
              <a:srgbClr val="121415"/>
            </a:solidFill>
          </a:ln>
        </p:spPr>
        <p:txBody>
          <a:bodyPr wrap="square" anchor="ctr" lIns="91440" tIns="45720" rIns="91440" bIns="45720"/>
          <a:lstStyle/>
          <a:p>
            <a:pPr algn="ctr">
              <a:lnSpc>
                <a:spcPct val="100000"/>
              </a:lnSpc>
              <a:buNone/>
            </a:pPr>
            <a:r>
              <a:rPr lang="en-US" sz="1200" b="1" dirty="0">
                <a:solidFill>
                  <a:srgbClr val="000000"/>
                </a:solidFill>
                <a:latin typeface="Arial"/>
                <a:ea typeface="Arial"/>
                <a:cs typeface="Arial"/>
              </a:rPr>
              <a:t>Preliminary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ronic Theme">
  <a:themeElements>
    <a:clrScheme name="Saronic">
      <a:dk1>
        <a:srgbClr val="162029"/>
      </a:dk1>
      <a:lt1>
        <a:srgbClr val="FFFFFF"/>
      </a:lt1>
      <a:dk2>
        <a:srgbClr val="44505C"/>
      </a:dk2>
      <a:lt2>
        <a:srgbClr val="F2F6FA"/>
      </a:lt2>
      <a:accent1>
        <a:srgbClr val="79838F"/>
      </a:accent1>
      <a:accent2>
        <a:srgbClr val="1D4D68"/>
      </a:accent2>
      <a:accent3>
        <a:srgbClr val="486D82"/>
      </a:accent3>
      <a:accent4>
        <a:srgbClr val="89A2B0"/>
      </a:accent4>
      <a:accent5>
        <a:srgbClr val="AFC2CC"/>
      </a:accent5>
      <a:accent6>
        <a:srgbClr val="D8E3EB"/>
      </a:accent6>
      <a:hlink>
        <a:srgbClr val="1D4D68"/>
      </a:hlink>
      <a:folHlink>
        <a:srgbClr val="89A2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7799b1f-9a79-4131-92f4-d7e1a1e8fbf9}" enabled="0" method="" siteId="{97799b1f-9a79-4131-92f4-d7e1a1e8fbf9}" removed="1"/>
</clbl:labelList>
</file>

<file path=docProps/app.xml><?xml version="1.0" encoding="utf-8"?>
<Properties xmlns="http://schemas.openxmlformats.org/officeDocument/2006/extended-properties" xmlns:vt="http://schemas.openxmlformats.org/officeDocument/2006/docPropsVTypes">
  <Application>library</Application>
  <PresentationFormat>Widescreen</PresentationFormat>
  <Slides>40</Slides>
  <Notes>0</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library</dc:title>
  <dc:creator>library build_deck.py</dc:creator>
  <cp:lastModifiedBy>library build_deck.py</cp:lastModifiedBy>
  <cp:revision>1</cp:revision>
  <dcterms:created xsi:type="dcterms:W3CDTF">2026-06-27T15:56:52Z</dcterms:created>
  <dcterms:modified xsi:type="dcterms:W3CDTF">2026-06-27T15:56:52Z</dcterms:modified>
</cp:coreProperties>
</file>