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555758683729434"/>
          <c:y val="0.05150525933986217"/>
          <c:w val="0.8954296160877514"/>
          <c:h val="0.896989481320275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Electrical and power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Sheet1!$B$2:$B$4</c:f>
              <c:numCache>
                <c:formatCode>#,##0;"-"#,##0</c:formatCode>
                <c:ptCount val="3"/>
                <c:pt idx="0">
                  <c:v>0.687840132</c:v>
                </c:pt>
                <c:pt idx="1">
                  <c:v>2.015264257</c:v>
                </c:pt>
                <c:pt idx="2">
                  <c:v>3.579611972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HVAC and ventilation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Sheet1!$C$2:$C$4</c:f>
              <c:numCache>
                <c:formatCode>#,##0;"-"#,##0</c:formatCode>
                <c:ptCount val="3"/>
                <c:pt idx="0">
                  <c:v>0.6039156649999999</c:v>
                </c:pt>
                <c:pt idx="1">
                  <c:v>0.918962976</c:v>
                </c:pt>
                <c:pt idx="2">
                  <c:v>2.7926330600000004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 fabrication and pre-outfit</c:v>
                </c:pt>
              </c:strCache>
            </c:strRef>
          </c:tx>
          <c:spPr>
            <a:solidFill>
              <a:srgbClr val="486D82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Sheet1!$D$2:$D$4</c:f>
              <c:numCache>
                <c:formatCode>#,##0;"-"#,##0</c:formatCode>
                <c:ptCount val="3"/>
                <c:pt idx="0">
                  <c:v>0.37146878000000005</c:v>
                </c:pt>
                <c:pt idx="1">
                  <c:v>0.691126691</c:v>
                </c:pt>
                <c:pt idx="2">
                  <c:v>2.9251053250000005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Machining</c:v>
                </c:pt>
              </c:strCache>
            </c:strRef>
          </c:tx>
          <c:spPr>
            <a:solidFill>
              <a:srgbClr val="89A2B0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Sheet1!$E$2:$E$4</c:f>
              <c:numCache>
                <c:formatCode>#,##0;"-"#,##0</c:formatCode>
                <c:ptCount val="3"/>
                <c:pt idx="0">
                  <c:v>2.260781875</c:v>
                </c:pt>
                <c:pt idx="1">
                  <c:v>0.10813463999999984</c:v>
                </c:pt>
                <c:pt idx="2">
                  <c:v>0.6001458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Coatings and insulation</c:v>
                </c:pt>
              </c:strCache>
            </c:strRef>
          </c:tx>
          <c:spPr>
            <a:solidFill>
              <a:srgbClr val="AFC2CC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Sheet1!$F$2:$F$4</c:f>
              <c:numCache>
                <c:formatCode>#,##0;"-"#,##0</c:formatCode>
                <c:ptCount val="3"/>
                <c:pt idx="0">
                  <c:v>0.009666927000000047</c:v>
                </c:pt>
                <c:pt idx="1">
                  <c:v>0.06840628999999998</c:v>
                </c:pt>
                <c:pt idx="2">
                  <c:v>0.894591879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Castings and forgings</c:v>
                </c:pt>
              </c:strCache>
            </c:strRef>
          </c:tx>
          <c:spPr>
            <a:solidFill>
              <a:srgbClr val="D8E3EB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Sheet1!$G$2:$G$4</c:f>
              <c:numCache>
                <c:formatCode>#,##0;"-"#,##0</c:formatCode>
                <c:ptCount val="3"/>
                <c:pt idx="0">
                  <c:v>0.14655910400000005</c:v>
                </c:pt>
                <c:pt idx="1">
                  <c:v>0.1787178169999999</c:v>
                </c:pt>
                <c:pt idx="2">
                  <c:v>0.6071095419999999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Piping, valves, and pumps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Sheet1!$H$2:$H$4</c:f>
              <c:numCache>
                <c:formatCode>#,##0;"-"#,##0</c:formatCode>
                <c:ptCount val="3"/>
                <c:pt idx="0">
                  <c:v>0.9841500380000001</c:v>
                </c:pt>
                <c:pt idx="1">
                  <c:v>0.08691762300000017</c:v>
                </c:pt>
                <c:pt idx="2">
                  <c:v>0.10459976900000001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Residual (incl. unassigned spend)</c:v>
                </c:pt>
              </c:strCache>
            </c:strRef>
          </c:tx>
          <c:spPr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Sheet1!$I$2:$I$4</c:f>
              <c:numCache>
                <c:formatCode>#,##0;"-"#,##0</c:formatCode>
                <c:ptCount val="3"/>
                <c:pt idx="0">
                  <c:v>1.3573471589999997</c:v>
                </c:pt>
                <c:pt idx="1">
                  <c:v>0.43955620699999987</c:v>
                </c:pt>
                <c:pt idx="2">
                  <c:v>2.122962684999999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min"/>
        <c:auto val="1"/>
        <c:lblAlgn val="ctr"/>
        <c:lblOffset val="100"/>
        <c:noMultiLvlLbl val="0"/>
      </c:catAx>
      <c:valAx>
        <c:axId val="222222222"/>
        <c:scaling>
          <c:orientation val="minMax"/>
          <c:max val="14"/>
          <c:min val="0"/>
        </c:scaling>
        <c:delete val="0"/>
        <c:axPos val="l"/>
        <c:numFmt formatCode="#,##0;&quot;-&quot;#,##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min"/>
        <c:crossBetween val="between"/>
        <c:majorUnit val="1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"/>
          <c:y val="0.0"/>
          <c:w val="1.0"/>
          <c:h val="1.0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High-confidence single SWBS</c:v>
                </c:pt>
              </c:strCache>
            </c:strRef>
          </c:tx>
          <c:spPr>
            <a:solidFill>
              <a:srgbClr val="1D4D68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Share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High-coverage mixed</c:v>
                </c:pt>
              </c:strCache>
            </c:strRef>
          </c:tx>
          <c:spPr>
            <a:solidFill>
              <a:srgbClr val="4C6C9C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Share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Partial SWBS evidence</c:v>
                </c:pt>
              </c:strCache>
            </c:strRef>
          </c:tx>
          <c:spPr>
            <a:solidFill>
              <a:srgbClr val="9DB1CF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Share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/ no SWBS evidence</c:v>
                </c:pt>
              </c:strCache>
            </c:strRef>
          </c:tx>
          <c:spPr>
            <a:solidFill>
              <a:srgbClr val="BFBFBF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Share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74.4</c:v>
                </c:pt>
              </c:numCache>
            </c:numRef>
          </c:val>
        </c:ser>
        <c:gapWidth val="2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99.9"/>
          <c:min val="0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>
            <a:noFill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25"/>
      </c:valAx>
    </c:plotArea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"/>
          <c:y val="0.0"/>
          <c:w val="1.0"/>
          <c:h val="1.0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High-confidence single SWBS</c:v>
                </c:pt>
              </c:strCache>
            </c:strRef>
          </c:tx>
          <c:spPr>
            <a:solidFill>
              <a:srgbClr val="1D4D68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Share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High-coverage mixed</c:v>
                </c:pt>
              </c:strCache>
            </c:strRef>
          </c:tx>
          <c:spPr>
            <a:solidFill>
              <a:srgbClr val="4C6C9C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Share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Partial SWBS evidence</c:v>
                </c:pt>
              </c:strCache>
            </c:strRef>
          </c:tx>
          <c:spPr>
            <a:solidFill>
              <a:srgbClr val="9DB1CF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Share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/ no SWBS evidence</c:v>
                </c:pt>
              </c:strCache>
            </c:strRef>
          </c:tx>
          <c:spPr>
            <a:solidFill>
              <a:srgbClr val="BFBFBF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Share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14.6</c:v>
                </c:pt>
              </c:numCache>
            </c:numRef>
          </c:val>
        </c:ser>
        <c:gapWidth val="2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00"/>
          <c:min val="0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>
            <a:noFill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25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22"/>
          <c:y val="0.03"/>
          <c:w val="0.74"/>
          <c:h val="0.9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 Propulsion Plant</c:v>
                </c:pt>
              </c:strCache>
            </c:strRef>
          </c:tx>
          <c:spPr>
            <a:solidFill>
              <a:srgbClr val="1D4D68"/>
            </a:solidFill>
            <a:ln w="3175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Recent exact-hull subset</c:v>
                </c:pt>
              </c:strCache>
            </c:strRef>
          </c:cat>
          <c:val>
            <c:numRef>
              <c:f>Sheet1!$B$2:$B$2</c:f>
              <c:numCache>
                <c:formatCode>0.0"%"</c:formatCode>
                <c:ptCount val="1"/>
                <c:pt idx="0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500 Auxiliary Systems</c:v>
                </c:pt>
              </c:strCache>
            </c:strRef>
          </c:tx>
          <c:spPr>
            <a:solidFill>
              <a:srgbClr val="4C6C9C"/>
            </a:solidFill>
            <a:ln w="3175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Recent exact-hull subset</c:v>
                </c:pt>
              </c:strCache>
            </c:strRef>
          </c:cat>
          <c:val>
            <c:numRef>
              <c:f>Sheet1!$C$2:$C$2</c:f>
              <c:numCache>
                <c:formatCode>0.0"%"</c:formatCode>
                <c:ptCount val="1"/>
                <c:pt idx="0">
                  <c:v>26.2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300 Electric Plant</c:v>
                </c:pt>
              </c:strCache>
            </c:strRef>
          </c:tx>
          <c:spPr>
            <a:solidFill>
              <a:srgbClr val="6E91B1"/>
            </a:solidFill>
            <a:ln w="3175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Recent exact-hull subset</c:v>
                </c:pt>
              </c:strCache>
            </c:strRef>
          </c:cat>
          <c:val>
            <c:numRef>
              <c:f>Sheet1!$D$2:$D$2</c:f>
              <c:numCache>
                <c:formatCode>0.0"%"</c:formatCode>
                <c:ptCount val="1"/>
                <c:pt idx="0">
                  <c:v>20.4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mapped</c:v>
                </c:pt>
              </c:strCache>
            </c:strRef>
          </c:tx>
          <c:spPr>
            <a:solidFill>
              <a:srgbClr val="BFBFBF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Recent exact-hull subset</c:v>
                </c:pt>
              </c:strCache>
            </c:strRef>
          </c:cat>
          <c:val>
            <c:numRef>
              <c:f>Sheet1!$E$2:$E$2</c:f>
              <c:numCache>
                <c:formatCode>0.0"%"</c:formatCode>
                <c:ptCount val="1"/>
                <c:pt idx="0">
                  <c:v>1.9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U00 / No SWBS evidence</c:v>
                </c:pt>
              </c:strCache>
            </c:strRef>
          </c:tx>
          <c:spPr>
            <a:pattFill prst="ltUpDiag">
              <a:fgClr>
                <a:srgbClr val="808080"/>
              </a:fgClr>
              <a:bgClr>
                <a:srgbClr val="FFFFFF"/>
              </a:bgClr>
            </a:patt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Recent exact-hull subset</c:v>
                </c:pt>
              </c:strCache>
            </c:strRef>
          </c:cat>
          <c:val>
            <c:numRef>
              <c:f>Sheet1!$F$2:$F$2</c:f>
              <c:numCache>
                <c:formatCode>0.0"%"</c:formatCode>
                <c:ptCount val="1"/>
                <c:pt idx="0">
                  <c:v>1.5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9525" cap="flat">
            <a:solidFill>
              <a:srgbClr val="808080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25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2"/>
          <c:y val="0.04"/>
          <c:w val="0.976"/>
          <c:h val="0.9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500 Auxiliary Systems</c:v>
                </c:pt>
              </c:strCache>
            </c:strRef>
          </c:tx>
          <c:spPr>
            <a:solidFill>
              <a:srgbClr val="364D6E"/>
            </a:solidFill>
            <a:ln w="3175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HII-Ingalls DDG</c:v>
                </c:pt>
              </c:strCache>
            </c:strRef>
          </c:cat>
          <c:val>
            <c:numRef>
              <c:f>Sheet1!$B$2:$B$2</c:f>
              <c:numCache>
                <c:formatCode>0.0"%"</c:formatCode>
                <c:ptCount val="1"/>
                <c:pt idx="0">
                  <c:v>27.9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 Propulsion Plant</c:v>
                </c:pt>
              </c:strCache>
            </c:strRef>
          </c:tx>
          <c:spPr>
            <a:solidFill>
              <a:srgbClr val="007770"/>
            </a:solidFill>
            <a:ln w="3175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HII-Ingalls DDG</c:v>
                </c:pt>
              </c:strCache>
            </c:strRef>
          </c:cat>
          <c:val>
            <c:numRef>
              <c:f>Sheet1!$C$2:$C$2</c:f>
              <c:numCache>
                <c:formatCode>0.0"%"</c:formatCode>
                <c:ptCount val="1"/>
                <c:pt idx="0">
                  <c:v>27.6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300 Electric Plant</c:v>
                </c:pt>
              </c:strCache>
            </c:strRef>
          </c:tx>
          <c:spPr>
            <a:solidFill>
              <a:srgbClr val="4C6C9C"/>
            </a:solidFill>
            <a:ln w="3175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HII-Ingalls DDG</c:v>
                </c:pt>
              </c:strCache>
            </c:strRef>
          </c:cat>
          <c:val>
            <c:numRef>
              <c:f>Sheet1!$D$2:$D$2</c:f>
              <c:numCache>
                <c:formatCode>0.0"%"</c:formatCode>
                <c:ptCount val="1"/>
                <c:pt idx="0">
                  <c:v>22.6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mapped groups</c:v>
                </c:pt>
              </c:strCache>
            </c:strRef>
          </c:tx>
          <c:spPr>
            <a:solidFill>
              <a:srgbClr val="C0C0C0"/>
            </a:solidFill>
            <a:ln w="3175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HII-Ingalls DDG</c:v>
                </c:pt>
              </c:strCache>
            </c:strRef>
          </c:cat>
          <c:val>
            <c:numRef>
              <c:f>Sheet1!$E$2:$E$2</c:f>
              <c:numCache>
                <c:formatCode>0.0"%"</c:formatCode>
                <c:ptCount val="1"/>
                <c:pt idx="0">
                  <c:v>4.5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U00 — No SWBS evidence</c:v>
                </c:pt>
              </c:strCache>
            </c:strRef>
          </c:tx>
          <c:spPr>
            <a:pattFill prst="ltDnDiag">
              <a:fgClr>
                <a:srgbClr val="808080"/>
              </a:fgClr>
              <a:bgClr>
                <a:srgbClr val="FFFFFF"/>
              </a:bgClr>
            </a:pattFill>
            <a:ln w="3175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HII-Ingalls DDG</c:v>
                </c:pt>
              </c:strCache>
            </c:strRef>
          </c:cat>
          <c:val>
            <c:numRef>
              <c:f>Sheet1!$F$2:$F$2</c:f>
              <c:numCache>
                <c:formatCode>0.0"%"</c:formatCode>
                <c:ptCount val="1"/>
                <c:pt idx="0">
                  <c:v>17.3</c:v>
                </c:pt>
              </c:numCache>
            </c:numRef>
          </c:val>
        </c:ser>
        <c:gapWidth val="4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99.9"/>
          <c:min val="0"/>
        </c:scaling>
        <c:delete val="0"/>
        <c:axPos val="b"/>
        <c:numFmt formatCode="0.0&quot;%&quot;" sourceLinked="0"/>
        <c:majorTickMark val="none"/>
        <c:minorTickMark val="none"/>
        <c:tickLblPos val="none"/>
        <c:spPr>
          <a:ln>
            <a:noFill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25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3005780346820809"/>
          <c:y val="0.05205278592375367"/>
          <c:w val="0.9398843930635838"/>
          <c:h val="0.895894428152492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Hidden offsets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Sheet1!$B$2:$B$8</c:f>
              <c:numCache>
                <c:formatCode>#,##0;#,##0</c:formatCode>
                <c:ptCount val="7"/>
                <c:pt idx="1">
                  <c:v>71.05496661892461</c:v>
                </c:pt>
                <c:pt idx="2">
                  <c:v>60.565462798924614</c:v>
                </c:pt>
                <c:pt idx="4">
                  <c:v>18.13384653192461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/ subtotal / outsourced BC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162029"/>
              </a:solidFill>
              <a:ln>
                <a:noFill/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Sheet1!$C$2:$C$8</c:f>
              <c:numCache>
                <c:formatCode>#,##0;#,##0</c:formatCode>
                <c:ptCount val="7"/>
                <c:pt idx="0">
                  <c:v>90.22347197</c:v>
                </c:pt>
                <c:pt idx="3">
                  <c:v>60.565462798924614</c:v>
                </c:pt>
                <c:pt idx="6">
                  <c:v>18.13384653192461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Removal steps</c:v>
                </c:pt>
              </c:strCache>
            </c:strRef>
          </c:tx>
          <c:spPr>
            <a:solidFill>
              <a:srgbClr val="486D82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Sheet1!$D$2:$D$8</c:f>
              <c:numCache>
                <c:formatCode>#,##0;#,##0</c:formatCode>
                <c:ptCount val="7"/>
                <c:pt idx="1">
                  <c:v>19.168505351075396</c:v>
                </c:pt>
                <c:pt idx="2">
                  <c:v>10.489503819999996</c:v>
                </c:pt>
                <c:pt idx="4">
                  <c:v>42.431616267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min"/>
        <c:auto val="1"/>
        <c:lblAlgn val="ctr"/>
        <c:lblOffset val="100"/>
        <c:noMultiLvlLbl val="0"/>
      </c:catAx>
      <c:valAx>
        <c:axId val="222222222"/>
        <c:scaling>
          <c:orientation val="minMax"/>
          <c:max val="90.22347197"/>
          <c:min val="0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>
            <a:noFill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min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3005780346820809"/>
          <c:y val="0.05205278592375367"/>
          <c:w val="0.9398843930635838"/>
          <c:h val="0.895894428152492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Hidden offsets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Sheet1!$B$2:$B$8</c:f>
              <c:numCache>
                <c:formatCode>#,##0;#,##0</c:formatCode>
                <c:ptCount val="7"/>
                <c:pt idx="1">
                  <c:v>24.866334960000003</c:v>
                </c:pt>
                <c:pt idx="2">
                  <c:v>22.590654890000003</c:v>
                </c:pt>
                <c:pt idx="4">
                  <c:v>6.421729680000002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/ subtotal / outsourced BC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162029"/>
              </a:solidFill>
              <a:ln>
                <a:noFill/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delete val="1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Sheet1!$C$2:$C$8</c:f>
              <c:numCache>
                <c:formatCode>#,##0;#,##0</c:formatCode>
                <c:ptCount val="7"/>
                <c:pt idx="0">
                  <c:v>36.5920922</c:v>
                </c:pt>
                <c:pt idx="3">
                  <c:v>22.590654890000003</c:v>
                </c:pt>
                <c:pt idx="6">
                  <c:v>6.421729680000006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Prime AP/LLTM included in total spend</c:v>
                </c:pt>
              </c:strCache>
            </c:strRef>
          </c:tx>
          <c:spPr>
            <a:pattFill prst="ltUpDiag">
              <a:fgClr>
                <a:srgbClr val="000000"/>
              </a:fgClr>
              <a:bgClr>
                <a:srgbClr val="FFFFFF"/>
              </a:bgClr>
            </a:pattFill>
            <a:ln>
              <a:noFill/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Sheet1!$D$2:$D$8</c:f>
              <c:numCache>
                <c:formatCode>#,##0;#,##0</c:formatCode>
                <c:ptCount val="7"/>
                <c:pt idx="0">
                  <c:v>1.0423299999999998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Removal steps</c:v>
                </c:pt>
              </c:strCache>
            </c:strRef>
          </c:tx>
          <c:spPr>
            <a:solidFill>
              <a:srgbClr val="486D82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rot="0" spcFirstLastPara="1" vertOverflow="ellipsis" wrap="square" anchor="ctr" anchorCtr="1"/>
                <a:lstStyle/>
                <a:p>
                  <a:pPr>
                    <a:defRPr sz="10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Sheet1!$E$2:$E$8</c:f>
              <c:numCache>
                <c:formatCode>#,##0;#,##0</c:formatCode>
                <c:ptCount val="7"/>
                <c:pt idx="1">
                  <c:v>12.76808724</c:v>
                </c:pt>
                <c:pt idx="2">
                  <c:v>2.27568007</c:v>
                </c:pt>
                <c:pt idx="4">
                  <c:v>16.16892521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min"/>
        <c:auto val="1"/>
        <c:lblAlgn val="ctr"/>
        <c:lblOffset val="100"/>
        <c:noMultiLvlLbl val="0"/>
      </c:catAx>
      <c:valAx>
        <c:axId val="222222222"/>
        <c:scaling>
          <c:orientation val="minMax"/>
          <c:max val="37.6344222"/>
          <c:min val="0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>
            <a:noFill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min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3338564702525325"/>
          <c:y val="0.09125964010282776"/>
          <c:w val="0.9591953203024682"/>
          <c:h val="0.817480719794344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Outsourced Basic Construction</c:v>
                </c:pt>
              </c:strCache>
            </c:strRef>
          </c:tx>
          <c:spPr>
            <a:solidFill>
              <a:srgbClr val="486D8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4"/>
            <c:invertIfNegative val="0"/>
            <c:bubble3D val="0"/>
            <c:spPr>
              <a:solidFill>
                <a:srgbClr val="BEBEBE"/>
              </a:solidFill>
              <a:ln>
                <a:noFill/>
              </a:ln>
            </c:spPr>
          </c:dPt>
          <c:dPt>
            <c:idx val="25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</c:dPt>
          <c:dPt>
            <c:idx val="26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</c:dPt>
          <c:dPt>
            <c:idx val="28"/>
            <c:invertIfNegative val="0"/>
            <c:bubble3D val="0"/>
            <c:spPr>
              <a:solidFill>
                <a:srgbClr val="BEBEBE"/>
              </a:solidFill>
              <a:ln>
                <a:noFill/>
              </a:ln>
            </c:spPr>
          </c:dPt>
          <c:dPt>
            <c:idx val="29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</c:dPt>
          <c:dPt>
            <c:idx val="3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</c:dPt>
          <c:dPt>
            <c:idx val="32"/>
            <c:invertIfNegative val="0"/>
            <c:bubble3D val="0"/>
            <c:spPr>
              <a:solidFill>
                <a:srgbClr val="BEBEBE"/>
              </a:solidFill>
              <a:ln>
                <a:noFill/>
              </a:ln>
            </c:spPr>
          </c:dPt>
          <c:dPt>
            <c:idx val="33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</c:dPt>
          <c:dPt>
            <c:idx val="34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</c:dPt>
          <c:dPt>
            <c:idx val="36"/>
            <c:invertIfNegative val="0"/>
            <c:bubble3D val="0"/>
            <c:spPr>
              <a:solidFill>
                <a:srgbClr val="BEBEBE"/>
              </a:solidFill>
              <a:ln>
                <a:noFill/>
              </a:ln>
            </c:spPr>
          </c:dPt>
          <c:dPt>
            <c:idx val="37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</c:dPt>
          <c:dPt>
            <c:idx val="38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</c:dPt>
          <c:cat>
            <c:strRef>
              <c:f>Sheet1!$A$2:$A$40</c:f>
              <c:strCache>
                <c:ptCount val="39"/>
                <c:pt idx="0">
                  <c:v>FY2022 DDG-51</c:v>
                </c:pt>
                <c:pt idx="1">
                  <c:v>FY2022 Virginia</c:v>
                </c:pt>
                <c:pt idx="2">
                  <c:v>FY2022 Columbia</c:v>
                </c:pt>
                <c:pt idx="3">
                  <c:v/>
                </c:pt>
                <c:pt idx="4">
                  <c:v>FY2023 DDG-51</c:v>
                </c:pt>
                <c:pt idx="5">
                  <c:v>FY2023 Virginia</c:v>
                </c:pt>
                <c:pt idx="6">
                  <c:v>FY2023 Columbia</c:v>
                </c:pt>
                <c:pt idx="7">
                  <c:v/>
                </c:pt>
                <c:pt idx="8">
                  <c:v>FY2024 DDG-51</c:v>
                </c:pt>
                <c:pt idx="9">
                  <c:v>FY2024 Virginia</c:v>
                </c:pt>
                <c:pt idx="10">
                  <c:v>FY2024 Columbia</c:v>
                </c:pt>
                <c:pt idx="11">
                  <c:v/>
                </c:pt>
                <c:pt idx="12">
                  <c:v>FY2025 DDG-51</c:v>
                </c:pt>
                <c:pt idx="13">
                  <c:v>FY2025 Virginia</c:v>
                </c:pt>
                <c:pt idx="14">
                  <c:v>FY2025 Columbia</c:v>
                </c:pt>
                <c:pt idx="15">
                  <c:v/>
                </c:pt>
                <c:pt idx="16">
                  <c:v>FY2026 DDG-51</c:v>
                </c:pt>
                <c:pt idx="17">
                  <c:v>FY2026 Virginia</c:v>
                </c:pt>
                <c:pt idx="18">
                  <c:v>FY2026 Columbia</c:v>
                </c:pt>
                <c:pt idx="19">
                  <c:v/>
                </c:pt>
                <c:pt idx="20">
                  <c:v>FY2027 DDG-51</c:v>
                </c:pt>
                <c:pt idx="21">
                  <c:v>FY2027 Virginia</c:v>
                </c:pt>
                <c:pt idx="22">
                  <c:v>FY2027 Columbia</c:v>
                </c:pt>
                <c:pt idx="23">
                  <c:v/>
                </c:pt>
                <c:pt idx="24">
                  <c:v>FY2028 DDG-51</c:v>
                </c:pt>
                <c:pt idx="25">
                  <c:v>FY2028 Virginia</c:v>
                </c:pt>
                <c:pt idx="26">
                  <c:v>FY2028 Columbia</c:v>
                </c:pt>
                <c:pt idx="27">
                  <c:v/>
                </c:pt>
                <c:pt idx="28">
                  <c:v>FY2029 DDG-51</c:v>
                </c:pt>
                <c:pt idx="29">
                  <c:v>FY2029 Virginia</c:v>
                </c:pt>
                <c:pt idx="30">
                  <c:v>FY2029 Columbia</c:v>
                </c:pt>
                <c:pt idx="31">
                  <c:v/>
                </c:pt>
                <c:pt idx="32">
                  <c:v>FY2030 DDG-51</c:v>
                </c:pt>
                <c:pt idx="33">
                  <c:v>FY2030 Virginia</c:v>
                </c:pt>
                <c:pt idx="34">
                  <c:v>FY2030 Columbia</c:v>
                </c:pt>
                <c:pt idx="35">
                  <c:v/>
                </c:pt>
                <c:pt idx="36">
                  <c:v>FY2031 DDG-51</c:v>
                </c:pt>
                <c:pt idx="37">
                  <c:v>FY2031 Virginia</c:v>
                </c:pt>
                <c:pt idx="38">
                  <c:v>FY2031 Columbia</c:v>
                </c:pt>
              </c:strCache>
            </c:strRef>
          </c:cat>
          <c:val>
            <c:numRef>
              <c:f>Sheet1!$B$2:$B$40</c:f>
              <c:numCache>
                <c:formatCode>#,##0.0;"-"#,##0.0</c:formatCode>
                <c:ptCount val="39"/>
                <c:pt idx="0">
                  <c:v>0.474364998</c:v>
                </c:pt>
                <c:pt idx="1">
                  <c:v>1.779597842</c:v>
                </c:pt>
                <c:pt idx="4">
                  <c:v>1.233631888</c:v>
                </c:pt>
                <c:pt idx="5">
                  <c:v>1.853723982</c:v>
                </c:pt>
                <c:pt idx="8">
                  <c:v>0.873986645</c:v>
                </c:pt>
                <c:pt idx="9">
                  <c:v>3.207421443</c:v>
                </c:pt>
                <c:pt idx="10">
                  <c:v>1.454272706</c:v>
                </c:pt>
                <c:pt idx="12">
                  <c:v>1.236388123</c:v>
                </c:pt>
                <c:pt idx="13">
                  <c:v>1.847245459</c:v>
                </c:pt>
                <c:pt idx="16">
                  <c:v>1.929240094</c:v>
                </c:pt>
                <c:pt idx="17">
                  <c:v>1.976853214</c:v>
                </c:pt>
                <c:pt idx="18">
                  <c:v>1.57514896</c:v>
                </c:pt>
                <c:pt idx="20">
                  <c:v>0.674117932</c:v>
                </c:pt>
                <c:pt idx="21">
                  <c:v>2.961918092</c:v>
                </c:pt>
                <c:pt idx="22">
                  <c:v>1.477664835</c:v>
                </c:pt>
                <c:pt idx="24">
                  <c:v>0.57735821</c:v>
                </c:pt>
                <c:pt idx="25">
                  <c:v>2.724439839400433</c:v>
                </c:pt>
                <c:pt idx="26">
                  <c:v>1.3594178717035803</c:v>
                </c:pt>
                <c:pt idx="28">
                  <c:v>0.61374443</c:v>
                </c:pt>
                <c:pt idx="29">
                  <c:v>2.8014719698262818</c:v>
                </c:pt>
                <c:pt idx="30">
                  <c:v>1.4527277602531905</c:v>
                </c:pt>
                <c:pt idx="32">
                  <c:v>0.98094076</c:v>
                </c:pt>
                <c:pt idx="33">
                  <c:v>2.6898411862948204</c:v>
                </c:pt>
                <c:pt idx="34">
                  <c:v>1.5299265978967191</c:v>
                </c:pt>
                <c:pt idx="36">
                  <c:v>1.05152976</c:v>
                </c:pt>
                <c:pt idx="37">
                  <c:v>2.9193127223</c:v>
                </c:pt>
                <c:pt idx="38">
                  <c:v>1.6367105235000001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Retained spend / scale carrier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>FY2022 DDG-51</c:v>
                </c:pt>
                <c:pt idx="1">
                  <c:v>FY2022 Virginia</c:v>
                </c:pt>
                <c:pt idx="2">
                  <c:v>FY2022 Columbia</c:v>
                </c:pt>
                <c:pt idx="3">
                  <c:v/>
                </c:pt>
                <c:pt idx="4">
                  <c:v>FY2023 DDG-51</c:v>
                </c:pt>
                <c:pt idx="5">
                  <c:v>FY2023 Virginia</c:v>
                </c:pt>
                <c:pt idx="6">
                  <c:v>FY2023 Columbia</c:v>
                </c:pt>
                <c:pt idx="7">
                  <c:v/>
                </c:pt>
                <c:pt idx="8">
                  <c:v>FY2024 DDG-51</c:v>
                </c:pt>
                <c:pt idx="9">
                  <c:v>FY2024 Virginia</c:v>
                </c:pt>
                <c:pt idx="10">
                  <c:v>FY2024 Columbia</c:v>
                </c:pt>
                <c:pt idx="11">
                  <c:v/>
                </c:pt>
                <c:pt idx="12">
                  <c:v>FY2025 DDG-51</c:v>
                </c:pt>
                <c:pt idx="13">
                  <c:v>FY2025 Virginia</c:v>
                </c:pt>
                <c:pt idx="14">
                  <c:v>FY2025 Columbia</c:v>
                </c:pt>
                <c:pt idx="15">
                  <c:v/>
                </c:pt>
                <c:pt idx="16">
                  <c:v>FY2026 DDG-51</c:v>
                </c:pt>
                <c:pt idx="17">
                  <c:v>FY2026 Virginia</c:v>
                </c:pt>
                <c:pt idx="18">
                  <c:v>FY2026 Columbia</c:v>
                </c:pt>
                <c:pt idx="19">
                  <c:v/>
                </c:pt>
                <c:pt idx="20">
                  <c:v>FY2027 DDG-51</c:v>
                </c:pt>
                <c:pt idx="21">
                  <c:v>FY2027 Virginia</c:v>
                </c:pt>
                <c:pt idx="22">
                  <c:v>FY2027 Columbia</c:v>
                </c:pt>
                <c:pt idx="23">
                  <c:v/>
                </c:pt>
                <c:pt idx="24">
                  <c:v>FY2028 DDG-51</c:v>
                </c:pt>
                <c:pt idx="25">
                  <c:v>FY2028 Virginia</c:v>
                </c:pt>
                <c:pt idx="26">
                  <c:v>FY2028 Columbia</c:v>
                </c:pt>
                <c:pt idx="27">
                  <c:v/>
                </c:pt>
                <c:pt idx="28">
                  <c:v>FY2029 DDG-51</c:v>
                </c:pt>
                <c:pt idx="29">
                  <c:v>FY2029 Virginia</c:v>
                </c:pt>
                <c:pt idx="30">
                  <c:v>FY2029 Columbia</c:v>
                </c:pt>
                <c:pt idx="31">
                  <c:v/>
                </c:pt>
                <c:pt idx="32">
                  <c:v>FY2030 DDG-51</c:v>
                </c:pt>
                <c:pt idx="33">
                  <c:v>FY2030 Virginia</c:v>
                </c:pt>
                <c:pt idx="34">
                  <c:v>FY2030 Columbia</c:v>
                </c:pt>
                <c:pt idx="35">
                  <c:v/>
                </c:pt>
                <c:pt idx="36">
                  <c:v>FY2031 DDG-51</c:v>
                </c:pt>
                <c:pt idx="37">
                  <c:v>FY2031 Virginia</c:v>
                </c:pt>
                <c:pt idx="38">
                  <c:v>FY2031 Columbia</c:v>
                </c:pt>
              </c:strCache>
            </c:strRef>
          </c:cat>
          <c:val>
            <c:numRef>
              <c:f>Sheet1!$C$2:$C$40</c:f>
              <c:numCache>
                <c:formatCode>#,##0.0;"-"#,##0.0</c:formatCode>
                <c:ptCount val="39"/>
                <c:pt idx="0">
                  <c:v>4.0058052019999995</c:v>
                </c:pt>
                <c:pt idx="1">
                  <c:v>5.827734858</c:v>
                </c:pt>
                <c:pt idx="4">
                  <c:v>7.272375912000001</c:v>
                </c:pt>
                <c:pt idx="5">
                  <c:v>5.904395548</c:v>
                </c:pt>
                <c:pt idx="8">
                  <c:v>4.838036555</c:v>
                </c:pt>
                <c:pt idx="9">
                  <c:v>8.625327277</c:v>
                </c:pt>
                <c:pt idx="10">
                  <c:v>9.662090734</c:v>
                </c:pt>
                <c:pt idx="12">
                  <c:v>6.779602157</c:v>
                </c:pt>
                <c:pt idx="13">
                  <c:v>7.8432992210000005</c:v>
                </c:pt>
                <c:pt idx="16">
                  <c:v>3.7768849060000003</c:v>
                </c:pt>
                <c:pt idx="17">
                  <c:v>8.012255786</c:v>
                </c:pt>
                <c:pt idx="18">
                  <c:v>9.16916804</c:v>
                </c:pt>
                <c:pt idx="20">
                  <c:v>3.497657788</c:v>
                </c:pt>
                <c:pt idx="21">
                  <c:v>8.246377188</c:v>
                </c:pt>
                <c:pt idx="22">
                  <c:v>8.798976785</c:v>
                </c:pt>
                <c:pt idx="24">
                  <c:v>3.287794751642135</c:v>
                </c:pt>
                <c:pt idx="25">
                  <c:v>8.108991216542005</c:v>
                </c:pt>
                <c:pt idx="26">
                  <c:v>8.372177031450153</c:v>
                </c:pt>
                <c:pt idx="28">
                  <c:v>3.3431291679445443</c:v>
                </c:pt>
                <c:pt idx="29">
                  <c:v>7.631048484888731</c:v>
                </c:pt>
                <c:pt idx="30">
                  <c:v>8.286610386118376</c:v>
                </c:pt>
                <c:pt idx="32">
                  <c:v>5.1031581608136305</c:v>
                </c:pt>
                <c:pt idx="33">
                  <c:v>6.691042786981166</c:v>
                </c:pt>
                <c:pt idx="34">
                  <c:v>8.075794349527223</c:v>
                </c:pt>
                <c:pt idx="36">
                  <c:v>5.216266439324437</c:v>
                </c:pt>
                <c:pt idx="37">
                  <c:v>6.615494289463112</c:v>
                </c:pt>
                <c:pt idx="38">
                  <c:v>7.987063299792535</c:v>
                </c:pt>
              </c:numCache>
            </c:numRef>
          </c:val>
        </c:ser>
        <c:gapWidth val="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000000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min"/>
        <c:auto val="1"/>
        <c:lblAlgn val="ctr"/>
        <c:lblOffset val="100"/>
        <c:noMultiLvlLbl val="0"/>
      </c:catAx>
      <c:valAx>
        <c:axId val="222222222"/>
        <c:scaling>
          <c:orientation val="minMax"/>
          <c:min val="0"/>
        </c:scaling>
        <c:delete val="0"/>
        <c:axPos val="l"/>
        <c:numFmt formatCode="#,##0;&quot;-&quot;#,##0" sourceLinked="0"/>
        <c:majorTickMark val="out"/>
        <c:minorTickMark val="none"/>
        <c:tickLblPos val="nextTo"/>
        <c:spPr>
          <a:ln w="9525" cap="flat">
            <a:solidFill>
              <a:srgbClr val="000000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min"/>
        <c:crossBetween val="between"/>
        <c:majorUnit val="5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| Sizing breaks the market down into four levels and focuses on TAM, SAM, and Available Spend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00" name="FunnelLayer_total_funding"/>
          <p:cNvSpPr txBox="1"/>
          <p:nvPr/>
        </p:nvSpPr>
        <p:spPr>
          <a:xfrm>
            <a:off x="436169" y="1195121"/>
            <a:ext cx="5212080" cy="5212080"/>
          </a:xfrm>
          <a:prstGeom prst="ellipse">
            <a:avLst/>
          </a:prstGeom>
          <a:solidFill>
            <a:srgbClr val="E2E9EF"/>
          </a:solidFill>
          <a:ln w="3175">
            <a:solidFill>
              <a:srgbClr val="202223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1" name="FunnelLayer_tam"/>
          <p:cNvSpPr txBox="1"/>
          <p:nvPr/>
        </p:nvSpPr>
        <p:spPr>
          <a:xfrm>
            <a:off x="847649" y="2018081"/>
            <a:ext cx="4389120" cy="4389120"/>
          </a:xfrm>
          <a:prstGeom prst="ellipse">
            <a:avLst/>
          </a:prstGeom>
          <a:solidFill>
            <a:srgbClr val="B6C8D8"/>
          </a:solidFill>
          <a:ln w="3175">
            <a:solidFill>
              <a:srgbClr val="202223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2" name="FunnelLayer_sam"/>
          <p:cNvSpPr txBox="1"/>
          <p:nvPr/>
        </p:nvSpPr>
        <p:spPr>
          <a:xfrm>
            <a:off x="1259129" y="2841041"/>
            <a:ext cx="3566160" cy="3566160"/>
          </a:xfrm>
          <a:prstGeom prst="ellipse">
            <a:avLst/>
          </a:prstGeom>
          <a:solidFill>
            <a:srgbClr val="6E91B1"/>
          </a:solidFill>
          <a:ln w="3175">
            <a:solidFill>
              <a:srgbClr val="202223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3" name="FunnelLayer_available_spend"/>
          <p:cNvSpPr txBox="1"/>
          <p:nvPr/>
        </p:nvSpPr>
        <p:spPr>
          <a:xfrm>
            <a:off x="1624889" y="3664001"/>
            <a:ext cx="2834640" cy="2743200"/>
          </a:xfrm>
          <a:prstGeom prst="ellipse">
            <a:avLst/>
          </a:prstGeom>
          <a:solidFill>
            <a:srgbClr val="3D5972"/>
          </a:solidFill>
          <a:ln w="3175">
            <a:solidFill>
              <a:srgbClr val="202223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graphicFrame>
        <p:nvGraphicFramePr>
          <p:cNvPr id="104" name="MarketLevelDefinitionTable"/>
          <p:cNvGraphicFramePr>
            <a:graphicFrameLocks noGrp="1"/>
          </p:cNvGraphicFramePr>
          <p:nvPr/>
        </p:nvGraphicFramePr>
        <p:xfrm>
          <a:off x="6014009" y="1287475"/>
          <a:ext cx="5721401" cy="498896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599286"/>
                <a:gridCol w="4123030"/>
              </a:tblGrid>
              <a:tr h="328270"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874166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Funding</a:t>
                      </a:r>
                    </a:p>
                  </a:txBody>
                  <a:tcPr marL="60960" marR="60960" marT="60960" marB="60960" anchor="t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appropriations for DDGs (</a:t>
                      </a:r>
                      <a:r>
                        <a:rPr lang="en-US" sz="14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Arleigh Burke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-class), SSNs (</a:t>
                      </a:r>
                      <a:r>
                        <a:rPr lang="en-US" sz="14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-class), and SSBNs (</a:t>
                      </a:r>
                      <a:r>
                        <a:rPr lang="en-US" sz="14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-class)</a:t>
                      </a:r>
                    </a:p>
                  </a:txBody>
                  <a:tcPr marL="60960" marR="60960" marT="60960" marB="60960" anchor="t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580644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Addressable Market (TAM)</a:t>
                      </a:r>
                      <a:br/>
                      <a:br/>
                    </a:p>
                  </a:txBody>
                  <a:tcPr marL="60960" marR="60960" marT="60960" marB="6096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spend on outsourced Basic Construction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endParaRPr lang="en-US" sz="1400"/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Portion of Total Funding attributable to non-Primes and subcontractors (i.e., removes Prime-conducted Basic Construction and GFE)</a:t>
                      </a:r>
                    </a:p>
                  </a:txBody>
                  <a:tcPr marL="60960" marR="60960" marT="60960" marB="6096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954634">
                <a:tc>
                  <a:txBody>
                    <a:bodyPr anchor="t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Serviceable Addressable Market (SAM)</a:t>
                      </a:r>
                    </a:p>
                  </a:txBody>
                  <a:tcPr marL="60960" marR="60960" marT="60960" marB="6096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spend on relevant work types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endParaRPr lang="en-US" sz="1400"/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Portion of TAM spent on different work types (e.g., structural fabrication, HVAC, electrical) </a:t>
                      </a:r>
                    </a:p>
                  </a:txBody>
                  <a:tcPr marL="60960" marR="60960" marT="60960" marB="6096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954634">
                <a:tc>
                  <a:txBody>
                    <a:bodyPr anchor="t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Available Spend</a:t>
                      </a:r>
                    </a:p>
                  </a:txBody>
                  <a:tcPr marL="60960" marR="60960" marT="60960" marB="6096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spend Saronic can compete for each year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endParaRPr lang="en-US" sz="1400"/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Portion of SAM available for new entrants, driven by (1) whitespace growth from increased outsourcing penetration, (2) contracts coming up for recompete, and (3) movement from sole-source to multi-source </a:t>
                      </a:r>
                    </a:p>
                  </a:txBody>
                  <a:tcPr marL="60960" marR="60960" marT="60960" marB="6096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FunnelTag_total_funding"/>
          <p:cNvSpPr txBox="1"/>
          <p:nvPr/>
        </p:nvSpPr>
        <p:spPr>
          <a:xfrm>
            <a:off x="2150669" y="1430122"/>
            <a:ext cx="1782166" cy="352958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</a:t>
            </a:r>
          </a:p>
        </p:txBody>
      </p:sp>
      <p:sp>
        <p:nvSpPr>
          <p:cNvPr id="106" name="FunnelTag_tam"/>
          <p:cNvSpPr txBox="1"/>
          <p:nvPr/>
        </p:nvSpPr>
        <p:spPr>
          <a:xfrm>
            <a:off x="2150669" y="2253082"/>
            <a:ext cx="1782166" cy="352958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107" name="FunnelTag_sam"/>
          <p:cNvSpPr txBox="1"/>
          <p:nvPr/>
        </p:nvSpPr>
        <p:spPr>
          <a:xfrm>
            <a:off x="2150669" y="3161081"/>
            <a:ext cx="1782166" cy="352958"/>
          </a:xfrm>
          <a:prstGeom prst="rect">
            <a:avLst/>
          </a:prstGeom>
          <a:solidFill>
            <a:srgbClr val="6E91B1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108" name="FunnelTag_available_spend"/>
          <p:cNvSpPr txBox="1"/>
          <p:nvPr/>
        </p:nvSpPr>
        <p:spPr>
          <a:xfrm>
            <a:off x="2150669" y="4859122"/>
            <a:ext cx="1782166" cy="352958"/>
          </a:xfrm>
          <a:prstGeom prst="rect">
            <a:avLst/>
          </a:prstGeom>
          <a:solidFill>
            <a:srgbClr val="3D597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Available Spend</a:t>
            </a:r>
          </a:p>
        </p:txBody>
      </p:sp>
      <p:sp>
        <p:nvSpPr>
          <p:cNvPr id="109" name="FocusAreaCallout"/>
          <p:cNvSpPr txBox="1"/>
          <p:nvPr/>
        </p:nvSpPr>
        <p:spPr>
          <a:xfrm>
            <a:off x="5899709" y="2517343"/>
            <a:ext cx="6007608" cy="3759098"/>
          </a:xfrm>
          <a:prstGeom prst="rect">
            <a:avLst/>
          </a:prstGeom>
          <a:noFill/>
          <a:ln w="19050">
            <a:solidFill>
              <a:srgbClr val="FB6B3C"/>
            </a:solidFill>
            <a:prstDash val="dash"/>
          </a:ln>
        </p:spPr>
        <p:txBody>
          <a:bodyPr wrap="square" anchor="b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FB6B3C"/>
                </a:solidFill>
                <a:latin typeface="Arial"/>
                <a:ea typeface="Arial"/>
                <a:cs typeface="Arial"/>
              </a:rPr>
              <a:t>Focus areas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Spend by Work Type | Electrical power leads the ~$18.1B submarine pool; machining leads the ~$6.4B DDG-51 pool.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graphicFrame>
        <p:nvGraphicFramePr>
          <p:cNvPr id="100" name="Chart"/>
          <p:cNvGraphicFramePr/>
          <p:nvPr/>
        </p:nvGraphicFramePr>
        <p:xfrm>
          <a:off x="349301" y="1665122"/>
          <a:ext cx="4341571" cy="4376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01" name="Straight Connector 40"/>
          <p:cNvCxnSpPr/>
          <p:nvPr/>
        </p:nvCxnSpPr>
        <p:spPr>
          <a:xfrm flipH="1" flipV="1">
            <a:off x="2948026" y="4759452"/>
            <a:ext cx="92354" cy="41148"/>
          </a:xfrm>
          <a:prstGeom prst="line">
            <a:avLst/>
          </a:prstGeom>
          <a:ln w="6350">
            <a:solidFill>
              <a:srgbClr val="44505C"/>
            </a:solidFill>
          </a:ln>
        </p:spPr>
      </p:cxnSp>
      <p:cxnSp>
        <p:nvCxnSpPr>
          <p:cNvPr id="102" name="Straight Connector 39"/>
          <p:cNvCxnSpPr/>
          <p:nvPr/>
        </p:nvCxnSpPr>
        <p:spPr>
          <a:xfrm flipH="1">
            <a:off x="2948026" y="4647895"/>
            <a:ext cx="92354" cy="39319"/>
          </a:xfrm>
          <a:prstGeom prst="line">
            <a:avLst/>
          </a:prstGeom>
          <a:ln w="6350">
            <a:solidFill>
              <a:srgbClr val="44505C"/>
            </a:solidFill>
          </a:ln>
        </p:spPr>
      </p:cxnSp>
      <p:sp>
        <p:nvSpPr>
          <p:cNvPr id="103" name="Label"/>
          <p:cNvSpPr txBox="1"/>
          <p:nvPr/>
        </p:nvSpPr>
        <p:spPr>
          <a:xfrm>
            <a:off x="1263701" y="5326380"/>
            <a:ext cx="209398" cy="152705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037076" y="2529230"/>
            <a:ext cx="209398" cy="152705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2740457" y="4708246"/>
            <a:ext cx="209398" cy="152705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1084478" y="4638751"/>
            <a:ext cx="209398" cy="152705"/>
          </a:xfrm>
          <a:prstGeom prst="rect">
            <a:avLst/>
          </a:prstGeom>
          <a:solidFill>
            <a:srgbClr val="AFC2CC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1444752" y="4616806"/>
            <a:ext cx="209398" cy="152705"/>
          </a:xfrm>
          <a:prstGeom prst="rect">
            <a:avLst/>
          </a:prstGeom>
          <a:solidFill>
            <a:srgbClr val="D8E3EB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1263701" y="4129430"/>
            <a:ext cx="209398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1.4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2379269" y="4647895"/>
            <a:ext cx="209398" cy="152705"/>
          </a:xfrm>
          <a:prstGeom prst="rect">
            <a:avLst/>
          </a:prstGeom>
          <a:solidFill>
            <a:srgbClr val="D8E3EB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2740457" y="4537253"/>
            <a:ext cx="209398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3856025" y="2216506"/>
            <a:ext cx="209398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2.1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1130198" y="5859475"/>
            <a:ext cx="478231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2391156" y="5859475"/>
            <a:ext cx="547726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3743554" y="5859475"/>
            <a:ext cx="435254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1263701" y="3838651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6.4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2559406" y="4375404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4.5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3821278" y="1817827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13.6</a:t>
            </a:r>
          </a:p>
        </p:txBody>
      </p:sp>
      <p:sp>
        <p:nvSpPr>
          <p:cNvPr id="118" name="LegendSwatch"/>
          <p:cNvSpPr txBox="1"/>
          <p:nvPr/>
        </p:nvSpPr>
        <p:spPr>
          <a:xfrm>
            <a:off x="4658868" y="4201668"/>
            <a:ext cx="179222" cy="133502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9" name="LegendSwatch"/>
          <p:cNvSpPr txBox="1"/>
          <p:nvPr/>
        </p:nvSpPr>
        <p:spPr>
          <a:xfrm>
            <a:off x="4658868" y="4405579"/>
            <a:ext cx="179222" cy="133502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0" name="LegendSwatch"/>
          <p:cNvSpPr txBox="1"/>
          <p:nvPr/>
        </p:nvSpPr>
        <p:spPr>
          <a:xfrm>
            <a:off x="4658868" y="4608576"/>
            <a:ext cx="179222" cy="133502"/>
          </a:xfrm>
          <a:prstGeom prst="rect">
            <a:avLst/>
          </a:prstGeom>
          <a:solidFill>
            <a:srgbClr val="D8E3EB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1" name="LegendSwatch"/>
          <p:cNvSpPr txBox="1"/>
          <p:nvPr/>
        </p:nvSpPr>
        <p:spPr>
          <a:xfrm>
            <a:off x="4658868" y="4811573"/>
            <a:ext cx="179222" cy="133502"/>
          </a:xfrm>
          <a:prstGeom prst="rect">
            <a:avLst/>
          </a:prstGeom>
          <a:solidFill>
            <a:srgbClr val="AFC2CC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2" name="LegendSwatch"/>
          <p:cNvSpPr txBox="1"/>
          <p:nvPr/>
        </p:nvSpPr>
        <p:spPr>
          <a:xfrm>
            <a:off x="4658868" y="5014570"/>
            <a:ext cx="179222" cy="133502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LegendSwatch"/>
          <p:cNvSpPr txBox="1"/>
          <p:nvPr/>
        </p:nvSpPr>
        <p:spPr>
          <a:xfrm>
            <a:off x="4658868" y="5218481"/>
            <a:ext cx="179222" cy="133502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4" name="LegendSwatch"/>
          <p:cNvSpPr txBox="1"/>
          <p:nvPr/>
        </p:nvSpPr>
        <p:spPr>
          <a:xfrm>
            <a:off x="4658868" y="5421478"/>
            <a:ext cx="179222" cy="133502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5" name="LegendSwatch"/>
          <p:cNvSpPr txBox="1"/>
          <p:nvPr/>
        </p:nvSpPr>
        <p:spPr>
          <a:xfrm>
            <a:off x="4658868" y="5624474"/>
            <a:ext cx="179222" cy="133502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6" name="Label"/>
          <p:cNvSpPr txBox="1"/>
          <p:nvPr/>
        </p:nvSpPr>
        <p:spPr>
          <a:xfrm>
            <a:off x="4889297" y="4197096"/>
            <a:ext cx="1895551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(incl. unassigned spend)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4889297" y="4400093"/>
            <a:ext cx="1199693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and ventilation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4889297" y="4604004"/>
            <a:ext cx="122072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and forgings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4889297" y="4807001"/>
            <a:ext cx="1311250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and insulation</a:t>
            </a:r>
          </a:p>
        </p:txBody>
      </p:sp>
      <p:sp>
        <p:nvSpPr>
          <p:cNvPr id="130" name="Label"/>
          <p:cNvSpPr txBox="1"/>
          <p:nvPr/>
        </p:nvSpPr>
        <p:spPr>
          <a:xfrm>
            <a:off x="4889297" y="5009998"/>
            <a:ext cx="576072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</a:t>
            </a:r>
          </a:p>
        </p:txBody>
      </p:sp>
      <p:sp>
        <p:nvSpPr>
          <p:cNvPr id="131" name="Label"/>
          <p:cNvSpPr txBox="1"/>
          <p:nvPr/>
        </p:nvSpPr>
        <p:spPr>
          <a:xfrm>
            <a:off x="4889297" y="5212994"/>
            <a:ext cx="1936699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</p:txBody>
      </p:sp>
      <p:sp>
        <p:nvSpPr>
          <p:cNvPr id="132" name="Label"/>
          <p:cNvSpPr txBox="1"/>
          <p:nvPr/>
        </p:nvSpPr>
        <p:spPr>
          <a:xfrm>
            <a:off x="4889297" y="5416906"/>
            <a:ext cx="14730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and pumps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4889297" y="5619902"/>
            <a:ext cx="113842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</p:txBody>
      </p:sp>
      <p:sp>
        <p:nvSpPr>
          <p:cNvPr id="134" name="Sources"/>
          <p:cNvSpPr txBox="1"/>
          <p:nvPr/>
        </p:nvSpPr>
        <p:spPr>
          <a:xfrm>
            <a:off x="452628" y="6108192"/>
            <a:ext cx="11282782" cy="29443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  <p:graphicFrame>
        <p:nvGraphicFramePr>
          <p:cNvPr id="135" name="ClassifierLedger"/>
          <p:cNvGraphicFramePr>
            <a:graphicFrameLocks noGrp="1"/>
          </p:cNvGraphicFramePr>
          <p:nvPr/>
        </p:nvGraphicFramePr>
        <p:xfrm>
          <a:off x="7040880" y="1544422"/>
          <a:ext cx="4694530" cy="341619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914400"/>
                <a:gridCol w="3780130"/>
              </a:tblGrid>
              <a:tr h="22951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661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Award pull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Pull FFATA/FSRS subawards; collect visible supplier evidence (mix, not TAM)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35661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PIID gate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 to yard construction PIIDs per program (BIW / Ingalls; GDEB); GFE chains drop out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35661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Entity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Resolve the operating entity paid (UEI), not the parent brand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35661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Role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Drop non-supplier / non-component roles from the addressable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35661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Work-type assign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 clean match wins one work-type home (vendor registry, NAICS-4)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35661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 Residual discipline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unresolved dollars in the addressable base; residual dilutes named shares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 Share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dollars over the addressable base set the modeled work-type and residual shares, per class and per FY; FY26–27 share assumed at historical rate.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6" name="MethodFindings"/>
          <p:cNvSpPr txBox="1"/>
          <p:nvPr/>
        </p:nvSpPr>
        <p:spPr>
          <a:xfrm>
            <a:off x="7040880" y="5022799"/>
            <a:ext cx="4694530" cy="1100023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54864" rIns="45720" bIns="54864"/>
          <a:lstStyle/>
          <a:p>
            <a:pPr algn="ctr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Subaward dollars are reported against program-specific yard construction contracts (PIIDs) — block-level masters for Virginia and Columbia, per-yard multiyear blocks for DDG-51 — with program identity confirmed in FPDS and the SCN contract-data exhibits.</a:t>
            </a:r>
          </a:p>
          <a:p>
            <a:pPr algn="ctr">
              <a:lnSpc>
                <a:spcPct val="105000"/>
              </a:lnSpc>
              <a:spcAft>
                <a:spcPts val="90"/>
              </a:spcAft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Dollars book in full to the fiscal year the order is placed (the FFATA action date): order timing across the block, not per-hull spend or in-year payment.</a:t>
            </a:r>
          </a:p>
        </p:txBody>
      </p:sp>
      <p:graphicFrame>
        <p:nvGraphicFramePr>
          <p:cNvPr id="137" name="StepRationaleLedger"/>
          <p:cNvGraphicFramePr>
            <a:graphicFrameLocks noGrp="1"/>
          </p:cNvGraphicFramePr>
          <p:nvPr/>
        </p:nvGraphicFramePr>
        <p:xfrm>
          <a:off x="452628" y="1266444"/>
          <a:ext cx="6373368" cy="2514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6373368"/>
              </a:tblGrid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Outsourced Basic Construction Spend by Work Type ($B, cumulative FY22–FY27, FY26 $)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8" name="StepRationaleLedger"/>
          <p:cNvGraphicFramePr>
            <a:graphicFrameLocks noGrp="1"/>
          </p:cNvGraphicFramePr>
          <p:nvPr/>
        </p:nvGraphicFramePr>
        <p:xfrm>
          <a:off x="7040880" y="1266444"/>
          <a:ext cx="4694530" cy="2514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694530"/>
              </a:tblGrid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Methodology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Subaward Mapping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Vendor SWBS Fingerprint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DDG-51 Supplier Fingerprint | Most vendors have limited SWBS evidence, but most dollars map cleanly to one SWBS group.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graphicFrame>
        <p:nvGraphicFramePr>
          <p:cNvPr id="100" name="VendorFingerprintTable"/>
          <p:cNvGraphicFramePr>
            <a:graphicFrameLocks noGrp="1"/>
          </p:cNvGraphicFramePr>
          <p:nvPr/>
        </p:nvGraphicFramePr>
        <p:xfrm>
          <a:off x="452628" y="2788920"/>
          <a:ext cx="11283696" cy="2633472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834640"/>
                <a:gridCol w="1051560"/>
                <a:gridCol w="1234440"/>
                <a:gridCol w="2240280"/>
                <a:gridCol w="1143000"/>
                <a:gridCol w="2779776"/>
              </a:tblGrid>
              <a:tr h="21945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Vendor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 HII $M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SWBS coverage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Primary SWBS group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Primary SWBS 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Top SWBS subsystem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Rolls-Royce Marine North America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541.5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98%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 Electric Plant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310 Electric power generation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General Electric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348.6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 Propulsion Plant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234 Propulsion gas turbines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York International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243.5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88%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500 Auxiliary Systems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88%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516 Refrigeration system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SOCAIL, LDA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204.5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 Propulsion Plant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234 Propulsion gas turbines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Timken Gears &amp; Services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174.5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 Propulsion Plant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241 Propulsion reduction gears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Johnson Controls Navy Systems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160.2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500 Auxiliary Systems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516 Refrigeration system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Northrop Grumman Systems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146.3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93%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500 Auxiliary Systems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561 Steering and diving control systems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L-3 Communications Westwood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118.6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95%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 Electric Plant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95%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324 Switchgear and panels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DRS Naval Power Systems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115.6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97%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 Electric Plant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97%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324 Switchgear and panels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Ellwood National Forge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98.6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 Propulsion Plant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243 Propulsion shafting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Engineered Coil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83.4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95%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500 Auxiliary Systems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95%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555 Fire extinguishing systems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Espey Mfg. &amp; Electronics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56.1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 Electric Plant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84%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314 Power conversion equipment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IncumbencyCallout"/>
          <p:cNvSpPr txBox="1"/>
          <p:nvPr/>
        </p:nvSpPr>
        <p:spPr>
          <a:xfrm>
            <a:off x="452628" y="5504688"/>
            <a:ext cx="11283696" cy="365760"/>
          </a:xfrm>
          <a:prstGeom prst="rect">
            <a:avLst/>
          </a:prstGeom>
          <a:solidFill>
            <a:srgbClr val="CEDDEC"/>
          </a:solidFill>
          <a:ln w="9525">
            <a:solidFill>
              <a:srgbClr val="162029"/>
            </a:solidFill>
          </a:ln>
        </p:spPr>
        <p:txBody>
          <a:bodyPr wrap="square" anchor="ctr" lIns="91440" tIns="27432" rIns="91440" bIns="27432"/>
          <a:lstStyle/>
          <a:p>
            <a:pPr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Recent block is incumbent-heavy: 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FY23–27 MYP block (separate, recent universe): of 83 active vendors, 80 continued from the prior block and only 1 was first-observed; ~$996.7M of $1.18B flowed to continued (incumbent) suppliers.</a:t>
            </a:r>
          </a:p>
        </p:txBody>
      </p:sp>
      <p:graphicFrame>
        <p:nvGraphicFramePr>
          <p:cNvPr id="102" name="VendorShareBar"/>
          <p:cNvGraphicFramePr/>
          <p:nvPr/>
        </p:nvGraphicFramePr>
        <p:xfrm>
          <a:off x="2194560" y="1481328"/>
          <a:ext cx="6583680" cy="32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3" name="DollarShareBar"/>
          <p:cNvGraphicFramePr/>
          <p:nvPr/>
        </p:nvGraphicFramePr>
        <p:xfrm>
          <a:off x="2194560" y="2139696"/>
          <a:ext cx="6583680" cy="32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4" name="VendorBarLabel"/>
          <p:cNvSpPr txBox="1"/>
          <p:nvPr/>
        </p:nvSpPr>
        <p:spPr>
          <a:xfrm>
            <a:off x="457200" y="149047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 vendor count</a:t>
            </a:r>
            <a:r>
              <a:rPr lang="en-US" sz="1000"/>
              <a:t>  </a:t>
            </a:r>
            <a:r>
              <a:rPr lang="en-US" sz="10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(n = 375)</a:t>
            </a:r>
          </a:p>
        </p:txBody>
      </p:sp>
      <p:sp>
        <p:nvSpPr>
          <p:cNvPr id="105" name="DollarBarLabel"/>
          <p:cNvSpPr txBox="1"/>
          <p:nvPr/>
        </p:nvSpPr>
        <p:spPr>
          <a:xfrm>
            <a:off x="457200" y="2148840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 DDG HII $</a:t>
            </a:r>
            <a:r>
              <a:rPr lang="en-US" sz="1000"/>
              <a:t>  </a:t>
            </a:r>
            <a:r>
              <a:rPr lang="en-US" sz="10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($3.96B)</a:t>
            </a:r>
          </a:p>
        </p:txBody>
      </p:sp>
      <p:sp>
        <p:nvSpPr>
          <p:cNvPr id="106" name="hcValue"/>
          <p:cNvSpPr txBox="1"/>
          <p:nvPr/>
        </p:nvSpPr>
        <p:spPr>
          <a:xfrm>
            <a:off x="2435723" y="1481328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20.5%</a:t>
            </a:r>
          </a:p>
        </p:txBody>
      </p:sp>
      <p:sp>
        <p:nvSpPr>
          <p:cNvPr id="107" name="lownoValue"/>
          <p:cNvSpPr txBox="1"/>
          <p:nvPr/>
        </p:nvSpPr>
        <p:spPr>
          <a:xfrm>
            <a:off x="5892319" y="1481328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74.4%</a:t>
            </a:r>
          </a:p>
        </p:txBody>
      </p:sp>
      <p:sp>
        <p:nvSpPr>
          <p:cNvPr id="108" name="hcValue"/>
          <p:cNvSpPr txBox="1"/>
          <p:nvPr/>
        </p:nvSpPr>
        <p:spPr>
          <a:xfrm>
            <a:off x="4357482" y="2139696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78.9%</a:t>
            </a:r>
          </a:p>
        </p:txBody>
      </p:sp>
      <p:sp>
        <p:nvSpPr>
          <p:cNvPr id="109" name="lownoValue"/>
          <p:cNvSpPr txBox="1"/>
          <p:nvPr/>
        </p:nvSpPr>
        <p:spPr>
          <a:xfrm>
            <a:off x="7863291" y="2139696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14.6%</a:t>
            </a:r>
          </a:p>
        </p:txBody>
      </p:sp>
      <p:cxnSp>
        <p:nvCxnSpPr>
          <p:cNvPr id="110" name="mixedLeader"/>
          <p:cNvCxnSpPr/>
          <p:nvPr/>
        </p:nvCxnSpPr>
        <p:spPr>
          <a:xfrm>
            <a:off x="3588402" y="1353312"/>
            <a:ext cx="0" cy="128016"/>
          </a:xfrm>
          <a:prstGeom prst="line">
            <a:avLst/>
          </a:prstGeom>
          <a:ln w="6350">
            <a:solidFill>
              <a:srgbClr val="44505C"/>
            </a:solidFill>
          </a:ln>
        </p:spPr>
      </p:cxnSp>
      <p:sp>
        <p:nvSpPr>
          <p:cNvPr id="111" name="mixedTag"/>
          <p:cNvSpPr txBox="1"/>
          <p:nvPr/>
        </p:nvSpPr>
        <p:spPr>
          <a:xfrm>
            <a:off x="3396378" y="1200607"/>
            <a:ext cx="384048" cy="152705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1.3%</a:t>
            </a:r>
          </a:p>
        </p:txBody>
      </p:sp>
      <p:cxnSp>
        <p:nvCxnSpPr>
          <p:cNvPr id="112" name="partialLeader"/>
          <p:cNvCxnSpPr/>
          <p:nvPr/>
        </p:nvCxnSpPr>
        <p:spPr>
          <a:xfrm>
            <a:off x="3753159" y="1810512"/>
            <a:ext cx="0" cy="128016"/>
          </a:xfrm>
          <a:prstGeom prst="line">
            <a:avLst/>
          </a:prstGeom>
          <a:ln w="6350">
            <a:solidFill>
              <a:srgbClr val="44505C"/>
            </a:solidFill>
          </a:ln>
        </p:spPr>
      </p:cxnSp>
      <p:sp>
        <p:nvSpPr>
          <p:cNvPr id="113" name="partialTag"/>
          <p:cNvSpPr txBox="1"/>
          <p:nvPr/>
        </p:nvSpPr>
        <p:spPr>
          <a:xfrm>
            <a:off x="3561135" y="1938528"/>
            <a:ext cx="384048" cy="152705"/>
          </a:xfrm>
          <a:prstGeom prst="rect">
            <a:avLst/>
          </a:prstGeom>
          <a:solidFill>
            <a:srgbClr val="9DB1CF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3.7%</a:t>
            </a:r>
          </a:p>
        </p:txBody>
      </p:sp>
      <p:cxnSp>
        <p:nvCxnSpPr>
          <p:cNvPr id="114" name="mixedLeader"/>
          <p:cNvCxnSpPr/>
          <p:nvPr/>
        </p:nvCxnSpPr>
        <p:spPr>
          <a:xfrm>
            <a:off x="7481255" y="2011680"/>
            <a:ext cx="0" cy="128016"/>
          </a:xfrm>
          <a:prstGeom prst="line">
            <a:avLst/>
          </a:prstGeom>
          <a:ln w="6350">
            <a:solidFill>
              <a:srgbClr val="44505C"/>
            </a:solidFill>
          </a:ln>
        </p:spPr>
      </p:cxnSp>
      <p:sp>
        <p:nvSpPr>
          <p:cNvPr id="115" name="mixedTag"/>
          <p:cNvSpPr txBox="1"/>
          <p:nvPr/>
        </p:nvSpPr>
        <p:spPr>
          <a:xfrm>
            <a:off x="7289231" y="1858975"/>
            <a:ext cx="384048" cy="152705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2.8%</a:t>
            </a:r>
          </a:p>
        </p:txBody>
      </p:sp>
      <p:cxnSp>
        <p:nvCxnSpPr>
          <p:cNvPr id="116" name="partialLeader"/>
          <p:cNvCxnSpPr/>
          <p:nvPr/>
        </p:nvCxnSpPr>
        <p:spPr>
          <a:xfrm>
            <a:off x="7695225" y="2468880"/>
            <a:ext cx="0" cy="128016"/>
          </a:xfrm>
          <a:prstGeom prst="line">
            <a:avLst/>
          </a:prstGeom>
          <a:ln w="6350">
            <a:solidFill>
              <a:srgbClr val="44505C"/>
            </a:solidFill>
          </a:ln>
        </p:spPr>
      </p:cxnSp>
      <p:sp>
        <p:nvSpPr>
          <p:cNvPr id="117" name="partialTag"/>
          <p:cNvSpPr txBox="1"/>
          <p:nvPr/>
        </p:nvSpPr>
        <p:spPr>
          <a:xfrm>
            <a:off x="7503201" y="2596896"/>
            <a:ext cx="384048" cy="152705"/>
          </a:xfrm>
          <a:prstGeom prst="rect">
            <a:avLst/>
          </a:prstGeom>
          <a:solidFill>
            <a:srgbClr val="9DB1CF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3.7%</a:t>
            </a:r>
          </a:p>
        </p:txBody>
      </p:sp>
      <p:sp>
        <p:nvSpPr>
          <p:cNvPr id="118" name="LegendSwatch"/>
          <p:cNvSpPr txBox="1"/>
          <p:nvPr/>
        </p:nvSpPr>
        <p:spPr>
          <a:xfrm>
            <a:off x="9098280" y="1495044"/>
            <a:ext cx="155448" cy="118872"/>
          </a:xfrm>
          <a:prstGeom prst="rect">
            <a:avLst/>
          </a:prstGeom>
          <a:solidFill>
            <a:srgbClr val="1D4D6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 marL="0" indent="0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9" name="LegendLabel"/>
          <p:cNvSpPr txBox="1"/>
          <p:nvPr/>
        </p:nvSpPr>
        <p:spPr>
          <a:xfrm>
            <a:off x="9336024" y="1417320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High-confidence single SWBS</a:t>
            </a:r>
            <a:r>
              <a:rPr lang="en-US" sz="900"/>
              <a:t>   </a:t>
            </a:r>
            <a:r>
              <a:rPr lang="en-US" sz="9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20.5% ct</a:t>
            </a:r>
            <a:r>
              <a:rPr lang="en-US" sz="900" dirty="0">
                <a:solidFill>
                  <a:srgbClr val="808080"/>
                </a:solidFill>
              </a:rPr>
              <a:t> · </a:t>
            </a:r>
            <a:r>
              <a:rPr lang="en-US" sz="9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78.9% $</a:t>
            </a:r>
          </a:p>
        </p:txBody>
      </p:sp>
      <p:sp>
        <p:nvSpPr>
          <p:cNvPr id="120" name="LegendSwatch"/>
          <p:cNvSpPr txBox="1"/>
          <p:nvPr/>
        </p:nvSpPr>
        <p:spPr>
          <a:xfrm>
            <a:off x="9098280" y="1769364"/>
            <a:ext cx="155448" cy="118872"/>
          </a:xfrm>
          <a:prstGeom prst="rect">
            <a:avLst/>
          </a:prstGeom>
          <a:solidFill>
            <a:srgbClr val="4C6C9C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 marL="0" indent="0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1" name="LegendLabel"/>
          <p:cNvSpPr txBox="1"/>
          <p:nvPr/>
        </p:nvSpPr>
        <p:spPr>
          <a:xfrm>
            <a:off x="9336024" y="1691640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High-coverage mixed</a:t>
            </a:r>
            <a:r>
              <a:rPr lang="en-US" sz="900"/>
              <a:t>   </a:t>
            </a:r>
            <a:r>
              <a:rPr lang="en-US" sz="9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1.3% ct</a:t>
            </a:r>
            <a:r>
              <a:rPr lang="en-US" sz="900" dirty="0">
                <a:solidFill>
                  <a:srgbClr val="808080"/>
                </a:solidFill>
              </a:rPr>
              <a:t> · </a:t>
            </a:r>
            <a:r>
              <a:rPr lang="en-US" sz="9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2.8% $</a:t>
            </a:r>
          </a:p>
        </p:txBody>
      </p:sp>
      <p:sp>
        <p:nvSpPr>
          <p:cNvPr id="122" name="LegendSwatch"/>
          <p:cNvSpPr txBox="1"/>
          <p:nvPr/>
        </p:nvSpPr>
        <p:spPr>
          <a:xfrm>
            <a:off x="9098280" y="2043684"/>
            <a:ext cx="155448" cy="118872"/>
          </a:xfrm>
          <a:prstGeom prst="rect">
            <a:avLst/>
          </a:prstGeom>
          <a:solidFill>
            <a:srgbClr val="9DB1CF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 marL="0" indent="0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LegendLabel"/>
          <p:cNvSpPr txBox="1"/>
          <p:nvPr/>
        </p:nvSpPr>
        <p:spPr>
          <a:xfrm>
            <a:off x="9336024" y="1965960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 SWBS evidence</a:t>
            </a:r>
            <a:r>
              <a:rPr lang="en-US" sz="900"/>
              <a:t>   </a:t>
            </a:r>
            <a:r>
              <a:rPr lang="en-US" sz="9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3.7% ct</a:t>
            </a:r>
            <a:r>
              <a:rPr lang="en-US" sz="900" dirty="0">
                <a:solidFill>
                  <a:srgbClr val="808080"/>
                </a:solidFill>
              </a:rPr>
              <a:t> · </a:t>
            </a:r>
            <a:r>
              <a:rPr lang="en-US" sz="9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3.7% $</a:t>
            </a:r>
          </a:p>
        </p:txBody>
      </p:sp>
      <p:sp>
        <p:nvSpPr>
          <p:cNvPr id="124" name="LegendSwatch"/>
          <p:cNvSpPr txBox="1"/>
          <p:nvPr/>
        </p:nvSpPr>
        <p:spPr>
          <a:xfrm>
            <a:off x="9098280" y="2318004"/>
            <a:ext cx="155448" cy="118872"/>
          </a:xfrm>
          <a:prstGeom prst="rect">
            <a:avLst/>
          </a:prstGeom>
          <a:solidFill>
            <a:srgbClr val="BFBFBF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 marL="0" indent="0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5" name="LegendLabel"/>
          <p:cNvSpPr txBox="1"/>
          <p:nvPr/>
        </p:nvSpPr>
        <p:spPr>
          <a:xfrm>
            <a:off x="9336024" y="2240280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/ no SWBS evidence</a:t>
            </a:r>
            <a:r>
              <a:rPr lang="en-US" sz="900"/>
              <a:t>   </a:t>
            </a:r>
            <a:r>
              <a:rPr lang="en-US" sz="9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74.4% ct</a:t>
            </a:r>
            <a:r>
              <a:rPr lang="en-US" sz="900" dirty="0">
                <a:solidFill>
                  <a:srgbClr val="808080"/>
                </a:solidFill>
              </a:rPr>
              <a:t> · </a:t>
            </a:r>
            <a:r>
              <a:rPr lang="en-US" sz="9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14.6% $</a:t>
            </a:r>
          </a:p>
        </p:txBody>
      </p:sp>
      <p:sp>
        <p:nvSpPr>
          <p:cNvPr id="9999" name="Source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Note: Evidence class: High-confidence = ≥80% SWBS coverage and ≥70% of $ in one primary SWBS group; Mixed = ≥80% coverage, &lt;70% concentration; Partial = 50–79% coverage; Low/no = &lt;50%. Vendor-count shares are of the 375-vendor HII DDG base. | Source: DDG Subaward Transactions (Builder = HII-Ingalls); constant FY2026 $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Mapping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DDG-51 Subawards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DDG-51 Hull Attribution | SWBS is strong at the HII program/vendor level, while exact hull attribution is a narrower confidence-scored subset.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00" name="LeftZoneHeader"/>
          <p:cNvSpPr txBox="1"/>
          <p:nvPr/>
        </p:nvSpPr>
        <p:spPr>
          <a:xfrm>
            <a:off x="452628" y="1444752"/>
            <a:ext cx="5536692" cy="256032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All DDG-51 subaward $ — hull-attribution confidence</a:t>
            </a:r>
          </a:p>
        </p:txBody>
      </p:sp>
      <p:sp>
        <p:nvSpPr>
          <p:cNvPr id="101" name="RightZoneHeader"/>
          <p:cNvSpPr txBox="1"/>
          <p:nvPr/>
        </p:nvSpPr>
        <p:spPr>
          <a:xfrm>
            <a:off x="6355080" y="1444752"/>
            <a:ext cx="5376672" cy="256032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Recent exact-hull subset — SWBS mix</a:t>
            </a:r>
          </a:p>
        </p:txBody>
      </p:sp>
      <p:cxnSp>
        <p:nvCxnSpPr>
          <p:cNvPr id="102" name="LeftHeaderRule"/>
          <p:cNvCxnSpPr/>
          <p:nvPr/>
        </p:nvCxnSpPr>
        <p:spPr>
          <a:xfrm>
            <a:off x="452628" y="1755648"/>
            <a:ext cx="5536692" cy="0"/>
          </a:xfrm>
          <a:prstGeom prst="line">
            <a:avLst/>
          </a:prstGeom>
          <a:ln w="9525">
            <a:solidFill>
              <a:srgbClr val="808080"/>
            </a:solidFill>
          </a:ln>
        </p:spPr>
      </p:cxnSp>
      <p:cxnSp>
        <p:nvCxnSpPr>
          <p:cNvPr id="103" name="RightHeaderRule"/>
          <p:cNvCxnSpPr/>
          <p:nvPr/>
        </p:nvCxnSpPr>
        <p:spPr>
          <a:xfrm>
            <a:off x="6355080" y="1755648"/>
            <a:ext cx="5376672" cy="0"/>
          </a:xfrm>
          <a:prstGeom prst="line">
            <a:avLst/>
          </a:prstGeom>
          <a:ln w="9525">
            <a:solidFill>
              <a:srgbClr val="808080"/>
            </a:solidFill>
          </a:ln>
        </p:spPr>
      </p:cxnSp>
      <p:cxnSp>
        <p:nvCxnSpPr>
          <p:cNvPr id="104" name="ZoneDivider"/>
          <p:cNvCxnSpPr/>
          <p:nvPr/>
        </p:nvCxnSpPr>
        <p:spPr>
          <a:xfrm>
            <a:off x="6153912" y="1444752"/>
            <a:ext cx="0" cy="4133088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graphicFrame>
        <p:nvGraphicFramePr>
          <p:cNvPr id="105" name="HullConfidenceTable"/>
          <p:cNvGraphicFramePr>
            <a:graphicFrameLocks noGrp="1"/>
          </p:cNvGraphicFramePr>
          <p:nvPr/>
        </p:nvGraphicFramePr>
        <p:xfrm>
          <a:off x="452628" y="1810512"/>
          <a:ext cx="5536692" cy="234086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868680"/>
                <a:gridCol w="3611880"/>
                <a:gridCol w="1056132"/>
              </a:tblGrid>
              <a:tr h="310896"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Confidence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Share of DDG $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3D597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Official exact / single-ship PIID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1.7%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3D597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subaward text names one in-family hull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29.8%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requirement text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44.4%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 family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Conflict / review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6" name="ExactHullBandOutline"/>
          <p:cNvSpPr txBox="1"/>
          <p:nvPr/>
        </p:nvSpPr>
        <p:spPr>
          <a:xfrm>
            <a:off x="452628" y="2121408"/>
            <a:ext cx="5536692" cy="859536"/>
          </a:xfrm>
          <a:prstGeom prst="rect">
            <a:avLst/>
          </a:prstGeom>
          <a:noFill/>
          <a:ln w="19050">
            <a:solidFill>
              <a:srgbClr val="00777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7" name="ExactHull315Callout"/>
          <p:cNvSpPr txBox="1"/>
          <p:nvPr/>
        </p:nvSpPr>
        <p:spPr>
          <a:xfrm>
            <a:off x="452628" y="4297680"/>
            <a:ext cx="5536692" cy="502920"/>
          </a:xfrm>
          <a:prstGeom prst="rect">
            <a:avLst/>
          </a:prstGeom>
          <a:solidFill>
            <a:srgbClr val="CEDDEC"/>
          </a:solidFill>
          <a:ln w="12700">
            <a:solidFill>
              <a:srgbClr val="00777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lIns="91440" tIns="45720" rIns="91440" bIns="4572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A/B exact-hull attribution = 31.5% of DDG $</a:t>
            </a:r>
          </a:p>
        </p:txBody>
      </p:sp>
      <p:sp>
        <p:nvSpPr>
          <p:cNvPr id="108" name="DenominatorCaveat"/>
          <p:cNvSpPr txBox="1"/>
          <p:nvPr/>
        </p:nvSpPr>
        <p:spPr>
          <a:xfrm>
            <a:off x="452628" y="4937760"/>
            <a:ext cx="5536692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31.5% (A/B) is share of all observed DDG-51 $ (~$4.03B); the $870.9M recent subset is a curated FY23–27 MYP slice within the A/B band.</a:t>
            </a:r>
          </a:p>
        </p:txBody>
      </p:sp>
      <p:sp>
        <p:nvSpPr>
          <p:cNvPr id="109" name="ZoomCaption"/>
          <p:cNvSpPr txBox="1"/>
          <p:nvPr/>
        </p:nvSpPr>
        <p:spPr>
          <a:xfrm>
            <a:off x="6355080" y="1792224"/>
            <a:ext cx="5376672" cy="237744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7770"/>
                </a:solidFill>
                <a:latin typeface="Arial"/>
                <a:ea typeface="Arial"/>
                <a:cs typeface="Arial"/>
              </a:rPr>
              <a:t>Zoom into the A/B exact-hull band: recent FY23–27 MYP slice (DDG 141–149)</a:t>
            </a:r>
          </a:p>
        </p:txBody>
      </p:sp>
      <p:sp>
        <p:nvSpPr>
          <p:cNvPr id="110" name="KpiCardAssignedSpend"/>
          <p:cNvSpPr txBox="1"/>
          <p:nvPr/>
        </p:nvSpPr>
        <p:spPr>
          <a:xfrm>
            <a:off x="6355080" y="2103120"/>
            <a:ext cx="260604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lIns="91440" tIns="45720" rIns="91440" bIns="4572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$870.9M</a:t>
            </a:r>
          </a:p>
          <a:p>
            <a:pPr algn="ctr"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Recent exact-hull assigned spend</a:t>
            </a:r>
          </a:p>
          <a:p>
            <a:pPr algn="ctr"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FY23–27 MYP · DDG 141–149</a:t>
            </a:r>
          </a:p>
        </p:txBody>
      </p:sp>
      <p:sp>
        <p:nvSpPr>
          <p:cNvPr id="111" name="KpiCardCoverage"/>
          <p:cNvSpPr txBox="1"/>
          <p:nvPr/>
        </p:nvSpPr>
        <p:spPr>
          <a:xfrm>
            <a:off x="9125712" y="2103120"/>
            <a:ext cx="260604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lIns="91440" tIns="45720" rIns="91440" bIns="4572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07770"/>
                </a:solidFill>
                <a:latin typeface="Arial"/>
                <a:ea typeface="Arial"/>
                <a:cs typeface="Arial"/>
              </a:rPr>
              <a:t>98.5%</a:t>
            </a:r>
          </a:p>
          <a:p>
            <a:pPr algn="ctr"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SWBS coverage of that subset</a:t>
            </a:r>
          </a:p>
          <a:p>
            <a:pPr algn="ctr">
              <a:lnSpc>
                <a:spcPct val="100000"/>
              </a:lnSpc>
              <a:buNone/>
            </a:pPr>
            <a:endParaRPr lang="en-US" sz="900"/>
          </a:p>
        </p:txBody>
      </p:sp>
      <p:graphicFrame>
        <p:nvGraphicFramePr>
          <p:cNvPr id="112" name="RecentExactHullSwbsMix"/>
          <p:cNvGraphicFramePr/>
          <p:nvPr/>
        </p:nvGraphicFramePr>
        <p:xfrm>
          <a:off x="7223760" y="3246120"/>
          <a:ext cx="1828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3" name="ChartTitle"/>
          <p:cNvSpPr txBox="1"/>
          <p:nvPr/>
        </p:nvSpPr>
        <p:spPr>
          <a:xfrm>
            <a:off x="7223760" y="3035808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Exact-hull subset by SWBS group </a:t>
            </a:r>
            <a:r>
              <a:rPr lang="en-US" sz="10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(% of $870.9M; incl. U00)</a:t>
            </a:r>
          </a:p>
        </p:txBody>
      </p:sp>
      <p:sp>
        <p:nvSpPr>
          <p:cNvPr id="114" name="LegendSwatchU00"/>
          <p:cNvSpPr txBox="1"/>
          <p:nvPr/>
        </p:nvSpPr>
        <p:spPr>
          <a:xfrm>
            <a:off x="9281160" y="4479188"/>
            <a:ext cx="155448" cy="118872"/>
          </a:xfrm>
          <a:prstGeom prst="rect">
            <a:avLst/>
          </a:prstGeom>
          <a:pattFill prst="ltUpDiag">
            <a:fgClr>
              <a:srgbClr val="808080"/>
            </a:fgClr>
            <a:bgClr>
              <a:srgbClr val="FFFFFF"/>
            </a:bgClr>
          </a:patt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5" name="LegendLabel"/>
          <p:cNvSpPr txBox="1"/>
          <p:nvPr/>
        </p:nvSpPr>
        <p:spPr>
          <a:xfrm>
            <a:off x="9555480" y="4447184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U00 / No SWBS evidence</a:t>
            </a:r>
          </a:p>
        </p:txBody>
      </p:sp>
      <p:sp>
        <p:nvSpPr>
          <p:cNvPr id="116" name="LegendSwatch"/>
          <p:cNvSpPr txBox="1"/>
          <p:nvPr/>
        </p:nvSpPr>
        <p:spPr>
          <a:xfrm>
            <a:off x="9281160" y="4703216"/>
            <a:ext cx="155448" cy="118872"/>
          </a:xfrm>
          <a:prstGeom prst="rect">
            <a:avLst/>
          </a:prstGeom>
          <a:solidFill>
            <a:srgbClr val="BFBFBF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7" name="LegendLabel"/>
          <p:cNvSpPr txBox="1"/>
          <p:nvPr/>
        </p:nvSpPr>
        <p:spPr>
          <a:xfrm>
            <a:off x="9555480" y="467121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mapped</a:t>
            </a:r>
          </a:p>
        </p:txBody>
      </p:sp>
      <p:sp>
        <p:nvSpPr>
          <p:cNvPr id="118" name="LegendSwatch"/>
          <p:cNvSpPr txBox="1"/>
          <p:nvPr/>
        </p:nvSpPr>
        <p:spPr>
          <a:xfrm>
            <a:off x="9281160" y="4927244"/>
            <a:ext cx="155448" cy="118872"/>
          </a:xfrm>
          <a:prstGeom prst="rect">
            <a:avLst/>
          </a:prstGeom>
          <a:solidFill>
            <a:srgbClr val="6E91B1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9" name="LegendLabel"/>
          <p:cNvSpPr txBox="1"/>
          <p:nvPr/>
        </p:nvSpPr>
        <p:spPr>
          <a:xfrm>
            <a:off x="9555480" y="489524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 Electric Plant</a:t>
            </a:r>
          </a:p>
        </p:txBody>
      </p:sp>
      <p:sp>
        <p:nvSpPr>
          <p:cNvPr id="120" name="LegendSwatch"/>
          <p:cNvSpPr txBox="1"/>
          <p:nvPr/>
        </p:nvSpPr>
        <p:spPr>
          <a:xfrm>
            <a:off x="9281160" y="5151272"/>
            <a:ext cx="155448" cy="118872"/>
          </a:xfrm>
          <a:prstGeom prst="rect">
            <a:avLst/>
          </a:prstGeom>
          <a:solidFill>
            <a:srgbClr val="4C6C9C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1" name="LegendLabel"/>
          <p:cNvSpPr txBox="1"/>
          <p:nvPr/>
        </p:nvSpPr>
        <p:spPr>
          <a:xfrm>
            <a:off x="9555480" y="5119268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500 Auxiliary Systems</a:t>
            </a:r>
          </a:p>
        </p:txBody>
      </p:sp>
      <p:sp>
        <p:nvSpPr>
          <p:cNvPr id="122" name="LegendSwatch"/>
          <p:cNvSpPr txBox="1"/>
          <p:nvPr/>
        </p:nvSpPr>
        <p:spPr>
          <a:xfrm>
            <a:off x="9281160" y="5375300"/>
            <a:ext cx="155448" cy="118872"/>
          </a:xfrm>
          <a:prstGeom prst="rect">
            <a:avLst/>
          </a:prstGeom>
          <a:solidFill>
            <a:srgbClr val="1D4D6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LegendLabel"/>
          <p:cNvSpPr txBox="1"/>
          <p:nvPr/>
        </p:nvSpPr>
        <p:spPr>
          <a:xfrm>
            <a:off x="9555480" y="5343296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Propulsion Plant</a:t>
            </a:r>
          </a:p>
        </p:txBody>
      </p:sp>
      <p:cxnSp>
        <p:nvCxnSpPr>
          <p:cNvPr id="124" name="ZoomArrow"/>
          <p:cNvCxnSpPr/>
          <p:nvPr/>
        </p:nvCxnSpPr>
        <p:spPr>
          <a:xfrm>
            <a:off x="6016752" y="2551176"/>
            <a:ext cx="310896" cy="0"/>
          </a:xfrm>
          <a:prstGeom prst="line">
            <a:avLst/>
          </a:prstGeom>
          <a:ln w="12700">
            <a:solidFill>
              <a:srgbClr val="007770"/>
            </a:solidFill>
            <a:prstDash val="dash"/>
            <a:tailEnd type="triangle" w="med" len="med"/>
          </a:ln>
        </p:spPr>
      </p:cxnSp>
      <p:sp>
        <p:nvSpPr>
          <p:cNvPr id="9999" name="Source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Note: $ in constant FY2026 dollars; shares may not sum to 100% due to rounding | Source: USAspending subaward data; HII-Ingalls reported subawards; [project workbook]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Distributed Shipbuilding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Approach | The market is sized two ways: a budget-down TAM of addressable outsourced work and a transaction-up SAM of the observed supplier network.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00" name="FoundationLine"/>
          <p:cNvSpPr txBox="1"/>
          <p:nvPr/>
        </p:nvSpPr>
        <p:spPr>
          <a:xfrm>
            <a:off x="452628" y="1335024"/>
            <a:ext cx="112836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Both pipelines cover outsourced new-construction on DDG-51, Virginia, and Columbia, stated in constant FY2026 dollars.</a:t>
            </a:r>
          </a:p>
        </p:txBody>
      </p:sp>
      <p:sp>
        <p:nvSpPr>
          <p:cNvPr id="101" name="StageHeader"/>
          <p:cNvSpPr txBox="1"/>
          <p:nvPr/>
        </p:nvSpPr>
        <p:spPr>
          <a:xfrm>
            <a:off x="452628" y="1938528"/>
            <a:ext cx="539496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</a:t>
            </a:r>
            <a:r>
              <a:rPr lang="en-US" sz="13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: addressable outsourced scope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(budget-down)</a:t>
            </a:r>
          </a:p>
        </p:txBody>
      </p:sp>
      <p:cxnSp>
        <p:nvCxnSpPr>
          <p:cNvPr id="102" name="HeaderRule"/>
          <p:cNvCxnSpPr/>
          <p:nvPr/>
        </p:nvCxnSpPr>
        <p:spPr>
          <a:xfrm>
            <a:off x="452628" y="2377440"/>
            <a:ext cx="5394960" cy="0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03" name="StageHeader"/>
          <p:cNvSpPr txBox="1"/>
          <p:nvPr/>
        </p:nvSpPr>
        <p:spPr>
          <a:xfrm>
            <a:off x="6341364" y="1938528"/>
            <a:ext cx="539496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</a:t>
            </a:r>
            <a:r>
              <a:rPr lang="en-US" sz="13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: observed supplier network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(transaction-up)</a:t>
            </a:r>
          </a:p>
        </p:txBody>
      </p:sp>
      <p:cxnSp>
        <p:nvCxnSpPr>
          <p:cNvPr id="104" name="HeaderRule"/>
          <p:cNvCxnSpPr/>
          <p:nvPr/>
        </p:nvCxnSpPr>
        <p:spPr>
          <a:xfrm>
            <a:off x="6341364" y="2377440"/>
            <a:ext cx="5394960" cy="0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05" name="Operator"/>
          <p:cNvSpPr txBox="1"/>
          <p:nvPr/>
        </p:nvSpPr>
        <p:spPr>
          <a:xfrm>
            <a:off x="3003804" y="3056382"/>
            <a:ext cx="292608" cy="292608"/>
          </a:xfrm>
          <a:prstGeom prst="mathMultiply">
            <a:avLst/>
          </a:prstGeom>
          <a:solidFill>
            <a:srgbClr val="162029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6" name="Operator"/>
          <p:cNvSpPr txBox="1"/>
          <p:nvPr/>
        </p:nvSpPr>
        <p:spPr>
          <a:xfrm>
            <a:off x="3003804" y="3929634"/>
            <a:ext cx="292608" cy="292608"/>
          </a:xfrm>
          <a:prstGeom prst="mathEqual">
            <a:avLst/>
          </a:prstGeom>
          <a:solidFill>
            <a:srgbClr val="162029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7" name="PipelineBox"/>
          <p:cNvSpPr txBox="1"/>
          <p:nvPr/>
        </p:nvSpPr>
        <p:spPr>
          <a:xfrm>
            <a:off x="452628" y="2505456"/>
            <a:ext cx="5394960" cy="502920"/>
          </a:xfrm>
          <a:prstGeom prst="rect">
            <a:avLst/>
          </a:prstGeom>
          <a:solidFill>
            <a:srgbClr val="E2E9EF"/>
          </a:solidFill>
          <a:ln w="12700">
            <a:solidFill>
              <a:srgbClr val="16202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SCN Basic Construction base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 program and fiscal year (excludes GFE)</a:t>
            </a:r>
          </a:p>
        </p:txBody>
      </p:sp>
      <p:sp>
        <p:nvSpPr>
          <p:cNvPr id="108" name="PipelineBox"/>
          <p:cNvSpPr txBox="1"/>
          <p:nvPr/>
        </p:nvSpPr>
        <p:spPr>
          <a:xfrm>
            <a:off x="452628" y="3378708"/>
            <a:ext cx="5394960" cy="502920"/>
          </a:xfrm>
          <a:prstGeom prst="rect">
            <a:avLst/>
          </a:prstGeom>
          <a:solidFill>
            <a:srgbClr val="B6C8D8"/>
          </a:solidFill>
          <a:ln w="12700">
            <a:solidFill>
              <a:srgbClr val="16202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share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% of Basic Construction performed outside the prime and co-prime yards</a:t>
            </a:r>
          </a:p>
        </p:txBody>
      </p:sp>
      <p:sp>
        <p:nvSpPr>
          <p:cNvPr id="109" name="PipelineBox"/>
          <p:cNvSpPr txBox="1"/>
          <p:nvPr/>
        </p:nvSpPr>
        <p:spPr>
          <a:xfrm>
            <a:off x="452628" y="4251960"/>
            <a:ext cx="5394960" cy="502920"/>
          </a:xfrm>
          <a:prstGeom prst="rect">
            <a:avLst/>
          </a:prstGeom>
          <a:solidFill>
            <a:srgbClr val="3D5972"/>
          </a:solidFill>
          <a:ln w="19050">
            <a:solidFill>
              <a:srgbClr val="16202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Addressable outsourced market (TAM)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 by program and fiscal year</a:t>
            </a:r>
          </a:p>
        </p:txBody>
      </p:sp>
      <p:sp>
        <p:nvSpPr>
          <p:cNvPr id="110" name="CoeffCaption"/>
          <p:cNvSpPr txBox="1"/>
          <p:nvPr/>
        </p:nvSpPr>
        <p:spPr>
          <a:xfrm>
            <a:off x="452628" y="4919472"/>
            <a:ext cx="53949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Applied outsourced share of Basic Construction, by program</a:t>
            </a:r>
          </a:p>
        </p:txBody>
      </p:sp>
      <p:sp>
        <p:nvSpPr>
          <p:cNvPr id="111" name="CoeffChip"/>
          <p:cNvSpPr txBox="1"/>
          <p:nvPr/>
        </p:nvSpPr>
        <p:spPr>
          <a:xfrm>
            <a:off x="452628" y="5102352"/>
            <a:ext cx="1700784" cy="310896"/>
          </a:xfrm>
          <a:prstGeom prst="rect">
            <a:avLst/>
          </a:prstGeom>
          <a:solidFill>
            <a:srgbClr val="B6C8D8"/>
          </a:solidFill>
          <a:ln w="12700">
            <a:solidFill>
              <a:srgbClr val="162029"/>
            </a:solidFill>
          </a:ln>
        </p:spPr>
        <p:txBody>
          <a:bodyPr wrap="square" anchor="ctr" lIns="18288" tIns="9144" rIns="18288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Virginia ~34%</a:t>
            </a:r>
          </a:p>
        </p:txBody>
      </p:sp>
      <p:sp>
        <p:nvSpPr>
          <p:cNvPr id="112" name="CoeffChip"/>
          <p:cNvSpPr txBox="1"/>
          <p:nvPr/>
        </p:nvSpPr>
        <p:spPr>
          <a:xfrm>
            <a:off x="2299716" y="5102352"/>
            <a:ext cx="1700784" cy="310896"/>
          </a:xfrm>
          <a:prstGeom prst="rect">
            <a:avLst/>
          </a:prstGeom>
          <a:solidFill>
            <a:srgbClr val="B6C8D8"/>
          </a:solidFill>
          <a:ln w="12700">
            <a:solidFill>
              <a:srgbClr val="162029"/>
            </a:solidFill>
          </a:ln>
        </p:spPr>
        <p:txBody>
          <a:bodyPr wrap="square" anchor="ctr" lIns="18288" tIns="9144" rIns="18288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Columbia ~22%</a:t>
            </a:r>
          </a:p>
        </p:txBody>
      </p:sp>
      <p:sp>
        <p:nvSpPr>
          <p:cNvPr id="113" name="CoeffChip"/>
          <p:cNvSpPr txBox="1"/>
          <p:nvPr/>
        </p:nvSpPr>
        <p:spPr>
          <a:xfrm>
            <a:off x="4146804" y="5102352"/>
            <a:ext cx="1700784" cy="310896"/>
          </a:xfrm>
          <a:prstGeom prst="rect">
            <a:avLst/>
          </a:prstGeom>
          <a:solidFill>
            <a:srgbClr val="B6C8D8"/>
          </a:solidFill>
          <a:ln w="12700">
            <a:solidFill>
              <a:srgbClr val="162029"/>
            </a:solidFill>
          </a:ln>
        </p:spPr>
        <p:txBody>
          <a:bodyPr wrap="square" anchor="ctr" lIns="18288" tIns="9144" rIns="18288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DDG-51 ~25%</a:t>
            </a:r>
          </a:p>
        </p:txBody>
      </p:sp>
      <p:cxnSp>
        <p:nvCxnSpPr>
          <p:cNvPr id="114" name="FlowArrow"/>
          <p:cNvCxnSpPr/>
          <p:nvPr/>
        </p:nvCxnSpPr>
        <p:spPr>
          <a:xfrm>
            <a:off x="9038844" y="2980944"/>
            <a:ext cx="0" cy="335585"/>
          </a:xfrm>
          <a:prstGeom prst="line">
            <a:avLst/>
          </a:prstGeom>
          <a:ln w="15875">
            <a:solidFill>
              <a:srgbClr val="162029"/>
            </a:solidFill>
            <a:tailEnd type="triangle" w="med" len="med"/>
          </a:ln>
        </p:spPr>
      </p:cxnSp>
      <p:cxnSp>
        <p:nvCxnSpPr>
          <p:cNvPr id="115" name="FlowArrow"/>
          <p:cNvCxnSpPr/>
          <p:nvPr/>
        </p:nvCxnSpPr>
        <p:spPr>
          <a:xfrm>
            <a:off x="9038844" y="3792017"/>
            <a:ext cx="0" cy="335585"/>
          </a:xfrm>
          <a:prstGeom prst="line">
            <a:avLst/>
          </a:prstGeom>
          <a:ln w="15875">
            <a:solidFill>
              <a:srgbClr val="162029"/>
            </a:solidFill>
            <a:tailEnd type="triangle" w="med" len="med"/>
          </a:ln>
        </p:spPr>
      </p:cxnSp>
      <p:cxnSp>
        <p:nvCxnSpPr>
          <p:cNvPr id="116" name="FlowArrow"/>
          <p:cNvCxnSpPr/>
          <p:nvPr/>
        </p:nvCxnSpPr>
        <p:spPr>
          <a:xfrm>
            <a:off x="9038844" y="4603090"/>
            <a:ext cx="0" cy="335585"/>
          </a:xfrm>
          <a:prstGeom prst="line">
            <a:avLst/>
          </a:prstGeom>
          <a:ln w="15875">
            <a:solidFill>
              <a:srgbClr val="162029"/>
            </a:solidFill>
            <a:tailEnd type="triangle" w="med" len="med"/>
          </a:ln>
        </p:spPr>
      </p:cxnSp>
      <p:sp>
        <p:nvSpPr>
          <p:cNvPr id="117" name="PipelineBox"/>
          <p:cNvSpPr txBox="1"/>
          <p:nvPr/>
        </p:nvSpPr>
        <p:spPr>
          <a:xfrm>
            <a:off x="6341364" y="2505456"/>
            <a:ext cx="5394960" cy="475488"/>
          </a:xfrm>
          <a:prstGeom prst="rect">
            <a:avLst/>
          </a:prstGeom>
          <a:solidFill>
            <a:srgbClr val="E2E9EF"/>
          </a:solidFill>
          <a:ln w="12700">
            <a:solidFill>
              <a:srgbClr val="16202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subawards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 in-scope hull-builder prime contracts</a:t>
            </a:r>
          </a:p>
        </p:txBody>
      </p:sp>
      <p:sp>
        <p:nvSpPr>
          <p:cNvPr id="118" name="PipelineBox"/>
          <p:cNvSpPr txBox="1"/>
          <p:nvPr/>
        </p:nvSpPr>
        <p:spPr>
          <a:xfrm>
            <a:off x="6341364" y="3316529"/>
            <a:ext cx="5394960" cy="475488"/>
          </a:xfrm>
          <a:prstGeom prst="rect">
            <a:avLst/>
          </a:prstGeom>
          <a:solidFill>
            <a:srgbClr val="B6C8D8"/>
          </a:solidFill>
          <a:ln w="12700">
            <a:solidFill>
              <a:srgbClr val="16202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Roll up to supplier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row per UEI × Program</a:t>
            </a:r>
          </a:p>
        </p:txBody>
      </p:sp>
      <p:sp>
        <p:nvSpPr>
          <p:cNvPr id="119" name="PipelineBox"/>
          <p:cNvSpPr txBox="1"/>
          <p:nvPr/>
        </p:nvSpPr>
        <p:spPr>
          <a:xfrm>
            <a:off x="6341364" y="4127602"/>
            <a:ext cx="5394960" cy="475488"/>
          </a:xfrm>
          <a:prstGeom prst="rect">
            <a:avLst/>
          </a:prstGeom>
          <a:solidFill>
            <a:srgbClr val="6E91B1"/>
          </a:solidFill>
          <a:ln w="12700">
            <a:solidFill>
              <a:srgbClr val="16202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Classify each supplier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into archetypes</a:t>
            </a:r>
          </a:p>
        </p:txBody>
      </p:sp>
      <p:sp>
        <p:nvSpPr>
          <p:cNvPr id="120" name="PipelineBox"/>
          <p:cNvSpPr txBox="1"/>
          <p:nvPr/>
        </p:nvSpPr>
        <p:spPr>
          <a:xfrm>
            <a:off x="6341364" y="4938674"/>
            <a:ext cx="5394960" cy="475488"/>
          </a:xfrm>
          <a:prstGeom prst="rect">
            <a:avLst/>
          </a:prstGeom>
          <a:solidFill>
            <a:srgbClr val="3D5972"/>
          </a:solidFill>
          <a:ln w="19050">
            <a:solidFill>
              <a:srgbClr val="16202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supplier map (SAM)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spend, concentration &amp; continuity → where to 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Subaward Mapping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SWBS Dollar Mix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DDG-51 SWBS Dollar Mix | 82.7% of observed HII-Ingalls dollars map to SWBS; 94.9% of mapped concentrate in Auxiliary, Propulsion, and Electric Plant.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graphicFrame>
        <p:nvGraphicFramePr>
          <p:cNvPr id="100" name="SwbsMixChart"/>
          <p:cNvGraphicFramePr/>
          <p:nvPr/>
        </p:nvGraphicFramePr>
        <p:xfrm>
          <a:off x="411480" y="2788920"/>
          <a:ext cx="6766560" cy="82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1" name="ChartTitle"/>
          <p:cNvSpPr txBox="1"/>
          <p:nvPr/>
        </p:nvSpPr>
        <p:spPr>
          <a:xfrm>
            <a:off x="452628" y="2596896"/>
            <a:ext cx="6675120" cy="182880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HII-Ingalls DDG-51 observed subawards by SWBS group </a:t>
            </a:r>
            <a:r>
              <a:rPr lang="en-US" sz="10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(% of the $3.96B HII base; segment % of total incl. U00)</a:t>
            </a:r>
          </a:p>
        </p:txBody>
      </p:sp>
      <p:sp>
        <p:nvSpPr>
          <p:cNvPr id="102" name="KpiCard"/>
          <p:cNvSpPr txBox="1"/>
          <p:nvPr/>
        </p:nvSpPr>
        <p:spPr>
          <a:xfrm>
            <a:off x="452628" y="1517904"/>
            <a:ext cx="260604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lIns="63500" tIns="36576" rIns="63500" bIns="36576"/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$4.03B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 DDG-51 subawards across all primes (constant FY2026$)</a:t>
            </a:r>
          </a:p>
        </p:txBody>
      </p:sp>
      <p:sp>
        <p:nvSpPr>
          <p:cNvPr id="103" name="KpiCard"/>
          <p:cNvSpPr txBox="1"/>
          <p:nvPr/>
        </p:nvSpPr>
        <p:spPr>
          <a:xfrm>
            <a:off x="3291840" y="1517904"/>
            <a:ext cx="260604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lIns="63500" tIns="36576" rIns="63500" bIns="36576"/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$3.96B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HII-Ingalls base — 98.2% of all observed DDG dollars</a:t>
            </a:r>
          </a:p>
        </p:txBody>
      </p:sp>
      <p:sp>
        <p:nvSpPr>
          <p:cNvPr id="104" name="KpiCard"/>
          <p:cNvSpPr txBox="1"/>
          <p:nvPr/>
        </p:nvSpPr>
        <p:spPr>
          <a:xfrm>
            <a:off x="6131052" y="1517904"/>
            <a:ext cx="260604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lIns="63500" tIns="36576" rIns="63500" bIns="36576"/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82.7%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HII-Ingalls dollars map to a SWBS ship-system group</a:t>
            </a:r>
          </a:p>
        </p:txBody>
      </p:sp>
      <p:sp>
        <p:nvSpPr>
          <p:cNvPr id="105" name="KpiCard"/>
          <p:cNvSpPr txBox="1"/>
          <p:nvPr/>
        </p:nvSpPr>
        <p:spPr>
          <a:xfrm>
            <a:off x="8970264" y="1517904"/>
            <a:ext cx="260604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lIns="63500" tIns="36576" rIns="63500" bIns="36576"/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94.9%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mapped dollars sit in Auxiliary · Propulsion · Electric Plant</a:t>
            </a:r>
          </a:p>
        </p:txBody>
      </p:sp>
      <p:cxnSp>
        <p:nvCxnSpPr>
          <p:cNvPr id="106" name="MappedBracketRule"/>
          <p:cNvCxnSpPr/>
          <p:nvPr/>
        </p:nvCxnSpPr>
        <p:spPr>
          <a:xfrm>
            <a:off x="492679" y="3675888"/>
            <a:ext cx="5461998" cy="0"/>
          </a:xfrm>
          <a:prstGeom prst="line">
            <a:avLst/>
          </a:prstGeom>
          <a:ln w="9525">
            <a:solidFill>
              <a:srgbClr val="808080"/>
            </a:solidFill>
          </a:ln>
        </p:spPr>
      </p:cxnSp>
      <p:cxnSp>
        <p:nvCxnSpPr>
          <p:cNvPr id="107" name="MappedTickL"/>
          <p:cNvCxnSpPr/>
          <p:nvPr/>
        </p:nvCxnSpPr>
        <p:spPr>
          <a:xfrm flipV="1">
            <a:off x="492679" y="3628339"/>
            <a:ext cx="0" cy="47549"/>
          </a:xfrm>
          <a:prstGeom prst="line">
            <a:avLst/>
          </a:prstGeom>
          <a:ln w="9525">
            <a:solidFill>
              <a:srgbClr val="808080"/>
            </a:solidFill>
          </a:ln>
        </p:spPr>
      </p:cxnSp>
      <p:cxnSp>
        <p:nvCxnSpPr>
          <p:cNvPr id="108" name="MappedTickR"/>
          <p:cNvCxnSpPr/>
          <p:nvPr/>
        </p:nvCxnSpPr>
        <p:spPr>
          <a:xfrm flipV="1">
            <a:off x="5954676" y="3628339"/>
            <a:ext cx="0" cy="47549"/>
          </a:xfrm>
          <a:prstGeom prst="line">
            <a:avLst/>
          </a:prstGeom>
          <a:ln w="9525">
            <a:solidFill>
              <a:srgbClr val="808080"/>
            </a:solidFill>
          </a:ln>
        </p:spPr>
      </p:cxnSp>
      <p:sp>
        <p:nvSpPr>
          <p:cNvPr id="109" name="MappedBracketCaption"/>
          <p:cNvSpPr txBox="1"/>
          <p:nvPr/>
        </p:nvSpPr>
        <p:spPr>
          <a:xfrm>
            <a:off x="492679" y="3739896"/>
            <a:ext cx="5461998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0"/>
          <a:lstStyle/>
          <a:p>
            <a:pPr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SWBS-mapped: 82.7% of HII DDG ($3.27B) — </a:t>
            </a: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94.9% of mapped sits in Auxiliary · Propulsion · Electric Plant</a:t>
            </a:r>
          </a:p>
        </p:txBody>
      </p:sp>
      <p:cxnSp>
        <p:nvCxnSpPr>
          <p:cNvPr id="110" name="U00BracketRule"/>
          <p:cNvCxnSpPr/>
          <p:nvPr/>
        </p:nvCxnSpPr>
        <p:spPr>
          <a:xfrm>
            <a:off x="5954676" y="3675888"/>
            <a:ext cx="1142165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111" name="U00TickR"/>
          <p:cNvCxnSpPr/>
          <p:nvPr/>
        </p:nvCxnSpPr>
        <p:spPr>
          <a:xfrm flipV="1">
            <a:off x="7096841" y="3628339"/>
            <a:ext cx="0" cy="47549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2" name="U00BracketCaption"/>
          <p:cNvSpPr txBox="1"/>
          <p:nvPr/>
        </p:nvSpPr>
        <p:spPr>
          <a:xfrm>
            <a:off x="5954676" y="3739896"/>
            <a:ext cx="114216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tIns="18288" rIns="9144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U00: 17.3%</a:t>
            </a:r>
          </a:p>
          <a:p>
            <a:pPr algn="ctr"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no SWBS evidence</a:t>
            </a:r>
          </a:p>
        </p:txBody>
      </p:sp>
      <p:graphicFrame>
        <p:nvGraphicFramePr>
          <p:cNvPr id="113" name="SwbsReferenceTable"/>
          <p:cNvGraphicFramePr>
            <a:graphicFrameLocks noGrp="1"/>
          </p:cNvGraphicFramePr>
          <p:nvPr/>
        </p:nvGraphicFramePr>
        <p:xfrm>
          <a:off x="452628" y="4261104"/>
          <a:ext cx="6675120" cy="133502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92608"/>
                <a:gridCol w="3108960"/>
                <a:gridCol w="1627632"/>
                <a:gridCol w="1645920"/>
              </a:tblGrid>
              <a:tr h="25603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SWBS group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Observed $M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% of HII DDG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364D6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500 Auxiliary Systems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$1,105.6M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27.9%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 Propulsion Plant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$1,093.6M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27.6%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4C6C9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 Electric Plant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$895.8M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22.6%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 mapped groups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$177.9M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4.5%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23317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U00 — No SWBS evidence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$684.4M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17.3%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4" name="RailHeader"/>
          <p:cNvGraphicFramePr>
            <a:graphicFrameLocks noGrp="1"/>
          </p:cNvGraphicFramePr>
          <p:nvPr/>
        </p:nvGraphicFramePr>
        <p:xfrm>
          <a:off x="7360920" y="2560320"/>
          <a:ext cx="4370832" cy="274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370832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the mapped dollars are buying</a:t>
                      </a:r>
                    </a:p>
                  </a:txBody>
                  <a:tcPr marL="9144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5" name="CommentaryRail"/>
          <p:cNvSpPr txBox="1"/>
          <p:nvPr/>
        </p:nvSpPr>
        <p:spPr>
          <a:xfrm>
            <a:off x="7360920" y="2907792"/>
            <a:ext cx="4370832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>
              <a:lnSpc>
                <a:spcPct val="104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500 Auxiliary Systems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— 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cooling, control &amp; survivability</a:t>
            </a:r>
          </a:p>
          <a:p>
            <a:pPr marL="171450" indent="-1714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Cooling, air-conditioning and ventilation alone run to ~$484M (~15% of mapped dollars), and steering and ship-control add ~$141M — mission-enabling equipment, not a low-tech tail.</a:t>
            </a:r>
          </a:p>
          <a:p>
            <a:pPr marL="0" indent="0">
              <a:lnSpc>
                <a:spcPct val="104000"/>
              </a:lnSpc>
              <a:spcBef>
                <a:spcPts val="7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Propulsion Plant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— 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full drivetrain</a:t>
            </a:r>
          </a:p>
          <a:p>
            <a:pPr marL="171450" indent="-1714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dollars resolve into a full mechanical chain — gas turbines (~$552M), then reduction gears, shafting and propulsors (~$451M) — not a single prime-mover line item.</a:t>
            </a:r>
          </a:p>
          <a:p>
            <a:pPr marL="0" indent="0">
              <a:lnSpc>
                <a:spcPct val="104000"/>
              </a:lnSpc>
              <a:spcBef>
                <a:spcPts val="700"/>
              </a:spcBef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 Electric Plant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— 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Flight III power architecture</a:t>
            </a:r>
          </a:p>
          <a:p>
            <a:pPr marL="171450" indent="-1714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Spend splits into shipset-like generation (~$468M) and a broader distribution/conversion supply chain (~$409M) — the power-and-cooling architecture that Flight III radar loads require.</a:t>
            </a:r>
          </a:p>
          <a:p>
            <a:pPr marL="0" indent="0">
              <a:lnSpc>
                <a:spcPct val="104000"/>
              </a:lnSpc>
              <a:spcBef>
                <a:spcPts val="900"/>
              </a:spcBef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this way, each dominant SWBS group is a distinct shipbuilding demand cluster — a more actionable lens than an entity-level supplier archetype.</a:t>
            </a:r>
          </a:p>
        </p:txBody>
      </p:sp>
      <p:sp>
        <p:nvSpPr>
          <p:cNvPr id="9999" name="Source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Note: HII-Ingalls observed DDG-51 subawards, constant FY2026$; SWBS coverage = non-U00 dollars / total HII DDG dollars | Source: Project subaward workbook; USAspending.gov subaward records; SWBS ship-system crosswalk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Subaward Analysis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Methodology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DDG Hull Linkage Methodology | Exact hulls are assigned only when contract family and order evidence align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00" name="ApproachStepsHeader"/>
          <p:cNvSpPr txBox="1"/>
          <p:nvPr/>
        </p:nvSpPr>
        <p:spPr>
          <a:xfrm>
            <a:off x="477317" y="1225296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steps</a:t>
            </a:r>
          </a:p>
        </p:txBody>
      </p:sp>
      <p:cxnSp>
        <p:nvCxnSpPr>
          <p:cNvPr id="101" name="ApproachUnderline"/>
          <p:cNvCxnSpPr/>
          <p:nvPr/>
        </p:nvCxnSpPr>
        <p:spPr>
          <a:xfrm flipH="1">
            <a:off x="477317" y="1468526"/>
            <a:ext cx="2057400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02" name="ApproachStep"/>
          <p:cNvSpPr txBox="1"/>
          <p:nvPr/>
        </p:nvSpPr>
        <p:spPr>
          <a:xfrm>
            <a:off x="640080" y="1531620"/>
            <a:ext cx="1874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Define DDG subaward universe</a:t>
            </a:r>
          </a:p>
        </p:txBody>
      </p:sp>
      <p:sp>
        <p:nvSpPr>
          <p:cNvPr id="103" name="ApproachStep"/>
          <p:cNvSpPr txBox="1"/>
          <p:nvPr/>
        </p:nvSpPr>
        <p:spPr>
          <a:xfrm>
            <a:off x="640080" y="2162556"/>
            <a:ext cx="1874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Map prime contract to candidate hull family</a:t>
            </a:r>
          </a:p>
        </p:txBody>
      </p:sp>
      <p:sp>
        <p:nvSpPr>
          <p:cNvPr id="104" name="ApproachStep"/>
          <p:cNvSpPr txBox="1"/>
          <p:nvPr/>
        </p:nvSpPr>
        <p:spPr>
          <a:xfrm>
            <a:off x="640080" y="2793492"/>
            <a:ext cx="1874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Read order-level hull mentions</a:t>
            </a:r>
          </a:p>
        </p:txBody>
      </p:sp>
      <p:sp>
        <p:nvSpPr>
          <p:cNvPr id="105" name="ApproachStep"/>
          <p:cNvSpPr txBox="1"/>
          <p:nvPr/>
        </p:nvSpPr>
        <p:spPr>
          <a:xfrm>
            <a:off x="640080" y="3424428"/>
            <a:ext cx="1874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Compare hull evidence to contract family</a:t>
            </a:r>
          </a:p>
        </p:txBody>
      </p:sp>
      <p:sp>
        <p:nvSpPr>
          <p:cNvPr id="106" name="ApproachStep"/>
          <p:cNvSpPr txBox="1"/>
          <p:nvPr/>
        </p:nvSpPr>
        <p:spPr>
          <a:xfrm>
            <a:off x="640080" y="4055364"/>
            <a:ext cx="1874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Assign confidence tier and roll up exact matches</a:t>
            </a:r>
          </a:p>
        </p:txBody>
      </p:sp>
      <p:sp>
        <p:nvSpPr>
          <p:cNvPr id="107" name="EvidenceHeader"/>
          <p:cNvSpPr txBox="1"/>
          <p:nvPr/>
        </p:nvSpPr>
        <p:spPr>
          <a:xfrm>
            <a:off x="2743200" y="122529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evaluation</a:t>
            </a:r>
          </a:p>
        </p:txBody>
      </p:sp>
      <p:cxnSp>
        <p:nvCxnSpPr>
          <p:cNvPr id="108" name="EvidenceUnderline"/>
          <p:cNvCxnSpPr/>
          <p:nvPr/>
        </p:nvCxnSpPr>
        <p:spPr>
          <a:xfrm flipH="1">
            <a:off x="2743200" y="1468526"/>
            <a:ext cx="2743200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09" name="LayerALabel"/>
          <p:cNvSpPr txBox="1"/>
          <p:nvPr/>
        </p:nvSpPr>
        <p:spPr>
          <a:xfrm>
            <a:off x="2743200" y="179222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Layer A — Contract family</a:t>
            </a:r>
          </a:p>
        </p:txBody>
      </p:sp>
      <p:sp>
        <p:nvSpPr>
          <p:cNvPr id="110" name="LayerBLabel"/>
          <p:cNvSpPr txBox="1"/>
          <p:nvPr/>
        </p:nvSpPr>
        <p:spPr>
          <a:xfrm>
            <a:off x="2743200" y="321868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Layer B — Hull evidence</a:t>
            </a:r>
          </a:p>
        </p:txBody>
      </p:sp>
      <p:sp>
        <p:nvSpPr>
          <p:cNvPr id="111" name="EvidenceNode"/>
          <p:cNvSpPr txBox="1"/>
          <p:nvPr/>
        </p:nvSpPr>
        <p:spPr>
          <a:xfrm>
            <a:off x="2743200" y="2103120"/>
            <a:ext cx="1691640" cy="384048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PIID</a:t>
            </a:r>
          </a:p>
        </p:txBody>
      </p:sp>
      <p:sp>
        <p:nvSpPr>
          <p:cNvPr id="112" name="EvidenceNode"/>
          <p:cNvSpPr txBox="1"/>
          <p:nvPr/>
        </p:nvSpPr>
        <p:spPr>
          <a:xfrm>
            <a:off x="4709160" y="2103120"/>
            <a:ext cx="1783080" cy="384048"/>
          </a:xfrm>
          <a:prstGeom prst="rect">
            <a:avLst/>
          </a:prstGeom>
          <a:solidFill>
            <a:srgbClr val="B6C8D8"/>
          </a:solidFill>
          <a:ln w="3175">
            <a:solidFill>
              <a:srgbClr val="3D597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 hull family</a:t>
            </a:r>
          </a:p>
        </p:txBody>
      </p:sp>
      <p:sp>
        <p:nvSpPr>
          <p:cNvPr id="113" name="EvidenceNode"/>
          <p:cNvSpPr txBox="1"/>
          <p:nvPr/>
        </p:nvSpPr>
        <p:spPr>
          <a:xfrm>
            <a:off x="4709160" y="2578608"/>
            <a:ext cx="868680" cy="310896"/>
          </a:xfrm>
          <a:prstGeom prst="rect">
            <a:avLst/>
          </a:prstGeom>
          <a:solidFill>
            <a:srgbClr val="F2F2F2"/>
          </a:solidFill>
          <a:ln w="3175">
            <a:solidFill>
              <a:srgbClr val="D9D9D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Single-ship contract</a:t>
            </a:r>
          </a:p>
        </p:txBody>
      </p:sp>
      <p:sp>
        <p:nvSpPr>
          <p:cNvPr id="114" name="EvidenceNode"/>
          <p:cNvSpPr txBox="1"/>
          <p:nvPr/>
        </p:nvSpPr>
        <p:spPr>
          <a:xfrm>
            <a:off x="5623560" y="2578608"/>
            <a:ext cx="868680" cy="310896"/>
          </a:xfrm>
          <a:prstGeom prst="rect">
            <a:avLst/>
          </a:prstGeom>
          <a:solidFill>
            <a:srgbClr val="F2F2F2"/>
          </a:solidFill>
          <a:ln w="3175">
            <a:solidFill>
              <a:srgbClr val="D9D9D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MYP hull family</a:t>
            </a:r>
          </a:p>
        </p:txBody>
      </p:sp>
      <p:sp>
        <p:nvSpPr>
          <p:cNvPr id="115" name="EvidenceNode"/>
          <p:cNvSpPr txBox="1"/>
          <p:nvPr/>
        </p:nvSpPr>
        <p:spPr>
          <a:xfrm>
            <a:off x="2743200" y="3694176"/>
            <a:ext cx="1691640" cy="475488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Subaward order text</a:t>
            </a:r>
          </a:p>
        </p:txBody>
      </p:sp>
      <p:sp>
        <p:nvSpPr>
          <p:cNvPr id="116" name="EvidenceNode"/>
          <p:cNvSpPr txBox="1"/>
          <p:nvPr/>
        </p:nvSpPr>
        <p:spPr>
          <a:xfrm>
            <a:off x="4709160" y="3419856"/>
            <a:ext cx="1783080" cy="475488"/>
          </a:xfrm>
          <a:prstGeom prst="rect">
            <a:avLst/>
          </a:prstGeom>
          <a:solidFill>
            <a:srgbClr val="B6C8D8"/>
          </a:solidFill>
          <a:ln w="3175">
            <a:solidFill>
              <a:srgbClr val="3D597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Order-level hull mention</a:t>
            </a:r>
            <a:br/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Strongest direct signal</a:t>
            </a:r>
          </a:p>
        </p:txBody>
      </p:sp>
      <p:sp>
        <p:nvSpPr>
          <p:cNvPr id="117" name="EvidenceNode"/>
          <p:cNvSpPr txBox="1"/>
          <p:nvPr/>
        </p:nvSpPr>
        <p:spPr>
          <a:xfrm>
            <a:off x="4709160" y="3968496"/>
            <a:ext cx="1783080" cy="475488"/>
          </a:xfrm>
          <a:prstGeom prst="rect">
            <a:avLst/>
          </a:prstGeom>
          <a:solidFill>
            <a:srgbClr val="E2E9EF"/>
          </a:solidFill>
          <a:ln w="3175">
            <a:solidFill>
              <a:srgbClr val="3D597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Requirement-text mention</a:t>
            </a:r>
            <a:br/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Family-level signal</a:t>
            </a:r>
          </a:p>
        </p:txBody>
      </p:sp>
      <p:cxnSp>
        <p:nvCxnSpPr>
          <p:cNvPr id="118" name="LaneAArrow"/>
          <p:cNvCxnSpPr/>
          <p:nvPr/>
        </p:nvCxnSpPr>
        <p:spPr>
          <a:xfrm>
            <a:off x="4434840" y="2295144"/>
            <a:ext cx="27432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9" name="LaneBToOrderLevel"/>
          <p:cNvCxnSpPr/>
          <p:nvPr/>
        </p:nvCxnSpPr>
        <p:spPr>
          <a:xfrm flipV="1">
            <a:off x="4434840" y="3657600"/>
            <a:ext cx="274320" cy="27432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0" name="LaneBToRequirement"/>
          <p:cNvCxnSpPr/>
          <p:nvPr/>
        </p:nvCxnSpPr>
        <p:spPr>
          <a:xfrm>
            <a:off x="4434840" y="3931920"/>
            <a:ext cx="274320" cy="27432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1" name="FamilyToGate"/>
          <p:cNvCxnSpPr/>
          <p:nvPr/>
        </p:nvCxnSpPr>
        <p:spPr>
          <a:xfrm>
            <a:off x="6492240" y="2295144"/>
            <a:ext cx="539496" cy="53949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2" name="OrderLevelToGate"/>
          <p:cNvCxnSpPr/>
          <p:nvPr/>
        </p:nvCxnSpPr>
        <p:spPr>
          <a:xfrm flipV="1">
            <a:off x="6492240" y="3337560"/>
            <a:ext cx="539496" cy="32004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3" name="RequirementToGate"/>
          <p:cNvCxnSpPr/>
          <p:nvPr/>
        </p:nvCxnSpPr>
        <p:spPr>
          <a:xfrm flipV="1">
            <a:off x="6492240" y="3520440"/>
            <a:ext cx="539496" cy="6858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4" name="ConfidenceGate"/>
          <p:cNvSpPr txBox="1"/>
          <p:nvPr/>
        </p:nvSpPr>
        <p:spPr>
          <a:xfrm>
            <a:off x="7031736" y="2523744"/>
            <a:ext cx="1801368" cy="1143000"/>
          </a:xfrm>
          <a:prstGeom prst="rect">
            <a:avLst/>
          </a:prstGeom>
          <a:solidFill>
            <a:srgbClr val="263746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Confidence Gate</a:t>
            </a:r>
            <a:br/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Family + text align</a:t>
            </a:r>
            <a:br/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forced assignment</a:t>
            </a:r>
          </a:p>
        </p:txBody>
      </p:sp>
      <p:cxnSp>
        <p:nvCxnSpPr>
          <p:cNvPr id="125" name="GateToOutcomeTrunk"/>
          <p:cNvCxnSpPr/>
          <p:nvPr/>
        </p:nvCxnSpPr>
        <p:spPr>
          <a:xfrm>
            <a:off x="8833104" y="3095244"/>
            <a:ext cx="338328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6" name="OutcomeTrunk"/>
          <p:cNvCxnSpPr/>
          <p:nvPr/>
        </p:nvCxnSpPr>
        <p:spPr>
          <a:xfrm>
            <a:off x="9171432" y="1956816"/>
            <a:ext cx="0" cy="217627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7" name="OutcomeBranchAB"/>
          <p:cNvCxnSpPr/>
          <p:nvPr/>
        </p:nvCxnSpPr>
        <p:spPr>
          <a:xfrm>
            <a:off x="9171432" y="1956816"/>
            <a:ext cx="20116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8" name="OutcomeBranchCD"/>
          <p:cNvCxnSpPr/>
          <p:nvPr/>
        </p:nvCxnSpPr>
        <p:spPr>
          <a:xfrm>
            <a:off x="9171432" y="3049524"/>
            <a:ext cx="20116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9" name="OutcomeBranchX"/>
          <p:cNvCxnSpPr/>
          <p:nvPr/>
        </p:nvCxnSpPr>
        <p:spPr>
          <a:xfrm>
            <a:off x="9171432" y="4133088"/>
            <a:ext cx="201168" cy="0"/>
          </a:xfrm>
          <a:prstGeom prst="line">
            <a:avLst/>
          </a:prstGeom>
          <a:ln w="12700">
            <a:solidFill>
              <a:srgbClr val="C00000"/>
            </a:solidFill>
            <a:tailEnd type="triangle" w="med" len="med"/>
          </a:ln>
        </p:spPr>
      </p:cxnSp>
      <p:sp>
        <p:nvSpPr>
          <p:cNvPr id="130" name="OutcomeCard"/>
          <p:cNvSpPr txBox="1"/>
          <p:nvPr/>
        </p:nvSpPr>
        <p:spPr>
          <a:xfrm>
            <a:off x="9372600" y="1719072"/>
            <a:ext cx="1783080" cy="475488"/>
          </a:xfrm>
          <a:prstGeom prst="rect">
            <a:avLst/>
          </a:prstGeom>
          <a:solidFill>
            <a:srgbClr val="162029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/ B — Exact hull</a:t>
            </a:r>
            <a:br/>
            <a:r>
              <a:rPr lang="en-US" sz="8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Assigned to hull</a:t>
            </a:r>
          </a:p>
        </p:txBody>
      </p:sp>
      <p:sp>
        <p:nvSpPr>
          <p:cNvPr id="131" name="OutcomeCard"/>
          <p:cNvSpPr txBox="1"/>
          <p:nvPr/>
        </p:nvSpPr>
        <p:spPr>
          <a:xfrm>
            <a:off x="9372600" y="2811780"/>
            <a:ext cx="1783080" cy="475488"/>
          </a:xfrm>
          <a:prstGeom prst="rect">
            <a:avLst/>
          </a:prstGeom>
          <a:solidFill>
            <a:srgbClr val="E2E9EF"/>
          </a:solidFill>
          <a:ln w="3175">
            <a:solidFill>
              <a:srgbClr val="3D597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/ D — Family-level</a:t>
            </a:r>
            <a:br/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at contract family</a:t>
            </a:r>
          </a:p>
        </p:txBody>
      </p:sp>
      <p:sp>
        <p:nvSpPr>
          <p:cNvPr id="132" name="OutcomeCard"/>
          <p:cNvSpPr txBox="1"/>
          <p:nvPr/>
        </p:nvSpPr>
        <p:spPr>
          <a:xfrm>
            <a:off x="9372600" y="3895344"/>
            <a:ext cx="17830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X — Exception queue</a:t>
            </a:r>
            <a:br/>
            <a:r>
              <a:rPr lang="en-US" sz="800" i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Held out of roll-up</a:t>
            </a:r>
          </a:p>
        </p:txBody>
      </p:sp>
      <p:sp>
        <p:nvSpPr>
          <p:cNvPr id="133" name="ResultViewsCaption"/>
          <p:cNvSpPr txBox="1"/>
          <p:nvPr/>
        </p:nvSpPr>
        <p:spPr>
          <a:xfrm>
            <a:off x="2743200" y="4800600"/>
            <a:ext cx="4023360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Downstream result views</a:t>
            </a:r>
          </a:p>
        </p:txBody>
      </p:sp>
      <p:sp>
        <p:nvSpPr>
          <p:cNvPr id="134" name="ResultViewsSubcaption"/>
          <p:cNvSpPr txBox="1"/>
          <p:nvPr/>
        </p:nvSpPr>
        <p:spPr>
          <a:xfrm>
            <a:off x="6766560" y="4800600"/>
            <a:ext cx="4968850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Built from the linked subaward rows</a:t>
            </a:r>
          </a:p>
        </p:txBody>
      </p:sp>
      <p:graphicFrame>
        <p:nvGraphicFramePr>
          <p:cNvPr id="135" name="ResultViewsTable"/>
          <p:cNvGraphicFramePr>
            <a:graphicFrameLocks noGrp="1"/>
          </p:cNvGraphicFramePr>
          <p:nvPr/>
        </p:nvGraphicFramePr>
        <p:xfrm>
          <a:off x="2743200" y="5038344"/>
          <a:ext cx="8992210" cy="93268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788920"/>
                <a:gridCol w="3364992"/>
                <a:gridCol w="2838298"/>
              </a:tblGrid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Result view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enters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supports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Exact-hull spend summary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A/B rows only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Hull-level spend readout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Vendor × Hull exposure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1,193 rows · 281 vendors · 24 hulls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exposure by assigned hull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Vendor × Hull × SWBS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1,296 rows · HII-Ingalls only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Functional-system view by hull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Exception queue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63 rows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Human review; excluded from hull roll-ups</a:t>
                      </a:r>
                    </a:p>
                  </a:txBody>
                  <a:tcPr marL="45720" marR="4572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6" name="OutcomeFootnote"/>
          <p:cNvSpPr txBox="1"/>
          <p:nvPr/>
        </p:nvSpPr>
        <p:spPr>
          <a:xfrm>
            <a:off x="452628" y="6089904"/>
            <a:ext cx="112836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A and B populate an assigned hull; C and D are inferred at the contract family; X is multi-hull or conflicting and is held out of the roll-up.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| Across FY22-FY27, total ship spend narrows to an annualized ~$1.1B of outsourced work for DDG-51 and ~$3.0B for submarines.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graphicFrame>
        <p:nvGraphicFramePr>
          <p:cNvPr id="100" name="StepRationaleLedger"/>
          <p:cNvGraphicFramePr>
            <a:graphicFrameLocks noGrp="1"/>
          </p:cNvGraphicFramePr>
          <p:nvPr/>
        </p:nvGraphicFramePr>
        <p:xfrm>
          <a:off x="7434986" y="1266444"/>
          <a:ext cx="4300423" cy="4875581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81074"/>
                <a:gridCol w="3018434"/>
              </a:tblGrid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97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Ship Spend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In-Year Spend: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FY2022–FY2027 SCN end cost (P-5c discretionary); OBBBA adds two FY2026 DDG-51s ($5.4B) and a second FY2026 </a:t>
                      </a: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$4.6B)</a:t>
                      </a:r>
                    </a:p>
                    <a:p>
                      <a:pPr algn="l" marL="142875" indent="-142875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Advanced Procurement / Long-Lead Time Materials: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adds incremental FY2026 AP/LLTM ($1.8B); submarines add none (supplier long-lead is already inside Basic Construction)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Less: Government-Furnished Equipment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AFC2C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GFE (propulsion, electronics, and ordnance) the Navy buys directly and furnished to Primes </a:t>
                      </a:r>
                    </a:p>
                    <a:p>
                      <a:pPr algn="l" marL="142875" indent="-142875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 is non-addressable to outsourced Basic Construction players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Other non-BC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9A2B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engineering and program costs (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e.g., plans, change orders, and other non-construction activities) 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 these generally conducted by Primes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2551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720547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486D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construction the Primes perform in their own yards.</a:t>
                      </a:r>
                    </a:p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spend x the announced outside-yard share from DoD award place-of-performance data: ~25% DDG-51 (FY22 ships 22%), 34% </a:t>
                      </a: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/ 22% </a:t>
                      </a: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65013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1D4D6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The P-10 EOQ base is vendor-purchased material, so Primes retain none — $0 removed; the full $1.0B flows to Outsourced BC.</a:t>
                      </a:r>
                    </a:p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Submarines: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No AP/LLTM stream exists, so there is nothing to remove.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Outsourced 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1" name="StepRationaleLedger"/>
          <p:cNvGraphicFramePr>
            <a:graphicFrameLocks noGrp="1"/>
          </p:cNvGraphicFramePr>
          <p:nvPr/>
        </p:nvGraphicFramePr>
        <p:xfrm>
          <a:off x="452628" y="1266444"/>
          <a:ext cx="6712610" cy="235915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6712610"/>
              </a:tblGrid>
              <a:tr h="0"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Walk to Outsourced Basic Construction Spend ($B, cumulative FY22-FY27, FY26 $)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2" name="Chart"/>
          <p:cNvGraphicFramePr/>
          <p:nvPr/>
        </p:nvGraphicFramePr>
        <p:xfrm>
          <a:off x="4214470" y="1809598"/>
          <a:ext cx="2745943" cy="4330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3" name="Chart"/>
          <p:cNvGraphicFramePr/>
          <p:nvPr/>
        </p:nvGraphicFramePr>
        <p:xfrm>
          <a:off x="1422806" y="1811426"/>
          <a:ext cx="2745943" cy="4330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4" name="Straight Connector 16"/>
          <p:cNvCxnSpPr/>
          <p:nvPr/>
        </p:nvCxnSpPr>
        <p:spPr>
          <a:xfrm>
            <a:off x="6879031" y="2465222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05" name="Straight Connector 24"/>
          <p:cNvCxnSpPr/>
          <p:nvPr/>
        </p:nvCxnSpPr>
        <p:spPr>
          <a:xfrm>
            <a:off x="6331306" y="3019349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06" name="Straight Connector 25"/>
          <p:cNvCxnSpPr/>
          <p:nvPr/>
        </p:nvCxnSpPr>
        <p:spPr>
          <a:xfrm>
            <a:off x="6030468" y="3573475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07" name="Straight Connector 40"/>
          <p:cNvCxnSpPr/>
          <p:nvPr/>
        </p:nvCxnSpPr>
        <p:spPr>
          <a:xfrm>
            <a:off x="6030468" y="4129430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08" name="Straight Connector 42"/>
          <p:cNvCxnSpPr/>
          <p:nvPr/>
        </p:nvCxnSpPr>
        <p:spPr>
          <a:xfrm>
            <a:off x="4816145" y="4683557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09" name="Straight Connector 43"/>
          <p:cNvCxnSpPr/>
          <p:nvPr/>
        </p:nvCxnSpPr>
        <p:spPr>
          <a:xfrm>
            <a:off x="4816145" y="5236769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sp>
        <p:nvSpPr>
          <p:cNvPr id="110" name="Rectangle 44"/>
          <p:cNvSpPr txBox="1"/>
          <p:nvPr/>
        </p:nvSpPr>
        <p:spPr>
          <a:xfrm>
            <a:off x="4813402" y="4929530"/>
            <a:ext cx="6401" cy="308153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11" name="Straight Connector 27"/>
          <p:cNvCxnSpPr/>
          <p:nvPr/>
        </p:nvCxnSpPr>
        <p:spPr>
          <a:xfrm>
            <a:off x="4086454" y="2467051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12" name="Straight Connector 28"/>
          <p:cNvCxnSpPr/>
          <p:nvPr/>
        </p:nvCxnSpPr>
        <p:spPr>
          <a:xfrm>
            <a:off x="3209544" y="3021178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13" name="Straight Connector 36"/>
          <p:cNvCxnSpPr/>
          <p:nvPr/>
        </p:nvCxnSpPr>
        <p:spPr>
          <a:xfrm>
            <a:off x="3054096" y="3575304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14" name="Straight Connector 37"/>
          <p:cNvCxnSpPr/>
          <p:nvPr/>
        </p:nvCxnSpPr>
        <p:spPr>
          <a:xfrm>
            <a:off x="3054096" y="4130345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15" name="Straight Connector 38"/>
          <p:cNvCxnSpPr/>
          <p:nvPr/>
        </p:nvCxnSpPr>
        <p:spPr>
          <a:xfrm>
            <a:off x="1944929" y="4684471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16" name="Straight Connector 39"/>
          <p:cNvCxnSpPr/>
          <p:nvPr/>
        </p:nvCxnSpPr>
        <p:spPr>
          <a:xfrm>
            <a:off x="1944929" y="5238598"/>
            <a:ext cx="0" cy="24597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sp>
        <p:nvSpPr>
          <p:cNvPr id="117" name="Rectangle 48"/>
          <p:cNvSpPr txBox="1"/>
          <p:nvPr/>
        </p:nvSpPr>
        <p:spPr>
          <a:xfrm>
            <a:off x="1941271" y="4930445"/>
            <a:ext cx="6401" cy="308153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8" name="Text Placeholder 25"/>
          <p:cNvSpPr txBox="1"/>
          <p:nvPr/>
        </p:nvSpPr>
        <p:spPr>
          <a:xfrm>
            <a:off x="3997757" y="2236622"/>
            <a:ext cx="105156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9" name="ProgramChip"/>
          <p:cNvSpPr txBox="1"/>
          <p:nvPr/>
        </p:nvSpPr>
        <p:spPr>
          <a:xfrm>
            <a:off x="2046427" y="1587398"/>
            <a:ext cx="1900123" cy="198425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sp>
        <p:nvSpPr>
          <p:cNvPr id="120" name="ProgramChip"/>
          <p:cNvSpPr txBox="1"/>
          <p:nvPr/>
        </p:nvSpPr>
        <p:spPr>
          <a:xfrm>
            <a:off x="4952390" y="1587398"/>
            <a:ext cx="1900123" cy="198425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/ Columbia-class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2572207" y="1837030"/>
            <a:ext cx="800100" cy="170078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5439766" y="1837030"/>
            <a:ext cx="800100" cy="170078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3520440" y="1837030"/>
            <a:ext cx="800100" cy="170078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</a:t>
            </a:r>
          </a:p>
        </p:txBody>
      </p:sp>
      <p:sp>
        <p:nvSpPr>
          <p:cNvPr id="124" name="Sources"/>
          <p:cNvSpPr txBox="1"/>
          <p:nvPr/>
        </p:nvSpPr>
        <p:spPr>
          <a:xfrm>
            <a:off x="452628" y="6122822"/>
            <a:ext cx="11282782" cy="31638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DoD contract award announcements (announced place-of-performance)</a:t>
            </a:r>
          </a:p>
        </p:txBody>
      </p:sp>
      <p:sp>
        <p:nvSpPr>
          <p:cNvPr id="125" name="AnnualizedCallout"/>
          <p:cNvSpPr txBox="1"/>
          <p:nvPr/>
        </p:nvSpPr>
        <p:spPr>
          <a:xfrm>
            <a:off x="2992831" y="5224882"/>
            <a:ext cx="1150315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~$1.1B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sp>
        <p:nvSpPr>
          <p:cNvPr id="126" name="AnnualizedCallout"/>
          <p:cNvSpPr txBox="1"/>
          <p:nvPr/>
        </p:nvSpPr>
        <p:spPr>
          <a:xfrm>
            <a:off x="6092647" y="5224882"/>
            <a:ext cx="1150315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~$3.0B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cxnSp>
        <p:nvCxnSpPr>
          <p:cNvPr id="127" name="Straight Connector 18"/>
          <p:cNvCxnSpPr/>
          <p:nvPr/>
        </p:nvCxnSpPr>
        <p:spPr>
          <a:xfrm flipV="1">
            <a:off x="4191610" y="2040026"/>
            <a:ext cx="0" cy="3845052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</p:cxnSp>
      <p:sp>
        <p:nvSpPr>
          <p:cNvPr id="128" name="Label"/>
          <p:cNvSpPr txBox="1"/>
          <p:nvPr/>
        </p:nvSpPr>
        <p:spPr>
          <a:xfrm>
            <a:off x="452628" y="2197303"/>
            <a:ext cx="1399946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Spend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452628" y="2752344"/>
            <a:ext cx="1399946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GFE</a:t>
            </a:r>
          </a:p>
        </p:txBody>
      </p:sp>
      <p:sp>
        <p:nvSpPr>
          <p:cNvPr id="130" name="Label"/>
          <p:cNvSpPr txBox="1"/>
          <p:nvPr/>
        </p:nvSpPr>
        <p:spPr>
          <a:xfrm>
            <a:off x="452628" y="3308299"/>
            <a:ext cx="1399946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Other non-BC</a:t>
            </a:r>
          </a:p>
        </p:txBody>
      </p:sp>
      <p:sp>
        <p:nvSpPr>
          <p:cNvPr id="131" name="Label"/>
          <p:cNvSpPr txBox="1"/>
          <p:nvPr/>
        </p:nvSpPr>
        <p:spPr>
          <a:xfrm>
            <a:off x="452628" y="3864254"/>
            <a:ext cx="1399946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</p:txBody>
      </p:sp>
      <p:sp>
        <p:nvSpPr>
          <p:cNvPr id="132" name="Label"/>
          <p:cNvSpPr txBox="1"/>
          <p:nvPr/>
        </p:nvSpPr>
        <p:spPr>
          <a:xfrm>
            <a:off x="452628" y="4421124"/>
            <a:ext cx="1399946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 BC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452628" y="5532120"/>
            <a:ext cx="1399946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BC</a:t>
            </a:r>
          </a:p>
        </p:txBody>
      </p:sp>
      <p:sp>
        <p:nvSpPr>
          <p:cNvPr id="134" name="StepLabel"/>
          <p:cNvSpPr txBox="1"/>
          <p:nvPr/>
        </p:nvSpPr>
        <p:spPr>
          <a:xfrm>
            <a:off x="452628" y="4977079"/>
            <a:ext cx="1399946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</a:t>
            </a:r>
            <a:br/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Outsourced BC Annual TAM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(Annual TAM) | After averaging ~$3.5B through FY2025, demand peaks at ~$5.5B in FY2024 and FY2026 and is expected to hold ~$4.3-5.7B a year through FY2031.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graphicFrame>
        <p:nvGraphicFramePr>
          <p:cNvPr id="100" name="BandCommentary"/>
          <p:cNvGraphicFramePr>
            <a:graphicFrameLocks noGrp="1"/>
          </p:cNvGraphicFramePr>
          <p:nvPr/>
        </p:nvGraphicFramePr>
        <p:xfrm>
          <a:off x="452628" y="4996282"/>
          <a:ext cx="11282782" cy="142097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769010"/>
                <a:gridCol w="3945636"/>
                <a:gridCol w="6567221"/>
              </a:tblGrid>
              <a:tr h="61356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Funding: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funds annually (2/yr; 1x in FY25); 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funds biennially (FY24 in window)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outsourced ~19-27% per year (FY22-25 avg. ~24%); 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~13% (FY24)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Funding: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OBBBA adds $4.6B for a second 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in FY26 (Sec. 20002(16)); FYDP calls for 1x 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p.a. from FY26 and 2x 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p.a. from FY27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Lower bound reflects FY22–25 avg. rate; Upper bound assumes penetration grows ~1.8 ppts p.a. for 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and ~1.0 ppts p.a. for 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(~7% CAGR), towards ~31% (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) / ~17% (</a:t>
                      </a: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) targets, driven by “strategically outsourcing workload to qualified suppliers” (PB27 SCN, Columbia P-10)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132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Funding: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Procuring at 2-3x per year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Outsourced 11-15% per year (FY22–25 avg. ~14%)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Funding: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OBBBA adds $5.4B for two additional DDG-51s in FY26 (Sec. 20002(17)); FYDP calls for ~1.5-ship buys p.a. FY27-FY31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FY26 spike driven by OBBBA-related EOQ AP/LLTM (vendor-purchased LLTM bought ahead of the FY27-31 ramp flows almost entirely to suppliers); FY27–31 lower bound reflects FY22–25 avg. rate (i.e., reversion to mean); FY27-31 upper bound assumes ~1.1 ppts p.a. (~7% CAGR) towards a ~19% target using FY22-25 avg. as baseline, driven by stated intent to grow outsourced manhours ~30%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1" name="AnnualTAMChart"/>
          <p:cNvGraphicFramePr/>
          <p:nvPr/>
        </p:nvGraphicFramePr>
        <p:xfrm>
          <a:off x="646481" y="1574597"/>
          <a:ext cx="11126419" cy="2469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2" name="ChartTitle"/>
          <p:cNvSpPr txBox="1"/>
          <p:nvPr/>
        </p:nvSpPr>
        <p:spPr>
          <a:xfrm>
            <a:off x="748894" y="1317650"/>
            <a:ext cx="2978201" cy="304495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Basic Construction TAM ($B, FY26 $)</a:t>
            </a:r>
          </a:p>
          <a:p>
            <a:pPr marL="0" indent="0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3" name="Sources"/>
          <p:cNvSpPr txBox="1"/>
          <p:nvPr/>
        </p:nvSpPr>
        <p:spPr>
          <a:xfrm>
            <a:off x="452628" y="6380683"/>
            <a:ext cx="4630522" cy="46725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OUSD(C) Green Book Procurement deflators; Navy Shipbuilding Plan; HII FY24 Q3 / FY25 Q4 / FY26 Q1 earnings calls</a:t>
            </a:r>
          </a:p>
        </p:txBody>
      </p:sp>
      <p:sp>
        <p:nvSpPr>
          <p:cNvPr id="104" name="ForecastRegionFrame"/>
          <p:cNvSpPr txBox="1"/>
          <p:nvPr/>
        </p:nvSpPr>
        <p:spPr>
          <a:xfrm>
            <a:off x="5144414" y="1698041"/>
            <a:ext cx="6667805" cy="325435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Forecasted</a:t>
            </a:r>
          </a:p>
        </p:txBody>
      </p:sp>
      <p:cxnSp>
        <p:nvCxnSpPr>
          <p:cNvPr id="105" name="RetainedSpendOutlineRule01"/>
          <p:cNvCxnSpPr/>
          <p:nvPr/>
        </p:nvCxnSpPr>
        <p:spPr>
          <a:xfrm>
            <a:off x="11417198" y="2523744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06" name="RetainedSpendOutlineRule02"/>
          <p:cNvCxnSpPr/>
          <p:nvPr/>
        </p:nvCxnSpPr>
        <p:spPr>
          <a:xfrm>
            <a:off x="11417198" y="3599078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07" name="RetainedSpendOutlineRule03"/>
          <p:cNvCxnSpPr/>
          <p:nvPr/>
        </p:nvCxnSpPr>
        <p:spPr>
          <a:xfrm>
            <a:off x="11417198" y="3426257"/>
            <a:ext cx="0" cy="172822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08" name="RetainedSpendOutlineRule04"/>
          <p:cNvCxnSpPr/>
          <p:nvPr/>
        </p:nvCxnSpPr>
        <p:spPr>
          <a:xfrm>
            <a:off x="11417198" y="2523744"/>
            <a:ext cx="0" cy="10973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09" name="RetainedSpendOutlineRule05"/>
          <p:cNvCxnSpPr/>
          <p:nvPr/>
        </p:nvCxnSpPr>
        <p:spPr>
          <a:xfrm>
            <a:off x="11690604" y="2523744"/>
            <a:ext cx="0" cy="107442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10" name="RetainedSpendOutlineRule06"/>
          <p:cNvCxnSpPr/>
          <p:nvPr/>
        </p:nvCxnSpPr>
        <p:spPr>
          <a:xfrm>
            <a:off x="11142878" y="2535631"/>
            <a:ext cx="274320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11" name="RetainedSpendOutlineRule07"/>
          <p:cNvCxnSpPr/>
          <p:nvPr/>
        </p:nvCxnSpPr>
        <p:spPr>
          <a:xfrm>
            <a:off x="11142878" y="3426257"/>
            <a:ext cx="274320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12" name="RetainedSpendOutlineRule08"/>
          <p:cNvCxnSpPr/>
          <p:nvPr/>
        </p:nvCxnSpPr>
        <p:spPr>
          <a:xfrm>
            <a:off x="11142878" y="2535631"/>
            <a:ext cx="0" cy="439826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13" name="RetainedSpendOutlineRule09"/>
          <p:cNvCxnSpPr/>
          <p:nvPr/>
        </p:nvCxnSpPr>
        <p:spPr>
          <a:xfrm>
            <a:off x="11417198" y="2535631"/>
            <a:ext cx="0" cy="890626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sp>
        <p:nvSpPr>
          <p:cNvPr id="114" name="RetainedSpendOutlineBox"/>
          <p:cNvSpPr txBox="1"/>
          <p:nvPr/>
        </p:nvSpPr>
        <p:spPr>
          <a:xfrm>
            <a:off x="10869473" y="2974543"/>
            <a:ext cx="273406" cy="687629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5" name="RetainedSpendOutlineBox"/>
          <p:cNvSpPr txBox="1"/>
          <p:nvPr/>
        </p:nvSpPr>
        <p:spPr>
          <a:xfrm>
            <a:off x="9774022" y="3000146"/>
            <a:ext cx="274320" cy="676656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6" name="RetainedSpendOutlineBox"/>
          <p:cNvSpPr txBox="1"/>
          <p:nvPr/>
        </p:nvSpPr>
        <p:spPr>
          <a:xfrm>
            <a:off x="8680399" y="3286354"/>
            <a:ext cx="273406" cy="446227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7" name="RetainedSpendOutlineBox"/>
          <p:cNvSpPr txBox="1"/>
          <p:nvPr/>
        </p:nvSpPr>
        <p:spPr>
          <a:xfrm>
            <a:off x="7584948" y="3299155"/>
            <a:ext cx="274320" cy="441655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8" name="RetainedSpendOutlineBox"/>
          <p:cNvSpPr txBox="1"/>
          <p:nvPr/>
        </p:nvSpPr>
        <p:spPr>
          <a:xfrm>
            <a:off x="6491326" y="3257093"/>
            <a:ext cx="273406" cy="471830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9" name="RetainedSpendOutlineBox"/>
          <p:cNvSpPr txBox="1"/>
          <p:nvPr/>
        </p:nvSpPr>
        <p:spPr>
          <a:xfrm>
            <a:off x="5395874" y="3051353"/>
            <a:ext cx="274320" cy="508406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0" name="RetainedSpendOutlineBox"/>
          <p:cNvSpPr txBox="1"/>
          <p:nvPr/>
        </p:nvSpPr>
        <p:spPr>
          <a:xfrm>
            <a:off x="4302252" y="2740457"/>
            <a:ext cx="273406" cy="912571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1" name="RetainedSpendOutlineBox"/>
          <p:cNvSpPr txBox="1"/>
          <p:nvPr/>
        </p:nvSpPr>
        <p:spPr>
          <a:xfrm>
            <a:off x="3206801" y="3051353"/>
            <a:ext cx="273406" cy="651053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2" name="RetainedSpendOutlineBox"/>
          <p:cNvSpPr txBox="1"/>
          <p:nvPr/>
        </p:nvSpPr>
        <p:spPr>
          <a:xfrm>
            <a:off x="2113178" y="2674620"/>
            <a:ext cx="273406" cy="977494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RetainedSpendOutlineBox"/>
          <p:cNvSpPr txBox="1"/>
          <p:nvPr/>
        </p:nvSpPr>
        <p:spPr>
          <a:xfrm>
            <a:off x="1017727" y="3215945"/>
            <a:ext cx="273406" cy="539496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4" name="RetainedSpendOutlineBox"/>
          <p:cNvSpPr txBox="1"/>
          <p:nvPr/>
        </p:nvSpPr>
        <p:spPr>
          <a:xfrm>
            <a:off x="10079431" y="1530706"/>
            <a:ext cx="142646" cy="106070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25" name="RetainedSpendOutlineRule10"/>
          <p:cNvCxnSpPr/>
          <p:nvPr/>
        </p:nvCxnSpPr>
        <p:spPr>
          <a:xfrm>
            <a:off x="10321747" y="2525573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26" name="RetainedSpendOutlineRule11"/>
          <p:cNvCxnSpPr/>
          <p:nvPr/>
        </p:nvCxnSpPr>
        <p:spPr>
          <a:xfrm>
            <a:off x="10321747" y="3612794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27" name="RetainedSpendOutlineRule12"/>
          <p:cNvCxnSpPr/>
          <p:nvPr/>
        </p:nvCxnSpPr>
        <p:spPr>
          <a:xfrm>
            <a:off x="10321747" y="2525573"/>
            <a:ext cx="0" cy="3200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28" name="RetainedSpendOutlineRule13"/>
          <p:cNvCxnSpPr/>
          <p:nvPr/>
        </p:nvCxnSpPr>
        <p:spPr>
          <a:xfrm>
            <a:off x="10321747" y="3457346"/>
            <a:ext cx="0" cy="155448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29" name="RetainedSpendOutlineRule14"/>
          <p:cNvCxnSpPr/>
          <p:nvPr/>
        </p:nvCxnSpPr>
        <p:spPr>
          <a:xfrm>
            <a:off x="10595153" y="2525573"/>
            <a:ext cx="0" cy="1087222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30" name="RetainedSpendOutlineRule15"/>
          <p:cNvCxnSpPr/>
          <p:nvPr/>
        </p:nvCxnSpPr>
        <p:spPr>
          <a:xfrm>
            <a:off x="10049256" y="2557577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31" name="RetainedSpendOutlineRule16"/>
          <p:cNvCxnSpPr/>
          <p:nvPr/>
        </p:nvCxnSpPr>
        <p:spPr>
          <a:xfrm>
            <a:off x="10049256" y="2557577"/>
            <a:ext cx="0" cy="44257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32" name="RetainedSpendOutlineRule17"/>
          <p:cNvCxnSpPr/>
          <p:nvPr/>
        </p:nvCxnSpPr>
        <p:spPr>
          <a:xfrm>
            <a:off x="10321747" y="2557577"/>
            <a:ext cx="0" cy="89977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33" name="RetainedSpendOutlineRule18"/>
          <p:cNvCxnSpPr/>
          <p:nvPr/>
        </p:nvCxnSpPr>
        <p:spPr>
          <a:xfrm>
            <a:off x="10049256" y="3457346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34" name="RetainedSpendOutlineRule19"/>
          <p:cNvCxnSpPr/>
          <p:nvPr/>
        </p:nvCxnSpPr>
        <p:spPr>
          <a:xfrm>
            <a:off x="9228125" y="2508199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35" name="RetainedSpendOutlineRule20"/>
          <p:cNvCxnSpPr/>
          <p:nvPr/>
        </p:nvCxnSpPr>
        <p:spPr>
          <a:xfrm>
            <a:off x="9228125" y="3624682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36" name="RetainedSpendOutlineRule21"/>
          <p:cNvCxnSpPr/>
          <p:nvPr/>
        </p:nvCxnSpPr>
        <p:spPr>
          <a:xfrm>
            <a:off x="9228125" y="3441802"/>
            <a:ext cx="0" cy="18288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37" name="RetainedSpendOutlineRule22"/>
          <p:cNvCxnSpPr/>
          <p:nvPr/>
        </p:nvCxnSpPr>
        <p:spPr>
          <a:xfrm>
            <a:off x="9501530" y="2508199"/>
            <a:ext cx="0" cy="1115568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38" name="RetainedSpendOutlineRule23"/>
          <p:cNvCxnSpPr/>
          <p:nvPr/>
        </p:nvCxnSpPr>
        <p:spPr>
          <a:xfrm>
            <a:off x="8953805" y="2414930"/>
            <a:ext cx="274320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39" name="RetainedSpendOutlineRule24"/>
          <p:cNvCxnSpPr/>
          <p:nvPr/>
        </p:nvCxnSpPr>
        <p:spPr>
          <a:xfrm>
            <a:off x="8953805" y="3441802"/>
            <a:ext cx="274320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40" name="RetainedSpendOutlineRule25"/>
          <p:cNvCxnSpPr/>
          <p:nvPr/>
        </p:nvCxnSpPr>
        <p:spPr>
          <a:xfrm>
            <a:off x="8953805" y="2414930"/>
            <a:ext cx="0" cy="871423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41" name="RetainedSpendOutlineRule26"/>
          <p:cNvCxnSpPr/>
          <p:nvPr/>
        </p:nvCxnSpPr>
        <p:spPr>
          <a:xfrm>
            <a:off x="9228125" y="2414930"/>
            <a:ext cx="0" cy="1026871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42" name="RetainedSpendOutlineRule27"/>
          <p:cNvCxnSpPr/>
          <p:nvPr/>
        </p:nvCxnSpPr>
        <p:spPr>
          <a:xfrm>
            <a:off x="8406079" y="2510028"/>
            <a:ext cx="0" cy="1127455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43" name="RetainedSpendOutlineRule28"/>
          <p:cNvCxnSpPr/>
          <p:nvPr/>
        </p:nvCxnSpPr>
        <p:spPr>
          <a:xfrm>
            <a:off x="8132674" y="3452774"/>
            <a:ext cx="0" cy="18379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44" name="RetainedSpendOutlineRule29"/>
          <p:cNvCxnSpPr/>
          <p:nvPr/>
        </p:nvCxnSpPr>
        <p:spPr>
          <a:xfrm>
            <a:off x="8132674" y="3636569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45" name="RetainedSpendOutlineRule30"/>
          <p:cNvCxnSpPr/>
          <p:nvPr/>
        </p:nvCxnSpPr>
        <p:spPr>
          <a:xfrm>
            <a:off x="8132674" y="2510028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46" name="RetainedSpendOutlineRule31"/>
          <p:cNvCxnSpPr/>
          <p:nvPr/>
        </p:nvCxnSpPr>
        <p:spPr>
          <a:xfrm>
            <a:off x="8132674" y="2360981"/>
            <a:ext cx="0" cy="1091794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47" name="RetainedSpendOutlineRule32"/>
          <p:cNvCxnSpPr/>
          <p:nvPr/>
        </p:nvCxnSpPr>
        <p:spPr>
          <a:xfrm>
            <a:off x="7859268" y="2360981"/>
            <a:ext cx="0" cy="938174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48" name="RetainedSpendOutlineRule33"/>
          <p:cNvCxnSpPr/>
          <p:nvPr/>
        </p:nvCxnSpPr>
        <p:spPr>
          <a:xfrm>
            <a:off x="7859268" y="3452774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49" name="RetainedSpendOutlineRule34"/>
          <p:cNvCxnSpPr/>
          <p:nvPr/>
        </p:nvCxnSpPr>
        <p:spPr>
          <a:xfrm>
            <a:off x="7859268" y="2360981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50" name="RetainedSpendOutlineRule35"/>
          <p:cNvCxnSpPr/>
          <p:nvPr/>
        </p:nvCxnSpPr>
        <p:spPr>
          <a:xfrm>
            <a:off x="7037222" y="3621024"/>
            <a:ext cx="274320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51" name="RetainedSpendOutlineRule36"/>
          <p:cNvCxnSpPr/>
          <p:nvPr/>
        </p:nvCxnSpPr>
        <p:spPr>
          <a:xfrm>
            <a:off x="7037222" y="3420770"/>
            <a:ext cx="0" cy="200254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52" name="RetainedSpendOutlineRule37"/>
          <p:cNvCxnSpPr/>
          <p:nvPr/>
        </p:nvCxnSpPr>
        <p:spPr>
          <a:xfrm>
            <a:off x="7312457" y="2436876"/>
            <a:ext cx="0" cy="1184148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53" name="RetainedSpendOutlineRule38"/>
          <p:cNvCxnSpPr/>
          <p:nvPr/>
        </p:nvCxnSpPr>
        <p:spPr>
          <a:xfrm>
            <a:off x="7037222" y="2436876"/>
            <a:ext cx="274320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54" name="RetainedSpendOutlineRule39"/>
          <p:cNvCxnSpPr/>
          <p:nvPr/>
        </p:nvCxnSpPr>
        <p:spPr>
          <a:xfrm>
            <a:off x="7037222" y="2311603"/>
            <a:ext cx="0" cy="1110082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55" name="RetainedSpendOutlineRule40"/>
          <p:cNvCxnSpPr/>
          <p:nvPr/>
        </p:nvCxnSpPr>
        <p:spPr>
          <a:xfrm>
            <a:off x="6764731" y="2311603"/>
            <a:ext cx="0" cy="946404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56" name="RetainedSpendOutlineRule41"/>
          <p:cNvCxnSpPr/>
          <p:nvPr/>
        </p:nvCxnSpPr>
        <p:spPr>
          <a:xfrm>
            <a:off x="6764731" y="3420770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57" name="RetainedSpendOutlineRule42"/>
          <p:cNvCxnSpPr/>
          <p:nvPr/>
        </p:nvCxnSpPr>
        <p:spPr>
          <a:xfrm>
            <a:off x="6764731" y="2311603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58" name="RetainedSpendOutlineRule43"/>
          <p:cNvCxnSpPr/>
          <p:nvPr/>
        </p:nvCxnSpPr>
        <p:spPr>
          <a:xfrm>
            <a:off x="6217006" y="2372868"/>
            <a:ext cx="0" cy="1233526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59" name="RetainedSpendOutlineRule44"/>
          <p:cNvCxnSpPr/>
          <p:nvPr/>
        </p:nvCxnSpPr>
        <p:spPr>
          <a:xfrm>
            <a:off x="5943600" y="3552444"/>
            <a:ext cx="0" cy="5395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60" name="RetainedSpendOutlineRule45"/>
          <p:cNvCxnSpPr/>
          <p:nvPr/>
        </p:nvCxnSpPr>
        <p:spPr>
          <a:xfrm>
            <a:off x="5943600" y="2372868"/>
            <a:ext cx="0" cy="101498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61" name="RetainedSpendOutlineRule46"/>
          <p:cNvCxnSpPr/>
          <p:nvPr/>
        </p:nvCxnSpPr>
        <p:spPr>
          <a:xfrm>
            <a:off x="5943600" y="3606394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62" name="RetainedSpendOutlineRule47"/>
          <p:cNvCxnSpPr/>
          <p:nvPr/>
        </p:nvCxnSpPr>
        <p:spPr>
          <a:xfrm>
            <a:off x="5943600" y="2372868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63" name="RetainedSpendOutlineRule48"/>
          <p:cNvCxnSpPr/>
          <p:nvPr/>
        </p:nvCxnSpPr>
        <p:spPr>
          <a:xfrm>
            <a:off x="5670194" y="2475281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64" name="RetainedSpendOutlineRule49"/>
          <p:cNvCxnSpPr/>
          <p:nvPr/>
        </p:nvCxnSpPr>
        <p:spPr>
          <a:xfrm>
            <a:off x="5670194" y="3552444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65" name="RetainedSpendOutlineRule50"/>
          <p:cNvCxnSpPr/>
          <p:nvPr/>
        </p:nvCxnSpPr>
        <p:spPr>
          <a:xfrm>
            <a:off x="5943600" y="2475281"/>
            <a:ext cx="0" cy="1078078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66" name="RetainedSpendOutlineRule51"/>
          <p:cNvCxnSpPr/>
          <p:nvPr/>
        </p:nvCxnSpPr>
        <p:spPr>
          <a:xfrm>
            <a:off x="5670194" y="2475281"/>
            <a:ext cx="0" cy="576072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67" name="RetainedSpendOutlineRule52"/>
          <p:cNvCxnSpPr/>
          <p:nvPr/>
        </p:nvCxnSpPr>
        <p:spPr>
          <a:xfrm>
            <a:off x="4574743" y="3570732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68" name="RetainedSpendOutlineRule53"/>
          <p:cNvCxnSpPr/>
          <p:nvPr/>
        </p:nvCxnSpPr>
        <p:spPr>
          <a:xfrm>
            <a:off x="4574743" y="2514600"/>
            <a:ext cx="0" cy="225857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69" name="RetainedSpendOutlineRule54"/>
          <p:cNvCxnSpPr/>
          <p:nvPr/>
        </p:nvCxnSpPr>
        <p:spPr>
          <a:xfrm>
            <a:off x="4848149" y="2514600"/>
            <a:ext cx="0" cy="1056132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70" name="RetainedSpendOutlineRule55"/>
          <p:cNvCxnSpPr/>
          <p:nvPr/>
        </p:nvCxnSpPr>
        <p:spPr>
          <a:xfrm>
            <a:off x="4574743" y="2514600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71" name="RetainedSpendOutlineRule56"/>
          <p:cNvCxnSpPr/>
          <p:nvPr/>
        </p:nvCxnSpPr>
        <p:spPr>
          <a:xfrm>
            <a:off x="3754526" y="2322576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72" name="RetainedSpendOutlineRule57"/>
          <p:cNvCxnSpPr/>
          <p:nvPr/>
        </p:nvCxnSpPr>
        <p:spPr>
          <a:xfrm>
            <a:off x="3754526" y="3624682"/>
            <a:ext cx="273406" cy="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73" name="RetainedSpendOutlineRule58"/>
          <p:cNvCxnSpPr/>
          <p:nvPr/>
        </p:nvCxnSpPr>
        <p:spPr>
          <a:xfrm>
            <a:off x="3754526" y="3387852"/>
            <a:ext cx="0" cy="236830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74" name="RetainedSpendOutlineRule59"/>
          <p:cNvCxnSpPr/>
          <p:nvPr/>
        </p:nvCxnSpPr>
        <p:spPr>
          <a:xfrm>
            <a:off x="4027932" y="2322576"/>
            <a:ext cx="0" cy="1302106"/>
          </a:xfrm>
          <a:prstGeom prst="line">
            <a:avLst/>
          </a:prstGeom>
          <a:ln w="3175">
            <a:solidFill>
              <a:srgbClr val="162029"/>
            </a:solidFill>
            <a:prstDash val="lgDash"/>
          </a:ln>
        </p:spPr>
      </p:cxnSp>
      <p:cxnSp>
        <p:nvCxnSpPr>
          <p:cNvPr id="175" name="RetainedSpendOutlineRule60"/>
          <p:cNvCxnSpPr/>
          <p:nvPr/>
        </p:nvCxnSpPr>
        <p:spPr>
          <a:xfrm>
            <a:off x="3480206" y="2227478"/>
            <a:ext cx="274320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76" name="RetainedSpendOutlineRule61"/>
          <p:cNvCxnSpPr/>
          <p:nvPr/>
        </p:nvCxnSpPr>
        <p:spPr>
          <a:xfrm>
            <a:off x="3480206" y="2227478"/>
            <a:ext cx="0" cy="823874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77" name="RetainedSpendOutlineRule62"/>
          <p:cNvCxnSpPr/>
          <p:nvPr/>
        </p:nvCxnSpPr>
        <p:spPr>
          <a:xfrm>
            <a:off x="3754526" y="2227478"/>
            <a:ext cx="0" cy="1160374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78" name="RetainedSpendOutlineRule63"/>
          <p:cNvCxnSpPr/>
          <p:nvPr/>
        </p:nvCxnSpPr>
        <p:spPr>
          <a:xfrm>
            <a:off x="3480206" y="3387852"/>
            <a:ext cx="274320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79" name="RetainedSpendOutlineRule64"/>
          <p:cNvCxnSpPr/>
          <p:nvPr/>
        </p:nvCxnSpPr>
        <p:spPr>
          <a:xfrm>
            <a:off x="2659075" y="2775204"/>
            <a:ext cx="0" cy="795528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80" name="RetainedSpendOutlineRule65"/>
          <p:cNvCxnSpPr/>
          <p:nvPr/>
        </p:nvCxnSpPr>
        <p:spPr>
          <a:xfrm>
            <a:off x="2385670" y="3570732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81" name="RetainedSpendOutlineRule66"/>
          <p:cNvCxnSpPr/>
          <p:nvPr/>
        </p:nvCxnSpPr>
        <p:spPr>
          <a:xfrm>
            <a:off x="2385670" y="2775204"/>
            <a:ext cx="273406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82" name="RetainedSpendOutlineRule67"/>
          <p:cNvCxnSpPr/>
          <p:nvPr/>
        </p:nvCxnSpPr>
        <p:spPr>
          <a:xfrm>
            <a:off x="1290218" y="2795321"/>
            <a:ext cx="274320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83" name="RetainedSpendOutlineRule68"/>
          <p:cNvCxnSpPr/>
          <p:nvPr/>
        </p:nvCxnSpPr>
        <p:spPr>
          <a:xfrm>
            <a:off x="1290218" y="3579876"/>
            <a:ext cx="274320" cy="0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84" name="RetainedSpendOutlineRule69"/>
          <p:cNvCxnSpPr/>
          <p:nvPr/>
        </p:nvCxnSpPr>
        <p:spPr>
          <a:xfrm>
            <a:off x="1290218" y="2795321"/>
            <a:ext cx="0" cy="420624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cxnSp>
        <p:nvCxnSpPr>
          <p:cNvPr id="185" name="RetainedSpendOutlineRule70"/>
          <p:cNvCxnSpPr/>
          <p:nvPr/>
        </p:nvCxnSpPr>
        <p:spPr>
          <a:xfrm>
            <a:off x="1565453" y="2795321"/>
            <a:ext cx="0" cy="784555"/>
          </a:xfrm>
          <a:prstGeom prst="line">
            <a:avLst/>
          </a:prstGeom>
          <a:ln w="6350">
            <a:solidFill>
              <a:srgbClr val="162029"/>
            </a:solidFill>
            <a:prstDash val="lgDash"/>
          </a:ln>
        </p:spPr>
      </p:cxnSp>
      <p:sp>
        <p:nvSpPr>
          <p:cNvPr id="186" name="YearTick"/>
          <p:cNvSpPr txBox="1"/>
          <p:nvPr/>
        </p:nvSpPr>
        <p:spPr>
          <a:xfrm>
            <a:off x="1199693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</a:t>
            </a:r>
          </a:p>
        </p:txBody>
      </p:sp>
      <p:sp>
        <p:nvSpPr>
          <p:cNvPr id="187" name="YearTick"/>
          <p:cNvSpPr txBox="1"/>
          <p:nvPr/>
        </p:nvSpPr>
        <p:spPr>
          <a:xfrm>
            <a:off x="2295144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FY2023</a:t>
            </a:r>
          </a:p>
        </p:txBody>
      </p:sp>
      <p:sp>
        <p:nvSpPr>
          <p:cNvPr id="188" name="YearTick"/>
          <p:cNvSpPr txBox="1"/>
          <p:nvPr/>
        </p:nvSpPr>
        <p:spPr>
          <a:xfrm>
            <a:off x="5579669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FY2026</a:t>
            </a:r>
          </a:p>
        </p:txBody>
      </p:sp>
      <p:sp>
        <p:nvSpPr>
          <p:cNvPr id="189" name="YearTick"/>
          <p:cNvSpPr txBox="1"/>
          <p:nvPr/>
        </p:nvSpPr>
        <p:spPr>
          <a:xfrm>
            <a:off x="4485132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FY2025</a:t>
            </a:r>
          </a:p>
        </p:txBody>
      </p:sp>
      <p:sp>
        <p:nvSpPr>
          <p:cNvPr id="190" name="YearTick"/>
          <p:cNvSpPr txBox="1"/>
          <p:nvPr/>
        </p:nvSpPr>
        <p:spPr>
          <a:xfrm>
            <a:off x="9958730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FY2030</a:t>
            </a:r>
          </a:p>
        </p:txBody>
      </p:sp>
      <p:sp>
        <p:nvSpPr>
          <p:cNvPr id="191" name="YearTick"/>
          <p:cNvSpPr txBox="1"/>
          <p:nvPr/>
        </p:nvSpPr>
        <p:spPr>
          <a:xfrm>
            <a:off x="11052353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FY2031</a:t>
            </a:r>
          </a:p>
        </p:txBody>
      </p:sp>
      <p:sp>
        <p:nvSpPr>
          <p:cNvPr id="192" name="YearTick"/>
          <p:cNvSpPr txBox="1"/>
          <p:nvPr/>
        </p:nvSpPr>
        <p:spPr>
          <a:xfrm>
            <a:off x="8863279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FY2029</a:t>
            </a:r>
          </a:p>
        </p:txBody>
      </p:sp>
      <p:sp>
        <p:nvSpPr>
          <p:cNvPr id="193" name="YearTick"/>
          <p:cNvSpPr txBox="1"/>
          <p:nvPr/>
        </p:nvSpPr>
        <p:spPr>
          <a:xfrm>
            <a:off x="6674206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FY2027</a:t>
            </a:r>
          </a:p>
        </p:txBody>
      </p:sp>
      <p:sp>
        <p:nvSpPr>
          <p:cNvPr id="194" name="YearTick"/>
          <p:cNvSpPr txBox="1"/>
          <p:nvPr/>
        </p:nvSpPr>
        <p:spPr>
          <a:xfrm>
            <a:off x="7769657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FY2028</a:t>
            </a:r>
          </a:p>
        </p:txBody>
      </p:sp>
      <p:sp>
        <p:nvSpPr>
          <p:cNvPr id="195" name="YearTick"/>
          <p:cNvSpPr txBox="1"/>
          <p:nvPr/>
        </p:nvSpPr>
        <p:spPr>
          <a:xfrm>
            <a:off x="3389681" y="3907231"/>
            <a:ext cx="45445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</a:t>
            </a:r>
          </a:p>
        </p:txBody>
      </p:sp>
      <p:sp>
        <p:nvSpPr>
          <p:cNvPr id="196" name="OutsourcedValueBadge"/>
          <p:cNvSpPr txBox="1"/>
          <p:nvPr/>
        </p:nvSpPr>
        <p:spPr>
          <a:xfrm>
            <a:off x="1049731" y="3711550"/>
            <a:ext cx="209398" cy="152705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97" name="OutsourcedValueBadge"/>
          <p:cNvSpPr txBox="1"/>
          <p:nvPr/>
        </p:nvSpPr>
        <p:spPr>
          <a:xfrm>
            <a:off x="6523330" y="3696919"/>
            <a:ext cx="209398" cy="152705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0.7</a:t>
            </a:r>
          </a:p>
        </p:txBody>
      </p:sp>
      <p:sp>
        <p:nvSpPr>
          <p:cNvPr id="198" name="OutsourcedValueBadge"/>
          <p:cNvSpPr txBox="1"/>
          <p:nvPr/>
        </p:nvSpPr>
        <p:spPr>
          <a:xfrm>
            <a:off x="3238805" y="3685032"/>
            <a:ext cx="209398" cy="152705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0.9</a:t>
            </a:r>
          </a:p>
        </p:txBody>
      </p:sp>
      <p:sp>
        <p:nvSpPr>
          <p:cNvPr id="199" name="OutsourcedValueBadge"/>
          <p:cNvSpPr txBox="1"/>
          <p:nvPr/>
        </p:nvSpPr>
        <p:spPr>
          <a:xfrm>
            <a:off x="8712403" y="3698748"/>
            <a:ext cx="209398" cy="152705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200" name="OutsourcedValueBadge"/>
          <p:cNvSpPr txBox="1"/>
          <p:nvPr/>
        </p:nvSpPr>
        <p:spPr>
          <a:xfrm>
            <a:off x="7616952" y="3703320"/>
            <a:ext cx="209398" cy="152705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wrap="none" anchor="ctr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201" name="RetainedSpendValueLabel"/>
          <p:cNvSpPr txBox="1"/>
          <p:nvPr/>
        </p:nvSpPr>
        <p:spPr>
          <a:xfrm>
            <a:off x="1049731" y="3038551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4.5</a:t>
            </a:r>
          </a:p>
        </p:txBody>
      </p:sp>
      <p:sp>
        <p:nvSpPr>
          <p:cNvPr id="202" name="RetainedSpendValueLabel"/>
          <p:cNvSpPr txBox="1"/>
          <p:nvPr/>
        </p:nvSpPr>
        <p:spPr>
          <a:xfrm>
            <a:off x="1322222" y="2617927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7.6</a:t>
            </a:r>
          </a:p>
        </p:txBody>
      </p:sp>
      <p:sp>
        <p:nvSpPr>
          <p:cNvPr id="203" name="RetainedSpendValueLabel"/>
          <p:cNvSpPr txBox="1"/>
          <p:nvPr/>
        </p:nvSpPr>
        <p:spPr>
          <a:xfrm>
            <a:off x="2144268" y="2497226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8.5</a:t>
            </a:r>
          </a:p>
        </p:txBody>
      </p:sp>
      <p:sp>
        <p:nvSpPr>
          <p:cNvPr id="204" name="RetainedSpendValueLabel"/>
          <p:cNvSpPr txBox="1"/>
          <p:nvPr/>
        </p:nvSpPr>
        <p:spPr>
          <a:xfrm>
            <a:off x="2417674" y="2596896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7.8</a:t>
            </a:r>
          </a:p>
        </p:txBody>
      </p:sp>
      <p:sp>
        <p:nvSpPr>
          <p:cNvPr id="205" name="RetainedSpendValueLabel"/>
          <p:cNvSpPr txBox="1"/>
          <p:nvPr/>
        </p:nvSpPr>
        <p:spPr>
          <a:xfrm>
            <a:off x="3238805" y="2873045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206" name="RetainedSpendValueLabel"/>
          <p:cNvSpPr txBox="1"/>
          <p:nvPr/>
        </p:nvSpPr>
        <p:spPr>
          <a:xfrm>
            <a:off x="3476549" y="2049170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11.8</a:t>
            </a:r>
          </a:p>
        </p:txBody>
      </p:sp>
      <p:sp>
        <p:nvSpPr>
          <p:cNvPr id="207" name="RetainedSpendValueLabel"/>
          <p:cNvSpPr txBox="1"/>
          <p:nvPr/>
        </p:nvSpPr>
        <p:spPr>
          <a:xfrm>
            <a:off x="3750869" y="2144268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11.1</a:t>
            </a:r>
          </a:p>
        </p:txBody>
      </p:sp>
      <p:sp>
        <p:nvSpPr>
          <p:cNvPr id="208" name="RetainedSpendValueLabel"/>
          <p:cNvSpPr txBox="1"/>
          <p:nvPr/>
        </p:nvSpPr>
        <p:spPr>
          <a:xfrm>
            <a:off x="4334256" y="2562149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8.0</a:t>
            </a:r>
          </a:p>
        </p:txBody>
      </p:sp>
      <p:sp>
        <p:nvSpPr>
          <p:cNvPr id="209" name="RetainedSpendValueLabel"/>
          <p:cNvSpPr txBox="1"/>
          <p:nvPr/>
        </p:nvSpPr>
        <p:spPr>
          <a:xfrm>
            <a:off x="4606747" y="2337206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9.7</a:t>
            </a:r>
          </a:p>
        </p:txBody>
      </p:sp>
      <p:sp>
        <p:nvSpPr>
          <p:cNvPr id="210" name="RetainedSpendValueLabel"/>
          <p:cNvSpPr txBox="1"/>
          <p:nvPr/>
        </p:nvSpPr>
        <p:spPr>
          <a:xfrm>
            <a:off x="5427878" y="2873045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211" name="RetainedSpendValueLabel"/>
          <p:cNvSpPr txBox="1"/>
          <p:nvPr/>
        </p:nvSpPr>
        <p:spPr>
          <a:xfrm>
            <a:off x="5667451" y="2296973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10.0</a:t>
            </a:r>
          </a:p>
        </p:txBody>
      </p:sp>
      <p:sp>
        <p:nvSpPr>
          <p:cNvPr id="212" name="RetainedSpendValueLabel"/>
          <p:cNvSpPr txBox="1"/>
          <p:nvPr/>
        </p:nvSpPr>
        <p:spPr>
          <a:xfrm>
            <a:off x="5940857" y="2195474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10.7</a:t>
            </a:r>
          </a:p>
        </p:txBody>
      </p:sp>
      <p:sp>
        <p:nvSpPr>
          <p:cNvPr id="213" name="RetainedSpendValueLabel"/>
          <p:cNvSpPr txBox="1"/>
          <p:nvPr/>
        </p:nvSpPr>
        <p:spPr>
          <a:xfrm>
            <a:off x="6523330" y="3079699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4.2</a:t>
            </a:r>
          </a:p>
        </p:txBody>
      </p:sp>
      <p:sp>
        <p:nvSpPr>
          <p:cNvPr id="214" name="RetainedSpendValueLabel"/>
          <p:cNvSpPr txBox="1"/>
          <p:nvPr/>
        </p:nvSpPr>
        <p:spPr>
          <a:xfrm>
            <a:off x="7034479" y="2258568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10.3</a:t>
            </a:r>
          </a:p>
        </p:txBody>
      </p:sp>
      <p:sp>
        <p:nvSpPr>
          <p:cNvPr id="215" name="RetainedSpendValueLabel"/>
          <p:cNvSpPr txBox="1"/>
          <p:nvPr/>
        </p:nvSpPr>
        <p:spPr>
          <a:xfrm>
            <a:off x="7616952" y="3120847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3.9</a:t>
            </a:r>
          </a:p>
        </p:txBody>
      </p:sp>
      <p:sp>
        <p:nvSpPr>
          <p:cNvPr id="216" name="RetainedSpendValueLabel"/>
          <p:cNvSpPr txBox="1"/>
          <p:nvPr/>
        </p:nvSpPr>
        <p:spPr>
          <a:xfrm>
            <a:off x="7856525" y="2182673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10.8</a:t>
            </a:r>
          </a:p>
        </p:txBody>
      </p:sp>
      <p:sp>
        <p:nvSpPr>
          <p:cNvPr id="217" name="RetainedSpendValueLabel"/>
          <p:cNvSpPr txBox="1"/>
          <p:nvPr/>
        </p:nvSpPr>
        <p:spPr>
          <a:xfrm>
            <a:off x="8164678" y="2331720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9.7</a:t>
            </a:r>
          </a:p>
        </p:txBody>
      </p:sp>
      <p:sp>
        <p:nvSpPr>
          <p:cNvPr id="218" name="RetainedSpendValueLabel"/>
          <p:cNvSpPr txBox="1"/>
          <p:nvPr/>
        </p:nvSpPr>
        <p:spPr>
          <a:xfrm>
            <a:off x="8712403" y="3108046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4.0</a:t>
            </a:r>
          </a:p>
        </p:txBody>
      </p:sp>
      <p:sp>
        <p:nvSpPr>
          <p:cNvPr id="219" name="RetainedSpendValueLabel"/>
          <p:cNvSpPr txBox="1"/>
          <p:nvPr/>
        </p:nvSpPr>
        <p:spPr>
          <a:xfrm>
            <a:off x="8950147" y="2236622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10.4</a:t>
            </a:r>
          </a:p>
        </p:txBody>
      </p:sp>
      <p:sp>
        <p:nvSpPr>
          <p:cNvPr id="220" name="RetainedSpendValueLabel"/>
          <p:cNvSpPr txBox="1"/>
          <p:nvPr/>
        </p:nvSpPr>
        <p:spPr>
          <a:xfrm>
            <a:off x="9260129" y="2330806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9.7</a:t>
            </a:r>
          </a:p>
        </p:txBody>
      </p:sp>
      <p:sp>
        <p:nvSpPr>
          <p:cNvPr id="221" name="RetainedSpendValueLabel"/>
          <p:cNvSpPr txBox="1"/>
          <p:nvPr/>
        </p:nvSpPr>
        <p:spPr>
          <a:xfrm>
            <a:off x="9806026" y="2822753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6.1</a:t>
            </a:r>
          </a:p>
        </p:txBody>
      </p:sp>
      <p:sp>
        <p:nvSpPr>
          <p:cNvPr id="222" name="RetainedSpendValueLabel"/>
          <p:cNvSpPr txBox="1"/>
          <p:nvPr/>
        </p:nvSpPr>
        <p:spPr>
          <a:xfrm>
            <a:off x="10080346" y="2379269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9.4</a:t>
            </a:r>
          </a:p>
        </p:txBody>
      </p:sp>
      <p:sp>
        <p:nvSpPr>
          <p:cNvPr id="223" name="RetainedSpendValueLabel"/>
          <p:cNvSpPr txBox="1"/>
          <p:nvPr/>
        </p:nvSpPr>
        <p:spPr>
          <a:xfrm>
            <a:off x="10353751" y="2348179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9.6</a:t>
            </a:r>
          </a:p>
        </p:txBody>
      </p:sp>
      <p:sp>
        <p:nvSpPr>
          <p:cNvPr id="224" name="RetainedSpendValueLabel"/>
          <p:cNvSpPr txBox="1"/>
          <p:nvPr/>
        </p:nvSpPr>
        <p:spPr>
          <a:xfrm>
            <a:off x="10901477" y="2797150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6.3</a:t>
            </a:r>
          </a:p>
        </p:txBody>
      </p:sp>
      <p:sp>
        <p:nvSpPr>
          <p:cNvPr id="225" name="RetainedSpendValueLabel"/>
          <p:cNvSpPr txBox="1"/>
          <p:nvPr/>
        </p:nvSpPr>
        <p:spPr>
          <a:xfrm>
            <a:off x="11173968" y="2357323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9.5</a:t>
            </a:r>
          </a:p>
        </p:txBody>
      </p:sp>
      <p:sp>
        <p:nvSpPr>
          <p:cNvPr id="226" name="RetainedSpendValueLabel"/>
          <p:cNvSpPr txBox="1"/>
          <p:nvPr/>
        </p:nvSpPr>
        <p:spPr>
          <a:xfrm>
            <a:off x="11449202" y="2346350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9.6</a:t>
            </a:r>
          </a:p>
        </p:txBody>
      </p:sp>
      <p:sp>
        <p:nvSpPr>
          <p:cNvPr id="227" name="RetainedSpendValueLabel"/>
          <p:cNvSpPr txBox="1"/>
          <p:nvPr/>
        </p:nvSpPr>
        <p:spPr>
          <a:xfrm>
            <a:off x="6761074" y="2133295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 vert="horz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11.2</a:t>
            </a:r>
          </a:p>
        </p:txBody>
      </p:sp>
      <p:sp>
        <p:nvSpPr>
          <p:cNvPr id="228" name="HistoricalPenetrationBadge"/>
          <p:cNvSpPr txBox="1"/>
          <p:nvPr/>
        </p:nvSpPr>
        <p:spPr>
          <a:xfrm>
            <a:off x="1164946" y="1796796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$2.3B</a:t>
            </a:r>
          </a:p>
        </p:txBody>
      </p:sp>
      <p:sp>
        <p:nvSpPr>
          <p:cNvPr id="229" name="HistoricalPenetrationBadge"/>
          <p:cNvSpPr txBox="1"/>
          <p:nvPr/>
        </p:nvSpPr>
        <p:spPr>
          <a:xfrm>
            <a:off x="2258568" y="1805940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$3.1B</a:t>
            </a:r>
          </a:p>
        </p:txBody>
      </p:sp>
      <p:sp>
        <p:nvSpPr>
          <p:cNvPr id="230" name="HistoricalPenetrationBadge"/>
          <p:cNvSpPr txBox="1"/>
          <p:nvPr/>
        </p:nvSpPr>
        <p:spPr>
          <a:xfrm>
            <a:off x="3352190" y="1796796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$5.5B</a:t>
            </a:r>
          </a:p>
        </p:txBody>
      </p:sp>
      <p:sp>
        <p:nvSpPr>
          <p:cNvPr id="231" name="HistoricalPenetrationBadge"/>
          <p:cNvSpPr txBox="1"/>
          <p:nvPr/>
        </p:nvSpPr>
        <p:spPr>
          <a:xfrm>
            <a:off x="4434840" y="1782166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$3.1B</a:t>
            </a:r>
          </a:p>
        </p:txBody>
      </p:sp>
      <p:sp>
        <p:nvSpPr>
          <p:cNvPr id="232" name="HistoricalPenetrationBadge"/>
          <p:cNvSpPr txBox="1"/>
          <p:nvPr/>
        </p:nvSpPr>
        <p:spPr>
          <a:xfrm>
            <a:off x="1164946" y="4118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11%</a:t>
            </a:r>
          </a:p>
        </p:txBody>
      </p:sp>
      <p:sp>
        <p:nvSpPr>
          <p:cNvPr id="233" name="HistoricalPenetrationBadge"/>
          <p:cNvSpPr txBox="1"/>
          <p:nvPr/>
        </p:nvSpPr>
        <p:spPr>
          <a:xfrm>
            <a:off x="2258568" y="4118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34" name="HistoricalPenetrationBadge"/>
          <p:cNvSpPr txBox="1"/>
          <p:nvPr/>
        </p:nvSpPr>
        <p:spPr>
          <a:xfrm>
            <a:off x="3352190" y="4118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35" name="HistoricalPenetrationBadge"/>
          <p:cNvSpPr txBox="1"/>
          <p:nvPr/>
        </p:nvSpPr>
        <p:spPr>
          <a:xfrm>
            <a:off x="4434840" y="4118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36" name="HistoricalPenetrationBadge"/>
          <p:cNvSpPr txBox="1"/>
          <p:nvPr/>
        </p:nvSpPr>
        <p:spPr>
          <a:xfrm>
            <a:off x="5539435" y="4118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237" name="HistoricalPenetrationBadge"/>
          <p:cNvSpPr txBox="1"/>
          <p:nvPr/>
        </p:nvSpPr>
        <p:spPr>
          <a:xfrm>
            <a:off x="1164946" y="4353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23%</a:t>
            </a:r>
          </a:p>
        </p:txBody>
      </p:sp>
      <p:sp>
        <p:nvSpPr>
          <p:cNvPr id="238" name="HistoricalPenetrationBadge"/>
          <p:cNvSpPr txBox="1"/>
          <p:nvPr/>
        </p:nvSpPr>
        <p:spPr>
          <a:xfrm>
            <a:off x="2258568" y="4353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24%</a:t>
            </a:r>
          </a:p>
        </p:txBody>
      </p:sp>
      <p:sp>
        <p:nvSpPr>
          <p:cNvPr id="239" name="HistoricalPenetrationBadge"/>
          <p:cNvSpPr txBox="1"/>
          <p:nvPr/>
        </p:nvSpPr>
        <p:spPr>
          <a:xfrm>
            <a:off x="3352190" y="4353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240" name="HistoricalPenetrationBadge"/>
          <p:cNvSpPr txBox="1"/>
          <p:nvPr/>
        </p:nvSpPr>
        <p:spPr>
          <a:xfrm>
            <a:off x="4445813" y="4353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241" name="HistoricalPenetrationBadge"/>
          <p:cNvSpPr txBox="1"/>
          <p:nvPr/>
        </p:nvSpPr>
        <p:spPr>
          <a:xfrm>
            <a:off x="5539435" y="4353458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42" name="HistoricalPenetrationBadge"/>
          <p:cNvSpPr txBox="1"/>
          <p:nvPr/>
        </p:nvSpPr>
        <p:spPr>
          <a:xfrm>
            <a:off x="1164946" y="4588459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43" name="HistoricalPenetrationBadge"/>
          <p:cNvSpPr txBox="1"/>
          <p:nvPr/>
        </p:nvSpPr>
        <p:spPr>
          <a:xfrm>
            <a:off x="2258568" y="4588459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44" name="HistoricalPenetrationBadge"/>
          <p:cNvSpPr txBox="1"/>
          <p:nvPr/>
        </p:nvSpPr>
        <p:spPr>
          <a:xfrm>
            <a:off x="3352190" y="4588459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245" name="HistoricalPenetrationBadge"/>
          <p:cNvSpPr txBox="1"/>
          <p:nvPr/>
        </p:nvSpPr>
        <p:spPr>
          <a:xfrm>
            <a:off x="4445813" y="4588459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46" name="HistoricalPenetrationBadge"/>
          <p:cNvSpPr txBox="1"/>
          <p:nvPr/>
        </p:nvSpPr>
        <p:spPr>
          <a:xfrm>
            <a:off x="5539435" y="4588459"/>
            <a:ext cx="520294" cy="1746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47" name="LegendColorKey"/>
          <p:cNvSpPr txBox="1"/>
          <p:nvPr/>
        </p:nvSpPr>
        <p:spPr>
          <a:xfrm>
            <a:off x="7127748" y="1184148"/>
            <a:ext cx="142646" cy="10607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248" name="LegendColorKey"/>
          <p:cNvSpPr txBox="1"/>
          <p:nvPr/>
        </p:nvSpPr>
        <p:spPr>
          <a:xfrm>
            <a:off x="7127748" y="1356970"/>
            <a:ext cx="142646" cy="1060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249" name="LegendColorKey"/>
          <p:cNvSpPr txBox="1"/>
          <p:nvPr/>
        </p:nvSpPr>
        <p:spPr>
          <a:xfrm>
            <a:off x="8648395" y="1184148"/>
            <a:ext cx="142646" cy="10607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250" name="LegendColorKey"/>
          <p:cNvSpPr txBox="1"/>
          <p:nvPr/>
        </p:nvSpPr>
        <p:spPr>
          <a:xfrm>
            <a:off x="8648395" y="1356970"/>
            <a:ext cx="142646" cy="106070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251" name="LegendColorKey"/>
          <p:cNvSpPr txBox="1"/>
          <p:nvPr/>
        </p:nvSpPr>
        <p:spPr>
          <a:xfrm>
            <a:off x="10079431" y="1184148"/>
            <a:ext cx="142646" cy="10607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252" name="LegendColorKey"/>
          <p:cNvSpPr txBox="1"/>
          <p:nvPr/>
        </p:nvSpPr>
        <p:spPr>
          <a:xfrm>
            <a:off x="10079431" y="1356970"/>
            <a:ext cx="142646" cy="10607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253" name="RetainedSpendOutlineBox"/>
          <p:cNvSpPr txBox="1"/>
          <p:nvPr/>
        </p:nvSpPr>
        <p:spPr>
          <a:xfrm>
            <a:off x="7127748" y="1530706"/>
            <a:ext cx="142646" cy="106070"/>
          </a:xfrm>
          <a:prstGeom prst="rect">
            <a:avLst/>
          </a:prstGeom>
          <a:noFill/>
          <a:ln w="3175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254" name="RetainedSpendOutlineBox"/>
          <p:cNvSpPr txBox="1"/>
          <p:nvPr/>
        </p:nvSpPr>
        <p:spPr>
          <a:xfrm>
            <a:off x="8648395" y="1530706"/>
            <a:ext cx="142646" cy="106070"/>
          </a:xfrm>
          <a:prstGeom prst="rect">
            <a:avLst/>
          </a:prstGeom>
          <a:noFill/>
          <a:ln w="635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255" name="LegendLabel"/>
          <p:cNvSpPr txBox="1"/>
          <p:nvPr/>
        </p:nvSpPr>
        <p:spPr>
          <a:xfrm>
            <a:off x="7321601" y="1179576"/>
            <a:ext cx="965606" cy="122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outsourced</a:t>
            </a:r>
          </a:p>
        </p:txBody>
      </p:sp>
      <p:sp>
        <p:nvSpPr>
          <p:cNvPr id="256" name="LegendLabel"/>
          <p:cNvSpPr txBox="1"/>
          <p:nvPr/>
        </p:nvSpPr>
        <p:spPr>
          <a:xfrm>
            <a:off x="7321601" y="1352398"/>
            <a:ext cx="1225296" cy="122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outsourced (est.)</a:t>
            </a:r>
          </a:p>
        </p:txBody>
      </p:sp>
      <p:sp>
        <p:nvSpPr>
          <p:cNvPr id="257" name="LegendLabel"/>
          <p:cNvSpPr txBox="1"/>
          <p:nvPr/>
        </p:nvSpPr>
        <p:spPr>
          <a:xfrm>
            <a:off x="7321601" y="1525219"/>
            <a:ext cx="1136599" cy="122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retained spend</a:t>
            </a:r>
          </a:p>
        </p:txBody>
      </p:sp>
      <p:sp>
        <p:nvSpPr>
          <p:cNvPr id="258" name="LegendLabel"/>
          <p:cNvSpPr txBox="1"/>
          <p:nvPr/>
        </p:nvSpPr>
        <p:spPr>
          <a:xfrm>
            <a:off x="8842248" y="1179576"/>
            <a:ext cx="875081" cy="122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outsourced</a:t>
            </a:r>
          </a:p>
        </p:txBody>
      </p:sp>
      <p:sp>
        <p:nvSpPr>
          <p:cNvPr id="259" name="LegendLabel"/>
          <p:cNvSpPr txBox="1"/>
          <p:nvPr/>
        </p:nvSpPr>
        <p:spPr>
          <a:xfrm>
            <a:off x="8842248" y="1352398"/>
            <a:ext cx="1134770" cy="122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outsourced (est.)</a:t>
            </a:r>
          </a:p>
        </p:txBody>
      </p:sp>
      <p:sp>
        <p:nvSpPr>
          <p:cNvPr id="260" name="LegendLabel"/>
          <p:cNvSpPr txBox="1"/>
          <p:nvPr/>
        </p:nvSpPr>
        <p:spPr>
          <a:xfrm>
            <a:off x="8842248" y="1525219"/>
            <a:ext cx="1046074" cy="122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retained spend</a:t>
            </a:r>
          </a:p>
        </p:txBody>
      </p:sp>
      <p:sp>
        <p:nvSpPr>
          <p:cNvPr id="261" name="LegendLabel"/>
          <p:cNvSpPr txBox="1"/>
          <p:nvPr/>
        </p:nvSpPr>
        <p:spPr>
          <a:xfrm>
            <a:off x="10272370" y="1179576"/>
            <a:ext cx="907999" cy="122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outsourced</a:t>
            </a:r>
          </a:p>
        </p:txBody>
      </p:sp>
      <p:sp>
        <p:nvSpPr>
          <p:cNvPr id="262" name="LegendLabel"/>
          <p:cNvSpPr txBox="1"/>
          <p:nvPr/>
        </p:nvSpPr>
        <p:spPr>
          <a:xfrm>
            <a:off x="10272370" y="1352398"/>
            <a:ext cx="1168603" cy="122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outsourced (est.)</a:t>
            </a:r>
          </a:p>
        </p:txBody>
      </p:sp>
      <p:sp>
        <p:nvSpPr>
          <p:cNvPr id="263" name="LegendLabel"/>
          <p:cNvSpPr txBox="1"/>
          <p:nvPr/>
        </p:nvSpPr>
        <p:spPr>
          <a:xfrm>
            <a:off x="10272370" y="1525219"/>
            <a:ext cx="1079906" cy="122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 vert="horz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retained spend</a:t>
            </a:r>
          </a:p>
        </p:txBody>
      </p:sp>
      <p:sp>
        <p:nvSpPr>
          <p:cNvPr id="264" name="PenetrationStripHeader"/>
          <p:cNvSpPr txBox="1"/>
          <p:nvPr/>
        </p:nvSpPr>
        <p:spPr>
          <a:xfrm>
            <a:off x="149962" y="3691433"/>
            <a:ext cx="251460" cy="1323137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 vert="vert270"/>
          <a:lstStyle/>
          <a:p>
            <a:pPr algn="l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penetration %</a:t>
            </a:r>
          </a:p>
        </p:txBody>
      </p:sp>
      <p:sp>
        <p:nvSpPr>
          <p:cNvPr id="265" name="PenetrationRowLabel"/>
          <p:cNvSpPr txBox="1"/>
          <p:nvPr/>
        </p:nvSpPr>
        <p:spPr>
          <a:xfrm>
            <a:off x="10058" y="4095598"/>
            <a:ext cx="976579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DDG-51 %</a:t>
            </a:r>
          </a:p>
        </p:txBody>
      </p:sp>
      <p:sp>
        <p:nvSpPr>
          <p:cNvPr id="266" name="PenetrationRowLabel"/>
          <p:cNvSpPr txBox="1"/>
          <p:nvPr/>
        </p:nvSpPr>
        <p:spPr>
          <a:xfrm>
            <a:off x="10058" y="4330598"/>
            <a:ext cx="976579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%</a:t>
            </a:r>
          </a:p>
        </p:txBody>
      </p:sp>
      <p:sp>
        <p:nvSpPr>
          <p:cNvPr id="267" name="PenetrationRowLabel"/>
          <p:cNvSpPr txBox="1"/>
          <p:nvPr/>
        </p:nvSpPr>
        <p:spPr>
          <a:xfrm>
            <a:off x="10058" y="4565599"/>
            <a:ext cx="976579" cy="22037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%</a:t>
            </a:r>
          </a:p>
        </p:txBody>
      </p:sp>
      <p:sp>
        <p:nvSpPr>
          <p:cNvPr id="268" name="ForecastPenetrationBadge"/>
          <p:cNvSpPr txBox="1"/>
          <p:nvPr/>
        </p:nvSpPr>
        <p:spPr>
          <a:xfrm>
            <a:off x="6513271" y="4118458"/>
            <a:ext cx="5104181" cy="1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14–19% (assumed)</a:t>
            </a:r>
          </a:p>
        </p:txBody>
      </p:sp>
      <p:sp>
        <p:nvSpPr>
          <p:cNvPr id="269" name="ForecastPenetrationBadge"/>
          <p:cNvSpPr txBox="1"/>
          <p:nvPr/>
        </p:nvSpPr>
        <p:spPr>
          <a:xfrm>
            <a:off x="6513271" y="4353458"/>
            <a:ext cx="5104181" cy="1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24–31% (assumed)</a:t>
            </a:r>
          </a:p>
        </p:txBody>
      </p:sp>
      <p:sp>
        <p:nvSpPr>
          <p:cNvPr id="270" name="ForecastPenetrationBadge"/>
          <p:cNvSpPr txBox="1"/>
          <p:nvPr/>
        </p:nvSpPr>
        <p:spPr>
          <a:xfrm>
            <a:off x="6513271" y="4588459"/>
            <a:ext cx="5104181" cy="1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13–17% (assumed)</a:t>
            </a:r>
          </a:p>
        </p:txBody>
      </p:sp>
      <p:sp>
        <p:nvSpPr>
          <p:cNvPr id="271" name="Note"/>
          <p:cNvSpPr txBox="1"/>
          <p:nvPr/>
        </p:nvSpPr>
        <p:spPr>
          <a:xfrm>
            <a:off x="406908" y="4830775"/>
            <a:ext cx="4480560" cy="11978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Columbia had no hull authorized in FY22/23/25 (hull costs shown in year of authorization)</a:t>
            </a:r>
          </a:p>
        </p:txBody>
      </p:sp>
      <p:sp>
        <p:nvSpPr>
          <p:cNvPr id="272" name="ForecastNoteStrip"/>
          <p:cNvSpPr txBox="1"/>
          <p:nvPr/>
        </p:nvSpPr>
        <p:spPr>
          <a:xfrm>
            <a:off x="4966106" y="4800600"/>
            <a:ext cx="2799893" cy="11978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FY26/FY27 budgets known, penetration assumed.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distributed_shipbuilding</Application>
  <PresentationFormat>Widescreen</PresentationFormat>
  <Slides>9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</dc:title>
  <dc:creator>distributed_shipbuilding build_deck.py</dc:creator>
  <cp:lastModifiedBy>distributed_shipbuilding build_deck.py</cp:lastModifiedBy>
  <cp:revision>1</cp:revision>
  <dcterms:created xsi:type="dcterms:W3CDTF">2026-06-30T20:35:49Z</dcterms:created>
  <dcterms:modified xsi:type="dcterms:W3CDTF">2026-06-30T20:35:49Z</dcterms:modified>
</cp:coreProperties>
</file>